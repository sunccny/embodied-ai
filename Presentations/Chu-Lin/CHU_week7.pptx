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58" autoAdjust="0"/>
    <p:restoredTop sz="94660"/>
  </p:normalViewPr>
  <p:slideViewPr>
    <p:cSldViewPr snapToGrid="0">
      <p:cViewPr varScale="1">
        <p:scale>
          <a:sx n="77" d="100"/>
          <a:sy n="77" d="100"/>
        </p:scale>
        <p:origin x="126" y="10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8/7/2026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5638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8/7/2026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79534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8/7/2026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5239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8/7/2026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24791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8/7/2026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43213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8/7/2026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21418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8/7/2026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76373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8/7/2026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2742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8/7/2026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5391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8/7/2026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146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8/7/2026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5319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8/7/2026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3266610"/>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Person Jogging Uphill">
            <a:extLst>
              <a:ext uri="{FF2B5EF4-FFF2-40B4-BE49-F238E27FC236}">
                <a16:creationId xmlns:a16="http://schemas.microsoft.com/office/drawing/2014/main" id="{45525893-273E-49BC-16D7-9BCA5644AFED}"/>
              </a:ext>
            </a:extLst>
          </p:cNvPr>
          <p:cNvPicPr>
            <a:picLocks noChangeAspect="1"/>
          </p:cNvPicPr>
          <p:nvPr>
            <a:videoFile r:link="rId2"/>
            <p:extLst>
              <p:ext uri="{DAA4B4D4-6D71-4841-9C94-3DE7FCFB9230}">
                <p14:media xmlns:p14="http://schemas.microsoft.com/office/powerpoint/2010/main" r:embed="rId1"/>
              </p:ext>
            </p:extLst>
          </p:nvPr>
        </p:nvPicPr>
        <p:blipFill>
          <a:blip r:embed="rId4">
            <a:alphaModFix/>
          </a:blip>
          <a:srcRect t="284" r="-1" b="-1"/>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46660C7E-A469-43A4-B89B-E1B89168B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159227-C8BA-212E-48D8-9B9BB2F956B1}"/>
              </a:ext>
            </a:extLst>
          </p:cNvPr>
          <p:cNvSpPr>
            <a:spLocks noGrp="1"/>
          </p:cNvSpPr>
          <p:nvPr>
            <p:ph type="ctrTitle"/>
          </p:nvPr>
        </p:nvSpPr>
        <p:spPr>
          <a:xfrm>
            <a:off x="6767622" y="2810107"/>
            <a:ext cx="4761571" cy="2981093"/>
          </a:xfrm>
        </p:spPr>
        <p:txBody>
          <a:bodyPr anchor="b">
            <a:normAutofit/>
          </a:bodyPr>
          <a:lstStyle/>
          <a:p>
            <a:pPr algn="r"/>
            <a:r>
              <a:rPr lang="en-US">
                <a:solidFill>
                  <a:srgbClr val="FFFFFF"/>
                </a:solidFill>
              </a:rPr>
              <a:t>First Step</a:t>
            </a:r>
          </a:p>
        </p:txBody>
      </p:sp>
      <p:sp>
        <p:nvSpPr>
          <p:cNvPr id="3" name="Subtitle 2">
            <a:extLst>
              <a:ext uri="{FF2B5EF4-FFF2-40B4-BE49-F238E27FC236}">
                <a16:creationId xmlns:a16="http://schemas.microsoft.com/office/drawing/2014/main" id="{7EC9D111-2D19-F805-4E4C-EBB246A7EF73}"/>
              </a:ext>
            </a:extLst>
          </p:cNvPr>
          <p:cNvSpPr>
            <a:spLocks noGrp="1"/>
          </p:cNvSpPr>
          <p:nvPr>
            <p:ph type="subTitle" idx="1"/>
          </p:nvPr>
        </p:nvSpPr>
        <p:spPr>
          <a:xfrm>
            <a:off x="6767622" y="1420093"/>
            <a:ext cx="4761571" cy="1253490"/>
          </a:xfrm>
        </p:spPr>
        <p:txBody>
          <a:bodyPr anchor="t">
            <a:normAutofit/>
          </a:bodyPr>
          <a:lstStyle/>
          <a:p>
            <a:pPr algn="r"/>
            <a:r>
              <a:rPr lang="en-US">
                <a:solidFill>
                  <a:srgbClr val="FFFFFF"/>
                </a:solidFill>
              </a:rPr>
              <a:t>chu</a:t>
            </a:r>
          </a:p>
        </p:txBody>
      </p:sp>
      <p:cxnSp>
        <p:nvCxnSpPr>
          <p:cNvPr id="13" name="Straight Connector 12">
            <a:extLst>
              <a:ext uri="{FF2B5EF4-FFF2-40B4-BE49-F238E27FC236}">
                <a16:creationId xmlns:a16="http://schemas.microsoft.com/office/drawing/2014/main" id="{F3E6ADA4-E13B-4321-B82C-14979EC208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650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28738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72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ADBAA3-450D-088E-09C4-256DA31A50C4}"/>
              </a:ext>
            </a:extLst>
          </p:cNvPr>
          <p:cNvSpPr>
            <a:spLocks noGrp="1"/>
          </p:cNvSpPr>
          <p:nvPr>
            <p:ph type="title"/>
          </p:nvPr>
        </p:nvSpPr>
        <p:spPr>
          <a:xfrm>
            <a:off x="640080" y="570750"/>
            <a:ext cx="10890929" cy="1387934"/>
          </a:xfrm>
        </p:spPr>
        <p:txBody>
          <a:bodyPr anchor="b">
            <a:normAutofit/>
          </a:bodyPr>
          <a:lstStyle/>
          <a:p>
            <a:r>
              <a:rPr lang="en-US" dirty="0"/>
              <a:t>Idea </a:t>
            </a:r>
          </a:p>
        </p:txBody>
      </p:sp>
      <p:sp>
        <p:nvSpPr>
          <p:cNvPr id="3" name="Content Placeholder 2">
            <a:extLst>
              <a:ext uri="{FF2B5EF4-FFF2-40B4-BE49-F238E27FC236}">
                <a16:creationId xmlns:a16="http://schemas.microsoft.com/office/drawing/2014/main" id="{1589C176-89CA-FEFC-BB4C-6A1F37799C20}"/>
              </a:ext>
            </a:extLst>
          </p:cNvPr>
          <p:cNvSpPr>
            <a:spLocks noGrp="1"/>
          </p:cNvSpPr>
          <p:nvPr>
            <p:ph idx="1"/>
          </p:nvPr>
        </p:nvSpPr>
        <p:spPr>
          <a:xfrm>
            <a:off x="640080" y="2761673"/>
            <a:ext cx="10890929" cy="3536241"/>
          </a:xfrm>
        </p:spPr>
        <p:txBody>
          <a:bodyPr>
            <a:normAutofit/>
          </a:bodyPr>
          <a:lstStyle/>
          <a:p>
            <a:r>
              <a:rPr lang="en-US" dirty="0"/>
              <a:t>I believe that physics formulas can enhance interpretability and reduce the "black box" nature of models. So, I designed the impulse as the output of our black-box model and introduced a gating variable constrained to the [0, 1] range. The goal is for the model to automatically update this gating value to mitigate the influence of irrelevant variables—specifically, to address the OOD (out-of-distribution) problem.</a:t>
            </a:r>
          </a:p>
          <a:p>
            <a:r>
              <a:rPr lang="en-US" dirty="0"/>
              <a:t>Key design concept: Implementing the V (variables) and G (graph) components within a causal framework, with the aim of enabling the model to learn the graph structure rather than simply predicting the balls' positional data; verification experiments across multiple random seeds are conducted using t-tests.</a:t>
            </a:r>
          </a:p>
        </p:txBody>
      </p:sp>
      <p:cxnSp>
        <p:nvCxnSpPr>
          <p:cNvPr id="10" name="Straight Connector 9">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209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8D8044-DBD7-9F15-BC83-784C8624B164}"/>
              </a:ext>
            </a:extLst>
          </p:cNvPr>
          <p:cNvSpPr>
            <a:spLocks noGrp="1"/>
          </p:cNvSpPr>
          <p:nvPr>
            <p:ph type="title"/>
          </p:nvPr>
        </p:nvSpPr>
        <p:spPr>
          <a:xfrm>
            <a:off x="5496821" y="1371600"/>
            <a:ext cx="6034187" cy="1097280"/>
          </a:xfrm>
        </p:spPr>
        <p:txBody>
          <a:bodyPr>
            <a:normAutofit/>
          </a:bodyPr>
          <a:lstStyle/>
          <a:p>
            <a:r>
              <a:rPr lang="en-US" dirty="0"/>
              <a:t>Experimental</a:t>
            </a:r>
          </a:p>
        </p:txBody>
      </p:sp>
      <p:pic>
        <p:nvPicPr>
          <p:cNvPr id="5" name="Picture 4" descr="Sample being pipetted into a petri dish">
            <a:extLst>
              <a:ext uri="{FF2B5EF4-FFF2-40B4-BE49-F238E27FC236}">
                <a16:creationId xmlns:a16="http://schemas.microsoft.com/office/drawing/2014/main" id="{6B958254-09B9-3BF7-3478-FEB907367330}"/>
              </a:ext>
            </a:extLst>
          </p:cNvPr>
          <p:cNvPicPr>
            <a:picLocks noChangeAspect="1"/>
          </p:cNvPicPr>
          <p:nvPr/>
        </p:nvPicPr>
        <p:blipFill>
          <a:blip r:embed="rId2"/>
          <a:srcRect l="42302" r="4748" b="-2"/>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FDAFDC-C88F-1228-7CD0-48C2F3BC74E5}"/>
                  </a:ext>
                </a:extLst>
              </p:cNvPr>
              <p:cNvSpPr>
                <a:spLocks noGrp="1"/>
              </p:cNvSpPr>
              <p:nvPr>
                <p:ph idx="1"/>
              </p:nvPr>
            </p:nvSpPr>
            <p:spPr>
              <a:xfrm>
                <a:off x="5401494" y="2276739"/>
                <a:ext cx="6034187" cy="4224764"/>
              </a:xfrm>
            </p:spPr>
            <p:txBody>
              <a:bodyPr>
                <a:normAutofit/>
              </a:bodyPr>
              <a:lstStyle/>
              <a:p>
                <a:pPr>
                  <a:lnSpc>
                    <a:spcPct val="110000"/>
                  </a:lnSpc>
                </a:pPr>
                <a:r>
                  <a:rPr lang="en-US" sz="1700" dirty="0"/>
                  <a:t>Experimental Setup: Red balls (light) and blue balls (heavy) are used as the input dataset; however, the test set employs red and blue balls of different weights to evaluate whether the model can correctly determine the gating value, and the F1 .</a:t>
                </a:r>
              </a:p>
              <a:p>
                <a:pPr marL="0" indent="0">
                  <a:lnSpc>
                    <a:spcPct val="110000"/>
                  </a:lnSpc>
                  <a:buNone/>
                </a:pPr>
                <a14:m>
                  <m:oMathPara xmlns:m="http://schemas.openxmlformats.org/officeDocument/2006/math">
                    <m:oMath>
                      <m:r>
                        <a:rPr lang="en-US" sz="1700" b="0" i="1" smtClean="0">
                          <a:latin typeface="Cambria Math" panose="02040503050406030204" pitchFamily="18" charset="0"/>
                        </a:rPr>
                        <m:t>𝑚𝑎𝑠𝑠</m:t>
                      </m:r>
                      <m:r>
                        <a:rPr lang="en-US" sz="1700" b="0" i="1" smtClean="0">
                          <a:latin typeface="Cambria Math" panose="02040503050406030204" pitchFamily="18" charset="0"/>
                        </a:rPr>
                        <m:t>∗</m:t>
                      </m:r>
                      <m:r>
                        <a:rPr lang="en-US" sz="1700" b="0" i="1" smtClean="0">
                          <a:latin typeface="Cambria Math" panose="02040503050406030204" pitchFamily="18" charset="0"/>
                        </a:rPr>
                        <m:t>𝑔𝑎𝑡𝑒</m:t>
                      </m:r>
                    </m:oMath>
                  </m:oMathPara>
                </a14:m>
                <a:endParaRPr lang="en-US" sz="1700" dirty="0"/>
              </a:p>
              <a:p>
                <a:pPr marL="0" indent="0">
                  <a:lnSpc>
                    <a:spcPct val="110000"/>
                  </a:lnSpc>
                  <a:buNone/>
                </a:pPr>
                <a:r>
                  <a:rPr lang="en-US" sz="1200" dirty="0"/>
                  <a:t>Every seed, the model kept exactly the three cause edges and cut exactly the three non-cause edges (two spurious, one independent). 30 seeds: graph F1 vs truth = 1.000 +/- 0.000 (100% of seeds perfect). The gate table is directly readable:</a:t>
                </a:r>
              </a:p>
            </p:txBody>
          </p:sp>
        </mc:Choice>
        <mc:Fallback xmlns="">
          <p:sp>
            <p:nvSpPr>
              <p:cNvPr id="3" name="Content Placeholder 2">
                <a:extLst>
                  <a:ext uri="{FF2B5EF4-FFF2-40B4-BE49-F238E27FC236}">
                    <a16:creationId xmlns:a16="http://schemas.microsoft.com/office/drawing/2014/main" id="{B8FDAFDC-C88F-1228-7CD0-48C2F3BC74E5}"/>
                  </a:ext>
                </a:extLst>
              </p:cNvPr>
              <p:cNvSpPr>
                <a:spLocks noGrp="1" noRot="1" noChangeAspect="1" noMove="1" noResize="1" noEditPoints="1" noAdjustHandles="1" noChangeArrowheads="1" noChangeShapeType="1" noTextEdit="1"/>
              </p:cNvSpPr>
              <p:nvPr>
                <p:ph idx="1"/>
              </p:nvPr>
            </p:nvSpPr>
            <p:spPr>
              <a:xfrm>
                <a:off x="5401494" y="2276739"/>
                <a:ext cx="6034187" cy="4224764"/>
              </a:xfrm>
              <a:blipFill>
                <a:blip r:embed="rId3"/>
                <a:stretch>
                  <a:fillRect l="-303" t="-432" r="-161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21EC57D-4AAD-2AA9-5BE6-DBCE37913103}"/>
              </a:ext>
            </a:extLst>
          </p:cNvPr>
          <p:cNvPicPr>
            <a:picLocks noChangeAspect="1"/>
          </p:cNvPicPr>
          <p:nvPr/>
        </p:nvPicPr>
        <p:blipFill>
          <a:blip r:embed="rId4"/>
          <a:stretch>
            <a:fillRect/>
          </a:stretch>
        </p:blipFill>
        <p:spPr>
          <a:xfrm>
            <a:off x="6769397" y="4859307"/>
            <a:ext cx="3746203" cy="1920402"/>
          </a:xfrm>
          <a:prstGeom prst="rect">
            <a:avLst/>
          </a:prstGeom>
        </p:spPr>
      </p:pic>
    </p:spTree>
    <p:extLst>
      <p:ext uri="{BB962C8B-B14F-4D97-AF65-F5344CB8AC3E}">
        <p14:creationId xmlns:p14="http://schemas.microsoft.com/office/powerpoint/2010/main" val="3130294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8B357-C08C-1AF2-A1FC-520A4D089957}"/>
              </a:ext>
            </a:extLst>
          </p:cNvPr>
          <p:cNvSpPr>
            <a:spLocks noGrp="1"/>
          </p:cNvSpPr>
          <p:nvPr>
            <p:ph type="title"/>
          </p:nvPr>
        </p:nvSpPr>
        <p:spPr/>
        <p:txBody>
          <a:bodyPr/>
          <a:lstStyle/>
          <a:p>
            <a:r>
              <a:rPr lang="en-US" dirty="0"/>
              <a:t>Pipeline change</a:t>
            </a:r>
          </a:p>
        </p:txBody>
      </p:sp>
      <p:sp>
        <p:nvSpPr>
          <p:cNvPr id="3" name="Content Placeholder 2">
            <a:extLst>
              <a:ext uri="{FF2B5EF4-FFF2-40B4-BE49-F238E27FC236}">
                <a16:creationId xmlns:a16="http://schemas.microsoft.com/office/drawing/2014/main" id="{B0131CBC-C266-A747-1243-D2BA779C63D9}"/>
              </a:ext>
            </a:extLst>
          </p:cNvPr>
          <p:cNvSpPr>
            <a:spLocks noGrp="1"/>
          </p:cNvSpPr>
          <p:nvPr>
            <p:ph idx="1"/>
          </p:nvPr>
        </p:nvSpPr>
        <p:spPr/>
        <p:txBody>
          <a:bodyPr>
            <a:normAutofit lnSpcReduction="10000"/>
          </a:bodyPr>
          <a:lstStyle/>
          <a:p>
            <a:r>
              <a:rPr lang="en-US" dirty="0"/>
              <a:t>However, </a:t>
            </a:r>
            <a:r>
              <a:rPr lang="en-US" altLang="zh-CN" dirty="0"/>
              <a:t>g</a:t>
            </a:r>
            <a:r>
              <a:rPr lang="en-US" dirty="0"/>
              <a:t>iven the overly simplistic experimental design—specifically the current relationship mapping of "mass -&gt; target"—and the use of L1-based selection, the setup functions more as a feature-weighting mechanism than a causal graph. Consequently, a pure black-box model (without gating) yields the same output, leading to the conclusion that the dataset contains no genuine "shortcut."</a:t>
            </a:r>
          </a:p>
          <a:p>
            <a:endParaRPr lang="en-US" dirty="0"/>
          </a:p>
          <a:p>
            <a:r>
              <a:rPr lang="en-US" dirty="0"/>
              <a:t>Notice that we can’t put the data directly into the network, instead we should put the image or frames of the videos. Before, we aim the variable -&gt; target, but we should aim to variable -&gt; variable.</a:t>
            </a:r>
          </a:p>
          <a:p>
            <a:endParaRPr lang="en-US" dirty="0"/>
          </a:p>
        </p:txBody>
      </p:sp>
    </p:spTree>
    <p:extLst>
      <p:ext uri="{BB962C8B-B14F-4D97-AF65-F5344CB8AC3E}">
        <p14:creationId xmlns:p14="http://schemas.microsoft.com/office/powerpoint/2010/main" val="67584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11F786-5E14-52E3-8411-C6E3FA7165A8}"/>
              </a:ext>
            </a:extLst>
          </p:cNvPr>
          <p:cNvSpPr>
            <a:spLocks noGrp="1"/>
          </p:cNvSpPr>
          <p:nvPr>
            <p:ph type="title"/>
          </p:nvPr>
        </p:nvSpPr>
        <p:spPr>
          <a:xfrm>
            <a:off x="640080" y="914401"/>
            <a:ext cx="4876801" cy="1569516"/>
          </a:xfrm>
        </p:spPr>
        <p:txBody>
          <a:bodyPr anchor="t">
            <a:normAutofit/>
          </a:bodyPr>
          <a:lstStyle/>
          <a:p>
            <a:pPr>
              <a:lnSpc>
                <a:spcPct val="90000"/>
              </a:lnSpc>
            </a:pPr>
            <a:r>
              <a:rPr lang="en-US" sz="3400"/>
              <a:t>Why it was Feature Selection, not Causality</a:t>
            </a:r>
          </a:p>
        </p:txBody>
      </p:sp>
      <p:pic>
        <p:nvPicPr>
          <p:cNvPr id="5" name="Picture 4">
            <a:extLst>
              <a:ext uri="{FF2B5EF4-FFF2-40B4-BE49-F238E27FC236}">
                <a16:creationId xmlns:a16="http://schemas.microsoft.com/office/drawing/2014/main" id="{E3390D08-7461-E177-1406-C095F7947451}"/>
              </a:ext>
            </a:extLst>
          </p:cNvPr>
          <p:cNvPicPr>
            <a:picLocks noChangeAspect="1"/>
          </p:cNvPicPr>
          <p:nvPr/>
        </p:nvPicPr>
        <p:blipFill>
          <a:blip r:embed="rId2"/>
          <a:stretch>
            <a:fillRect/>
          </a:stretch>
        </p:blipFill>
        <p:spPr>
          <a:xfrm>
            <a:off x="713232" y="2857499"/>
            <a:ext cx="4454524" cy="3125269"/>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F715E6-0A66-F686-7093-EB0F41A278F7}"/>
                  </a:ext>
                </a:extLst>
              </p:cNvPr>
              <p:cNvSpPr>
                <a:spLocks noGrp="1"/>
              </p:cNvSpPr>
              <p:nvPr>
                <p:ph idx="1"/>
              </p:nvPr>
            </p:nvSpPr>
            <p:spPr>
              <a:xfrm>
                <a:off x="6400799" y="960119"/>
                <a:ext cx="5130210" cy="5312664"/>
              </a:xfrm>
            </p:spPr>
            <p:txBody>
              <a:bodyPr>
                <a:normAutofit fontScale="92500" lnSpcReduction="10000"/>
              </a:bodyPr>
              <a:lstStyle/>
              <a:p>
                <a:r>
                  <a:rPr lang="en-US" dirty="0"/>
                  <a:t>The method used previously was</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𝑑</m:t>
                      </m:r>
                    </m:oMath>
                  </m:oMathPara>
                </a14:m>
                <a:endParaRPr lang="en-US" dirty="0"/>
              </a:p>
              <a:p>
                <a:pPr marL="0" indent="0">
                  <a:buNone/>
                </a:pPr>
                <a:r>
                  <a:rPr lang="en-US" dirty="0"/>
                  <a:t>Which only has d lines and point to the same target. But the actual causal structure is chain-like. (</a:t>
                </a:r>
                <a:r>
                  <a:rPr lang="en-US" dirty="0" err="1"/>
                  <a:t>mass→acceleration→velocity→position</a:t>
                </a:r>
                <a:r>
                  <a:rPr lang="en-US" dirty="0"/>
                  <a:t>), for each factors, they all are both a result and a cause.</a:t>
                </a:r>
              </a:p>
              <a:p>
                <a:pPr marL="0" indent="0">
                  <a:buNone/>
                </a:pPr>
                <a:r>
                  <a:rPr lang="en-US" dirty="0"/>
                  <a:t>So I made a input vector has 10 factors that has 7 real variables that we want the model learn their graph(G). And create a true matrix that has the correct Graph. Also, change the range of the mass, which means mass ∈ [0.8, 2.0] in train/</a:t>
                </a:r>
                <a:r>
                  <a:rPr lang="en-US" dirty="0" err="1"/>
                  <a:t>val</a:t>
                </a:r>
                <a:r>
                  <a:rPr lang="en-US" dirty="0"/>
                  <a:t> but mass ∈ [2.1, 3.5] in test for testing the OOD problem.</a:t>
                </a:r>
              </a:p>
            </p:txBody>
          </p:sp>
        </mc:Choice>
        <mc:Fallback xmlns="">
          <p:sp>
            <p:nvSpPr>
              <p:cNvPr id="3" name="Content Placeholder 2">
                <a:extLst>
                  <a:ext uri="{FF2B5EF4-FFF2-40B4-BE49-F238E27FC236}">
                    <a16:creationId xmlns:a16="http://schemas.microsoft.com/office/drawing/2014/main" id="{8DF715E6-0A66-F686-7093-EB0F41A278F7}"/>
                  </a:ext>
                </a:extLst>
              </p:cNvPr>
              <p:cNvSpPr>
                <a:spLocks noGrp="1" noRot="1" noChangeAspect="1" noMove="1" noResize="1" noEditPoints="1" noAdjustHandles="1" noChangeArrowheads="1" noChangeShapeType="1" noTextEdit="1"/>
              </p:cNvSpPr>
              <p:nvPr>
                <p:ph idx="1"/>
              </p:nvPr>
            </p:nvSpPr>
            <p:spPr>
              <a:xfrm>
                <a:off x="6400799" y="960119"/>
                <a:ext cx="5130210" cy="5312664"/>
              </a:xfrm>
              <a:blipFill>
                <a:blip r:embed="rId3"/>
                <a:stretch>
                  <a:fillRect l="-1069" t="-573" r="-713"/>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992D9D8-6090-2AB1-D69C-A2D7D73F1C77}"/>
              </a:ext>
            </a:extLst>
          </p:cNvPr>
          <p:cNvSpPr txBox="1"/>
          <p:nvPr/>
        </p:nvSpPr>
        <p:spPr>
          <a:xfrm>
            <a:off x="1678193" y="2483917"/>
            <a:ext cx="2323652" cy="373582"/>
          </a:xfrm>
          <a:prstGeom prst="rect">
            <a:avLst/>
          </a:prstGeom>
          <a:noFill/>
        </p:spPr>
        <p:txBody>
          <a:bodyPr wrap="square" rtlCol="0">
            <a:spAutoFit/>
          </a:bodyPr>
          <a:lstStyle/>
          <a:p>
            <a:r>
              <a:rPr lang="en-US" dirty="0"/>
              <a:t>The matrix </a:t>
            </a:r>
            <a:r>
              <a:rPr lang="en-US" dirty="0" err="1"/>
              <a:t>A_True</a:t>
            </a:r>
            <a:endParaRPr lang="en-US" dirty="0"/>
          </a:p>
        </p:txBody>
      </p:sp>
    </p:spTree>
    <p:extLst>
      <p:ext uri="{BB962C8B-B14F-4D97-AF65-F5344CB8AC3E}">
        <p14:creationId xmlns:p14="http://schemas.microsoft.com/office/powerpoint/2010/main" val="190594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8CC6-FF1A-C2A8-53BF-A5F8FF5DDD8B}"/>
              </a:ext>
            </a:extLst>
          </p:cNvPr>
          <p:cNvSpPr>
            <a:spLocks noGrp="1"/>
          </p:cNvSpPr>
          <p:nvPr>
            <p:ph type="title"/>
          </p:nvPr>
        </p:nvSpPr>
        <p:spPr/>
        <p:txBody>
          <a:bodyPr/>
          <a:lstStyle/>
          <a:p>
            <a:r>
              <a:rPr lang="en-US" dirty="0"/>
              <a:t>Four components/stages in SCM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C0E55C-420D-EE71-0746-2B1A6BA34E85}"/>
                  </a:ext>
                </a:extLst>
              </p:cNvPr>
              <p:cNvSpPr>
                <a:spLocks noGrp="1"/>
              </p:cNvSpPr>
              <p:nvPr>
                <p:ph idx="1"/>
              </p:nvPr>
            </p:nvSpPr>
            <p:spPr>
              <a:xfrm>
                <a:off x="640080" y="2633472"/>
                <a:ext cx="6621332" cy="3848010"/>
              </a:xfrm>
            </p:spPr>
            <p:txBody>
              <a:bodyPr>
                <a:normAutofit fontScale="77500" lnSpcReduction="20000"/>
              </a:bodyPr>
              <a:lstStyle/>
              <a:p>
                <a:r>
                  <a:rPr lang="en-US" dirty="0"/>
                  <a:t>The four components are:</a:t>
                </a:r>
              </a:p>
              <a:p>
                <a:pPr lvl="1"/>
                <a:r>
                  <a:rPr lang="en-US" dirty="0"/>
                  <a:t>1.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𝑑</m:t>
                        </m:r>
                      </m:sub>
                    </m:sSub>
                    <m:r>
                      <a:rPr lang="en-US" b="0" i="1" smtClean="0">
                        <a:latin typeface="Cambria Math" panose="02040503050406030204" pitchFamily="18" charset="0"/>
                      </a:rPr>
                      <m:t>}</m:t>
                    </m:r>
                  </m:oMath>
                </a14:m>
                <a:r>
                  <a:rPr lang="en-US" dirty="0"/>
                  <a:t>, which are our variables and the model will not learn them (Assuming given)</a:t>
                </a:r>
              </a:p>
              <a:p>
                <a:pPr lvl="1"/>
                <a:r>
                  <a:rPr lang="en-US" dirty="0"/>
                  <a:t>2. G, which the graph shows the correct relationship, this is what we want to learn</a:t>
                </a:r>
              </a:p>
              <a:p>
                <a:pPr lvl="1"/>
                <a:r>
                  <a:rPr lang="en-US" dirty="0"/>
                  <a:t>3.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𝑗</m:t>
                        </m:r>
                      </m:sub>
                    </m:sSub>
                  </m:oMath>
                </a14:m>
                <a:r>
                  <a:rPr lang="en-US" dirty="0"/>
                  <a:t>, the mechanism functions in each nodes</a:t>
                </a:r>
              </a:p>
              <a:p>
                <a:pPr lvl="1"/>
                <a:r>
                  <a:rPr lang="en-US" dirty="0"/>
                  <a:t>4.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oMath>
                </a14:m>
                <a:r>
                  <a:rPr lang="en-US" dirty="0"/>
                  <a:t>, the noise that we haven’t approached yet.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𝑃</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r>
                        <a:rPr lang="en-US" b="0" i="1" smtClean="0">
                          <a:latin typeface="Cambria Math" panose="02040503050406030204" pitchFamily="18" charset="0"/>
                        </a:rPr>
                        <m:t>)</m:t>
                      </m:r>
                    </m:oMath>
                  </m:oMathPara>
                </a14:m>
                <a:endParaRPr lang="en-US" dirty="0"/>
              </a:p>
              <a:p>
                <a:pPr marL="0" indent="0">
                  <a:buNone/>
                </a:pPr>
                <a:r>
                  <a:rPr lang="en-US" dirty="0"/>
                  <a:t>The equation is my idea on the pipeline, which shows in the end we can use parents nodes of j(directly affect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𝑗</m:t>
                        </m:r>
                      </m:sub>
                    </m:sSub>
                  </m:oMath>
                </a14:m>
                <a:r>
                  <a:rPr lang="en-US" dirty="0"/>
                  <a:t>), The mechanism function for the </a:t>
                </a:r>
                <a14:m>
                  <m:oMath xmlns:m="http://schemas.openxmlformats.org/officeDocument/2006/math">
                    <m:sSub>
                      <m:sSubPr>
                        <m:ctrlPr>
                          <a:rPr lang="en-US" i="1" dirty="0">
                            <a:latin typeface="Cambria Math" panose="02040503050406030204" pitchFamily="18" charset="0"/>
                          </a:rPr>
                        </m:ctrlPr>
                      </m:sSubPr>
                      <m:e>
                        <m:r>
                          <m:rPr>
                            <m:sty m:val="p"/>
                          </m:rPr>
                          <a:rPr lang="en-US" i="1" dirty="0">
                            <a:latin typeface="Cambria Math" panose="02040503050406030204" pitchFamily="18" charset="0"/>
                          </a:rPr>
                          <m:t>j</m:t>
                        </m:r>
                      </m:e>
                      <m:sub>
                        <m:r>
                          <a:rPr lang="en-US" b="0" i="1" dirty="0" smtClean="0">
                            <a:latin typeface="Cambria Math" panose="02040503050406030204" pitchFamily="18" charset="0"/>
                          </a:rPr>
                          <m:t>𝑡ℎ</m:t>
                        </m:r>
                      </m:sub>
                    </m:sSub>
                    <m:r>
                      <a:rPr lang="en-US" i="1" dirty="0">
                        <a:latin typeface="Cambria Math" panose="02040503050406030204" pitchFamily="18" charset="0"/>
                      </a:rPr>
                      <m:t> </m:t>
                    </m:r>
                  </m:oMath>
                </a14:m>
                <a:r>
                  <a:rPr lang="en-US" dirty="0"/>
                  <a:t>variable and try to avoid the noise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𝑗</m:t>
                        </m:r>
                      </m:sub>
                    </m:sSub>
                  </m:oMath>
                </a14:m>
                <a:r>
                  <a:rPr lang="en-US" dirty="0"/>
                  <a:t>.</a:t>
                </a:r>
              </a:p>
              <a:p>
                <a:pPr marL="0" indent="0">
                  <a:buNone/>
                </a:pPr>
                <a:r>
                  <a:rPr lang="en-US" dirty="0"/>
                  <a:t>Example: </a:t>
                </a:r>
                <a14:m>
                  <m:oMath xmlns:m="http://schemas.openxmlformats.org/officeDocument/2006/math">
                    <m:r>
                      <a:rPr lang="en-US" b="0" i="1" smtClean="0">
                        <a:latin typeface="Cambria Math" panose="02040503050406030204" pitchFamily="18" charset="0"/>
                      </a:rPr>
                      <m:t>𝑆𝑝𝑒𝑒</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𝑆𝑝𝑒𝑒</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𝐴𝑐𝑐𝑒𝑙𝑒𝑟𝑎𝑡𝑖𝑜𝑛</m:t>
                        </m:r>
                      </m:e>
                    </m:d>
                    <m:r>
                      <a:rPr lang="en-US" b="0" i="1" smtClean="0">
                        <a:latin typeface="Cambria Math" panose="02040503050406030204" pitchFamily="18" charset="0"/>
                      </a:rPr>
                      <m:t>+</m:t>
                    </m:r>
                    <m:r>
                      <a:rPr lang="en-US" b="0" i="1" smtClean="0">
                        <a:latin typeface="Cambria Math" panose="02040503050406030204" pitchFamily="18" charset="0"/>
                      </a:rPr>
                      <m:t>𝑈</m:t>
                    </m:r>
                  </m:oMath>
                </a14:m>
                <a:r>
                  <a:rPr lang="en-US" dirty="0"/>
                  <a:t>, Parent node Pa: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𝑆𝑝𝑒𝑒</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𝐴𝑐𝑐𝑒𝑙𝑒𝑟𝑎𝑡𝑖𝑜𝑛</m:t>
                        </m:r>
                      </m:e>
                    </m:d>
                  </m:oMath>
                </a14:m>
                <a:endParaRPr lang="en-US" dirty="0"/>
              </a:p>
            </p:txBody>
          </p:sp>
        </mc:Choice>
        <mc:Fallback xmlns="">
          <p:sp>
            <p:nvSpPr>
              <p:cNvPr id="3" name="Content Placeholder 2">
                <a:extLst>
                  <a:ext uri="{FF2B5EF4-FFF2-40B4-BE49-F238E27FC236}">
                    <a16:creationId xmlns:a16="http://schemas.microsoft.com/office/drawing/2014/main" id="{CAC0E55C-420D-EE71-0746-2B1A6BA34E85}"/>
                  </a:ext>
                </a:extLst>
              </p:cNvPr>
              <p:cNvSpPr>
                <a:spLocks noGrp="1" noRot="1" noChangeAspect="1" noMove="1" noResize="1" noEditPoints="1" noAdjustHandles="1" noChangeArrowheads="1" noChangeShapeType="1" noTextEdit="1"/>
              </p:cNvSpPr>
              <p:nvPr>
                <p:ph idx="1"/>
              </p:nvPr>
            </p:nvSpPr>
            <p:spPr>
              <a:xfrm>
                <a:off x="640080" y="2633472"/>
                <a:ext cx="6621332" cy="3848010"/>
              </a:xfrm>
              <a:blipFill>
                <a:blip r:embed="rId2"/>
                <a:stretch>
                  <a:fillRect l="-460" t="-475" r="-110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DD448AC-6CC2-9B99-3652-66A89752B4A1}"/>
              </a:ext>
            </a:extLst>
          </p:cNvPr>
          <p:cNvSpPr txBox="1"/>
          <p:nvPr/>
        </p:nvSpPr>
        <p:spPr>
          <a:xfrm>
            <a:off x="7274112" y="2595282"/>
            <a:ext cx="4518212" cy="2862322"/>
          </a:xfrm>
          <a:prstGeom prst="rect">
            <a:avLst/>
          </a:prstGeom>
          <a:noFill/>
        </p:spPr>
        <p:txBody>
          <a:bodyPr wrap="square" rtlCol="0">
            <a:spAutoFit/>
          </a:bodyPr>
          <a:lstStyle/>
          <a:p>
            <a:r>
              <a:rPr lang="en-US" b="1" dirty="0"/>
              <a:t>Four stages:</a:t>
            </a:r>
          </a:p>
          <a:p>
            <a:endParaRPr lang="en-US" b="1" dirty="0"/>
          </a:p>
          <a:p>
            <a:r>
              <a:rPr lang="en-US" b="1" dirty="0"/>
              <a:t>Stage 1: Given V → Learn G</a:t>
            </a:r>
          </a:p>
          <a:p>
            <a:endParaRPr lang="en-US" b="1" dirty="0"/>
          </a:p>
          <a:p>
            <a:r>
              <a:rPr lang="en-US" b="1" dirty="0"/>
              <a:t>Stage 2: Given V, G → Learn mechanism f</a:t>
            </a:r>
          </a:p>
          <a:p>
            <a:endParaRPr lang="en-US" b="1" dirty="0"/>
          </a:p>
          <a:p>
            <a:r>
              <a:rPr lang="en-US" b="1" dirty="0"/>
              <a:t>Stage 3: Given V, G, f → Model noise U</a:t>
            </a:r>
          </a:p>
          <a:p>
            <a:endParaRPr lang="en-US" b="1" dirty="0"/>
          </a:p>
          <a:p>
            <a:r>
              <a:rPr lang="en-US" b="1" dirty="0"/>
              <a:t>Stage 4: Jointly learn V, G, f, U from raw observations </a:t>
            </a:r>
          </a:p>
        </p:txBody>
      </p:sp>
    </p:spTree>
    <p:extLst>
      <p:ext uri="{BB962C8B-B14F-4D97-AF65-F5344CB8AC3E}">
        <p14:creationId xmlns:p14="http://schemas.microsoft.com/office/powerpoint/2010/main" val="1957814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BCDE-39A9-C961-B663-8A05A4646F45}"/>
              </a:ext>
            </a:extLst>
          </p:cNvPr>
          <p:cNvSpPr>
            <a:spLocks noGrp="1"/>
          </p:cNvSpPr>
          <p:nvPr>
            <p:ph type="title"/>
          </p:nvPr>
        </p:nvSpPr>
        <p:spPr/>
        <p:txBody>
          <a:bodyPr/>
          <a:lstStyle/>
          <a:p>
            <a:r>
              <a:rPr lang="en-US" dirty="0"/>
              <a:t>How to make the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F4EEA0-087A-CDB6-0934-B5039CE7CB95}"/>
                  </a:ext>
                </a:extLst>
              </p:cNvPr>
              <p:cNvSpPr>
                <a:spLocks noGrp="1"/>
              </p:cNvSpPr>
              <p:nvPr>
                <p:ph idx="1"/>
              </p:nvPr>
            </p:nvSpPr>
            <p:spPr>
              <a:xfrm>
                <a:off x="640080" y="2164976"/>
                <a:ext cx="10890928" cy="4693024"/>
              </a:xfrm>
            </p:spPr>
            <p:txBody>
              <a:bodyPr>
                <a:normAutofit lnSpcReduction="10000"/>
              </a:bodyPr>
              <a:lstStyle/>
              <a:p>
                <a:r>
                  <a:rPr lang="en-US" dirty="0"/>
                  <a:t>Input: Mass </a:t>
                </a:r>
                <a14:m>
                  <m:oMath xmlns:m="http://schemas.openxmlformats.org/officeDocument/2006/math">
                    <m:r>
                      <a:rPr lang="en-US" i="1" dirty="0" smtClean="0">
                        <a:latin typeface="Cambria Math" panose="02040503050406030204" pitchFamily="18" charset="0"/>
                      </a:rPr>
                      <m:t>𝑚</m:t>
                    </m:r>
                  </m:oMath>
                </a14:m>
                <a:r>
                  <a:rPr lang="en-US" dirty="0"/>
                  <a:t>, external force </a:t>
                </a:r>
                <a14:m>
                  <m:oMath xmlns:m="http://schemas.openxmlformats.org/officeDocument/2006/math">
                    <m:r>
                      <a:rPr lang="en-US" i="1" dirty="0" smtClean="0">
                        <a:latin typeface="Cambria Math" panose="02040503050406030204" pitchFamily="18" charset="0"/>
                      </a:rPr>
                      <m:t>𝐹</m:t>
                    </m:r>
                  </m:oMath>
                </a14:m>
                <a:r>
                  <a:rPr lang="en-US" dirty="0"/>
                  <a:t>, friction coefficient c, current acceleration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oMath>
                </a14:m>
                <a:r>
                  <a:rPr lang="en-US" dirty="0"/>
                  <a:t>, current velocity </a:t>
                </a:r>
                <a14:m>
                  <m:oMath xmlns:m="http://schemas.openxmlformats.org/officeDocument/2006/math">
                    <m:sSub>
                      <m:sSubPr>
                        <m:ctrlPr>
                          <a:rPr lang="en-US" i="1" dirty="0" err="1">
                            <a:latin typeface="Cambria Math" panose="02040503050406030204" pitchFamily="18" charset="0"/>
                          </a:rPr>
                        </m:ctrlPr>
                      </m:sSubPr>
                      <m:e>
                        <m:r>
                          <a:rPr lang="en-US" i="1" dirty="0" err="1">
                            <a:latin typeface="Cambria Math" panose="02040503050406030204" pitchFamily="18" charset="0"/>
                          </a:rPr>
                          <m:t>𝑣</m:t>
                        </m:r>
                      </m:e>
                      <m:sub>
                        <m:r>
                          <a:rPr lang="en-US" i="1" dirty="0" err="1">
                            <a:latin typeface="Cambria Math" panose="02040503050406030204" pitchFamily="18" charset="0"/>
                          </a:rPr>
                          <m:t>𝑡</m:t>
                        </m:r>
                      </m:sub>
                    </m:sSub>
                    <m:r>
                      <a:rPr lang="en-US" i="1" dirty="0">
                        <a:latin typeface="Cambria Math" panose="02040503050406030204" pitchFamily="18" charset="0"/>
                      </a:rPr>
                      <m:t>, </m:t>
                    </m:r>
                  </m:oMath>
                </a14:m>
                <a:r>
                  <a:rPr lang="en-US" dirty="0"/>
                  <a:t>current position </a:t>
                </a:r>
                <a14:m>
                  <m:oMath xmlns:m="http://schemas.openxmlformats.org/officeDocument/2006/math">
                    <m:sSub>
                      <m:sSubPr>
                        <m:ctrlPr>
                          <a:rPr lang="en-US" i="1" dirty="0" err="1">
                            <a:latin typeface="Cambria Math" panose="02040503050406030204" pitchFamily="18" charset="0"/>
                          </a:rPr>
                        </m:ctrlPr>
                      </m:sSubPr>
                      <m:e>
                        <m:r>
                          <a:rPr lang="en-US" i="1" dirty="0" err="1">
                            <a:latin typeface="Cambria Math" panose="02040503050406030204" pitchFamily="18" charset="0"/>
                          </a:rPr>
                          <m:t>𝑥</m:t>
                        </m:r>
                      </m:e>
                      <m:sub>
                        <m:r>
                          <a:rPr lang="en-US" i="1" dirty="0" err="1">
                            <a:latin typeface="Cambria Math" panose="02040503050406030204" pitchFamily="18" charset="0"/>
                          </a:rPr>
                          <m:t>𝑡</m:t>
                        </m:r>
                      </m:sub>
                    </m:sSub>
                    <m:r>
                      <a:rPr lang="en-US" i="1" dirty="0">
                        <a:latin typeface="Cambria Math" panose="02040503050406030204" pitchFamily="18" charset="0"/>
                      </a:rPr>
                      <m:t>, </m:t>
                    </m:r>
                  </m:oMath>
                </a14:m>
                <a:r>
                  <a:rPr lang="en-US" dirty="0"/>
                  <a:t>and angle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𝜃</m:t>
                        </m:r>
                      </m:e>
                      <m:sub>
                        <m:r>
                          <a:rPr lang="en-US" i="1" dirty="0" err="1">
                            <a:latin typeface="Cambria Math" panose="02040503050406030204" pitchFamily="18" charset="0"/>
                          </a:rPr>
                          <m:t>𝑡</m:t>
                        </m:r>
                      </m:sub>
                    </m:sSub>
                    <m:r>
                      <a:rPr lang="en-US" i="1" dirty="0">
                        <a:latin typeface="Cambria Math" panose="02040503050406030204" pitchFamily="18" charset="0"/>
                      </a:rPr>
                      <m:t>, </m:t>
                    </m:r>
                  </m:oMath>
                </a14:m>
                <a:r>
                  <a:rPr lang="en-US" dirty="0"/>
                  <a:t>plus three pseudo-correlated variables: color, texture, and </a:t>
                </a:r>
                <a:r>
                  <a:rPr lang="en-US" dirty="0" err="1"/>
                  <a:t>bg_light</a:t>
                </a:r>
                <a:r>
                  <a:rPr lang="en-US" dirty="0"/>
                  <a:t>. Output: next sate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i="1">
                            <a:latin typeface="Cambria Math" panose="02040503050406030204" pitchFamily="18" charset="0"/>
                          </a:rPr>
                          <m:t>𝑡</m:t>
                        </m:r>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oMath>
                </a14:m>
                <a:r>
                  <a:rPr lang="en-US" dirty="0"/>
                  <a:t>.</a:t>
                </a:r>
              </a:p>
              <a:p>
                <a:r>
                  <a:rPr lang="en-US" dirty="0"/>
                  <a:t>Three underlying mechanism to calculate these three output in the end:</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𝐹𝑐𝑜𝑠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𝑐</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sub>
                          </m:sSub>
                        </m:num>
                        <m:den>
                          <m:r>
                            <a:rPr lang="en-US" b="0" i="1" smtClean="0">
                              <a:latin typeface="Cambria Math" panose="02040503050406030204" pitchFamily="18" charset="0"/>
                            </a:rPr>
                            <m:t>𝑚</m:t>
                          </m:r>
                        </m:den>
                      </m:f>
                      <m:r>
                        <a:rPr lang="en-US" b="0" i="1" smtClean="0">
                          <a:latin typeface="Cambria Math" panose="02040503050406030204" pitchFamily="18" charset="0"/>
                        </a:rPr>
                        <m:t>+0.15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𝑎</m:t>
                          </m:r>
                        </m:sub>
                      </m:sSub>
                    </m:oMath>
                  </m:oMathPara>
                </a14:m>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𝑣</m:t>
                          </m:r>
                        </m:sub>
                      </m:sSub>
                    </m:oMath>
                  </m:oMathPara>
                </a14:m>
                <a:endParaRPr lang="en-US" dirty="0"/>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tv</m:t>
                          </m:r>
                        </m:e>
                        <m:sub>
                          <m:r>
                            <m:rPr>
                              <m:sty m:val="p"/>
                            </m:rPr>
                            <a:rPr lang="en-US" b="0" i="0" smtClean="0">
                              <a:latin typeface="Cambria Math" panose="02040503050406030204" pitchFamily="18" charset="0"/>
                            </a:rPr>
                            <m:t>t</m:t>
                          </m:r>
                        </m:sub>
                      </m:sSub>
                      <m:r>
                        <a:rPr lang="en-US" b="0" i="0" smtClean="0">
                          <a:latin typeface="Cambria Math" panose="02040503050406030204" pitchFamily="18" charset="0"/>
                        </a:rPr>
                        <m:t>+</m:t>
                      </m:r>
                      <m:f>
                        <m:fPr>
                          <m:ctrlPr>
                            <a:rPr lang="en-US" b="0" i="0" smtClean="0">
                              <a:latin typeface="Cambria Math" panose="02040503050406030204" pitchFamily="18" charset="0"/>
                            </a:rPr>
                          </m:ctrlPr>
                        </m:fPr>
                        <m:num>
                          <m:r>
                            <a:rPr lang="en-US" b="0" i="0" smtClean="0">
                              <a:latin typeface="Cambria Math" panose="02040503050406030204" pitchFamily="18" charset="0"/>
                            </a:rPr>
                            <m:t>1</m:t>
                          </m:r>
                        </m:num>
                        <m:den>
                          <m:r>
                            <a:rPr lang="en-US" b="0" i="0" smtClean="0">
                              <a:latin typeface="Cambria Math" panose="02040503050406030204" pitchFamily="18" charset="0"/>
                            </a:rPr>
                            <m:t>2</m:t>
                          </m:r>
                        </m:den>
                      </m:f>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𝑥</m:t>
                          </m:r>
                        </m:sub>
                      </m:sSub>
                    </m:oMath>
                  </m:oMathPara>
                </a14:m>
                <a:endParaRPr lang="en-US" dirty="0"/>
              </a:p>
              <a:p>
                <a:pPr marL="0" indent="0">
                  <a:buNone/>
                </a:pPr>
                <a:r>
                  <a:rPr lang="en-US" dirty="0"/>
                  <a:t>But I also created the trap named ‘color’ which can not be used on the physical.</a:t>
                </a:r>
              </a:p>
              <a:p>
                <a:pPr marL="0" indent="0" algn="ctr">
                  <a:buNone/>
                </a:pPr>
                <a:r>
                  <a:rPr lang="en-US" dirty="0"/>
                  <a:t>Training: </a:t>
                </a:r>
                <a14:m>
                  <m:oMath xmlns:m="http://schemas.openxmlformats.org/officeDocument/2006/math">
                    <m:r>
                      <a:rPr lang="en-US" b="0" i="1" smtClean="0">
                        <a:latin typeface="Cambria Math" panose="02040503050406030204" pitchFamily="18" charset="0"/>
                      </a:rPr>
                      <m:t>𝑐𝑜𝑙𝑜𝑟</m:t>
                    </m:r>
                    <m:r>
                      <a:rPr lang="en-US" b="0" i="1" smtClean="0">
                        <a:latin typeface="Cambria Math" panose="02040503050406030204" pitchFamily="18" charset="0"/>
                      </a:rPr>
                      <m:t>=1.2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m:rPr>
                        <m:nor/>
                      </m:rPr>
                      <a:rPr lang="en-US" i="0"/>
                      <m:t>ϵ</m:t>
                    </m:r>
                  </m:oMath>
                </a14:m>
                <a:endParaRPr lang="en-US" dirty="0"/>
              </a:p>
              <a:p>
                <a:pPr marL="0" indent="0" algn="ctr">
                  <a:buNone/>
                </a:pPr>
                <a:r>
                  <a:rPr lang="en-US" dirty="0"/>
                  <a:t>Testing: </a:t>
                </a:r>
                <a14:m>
                  <m:oMath xmlns:m="http://schemas.openxmlformats.org/officeDocument/2006/math">
                    <m:r>
                      <a:rPr lang="en-US" b="0" i="1" smtClean="0">
                        <a:latin typeface="Cambria Math" panose="02040503050406030204" pitchFamily="18" charset="0"/>
                      </a:rPr>
                      <m:t>𝑐𝑜𝑙𝑜𝑟</m:t>
                    </m:r>
                    <m:r>
                      <a:rPr lang="en-US" b="0" i="1" smtClean="0">
                        <a:latin typeface="Cambria Math" panose="02040503050406030204" pitchFamily="18" charset="0"/>
                      </a:rPr>
                      <m:t>~</m:t>
                    </m:r>
                    <m:r>
                      <m:rPr>
                        <m:nor/>
                      </m:rPr>
                      <a:rPr lang="en-US" b="0" i="0" smtClean="0">
                        <a:latin typeface="Cambria Math" panose="02040503050406030204" pitchFamily="18" charset="0"/>
                      </a:rPr>
                      <m:t>N(0,1)</m:t>
                    </m:r>
                  </m:oMath>
                </a14:m>
                <a:r>
                  <a:rPr lang="en-US" dirty="0"/>
                  <a:t>, which means color will become random noise</a:t>
                </a:r>
              </a:p>
            </p:txBody>
          </p:sp>
        </mc:Choice>
        <mc:Fallback xmlns="">
          <p:sp>
            <p:nvSpPr>
              <p:cNvPr id="3" name="Content Placeholder 2">
                <a:extLst>
                  <a:ext uri="{FF2B5EF4-FFF2-40B4-BE49-F238E27FC236}">
                    <a16:creationId xmlns:a16="http://schemas.microsoft.com/office/drawing/2014/main" id="{4AF4EEA0-087A-CDB6-0934-B5039CE7CB95}"/>
                  </a:ext>
                </a:extLst>
              </p:cNvPr>
              <p:cNvSpPr>
                <a:spLocks noGrp="1" noRot="1" noChangeAspect="1" noMove="1" noResize="1" noEditPoints="1" noAdjustHandles="1" noChangeArrowheads="1" noChangeShapeType="1" noTextEdit="1"/>
              </p:cNvSpPr>
              <p:nvPr>
                <p:ph idx="1"/>
              </p:nvPr>
            </p:nvSpPr>
            <p:spPr>
              <a:xfrm>
                <a:off x="640080" y="2164976"/>
                <a:ext cx="10890928" cy="4693024"/>
              </a:xfrm>
              <a:blipFill>
                <a:blip r:embed="rId2"/>
                <a:stretch>
                  <a:fillRect l="-560" t="-649" r="-448" b="-1558"/>
                </a:stretch>
              </a:blipFill>
            </p:spPr>
            <p:txBody>
              <a:bodyPr/>
              <a:lstStyle/>
              <a:p>
                <a:r>
                  <a:rPr lang="en-US">
                    <a:noFill/>
                  </a:rPr>
                  <a:t> </a:t>
                </a:r>
              </a:p>
            </p:txBody>
          </p:sp>
        </mc:Fallback>
      </mc:AlternateContent>
    </p:spTree>
    <p:extLst>
      <p:ext uri="{BB962C8B-B14F-4D97-AF65-F5344CB8AC3E}">
        <p14:creationId xmlns:p14="http://schemas.microsoft.com/office/powerpoint/2010/main" val="3278732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2425A7-99F6-969E-F775-445B8046D041}"/>
              </a:ext>
            </a:extLst>
          </p:cNvPr>
          <p:cNvSpPr>
            <a:spLocks noGrp="1"/>
          </p:cNvSpPr>
          <p:nvPr>
            <p:ph type="title"/>
          </p:nvPr>
        </p:nvSpPr>
        <p:spPr>
          <a:xfrm>
            <a:off x="640080" y="914399"/>
            <a:ext cx="10847494" cy="1171069"/>
          </a:xfrm>
        </p:spPr>
        <p:txBody>
          <a:bodyPr anchor="t">
            <a:normAutofit/>
          </a:bodyPr>
          <a:lstStyle/>
          <a:p>
            <a:r>
              <a:rPr lang="en-US" dirty="0"/>
              <a:t>Main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68D9D6-362B-717A-5CC7-71FA2E875E6C}"/>
                  </a:ext>
                </a:extLst>
              </p:cNvPr>
              <p:cNvSpPr>
                <a:spLocks noGrp="1"/>
              </p:cNvSpPr>
              <p:nvPr>
                <p:ph idx="1"/>
              </p:nvPr>
            </p:nvSpPr>
            <p:spPr>
              <a:xfrm>
                <a:off x="6915150" y="2256287"/>
                <a:ext cx="4563618" cy="3760459"/>
              </a:xfrm>
            </p:spPr>
            <p:txBody>
              <a:bodyPr anchor="t">
                <a:normAutofit/>
              </a:bodyPr>
              <a:lstStyle/>
              <a:p>
                <a:r>
                  <a:rPr lang="en-US" dirty="0"/>
                  <a:t>Each output variable has its own small network, and a learnable "gate" controls which inputs that small network can see. </a:t>
                </a:r>
                <a:r>
                  <a:rPr lang="en-US" b="1" u="sng" dirty="0"/>
                  <a:t>The L is a learnable 10×3 matrix. This is precisely what gradient descent modifies.</a:t>
                </a:r>
              </a:p>
              <a:p>
                <a:pPr marL="0" indent="0" algn="ctr">
                  <a:buNone/>
                </a:pPr>
                <a14:m>
                  <m:oMath xmlns:m="http://schemas.openxmlformats.org/officeDocument/2006/math">
                    <m:sSup>
                      <m:sSupPr>
                        <m:ctrlPr>
                          <a:rPr lang="en-US" b="0" i="1" smtClean="0">
                            <a:latin typeface="Cambria Math" panose="02040503050406030204" pitchFamily="18" charset="0"/>
                          </a:rPr>
                        </m:ctrlPr>
                      </m:sSup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b>
                            <m:r>
                              <a:rPr lang="en-US" b="0" i="1" smtClean="0">
                                <a:latin typeface="Cambria Math" panose="02040503050406030204" pitchFamily="18" charset="0"/>
                              </a:rPr>
                              <m:t>𝑗</m:t>
                            </m:r>
                          </m:sub>
                        </m:sSub>
                      </m:e>
                      <m:sup>
                        <m:r>
                          <a:rPr lang="en-US" b="0" i="1" smtClean="0">
                            <a:latin typeface="Cambria Math" panose="02040503050406030204" pitchFamily="18" charset="0"/>
                          </a:rPr>
                          <m:t>𝑡</m:t>
                        </m:r>
                        <m:r>
                          <a:rPr lang="en-US" b="0" i="1" smtClean="0">
                            <a:latin typeface="Cambria Math" panose="02040503050406030204" pitchFamily="18" charset="0"/>
                          </a:rPr>
                          <m:t>+1</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𝑗</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m:t>
                            </m:r>
                            <m:r>
                              <a:rPr lang="en-US" b="0" i="1" smtClean="0">
                                <a:latin typeface="Cambria Math" panose="02040503050406030204" pitchFamily="18" charset="0"/>
                              </a:rPr>
                              <m:t>𝑗</m:t>
                            </m:r>
                          </m:sub>
                        </m:sSub>
                        <m:r>
                          <m:rPr>
                            <m:nor/>
                          </m:rPr>
                          <a:rPr lang="en-US" i="0"/>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𝑡</m:t>
                            </m:r>
                          </m:sup>
                        </m:sSup>
                      </m:e>
                    </m:d>
                    <m:r>
                      <a:rPr lang="en-US" b="0" i="0" smtClean="0">
                        <a:latin typeface="Cambria Math" panose="02040503050406030204" pitchFamily="18" charset="0"/>
                      </a:rPr>
                      <m:t>, </m:t>
                    </m:r>
                    <m:r>
                      <m:rPr>
                        <m:sty m:val="p"/>
                      </m:rPr>
                      <a:rPr lang="en-US" b="0" i="0" smtClean="0">
                        <a:latin typeface="Cambria Math" panose="02040503050406030204" pitchFamily="18" charset="0"/>
                      </a:rPr>
                      <m:t>A</m:t>
                    </m:r>
                    <m:r>
                      <a:rPr lang="en-US" b="0" i="0"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m:rPr>
                        <m:nor/>
                      </m:rPr>
                      <a:rPr lang="en-US" i="0"/>
                      <m:t>⋅</m:t>
                    </m:r>
                    <m:r>
                      <a:rPr lang="en-US" b="0" i="1" smtClean="0">
                        <a:latin typeface="Cambria Math" panose="02040503050406030204" pitchFamily="18" charset="0"/>
                      </a:rPr>
                      <m:t>𝐿</m:t>
                    </m:r>
                    <m:r>
                      <a:rPr lang="en-US" b="0" i="1" smtClean="0">
                        <a:latin typeface="Cambria Math" panose="02040503050406030204" pitchFamily="18" charset="0"/>
                      </a:rPr>
                      <m:t>)</m:t>
                    </m:r>
                  </m:oMath>
                </a14:m>
                <a:r>
                  <a:rPr lang="en-US" dirty="0"/>
                  <a:t> </a:t>
                </a:r>
              </a:p>
              <a:p>
                <a:pPr marL="0" indent="0">
                  <a:buNone/>
                </a:pPr>
                <a:r>
                  <a:rPr lang="en-US" dirty="0"/>
                  <a:t>[</a:t>
                </a:r>
                <a14:m>
                  <m:oMath xmlns:m="http://schemas.openxmlformats.org/officeDocument/2006/math">
                    <m:r>
                      <a:rPr lang="en-US" i="1">
                        <a:latin typeface="Cambria Math" panose="02040503050406030204" pitchFamily="18" charset="0"/>
                        <a:ea typeface="Cambria Math" panose="02040503050406030204" pitchFamily="18" charset="0"/>
                      </a:rPr>
                      <m:t>𝜏</m:t>
                    </m:r>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oMath>
                </a14:m>
                <a:r>
                  <a:rPr lang="en-US" dirty="0"/>
                  <a:t> are hyperparameters] </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8768D9D6-362B-717A-5CC7-71FA2E875E6C}"/>
                  </a:ext>
                </a:extLst>
              </p:cNvPr>
              <p:cNvSpPr>
                <a:spLocks noGrp="1" noRot="1" noChangeAspect="1" noMove="1" noResize="1" noEditPoints="1" noAdjustHandles="1" noChangeArrowheads="1" noChangeShapeType="1" noTextEdit="1"/>
              </p:cNvSpPr>
              <p:nvPr>
                <p:ph idx="1"/>
              </p:nvPr>
            </p:nvSpPr>
            <p:spPr>
              <a:xfrm>
                <a:off x="6915150" y="2256287"/>
                <a:ext cx="4563618" cy="3760459"/>
              </a:xfrm>
              <a:blipFill>
                <a:blip r:embed="rId2"/>
                <a:stretch>
                  <a:fillRect l="-1335" t="-162" r="-2670"/>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B8291BC-1C16-93E0-370C-8EB1673E5167}"/>
                  </a:ext>
                </a:extLst>
              </p:cNvPr>
              <p:cNvGraphicFramePr>
                <a:graphicFrameLocks noGrp="1"/>
              </p:cNvGraphicFramePr>
              <p:nvPr>
                <p:extLst>
                  <p:ext uri="{D42A27DB-BD31-4B8C-83A1-F6EECF244321}">
                    <p14:modId xmlns:p14="http://schemas.microsoft.com/office/powerpoint/2010/main" val="1749984407"/>
                  </p:ext>
                </p:extLst>
              </p:nvPr>
            </p:nvGraphicFramePr>
            <p:xfrm>
              <a:off x="281005" y="2194134"/>
              <a:ext cx="6353140" cy="3462004"/>
            </p:xfrm>
            <a:graphic>
              <a:graphicData uri="http://schemas.openxmlformats.org/drawingml/2006/table">
                <a:tbl>
                  <a:tblPr firstRow="1" bandRow="1">
                    <a:noFill/>
                    <a:effectLst>
                      <a:innerShdw blurRad="63500" dist="50800" dir="13500000">
                        <a:prstClr val="black">
                          <a:alpha val="30000"/>
                        </a:prstClr>
                      </a:innerShdw>
                    </a:effectLst>
                    <a:tableStyleId>{073A0DAA-6AF3-43AB-8588-CEC1D06C72B9}</a:tableStyleId>
                  </a:tblPr>
                  <a:tblGrid>
                    <a:gridCol w="1112215">
                      <a:extLst>
                        <a:ext uri="{9D8B030D-6E8A-4147-A177-3AD203B41FA5}">
                          <a16:colId xmlns:a16="http://schemas.microsoft.com/office/drawing/2014/main" val="3490382006"/>
                        </a:ext>
                      </a:extLst>
                    </a:gridCol>
                    <a:gridCol w="5240925">
                      <a:extLst>
                        <a:ext uri="{9D8B030D-6E8A-4147-A177-3AD203B41FA5}">
                          <a16:colId xmlns:a16="http://schemas.microsoft.com/office/drawing/2014/main" val="448743812"/>
                        </a:ext>
                      </a:extLst>
                    </a:gridCol>
                  </a:tblGrid>
                  <a:tr h="438674">
                    <a:tc>
                      <a:txBody>
                        <a:bodyPr/>
                        <a:lstStyle/>
                        <a:p>
                          <a:pPr algn="ctr">
                            <a:buNone/>
                          </a:pPr>
                          <a:r>
                            <a:rPr lang="en-US" sz="1200" b="1">
                              <a:ln w="6350">
                                <a:solidFill>
                                  <a:schemeClr val="tx1">
                                    <a:lumMod val="75000"/>
                                    <a:lumOff val="25000"/>
                                    <a:alpha val="59000"/>
                                  </a:schemeClr>
                                </a:solidFill>
                              </a:ln>
                              <a:solidFill>
                                <a:schemeClr val="tx1">
                                  <a:lumMod val="75000"/>
                                  <a:lumOff val="25000"/>
                                </a:schemeClr>
                              </a:solidFill>
                            </a:rPr>
                            <a:t>Symbols </a:t>
                          </a:r>
                        </a:p>
                      </a:txBody>
                      <a:tcPr marL="123173" marR="92379" marT="61586" marB="61586"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a:buNone/>
                          </a:pPr>
                          <a:r>
                            <a:rPr lang="en-US" sz="1200" b="1" dirty="0">
                              <a:ln w="6350">
                                <a:solidFill>
                                  <a:schemeClr val="tx1">
                                    <a:lumMod val="75000"/>
                                    <a:lumOff val="25000"/>
                                    <a:alpha val="59000"/>
                                  </a:schemeClr>
                                </a:solidFill>
                              </a:ln>
                              <a:solidFill>
                                <a:schemeClr val="tx1">
                                  <a:lumMod val="75000"/>
                                  <a:lumOff val="25000"/>
                                </a:schemeClr>
                              </a:solidFill>
                            </a:rPr>
                            <a:t>What does it mean</a:t>
                          </a:r>
                        </a:p>
                      </a:txBody>
                      <a:tcPr marL="123173" marR="92379" marT="61586" marB="61586"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4154047367"/>
                      </a:ext>
                    </a:extLst>
                  </a:tr>
                  <a:tr h="723000">
                    <a:tc>
                      <a:txBody>
                        <a:bodyPr/>
                        <a:lstStyle/>
                        <a:p>
                          <a:pPr>
                            <a:buNone/>
                          </a:pPr>
                          <a14:m>
                            <m:oMathPara xmlns:m="http://schemas.openxmlformats.org/officeDocument/2006/math">
                              <m:oMath>
                                <m:sSubSup>
                                  <m:sSubSupPr>
                                    <m:ctrlPr>
                                      <a:rPr lang="en-US" sz="900" i="1">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SupPr>
                                  <m:e>
                                    <m:acc>
                                      <m:accPr>
                                        <m:chr m:val="̂"/>
                                        <m:ctrlP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accPr>
                                      <m:e>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𝑋</m:t>
                                        </m:r>
                                      </m:e>
                                    </m:acc>
                                  </m:e>
                                  <m:sub>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𝑗</m:t>
                                    </m:r>
                                  </m:sub>
                                  <m:sup>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𝑡</m:t>
                                    </m:r>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+1</m:t>
                                    </m:r>
                                  </m:sup>
                                </m:sSubSup>
                              </m:oMath>
                            </m:oMathPara>
                          </a14:m>
                          <a:endParaRPr lang="en-US" sz="900">
                            <a:ln w="6350">
                              <a:solidFill>
                                <a:schemeClr val="tx1">
                                  <a:lumMod val="75000"/>
                                  <a:lumOff val="25000"/>
                                  <a:alpha val="59000"/>
                                </a:schemeClr>
                              </a:solidFill>
                            </a:ln>
                            <a:solidFill>
                              <a:schemeClr val="tx1">
                                <a:lumMod val="75000"/>
                                <a:lumOff val="25000"/>
                              </a:schemeClr>
                            </a:solidFill>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buNone/>
                          </a:pPr>
                          <a:r>
                            <a:rPr lang="en-US" sz="900" b="1" dirty="0">
                              <a:ln w="6350">
                                <a:solidFill>
                                  <a:schemeClr val="tx1">
                                    <a:lumMod val="75000"/>
                                    <a:lumOff val="25000"/>
                                    <a:alpha val="59000"/>
                                  </a:schemeClr>
                                </a:solidFill>
                              </a:ln>
                              <a:solidFill>
                                <a:schemeClr val="tx1">
                                  <a:lumMod val="75000"/>
                                  <a:lumOff val="25000"/>
                                </a:schemeClr>
                              </a:solidFill>
                            </a:rPr>
                            <a:t>The </a:t>
                          </a:r>
                          <a14:m>
                            <m:oMath xmlns:m="http://schemas.openxmlformats.org/officeDocument/2006/math">
                              <m:sSub>
                                <m:sSubPr>
                                  <m:ctrlPr>
                                    <a:rPr lang="en-US" sz="900" b="1"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b="1"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𝒋</m:t>
                                  </m:r>
                                </m:e>
                                <m:sub>
                                  <m:r>
                                    <a:rPr lang="en-US" sz="900" b="1"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𝒕𝒉</m:t>
                                  </m:r>
                                </m:sub>
                              </m:sSub>
                            </m:oMath>
                          </a14:m>
                          <a:r>
                            <a:rPr lang="en-US" sz="900" b="1" dirty="0">
                              <a:ln w="6350">
                                <a:solidFill>
                                  <a:schemeClr val="tx1">
                                    <a:lumMod val="75000"/>
                                    <a:lumOff val="25000"/>
                                    <a:alpha val="59000"/>
                                  </a:schemeClr>
                                </a:solidFill>
                              </a:ln>
                              <a:solidFill>
                                <a:schemeClr val="tx1">
                                  <a:lumMod val="75000"/>
                                  <a:lumOff val="25000"/>
                                </a:schemeClr>
                              </a:solidFill>
                            </a:rPr>
                            <a:t> output predicted by the model (e.g., the predicted velocity at the next time step). The hat symbol (</a:t>
                          </a:r>
                          <a14:m>
                            <m:oMath xmlns:m="http://schemas.openxmlformats.org/officeDocument/2006/math">
                              <m:r>
                                <a:rPr lang="en-US" sz="900" b="1"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m:t>
                              </m:r>
                            </m:oMath>
                          </a14:m>
                          <a:r>
                            <a:rPr lang="en-US" sz="900" b="1" dirty="0">
                              <a:ln w="6350">
                                <a:solidFill>
                                  <a:schemeClr val="tx1">
                                    <a:lumMod val="75000"/>
                                    <a:lumOff val="25000"/>
                                    <a:alpha val="59000"/>
                                  </a:schemeClr>
                                </a:solidFill>
                              </a:ln>
                              <a:solidFill>
                                <a:schemeClr val="tx1">
                                  <a:lumMod val="75000"/>
                                  <a:lumOff val="25000"/>
                                </a:schemeClr>
                              </a:solidFill>
                            </a:rPr>
                            <a:t>) denotes a "predicted value," and the superscript t+</a:t>
                          </a:r>
                          <a:r>
                            <a:rPr lang="en-US" sz="900" b="1" baseline="0" dirty="0">
                              <a:ln w="6350">
                                <a:solidFill>
                                  <a:schemeClr val="tx1">
                                    <a:lumMod val="75000"/>
                                    <a:lumOff val="25000"/>
                                    <a:alpha val="59000"/>
                                  </a:schemeClr>
                                </a:solidFill>
                              </a:ln>
                              <a:solidFill>
                                <a:schemeClr val="tx1">
                                  <a:lumMod val="75000"/>
                                  <a:lumOff val="25000"/>
                                </a:schemeClr>
                              </a:solidFill>
                            </a:rPr>
                            <a:t>1 </a:t>
                          </a:r>
                          <a:r>
                            <a:rPr lang="en-US" sz="900" b="1" dirty="0">
                              <a:ln w="6350">
                                <a:solidFill>
                                  <a:schemeClr val="tx1">
                                    <a:lumMod val="75000"/>
                                    <a:lumOff val="25000"/>
                                    <a:alpha val="59000"/>
                                  </a:schemeClr>
                                </a:solidFill>
                              </a:ln>
                              <a:solidFill>
                                <a:schemeClr val="tx1">
                                  <a:lumMod val="75000"/>
                                  <a:lumOff val="25000"/>
                                </a:schemeClr>
                              </a:solidFill>
                            </a:rPr>
                            <a:t>indicates the "next time step."</a:t>
                          </a: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819300765"/>
                      </a:ext>
                    </a:extLst>
                  </a:tr>
                  <a:tr h="370977">
                    <a:tc>
                      <a:txBody>
                        <a:bodyPr/>
                        <a:lstStyle/>
                        <a:p>
                          <a:pPr>
                            <a:buNone/>
                          </a:pPr>
                          <a14:m>
                            <m:oMathPara xmlns:m="http://schemas.openxmlformats.org/officeDocument/2006/math">
                              <m:oMath>
                                <m:sSup>
                                  <m:sSupPr>
                                    <m:ctrlP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pPr>
                                  <m:e>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𝑋</m:t>
                                    </m:r>
                                  </m:e>
                                  <m:sup>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𝑡</m:t>
                                    </m:r>
                                  </m:sup>
                                </m:sSup>
                              </m:oMath>
                            </m:oMathPara>
                          </a14:m>
                          <a:endParaRPr lang="en-US" sz="900">
                            <a:ln w="6350">
                              <a:solidFill>
                                <a:schemeClr val="tx1">
                                  <a:lumMod val="75000"/>
                                  <a:lumOff val="25000"/>
                                  <a:alpha val="59000"/>
                                </a:schemeClr>
                              </a:solidFill>
                            </a:ln>
                            <a:solidFill>
                              <a:schemeClr val="tx1">
                                <a:lumMod val="75000"/>
                                <a:lumOff val="25000"/>
                              </a:schemeClr>
                            </a:solidFill>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buNone/>
                          </a:pPr>
                          <a:r>
                            <a:rPr lang="en-US" sz="900" b="1" kern="1200">
                              <a:ln w="6350">
                                <a:solidFill>
                                  <a:schemeClr val="tx1">
                                    <a:lumMod val="75000"/>
                                    <a:lumOff val="25000"/>
                                    <a:alpha val="59000"/>
                                  </a:schemeClr>
                                </a:solidFill>
                              </a:ln>
                              <a:solidFill>
                                <a:schemeClr val="tx1">
                                  <a:lumMod val="75000"/>
                                  <a:lumOff val="25000"/>
                                </a:schemeClr>
                              </a:solidFill>
                            </a:rPr>
                            <a:t>All 10 input variables at the current time step form a vector of length 10.</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11496398"/>
                      </a:ext>
                    </a:extLst>
                  </a:tr>
                  <a:tr h="370977">
                    <a:tc>
                      <a:txBody>
                        <a:bodyPr/>
                        <a:lstStyle/>
                        <a:p>
                          <a:pPr>
                            <a:buNone/>
                          </a:pPr>
                          <a14:m>
                            <m:oMathPara xmlns:m="http://schemas.openxmlformats.org/officeDocument/2006/math">
                              <m:oMath>
                                <m:r>
                                  <a:rPr lang="en-US" sz="9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𝐴</m:t>
                                </m:r>
                              </m:oMath>
                            </m:oMathPara>
                          </a14:m>
                          <a:endParaRPr lang="en-US" sz="900">
                            <a:ln w="6350">
                              <a:solidFill>
                                <a:schemeClr val="tx1">
                                  <a:lumMod val="75000"/>
                                  <a:lumOff val="25000"/>
                                  <a:alpha val="59000"/>
                                </a:schemeClr>
                              </a:solidFill>
                            </a:ln>
                            <a:solidFill>
                              <a:schemeClr val="tx1">
                                <a:lumMod val="75000"/>
                                <a:lumOff val="25000"/>
                              </a:schemeClr>
                            </a:solidFill>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buNone/>
                          </a:pPr>
                          <a:r>
                            <a:rPr lang="en-US" sz="900" b="1" kern="1200">
                              <a:ln w="6350">
                                <a:solidFill>
                                  <a:schemeClr val="tx1">
                                    <a:lumMod val="75000"/>
                                    <a:lumOff val="25000"/>
                                    <a:alpha val="59000"/>
                                  </a:schemeClr>
                                </a:solidFill>
                              </a:ln>
                              <a:solidFill>
                                <a:schemeClr val="tx1">
                                  <a:lumMod val="75000"/>
                                  <a:lumOff val="25000"/>
                                </a:schemeClr>
                              </a:solidFill>
                            </a:rPr>
                            <a:t>Adjacency matrix, 10×3. This is the graph learned by the model.</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206530433"/>
                      </a:ext>
                    </a:extLst>
                  </a:tr>
                  <a:tr h="546989">
                    <a:tc>
                      <a:txBody>
                        <a:bodyPr/>
                        <a:lstStyle/>
                        <a:p>
                          <a:pPr>
                            <a:buNone/>
                          </a:pPr>
                          <a14:m>
                            <m:oMathPara xmlns:m="http://schemas.openxmlformats.org/officeDocument/2006/math">
                              <m:oMath>
                                <m:sSub>
                                  <m:sSubPr>
                                    <m:ctrlP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𝐴</m:t>
                                    </m:r>
                                  </m:e>
                                  <m:sub>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m:t>
                                    </m:r>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𝑗</m:t>
                                    </m:r>
                                  </m:sub>
                                </m:sSub>
                              </m:oMath>
                            </m:oMathPara>
                          </a14:m>
                          <a:endParaRPr lang="en-US" sz="900">
                            <a:ln w="6350">
                              <a:solidFill>
                                <a:schemeClr val="tx1">
                                  <a:lumMod val="75000"/>
                                  <a:lumOff val="25000"/>
                                  <a:alpha val="59000"/>
                                </a:schemeClr>
                              </a:solidFill>
                            </a:ln>
                            <a:solidFill>
                              <a:schemeClr val="tx1">
                                <a:lumMod val="75000"/>
                                <a:lumOff val="25000"/>
                              </a:schemeClr>
                            </a:solidFill>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buNone/>
                          </a:pPr>
                          <a:r>
                            <a:rPr lang="en-US" sz="900" b="1" kern="1200">
                              <a:ln w="6350">
                                <a:solidFill>
                                  <a:schemeClr val="tx1">
                                    <a:lumMod val="75000"/>
                                    <a:lumOff val="25000"/>
                                    <a:alpha val="59000"/>
                                  </a:schemeClr>
                                </a:solidFill>
                              </a:ln>
                              <a:solidFill>
                                <a:schemeClr val="tx1">
                                  <a:lumMod val="75000"/>
                                  <a:lumOff val="25000"/>
                                </a:schemeClr>
                              </a:solidFill>
                            </a:rPr>
                            <a:t>The </a:t>
                          </a:r>
                          <a14:m>
                            <m:oMath xmlns:m="http://schemas.openxmlformats.org/officeDocument/2006/math">
                              <m:sSub>
                                <m:sSubPr>
                                  <m:ctrlP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𝒋</m:t>
                                  </m:r>
                                </m:e>
                                <m:sub>
                                  <m: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𝒕𝒉</m:t>
                                  </m:r>
                                </m:sub>
                              </m:sSub>
                              <m: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 </m:t>
                              </m:r>
                            </m:oMath>
                          </a14:m>
                          <a:r>
                            <a:rPr lang="en-US" sz="900" b="1" kern="1200">
                              <a:ln w="6350">
                                <a:solidFill>
                                  <a:schemeClr val="tx1">
                                    <a:lumMod val="75000"/>
                                    <a:lumOff val="25000"/>
                                    <a:alpha val="59000"/>
                                  </a:schemeClr>
                                </a:solidFill>
                              </a:ln>
                              <a:solidFill>
                                <a:schemeClr val="tx1">
                                  <a:lumMod val="75000"/>
                                  <a:lumOff val="25000"/>
                                </a:schemeClr>
                              </a:solidFill>
                            </a:rPr>
                            <a:t>column of matrix A, with a length of 10. It represents the "parent node mask" for the </a:t>
                          </a:r>
                          <a14:m>
                            <m:oMath xmlns:m="http://schemas.openxmlformats.org/officeDocument/2006/math">
                              <m:sSub>
                                <m:sSubPr>
                                  <m:ctrlPr>
                                    <a:rPr lang="en-US" sz="900" b="1" i="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b="1" i="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𝒋</m:t>
                                  </m:r>
                                </m:e>
                                <m:sub>
                                  <m:r>
                                    <a:rPr lang="en-US" sz="900" b="1" i="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𝒕𝒉</m:t>
                                  </m:r>
                                </m:sub>
                              </m:sSub>
                            </m:oMath>
                          </a14:m>
                          <a:r>
                            <a:rPr lang="en-US" sz="900" b="1" kern="1200">
                              <a:ln w="6350">
                                <a:solidFill>
                                  <a:schemeClr val="tx1">
                                    <a:lumMod val="75000"/>
                                    <a:lumOff val="25000"/>
                                    <a:alpha val="59000"/>
                                  </a:schemeClr>
                                </a:solidFill>
                              </a:ln>
                              <a:solidFill>
                                <a:schemeClr val="tx1">
                                  <a:lumMod val="75000"/>
                                  <a:lumOff val="25000"/>
                                </a:schemeClr>
                              </a:solidFill>
                            </a:rPr>
                            <a:t> output.</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530391850"/>
                      </a:ext>
                    </a:extLst>
                  </a:tr>
                  <a:tr h="464398">
                    <a:tc>
                      <a:txBody>
                        <a:bodyPr/>
                        <a:lstStyle/>
                        <a:p>
                          <a:pPr>
                            <a:buNone/>
                          </a:pPr>
                          <a14:m>
                            <m:oMathPara xmlns:m="http://schemas.openxmlformats.org/officeDocument/2006/math">
                              <m:oMath>
                                <m:nary>
                                  <m:naryPr>
                                    <m:chr m:val="⊙"/>
                                    <m:subHide m:val="on"/>
                                    <m:supHide m:val="on"/>
                                    <m:ctrlPr>
                                      <a:rPr lang="en-US" sz="900" i="1">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naryPr>
                                  <m:sub/>
                                  <m:sup/>
                                  <m:e/>
                                </m:nary>
                              </m:oMath>
                            </m:oMathPara>
                          </a14:m>
                          <a:endParaRPr lang="en-US" sz="900">
                            <a:ln w="6350">
                              <a:solidFill>
                                <a:schemeClr val="tx1">
                                  <a:lumMod val="75000"/>
                                  <a:lumOff val="25000"/>
                                  <a:alpha val="59000"/>
                                </a:schemeClr>
                              </a:solidFill>
                            </a:ln>
                            <a:solidFill>
                              <a:schemeClr val="tx1">
                                <a:lumMod val="75000"/>
                                <a:lumOff val="25000"/>
                              </a:schemeClr>
                            </a:solidFill>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900" b="1" kern="1200">
                              <a:ln w="6350">
                                <a:solidFill>
                                  <a:schemeClr val="tx1">
                                    <a:lumMod val="75000"/>
                                    <a:lumOff val="25000"/>
                                    <a:alpha val="59000"/>
                                  </a:schemeClr>
                                </a:solidFill>
                              </a:ln>
                              <a:solidFill>
                                <a:schemeClr val="tx1">
                                  <a:lumMod val="75000"/>
                                  <a:lumOff val="25000"/>
                                </a:schemeClr>
                              </a:solidFill>
                            </a:rPr>
                            <a:t>Element-wise multiplication. Multiplying ten numbers by ten numbers, one by one.</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271158300"/>
                      </a:ext>
                    </a:extLst>
                  </a:tr>
                  <a:tr h="546989">
                    <a:tc>
                      <a:txBody>
                        <a:bodyPr/>
                        <a:lstStyle/>
                        <a:p>
                          <a:pPr>
                            <a:buNone/>
                          </a:pPr>
                          <a14:m>
                            <m:oMathPara xmlns:m="http://schemas.openxmlformats.org/officeDocument/2006/math">
                              <m:oMath>
                                <m:sSub>
                                  <m:sSubPr>
                                    <m:ctrlP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𝑓</m:t>
                                    </m:r>
                                  </m:e>
                                  <m:sub>
                                    <m:sSub>
                                      <m:sSubPr>
                                        <m:ctrlP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𝜃</m:t>
                                        </m:r>
                                      </m:e>
                                      <m:sub>
                                        <m:r>
                                          <a:rPr lang="en-US" sz="90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𝑗</m:t>
                                        </m:r>
                                      </m:sub>
                                    </m:sSub>
                                  </m:sub>
                                </m:sSub>
                              </m:oMath>
                            </m:oMathPara>
                          </a14:m>
                          <a:endParaRPr lang="en-US" sz="900">
                            <a:ln w="6350">
                              <a:solidFill>
                                <a:schemeClr val="tx1">
                                  <a:lumMod val="75000"/>
                                  <a:lumOff val="25000"/>
                                  <a:alpha val="59000"/>
                                </a:schemeClr>
                              </a:solidFill>
                            </a:ln>
                            <a:solidFill>
                              <a:schemeClr val="tx1">
                                <a:lumMod val="75000"/>
                                <a:lumOff val="25000"/>
                              </a:schemeClr>
                            </a:solidFill>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buNone/>
                          </a:pPr>
                          <a:r>
                            <a:rPr lang="en-US" sz="900" b="1" kern="1200" dirty="0">
                              <a:ln w="6350">
                                <a:solidFill>
                                  <a:schemeClr val="tx1">
                                    <a:lumMod val="75000"/>
                                    <a:lumOff val="25000"/>
                                    <a:alpha val="59000"/>
                                  </a:schemeClr>
                                </a:solidFill>
                              </a:ln>
                              <a:solidFill>
                                <a:schemeClr val="tx1">
                                  <a:lumMod val="75000"/>
                                  <a:lumOff val="25000"/>
                                </a:schemeClr>
                              </a:solidFill>
                            </a:rPr>
                            <a:t>A small network dedicated to the </a:t>
                          </a:r>
                          <a14:m>
                            <m:oMath xmlns:m="http://schemas.openxmlformats.org/officeDocument/2006/math">
                              <m:sSub>
                                <m:sSubPr>
                                  <m:ctrlP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ctrlPr>
                                </m:sSubPr>
                                <m:e>
                                  <m: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𝒋</m:t>
                                  </m:r>
                                </m:e>
                                <m:sub>
                                  <m:r>
                                    <a:rPr lang="en-US" sz="900" b="1" kern="1200" smtClean="0">
                                      <a:ln w="6350">
                                        <a:solidFill>
                                          <a:schemeClr val="tx1">
                                            <a:lumMod val="75000"/>
                                            <a:lumOff val="25000"/>
                                            <a:alpha val="59000"/>
                                          </a:schemeClr>
                                        </a:solidFill>
                                      </a:ln>
                                      <a:solidFill>
                                        <a:schemeClr val="tx1">
                                          <a:lumMod val="75000"/>
                                          <a:lumOff val="25000"/>
                                        </a:schemeClr>
                                      </a:solidFill>
                                      <a:latin typeface="Cambria Math" panose="02040503050406030204" pitchFamily="18" charset="0"/>
                                    </a:rPr>
                                    <m:t>𝒕𝒉</m:t>
                                  </m:r>
                                </m:sub>
                              </m:sSub>
                            </m:oMath>
                          </a14:m>
                          <a:r>
                            <a:rPr lang="en-US" sz="900" b="1" kern="1200" dirty="0">
                              <a:ln w="6350">
                                <a:solidFill>
                                  <a:schemeClr val="tx1">
                                    <a:lumMod val="75000"/>
                                    <a:lumOff val="25000"/>
                                    <a:alpha val="59000"/>
                                  </a:schemeClr>
                                </a:solidFill>
                              </a:ln>
                              <a:solidFill>
                                <a:schemeClr val="tx1">
                                  <a:lumMod val="75000"/>
                                  <a:lumOff val="25000"/>
                                </a:schemeClr>
                              </a:solidFill>
                            </a:rPr>
                            <a:t> output (rather than a single network shared by all three outputs)</a:t>
                          </a:r>
                          <a:endParaRPr lang="en-US" sz="900" b="1" kern="1200" dirty="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754579305"/>
                      </a:ext>
                    </a:extLst>
                  </a:tr>
                </a:tbl>
              </a:graphicData>
            </a:graphic>
          </p:graphicFrame>
        </mc:Choice>
        <mc:Fallback xmlns="">
          <p:graphicFrame>
            <p:nvGraphicFramePr>
              <p:cNvPr id="7" name="Table 6">
                <a:extLst>
                  <a:ext uri="{FF2B5EF4-FFF2-40B4-BE49-F238E27FC236}">
                    <a16:creationId xmlns:a16="http://schemas.microsoft.com/office/drawing/2014/main" id="{2B8291BC-1C16-93E0-370C-8EB1673E5167}"/>
                  </a:ext>
                </a:extLst>
              </p:cNvPr>
              <p:cNvGraphicFramePr>
                <a:graphicFrameLocks noGrp="1"/>
              </p:cNvGraphicFramePr>
              <p:nvPr>
                <p:extLst>
                  <p:ext uri="{D42A27DB-BD31-4B8C-83A1-F6EECF244321}">
                    <p14:modId xmlns:p14="http://schemas.microsoft.com/office/powerpoint/2010/main" val="1749984407"/>
                  </p:ext>
                </p:extLst>
              </p:nvPr>
            </p:nvGraphicFramePr>
            <p:xfrm>
              <a:off x="281005" y="2194134"/>
              <a:ext cx="6353140" cy="3462004"/>
            </p:xfrm>
            <a:graphic>
              <a:graphicData uri="http://schemas.openxmlformats.org/drawingml/2006/table">
                <a:tbl>
                  <a:tblPr firstRow="1" bandRow="1">
                    <a:noFill/>
                    <a:effectLst>
                      <a:innerShdw blurRad="63500" dist="50800" dir="13500000">
                        <a:prstClr val="black">
                          <a:alpha val="30000"/>
                        </a:prstClr>
                      </a:innerShdw>
                    </a:effectLst>
                    <a:tableStyleId>{073A0DAA-6AF3-43AB-8588-CEC1D06C72B9}</a:tableStyleId>
                  </a:tblPr>
                  <a:tblGrid>
                    <a:gridCol w="1112215">
                      <a:extLst>
                        <a:ext uri="{9D8B030D-6E8A-4147-A177-3AD203B41FA5}">
                          <a16:colId xmlns:a16="http://schemas.microsoft.com/office/drawing/2014/main" val="3490382006"/>
                        </a:ext>
                      </a:extLst>
                    </a:gridCol>
                    <a:gridCol w="5240925">
                      <a:extLst>
                        <a:ext uri="{9D8B030D-6E8A-4147-A177-3AD203B41FA5}">
                          <a16:colId xmlns:a16="http://schemas.microsoft.com/office/drawing/2014/main" val="448743812"/>
                        </a:ext>
                      </a:extLst>
                    </a:gridCol>
                  </a:tblGrid>
                  <a:tr h="438674">
                    <a:tc>
                      <a:txBody>
                        <a:bodyPr/>
                        <a:lstStyle/>
                        <a:p>
                          <a:pPr algn="ctr">
                            <a:buNone/>
                          </a:pPr>
                          <a:r>
                            <a:rPr lang="en-US" sz="1200" b="1">
                              <a:ln w="6350">
                                <a:solidFill>
                                  <a:schemeClr val="tx1">
                                    <a:lumMod val="75000"/>
                                    <a:lumOff val="25000"/>
                                    <a:alpha val="59000"/>
                                  </a:schemeClr>
                                </a:solidFill>
                              </a:ln>
                              <a:solidFill>
                                <a:schemeClr val="tx1">
                                  <a:lumMod val="75000"/>
                                  <a:lumOff val="25000"/>
                                </a:schemeClr>
                              </a:solidFill>
                            </a:rPr>
                            <a:t>Symbols </a:t>
                          </a:r>
                        </a:p>
                      </a:txBody>
                      <a:tcPr marL="123173" marR="92379" marT="61586" marB="61586"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a:buNone/>
                          </a:pPr>
                          <a:r>
                            <a:rPr lang="en-US" sz="1200" b="1" dirty="0">
                              <a:ln w="6350">
                                <a:solidFill>
                                  <a:schemeClr val="tx1">
                                    <a:lumMod val="75000"/>
                                    <a:lumOff val="25000"/>
                                    <a:alpha val="59000"/>
                                  </a:schemeClr>
                                </a:solidFill>
                              </a:ln>
                              <a:solidFill>
                                <a:schemeClr val="tx1">
                                  <a:lumMod val="75000"/>
                                  <a:lumOff val="25000"/>
                                </a:schemeClr>
                              </a:solidFill>
                            </a:rPr>
                            <a:t>What does it mean</a:t>
                          </a:r>
                        </a:p>
                      </a:txBody>
                      <a:tcPr marL="123173" marR="92379" marT="61586" marB="61586"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4154047367"/>
                      </a:ext>
                    </a:extLst>
                  </a:tr>
                  <a:tr h="723000">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t="-60504" r="-470492" b="-318487"/>
                          </a:stretch>
                        </a:blipFill>
                      </a:tcPr>
                    </a:tc>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l="-21279" t="-60504" r="-116" b="-318487"/>
                          </a:stretch>
                        </a:blipFill>
                      </a:tcPr>
                    </a:tc>
                    <a:extLst>
                      <a:ext uri="{0D108BD9-81ED-4DB2-BD59-A6C34878D82A}">
                        <a16:rowId xmlns:a16="http://schemas.microsoft.com/office/drawing/2014/main" val="819300765"/>
                      </a:ext>
                    </a:extLst>
                  </a:tr>
                  <a:tr h="370977">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t="-313115" r="-470492" b="-521311"/>
                          </a:stretch>
                        </a:blipFill>
                      </a:tcPr>
                    </a:tc>
                    <a:tc>
                      <a:txBody>
                        <a:bodyPr/>
                        <a:lstStyle/>
                        <a:p>
                          <a:pPr algn="ctr">
                            <a:buNone/>
                          </a:pPr>
                          <a:r>
                            <a:rPr lang="en-US" sz="900" b="1" kern="1200">
                              <a:ln w="6350">
                                <a:solidFill>
                                  <a:schemeClr val="tx1">
                                    <a:lumMod val="75000"/>
                                    <a:lumOff val="25000"/>
                                    <a:alpha val="59000"/>
                                  </a:schemeClr>
                                </a:solidFill>
                              </a:ln>
                              <a:solidFill>
                                <a:schemeClr val="tx1">
                                  <a:lumMod val="75000"/>
                                  <a:lumOff val="25000"/>
                                </a:schemeClr>
                              </a:solidFill>
                            </a:rPr>
                            <a:t>All 10 input variables at the current time step form a vector of length 10.</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11496398"/>
                      </a:ext>
                    </a:extLst>
                  </a:tr>
                  <a:tr h="370977">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t="-413115" r="-470492" b="-421311"/>
                          </a:stretch>
                        </a:blipFill>
                      </a:tcPr>
                    </a:tc>
                    <a:tc>
                      <a:txBody>
                        <a:bodyPr/>
                        <a:lstStyle/>
                        <a:p>
                          <a:pPr algn="ctr">
                            <a:buNone/>
                          </a:pPr>
                          <a:r>
                            <a:rPr lang="en-US" sz="900" b="1" kern="1200">
                              <a:ln w="6350">
                                <a:solidFill>
                                  <a:schemeClr val="tx1">
                                    <a:lumMod val="75000"/>
                                    <a:lumOff val="25000"/>
                                    <a:alpha val="59000"/>
                                  </a:schemeClr>
                                </a:solidFill>
                              </a:ln>
                              <a:solidFill>
                                <a:schemeClr val="tx1">
                                  <a:lumMod val="75000"/>
                                  <a:lumOff val="25000"/>
                                </a:schemeClr>
                              </a:solidFill>
                            </a:rPr>
                            <a:t>Adjacency matrix, 10×3. This is the graph learned by the model.</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206530433"/>
                      </a:ext>
                    </a:extLst>
                  </a:tr>
                  <a:tr h="546989">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t="-347778" r="-470492" b="-185556"/>
                          </a:stretch>
                        </a:blipFill>
                      </a:tcPr>
                    </a:tc>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l="-21279" t="-347778" r="-116" b="-185556"/>
                          </a:stretch>
                        </a:blipFill>
                      </a:tcPr>
                    </a:tc>
                    <a:extLst>
                      <a:ext uri="{0D108BD9-81ED-4DB2-BD59-A6C34878D82A}">
                        <a16:rowId xmlns:a16="http://schemas.microsoft.com/office/drawing/2014/main" val="530391850"/>
                      </a:ext>
                    </a:extLst>
                  </a:tr>
                  <a:tr h="464398">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t="-530263" r="-470492" b="-119737"/>
                          </a:stretch>
                        </a:blipFill>
                      </a:tcPr>
                    </a:tc>
                    <a:tc>
                      <a:txBody>
                        <a:bodyPr/>
                        <a:lstStyle/>
                        <a:p>
                          <a:pPr>
                            <a:buNone/>
                          </a:pPr>
                          <a:r>
                            <a:rPr lang="en-US" sz="900" b="1" kern="1200">
                              <a:ln w="6350">
                                <a:solidFill>
                                  <a:schemeClr val="tx1">
                                    <a:lumMod val="75000"/>
                                    <a:lumOff val="25000"/>
                                    <a:alpha val="59000"/>
                                  </a:schemeClr>
                                </a:solidFill>
                              </a:ln>
                              <a:solidFill>
                                <a:schemeClr val="tx1">
                                  <a:lumMod val="75000"/>
                                  <a:lumOff val="25000"/>
                                </a:schemeClr>
                              </a:solidFill>
                            </a:rPr>
                            <a:t>Element-wise multiplication. Multiplying ten numbers by ten numbers, one by one.</a:t>
                          </a:r>
                          <a:endParaRPr lang="en-US" sz="900" b="1" kern="1200">
                            <a:ln w="6350">
                              <a:solidFill>
                                <a:schemeClr val="tx1">
                                  <a:lumMod val="75000"/>
                                  <a:lumOff val="25000"/>
                                  <a:alpha val="59000"/>
                                </a:schemeClr>
                              </a:solidFill>
                            </a:ln>
                            <a:solidFill>
                              <a:schemeClr val="tx1">
                                <a:lumMod val="75000"/>
                                <a:lumOff val="25000"/>
                              </a:schemeClr>
                            </a:solidFill>
                            <a:latin typeface="+mn-lt"/>
                            <a:ea typeface="+mn-ea"/>
                            <a:cs typeface="+mn-cs"/>
                          </a:endParaRPr>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271158300"/>
                      </a:ext>
                    </a:extLst>
                  </a:tr>
                  <a:tr h="546989">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t="-532222" r="-470492" b="-1111"/>
                          </a:stretch>
                        </a:blipFill>
                      </a:tcPr>
                    </a:tc>
                    <a:tc>
                      <a:txBody>
                        <a:bodyPr/>
                        <a:lstStyle/>
                        <a:p>
                          <a:endParaRPr lang="en-US"/>
                        </a:p>
                      </a:txBody>
                      <a:tcPr marL="123173" marR="92379" marT="61586" marB="61586"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blipFill>
                          <a:blip r:embed="rId3"/>
                          <a:stretch>
                            <a:fillRect l="-21279" t="-532222" r="-116" b="-1111"/>
                          </a:stretch>
                        </a:blipFill>
                      </a:tcPr>
                    </a:tc>
                    <a:extLst>
                      <a:ext uri="{0D108BD9-81ED-4DB2-BD59-A6C34878D82A}">
                        <a16:rowId xmlns:a16="http://schemas.microsoft.com/office/drawing/2014/main" val="1754579305"/>
                      </a:ext>
                    </a:extLst>
                  </a:tr>
                </a:tbl>
              </a:graphicData>
            </a:graphic>
          </p:graphicFrame>
        </mc:Fallback>
      </mc:AlternateContent>
    </p:spTree>
    <p:extLst>
      <p:ext uri="{BB962C8B-B14F-4D97-AF65-F5344CB8AC3E}">
        <p14:creationId xmlns:p14="http://schemas.microsoft.com/office/powerpoint/2010/main" val="1293602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4456330-9E7D-97B2-DB74-2ADDFD1D0AC5}"/>
                  </a:ext>
                </a:extLst>
              </p:cNvPr>
              <p:cNvSpPr>
                <a:spLocks noGrp="1"/>
              </p:cNvSpPr>
              <p:nvPr>
                <p:ph type="title"/>
              </p:nvPr>
            </p:nvSpPr>
            <p:spPr/>
            <p:txBody>
              <a:bodyPr/>
              <a:lstStyle/>
              <a:p>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 → </m:t>
                    </m:r>
                    <m:r>
                      <a:rPr lang="en-US" i="1" dirty="0" smtClean="0">
                        <a:latin typeface="Cambria Math" panose="02040503050406030204" pitchFamily="18" charset="0"/>
                      </a:rPr>
                      <m:t>𝐺</m:t>
                    </m:r>
                    <m:r>
                      <a:rPr lang="en-US" b="1" i="1" dirty="0" smtClean="0">
                        <a:latin typeface="Cambria Math" panose="02040503050406030204" pitchFamily="18" charset="0"/>
                      </a:rPr>
                      <m:t>:</m:t>
                    </m:r>
                  </m:oMath>
                </a14:m>
                <a:r>
                  <a:rPr lang="en-US" dirty="0"/>
                  <a:t> How it can be learned?</a:t>
                </a:r>
              </a:p>
            </p:txBody>
          </p:sp>
        </mc:Choice>
        <mc:Fallback xmlns="">
          <p:sp>
            <p:nvSpPr>
              <p:cNvPr id="2" name="Title 1">
                <a:extLst>
                  <a:ext uri="{FF2B5EF4-FFF2-40B4-BE49-F238E27FC236}">
                    <a16:creationId xmlns:a16="http://schemas.microsoft.com/office/drawing/2014/main" id="{64456330-9E7D-97B2-DB74-2ADDFD1D0AC5}"/>
                  </a:ext>
                </a:extLst>
              </p:cNvPr>
              <p:cNvSpPr>
                <a:spLocks noGrp="1" noRot="1" noChangeAspect="1" noMove="1" noResize="1" noEditPoints="1" noAdjustHandles="1" noChangeArrowheads="1" noChangeShapeType="1" noTextEdit="1"/>
              </p:cNvSpPr>
              <p:nvPr>
                <p:ph type="title"/>
              </p:nvPr>
            </p:nvSpPr>
            <p:spPr>
              <a:blipFill>
                <a:blip r:embed="rId2"/>
                <a:stretch>
                  <a:fillRect t="-10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AECF2D-0602-BEC9-2FB3-AF260777C40C}"/>
                  </a:ext>
                </a:extLst>
              </p:cNvPr>
              <p:cNvSpPr>
                <a:spLocks noGrp="1"/>
              </p:cNvSpPr>
              <p:nvPr>
                <p:ph idx="1"/>
              </p:nvPr>
            </p:nvSpPr>
            <p:spPr>
              <a:xfrm>
                <a:off x="640080" y="2633471"/>
                <a:ext cx="10890928" cy="4105531"/>
              </a:xfrm>
            </p:spPr>
            <p:txBody>
              <a:bodyPr>
                <a:normAutofit lnSpcReduction="10000"/>
              </a:bodyPr>
              <a:lstStyle/>
              <a:p>
                <a:r>
                  <a:rPr lang="en-US" dirty="0"/>
                  <a:t>How do we determine whether A is the cause of B? Alter A and observe whether B changes accordingly. If it changes, then A is the cause; if not, it </a:t>
                </a:r>
                <a:r>
                  <a:rPr lang="en-US" dirty="0" err="1"/>
                  <a:t>isn</a:t>
                </a:r>
                <a:r>
                  <a:rPr lang="en-US" dirty="0"/>
                  <a:t>’ t. (Intervention). Run the same initial state twice. For the second run, change only one variable while keeping everything else identical (The only difference between the two runs is the intervened variable, so the difference represents the pure causal effect):</a:t>
                </a:r>
              </a:p>
              <a:p>
                <a:pPr marL="0"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𝑏𝑎𝑠𝑒</m:t>
                          </m:r>
                        </m:sub>
                      </m:sSub>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𝑏𝑎𝑠𝑒</m:t>
                          </m:r>
                          <m:r>
                            <a:rPr lang="en-US" b="0" i="1" smtClean="0">
                              <a:latin typeface="Cambria Math" panose="02040503050406030204" pitchFamily="18" charset="0"/>
                            </a:rPr>
                            <m:t>,</m:t>
                          </m:r>
                          <m:r>
                            <a:rPr lang="en-US" b="0" i="1" smtClean="0">
                              <a:latin typeface="Cambria Math" panose="02040503050406030204" pitchFamily="18" charset="0"/>
                            </a:rPr>
                            <m:t>𝑈</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𝑐𝑓</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𝑑𝑜</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𝑖</m:t>
                              </m:r>
                            </m:sub>
                          </m:sSub>
                        </m:e>
                      </m:d>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oMath>
                  </m:oMathPara>
                </a14:m>
                <a:endParaRPr lang="en-US" dirty="0"/>
              </a:p>
              <a:p>
                <a:r>
                  <a:rPr lang="en-US" dirty="0"/>
                  <a:t>Loss function:</a:t>
                </a:r>
              </a:p>
              <a:p>
                <a:pPr marL="0" indent="0">
                  <a:buNone/>
                </a:pPr>
                <a14:m>
                  <m:oMathPara xmlns:m="http://schemas.openxmlformats.org/officeDocument/2006/math">
                    <m:oMath>
                      <m:r>
                        <a:rPr lang="en-US" i="1" smtClean="0">
                          <a:latin typeface="Cambria Math" panose="02040503050406030204" pitchFamily="18" charset="0"/>
                          <a:ea typeface="Cambria Math" panose="02040503050406030204" pitchFamily="18" charset="0"/>
                        </a:rPr>
                        <m:t>ℒ</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d>
                                <m:dPr>
                                  <m:begChr m:val="|"/>
                                  <m:endChr m:val="|"/>
                                  <m:ctrlPr>
                                    <a:rPr lang="en-US" b="0" i="1" smtClean="0">
                                      <a:latin typeface="Cambria Math" panose="02040503050406030204" pitchFamily="18" charset="0"/>
                                      <a:ea typeface="Cambria Math" panose="02040503050406030204" pitchFamily="18" charset="0"/>
                                    </a:rPr>
                                  </m:ctrlPr>
                                </m:d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𝑦</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e>
                          </m:d>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𝑦</m:t>
                                          </m:r>
                                        </m:e>
                                      </m:acc>
                                    </m:e>
                                    <m:sub>
                                      <m:r>
                                        <a:rPr lang="en-US" b="0" i="1" smtClean="0">
                                          <a:latin typeface="Cambria Math" panose="02040503050406030204" pitchFamily="18" charset="0"/>
                                          <a:ea typeface="Cambria Math" panose="02040503050406030204" pitchFamily="18" charset="0"/>
                                        </a:rPr>
                                        <m:t>𝑐𝑓</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𝑦</m:t>
                                          </m:r>
                                        </m:e>
                                      </m:acc>
                                    </m:e>
                                    <m:sub>
                                      <m:r>
                                        <a:rPr lang="en-US" b="0" i="1" smtClean="0">
                                          <a:latin typeface="Cambria Math" panose="02040503050406030204" pitchFamily="18" charset="0"/>
                                          <a:ea typeface="Cambria Math" panose="02040503050406030204" pitchFamily="18" charset="0"/>
                                        </a:rPr>
                                        <m:t>𝑏𝑎𝑠𝑒</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𝑐𝑓</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𝑏𝑎𝑠𝑒</m:t>
                                      </m:r>
                                    </m:sub>
                                  </m:sSub>
                                  <m:r>
                                    <a:rPr lang="en-US" i="1">
                                      <a:latin typeface="Cambria Math" panose="02040503050406030204" pitchFamily="18" charset="0"/>
                                      <a:ea typeface="Cambria Math" panose="02040503050406030204" pitchFamily="18" charset="0"/>
                                    </a:rPr>
                                    <m:t>)</m:t>
                                  </m:r>
                                </m:e>
                              </m:d>
                            </m:e>
                          </m:d>
                        </m:e>
                        <m:sup>
                          <m:r>
                            <a:rPr lang="en-US" i="1">
                              <a:latin typeface="Cambria Math" panose="02040503050406030204" pitchFamily="18" charset="0"/>
                              <a:ea typeface="Cambria Math" panose="02040503050406030204" pitchFamily="18" charset="0"/>
                            </a:rPr>
                            <m:t>2</m:t>
                          </m:r>
                        </m:sup>
                      </m:sSup>
                    </m:oMath>
                  </m:oMathPara>
                </a14:m>
                <a:endParaRPr lang="en-US" dirty="0"/>
              </a:p>
              <a:p>
                <a:pPr marL="0" indent="0">
                  <a:buNone/>
                </a:pPr>
                <a:r>
                  <a:rPr lang="en-US" dirty="0"/>
                  <a:t>Why design like this? We want the prediction value close to ground truth, and also let model know what extent does the model misunderstand causal effects. </a:t>
                </a:r>
                <a14:m>
                  <m:oMath xmlns:m="http://schemas.openxmlformats.org/officeDocument/2006/math">
                    <m:r>
                      <a:rPr lang="en-US" b="0" i="1" smtClean="0">
                        <a:latin typeface="Cambria Math" panose="02040503050406030204" pitchFamily="18" charset="0"/>
                      </a:rPr>
                      <m:t>𝜆</m:t>
                    </m:r>
                  </m:oMath>
                </a14:m>
                <a:r>
                  <a:rPr lang="en-US" dirty="0"/>
                  <a:t> is hyperparameter.</a:t>
                </a:r>
              </a:p>
            </p:txBody>
          </p:sp>
        </mc:Choice>
        <mc:Fallback xmlns="">
          <p:sp>
            <p:nvSpPr>
              <p:cNvPr id="3" name="Content Placeholder 2">
                <a:extLst>
                  <a:ext uri="{FF2B5EF4-FFF2-40B4-BE49-F238E27FC236}">
                    <a16:creationId xmlns:a16="http://schemas.microsoft.com/office/drawing/2014/main" id="{17AECF2D-0602-BEC9-2FB3-AF260777C40C}"/>
                  </a:ext>
                </a:extLst>
              </p:cNvPr>
              <p:cNvSpPr>
                <a:spLocks noGrp="1" noRot="1" noChangeAspect="1" noMove="1" noResize="1" noEditPoints="1" noAdjustHandles="1" noChangeArrowheads="1" noChangeShapeType="1" noTextEdit="1"/>
              </p:cNvSpPr>
              <p:nvPr>
                <p:ph idx="1"/>
              </p:nvPr>
            </p:nvSpPr>
            <p:spPr>
              <a:xfrm>
                <a:off x="640080" y="2633471"/>
                <a:ext cx="10890928" cy="4105531"/>
              </a:xfrm>
              <a:blipFill>
                <a:blip r:embed="rId3"/>
                <a:stretch>
                  <a:fillRect l="-560" t="-743" r="-1007" b="-446"/>
                </a:stretch>
              </a:blipFill>
            </p:spPr>
            <p:txBody>
              <a:bodyPr/>
              <a:lstStyle/>
              <a:p>
                <a:r>
                  <a:rPr lang="en-US">
                    <a:noFill/>
                  </a:rPr>
                  <a:t> </a:t>
                </a:r>
              </a:p>
            </p:txBody>
          </p:sp>
        </mc:Fallback>
      </mc:AlternateContent>
    </p:spTree>
    <p:extLst>
      <p:ext uri="{BB962C8B-B14F-4D97-AF65-F5344CB8AC3E}">
        <p14:creationId xmlns:p14="http://schemas.microsoft.com/office/powerpoint/2010/main" val="829579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73FEB2-4F40-37EF-86E1-CE9E0EEF8A2F}"/>
                  </a:ext>
                </a:extLst>
              </p:cNvPr>
              <p:cNvSpPr>
                <a:spLocks noGrp="1"/>
              </p:cNvSpPr>
              <p:nvPr>
                <p:ph idx="1"/>
              </p:nvPr>
            </p:nvSpPr>
            <p:spPr>
              <a:xfrm>
                <a:off x="640080" y="1177447"/>
                <a:ext cx="10890928" cy="5022185"/>
              </a:xfrm>
            </p:spPr>
            <p:txBody>
              <a:bodyPr/>
              <a:lstStyle/>
              <a:p>
                <a:r>
                  <a:rPr lang="en-US" dirty="0"/>
                  <a:t>Scenario 1: The model took a shortcut and used "color.“ During training, color ≈ acceleration, so the model used color to predict acceleration; the first error term was small, making everything look fine. But now, we intervene on color (forcing it to a different value):Model: "I relied on color for the prediction; since color changed, my prediction changes too.“ Real world: Color is merely decorative and has no physical effect; acceleration remains unchanged. Model predicts a change, but in reality, there is no change → The second term heavily penalizes the model → Gradients propagate back, suppressing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𝑐𝑜𝑙𝑜𝑟</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gate.</a:t>
                </a:r>
              </a:p>
              <a:p>
                <a:r>
                  <a:rPr lang="en-US" dirty="0"/>
                  <a:t>Scenario 2: The model used "mass.“: Intervening on mass: Model: "Mass changed, so I predict acceleration changes too.“ Real world: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m:t>
                    </m:r>
                  </m:oMath>
                </a14:m>
                <a:r>
                  <a:rPr lang="en-US" dirty="0"/>
                  <a:t> when mass changes, acceleration indeed changes. They match → No penalty → The gate stays open. </a:t>
                </a:r>
              </a:p>
              <a:p>
                <a:r>
                  <a:rPr lang="en-US" dirty="0"/>
                  <a:t>Therefore, the gate is shaped by the accuracy of predictions made under intervention; nothing directly tells the model what the graph structure looks like.</a:t>
                </a:r>
              </a:p>
            </p:txBody>
          </p:sp>
        </mc:Choice>
        <mc:Fallback xmlns="">
          <p:sp>
            <p:nvSpPr>
              <p:cNvPr id="3" name="Content Placeholder 2">
                <a:extLst>
                  <a:ext uri="{FF2B5EF4-FFF2-40B4-BE49-F238E27FC236}">
                    <a16:creationId xmlns:a16="http://schemas.microsoft.com/office/drawing/2014/main" id="{B973FEB2-4F40-37EF-86E1-CE9E0EEF8A2F}"/>
                  </a:ext>
                </a:extLst>
              </p:cNvPr>
              <p:cNvSpPr>
                <a:spLocks noGrp="1" noRot="1" noChangeAspect="1" noMove="1" noResize="1" noEditPoints="1" noAdjustHandles="1" noChangeArrowheads="1" noChangeShapeType="1" noTextEdit="1"/>
              </p:cNvSpPr>
              <p:nvPr>
                <p:ph idx="1"/>
              </p:nvPr>
            </p:nvSpPr>
            <p:spPr>
              <a:xfrm>
                <a:off x="640080" y="1177447"/>
                <a:ext cx="10890928" cy="5022185"/>
              </a:xfrm>
              <a:blipFill>
                <a:blip r:embed="rId2"/>
                <a:stretch>
                  <a:fillRect l="-336" t="-121" r="-448"/>
                </a:stretch>
              </a:blipFill>
            </p:spPr>
            <p:txBody>
              <a:bodyPr/>
              <a:lstStyle/>
              <a:p>
                <a:r>
                  <a:rPr lang="en-US">
                    <a:noFill/>
                  </a:rPr>
                  <a:t> </a:t>
                </a:r>
              </a:p>
            </p:txBody>
          </p:sp>
        </mc:Fallback>
      </mc:AlternateContent>
    </p:spTree>
    <p:extLst>
      <p:ext uri="{BB962C8B-B14F-4D97-AF65-F5344CB8AC3E}">
        <p14:creationId xmlns:p14="http://schemas.microsoft.com/office/powerpoint/2010/main" val="298528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3807-4E6D-E8D5-4039-1ABE41069CFC}"/>
              </a:ext>
            </a:extLst>
          </p:cNvPr>
          <p:cNvSpPr>
            <a:spLocks noGrp="1"/>
          </p:cNvSpPr>
          <p:nvPr>
            <p:ph type="title"/>
          </p:nvPr>
        </p:nvSpPr>
        <p:spPr/>
        <p:txBody>
          <a:bodyPr/>
          <a:lstStyle/>
          <a:p>
            <a:r>
              <a:rPr lang="en-US" dirty="0"/>
              <a:t>Baseline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D1694E-D4B7-FDBB-E310-54F4B03F882F}"/>
                  </a:ext>
                </a:extLst>
              </p:cNvPr>
              <p:cNvSpPr>
                <a:spLocks noGrp="1"/>
              </p:cNvSpPr>
              <p:nvPr>
                <p:ph idx="1"/>
              </p:nvPr>
            </p:nvSpPr>
            <p:spPr/>
            <p:txBody>
              <a:bodyPr>
                <a:normAutofit lnSpcReduction="10000"/>
              </a:bodyPr>
              <a:lstStyle/>
              <a:p>
                <a:r>
                  <a:rPr lang="en-US" dirty="0"/>
                  <a:t>Monolithic MLP: A large network that takes all 10 variables as input and produces all 3 outputs at once; a traditional approach lacking any specific structure.</a:t>
                </a:r>
              </a:p>
              <a:p>
                <a:r>
                  <a:rPr lang="en-US" dirty="0"/>
                  <a:t>Per-node full graph: Each of the three outputs has its own independent sub-network, yet every network has access to all 10 inputs (effectively a fully connected graph with no edges pruned).</a:t>
                </a:r>
              </a:p>
              <a:p>
                <a:r>
                  <a:rPr lang="en-US" dirty="0"/>
                  <a:t>Main model Learned graph: The three outputs each have independent networks, and which inputs are visible to each network is determined by the learned matrix A.</a:t>
                </a:r>
              </a:p>
              <a:p>
                <a:r>
                  <a:rPr lang="en-US" dirty="0"/>
                  <a:t>Oracle graph (Upper limit): The three outputs each have independent networks but utilize the ground-truth graph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𝑇𝑅𝑈𝐸</m:t>
                        </m:r>
                      </m:sub>
                    </m:sSub>
                  </m:oMath>
                </a14:m>
                <a:r>
                  <a:rPr lang="en-US" dirty="0"/>
                  <a:t>). The graph is fixed and not learned; this represents the performance ceiling—the best possible outcome when the graph is perfectly accurate.</a:t>
                </a:r>
              </a:p>
            </p:txBody>
          </p:sp>
        </mc:Choice>
        <mc:Fallback xmlns="">
          <p:sp>
            <p:nvSpPr>
              <p:cNvPr id="3" name="Content Placeholder 2">
                <a:extLst>
                  <a:ext uri="{FF2B5EF4-FFF2-40B4-BE49-F238E27FC236}">
                    <a16:creationId xmlns:a16="http://schemas.microsoft.com/office/drawing/2014/main" id="{53D1694E-D4B7-FDBB-E310-54F4B03F882F}"/>
                  </a:ext>
                </a:extLst>
              </p:cNvPr>
              <p:cNvSpPr>
                <a:spLocks noGrp="1" noRot="1" noChangeAspect="1" noMove="1" noResize="1" noEditPoints="1" noAdjustHandles="1" noChangeArrowheads="1" noChangeShapeType="1" noTextEdit="1"/>
              </p:cNvSpPr>
              <p:nvPr>
                <p:ph idx="1"/>
              </p:nvPr>
            </p:nvSpPr>
            <p:spPr>
              <a:blipFill>
                <a:blip r:embed="rId2"/>
                <a:stretch>
                  <a:fillRect l="-336" t="-855" r="-895" b="-171"/>
                </a:stretch>
              </a:blipFill>
            </p:spPr>
            <p:txBody>
              <a:bodyPr/>
              <a:lstStyle/>
              <a:p>
                <a:r>
                  <a:rPr lang="en-US">
                    <a:noFill/>
                  </a:rPr>
                  <a:t> </a:t>
                </a:r>
              </a:p>
            </p:txBody>
          </p:sp>
        </mc:Fallback>
      </mc:AlternateContent>
    </p:spTree>
    <p:extLst>
      <p:ext uri="{BB962C8B-B14F-4D97-AF65-F5344CB8AC3E}">
        <p14:creationId xmlns:p14="http://schemas.microsoft.com/office/powerpoint/2010/main" val="3034004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484C-44C7-0544-CD7B-1B9655C4AD25}"/>
              </a:ext>
            </a:extLst>
          </p:cNvPr>
          <p:cNvSpPr>
            <a:spLocks noGrp="1"/>
          </p:cNvSpPr>
          <p:nvPr>
            <p:ph type="title"/>
          </p:nvPr>
        </p:nvSpPr>
        <p:spPr/>
        <p:txBody>
          <a:bodyPr/>
          <a:lstStyle/>
          <a:p>
            <a:r>
              <a:rPr lang="en-US" dirty="0"/>
              <a:t>Metrics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1908EC-4B5A-5F17-C66E-19D4573FBBDC}"/>
                  </a:ext>
                </a:extLst>
              </p:cNvPr>
              <p:cNvSpPr>
                <a:spLocks noGrp="1"/>
              </p:cNvSpPr>
              <p:nvPr>
                <p:ph idx="1"/>
              </p:nvPr>
            </p:nvSpPr>
            <p:spPr/>
            <p:txBody>
              <a:bodyPr/>
              <a:lstStyle/>
              <a:p>
                <a:r>
                  <a:rPr lang="en-US" dirty="0"/>
                  <a:t>Graph recovery: F1 (harmonic mean of precision and recall), SHD (total number of erroneous edges; lower is better), AUROC (threshold-independent ranking quality).</a:t>
                </a:r>
              </a:p>
              <a:p>
                <a:pPr marL="0" indent="0">
                  <a:buNone/>
                </a:pPr>
                <a14:m>
                  <m:oMathPara xmlns:m="http://schemas.openxmlformats.org/officeDocument/2006/math">
                    <m:oMath>
                      <m:r>
                        <a:rPr lang="en-US" b="0" i="1" smtClean="0">
                          <a:latin typeface="Cambria Math" panose="02040503050406030204" pitchFamily="18" charset="0"/>
                        </a:rPr>
                        <m:t>𝑅𝑀𝑆</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𝑒𝑓𝑓𝑒𝑐𝑡</m:t>
                          </m:r>
                        </m:sub>
                      </m:sSub>
                      <m:r>
                        <a:rPr lang="en-US" b="0" i="1" smtClean="0">
                          <a:latin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𝑦</m:t>
                                  </m:r>
                                </m:e>
                              </m:acc>
                            </m:e>
                            <m:sub>
                              <m:r>
                                <a:rPr lang="en-US" i="1">
                                  <a:latin typeface="Cambria Math" panose="02040503050406030204" pitchFamily="18" charset="0"/>
                                  <a:ea typeface="Cambria Math" panose="02040503050406030204" pitchFamily="18" charset="0"/>
                                </a:rPr>
                                <m:t>𝑐𝑓</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𝑦</m:t>
                                  </m:r>
                                </m:e>
                              </m:acc>
                            </m:e>
                            <m:sub>
                              <m:r>
                                <a:rPr lang="en-US" i="1">
                                  <a:latin typeface="Cambria Math" panose="02040503050406030204" pitchFamily="18" charset="0"/>
                                  <a:ea typeface="Cambria Math" panose="02040503050406030204" pitchFamily="18" charset="0"/>
                                </a:rPr>
                                <m:t>𝑏𝑎𝑠𝑒</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𝑐𝑓</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𝑏𝑎𝑠𝑒</m:t>
                              </m:r>
                            </m:sub>
                          </m:sSub>
                          <m:r>
                            <a:rPr lang="en-US" i="1">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rPr>
                        <m:t>|</m:t>
                      </m:r>
                    </m:oMath>
                  </m:oMathPara>
                </a14:m>
                <a:endParaRPr lang="en-US" dirty="0"/>
              </a:p>
              <a:p>
                <a:pPr marL="0" indent="0">
                  <a:buNone/>
                </a:pPr>
                <a:r>
                  <a:rPr lang="en-US" dirty="0"/>
                  <a:t>A model might plot a trajectory quite accurately, yet if you alter a single variable, it predicts a change in the opposite direction. While absolute error might not reveal this, the error in the effect is immediately apparent. It is this specific metric that truly requires causal knowledge.</a:t>
                </a:r>
              </a:p>
              <a:p>
                <a:pPr marL="0" indent="0">
                  <a:buNone/>
                </a:pPr>
                <a:endParaRPr lang="en-US" dirty="0"/>
              </a:p>
              <a:p>
                <a:pPr marL="0" indent="0">
                  <a:buNone/>
                </a:pPr>
                <a:r>
                  <a:rPr lang="en-US" dirty="0"/>
                  <a:t>50 seed, paired t-test</a:t>
                </a:r>
              </a:p>
            </p:txBody>
          </p:sp>
        </mc:Choice>
        <mc:Fallback xmlns="">
          <p:sp>
            <p:nvSpPr>
              <p:cNvPr id="3" name="Content Placeholder 2">
                <a:extLst>
                  <a:ext uri="{FF2B5EF4-FFF2-40B4-BE49-F238E27FC236}">
                    <a16:creationId xmlns:a16="http://schemas.microsoft.com/office/drawing/2014/main" id="{E51908EC-4B5A-5F17-C66E-19D4573FBBDC}"/>
                  </a:ext>
                </a:extLst>
              </p:cNvPr>
              <p:cNvSpPr>
                <a:spLocks noGrp="1" noRot="1" noChangeAspect="1" noMove="1" noResize="1" noEditPoints="1" noAdjustHandles="1" noChangeArrowheads="1" noChangeShapeType="1" noTextEdit="1"/>
              </p:cNvSpPr>
              <p:nvPr>
                <p:ph idx="1"/>
              </p:nvPr>
            </p:nvSpPr>
            <p:spPr>
              <a:blipFill>
                <a:blip r:embed="rId2"/>
                <a:stretch>
                  <a:fillRect l="-560" t="-171"/>
                </a:stretch>
              </a:blipFill>
            </p:spPr>
            <p:txBody>
              <a:bodyPr/>
              <a:lstStyle/>
              <a:p>
                <a:r>
                  <a:rPr lang="en-US">
                    <a:noFill/>
                  </a:rPr>
                  <a:t> </a:t>
                </a:r>
              </a:p>
            </p:txBody>
          </p:sp>
        </mc:Fallback>
      </mc:AlternateContent>
    </p:spTree>
    <p:extLst>
      <p:ext uri="{BB962C8B-B14F-4D97-AF65-F5344CB8AC3E}">
        <p14:creationId xmlns:p14="http://schemas.microsoft.com/office/powerpoint/2010/main" val="1061545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802AE0-5E50-F7C6-5FED-85EFDA37379B}"/>
              </a:ext>
            </a:extLst>
          </p:cNvPr>
          <p:cNvSpPr>
            <a:spLocks noGrp="1"/>
          </p:cNvSpPr>
          <p:nvPr>
            <p:ph type="title"/>
          </p:nvPr>
        </p:nvSpPr>
        <p:spPr>
          <a:xfrm>
            <a:off x="640080" y="914401"/>
            <a:ext cx="4876801" cy="889346"/>
          </a:xfrm>
        </p:spPr>
        <p:txBody>
          <a:bodyPr anchor="t">
            <a:normAutofit/>
          </a:bodyPr>
          <a:lstStyle/>
          <a:p>
            <a:r>
              <a:rPr lang="en-US" dirty="0"/>
              <a:t>Bad results</a:t>
            </a:r>
          </a:p>
        </p:txBody>
      </p:sp>
      <p:sp>
        <p:nvSpPr>
          <p:cNvPr id="3" name="Content Placeholder 2">
            <a:extLst>
              <a:ext uri="{FF2B5EF4-FFF2-40B4-BE49-F238E27FC236}">
                <a16:creationId xmlns:a16="http://schemas.microsoft.com/office/drawing/2014/main" id="{97481B41-791C-2FB4-5669-93866F42FF91}"/>
              </a:ext>
            </a:extLst>
          </p:cNvPr>
          <p:cNvSpPr>
            <a:spLocks noGrp="1"/>
          </p:cNvSpPr>
          <p:nvPr>
            <p:ph idx="1"/>
          </p:nvPr>
        </p:nvSpPr>
        <p:spPr>
          <a:xfrm>
            <a:off x="6400799" y="960119"/>
            <a:ext cx="5130210" cy="5022661"/>
          </a:xfrm>
        </p:spPr>
        <p:txBody>
          <a:bodyPr>
            <a:normAutofit/>
          </a:bodyPr>
          <a:lstStyle/>
          <a:p>
            <a:pPr lvl="0"/>
            <a:r>
              <a:rPr lang="en-US" dirty="0"/>
              <a:t>On OOD, </a:t>
            </a:r>
            <a:r>
              <a:rPr lang="en-US" b="1" dirty="0"/>
              <a:t>all three structured models are numerically worse</a:t>
            </a:r>
            <a:r>
              <a:rPr lang="en-US" dirty="0"/>
              <a:t> than the black box (+2.5% / +7.4% / +7.6%).</a:t>
            </a:r>
          </a:p>
          <a:p>
            <a:pPr lvl="0"/>
            <a:r>
              <a:rPr lang="en-US" b="1" dirty="0"/>
              <a:t>The oracle is not better than the black box</a:t>
            </a:r>
            <a:r>
              <a:rPr lang="en-US" dirty="0"/>
              <a:t> (p = 0.75 effect, p = 0.12 OOD) — so the task does not reward correct causal structure.</a:t>
            </a:r>
          </a:p>
          <a:p>
            <a:endParaRPr lang="en-US" dirty="0"/>
          </a:p>
        </p:txBody>
      </p:sp>
      <p:cxnSp>
        <p:nvCxnSpPr>
          <p:cNvPr id="11" name="Straight Connector 10">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DB6E134C-B244-3D44-9D2B-F5E788F39846}"/>
              </a:ext>
            </a:extLst>
          </p:cNvPr>
          <p:cNvGraphicFramePr>
            <a:graphicFrameLocks noGrp="1"/>
          </p:cNvGraphicFramePr>
          <p:nvPr>
            <p:extLst>
              <p:ext uri="{D42A27DB-BD31-4B8C-83A1-F6EECF244321}">
                <p14:modId xmlns:p14="http://schemas.microsoft.com/office/powerpoint/2010/main" val="2048428419"/>
              </p:ext>
            </p:extLst>
          </p:nvPr>
        </p:nvGraphicFramePr>
        <p:xfrm>
          <a:off x="713231" y="2960568"/>
          <a:ext cx="5224105" cy="2919135"/>
        </p:xfrm>
        <a:graphic>
          <a:graphicData uri="http://schemas.openxmlformats.org/drawingml/2006/table">
            <a:tbl>
              <a:tblPr firstRow="1" bandRow="1">
                <a:tableStyleId>{5C22544A-7EE6-4342-B048-85BDC9FD1C3A}</a:tableStyleId>
              </a:tblPr>
              <a:tblGrid>
                <a:gridCol w="1156015">
                  <a:extLst>
                    <a:ext uri="{9D8B030D-6E8A-4147-A177-3AD203B41FA5}">
                      <a16:colId xmlns:a16="http://schemas.microsoft.com/office/drawing/2014/main" val="3265819913"/>
                    </a:ext>
                  </a:extLst>
                </a:gridCol>
                <a:gridCol w="970264">
                  <a:extLst>
                    <a:ext uri="{9D8B030D-6E8A-4147-A177-3AD203B41FA5}">
                      <a16:colId xmlns:a16="http://schemas.microsoft.com/office/drawing/2014/main" val="1942792767"/>
                    </a:ext>
                  </a:extLst>
                </a:gridCol>
                <a:gridCol w="1063781">
                  <a:extLst>
                    <a:ext uri="{9D8B030D-6E8A-4147-A177-3AD203B41FA5}">
                      <a16:colId xmlns:a16="http://schemas.microsoft.com/office/drawing/2014/main" val="698875423"/>
                    </a:ext>
                  </a:extLst>
                </a:gridCol>
                <a:gridCol w="970264">
                  <a:extLst>
                    <a:ext uri="{9D8B030D-6E8A-4147-A177-3AD203B41FA5}">
                      <a16:colId xmlns:a16="http://schemas.microsoft.com/office/drawing/2014/main" val="2615518353"/>
                    </a:ext>
                  </a:extLst>
                </a:gridCol>
                <a:gridCol w="1063781">
                  <a:extLst>
                    <a:ext uri="{9D8B030D-6E8A-4147-A177-3AD203B41FA5}">
                      <a16:colId xmlns:a16="http://schemas.microsoft.com/office/drawing/2014/main" val="2939882209"/>
                    </a:ext>
                  </a:extLst>
                </a:gridCol>
              </a:tblGrid>
              <a:tr h="502363">
                <a:tc>
                  <a:txBody>
                    <a:bodyPr/>
                    <a:lstStyle/>
                    <a:p>
                      <a:pPr>
                        <a:buNone/>
                      </a:pPr>
                      <a:r>
                        <a:rPr lang="en-US" sz="1300"/>
                        <a:t>Model</a:t>
                      </a:r>
                    </a:p>
                  </a:txBody>
                  <a:tcPr marL="67887" marR="67887" marT="33943" marB="33943" anchor="ctr"/>
                </a:tc>
                <a:tc>
                  <a:txBody>
                    <a:bodyPr/>
                    <a:lstStyle/>
                    <a:p>
                      <a:pPr>
                        <a:buNone/>
                      </a:pPr>
                      <a:r>
                        <a:rPr lang="en-US" sz="1300"/>
                        <a:t>OOD RMSE</a:t>
                      </a:r>
                    </a:p>
                  </a:txBody>
                  <a:tcPr marL="67887" marR="67887" marT="33943" marB="33943" anchor="ctr"/>
                </a:tc>
                <a:tc>
                  <a:txBody>
                    <a:bodyPr/>
                    <a:lstStyle/>
                    <a:p>
                      <a:pPr>
                        <a:buNone/>
                      </a:pPr>
                      <a:r>
                        <a:rPr lang="en-US" sz="1300"/>
                        <a:t>p</a:t>
                      </a:r>
                    </a:p>
                  </a:txBody>
                  <a:tcPr marL="67887" marR="67887" marT="33943" marB="33943" anchor="ctr"/>
                </a:tc>
                <a:tc>
                  <a:txBody>
                    <a:bodyPr/>
                    <a:lstStyle/>
                    <a:p>
                      <a:pPr>
                        <a:buNone/>
                      </a:pPr>
                      <a:r>
                        <a:rPr lang="en-US" sz="1300"/>
                        <a:t>Effect RMSE</a:t>
                      </a:r>
                    </a:p>
                  </a:txBody>
                  <a:tcPr marL="67887" marR="67887" marT="33943" marB="33943" anchor="ctr"/>
                </a:tc>
                <a:tc>
                  <a:txBody>
                    <a:bodyPr/>
                    <a:lstStyle/>
                    <a:p>
                      <a:pPr>
                        <a:buNone/>
                      </a:pPr>
                      <a:r>
                        <a:rPr lang="en-US" sz="1300"/>
                        <a:t>p</a:t>
                      </a:r>
                    </a:p>
                  </a:txBody>
                  <a:tcPr marL="67887" marR="67887" marT="33943" marB="33943" anchor="ctr"/>
                </a:tc>
                <a:extLst>
                  <a:ext uri="{0D108BD9-81ED-4DB2-BD59-A6C34878D82A}">
                    <a16:rowId xmlns:a16="http://schemas.microsoft.com/office/drawing/2014/main" val="3705213971"/>
                  </a:ext>
                </a:extLst>
              </a:tr>
              <a:tr h="502363">
                <a:tc>
                  <a:txBody>
                    <a:bodyPr/>
                    <a:lstStyle/>
                    <a:p>
                      <a:pPr>
                        <a:buNone/>
                      </a:pPr>
                      <a:r>
                        <a:rPr lang="en-US" sz="1300"/>
                        <a:t>Monolithic (black box)</a:t>
                      </a:r>
                    </a:p>
                  </a:txBody>
                  <a:tcPr marL="67887" marR="67887" marT="33943" marB="33943" anchor="ctr"/>
                </a:tc>
                <a:tc>
                  <a:txBody>
                    <a:bodyPr/>
                    <a:lstStyle/>
                    <a:p>
                      <a:pPr>
                        <a:buNone/>
                      </a:pPr>
                      <a:r>
                        <a:rPr lang="en-US" sz="1300" b="1"/>
                        <a:t>0.0556 ± 0.0122</a:t>
                      </a:r>
                      <a:endParaRPr lang="en-US" sz="1300"/>
                    </a:p>
                  </a:txBody>
                  <a:tcPr marL="67887" marR="67887" marT="33943" marB="33943" anchor="ctr"/>
                </a:tc>
                <a:tc>
                  <a:txBody>
                    <a:bodyPr/>
                    <a:lstStyle/>
                    <a:p>
                      <a:pPr>
                        <a:buNone/>
                      </a:pPr>
                      <a:r>
                        <a:rPr lang="en-US" sz="1300"/>
                        <a:t>—</a:t>
                      </a:r>
                    </a:p>
                  </a:txBody>
                  <a:tcPr marL="67887" marR="67887" marT="33943" marB="33943" anchor="ctr"/>
                </a:tc>
                <a:tc>
                  <a:txBody>
                    <a:bodyPr/>
                    <a:lstStyle/>
                    <a:p>
                      <a:pPr>
                        <a:buNone/>
                      </a:pPr>
                      <a:r>
                        <a:rPr lang="en-US" sz="1300"/>
                        <a:t>0.0331 ± 0.0060</a:t>
                      </a:r>
                    </a:p>
                  </a:txBody>
                  <a:tcPr marL="67887" marR="67887" marT="33943" marB="33943" anchor="ctr"/>
                </a:tc>
                <a:tc>
                  <a:txBody>
                    <a:bodyPr/>
                    <a:lstStyle/>
                    <a:p>
                      <a:pPr>
                        <a:buNone/>
                      </a:pPr>
                      <a:r>
                        <a:rPr lang="en-US" sz="1300"/>
                        <a:t>—</a:t>
                      </a:r>
                    </a:p>
                  </a:txBody>
                  <a:tcPr marL="67887" marR="67887" marT="33943" marB="33943" anchor="ctr"/>
                </a:tc>
                <a:extLst>
                  <a:ext uri="{0D108BD9-81ED-4DB2-BD59-A6C34878D82A}">
                    <a16:rowId xmlns:a16="http://schemas.microsoft.com/office/drawing/2014/main" val="1317121619"/>
                  </a:ext>
                </a:extLst>
              </a:tr>
              <a:tr h="502363">
                <a:tc>
                  <a:txBody>
                    <a:bodyPr/>
                    <a:lstStyle/>
                    <a:p>
                      <a:pPr>
                        <a:buNone/>
                      </a:pPr>
                      <a:r>
                        <a:rPr lang="en-US" sz="1300"/>
                        <a:t>Per-node, full graph</a:t>
                      </a:r>
                    </a:p>
                  </a:txBody>
                  <a:tcPr marL="67887" marR="67887" marT="33943" marB="33943" anchor="ctr"/>
                </a:tc>
                <a:tc>
                  <a:txBody>
                    <a:bodyPr/>
                    <a:lstStyle/>
                    <a:p>
                      <a:pPr>
                        <a:buNone/>
                      </a:pPr>
                      <a:r>
                        <a:rPr lang="en-US" sz="1300"/>
                        <a:t>0.0598 ± 0.0098</a:t>
                      </a:r>
                    </a:p>
                  </a:txBody>
                  <a:tcPr marL="67887" marR="67887" marT="33943" marB="33943" anchor="ctr"/>
                </a:tc>
                <a:tc>
                  <a:txBody>
                    <a:bodyPr/>
                    <a:lstStyle/>
                    <a:p>
                      <a:pPr>
                        <a:buNone/>
                      </a:pPr>
                      <a:r>
                        <a:rPr lang="en-US" sz="1300"/>
                        <a:t>0.096 n.s.</a:t>
                      </a:r>
                    </a:p>
                  </a:txBody>
                  <a:tcPr marL="67887" marR="67887" marT="33943" marB="33943" anchor="ctr"/>
                </a:tc>
                <a:tc>
                  <a:txBody>
                    <a:bodyPr/>
                    <a:lstStyle/>
                    <a:p>
                      <a:pPr>
                        <a:buNone/>
                      </a:pPr>
                      <a:r>
                        <a:rPr lang="en-US" sz="1300"/>
                        <a:t>0.0355 ± 0.0055</a:t>
                      </a:r>
                    </a:p>
                  </a:txBody>
                  <a:tcPr marL="67887" marR="67887" marT="33943" marB="33943" anchor="ctr"/>
                </a:tc>
                <a:tc>
                  <a:txBody>
                    <a:bodyPr/>
                    <a:lstStyle/>
                    <a:p>
                      <a:pPr>
                        <a:buNone/>
                      </a:pPr>
                      <a:r>
                        <a:rPr lang="en-US" sz="1300"/>
                        <a:t>0.065 n.s.</a:t>
                      </a:r>
                    </a:p>
                  </a:txBody>
                  <a:tcPr marL="67887" marR="67887" marT="33943" marB="33943" anchor="ctr"/>
                </a:tc>
                <a:extLst>
                  <a:ext uri="{0D108BD9-81ED-4DB2-BD59-A6C34878D82A}">
                    <a16:rowId xmlns:a16="http://schemas.microsoft.com/office/drawing/2014/main" val="567482984"/>
                  </a:ext>
                </a:extLst>
              </a:tr>
              <a:tr h="706023">
                <a:tc>
                  <a:txBody>
                    <a:bodyPr/>
                    <a:lstStyle/>
                    <a:p>
                      <a:pPr>
                        <a:buNone/>
                      </a:pPr>
                      <a:r>
                        <a:rPr lang="en-US" sz="1300"/>
                        <a:t>Learned graph (gated)</a:t>
                      </a:r>
                    </a:p>
                  </a:txBody>
                  <a:tcPr marL="67887" marR="67887" marT="33943" marB="33943" anchor="ctr"/>
                </a:tc>
                <a:tc>
                  <a:txBody>
                    <a:bodyPr/>
                    <a:lstStyle/>
                    <a:p>
                      <a:pPr>
                        <a:buNone/>
                      </a:pPr>
                      <a:r>
                        <a:rPr lang="en-US" sz="1300"/>
                        <a:t>0.0570 ± 0.0141</a:t>
                      </a:r>
                    </a:p>
                  </a:txBody>
                  <a:tcPr marL="67887" marR="67887" marT="33943" marB="33943" anchor="ctr"/>
                </a:tc>
                <a:tc>
                  <a:txBody>
                    <a:bodyPr/>
                    <a:lstStyle/>
                    <a:p>
                      <a:pPr>
                        <a:buNone/>
                      </a:pPr>
                      <a:r>
                        <a:rPr lang="en-US" sz="1300"/>
                        <a:t>0.630 n.s.</a:t>
                      </a:r>
                    </a:p>
                  </a:txBody>
                  <a:tcPr marL="67887" marR="67887" marT="33943" marB="33943" anchor="ctr"/>
                </a:tc>
                <a:tc>
                  <a:txBody>
                    <a:bodyPr/>
                    <a:lstStyle/>
                    <a:p>
                      <a:pPr>
                        <a:buNone/>
                      </a:pPr>
                      <a:r>
                        <a:rPr lang="en-US" sz="1300" b="1"/>
                        <a:t>0.0315 ± 0.0084</a:t>
                      </a:r>
                      <a:endParaRPr lang="en-US" sz="1300"/>
                    </a:p>
                  </a:txBody>
                  <a:tcPr marL="67887" marR="67887" marT="33943" marB="33943" anchor="ctr"/>
                </a:tc>
                <a:tc>
                  <a:txBody>
                    <a:bodyPr/>
                    <a:lstStyle/>
                    <a:p>
                      <a:pPr>
                        <a:buNone/>
                      </a:pPr>
                      <a:r>
                        <a:rPr lang="en-US" sz="1300" dirty="0"/>
                        <a:t>0.314 </a:t>
                      </a:r>
                      <a:r>
                        <a:rPr lang="en-US" sz="1300" dirty="0" err="1"/>
                        <a:t>n.s</a:t>
                      </a:r>
                      <a:r>
                        <a:rPr lang="en-US" sz="1300" dirty="0"/>
                        <a:t>.</a:t>
                      </a:r>
                    </a:p>
                  </a:txBody>
                  <a:tcPr marL="67887" marR="67887" marT="33943" marB="33943" anchor="ctr"/>
                </a:tc>
                <a:extLst>
                  <a:ext uri="{0D108BD9-81ED-4DB2-BD59-A6C34878D82A}">
                    <a16:rowId xmlns:a16="http://schemas.microsoft.com/office/drawing/2014/main" val="2754647829"/>
                  </a:ext>
                </a:extLst>
              </a:tr>
              <a:tr h="706023">
                <a:tc>
                  <a:txBody>
                    <a:bodyPr/>
                    <a:lstStyle/>
                    <a:p>
                      <a:pPr>
                        <a:buNone/>
                      </a:pPr>
                      <a:r>
                        <a:rPr lang="en-US" sz="1300"/>
                        <a:t>Oracle graph (true A)</a:t>
                      </a:r>
                    </a:p>
                  </a:txBody>
                  <a:tcPr marL="67887" marR="67887" marT="33943" marB="33943" anchor="ctr"/>
                </a:tc>
                <a:tc>
                  <a:txBody>
                    <a:bodyPr/>
                    <a:lstStyle/>
                    <a:p>
                      <a:pPr>
                        <a:buNone/>
                      </a:pPr>
                      <a:r>
                        <a:rPr lang="en-US" sz="1300"/>
                        <a:t>0.0598 ± 0.0118</a:t>
                      </a:r>
                    </a:p>
                  </a:txBody>
                  <a:tcPr marL="67887" marR="67887" marT="33943" marB="33943" anchor="ctr"/>
                </a:tc>
                <a:tc>
                  <a:txBody>
                    <a:bodyPr/>
                    <a:lstStyle/>
                    <a:p>
                      <a:pPr>
                        <a:buNone/>
                      </a:pPr>
                      <a:r>
                        <a:rPr lang="en-US" sz="1300"/>
                        <a:t>0.123 n.s.</a:t>
                      </a:r>
                    </a:p>
                  </a:txBody>
                  <a:tcPr marL="67887" marR="67887" marT="33943" marB="33943" anchor="ctr"/>
                </a:tc>
                <a:tc>
                  <a:txBody>
                    <a:bodyPr/>
                    <a:lstStyle/>
                    <a:p>
                      <a:pPr>
                        <a:buNone/>
                      </a:pPr>
                      <a:r>
                        <a:rPr lang="en-US" sz="1300"/>
                        <a:t>0.0327 ± 0.0063</a:t>
                      </a:r>
                    </a:p>
                  </a:txBody>
                  <a:tcPr marL="67887" marR="67887" marT="33943" marB="33943" anchor="ctr"/>
                </a:tc>
                <a:tc>
                  <a:txBody>
                    <a:bodyPr/>
                    <a:lstStyle/>
                    <a:p>
                      <a:pPr>
                        <a:buNone/>
                      </a:pPr>
                      <a:r>
                        <a:rPr lang="en-US" sz="1300" dirty="0"/>
                        <a:t>0.752 </a:t>
                      </a:r>
                      <a:r>
                        <a:rPr lang="en-US" sz="1300" dirty="0" err="1"/>
                        <a:t>n.s</a:t>
                      </a:r>
                      <a:r>
                        <a:rPr lang="en-US" sz="1300" dirty="0"/>
                        <a:t>.</a:t>
                      </a:r>
                    </a:p>
                  </a:txBody>
                  <a:tcPr marL="67887" marR="67887" marT="33943" marB="33943" anchor="ctr"/>
                </a:tc>
                <a:extLst>
                  <a:ext uri="{0D108BD9-81ED-4DB2-BD59-A6C34878D82A}">
                    <a16:rowId xmlns:a16="http://schemas.microsoft.com/office/drawing/2014/main" val="1498059555"/>
                  </a:ext>
                </a:extLst>
              </a:tr>
            </a:tbl>
          </a:graphicData>
        </a:graphic>
      </p:graphicFrame>
      <p:sp>
        <p:nvSpPr>
          <p:cNvPr id="5" name="TextBox 4">
            <a:extLst>
              <a:ext uri="{FF2B5EF4-FFF2-40B4-BE49-F238E27FC236}">
                <a16:creationId xmlns:a16="http://schemas.microsoft.com/office/drawing/2014/main" id="{E560506B-6432-C7F4-5722-C03DCAC44AA0}"/>
              </a:ext>
            </a:extLst>
          </p:cNvPr>
          <p:cNvSpPr txBox="1"/>
          <p:nvPr/>
        </p:nvSpPr>
        <p:spPr>
          <a:xfrm>
            <a:off x="710587" y="1979112"/>
            <a:ext cx="4806294" cy="923330"/>
          </a:xfrm>
          <a:prstGeom prst="rect">
            <a:avLst/>
          </a:prstGeom>
          <a:noFill/>
        </p:spPr>
        <p:txBody>
          <a:bodyPr wrap="square" rtlCol="0">
            <a:spAutoFit/>
          </a:bodyPr>
          <a:lstStyle/>
          <a:p>
            <a:r>
              <a:rPr lang="en-US"/>
              <a:t>Across 50 seeds, no graph-based model beats the black box on either metric. The oracle (true graph) does not either.</a:t>
            </a:r>
            <a:endParaRPr lang="en-US" dirty="0"/>
          </a:p>
        </p:txBody>
      </p:sp>
    </p:spTree>
    <p:extLst>
      <p:ext uri="{BB962C8B-B14F-4D97-AF65-F5344CB8AC3E}">
        <p14:creationId xmlns:p14="http://schemas.microsoft.com/office/powerpoint/2010/main" val="3399685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E8E7-DAFD-636F-56F6-CE17D6E4493C}"/>
              </a:ext>
            </a:extLst>
          </p:cNvPr>
          <p:cNvSpPr>
            <a:spLocks noGrp="1"/>
          </p:cNvSpPr>
          <p:nvPr>
            <p:ph type="title"/>
          </p:nvPr>
        </p:nvSpPr>
        <p:spPr>
          <a:xfrm>
            <a:off x="640079" y="1233815"/>
            <a:ext cx="10890929" cy="1097280"/>
          </a:xfrm>
        </p:spPr>
        <p:txBody>
          <a:bodyPr/>
          <a:lstStyle/>
          <a:p>
            <a:r>
              <a:rPr lang="en-US" dirty="0"/>
              <a:t>Diagnosis — why there was nothing to win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8E632EF-3BD4-4DF7-4F2C-33A58A018F86}"/>
                  </a:ext>
                </a:extLst>
              </p:cNvPr>
              <p:cNvSpPr>
                <a:spLocks noGrp="1"/>
              </p:cNvSpPr>
              <p:nvPr>
                <p:ph idx="1"/>
              </p:nvPr>
            </p:nvSpPr>
            <p:spPr>
              <a:xfrm>
                <a:off x="640080" y="2167003"/>
                <a:ext cx="10890928" cy="4690997"/>
              </a:xfrm>
            </p:spPr>
            <p:txBody>
              <a:bodyPr>
                <a:normAutofit fontScale="85000" lnSpcReduction="20000"/>
              </a:bodyPr>
              <a:lstStyle/>
              <a:p>
                <a:r>
                  <a:rPr lang="en-US" b="1" dirty="0"/>
                  <a:t>1. The counterfactual loss already gave the black box the answer.</a:t>
                </a:r>
                <a:br>
                  <a:rPr lang="en-US" dirty="0"/>
                </a:br>
                <a:r>
                  <a:rPr lang="en-US" dirty="0"/>
                  <a:t>Paired interventions cover all 10 variables, including color and texture. When color is intervened,</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𝑐𝑓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𝑏𝑎𝑠𝑒</m:t>
                        </m:r>
                      </m:sub>
                    </m:sSub>
                  </m:oMath>
                </a14:m>
                <a:r>
                  <a:rPr lang="en-US" dirty="0"/>
                  <a:t>, so </a:t>
                </a:r>
                <a:r>
                  <a:rPr lang="en-US" dirty="0" err="1"/>
                  <a:t>loss_pair</a:t>
                </a:r>
                <a:r>
                  <a:rPr lang="en-US" dirty="0"/>
                  <a:t> directly penalizes the monolithic MLP for any sensitivity to color. → </a:t>
                </a:r>
                <a:r>
                  <a:rPr lang="en-US" i="1" dirty="0"/>
                  <a:t>All four arms receive the same causal information; only the representation differs. The graph has no headroom by construction.</a:t>
                </a:r>
              </a:p>
              <a:p>
                <a:r>
                  <a:rPr lang="en-US" b="1" dirty="0"/>
                  <a:t>2. Two of three outputs are not OOD at all.</a:t>
                </a:r>
                <a:br>
                  <a:rPr lang="en-US" dirty="0"/>
                </a:br>
                <a:r>
                  <a:rPr lang="en-US" dirty="0" err="1"/>
                  <a:t>acceleration_t</a:t>
                </a:r>
                <a:r>
                  <a:rPr lang="en-US" dirty="0"/>
                  <a:t>, </a:t>
                </a:r>
                <a:r>
                  <a:rPr lang="en-US" dirty="0" err="1"/>
                  <a:t>velocity_t</a:t>
                </a:r>
                <a:r>
                  <a:rPr lang="en-US" dirty="0"/>
                  <a:t>, </a:t>
                </a:r>
                <a:r>
                  <a:rPr lang="en-US" dirty="0" err="1"/>
                  <a:t>position_t</a:t>
                </a:r>
                <a:r>
                  <a:rPr lang="en-US" dirty="0"/>
                  <a:t> are drawn from the </a:t>
                </a:r>
                <a:r>
                  <a:rPr lang="en-US" b="1" dirty="0"/>
                  <a:t>same</a:t>
                </a:r>
                <a:r>
                  <a:rPr lang="en-US" dirty="0"/>
                  <a:t> N(0, σ) in train and test. Only </a:t>
                </a:r>
                <a:r>
                  <a:rPr lang="en-US" dirty="0" err="1"/>
                  <a:t>acceleration_next</a:t>
                </a:r>
                <a:r>
                  <a:rPr lang="en-US" dirty="0"/>
                  <a:t> has shifted parents (mass). → </a:t>
                </a:r>
                <a:r>
                  <a:rPr lang="en-US" i="1" dirty="0"/>
                  <a:t>2/3 of the OOD RMSE is in-distribution noise, diluting any real difference.</a:t>
                </a:r>
              </a:p>
              <a:p>
                <a:r>
                  <a:rPr lang="en-US" b="1" dirty="0"/>
                  <a:t>3. The shift is functional, not structural.</a:t>
                </a:r>
                <a:br>
                  <a:rPr lang="en-US" dirty="0"/>
                </a:br>
                <a:r>
                  <a:rPr lang="en-US" dirty="0"/>
                  <a:t>mass [0.8, 2.0] → [2.1, 3.5], entering as 1/m: [0.50, 1.25] → [0.29, 0.48]. A mask says </a:t>
                </a:r>
                <a:r>
                  <a:rPr lang="en-US" i="1" dirty="0"/>
                  <a:t>which</a:t>
                </a:r>
                <a:r>
                  <a:rPr lang="en-US" dirty="0"/>
                  <a:t> variables matter, not </a:t>
                </a:r>
                <a:r>
                  <a:rPr lang="en-US" i="1" dirty="0"/>
                  <a:t>how</a:t>
                </a:r>
                <a:r>
                  <a:rPr lang="en-US" dirty="0"/>
                  <a:t> the mechanism behaves off-support. The masked model faces the identical extrapolation problem — and loses redundancy, which may explain why oracle is worse.</a:t>
                </a:r>
              </a:p>
              <a:p>
                <a:r>
                  <a:rPr lang="en-US" b="1" dirty="0"/>
                  <a:t>4. A correct graph does not imply OOD robustness.</a:t>
                </a:r>
                <a:br>
                  <a:rPr lang="en-US" dirty="0"/>
                </a:br>
                <a:r>
                  <a:rPr lang="en-US" dirty="0"/>
                  <a:t>Richens &amp; Everitt (ICLR 2024) prove robustness ⇒ causal model (</a:t>
                </a:r>
                <a:r>
                  <a:rPr lang="en-US" b="1" dirty="0"/>
                  <a:t>necessity</a:t>
                </a:r>
                <a:r>
                  <a:rPr lang="en-US" dirty="0"/>
                  <a:t>), not the converse as a plug-in. Their sufficiency direction requires the full CBN — graph </a:t>
                </a:r>
                <a:r>
                  <a:rPr lang="en-US" b="1" dirty="0"/>
                  <a:t>and</a:t>
                </a:r>
                <a:r>
                  <a:rPr lang="en-US" dirty="0"/>
                  <a:t> mechanisms </a:t>
                </a:r>
                <a14:m>
                  <m:oMath xmlns:m="http://schemas.openxmlformats.org/officeDocument/2006/math">
                    <m:r>
                      <a:rPr lang="en-US" i="1" dirty="0" smtClean="0">
                        <a:latin typeface="Cambria Math" panose="02040503050406030204" pitchFamily="18" charset="0"/>
                      </a:rPr>
                      <m:t>𝑃</m:t>
                    </m:r>
                    <m:d>
                      <m:dPr>
                        <m:endChr m:val="|"/>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𝑣</m:t>
                            </m:r>
                          </m:e>
                          <m:sub>
                            <m:r>
                              <a:rPr lang="en-US" i="1" dirty="0" err="1">
                                <a:latin typeface="Cambria Math" panose="02040503050406030204" pitchFamily="18" charset="0"/>
                              </a:rPr>
                              <m:t>𝑖</m:t>
                            </m:r>
                          </m:sub>
                        </m:sSub>
                        <m:r>
                          <a:rPr lang="en-US" i="1" dirty="0">
                            <a:latin typeface="Cambria Math" panose="02040503050406030204" pitchFamily="18" charset="0"/>
                          </a:rPr>
                          <m:t> </m:t>
                        </m:r>
                      </m:e>
                    </m:d>
                    <m:r>
                      <a:rPr lang="en-US" i="1" dirty="0" err="1">
                        <a:latin typeface="Cambria Math" panose="02040503050406030204" pitchFamily="18" charset="0"/>
                      </a:rPr>
                      <m:t>𝑝</m:t>
                    </m:r>
                    <m:sSub>
                      <m:sSubPr>
                        <m:ctrlPr>
                          <a:rPr lang="en-US" i="1" dirty="0" err="1">
                            <a:latin typeface="Cambria Math" panose="02040503050406030204" pitchFamily="18" charset="0"/>
                          </a:rPr>
                        </m:ctrlPr>
                      </m:sSubPr>
                      <m:e>
                        <m:r>
                          <a:rPr lang="en-US" i="1" dirty="0" err="1">
                            <a:latin typeface="Cambria Math" panose="02040503050406030204" pitchFamily="18" charset="0"/>
                          </a:rPr>
                          <m:t>𝑎</m:t>
                        </m:r>
                      </m:e>
                      <m:sub>
                        <m:r>
                          <a:rPr lang="en-US" i="1" dirty="0" err="1">
                            <a:latin typeface="Cambria Math" panose="02040503050406030204" pitchFamily="18" charset="0"/>
                          </a:rPr>
                          <m:t>𝑖</m:t>
                        </m:r>
                      </m:sub>
                    </m:sSub>
                    <m:r>
                      <a:rPr lang="en-US" i="1" dirty="0">
                        <a:latin typeface="Cambria Math" panose="02040503050406030204" pitchFamily="18" charset="0"/>
                      </a:rPr>
                      <m:t>) </m:t>
                    </m:r>
                  </m:oMath>
                </a14:m>
                <a:r>
                  <a:rPr lang="en-US" dirty="0"/>
                  <a:t>— not an adjacency mask. They also note deep nets exploit inductive biases broad enough to reach low regret without causal knowledge. </a:t>
                </a:r>
                <a:r>
                  <a:rPr lang="en-US" i="1" dirty="0"/>
                  <a:t>This experiment is a live demonstration of that</a:t>
                </a:r>
                <a:endParaRPr lang="en-US" dirty="0"/>
              </a:p>
              <a:p>
                <a:endParaRPr lang="en-US" dirty="0"/>
              </a:p>
            </p:txBody>
          </p:sp>
        </mc:Choice>
        <mc:Fallback xmlns="">
          <p:sp>
            <p:nvSpPr>
              <p:cNvPr id="3" name="Content Placeholder 2">
                <a:extLst>
                  <a:ext uri="{FF2B5EF4-FFF2-40B4-BE49-F238E27FC236}">
                    <a16:creationId xmlns:a16="http://schemas.microsoft.com/office/drawing/2014/main" id="{D8E632EF-3BD4-4DF7-4F2C-33A58A018F86}"/>
                  </a:ext>
                </a:extLst>
              </p:cNvPr>
              <p:cNvSpPr>
                <a:spLocks noGrp="1" noRot="1" noChangeAspect="1" noMove="1" noResize="1" noEditPoints="1" noAdjustHandles="1" noChangeArrowheads="1" noChangeShapeType="1" noTextEdit="1"/>
              </p:cNvSpPr>
              <p:nvPr>
                <p:ph idx="1"/>
              </p:nvPr>
            </p:nvSpPr>
            <p:spPr>
              <a:xfrm>
                <a:off x="640080" y="2167003"/>
                <a:ext cx="10890928" cy="4690997"/>
              </a:xfrm>
              <a:blipFill>
                <a:blip r:embed="rId2"/>
                <a:stretch>
                  <a:fillRect l="-168" t="-390" r="-672" b="-649"/>
                </a:stretch>
              </a:blipFill>
            </p:spPr>
            <p:txBody>
              <a:bodyPr/>
              <a:lstStyle/>
              <a:p>
                <a:r>
                  <a:rPr lang="en-US">
                    <a:noFill/>
                  </a:rPr>
                  <a:t> </a:t>
                </a:r>
              </a:p>
            </p:txBody>
          </p:sp>
        </mc:Fallback>
      </mc:AlternateContent>
    </p:spTree>
    <p:extLst>
      <p:ext uri="{BB962C8B-B14F-4D97-AF65-F5344CB8AC3E}">
        <p14:creationId xmlns:p14="http://schemas.microsoft.com/office/powerpoint/2010/main" val="1027120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FB45C-6169-6BDD-1714-19665378A6E8}"/>
              </a:ext>
            </a:extLst>
          </p:cNvPr>
          <p:cNvSpPr>
            <a:spLocks noGrp="1"/>
          </p:cNvSpPr>
          <p:nvPr>
            <p:ph type="title"/>
          </p:nvPr>
        </p:nvSpPr>
        <p:spPr/>
        <p:txBody>
          <a:bodyPr/>
          <a:lstStyle/>
          <a:p>
            <a:r>
              <a:rPr lang="en-US" dirty="0"/>
              <a:t>Next steps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440086-BD8B-07C6-E664-5923434CD437}"/>
                  </a:ext>
                </a:extLst>
              </p:cNvPr>
              <p:cNvSpPr>
                <a:spLocks noGrp="1"/>
              </p:cNvSpPr>
              <p:nvPr>
                <p:ph idx="1"/>
              </p:nvPr>
            </p:nvSpPr>
            <p:spPr>
              <a:xfrm>
                <a:off x="640080" y="2286000"/>
                <a:ext cx="10890928" cy="4572000"/>
              </a:xfrm>
            </p:spPr>
            <p:txBody>
              <a:bodyPr>
                <a:normAutofit fontScale="92500" lnSpcReduction="20000"/>
              </a:bodyPr>
              <a:lstStyle/>
              <a:p>
                <a:r>
                  <a:rPr lang="en-US" dirty="0"/>
                  <a:t>When modifying the color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𝑐𝑓</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𝑏𝑎𝑠𝑒</m:t>
                        </m:r>
                      </m:sub>
                    </m:sSub>
                    <m:r>
                      <a:rPr lang="en-US" b="0" i="1" smtClean="0">
                        <a:latin typeface="Cambria Math" panose="02040503050406030204" pitchFamily="18" charset="0"/>
                      </a:rPr>
                      <m:t>=0</m:t>
                    </m:r>
                  </m:oMath>
                </a14:m>
                <a:r>
                  <a:rPr lang="en-US" dirty="0"/>
                  <a:t>, which teaches </a:t>
                </a:r>
                <a:r>
                  <a:rPr lang="en-US" dirty="0" err="1"/>
                  <a:t>blackbox</a:t>
                </a:r>
                <a:r>
                  <a:rPr lang="en-US" dirty="0"/>
                  <a:t> ignore the color,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dirty="0"/>
                  <a:t> did not change the range, finally, the only shift in mass serves to extend the function's support; the mask itself does not control the function's shape. .</a:t>
                </a:r>
              </a:p>
              <a:p>
                <a:r>
                  <a:rPr lang="en-US" dirty="0"/>
                  <a:t>1. four </a:t>
                </a:r>
                <a:r>
                  <a:rPr lang="en-US" dirty="0" err="1"/>
                  <a:t>arms：mono</a:t>
                </a:r>
                <a:r>
                  <a:rPr lang="en-US" dirty="0"/>
                  <a:t>/</a:t>
                </a:r>
                <a:r>
                  <a:rPr lang="en-US" dirty="0" err="1"/>
                  <a:t>obs-only、mono</a:t>
                </a:r>
                <a:r>
                  <a:rPr lang="en-US" dirty="0"/>
                  <a:t>/</a:t>
                </a:r>
                <a:r>
                  <a:rPr lang="en-US" dirty="0" err="1"/>
                  <a:t>obs+pair、learned</a:t>
                </a:r>
                <a:r>
                  <a:rPr lang="en-US" dirty="0"/>
                  <a:t>/</a:t>
                </a:r>
                <a:r>
                  <a:rPr lang="en-US" dirty="0" err="1"/>
                  <a:t>obs-only、learned</a:t>
                </a:r>
                <a:r>
                  <a:rPr lang="en-US" dirty="0"/>
                  <a:t>/</a:t>
                </a:r>
                <a:r>
                  <a:rPr lang="en-US" dirty="0" err="1"/>
                  <a:t>obs+pair</a:t>
                </a:r>
                <a:endParaRPr lang="en-US" dirty="0"/>
              </a:p>
              <a:p>
                <a:r>
                  <a:rPr lang="en-US" dirty="0"/>
                  <a:t>2. those three parameters have to change as well, which will make this becomes the real OOD problem.</a:t>
                </a:r>
              </a:p>
              <a:p>
                <a:r>
                  <a:rPr lang="en-US" dirty="0"/>
                  <a:t>3. Mechanism Shift + Adaptation Efficiency. Interference: the extent to which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oMath>
                </a14:m>
                <a:r>
                  <a:rPr lang="en-US" dirty="0"/>
                  <a:t> degrade after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i="1">
                            <a:latin typeface="Cambria Math" panose="02040503050406030204" pitchFamily="18" charset="0"/>
                          </a:rPr>
                          <m:t>𝑡</m:t>
                        </m:r>
                        <m:r>
                          <a:rPr lang="en-US" i="1">
                            <a:latin typeface="Cambria Math" panose="02040503050406030204" pitchFamily="18" charset="0"/>
                          </a:rPr>
                          <m:t>+1</m:t>
                        </m:r>
                      </m:sub>
                    </m:sSub>
                  </m:oMath>
                </a14:m>
                <a:r>
                  <a:rPr lang="en-US" dirty="0"/>
                  <a:t>  is modified. The black-box architecture is inherently at a disadvantage here—since all outputs share a single network, changing one part inevitably affects the whole. In contrast, the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𝑡</m:t>
                        </m:r>
                        <m:r>
                          <a:rPr lang="en-US" i="1">
                            <a:latin typeface="Cambria Math" panose="02040503050406030204" pitchFamily="18" charset="0"/>
                          </a:rPr>
                          <m:t>+1</m:t>
                        </m:r>
                      </m:sub>
                    </m:sSub>
                  </m:oMath>
                </a14:m>
                <a:r>
                  <a:rPr lang="en-US" dirty="0"/>
                  <a:t> head in the oracle/learned model does not even take </a:t>
                </a:r>
                <a:r>
                  <a:rPr lang="en-US" b="1" dirty="0"/>
                  <a:t>mass</a:t>
                </a:r>
                <a:r>
                  <a:rPr lang="en-US" dirty="0"/>
                  <a:t> as an input, so theoretically, it should remain completely unaffected.</a:t>
                </a:r>
              </a:p>
              <a:p>
                <a:r>
                  <a:rPr lang="en-US" dirty="0"/>
                  <a:t>4. assuming we are not given V anymore, the moment estimator is not directly applicable, whereas the gating mechanism is.</a:t>
                </a:r>
              </a:p>
            </p:txBody>
          </p:sp>
        </mc:Choice>
        <mc:Fallback xmlns="">
          <p:sp>
            <p:nvSpPr>
              <p:cNvPr id="3" name="Content Placeholder 2">
                <a:extLst>
                  <a:ext uri="{FF2B5EF4-FFF2-40B4-BE49-F238E27FC236}">
                    <a16:creationId xmlns:a16="http://schemas.microsoft.com/office/drawing/2014/main" id="{3C440086-BD8B-07C6-E664-5923434CD437}"/>
                  </a:ext>
                </a:extLst>
              </p:cNvPr>
              <p:cNvSpPr>
                <a:spLocks noGrp="1" noRot="1" noChangeAspect="1" noMove="1" noResize="1" noEditPoints="1" noAdjustHandles="1" noChangeArrowheads="1" noChangeShapeType="1" noTextEdit="1"/>
              </p:cNvSpPr>
              <p:nvPr>
                <p:ph idx="1"/>
              </p:nvPr>
            </p:nvSpPr>
            <p:spPr>
              <a:xfrm>
                <a:off x="640080" y="2286000"/>
                <a:ext cx="10890928" cy="4572000"/>
              </a:xfrm>
              <a:blipFill>
                <a:blip r:embed="rId2"/>
                <a:stretch>
                  <a:fillRect l="-224" t="-933" r="-280"/>
                </a:stretch>
              </a:blipFill>
            </p:spPr>
            <p:txBody>
              <a:bodyPr/>
              <a:lstStyle/>
              <a:p>
                <a:r>
                  <a:rPr lang="en-US">
                    <a:noFill/>
                  </a:rPr>
                  <a:t> </a:t>
                </a:r>
              </a:p>
            </p:txBody>
          </p:sp>
        </mc:Fallback>
      </mc:AlternateContent>
    </p:spTree>
    <p:extLst>
      <p:ext uri="{BB962C8B-B14F-4D97-AF65-F5344CB8AC3E}">
        <p14:creationId xmlns:p14="http://schemas.microsoft.com/office/powerpoint/2010/main" val="67685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0C3F0-0691-FDFD-DED7-17C0CADB26FE}"/>
              </a:ext>
            </a:extLst>
          </p:cNvPr>
          <p:cNvSpPr>
            <a:spLocks noGrp="1"/>
          </p:cNvSpPr>
          <p:nvPr>
            <p:ph type="title"/>
          </p:nvPr>
        </p:nvSpPr>
        <p:spPr/>
        <p:txBody>
          <a:bodyPr/>
          <a:lstStyle/>
          <a:p>
            <a:r>
              <a:rPr lang="en-US" altLang="zh-CN" dirty="0"/>
              <a:t>Reference </a:t>
            </a:r>
            <a:endParaRPr lang="en-US" dirty="0"/>
          </a:p>
        </p:txBody>
      </p:sp>
      <p:sp>
        <p:nvSpPr>
          <p:cNvPr id="3" name="Content Placeholder 2">
            <a:extLst>
              <a:ext uri="{FF2B5EF4-FFF2-40B4-BE49-F238E27FC236}">
                <a16:creationId xmlns:a16="http://schemas.microsoft.com/office/drawing/2014/main" id="{E453F29A-7C78-708A-3B82-108A71142AF3}"/>
              </a:ext>
            </a:extLst>
          </p:cNvPr>
          <p:cNvSpPr>
            <a:spLocks noGrp="1"/>
          </p:cNvSpPr>
          <p:nvPr>
            <p:ph idx="1"/>
          </p:nvPr>
        </p:nvSpPr>
        <p:spPr>
          <a:xfrm>
            <a:off x="640079" y="2606040"/>
            <a:ext cx="10890928" cy="3970124"/>
          </a:xfrm>
        </p:spPr>
        <p:txBody>
          <a:bodyPr/>
          <a:lstStyle/>
          <a:p>
            <a:r>
              <a:rPr lang="en-US" dirty="0"/>
              <a:t>Zhang, H., Miao, H., Jiang, X., Fang, Y. and Zhang, Y., 2026. Strap: </a:t>
            </a:r>
            <a:r>
              <a:rPr lang="en-US" dirty="0" err="1"/>
              <a:t>Spatio</a:t>
            </a:r>
            <a:r>
              <a:rPr lang="en-US" dirty="0"/>
              <a:t>-temporal pattern retrieval for out-of-distribution generalization. </a:t>
            </a:r>
            <a:r>
              <a:rPr lang="en-US" i="1" dirty="0"/>
              <a:t>Advances in Neural Information Processing Systems</a:t>
            </a:r>
            <a:r>
              <a:rPr lang="en-US" dirty="0"/>
              <a:t>, </a:t>
            </a:r>
            <a:r>
              <a:rPr lang="en-US" i="1" dirty="0"/>
              <a:t>38</a:t>
            </a:r>
            <a:r>
              <a:rPr lang="en-US" dirty="0"/>
              <a:t>, pp.118006-118041.</a:t>
            </a:r>
          </a:p>
          <a:p>
            <a:r>
              <a:rPr lang="en-US" dirty="0"/>
              <a:t>Ding, J., Zhang, Y., Shang, Y., Zhang, Y., Zong, Z., Feng, J., Yuan, Y., Su, H., Li, N., Sukiennik, N. and Xu, F., 2025. Understanding world or predicting future? a comprehensive survey of world models. </a:t>
            </a:r>
            <a:r>
              <a:rPr lang="en-US" i="1" dirty="0"/>
              <a:t>ACM Computing Surveys</a:t>
            </a:r>
            <a:r>
              <a:rPr lang="en-US" dirty="0"/>
              <a:t>, </a:t>
            </a:r>
            <a:r>
              <a:rPr lang="en-US" i="1" dirty="0"/>
              <a:t>58</a:t>
            </a:r>
            <a:r>
              <a:rPr lang="en-US" dirty="0"/>
              <a:t>(3), pp.1-38.</a:t>
            </a:r>
          </a:p>
          <a:p>
            <a:r>
              <a:rPr lang="en-US" dirty="0"/>
              <a:t>Wang, L., Chen, Z., Du, Y., Yan, D., Ge, W., Shen, G., Xu, X., Wu, L., Chen, M., Xu, T. and Ren, P., 2026. A mechanistic view on video generation as world models: State and dynamics. </a:t>
            </a:r>
            <a:r>
              <a:rPr lang="en-US" i="1" dirty="0" err="1"/>
              <a:t>arXiv</a:t>
            </a:r>
            <a:r>
              <a:rPr lang="en-US" i="1" dirty="0"/>
              <a:t> preprint arXiv:2601.17067</a:t>
            </a:r>
            <a:r>
              <a:rPr lang="en-US" dirty="0"/>
              <a:t>.</a:t>
            </a:r>
          </a:p>
        </p:txBody>
      </p:sp>
    </p:spTree>
    <p:extLst>
      <p:ext uri="{BB962C8B-B14F-4D97-AF65-F5344CB8AC3E}">
        <p14:creationId xmlns:p14="http://schemas.microsoft.com/office/powerpoint/2010/main" val="314516397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693</TotalTime>
  <Words>2486</Words>
  <Application>Microsoft Office PowerPoint</Application>
  <PresentationFormat>Widescreen</PresentationFormat>
  <Paragraphs>128</Paragraphs>
  <Slides>16</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Cambria Math</vt:lpstr>
      <vt:lpstr>Grandview Display</vt:lpstr>
      <vt:lpstr>DashVTI</vt:lpstr>
      <vt:lpstr>First Step</vt:lpstr>
      <vt:lpstr>Idea </vt:lpstr>
      <vt:lpstr>Experimental</vt:lpstr>
      <vt:lpstr>Pipeline change</vt:lpstr>
      <vt:lpstr>Why it was Feature Selection, not Causality</vt:lpstr>
      <vt:lpstr>Four components/stages in SCM</vt:lpstr>
      <vt:lpstr>How to make the data</vt:lpstr>
      <vt:lpstr>Main model</vt:lpstr>
      <vt:lpstr>V → G: How it can be learned?</vt:lpstr>
      <vt:lpstr>PowerPoint Presentation</vt:lpstr>
      <vt:lpstr>Baseline</vt:lpstr>
      <vt:lpstr>Metrics</vt:lpstr>
      <vt:lpstr>Bad results</vt:lpstr>
      <vt:lpstr>Diagnosis — why there was nothing to win</vt:lpstr>
      <vt:lpstr>Next steps</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 Lin</dc:creator>
  <cp:lastModifiedBy>Chu Lin</cp:lastModifiedBy>
  <cp:revision>16</cp:revision>
  <dcterms:created xsi:type="dcterms:W3CDTF">2026-08-04T14:36:29Z</dcterms:created>
  <dcterms:modified xsi:type="dcterms:W3CDTF">2026-08-07T15:15:38Z</dcterms:modified>
</cp:coreProperties>
</file>