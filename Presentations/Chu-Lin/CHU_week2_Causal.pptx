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73" r:id="rId11"/>
    <p:sldId id="267" r:id="rId12"/>
    <p:sldId id="268" r:id="rId13"/>
    <p:sldId id="270" r:id="rId14"/>
    <p:sldId id="271" r:id="rId15"/>
    <p:sldId id="272" r:id="rId16"/>
    <p:sldId id="274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80ED84-FEF8-44C5-BEAB-49F1F0DC4AAE}" v="1" dt="2026-07-03T14:39:00.390"/>
    <p1510:client id="{B9DD0CDA-F004-4B75-9704-44D9D1F957C1}" v="97" dt="2026-07-03T19:24:32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0" d="100"/>
          <a:sy n="130" d="100"/>
        </p:scale>
        <p:origin x="341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 Lin" userId="a9d5f5a05d2946b6" providerId="LiveId" clId="{D0B525D6-471A-4AEC-9E0A-4D9E31AAD555}"/>
    <pc:docChg chg="undo custSel addSld delSld modSld sldOrd">
      <pc:chgData name="Chu Lin" userId="a9d5f5a05d2946b6" providerId="LiveId" clId="{D0B525D6-471A-4AEC-9E0A-4D9E31AAD555}" dt="2026-07-03T19:24:32.868" v="475" actId="16959"/>
      <pc:docMkLst>
        <pc:docMk/>
      </pc:docMkLst>
      <pc:sldChg chg="modSp">
        <pc:chgData name="Chu Lin" userId="a9d5f5a05d2946b6" providerId="LiveId" clId="{D0B525D6-471A-4AEC-9E0A-4D9E31AAD555}" dt="2026-07-02T19:03:29.807" v="271" actId="20577"/>
        <pc:sldMkLst>
          <pc:docMk/>
          <pc:sldMk cId="0" sldId="260"/>
        </pc:sldMkLst>
        <pc:spChg chg="mod">
          <ac:chgData name="Chu Lin" userId="a9d5f5a05d2946b6" providerId="LiveId" clId="{D0B525D6-471A-4AEC-9E0A-4D9E31AAD555}" dt="2026-07-02T19:03:29.807" v="271" actId="20577"/>
          <ac:spMkLst>
            <pc:docMk/>
            <pc:sldMk cId="0" sldId="260"/>
            <ac:spMk id="80" creationId="{00000000-0000-0000-0000-000000000000}"/>
          </ac:spMkLst>
        </pc:spChg>
      </pc:sldChg>
      <pc:sldChg chg="addSp delSp modSp mod ord">
        <pc:chgData name="Chu Lin" userId="a9d5f5a05d2946b6" providerId="LiveId" clId="{D0B525D6-471A-4AEC-9E0A-4D9E31AAD555}" dt="2026-07-03T14:38:32.533" v="287" actId="1076"/>
        <pc:sldMkLst>
          <pc:docMk/>
          <pc:sldMk cId="0" sldId="264"/>
        </pc:sldMkLst>
        <pc:spChg chg="add del">
          <ac:chgData name="Chu Lin" userId="a9d5f5a05d2946b6" providerId="LiveId" clId="{D0B525D6-471A-4AEC-9E0A-4D9E31AAD555}" dt="2026-07-02T16:36:02.852" v="4" actId="22"/>
          <ac:spMkLst>
            <pc:docMk/>
            <pc:sldMk cId="0" sldId="264"/>
            <ac:spMk id="3" creationId="{63F53544-E8ED-048E-A38F-1186F4395297}"/>
          </ac:spMkLst>
        </pc:spChg>
        <pc:spChg chg="mod">
          <ac:chgData name="Chu Lin" userId="a9d5f5a05d2946b6" providerId="LiveId" clId="{D0B525D6-471A-4AEC-9E0A-4D9E31AAD555}" dt="2026-07-03T14:38:23.602" v="283" actId="1076"/>
          <ac:spMkLst>
            <pc:docMk/>
            <pc:sldMk cId="0" sldId="264"/>
            <ac:spMk id="101" creationId="{00000000-0000-0000-0000-000000000000}"/>
          </ac:spMkLst>
        </pc:spChg>
        <pc:spChg chg="mod">
          <ac:chgData name="Chu Lin" userId="a9d5f5a05d2946b6" providerId="LiveId" clId="{D0B525D6-471A-4AEC-9E0A-4D9E31AAD555}" dt="2026-07-03T14:38:32.533" v="287" actId="1076"/>
          <ac:spMkLst>
            <pc:docMk/>
            <pc:sldMk cId="0" sldId="264"/>
            <ac:spMk id="102" creationId="{00000000-0000-0000-0000-000000000000}"/>
          </ac:spMkLst>
        </pc:spChg>
        <pc:spChg chg="mod">
          <ac:chgData name="Chu Lin" userId="a9d5f5a05d2946b6" providerId="LiveId" clId="{D0B525D6-471A-4AEC-9E0A-4D9E31AAD555}" dt="2026-07-03T14:38:29.817" v="286" actId="1076"/>
          <ac:spMkLst>
            <pc:docMk/>
            <pc:sldMk cId="0" sldId="264"/>
            <ac:spMk id="106" creationId="{00000000-0000-0000-0000-000000000000}"/>
          </ac:spMkLst>
        </pc:spChg>
        <pc:spChg chg="mod">
          <ac:chgData name="Chu Lin" userId="a9d5f5a05d2946b6" providerId="LiveId" clId="{D0B525D6-471A-4AEC-9E0A-4D9E31AAD555}" dt="2026-07-02T19:06:59.611" v="276" actId="20577"/>
          <ac:spMkLst>
            <pc:docMk/>
            <pc:sldMk cId="0" sldId="264"/>
            <ac:spMk id="107" creationId="{00000000-0000-0000-0000-000000000000}"/>
          </ac:spMkLst>
        </pc:spChg>
        <pc:cxnChg chg="mod">
          <ac:chgData name="Chu Lin" userId="a9d5f5a05d2946b6" providerId="LiveId" clId="{D0B525D6-471A-4AEC-9E0A-4D9E31AAD555}" dt="2026-07-03T14:38:27.691" v="285" actId="14100"/>
          <ac:cxnSpMkLst>
            <pc:docMk/>
            <pc:sldMk cId="0" sldId="264"/>
            <ac:cxnSpMk id="105" creationId="{00000000-0000-0000-0000-000000000000}"/>
          </ac:cxnSpMkLst>
        </pc:cxnChg>
      </pc:sldChg>
      <pc:sldChg chg="addSp delSp del mod">
        <pc:chgData name="Chu Lin" userId="a9d5f5a05d2946b6" providerId="LiveId" clId="{D0B525D6-471A-4AEC-9E0A-4D9E31AAD555}" dt="2026-07-02T16:36:05.896" v="5" actId="47"/>
        <pc:sldMkLst>
          <pc:docMk/>
          <pc:sldMk cId="0" sldId="266"/>
        </pc:sldMkLst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13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14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15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16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19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20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21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23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25" creationId="{00000000-0000-0000-0000-000000000000}"/>
          </ac:spMkLst>
        </pc:spChg>
        <pc:spChg chg="add del">
          <ac:chgData name="Chu Lin" userId="a9d5f5a05d2946b6" providerId="LiveId" clId="{D0B525D6-471A-4AEC-9E0A-4D9E31AAD555}" dt="2026-07-02T16:30:32.487" v="1" actId="478"/>
          <ac:spMkLst>
            <pc:docMk/>
            <pc:sldMk cId="0" sldId="266"/>
            <ac:spMk id="127" creationId="{00000000-0000-0000-0000-000000000000}"/>
          </ac:spMkLst>
        </pc:spChg>
      </pc:sldChg>
      <pc:sldChg chg="modSp mod">
        <pc:chgData name="Chu Lin" userId="a9d5f5a05d2946b6" providerId="LiveId" clId="{D0B525D6-471A-4AEC-9E0A-4D9E31AAD555}" dt="2026-07-03T19:24:32.868" v="475" actId="16959"/>
        <pc:sldMkLst>
          <pc:docMk/>
          <pc:sldMk cId="0" sldId="268"/>
        </pc:sldMkLst>
        <pc:spChg chg="mod">
          <ac:chgData name="Chu Lin" userId="a9d5f5a05d2946b6" providerId="LiveId" clId="{D0B525D6-471A-4AEC-9E0A-4D9E31AAD555}" dt="2026-07-03T19:23:03.372" v="416" actId="1076"/>
          <ac:spMkLst>
            <pc:docMk/>
            <pc:sldMk cId="0" sldId="268"/>
            <ac:spMk id="300" creationId="{00000000-0000-0000-0000-000000000000}"/>
          </ac:spMkLst>
        </pc:spChg>
        <pc:spChg chg="mod">
          <ac:chgData name="Chu Lin" userId="a9d5f5a05d2946b6" providerId="LiveId" clId="{D0B525D6-471A-4AEC-9E0A-4D9E31AAD555}" dt="2026-07-03T19:23:03.372" v="416" actId="1076"/>
          <ac:spMkLst>
            <pc:docMk/>
            <pc:sldMk cId="0" sldId="268"/>
            <ac:spMk id="301" creationId="{00000000-0000-0000-0000-000000000000}"/>
          </ac:spMkLst>
        </pc:spChg>
        <pc:spChg chg="mod">
          <ac:chgData name="Chu Lin" userId="a9d5f5a05d2946b6" providerId="LiveId" clId="{D0B525D6-471A-4AEC-9E0A-4D9E31AAD555}" dt="2026-07-03T19:23:03.372" v="416" actId="1076"/>
          <ac:spMkLst>
            <pc:docMk/>
            <pc:sldMk cId="0" sldId="268"/>
            <ac:spMk id="302" creationId="{00000000-0000-0000-0000-000000000000}"/>
          </ac:spMkLst>
        </pc:spChg>
        <pc:spChg chg="mod">
          <ac:chgData name="Chu Lin" userId="a9d5f5a05d2946b6" providerId="LiveId" clId="{D0B525D6-471A-4AEC-9E0A-4D9E31AAD555}" dt="2026-07-03T19:23:03.372" v="416" actId="1076"/>
          <ac:spMkLst>
            <pc:docMk/>
            <pc:sldMk cId="0" sldId="268"/>
            <ac:spMk id="303" creationId="{00000000-0000-0000-0000-000000000000}"/>
          </ac:spMkLst>
        </pc:spChg>
        <pc:spChg chg="mod">
          <ac:chgData name="Chu Lin" userId="a9d5f5a05d2946b6" providerId="LiveId" clId="{D0B525D6-471A-4AEC-9E0A-4D9E31AAD555}" dt="2026-07-03T19:23:03.372" v="416" actId="1076"/>
          <ac:spMkLst>
            <pc:docMk/>
            <pc:sldMk cId="0" sldId="268"/>
            <ac:spMk id="307" creationId="{00000000-0000-0000-0000-000000000000}"/>
          </ac:spMkLst>
        </pc:spChg>
        <pc:spChg chg="mod">
          <ac:chgData name="Chu Lin" userId="a9d5f5a05d2946b6" providerId="LiveId" clId="{D0B525D6-471A-4AEC-9E0A-4D9E31AAD555}" dt="2026-07-03T19:24:32.868" v="475" actId="16959"/>
          <ac:spMkLst>
            <pc:docMk/>
            <pc:sldMk cId="0" sldId="268"/>
            <ac:spMk id="309" creationId="{00000000-0000-0000-0000-000000000000}"/>
          </ac:spMkLst>
        </pc:spChg>
        <pc:cxnChg chg="mod">
          <ac:chgData name="Chu Lin" userId="a9d5f5a05d2946b6" providerId="LiveId" clId="{D0B525D6-471A-4AEC-9E0A-4D9E31AAD555}" dt="2026-07-03T19:23:03.372" v="416" actId="1076"/>
          <ac:cxnSpMkLst>
            <pc:docMk/>
            <pc:sldMk cId="0" sldId="268"/>
            <ac:cxnSpMk id="304" creationId="{00000000-0000-0000-0000-000000000000}"/>
          </ac:cxnSpMkLst>
        </pc:cxnChg>
        <pc:cxnChg chg="mod">
          <ac:chgData name="Chu Lin" userId="a9d5f5a05d2946b6" providerId="LiveId" clId="{D0B525D6-471A-4AEC-9E0A-4D9E31AAD555}" dt="2026-07-03T19:23:03.372" v="416" actId="1076"/>
          <ac:cxnSpMkLst>
            <pc:docMk/>
            <pc:sldMk cId="0" sldId="268"/>
            <ac:cxnSpMk id="305" creationId="{00000000-0000-0000-0000-000000000000}"/>
          </ac:cxnSpMkLst>
        </pc:cxnChg>
        <pc:cxnChg chg="mod">
          <ac:chgData name="Chu Lin" userId="a9d5f5a05d2946b6" providerId="LiveId" clId="{D0B525D6-471A-4AEC-9E0A-4D9E31AAD555}" dt="2026-07-03T19:23:03.372" v="416" actId="1076"/>
          <ac:cxnSpMkLst>
            <pc:docMk/>
            <pc:sldMk cId="0" sldId="268"/>
            <ac:cxnSpMk id="306" creationId="{00000000-0000-0000-0000-000000000000}"/>
          </ac:cxnSpMkLst>
        </pc:cxnChg>
        <pc:cxnChg chg="mod">
          <ac:chgData name="Chu Lin" userId="a9d5f5a05d2946b6" providerId="LiveId" clId="{D0B525D6-471A-4AEC-9E0A-4D9E31AAD555}" dt="2026-07-03T19:23:03.372" v="416" actId="1076"/>
          <ac:cxnSpMkLst>
            <pc:docMk/>
            <pc:sldMk cId="0" sldId="268"/>
            <ac:cxnSpMk id="308" creationId="{00000000-0000-0000-0000-000000000000}"/>
          </ac:cxnSpMkLst>
        </pc:cxnChg>
      </pc:sldChg>
      <pc:sldChg chg="modSp mod">
        <pc:chgData name="Chu Lin" userId="a9d5f5a05d2946b6" providerId="LiveId" clId="{D0B525D6-471A-4AEC-9E0A-4D9E31AAD555}" dt="2026-07-03T15:24:30.652" v="334" actId="20577"/>
        <pc:sldMkLst>
          <pc:docMk/>
          <pc:sldMk cId="0" sldId="270"/>
        </pc:sldMkLst>
        <pc:spChg chg="mod">
          <ac:chgData name="Chu Lin" userId="a9d5f5a05d2946b6" providerId="LiveId" clId="{D0B525D6-471A-4AEC-9E0A-4D9E31AAD555}" dt="2026-07-03T15:24:30.652" v="334" actId="20577"/>
          <ac:spMkLst>
            <pc:docMk/>
            <pc:sldMk cId="0" sldId="270"/>
            <ac:spMk id="151" creationId="{00000000-0000-0000-0000-000000000000}"/>
          </ac:spMkLst>
        </pc:spChg>
        <pc:picChg chg="mod">
          <ac:chgData name="Chu Lin" userId="a9d5f5a05d2946b6" providerId="LiveId" clId="{D0B525D6-471A-4AEC-9E0A-4D9E31AAD555}" dt="2026-07-02T18:00:00.557" v="93" actId="1076"/>
          <ac:picMkLst>
            <pc:docMk/>
            <pc:sldMk cId="0" sldId="270"/>
            <ac:picMk id="152" creationId="{00000000-0000-0000-0000-000000000000}"/>
          </ac:picMkLst>
        </pc:picChg>
      </pc:sldChg>
      <pc:sldChg chg="modSp mod">
        <pc:chgData name="Chu Lin" userId="a9d5f5a05d2946b6" providerId="LiveId" clId="{D0B525D6-471A-4AEC-9E0A-4D9E31AAD555}" dt="2026-07-03T19:20:40.726" v="387" actId="20577"/>
        <pc:sldMkLst>
          <pc:docMk/>
          <pc:sldMk cId="0" sldId="272"/>
        </pc:sldMkLst>
        <pc:spChg chg="mod">
          <ac:chgData name="Chu Lin" userId="a9d5f5a05d2946b6" providerId="LiveId" clId="{D0B525D6-471A-4AEC-9E0A-4D9E31AAD555}" dt="2026-07-03T19:20:40.726" v="387" actId="20577"/>
          <ac:spMkLst>
            <pc:docMk/>
            <pc:sldMk cId="0" sldId="272"/>
            <ac:spMk id="325" creationId="{00000000-0000-0000-0000-000000000000}"/>
          </ac:spMkLst>
        </pc:spChg>
      </pc:sldChg>
      <pc:sldChg chg="addSp delSp modSp new mod ord modClrScheme chgLayout">
        <pc:chgData name="Chu Lin" userId="a9d5f5a05d2946b6" providerId="LiveId" clId="{D0B525D6-471A-4AEC-9E0A-4D9E31AAD555}" dt="2026-07-03T14:39:28.838" v="333" actId="20577"/>
        <pc:sldMkLst>
          <pc:docMk/>
          <pc:sldMk cId="1906188884" sldId="273"/>
        </pc:sldMkLst>
        <pc:spChg chg="mod">
          <ac:chgData name="Chu Lin" userId="a9d5f5a05d2946b6" providerId="LiveId" clId="{D0B525D6-471A-4AEC-9E0A-4D9E31AAD555}" dt="2026-07-02T16:37:25.091" v="40" actId="26606"/>
          <ac:spMkLst>
            <pc:docMk/>
            <pc:sldMk cId="1906188884" sldId="273"/>
            <ac:spMk id="2" creationId="{817B3A03-71E4-5F12-D102-F45C934B9088}"/>
          </ac:spMkLst>
        </pc:spChg>
        <pc:spChg chg="del">
          <ac:chgData name="Chu Lin" userId="a9d5f5a05d2946b6" providerId="LiveId" clId="{D0B525D6-471A-4AEC-9E0A-4D9E31AAD555}" dt="2026-07-02T16:36:21.157" v="20" actId="478"/>
          <ac:spMkLst>
            <pc:docMk/>
            <pc:sldMk cId="1906188884" sldId="273"/>
            <ac:spMk id="3" creationId="{9A36E76F-A621-EDD6-85AD-1609425C8E02}"/>
          </ac:spMkLst>
        </pc:spChg>
        <pc:spChg chg="add mod">
          <ac:chgData name="Chu Lin" userId="a9d5f5a05d2946b6" providerId="LiveId" clId="{D0B525D6-471A-4AEC-9E0A-4D9E31AAD555}" dt="2026-07-03T14:39:17.158" v="322" actId="20577"/>
          <ac:spMkLst>
            <pc:docMk/>
            <pc:sldMk cId="1906188884" sldId="273"/>
            <ac:spMk id="3" creationId="{9CB25BC6-2086-B6D0-C729-409ED5B26045}"/>
          </ac:spMkLst>
        </pc:spChg>
        <pc:spChg chg="add mod">
          <ac:chgData name="Chu Lin" userId="a9d5f5a05d2946b6" providerId="LiveId" clId="{D0B525D6-471A-4AEC-9E0A-4D9E31AAD555}" dt="2026-07-03T14:39:28.838" v="333" actId="20577"/>
          <ac:spMkLst>
            <pc:docMk/>
            <pc:sldMk cId="1906188884" sldId="273"/>
            <ac:spMk id="8" creationId="{E638FCC1-5F9E-DAA2-7611-F8B4FC5CAD39}"/>
          </ac:spMkLst>
        </pc:spChg>
        <pc:picChg chg="add mod">
          <ac:chgData name="Chu Lin" userId="a9d5f5a05d2946b6" providerId="LiveId" clId="{D0B525D6-471A-4AEC-9E0A-4D9E31AAD555}" dt="2026-07-02T16:50:25.772" v="92" actId="1076"/>
          <ac:picMkLst>
            <pc:docMk/>
            <pc:sldMk cId="1906188884" sldId="273"/>
            <ac:picMk id="5" creationId="{02B5030E-55DF-55D7-EF39-3DA4D41CAA50}"/>
          </ac:picMkLst>
        </pc:picChg>
        <pc:picChg chg="add mod">
          <ac:chgData name="Chu Lin" userId="a9d5f5a05d2946b6" providerId="LiveId" clId="{D0B525D6-471A-4AEC-9E0A-4D9E31AAD555}" dt="2026-07-02T16:50:23.842" v="91" actId="1076"/>
          <ac:picMkLst>
            <pc:docMk/>
            <pc:sldMk cId="1906188884" sldId="273"/>
            <ac:picMk id="7" creationId="{DC1FA86F-BE53-EDB1-FCB7-2A6BEB2FB573}"/>
          </ac:picMkLst>
        </pc:picChg>
        <pc:picChg chg="add mod">
          <ac:chgData name="Chu Lin" userId="a9d5f5a05d2946b6" providerId="LiveId" clId="{D0B525D6-471A-4AEC-9E0A-4D9E31AAD555}" dt="2026-07-02T16:50:23.842" v="91" actId="1076"/>
          <ac:picMkLst>
            <pc:docMk/>
            <pc:sldMk cId="1906188884" sldId="273"/>
            <ac:picMk id="10" creationId="{11EEEEB5-5FF9-8158-88B5-4E9059324B9F}"/>
          </ac:picMkLst>
        </pc:picChg>
      </pc:sldChg>
      <pc:sldChg chg="modSp new mod">
        <pc:chgData name="Chu Lin" userId="a9d5f5a05d2946b6" providerId="LiveId" clId="{D0B525D6-471A-4AEC-9E0A-4D9E31AAD555}" dt="2026-07-03T15:30:06.066" v="345" actId="20577"/>
        <pc:sldMkLst>
          <pc:docMk/>
          <pc:sldMk cId="2572824308" sldId="274"/>
        </pc:sldMkLst>
        <pc:spChg chg="mod">
          <ac:chgData name="Chu Lin" userId="a9d5f5a05d2946b6" providerId="LiveId" clId="{D0B525D6-471A-4AEC-9E0A-4D9E31AAD555}" dt="2026-07-03T15:30:06.066" v="345" actId="20577"/>
          <ac:spMkLst>
            <pc:docMk/>
            <pc:sldMk cId="2572824308" sldId="274"/>
            <ac:spMk id="2" creationId="{DB18E45D-0354-E858-28F1-8B65350E81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fdca0675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fdca0675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fdca067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fdca067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fdf027e0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fdf027e0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fdca0675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fdca0675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Causal AI in world model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Explainability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the current world, we design the models and we can get outputs from them. However, we don’t really know what is happening inside the model — we call it a black-box model.</a:t>
            </a:r>
            <a:endParaRPr/>
          </a:p>
        </p:txBody>
      </p:sp>
      <p:pic>
        <p:nvPicPr>
          <p:cNvPr id="62" name="Google Shape;62;p14" title="43055_2024_1356_Fig1_HT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75" y="2667075"/>
            <a:ext cx="8579050" cy="18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challenges in AI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are still facing many issues, for example: Scaling.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Scaling does not transfer well to the real world: say we solve a problem with the current model, but if we change it to a similar problem, we have to do migration or further scaling work. This is not enough for our messy world.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i="1" dirty="0"/>
              <a:t>“Just scaling is not enough… We need new ideas for the next jump”– Ilya Sutskever</a:t>
            </a:r>
            <a:endParaRPr sz="1600" b="1" i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i="1" dirty="0"/>
              <a:t>“Scaling alone will not get us to systems that understand the world” – Yann LeCun</a:t>
            </a:r>
            <a:endParaRPr sz="1600" b="1" i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 b="1" dirty="0"/>
              <a:t>Here comes an idea: Causal understanding in the world</a:t>
            </a:r>
            <a:endParaRPr sz="19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challenges in AI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real world, these are the challenges in AI that we are still trying to fix: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Lack of explainability capabilities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Unfair and unethical decision-making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Inefficiency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Poor generalizability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Lack of controllability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core of these challenges can be seen as the absence of a robust causal understanding. There are barely any papers trying to optimize or move towards understanding the world in a causal way.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Can we use causal language to model an environment relationship?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1244-5F60-5D58-E28E-90768069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Causal Inference</a:t>
            </a:r>
          </a:p>
        </p:txBody>
      </p:sp>
      <p:pic>
        <p:nvPicPr>
          <p:cNvPr id="1026" name="Picture 2" descr="Judea Pearl 的因果之梯, AI generated">
            <a:extLst>
              <a:ext uri="{FF2B5EF4-FFF2-40B4-BE49-F238E27FC236}">
                <a16:creationId xmlns:a16="http://schemas.microsoft.com/office/drawing/2014/main" id="{B8F09C96-DA0F-7A28-8CAF-522C982F9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77" y="1111510"/>
            <a:ext cx="7552246" cy="3448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64982D-16FD-54B8-C40B-D0B6B3D07459}"/>
              </a:ext>
            </a:extLst>
          </p:cNvPr>
          <p:cNvSpPr txBox="1"/>
          <p:nvPr/>
        </p:nvSpPr>
        <p:spPr>
          <a:xfrm>
            <a:off x="2508738" y="4544586"/>
            <a:ext cx="4126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PCH(Pearl Causal Hierarchy)</a:t>
            </a:r>
          </a:p>
        </p:txBody>
      </p:sp>
    </p:spTree>
    <p:extLst>
      <p:ext uri="{BB962C8B-B14F-4D97-AF65-F5344CB8AC3E}">
        <p14:creationId xmlns:p14="http://schemas.microsoft.com/office/powerpoint/2010/main" val="127989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Causal Language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Google Shape;80;p1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152474"/>
                <a:ext cx="8520600" cy="382983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fontScale="92500" lnSpcReduction="20000"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What is causal language?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	In machine learning, the famous algorithm is used: Bayesian theorem.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/>
                  <a:t>	Causal language focuses on causality instead. It asks: if I force X to happen (an intervention), will Y change as well?</a:t>
                </a:r>
              </a:p>
              <a:p>
                <a:pPr marL="0" lvl="0" indent="0" algn="l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`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`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dirty="0"/>
                  <a:t>Causality is asymmetric: if X causes Y, then changing Y does not affect X, but changing X will change Y.</a:t>
                </a:r>
              </a:p>
            </p:txBody>
          </p:sp>
        </mc:Choice>
        <mc:Fallback xmlns="">
          <p:sp>
            <p:nvSpPr>
              <p:cNvPr id="80" name="Google Shape;80;p1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4"/>
                <a:ext cx="8520600" cy="3829834"/>
              </a:xfrm>
              <a:prstGeom prst="rect">
                <a:avLst/>
              </a:prstGeom>
              <a:blipFill>
                <a:blip r:embed="rId3"/>
                <a:stretch>
                  <a:fillRect l="-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6F574-021B-E060-05FB-A2FFC0815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What is the challenge in moving from seeing to doing?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DD4E8-73C0-8ACB-EF6B-9220AA75D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the data collected from observations to answer questions about the interventions (policies, treatments…)?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B32F79-CC44-35F2-8BE9-4605AA9F1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758" y="1900191"/>
            <a:ext cx="6492483" cy="324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4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81DC3-C9B4-3501-6F36-C3E6E0F58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/>
              <a:t>Causal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F23AD-D3A5-FFBD-4A9F-7490DF1D2D3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224"/>
            <a:ext cx="8520600" cy="3935275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The Goal: Develop more general AI systems endowed with the following capabilities:</a:t>
            </a:r>
          </a:p>
          <a:p>
            <a:pPr lvl="1">
              <a:spcAft>
                <a:spcPts val="600"/>
              </a:spcAft>
              <a:buClr>
                <a:srgbClr val="000000"/>
              </a:buClr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Causal and </a:t>
            </a:r>
            <a:r>
              <a:rPr lang="en-US" altLang="zh-CN" sz="1800" b="0" i="0" u="none" strike="noStrike" cap="none" dirty="0">
                <a:solidFill>
                  <a:schemeClr val="dk1"/>
                </a:solidFill>
              </a:rPr>
              <a:t>Counterfactual Generation</a:t>
            </a:r>
          </a:p>
          <a:p>
            <a:pPr lvl="1">
              <a:spcAft>
                <a:spcPts val="600"/>
              </a:spcAft>
              <a:buClr>
                <a:srgbClr val="000000"/>
              </a:buClr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Causal Understanding and Explanations</a:t>
            </a:r>
          </a:p>
          <a:p>
            <a:pPr lvl="1">
              <a:spcAft>
                <a:spcPts val="600"/>
              </a:spcAft>
              <a:buClr>
                <a:srgbClr val="000000"/>
              </a:buClr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Efficient and precise decision-making</a:t>
            </a:r>
          </a:p>
          <a:p>
            <a:pPr lvl="1">
              <a:spcAft>
                <a:spcPts val="600"/>
              </a:spcAft>
              <a:buClr>
                <a:srgbClr val="000000"/>
              </a:buClr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Generalizable and Robust Inferences</a:t>
            </a:r>
          </a:p>
          <a:p>
            <a:pPr lvl="1">
              <a:spcAft>
                <a:spcPts val="600"/>
              </a:spcAft>
              <a:buClr>
                <a:srgbClr val="000000"/>
              </a:buClr>
            </a:pPr>
            <a:r>
              <a:rPr lang="en-US" sz="1800" b="0" i="0" u="none" strike="noStrike" cap="none" dirty="0">
                <a:solidFill>
                  <a:schemeClr val="dk1"/>
                </a:solidFill>
              </a:rPr>
              <a:t>Model Learning and Discovery</a:t>
            </a:r>
          </a:p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The key is how to deploy these methods when you only know there is unobserved bias but nothing about its nature and yet still improve convergence and resilience</a:t>
            </a: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70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"/>
          <p:cNvSpPr txBox="1">
            <a:spLocks noGrp="1"/>
          </p:cNvSpPr>
          <p:nvPr>
            <p:ph type="title"/>
          </p:nvPr>
        </p:nvSpPr>
        <p:spPr>
          <a:xfrm>
            <a:off x="311700" y="260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Stuck on the first rung of the ladder</a:t>
            </a:r>
            <a:endParaRPr/>
          </a:p>
        </p:txBody>
      </p:sp>
      <p:sp>
        <p:nvSpPr>
          <p:cNvPr id="100" name="shape"/>
          <p:cNvSpPr/>
          <p:nvPr/>
        </p:nvSpPr>
        <p:spPr>
          <a:xfrm>
            <a:off x="420000" y="3650000"/>
            <a:ext cx="2350000" cy="760000"/>
          </a:xfrm>
          <a:prstGeom prst="roundRect">
            <a:avLst/>
          </a:prstGeom>
          <a:solidFill>
            <a:srgbClr val="E06666"/>
          </a:solidFill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300" b="1">
                <a:solidFill>
                  <a:srgbClr val="000000"/>
                </a:solidFill>
              </a:rPr>
              <a:t>L1  SEEING</a:t>
            </a:r>
          </a:p>
          <a:p>
            <a:pPr algn="ctr">
              <a:buNone/>
            </a:pPr>
            <a:r>
              <a:rPr lang="en" sz="1300" b="1">
                <a:solidFill>
                  <a:srgbClr val="000000"/>
                </a:solidFill>
              </a:rPr>
              <a:t>P(V)</a:t>
            </a:r>
          </a:p>
        </p:txBody>
      </p:sp>
      <p:sp>
        <p:nvSpPr>
          <p:cNvPr id="101" name="shape"/>
          <p:cNvSpPr/>
          <p:nvPr/>
        </p:nvSpPr>
        <p:spPr>
          <a:xfrm>
            <a:off x="446231" y="2270000"/>
            <a:ext cx="2350000" cy="760000"/>
          </a:xfrm>
          <a:prstGeom prst="roundRect">
            <a:avLst/>
          </a:prstGeom>
          <a:solidFill>
            <a:srgbClr val="F6B26B"/>
          </a:solidFill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300" b="1">
                <a:solidFill>
                  <a:srgbClr val="000000"/>
                </a:solidFill>
              </a:rPr>
              <a:t>L2  DOING</a:t>
            </a:r>
          </a:p>
          <a:p>
            <a:pPr algn="ctr">
              <a:buNone/>
            </a:pPr>
            <a:r>
              <a:rPr lang="en" sz="1300" b="1">
                <a:solidFill>
                  <a:srgbClr val="000000"/>
                </a:solidFill>
              </a:rPr>
              <a:t>P(V | do(x))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shape"/>
              <p:cNvSpPr/>
              <p:nvPr/>
            </p:nvSpPr>
            <p:spPr>
              <a:xfrm>
                <a:off x="2891984" y="1101350"/>
                <a:ext cx="2350000" cy="760000"/>
              </a:xfrm>
              <a:prstGeom prst="roundRect">
                <a:avLst/>
              </a:prstGeom>
              <a:solidFill>
                <a:srgbClr val="93C47D"/>
              </a:solidFill>
            </p:spPr>
            <p:txBody>
              <a:bodyPr wrap="square" lIns="27400" tIns="18300" rIns="27400" bIns="18300" anchor="ctr">
                <a:normAutofit/>
              </a:bodyPr>
              <a:lstStyle/>
              <a:p>
                <a:pPr algn="ctr">
                  <a:buNone/>
                </a:pPr>
                <a:r>
                  <a:rPr lang="en" sz="1300" b="1" dirty="0">
                    <a:solidFill>
                      <a:srgbClr val="1A1A1A"/>
                    </a:solidFill>
                  </a:rPr>
                  <a:t>L3  IMAGINING</a:t>
                </a:r>
              </a:p>
              <a:p>
                <a:pPr algn="ctr">
                  <a:buNone/>
                </a:pPr>
                <a:r>
                  <a:rPr lang="en" sz="1300" b="1" dirty="0">
                    <a:solidFill>
                      <a:srgbClr val="1A1A1A"/>
                    </a:solidFill>
                  </a:rPr>
                  <a:t>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1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1" i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b>
                        <m:r>
                          <a:rPr lang="en-US" sz="1300" b="1" i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  <m:r>
                      <a:rPr lang="en-US" sz="1300" b="1" i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sSup>
                      <m:sSupPr>
                        <m:ctrlPr>
                          <a:rPr lang="en-US" sz="1300" b="1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00" b="1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1300" b="1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`</m:t>
                        </m:r>
                      </m:sup>
                    </m:sSup>
                  </m:oMath>
                </a14:m>
                <a:r>
                  <a:rPr lang="en" sz="1300" b="1" dirty="0">
                    <a:solidFill>
                      <a:srgbClr val="1A1A1A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02" name="shap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984" y="1101350"/>
                <a:ext cx="2350000" cy="7600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shape"/>
          <p:cNvSpPr/>
          <p:nvPr/>
        </p:nvSpPr>
        <p:spPr>
          <a:xfrm>
            <a:off x="420000" y="4530000"/>
            <a:ext cx="2350000" cy="430000"/>
          </a:xfrm>
          <a:prstGeom prst="rect">
            <a:avLst/>
          </a:prstGeom>
          <a:noFill/>
          <a:ln w="19050">
            <a:solidFill>
              <a:srgbClr val="76A5DC"/>
            </a:solidFill>
            <a:prstDash val="dash"/>
          </a:ln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000000"/>
                </a:solidFill>
              </a:rPr>
              <a:t>LLM · Sora · Diffusion · JEPA</a:t>
            </a:r>
          </a:p>
        </p:txBody>
      </p:sp>
      <p:cxnSp>
        <p:nvCxnSpPr>
          <p:cNvPr id="104" name="arrow"/>
          <p:cNvCxnSpPr/>
          <p:nvPr/>
        </p:nvCxnSpPr>
        <p:spPr>
          <a:xfrm flipV="1">
            <a:off x="1600000" y="4420000"/>
            <a:ext cx="0" cy="110000"/>
          </a:xfrm>
          <a:prstGeom prst="straightConnector1">
            <a:avLst/>
          </a:prstGeom>
          <a:ln w="25400">
            <a:solidFill>
              <a:srgbClr val="76A5DC"/>
            </a:solidFill>
            <a:tailEnd type="triangle" w="med" len="med"/>
          </a:ln>
        </p:spPr>
      </p:cxnSp>
      <p:cxnSp>
        <p:nvCxnSpPr>
          <p:cNvPr id="105" name="arrow"/>
          <p:cNvCxnSpPr>
            <a:cxnSpLocks/>
          </p:cNvCxnSpPr>
          <p:nvPr/>
        </p:nvCxnSpPr>
        <p:spPr>
          <a:xfrm flipV="1">
            <a:off x="1562461" y="3140000"/>
            <a:ext cx="0" cy="46500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6" name="tb"/>
          <p:cNvSpPr txBox="1"/>
          <p:nvPr/>
        </p:nvSpPr>
        <p:spPr>
          <a:xfrm>
            <a:off x="1670877" y="3255000"/>
            <a:ext cx="700000" cy="35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2000" b="1" dirty="0">
                <a:solidFill>
                  <a:srgbClr val="000000"/>
                </a:solidFill>
              </a:rPr>
              <a:t>?</a:t>
            </a:r>
          </a:p>
        </p:txBody>
      </p:sp>
      <p:sp>
        <p:nvSpPr>
          <p:cNvPr id="107" name="tb"/>
          <p:cNvSpPr txBox="1"/>
          <p:nvPr/>
        </p:nvSpPr>
        <p:spPr>
          <a:xfrm>
            <a:off x="5650000" y="1450000"/>
            <a:ext cx="3200000" cy="340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285750" lvl="0" indent="-190500" algn="l" rtl="0">
              <a:spcBef>
                <a:spcPts val="0"/>
              </a:spcBef>
              <a:buChar char="•"/>
            </a:pPr>
            <a:r>
              <a:rPr lang="en" sz="1300" b="1" dirty="0">
                <a:solidFill>
                  <a:srgbClr val="000000"/>
                </a:solidFill>
              </a:rPr>
              <a:t>observational data</a:t>
            </a:r>
            <a:r>
              <a:rPr lang="en" sz="1300" dirty="0">
                <a:solidFill>
                  <a:srgbClr val="000000"/>
                </a:solidFill>
              </a:rPr>
              <a:t> — they live on level 1.</a:t>
            </a:r>
          </a:p>
          <a:p>
            <a:pPr marL="285750" lvl="0" indent="-190500" algn="l" rtl="0">
              <a:spcBef>
                <a:spcPts val="800"/>
              </a:spcBef>
              <a:buChar char="•"/>
            </a:pPr>
            <a:r>
              <a:rPr lang="en" sz="1300" b="1" dirty="0">
                <a:solidFill>
                  <a:srgbClr val="000000"/>
                </a:solidFill>
              </a:rPr>
              <a:t>“what if I DO x?”</a:t>
            </a:r>
            <a:r>
              <a:rPr lang="en" sz="1300" dirty="0">
                <a:solidFill>
                  <a:srgbClr val="000000"/>
                </a:solidFill>
              </a:rPr>
              <a:t> by design.</a:t>
            </a:r>
          </a:p>
          <a:p>
            <a:pPr marL="285750" lvl="0" indent="-190500" algn="l" rtl="0">
              <a:spcBef>
                <a:spcPts val="800"/>
              </a:spcBef>
              <a:buChar char="•"/>
            </a:pPr>
            <a:endParaRPr lang="en" sz="1300" dirty="0">
              <a:solidFill>
                <a:schemeClr val="tx1"/>
              </a:solidFill>
            </a:endParaRPr>
          </a:p>
          <a:p>
            <a:pPr marL="95250" lvl="0" algn="l" rtl="0">
              <a:spcBef>
                <a:spcPts val="800"/>
              </a:spcBef>
            </a:pPr>
            <a:endParaRPr lang="en" sz="13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400"/>
              </a:spcBef>
              <a:buNone/>
            </a:pPr>
            <a:r>
              <a:rPr lang="en" sz="1400" b="1" dirty="0">
                <a:solidFill>
                  <a:srgbClr val="000000"/>
                </a:solidFill>
              </a:rPr>
              <a:t>Better prediction ≠ causal understanding.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3A03-71E4-5F12-D102-F45C934B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5030E-55DF-55D7-EF39-3DA4D41CA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59" y="1959404"/>
            <a:ext cx="3451611" cy="1878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1FA86F-BE53-EDB1-FCB7-2A6BEB2FB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1149"/>
            <a:ext cx="2797283" cy="1786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38FCC1-5F9E-DAA2-7611-F8B4FC5CAD39}"/>
              </a:ext>
            </a:extLst>
          </p:cNvPr>
          <p:cNvSpPr txBox="1"/>
          <p:nvPr/>
        </p:nvSpPr>
        <p:spPr>
          <a:xfrm>
            <a:off x="1398641" y="3956407"/>
            <a:ext cx="67935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L1			L2			         L3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EEEEB5-5FF9-8158-88B5-4E9059324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246" y="1959404"/>
            <a:ext cx="2649984" cy="18781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B25BC6-2086-B6D0-C729-409ED5B26045}"/>
              </a:ext>
            </a:extLst>
          </p:cNvPr>
          <p:cNvSpPr txBox="1"/>
          <p:nvPr/>
        </p:nvSpPr>
        <p:spPr>
          <a:xfrm>
            <a:off x="621792" y="1316736"/>
            <a:ext cx="3950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MNIST Dataset:</a:t>
            </a:r>
          </a:p>
        </p:txBody>
      </p:sp>
    </p:spTree>
    <p:extLst>
      <p:ext uri="{BB962C8B-B14F-4D97-AF65-F5344CB8AC3E}">
        <p14:creationId xmlns:p14="http://schemas.microsoft.com/office/powerpoint/2010/main" val="190618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"/>
          <p:cNvSpPr txBox="1">
            <a:spLocks noGrp="1"/>
          </p:cNvSpPr>
          <p:nvPr>
            <p:ph type="title"/>
          </p:nvPr>
        </p:nvSpPr>
        <p:spPr>
          <a:xfrm>
            <a:off x="311700" y="260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What breaks without causality</a:t>
            </a:r>
            <a:endParaRPr/>
          </a:p>
        </p:txBody>
      </p:sp>
      <p:pic>
        <p:nvPicPr>
          <p:cNvPr id="130" name="img"/>
          <p:cNvPicPr/>
          <p:nvPr/>
        </p:nvPicPr>
        <p:blipFill>
          <a:blip r:embed="rId2"/>
          <a:stretch>
            <a:fillRect/>
          </a:stretch>
        </p:blipFill>
        <p:spPr>
          <a:xfrm>
            <a:off x="1155762" y="1038250"/>
            <a:ext cx="6200000" cy="3067000"/>
          </a:xfrm>
          <a:prstGeom prst="rect">
            <a:avLst/>
          </a:prstGeom>
        </p:spPr>
      </p:pic>
      <p:sp>
        <p:nvSpPr>
          <p:cNvPr id="132" name="tb"/>
          <p:cNvSpPr txBox="1"/>
          <p:nvPr/>
        </p:nvSpPr>
        <p:spPr>
          <a:xfrm>
            <a:off x="311700" y="4270000"/>
            <a:ext cx="8520600" cy="70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400" dirty="0">
                <a:solidFill>
                  <a:srgbClr val="000000"/>
                </a:solidFill>
              </a:rPr>
              <a:t>This is the problem in one picture: </a:t>
            </a:r>
            <a:r>
              <a:rPr lang="en" sz="1400" b="1" dirty="0">
                <a:solidFill>
                  <a:srgbClr val="000000"/>
                </a:solidFill>
              </a:rPr>
              <a:t>generation that looks right</a:t>
            </a:r>
            <a:r>
              <a:rPr lang="en" sz="1400" dirty="0">
                <a:solidFill>
                  <a:srgbClr val="000000"/>
                </a:solidFill>
              </a:rPr>
              <a:t>  vs  </a:t>
            </a:r>
            <a:r>
              <a:rPr lang="en" sz="1400" b="1" dirty="0">
                <a:solidFill>
                  <a:srgbClr val="000000"/>
                </a:solidFill>
              </a:rPr>
              <a:t>generation that IS right under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itle"/>
          <p:cNvSpPr txBox="1">
            <a:spLocks noGrp="1"/>
          </p:cNvSpPr>
          <p:nvPr>
            <p:ph type="title"/>
          </p:nvPr>
        </p:nvSpPr>
        <p:spPr>
          <a:xfrm>
            <a:off x="311700" y="260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 story: the doctor who never retrains</a:t>
            </a:r>
            <a:endParaRPr/>
          </a:p>
        </p:txBody>
      </p:sp>
      <p:sp>
        <p:nvSpPr>
          <p:cNvPr id="300" name="shape"/>
          <p:cNvSpPr/>
          <p:nvPr/>
        </p:nvSpPr>
        <p:spPr>
          <a:xfrm>
            <a:off x="342300" y="884240"/>
            <a:ext cx="2300000" cy="560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chemeClr val="tx1"/>
                </a:solidFill>
              </a:rPr>
              <a:t>Ward 1: patients</a:t>
            </a:r>
          </a:p>
          <a:p>
            <a:pPr algn="ctr">
              <a:buNone/>
            </a:pPr>
            <a:r>
              <a:rPr lang="en" sz="1100" b="1">
                <a:solidFill>
                  <a:schemeClr val="tx1"/>
                </a:solidFill>
              </a:rPr>
              <a:t>pre-medicated</a:t>
            </a:r>
          </a:p>
        </p:txBody>
      </p:sp>
      <p:sp>
        <p:nvSpPr>
          <p:cNvPr id="301" name="shape"/>
          <p:cNvSpPr/>
          <p:nvPr/>
        </p:nvSpPr>
        <p:spPr>
          <a:xfrm>
            <a:off x="342300" y="1584240"/>
            <a:ext cx="2300000" cy="560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chemeClr val="tx1"/>
                </a:solidFill>
              </a:rPr>
              <a:t>Ward 2: disease</a:t>
            </a:r>
          </a:p>
          <a:p>
            <a:pPr algn="ctr">
              <a:buNone/>
            </a:pPr>
            <a:r>
              <a:rPr lang="en" sz="1100" b="1">
                <a:solidFill>
                  <a:schemeClr val="tx1"/>
                </a:solidFill>
              </a:rPr>
              <a:t>rates doubled</a:t>
            </a:r>
          </a:p>
        </p:txBody>
      </p:sp>
      <p:sp>
        <p:nvSpPr>
          <p:cNvPr id="302" name="shape"/>
          <p:cNvSpPr/>
          <p:nvPr/>
        </p:nvSpPr>
        <p:spPr>
          <a:xfrm>
            <a:off x="342300" y="2284240"/>
            <a:ext cx="2300000" cy="560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chemeClr val="tx1"/>
                </a:solidFill>
              </a:rPr>
              <a:t>Ward 3: a new</a:t>
            </a:r>
          </a:p>
          <a:p>
            <a:pPr algn="ctr">
              <a:buNone/>
            </a:pPr>
            <a:r>
              <a:rPr lang="en" sz="1100" b="1">
                <a:solidFill>
                  <a:schemeClr val="tx1"/>
                </a:solidFill>
              </a:rPr>
              <a:t>side-effect appears</a:t>
            </a:r>
          </a:p>
        </p:txBody>
      </p:sp>
      <p:sp>
        <p:nvSpPr>
          <p:cNvPr id="303" name="shape"/>
          <p:cNvSpPr/>
          <p:nvPr/>
        </p:nvSpPr>
        <p:spPr>
          <a:xfrm>
            <a:off x="3354300" y="1434240"/>
            <a:ext cx="2400000" cy="950000"/>
          </a:xfrm>
          <a:prstGeom prst="roundRect">
            <a:avLst/>
          </a:prstGeom>
          <a:solidFill>
            <a:srgbClr val="6FA8DC"/>
          </a:solidFill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 dirty="0">
                <a:solidFill>
                  <a:srgbClr val="FFFFFF"/>
                </a:solidFill>
              </a:rPr>
              <a:t>The doctor</a:t>
            </a:r>
          </a:p>
          <a:p>
            <a:pPr algn="ctr">
              <a:buNone/>
            </a:pPr>
            <a:r>
              <a:rPr lang="en" sz="1100" b="1" dirty="0">
                <a:solidFill>
                  <a:srgbClr val="FFFFFF"/>
                </a:solidFill>
              </a:rPr>
              <a:t>good calls on day one,</a:t>
            </a:r>
          </a:p>
          <a:p>
            <a:pPr algn="ctr">
              <a:buNone/>
            </a:pPr>
            <a:r>
              <a:rPr lang="en" sz="1100" b="1" dirty="0">
                <a:solidFill>
                  <a:srgbClr val="FFFFFF"/>
                </a:solidFill>
              </a:rPr>
              <a:t>in every ward,</a:t>
            </a:r>
          </a:p>
          <a:p>
            <a:pPr algn="ctr">
              <a:buNone/>
            </a:pPr>
            <a:r>
              <a:rPr lang="en" sz="1100" b="1" dirty="0">
                <a:solidFill>
                  <a:srgbClr val="FFFFFF"/>
                </a:solidFill>
              </a:rPr>
              <a:t>never retrained</a:t>
            </a:r>
          </a:p>
        </p:txBody>
      </p:sp>
      <p:cxnSp>
        <p:nvCxnSpPr>
          <p:cNvPr id="304" name="arrow"/>
          <p:cNvCxnSpPr/>
          <p:nvPr/>
        </p:nvCxnSpPr>
        <p:spPr>
          <a:xfrm>
            <a:off x="2642300" y="1164240"/>
            <a:ext cx="640000" cy="570000"/>
          </a:xfrm>
          <a:prstGeom prst="straightConnector1">
            <a:avLst/>
          </a:prstGeom>
          <a:ln w="31750">
            <a:solidFill>
              <a:srgbClr val="262626"/>
            </a:solidFill>
            <a:tailEnd type="triangle" w="med" len="med"/>
          </a:ln>
        </p:spPr>
      </p:cxnSp>
      <p:cxnSp>
        <p:nvCxnSpPr>
          <p:cNvPr id="305" name="arrow"/>
          <p:cNvCxnSpPr/>
          <p:nvPr/>
        </p:nvCxnSpPr>
        <p:spPr>
          <a:xfrm>
            <a:off x="2642300" y="1864240"/>
            <a:ext cx="640000" cy="50000"/>
          </a:xfrm>
          <a:prstGeom prst="straightConnector1">
            <a:avLst/>
          </a:prstGeom>
          <a:ln w="31750">
            <a:solidFill>
              <a:srgbClr val="262626"/>
            </a:solidFill>
            <a:tailEnd type="triangle" w="med" len="med"/>
          </a:ln>
        </p:spPr>
      </p:cxnSp>
      <p:cxnSp>
        <p:nvCxnSpPr>
          <p:cNvPr id="306" name="arrow"/>
          <p:cNvCxnSpPr/>
          <p:nvPr/>
        </p:nvCxnSpPr>
        <p:spPr>
          <a:xfrm flipV="1">
            <a:off x="2642300" y="2084240"/>
            <a:ext cx="640000" cy="480000"/>
          </a:xfrm>
          <a:prstGeom prst="straightConnector1">
            <a:avLst/>
          </a:prstGeom>
          <a:ln w="31750">
            <a:solidFill>
              <a:srgbClr val="262626"/>
            </a:solidFill>
            <a:tailEnd type="triangle" w="med" len="med"/>
          </a:ln>
        </p:spPr>
      </p:cxnSp>
      <p:sp>
        <p:nvSpPr>
          <p:cNvPr id="307" name="shape"/>
          <p:cNvSpPr/>
          <p:nvPr/>
        </p:nvSpPr>
        <p:spPr>
          <a:xfrm>
            <a:off x="6582300" y="1434240"/>
            <a:ext cx="2250000" cy="950000"/>
          </a:xfrm>
          <a:prstGeom prst="roundRect">
            <a:avLst/>
          </a:prstGeom>
          <a:solidFill>
            <a:srgbClr val="93C47D"/>
          </a:solidFill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FFFFFF"/>
                </a:solidFill>
              </a:rPr>
              <a:t>then the causal model</a:t>
            </a:r>
          </a:p>
          <a:p>
            <a:pPr algn="ctr">
              <a:buNone/>
            </a:pPr>
            <a:r>
              <a:rPr lang="en" sz="1100" b="1">
                <a:solidFill>
                  <a:srgbClr val="FFFFFF"/>
                </a:solidFill>
              </a:rPr>
              <a:t>of medicine is already</a:t>
            </a:r>
          </a:p>
          <a:p>
            <a:pPr algn="ctr">
              <a:buNone/>
            </a:pPr>
            <a:r>
              <a:rPr lang="en" sz="1100" b="1">
                <a:solidFill>
                  <a:srgbClr val="FFFFFF"/>
                </a:solidFill>
              </a:rPr>
              <a:t>in her head — provably</a:t>
            </a:r>
          </a:p>
        </p:txBody>
      </p:sp>
      <p:cxnSp>
        <p:nvCxnSpPr>
          <p:cNvPr id="308" name="arrow"/>
          <p:cNvCxnSpPr/>
          <p:nvPr/>
        </p:nvCxnSpPr>
        <p:spPr>
          <a:xfrm>
            <a:off x="5782300" y="1909240"/>
            <a:ext cx="800000" cy="0"/>
          </a:xfrm>
          <a:prstGeom prst="straightConnector1">
            <a:avLst/>
          </a:prstGeom>
          <a:ln w="38100">
            <a:solidFill>
              <a:srgbClr val="262626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9" name="tb"/>
              <p:cNvSpPr txBox="1"/>
              <p:nvPr/>
            </p:nvSpPr>
            <p:spPr>
              <a:xfrm>
                <a:off x="311700" y="2859239"/>
                <a:ext cx="8520600" cy="2182151"/>
              </a:xfrm>
              <a:prstGeom prst="rect">
                <a:avLst/>
              </a:prstGeom>
              <a:noFill/>
            </p:spPr>
            <p:txBody>
              <a:bodyPr wrap="square" lIns="45700" tIns="45700" rIns="45700" bIns="45700" anchor="t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buNone/>
                </a:pPr>
                <a:r>
                  <a:rPr lang="en" sz="1300" b="1" dirty="0">
                    <a:solidFill>
                      <a:schemeClr val="tx1"/>
                    </a:solidFill>
                  </a:rPr>
                  <a:t>The story: </a:t>
                </a:r>
                <a:r>
                  <a:rPr lang="en" sz="1300" dirty="0">
                    <a:solidFill>
                      <a:schemeClr val="tx1"/>
                    </a:solidFill>
                  </a:rPr>
                  <a:t>every ward she enters, one thing about the world has been changed. Yet her decisions are near-best from day one (“near-best” is all that </a:t>
                </a:r>
                <a:r>
                  <a:rPr lang="en" sz="1300" b="1" dirty="0">
                    <a:solidFill>
                      <a:schemeClr val="tx1"/>
                    </a:solidFill>
                  </a:rPr>
                  <a:t>regret</a:t>
                </a:r>
                <a:r>
                  <a:rPr lang="en" sz="1300" dirty="0">
                    <a:solidFill>
                      <a:schemeClr val="tx1"/>
                    </a:solidFill>
                  </a:rPr>
                  <a:t> means).</a:t>
                </a:r>
              </a:p>
              <a:p>
                <a:pPr marL="0" lvl="0" indent="0" algn="l" rtl="0">
                  <a:spcBef>
                    <a:spcPts val="600"/>
                  </a:spcBef>
                  <a:buNone/>
                </a:pPr>
                <a:r>
                  <a:rPr lang="en" sz="1300" b="1" dirty="0">
                    <a:solidFill>
                      <a:schemeClr val="tx1"/>
                    </a:solidFill>
                  </a:rPr>
                  <a:t>The result: </a:t>
                </a:r>
                <a:r>
                  <a:rPr lang="en" sz="1300" dirty="0">
                    <a:solidFill>
                      <a:schemeClr val="tx1"/>
                    </a:solidFill>
                  </a:rPr>
                  <a:t>if that is true, you can reconstruct what-causes-what just by watching her decisions. The knowledge is not optional — it is the </a:t>
                </a:r>
                <a:r>
                  <a:rPr lang="en" sz="1300" dirty="0">
                    <a:solidFill>
                      <a:srgbClr val="262626"/>
                    </a:solidFill>
                  </a:rPr>
                  <a:t>only way to survive every change.</a:t>
                </a:r>
              </a:p>
              <a:p>
                <a:pPr marL="0" lvl="0" indent="0" algn="l" rtl="0">
                  <a:spcBef>
                    <a:spcPts val="600"/>
                  </a:spcBef>
                  <a:buNone/>
                </a:pPr>
                <a:r>
                  <a:rPr lang="en" sz="1300" b="1" dirty="0">
                    <a:solidFill>
                      <a:srgbClr val="262626"/>
                    </a:solidFill>
                  </a:rPr>
                  <a:t>The Equation</a:t>
                </a:r>
                <a:r>
                  <a:rPr lang="en" sz="1300" dirty="0">
                    <a:solidFill>
                      <a:srgbClr val="262626"/>
                    </a:solidFill>
                  </a:rPr>
                  <a:t>:</a:t>
                </a:r>
              </a:p>
              <a:p>
                <a:pPr lvl="0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𝑅𝑒𝑔𝑟𝑒𝑡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𝑜𝑣𝑒𝑟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′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𝑢𝑡𝑖𝑙𝑖𝑡𝑦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′),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 −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𝑢𝑡𝑖𝑙𝑖𝑡𝑦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" sz="1400" b="1" dirty="0">
                  <a:solidFill>
                    <a:srgbClr val="262626"/>
                  </a:solidFill>
                </a:endParaRPr>
              </a:p>
              <a:p>
                <a:pPr lvl="0">
                  <a:spcBef>
                    <a:spcPts val="800"/>
                  </a:spcBef>
                </a:pPr>
                <a:r>
                  <a:rPr lang="en-US" b="1" dirty="0">
                    <a:solidFill>
                      <a:srgbClr val="262626"/>
                    </a:solidFill>
                  </a:rPr>
                  <a:t>For </a:t>
                </a:r>
                <a:r>
                  <a:rPr lang="en-US" b="1" dirty="0" err="1">
                    <a:solidFill>
                      <a:srgbClr val="262626"/>
                    </a:solidFill>
                  </a:rPr>
                  <a:t>all</a:t>
                </a:r>
                <a:r>
                  <a:rPr lang="en-US" b="1" dirty="0">
                    <a:solidFill>
                      <a:srgbClr val="26262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smtClean="0">
                        <a:solidFill>
                          <a:srgbClr val="262626"/>
                        </a:solidFill>
                        <a:latin typeface="Cambria Math" panose="02040503050406030204" pitchFamily="18" charset="0"/>
                      </a:rPr>
                      <m:t> ∈∑</m:t>
                    </m:r>
                  </m:oMath>
                </a14:m>
                <a:r>
                  <a:rPr lang="en" sz="1400" b="1" dirty="0">
                    <a:solidFill>
                      <a:srgbClr val="262626"/>
                    </a:solidFill>
                  </a:rPr>
                  <a:t>:</a:t>
                </a:r>
              </a:p>
              <a:p>
                <a:pPr lvl="0">
                  <a:spcBef>
                    <a:spcPts val="8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𝑹𝒆𝒈𝒓𝒆𝒕</m:t>
                      </m:r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en-US" sz="1400" b="1" i="1" smtClean="0">
                          <a:solidFill>
                            <a:srgbClr val="26262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lang="en" sz="1400" b="1" dirty="0">
                  <a:solidFill>
                    <a:srgbClr val="262626"/>
                  </a:solidFill>
                </a:endParaRPr>
              </a:p>
            </p:txBody>
          </p:sp>
        </mc:Choice>
        <mc:Fallback xmlns="">
          <p:sp>
            <p:nvSpPr>
              <p:cNvPr id="309" name="tb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00" y="2859239"/>
                <a:ext cx="8520600" cy="2182151"/>
              </a:xfrm>
              <a:prstGeom prst="rect">
                <a:avLst/>
              </a:prstGeom>
              <a:blipFill>
                <a:blip r:embed="rId2"/>
                <a:stretch>
                  <a:fillRect l="-715" t="-279" r="-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"/>
          <p:cNvSpPr txBox="1">
            <a:spLocks noGrp="1"/>
          </p:cNvSpPr>
          <p:nvPr>
            <p:ph type="title"/>
          </p:nvPr>
        </p:nvSpPr>
        <p:spPr>
          <a:xfrm>
            <a:off x="311700" y="260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00000"/>
                </a:solidFill>
              </a:rPr>
              <a:t>What problem does a causal world model solve?</a:t>
            </a:r>
            <a:endParaRPr dirty="0"/>
          </a:p>
        </p:txBody>
      </p:sp>
      <p:sp>
        <p:nvSpPr>
          <p:cNvPr id="151" name="tb"/>
          <p:cNvSpPr txBox="1"/>
          <p:nvPr/>
        </p:nvSpPr>
        <p:spPr>
          <a:xfrm>
            <a:off x="311700" y="950000"/>
            <a:ext cx="5000000" cy="390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300" b="1" dirty="0">
                <a:solidFill>
                  <a:srgbClr val="000000"/>
                </a:solidFill>
              </a:rPr>
              <a:t>1. Planning that survives contact: </a:t>
            </a:r>
            <a:r>
              <a:rPr lang="en" sz="1200" dirty="0">
                <a:solidFill>
                  <a:srgbClr val="000000"/>
                </a:solidFill>
              </a:rPr>
              <a:t>answers P(V | do(action)) — the query every plan actually needs.</a:t>
            </a:r>
          </a:p>
          <a:p>
            <a:pPr marL="0" lvl="0" indent="0" algn="l" rtl="0">
              <a:spcBef>
                <a:spcPts val="0"/>
              </a:spcBef>
              <a:buNone/>
            </a:pPr>
            <a:endParaRPr lang="en" sz="1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buNone/>
            </a:pPr>
            <a:r>
              <a:rPr lang="en" sz="1300" b="1" dirty="0">
                <a:solidFill>
                  <a:srgbClr val="000000"/>
                </a:solidFill>
              </a:rPr>
              <a:t>2. OOD robustness by modularity: </a:t>
            </a:r>
            <a:r>
              <a:rPr lang="en" sz="1200" dirty="0">
                <a:solidFill>
                  <a:srgbClr val="000000"/>
                </a:solidFill>
              </a:rPr>
              <a:t>a domain shift changes one or two mechanisms — swap those modules, keep the rest. Correlation models must relearn everything.</a:t>
            </a:r>
          </a:p>
          <a:p>
            <a:pPr marL="0" lvl="0" indent="0" algn="l" rtl="0">
              <a:spcBef>
                <a:spcPts val="1000"/>
              </a:spcBef>
              <a:buNone/>
            </a:pPr>
            <a:endParaRPr lang="en" sz="12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buNone/>
            </a:pPr>
            <a:r>
              <a:rPr lang="en" sz="1300" b="1" dirty="0">
                <a:solidFill>
                  <a:srgbClr val="000000"/>
                </a:solidFill>
              </a:rPr>
              <a:t>3. Sample efficiency &amp; transfer: </a:t>
            </a:r>
            <a:r>
              <a:rPr lang="en" sz="1200" dirty="0">
                <a:solidFill>
                  <a:srgbClr val="000000"/>
                </a:solidFill>
              </a:rPr>
              <a:t>invariant mechanisms are reused across tasks and environments — the source of 5-10× efficiency claims.</a:t>
            </a:r>
          </a:p>
          <a:p>
            <a:pPr marL="0" lvl="0" indent="0" algn="l" rtl="0">
              <a:spcBef>
                <a:spcPts val="1000"/>
              </a:spcBef>
              <a:buNone/>
            </a:pPr>
            <a:endParaRPr lang="en" sz="13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buNone/>
            </a:pPr>
            <a:r>
              <a:rPr lang="en" sz="1300" b="1" dirty="0">
                <a:solidFill>
                  <a:srgbClr val="000000"/>
                </a:solidFill>
              </a:rPr>
              <a:t>4. Veridicality: </a:t>
            </a:r>
            <a:r>
              <a:rPr lang="en" sz="1200" dirty="0">
                <a:solidFill>
                  <a:srgbClr val="000000"/>
                </a:solidFill>
              </a:rPr>
              <a:t>predicts the cup breaks if ‘open drawer’ is skipped — while ignoring the cup;s colour. Right for the right reasons.</a:t>
            </a:r>
          </a:p>
          <a:p>
            <a:pPr marL="0" lvl="0" indent="0" algn="l" rtl="0">
              <a:spcBef>
                <a:spcPts val="1000"/>
              </a:spcBef>
              <a:buNone/>
            </a:pPr>
            <a:endParaRPr lang="en" sz="1200" dirty="0"/>
          </a:p>
          <a:p>
            <a:pPr marL="171450" lvl="0" indent="-171450" algn="l" rtl="0">
              <a:spcBef>
                <a:spcPts val="1000"/>
              </a:spcBef>
              <a:buFont typeface="Wingdings" panose="05000000000000000000" pitchFamily="2" charset="2"/>
              <a:buChar char="n"/>
            </a:pPr>
            <a:r>
              <a:rPr lang="en-US" altLang="zh-CN" sz="1200" dirty="0">
                <a:solidFill>
                  <a:srgbClr val="000000"/>
                </a:solidFill>
              </a:rPr>
              <a:t>conclusion: foundation model is not enough for embodied AI</a:t>
            </a:r>
          </a:p>
          <a:p>
            <a:pPr marL="171450" lvl="0" indent="-171450" algn="l" rtl="0">
              <a:spcBef>
                <a:spcPts val="1000"/>
              </a:spcBef>
              <a:buFont typeface="Wingdings" panose="05000000000000000000" pitchFamily="2" charset="2"/>
              <a:buChar char="n"/>
            </a:pPr>
            <a:r>
              <a:rPr lang="en-US" sz="1200" dirty="0"/>
              <a:t>We need AI to predict the status of the world instead of “tokens”</a:t>
            </a:r>
            <a:endParaRPr lang="en" sz="1200" dirty="0">
              <a:solidFill>
                <a:srgbClr val="000000"/>
              </a:solidFill>
            </a:endParaRPr>
          </a:p>
        </p:txBody>
      </p:sp>
      <p:pic>
        <p:nvPicPr>
          <p:cNvPr id="152" name="img"/>
          <p:cNvPicPr/>
          <p:nvPr/>
        </p:nvPicPr>
        <p:blipFill>
          <a:blip r:embed="rId2"/>
          <a:stretch>
            <a:fillRect/>
          </a:stretch>
        </p:blipFill>
        <p:spPr>
          <a:xfrm>
            <a:off x="5482300" y="925850"/>
            <a:ext cx="3350000" cy="3381000"/>
          </a:xfrm>
          <a:prstGeom prst="rect">
            <a:avLst/>
          </a:prstGeom>
        </p:spPr>
      </p:pic>
      <p:sp>
        <p:nvSpPr>
          <p:cNvPr id="153" name="tb"/>
          <p:cNvSpPr txBox="1"/>
          <p:nvPr/>
        </p:nvSpPr>
        <p:spPr>
          <a:xfrm>
            <a:off x="5500000" y="4400000"/>
            <a:ext cx="3350000" cy="33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ctr" rtl="0">
              <a:spcBef>
                <a:spcPts val="0"/>
              </a:spcBef>
              <a:buNone/>
            </a:pPr>
            <a:r>
              <a:rPr lang="en" sz="1000">
                <a:solidFill>
                  <a:srgbClr val="000000"/>
                </a:solidFill>
              </a:rPr>
              <a:t>robot simulation (AI2THOR)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"/>
          <p:cNvSpPr txBox="1">
            <a:spLocks noGrp="1"/>
          </p:cNvSpPr>
          <p:nvPr>
            <p:ph type="title"/>
          </p:nvPr>
        </p:nvSpPr>
        <p:spPr>
          <a:xfrm>
            <a:off x="311700" y="260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</a:rPr>
              <a:t>Where the research goes next</a:t>
            </a:r>
            <a:endParaRPr/>
          </a:p>
        </p:txBody>
      </p:sp>
      <p:sp>
        <p:nvSpPr>
          <p:cNvPr id="155" name="tb"/>
          <p:cNvSpPr txBox="1"/>
          <p:nvPr/>
        </p:nvSpPr>
        <p:spPr>
          <a:xfrm>
            <a:off x="311700" y="1000000"/>
            <a:ext cx="8520600" cy="390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285750" lvl="0" indent="-190500" algn="l" rtl="0">
              <a:spcBef>
                <a:spcPts val="0"/>
              </a:spcBef>
              <a:buChar char="•"/>
            </a:pPr>
            <a:r>
              <a:rPr lang="en" sz="1400" b="1" dirty="0">
                <a:solidFill>
                  <a:srgbClr val="000000"/>
                </a:solidFill>
              </a:rPr>
              <a:t>Causal representation learning: </a:t>
            </a:r>
            <a:r>
              <a:rPr lang="en" sz="1300" dirty="0">
                <a:solidFill>
                  <a:srgbClr val="000000"/>
                </a:solidFill>
              </a:rPr>
              <a:t>pixels are not causal variables — learn the variables themselves from video + actions. The biggest open problem.</a:t>
            </a:r>
          </a:p>
          <a:p>
            <a:pPr marL="285750" lvl="0" indent="-190500" algn="l" rtl="0">
              <a:spcBef>
                <a:spcPts val="800"/>
              </a:spcBef>
              <a:buChar char="•"/>
            </a:pPr>
            <a:r>
              <a:rPr lang="en" sz="1400" b="1" dirty="0">
                <a:solidFill>
                  <a:srgbClr val="000000"/>
                </a:solidFill>
              </a:rPr>
              <a:t>New data paradigm: </a:t>
            </a:r>
            <a:r>
              <a:rPr lang="en" sz="1300" dirty="0">
                <a:solidFill>
                  <a:srgbClr val="000000"/>
                </a:solidFill>
              </a:rPr>
              <a:t>pretrain on massive offline L1 (internet video) + actively collect the most informative online interventions (L2). Every robot action is a free do( ).</a:t>
            </a:r>
          </a:p>
          <a:p>
            <a:pPr marL="285750" lvl="0" indent="-190500" algn="l" rtl="0">
              <a:spcBef>
                <a:spcPts val="800"/>
              </a:spcBef>
              <a:buChar char="•"/>
            </a:pPr>
            <a:r>
              <a:rPr lang="en" sz="1400" b="1" dirty="0">
                <a:solidFill>
                  <a:srgbClr val="000000"/>
                </a:solidFill>
              </a:rPr>
              <a:t>Identifiability at scale: </a:t>
            </a:r>
            <a:r>
              <a:rPr lang="en" sz="1300" dirty="0">
                <a:solidFill>
                  <a:srgbClr val="000000"/>
                </a:solidFill>
              </a:rPr>
              <a:t>classical guarantees are case-by-case; foundation models need general machinery that degrades gracefully when assumptions fail.</a:t>
            </a:r>
          </a:p>
          <a:p>
            <a:pPr marL="285750" lvl="0" indent="-190500" algn="l" rtl="0">
              <a:spcBef>
                <a:spcPts val="800"/>
              </a:spcBef>
              <a:buChar char="•"/>
            </a:pPr>
            <a:r>
              <a:rPr lang="en" sz="1400" b="1" dirty="0">
                <a:solidFill>
                  <a:srgbClr val="000000"/>
                </a:solidFill>
              </a:rPr>
              <a:t>Orthogonal fixes combine: </a:t>
            </a:r>
            <a:r>
              <a:rPr lang="en" sz="1300" dirty="0">
                <a:solidFill>
                  <a:srgbClr val="000000"/>
                </a:solidFill>
              </a:rPr>
              <a:t>JEPA changes the SPACE of prediction; causality changes the LEVEL. Next generation: causal mechanisms inside a JEPA-style latent space.</a:t>
            </a:r>
          </a:p>
          <a:p>
            <a:pPr marL="285750" lvl="0" indent="-190500" algn="l" rtl="0">
              <a:spcBef>
                <a:spcPts val="800"/>
              </a:spcBef>
              <a:buChar char="•"/>
            </a:pPr>
            <a:r>
              <a:rPr lang="en" sz="1400" b="1" dirty="0">
                <a:solidFill>
                  <a:srgbClr val="000000"/>
                </a:solidFill>
              </a:rPr>
              <a:t>From emergent to guaranteed: </a:t>
            </a:r>
            <a:r>
              <a:rPr lang="en" sz="1300" dirty="0">
                <a:solidFill>
                  <a:srgbClr val="000000"/>
                </a:solidFill>
              </a:rPr>
              <a:t>today causal structure sometimes emerges (Othello-GPT); the goal is architectures where it is guaranteed.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itle"/>
          <p:cNvSpPr txBox="1">
            <a:spLocks noGrp="1"/>
          </p:cNvSpPr>
          <p:nvPr>
            <p:ph type="title"/>
          </p:nvPr>
        </p:nvSpPr>
        <p:spPr>
          <a:xfrm>
            <a:off x="311700" y="2600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Inside a causal world model</a:t>
            </a:r>
            <a:endParaRPr/>
          </a:p>
        </p:txBody>
      </p:sp>
      <p:sp>
        <p:nvSpPr>
          <p:cNvPr id="311" name="tb"/>
          <p:cNvSpPr txBox="1"/>
          <p:nvPr/>
        </p:nvSpPr>
        <p:spPr>
          <a:xfrm>
            <a:off x="311700" y="950000"/>
            <a:ext cx="2650000" cy="38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300" b="1">
                <a:solidFill>
                  <a:srgbClr val="666666"/>
                </a:solidFill>
              </a:rPr>
              <a:t>JEPA’s parts</a:t>
            </a:r>
          </a:p>
        </p:txBody>
      </p:sp>
      <p:sp>
        <p:nvSpPr>
          <p:cNvPr id="312" name="shape"/>
          <p:cNvSpPr/>
          <p:nvPr/>
        </p:nvSpPr>
        <p:spPr>
          <a:xfrm>
            <a:off x="311700" y="1350000"/>
            <a:ext cx="2650000" cy="480000"/>
          </a:xfrm>
          <a:prstGeom prst="roundRect">
            <a:avLst/>
          </a:prstGeom>
          <a:noFill/>
          <a:ln w="19050">
            <a:solidFill>
              <a:srgbClr val="666666"/>
            </a:solidFill>
          </a:ln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666666"/>
                </a:solidFill>
              </a:rPr>
              <a:t>encoder</a:t>
            </a:r>
          </a:p>
        </p:txBody>
      </p:sp>
      <p:sp>
        <p:nvSpPr>
          <p:cNvPr id="313" name="shape"/>
          <p:cNvSpPr/>
          <p:nvPr/>
        </p:nvSpPr>
        <p:spPr>
          <a:xfrm>
            <a:off x="311700" y="1900000"/>
            <a:ext cx="2650000" cy="480000"/>
          </a:xfrm>
          <a:prstGeom prst="roundRect">
            <a:avLst/>
          </a:prstGeom>
          <a:noFill/>
          <a:ln w="19050">
            <a:solidFill>
              <a:srgbClr val="666666"/>
            </a:solidFill>
          </a:ln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666666"/>
                </a:solidFill>
              </a:rPr>
              <a:t>predictor (in latent space)</a:t>
            </a:r>
          </a:p>
        </p:txBody>
      </p:sp>
      <p:sp>
        <p:nvSpPr>
          <p:cNvPr id="314" name="shape"/>
          <p:cNvSpPr/>
          <p:nvPr/>
        </p:nvSpPr>
        <p:spPr>
          <a:xfrm>
            <a:off x="311700" y="2450000"/>
            <a:ext cx="2650000" cy="480000"/>
          </a:xfrm>
          <a:prstGeom prst="roundRect">
            <a:avLst/>
          </a:prstGeom>
          <a:noFill/>
          <a:ln w="19050">
            <a:solidFill>
              <a:srgbClr val="666666"/>
            </a:solidFill>
          </a:ln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666666"/>
                </a:solidFill>
              </a:rPr>
              <a:t>EMA teacher (no collapse)</a:t>
            </a:r>
          </a:p>
        </p:txBody>
      </p:sp>
      <p:sp>
        <p:nvSpPr>
          <p:cNvPr id="315" name="tb"/>
          <p:cNvSpPr txBox="1"/>
          <p:nvPr/>
        </p:nvSpPr>
        <p:spPr>
          <a:xfrm>
            <a:off x="311700" y="3000000"/>
            <a:ext cx="2650000" cy="70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100">
                <a:solidFill>
                  <a:srgbClr val="666666"/>
                </a:solidFill>
              </a:rPr>
              <a:t>→ changes WHERE you predict</a:t>
            </a:r>
          </a:p>
        </p:txBody>
      </p:sp>
      <p:sp>
        <p:nvSpPr>
          <p:cNvPr id="316" name="tb"/>
          <p:cNvSpPr txBox="1"/>
          <p:nvPr/>
        </p:nvSpPr>
        <p:spPr>
          <a:xfrm>
            <a:off x="3300000" y="950000"/>
            <a:ext cx="5540000" cy="38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300" b="1">
                <a:solidFill>
                  <a:srgbClr val="262626"/>
                </a:solidFill>
              </a:rPr>
              <a:t>A causal world model’s parts</a:t>
            </a:r>
          </a:p>
        </p:txBody>
      </p:sp>
      <p:sp>
        <p:nvSpPr>
          <p:cNvPr id="317" name="shape"/>
          <p:cNvSpPr/>
          <p:nvPr/>
        </p:nvSpPr>
        <p:spPr>
          <a:xfrm>
            <a:off x="3300000" y="1350000"/>
            <a:ext cx="2650000" cy="480000"/>
          </a:xfrm>
          <a:prstGeom prst="roundRect">
            <a:avLst/>
          </a:prstGeom>
          <a:solidFill>
            <a:srgbClr val="E06666"/>
          </a:solidFill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FFFFFF"/>
                </a:solidFill>
              </a:rPr>
              <a:t>variables V</a:t>
            </a:r>
          </a:p>
        </p:txBody>
      </p:sp>
      <p:sp>
        <p:nvSpPr>
          <p:cNvPr id="318" name="tb"/>
          <p:cNvSpPr txBox="1"/>
          <p:nvPr/>
        </p:nvSpPr>
        <p:spPr>
          <a:xfrm>
            <a:off x="6050000" y="1350000"/>
            <a:ext cx="2800000" cy="52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000">
                <a:solidFill>
                  <a:srgbClr val="262626"/>
                </a:solidFill>
              </a:rPr>
              <a:t>the state, split into meaningful pieces — not one blob</a:t>
            </a:r>
          </a:p>
        </p:txBody>
      </p:sp>
      <p:sp>
        <p:nvSpPr>
          <p:cNvPr id="319" name="shape"/>
          <p:cNvSpPr/>
          <p:nvPr/>
        </p:nvSpPr>
        <p:spPr>
          <a:xfrm>
            <a:off x="3300000" y="1900000"/>
            <a:ext cx="2650000" cy="480000"/>
          </a:xfrm>
          <a:prstGeom prst="roundRect">
            <a:avLst/>
          </a:prstGeom>
          <a:solidFill>
            <a:srgbClr val="F6B26B"/>
          </a:solidFill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FFFFFF"/>
                </a:solidFill>
              </a:rPr>
              <a:t>graph G</a:t>
            </a:r>
          </a:p>
        </p:txBody>
      </p:sp>
      <p:sp>
        <p:nvSpPr>
          <p:cNvPr id="320" name="tb"/>
          <p:cNvSpPr txBox="1"/>
          <p:nvPr/>
        </p:nvSpPr>
        <p:spPr>
          <a:xfrm>
            <a:off x="6050000" y="1900000"/>
            <a:ext cx="2800000" cy="52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000">
                <a:solidFill>
                  <a:srgbClr val="262626"/>
                </a:solidFill>
              </a:rPr>
              <a:t>who listens to whom — a learnable wiring diagram</a:t>
            </a:r>
          </a:p>
        </p:txBody>
      </p:sp>
      <p:sp>
        <p:nvSpPr>
          <p:cNvPr id="321" name="shape"/>
          <p:cNvSpPr/>
          <p:nvPr/>
        </p:nvSpPr>
        <p:spPr>
          <a:xfrm>
            <a:off x="3300000" y="2450000"/>
            <a:ext cx="2650000" cy="480000"/>
          </a:xfrm>
          <a:prstGeom prst="roundRect">
            <a:avLst/>
          </a:prstGeom>
          <a:solidFill>
            <a:srgbClr val="93C47D"/>
          </a:solidFill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FFFFFF"/>
                </a:solidFill>
              </a:rPr>
              <a:t>mechanisms f₁ … fₙ</a:t>
            </a:r>
          </a:p>
        </p:txBody>
      </p:sp>
      <p:sp>
        <p:nvSpPr>
          <p:cNvPr id="322" name="tb"/>
          <p:cNvSpPr txBox="1"/>
          <p:nvPr/>
        </p:nvSpPr>
        <p:spPr>
          <a:xfrm>
            <a:off x="6050000" y="2450000"/>
            <a:ext cx="2800000" cy="52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000">
                <a:solidFill>
                  <a:srgbClr val="262626"/>
                </a:solidFill>
              </a:rPr>
              <a:t>one small module per variable: Xᵢ = fᵢ(parents, noise)</a:t>
            </a:r>
          </a:p>
        </p:txBody>
      </p:sp>
      <p:sp>
        <p:nvSpPr>
          <p:cNvPr id="323" name="shape"/>
          <p:cNvSpPr/>
          <p:nvPr/>
        </p:nvSpPr>
        <p:spPr>
          <a:xfrm>
            <a:off x="3300000" y="3000000"/>
            <a:ext cx="2650000" cy="480000"/>
          </a:xfrm>
          <a:prstGeom prst="roundRect">
            <a:avLst/>
          </a:prstGeom>
          <a:solidFill>
            <a:srgbClr val="6FA8DC"/>
          </a:solidFill>
        </p:spPr>
        <p:txBody>
          <a:bodyPr wrap="square" lIns="27400" tIns="18300" rIns="27400" bIns="18300" anchor="ctr">
            <a:normAutofit/>
          </a:bodyPr>
          <a:lstStyle/>
          <a:p>
            <a:pPr algn="ctr">
              <a:buNone/>
            </a:pPr>
            <a:r>
              <a:rPr lang="en" sz="1100" b="1">
                <a:solidFill>
                  <a:srgbClr val="FFFFFF"/>
                </a:solidFill>
              </a:rPr>
              <a:t>noise U</a:t>
            </a:r>
          </a:p>
        </p:txBody>
      </p:sp>
      <p:sp>
        <p:nvSpPr>
          <p:cNvPr id="324" name="tb"/>
          <p:cNvSpPr txBox="1"/>
          <p:nvPr/>
        </p:nvSpPr>
        <p:spPr>
          <a:xfrm>
            <a:off x="6050000" y="3000000"/>
            <a:ext cx="2800000" cy="52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000">
                <a:solidFill>
                  <a:srgbClr val="262626"/>
                </a:solidFill>
              </a:rPr>
              <a:t>the individual context — hold it fixed to ask “for THIS case?”</a:t>
            </a:r>
          </a:p>
        </p:txBody>
      </p:sp>
      <p:sp>
        <p:nvSpPr>
          <p:cNvPr id="325" name="tb"/>
          <p:cNvSpPr txBox="1"/>
          <p:nvPr/>
        </p:nvSpPr>
        <p:spPr>
          <a:xfrm>
            <a:off x="311700" y="3720000"/>
            <a:ext cx="8520600" cy="1300000"/>
          </a:xfrm>
          <a:prstGeom prst="rect">
            <a:avLst/>
          </a:prstGeom>
          <a:noFill/>
        </p:spPr>
        <p:txBody>
          <a:bodyPr wrap="square" lIns="45700" tIns="45700" rIns="45700" bIns="45700" anchor="t">
            <a:norm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lang="en" sz="1300" b="1" dirty="0">
                <a:solidFill>
                  <a:schemeClr val="tx1"/>
                </a:solidFill>
              </a:rPr>
              <a:t>One model, three buttons:  run it</a:t>
            </a:r>
            <a:r>
              <a:rPr lang="en" sz="1300" dirty="0">
                <a:solidFill>
                  <a:schemeClr val="tx1"/>
                </a:solidFill>
              </a:rPr>
              <a:t> (see)   ·   </a:t>
            </a:r>
            <a:r>
              <a:rPr lang="en" sz="1300" b="1" dirty="0">
                <a:solidFill>
                  <a:schemeClr val="tx1"/>
                </a:solidFill>
              </a:rPr>
              <a:t>clamp a module</a:t>
            </a:r>
            <a:r>
              <a:rPr lang="en" sz="1300" dirty="0">
                <a:solidFill>
                  <a:schemeClr val="tx1"/>
                </a:solidFill>
              </a:rPr>
              <a:t> (do)   ·   </a:t>
            </a:r>
            <a:r>
              <a:rPr lang="en" sz="1300" b="1" dirty="0">
                <a:solidFill>
                  <a:schemeClr val="tx1"/>
                </a:solidFill>
              </a:rPr>
              <a:t>infer U, edit, replay</a:t>
            </a:r>
            <a:r>
              <a:rPr lang="en" sz="1300" dirty="0">
                <a:solidFill>
                  <a:schemeClr val="tx1"/>
                </a:solidFill>
              </a:rPr>
              <a:t> (imagine)</a:t>
            </a:r>
          </a:p>
          <a:p>
            <a:pPr marL="0" lvl="0" indent="0" algn="l" rtl="0">
              <a:spcBef>
                <a:spcPts val="600"/>
              </a:spcBef>
              <a:buNone/>
            </a:pPr>
            <a:r>
              <a:rPr lang="en" sz="1300" dirty="0">
                <a:solidFill>
                  <a:schemeClr val="tx1"/>
                </a:solidFill>
              </a:rPr>
              <a:t>JEPA changed where we predict. This changes what we can answer.</a:t>
            </a:r>
          </a:p>
          <a:p>
            <a:pPr marL="0" lvl="0" indent="0" algn="l" rtl="0">
              <a:spcBef>
                <a:spcPts val="800"/>
              </a:spcBef>
              <a:buNone/>
            </a:pPr>
            <a:r>
              <a:rPr lang="en" sz="1500" b="1" dirty="0">
                <a:solidFill>
                  <a:schemeClr val="tx1"/>
                </a:solidFill>
              </a:rPr>
              <a:t>Model the mechanisms, not the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E45D-0354-E858-28F1-8B65350E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4983F-1A81-4A08-035C-6288413E0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Gupta, T., Gong, W., Ma, C., Pawlowski, N., </a:t>
            </a:r>
            <a:r>
              <a:rPr lang="en-US" dirty="0" err="1"/>
              <a:t>Hilmkil</a:t>
            </a:r>
            <a:r>
              <a:rPr lang="en-US" dirty="0"/>
              <a:t>, A., </a:t>
            </a:r>
            <a:r>
              <a:rPr lang="en-US" dirty="0" err="1"/>
              <a:t>Scetbon</a:t>
            </a:r>
            <a:r>
              <a:rPr lang="en-US" dirty="0"/>
              <a:t>, M., </a:t>
            </a:r>
            <a:r>
              <a:rPr lang="en-US" dirty="0" err="1"/>
              <a:t>Rigter</a:t>
            </a:r>
            <a:r>
              <a:rPr lang="en-US" dirty="0"/>
              <a:t>, M., </a:t>
            </a:r>
            <a:r>
              <a:rPr lang="en-US" dirty="0" err="1"/>
              <a:t>Famoti</a:t>
            </a:r>
            <a:r>
              <a:rPr lang="en-US" dirty="0"/>
              <a:t>, A., Llorens, A.J., Gao, J. and Bauer, S., 2024. The essential role of causality in foundation world models for embodied ai. </a:t>
            </a:r>
            <a:r>
              <a:rPr lang="en-US" i="1" dirty="0" err="1"/>
              <a:t>arXiv</a:t>
            </a:r>
            <a:r>
              <a:rPr lang="en-US" i="1" dirty="0"/>
              <a:t> preprint arXiv:2402.06665</a:t>
            </a:r>
            <a:r>
              <a:rPr lang="en-US" dirty="0"/>
              <a:t>.</a:t>
            </a:r>
          </a:p>
          <a:p>
            <a:r>
              <a:rPr lang="en-US" dirty="0"/>
              <a:t>Richens, J. and Everitt, T., 2024, May. Robust agents learn causal world models. In </a:t>
            </a:r>
            <a:r>
              <a:rPr lang="en-US" i="1" dirty="0"/>
              <a:t>The Twelfth International Conference on Learning Representations</a:t>
            </a:r>
            <a:r>
              <a:rPr lang="en-US" dirty="0"/>
              <a:t>.</a:t>
            </a:r>
          </a:p>
          <a:p>
            <a:r>
              <a:rPr lang="en-US" dirty="0"/>
              <a:t>Pearl, J., 2009. </a:t>
            </a:r>
            <a:r>
              <a:rPr lang="en-US" i="1" dirty="0"/>
              <a:t>Causality</a:t>
            </a:r>
            <a:r>
              <a:rPr lang="en-US" dirty="0"/>
              <a:t>. Cambridge university press.</a:t>
            </a:r>
          </a:p>
        </p:txBody>
      </p:sp>
    </p:spTree>
    <p:extLst>
      <p:ext uri="{BB962C8B-B14F-4D97-AF65-F5344CB8AC3E}">
        <p14:creationId xmlns:p14="http://schemas.microsoft.com/office/powerpoint/2010/main" val="257282430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1241</Words>
  <Application>Microsoft Office PowerPoint</Application>
  <PresentationFormat>On-screen Show (16:9)</PresentationFormat>
  <Paragraphs>118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Cambria Math</vt:lpstr>
      <vt:lpstr>Wingdings</vt:lpstr>
      <vt:lpstr>Simple Light</vt:lpstr>
      <vt:lpstr>Causal AI in world model</vt:lpstr>
      <vt:lpstr>Explainability</vt:lpstr>
      <vt:lpstr>The challenges in AI</vt:lpstr>
      <vt:lpstr>Current challenges in AI</vt:lpstr>
      <vt:lpstr>Causal Inference</vt:lpstr>
      <vt:lpstr>Causal Language</vt:lpstr>
      <vt:lpstr>What is the challenge in moving from seeing to doing?</vt:lpstr>
      <vt:lpstr>Causal Artificial Intelligence</vt:lpstr>
      <vt:lpstr>Stuck on the first rung of the ladder</vt:lpstr>
      <vt:lpstr>Examples</vt:lpstr>
      <vt:lpstr>What breaks without causality</vt:lpstr>
      <vt:lpstr>A story: the doctor who never retrains</vt:lpstr>
      <vt:lpstr>What problem does a causal world model solve?</vt:lpstr>
      <vt:lpstr>Where the research goes next</vt:lpstr>
      <vt:lpstr>Inside a causal world model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Chu Lin</cp:lastModifiedBy>
  <cp:revision>7</cp:revision>
  <dcterms:modified xsi:type="dcterms:W3CDTF">2026-07-03T20:24:32Z</dcterms:modified>
</cp:coreProperties>
</file>