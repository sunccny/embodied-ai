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62" r:id="rId4"/>
    <p:sldId id="258" r:id="rId5"/>
    <p:sldId id="260" r:id="rId6"/>
    <p:sldId id="261" r:id="rId7"/>
    <p:sldId id="263" r:id="rId8"/>
    <p:sldId id="264" r:id="rId9"/>
    <p:sldId id="266" r:id="rId10"/>
    <p:sldId id="267" r:id="rId11"/>
    <p:sldId id="268" r:id="rId12"/>
    <p:sldId id="269" r:id="rId13"/>
    <p:sldId id="270" r:id="rId14"/>
    <p:sldId id="271" r:id="rId15"/>
    <p:sldId id="272" r:id="rId16"/>
    <p:sldId id="273" r:id="rId17"/>
    <p:sldId id="274" r:id="rId18"/>
    <p:sldId id="259"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DC5D7D-61D4-4E58-9347-E7BF089E2D5A}" v="94" dt="2026-08-21T12:13:41.437"/>
    <p1510:client id="{BFB0E785-F35F-4D44-841A-43C2C93A8096}" v="2132" dt="2026-08-21T18:30:12.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14" y="7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 Lin" userId="a9d5f5a05d2946b6" providerId="LiveId" clId="{A624DEA4-834B-44D9-BB5B-23A5D14AA4FA}"/>
    <pc:docChg chg="undo custSel addSld delSld modSld sldOrd addMainMaster delMainMaster">
      <pc:chgData name="Chu Lin" userId="a9d5f5a05d2946b6" providerId="LiveId" clId="{A624DEA4-834B-44D9-BB5B-23A5D14AA4FA}" dt="2026-08-21T19:27:07.108" v="3806" actId="255"/>
      <pc:docMkLst>
        <pc:docMk/>
      </pc:docMkLst>
      <pc:sldChg chg="addSp modSp new mod setBg modClrScheme setClrOvrMap chgLayout">
        <pc:chgData name="Chu Lin" userId="a9d5f5a05d2946b6" providerId="LiveId" clId="{A624DEA4-834B-44D9-BB5B-23A5D14AA4FA}" dt="2026-08-20T15:11:36.866" v="12" actId="26606"/>
        <pc:sldMkLst>
          <pc:docMk/>
          <pc:sldMk cId="2838025444" sldId="256"/>
        </pc:sldMkLst>
        <pc:spChg chg="mod">
          <ac:chgData name="Chu Lin" userId="a9d5f5a05d2946b6" providerId="LiveId" clId="{A624DEA4-834B-44D9-BB5B-23A5D14AA4FA}" dt="2026-08-20T15:11:36.866" v="12" actId="26606"/>
          <ac:spMkLst>
            <pc:docMk/>
            <pc:sldMk cId="2838025444" sldId="256"/>
            <ac:spMk id="2" creationId="{56CCF788-818E-F30A-E12F-A5A4D556DA11}"/>
          </ac:spMkLst>
        </pc:spChg>
        <pc:spChg chg="mod">
          <ac:chgData name="Chu Lin" userId="a9d5f5a05d2946b6" providerId="LiveId" clId="{A624DEA4-834B-44D9-BB5B-23A5D14AA4FA}" dt="2026-08-20T15:11:36.866" v="12" actId="26606"/>
          <ac:spMkLst>
            <pc:docMk/>
            <pc:sldMk cId="2838025444" sldId="256"/>
            <ac:spMk id="3" creationId="{BC9050E9-D252-D659-B490-8FACC2684FB0}"/>
          </ac:spMkLst>
        </pc:spChg>
        <pc:spChg chg="add">
          <ac:chgData name="Chu Lin" userId="a9d5f5a05d2946b6" providerId="LiveId" clId="{A624DEA4-834B-44D9-BB5B-23A5D14AA4FA}" dt="2026-08-20T15:11:36.866" v="12" actId="26606"/>
          <ac:spMkLst>
            <pc:docMk/>
            <pc:sldMk cId="2838025444" sldId="256"/>
            <ac:spMk id="9" creationId="{6E448DB1-4196-18A6-15DA-C72635C1B11E}"/>
          </ac:spMkLst>
        </pc:spChg>
        <pc:spChg chg="add">
          <ac:chgData name="Chu Lin" userId="a9d5f5a05d2946b6" providerId="LiveId" clId="{A624DEA4-834B-44D9-BB5B-23A5D14AA4FA}" dt="2026-08-20T15:11:36.866" v="12" actId="26606"/>
          <ac:spMkLst>
            <pc:docMk/>
            <pc:sldMk cId="2838025444" sldId="256"/>
            <ac:spMk id="11" creationId="{76A10D8F-D463-70E5-239B-17AD65EF433D}"/>
          </ac:spMkLst>
        </pc:spChg>
        <pc:picChg chg="add">
          <ac:chgData name="Chu Lin" userId="a9d5f5a05d2946b6" providerId="LiveId" clId="{A624DEA4-834B-44D9-BB5B-23A5D14AA4FA}" dt="2026-08-20T15:11:36.866" v="12" actId="26606"/>
          <ac:picMkLst>
            <pc:docMk/>
            <pc:sldMk cId="2838025444" sldId="256"/>
            <ac:picMk id="4" creationId="{5C5300B8-821C-50B9-E498-CCA9DF648F45}"/>
          </ac:picMkLst>
        </pc:picChg>
      </pc:sldChg>
      <pc:sldChg chg="addSp delSp modSp new mod">
        <pc:chgData name="Chu Lin" userId="a9d5f5a05d2946b6" providerId="LiveId" clId="{A624DEA4-834B-44D9-BB5B-23A5D14AA4FA}" dt="2026-08-21T17:50:52.655" v="3754" actId="14734"/>
        <pc:sldMkLst>
          <pc:docMk/>
          <pc:sldMk cId="1207584916" sldId="257"/>
        </pc:sldMkLst>
        <pc:spChg chg="mod">
          <ac:chgData name="Chu Lin" userId="a9d5f5a05d2946b6" providerId="LiveId" clId="{A624DEA4-834B-44D9-BB5B-23A5D14AA4FA}" dt="2026-08-20T15:11:57.218" v="16"/>
          <ac:spMkLst>
            <pc:docMk/>
            <pc:sldMk cId="1207584916" sldId="257"/>
            <ac:spMk id="2" creationId="{5288A6D1-DE54-8384-F0DD-8A7CB64BAC5F}"/>
          </ac:spMkLst>
        </pc:spChg>
        <pc:spChg chg="mod">
          <ac:chgData name="Chu Lin" userId="a9d5f5a05d2946b6" providerId="LiveId" clId="{A624DEA4-834B-44D9-BB5B-23A5D14AA4FA}" dt="2026-08-20T15:14:20.062" v="93" actId="27636"/>
          <ac:spMkLst>
            <pc:docMk/>
            <pc:sldMk cId="1207584916" sldId="257"/>
            <ac:spMk id="3" creationId="{9176E02E-2415-7200-D24C-F9E7E5A6F747}"/>
          </ac:spMkLst>
        </pc:spChg>
        <pc:spChg chg="add del">
          <ac:chgData name="Chu Lin" userId="a9d5f5a05d2946b6" providerId="LiveId" clId="{A624DEA4-834B-44D9-BB5B-23A5D14AA4FA}" dt="2026-08-20T15:11:56.634" v="15" actId="22"/>
          <ac:spMkLst>
            <pc:docMk/>
            <pc:sldMk cId="1207584916" sldId="257"/>
            <ac:spMk id="5" creationId="{BFC2B2B4-42DF-AD3B-E3CB-487E6052F85D}"/>
          </ac:spMkLst>
        </pc:spChg>
        <pc:graphicFrameChg chg="add mod modGraphic">
          <ac:chgData name="Chu Lin" userId="a9d5f5a05d2946b6" providerId="LiveId" clId="{A624DEA4-834B-44D9-BB5B-23A5D14AA4FA}" dt="2026-08-21T17:50:52.655" v="3754" actId="14734"/>
          <ac:graphicFrameMkLst>
            <pc:docMk/>
            <pc:sldMk cId="1207584916" sldId="257"/>
            <ac:graphicFrameMk id="6" creationId="{B57D2984-EA7B-D647-C2D9-519600FA62F0}"/>
          </ac:graphicFrameMkLst>
        </pc:graphicFrameChg>
      </pc:sldChg>
      <pc:sldChg chg="modSp new mod">
        <pc:chgData name="Chu Lin" userId="a9d5f5a05d2946b6" providerId="LiveId" clId="{A624DEA4-834B-44D9-BB5B-23A5D14AA4FA}" dt="2026-08-20T18:08:33.181" v="2157"/>
        <pc:sldMkLst>
          <pc:docMk/>
          <pc:sldMk cId="3323325158" sldId="258"/>
        </pc:sldMkLst>
        <pc:spChg chg="mod">
          <ac:chgData name="Chu Lin" userId="a9d5f5a05d2946b6" providerId="LiveId" clId="{A624DEA4-834B-44D9-BB5B-23A5D14AA4FA}" dt="2026-08-20T15:14:37.449" v="96"/>
          <ac:spMkLst>
            <pc:docMk/>
            <pc:sldMk cId="3323325158" sldId="258"/>
            <ac:spMk id="2" creationId="{E501F9DE-BCB6-71EB-00B0-D24EEEFD5B1F}"/>
          </ac:spMkLst>
        </pc:spChg>
        <pc:spChg chg="mod">
          <ac:chgData name="Chu Lin" userId="a9d5f5a05d2946b6" providerId="LiveId" clId="{A624DEA4-834B-44D9-BB5B-23A5D14AA4FA}" dt="2026-08-20T18:08:33.181" v="2157"/>
          <ac:spMkLst>
            <pc:docMk/>
            <pc:sldMk cId="3323325158" sldId="258"/>
            <ac:spMk id="3" creationId="{B62CF837-B79B-1206-098C-55D052B32AC4}"/>
          </ac:spMkLst>
        </pc:spChg>
      </pc:sldChg>
      <pc:sldChg chg="addSp delSp modSp new mod ord">
        <pc:chgData name="Chu Lin" userId="a9d5f5a05d2946b6" providerId="LiveId" clId="{A624DEA4-834B-44D9-BB5B-23A5D14AA4FA}" dt="2026-08-21T18:29:35.559" v="3796" actId="20577"/>
        <pc:sldMkLst>
          <pc:docMk/>
          <pc:sldMk cId="3819300637" sldId="259"/>
        </pc:sldMkLst>
        <pc:spChg chg="mod">
          <ac:chgData name="Chu Lin" userId="a9d5f5a05d2946b6" providerId="LiveId" clId="{A624DEA4-834B-44D9-BB5B-23A5D14AA4FA}" dt="2026-08-21T18:29:35.559" v="3796" actId="20577"/>
          <ac:spMkLst>
            <pc:docMk/>
            <pc:sldMk cId="3819300637" sldId="259"/>
            <ac:spMk id="2" creationId="{B3B4968E-6CB1-5B06-49B7-BCEC07001489}"/>
          </ac:spMkLst>
        </pc:spChg>
        <pc:spChg chg="del">
          <ac:chgData name="Chu Lin" userId="a9d5f5a05d2946b6" providerId="LiveId" clId="{A624DEA4-834B-44D9-BB5B-23A5D14AA4FA}" dt="2026-08-20T15:23:18.234" v="558" actId="478"/>
          <ac:spMkLst>
            <pc:docMk/>
            <pc:sldMk cId="3819300637" sldId="259"/>
            <ac:spMk id="3" creationId="{7D93FD4F-153A-1092-FEC7-F85588932E1C}"/>
          </ac:spMkLst>
        </pc:spChg>
        <pc:graphicFrameChg chg="add mod modGraphic">
          <ac:chgData name="Chu Lin" userId="a9d5f5a05d2946b6" providerId="LiveId" clId="{A624DEA4-834B-44D9-BB5B-23A5D14AA4FA}" dt="2026-08-21T00:00:55.129" v="3572" actId="1076"/>
          <ac:graphicFrameMkLst>
            <pc:docMk/>
            <pc:sldMk cId="3819300637" sldId="259"/>
            <ac:graphicFrameMk id="4" creationId="{3AD6D000-2915-0C4B-96D7-B64A53297954}"/>
          </ac:graphicFrameMkLst>
        </pc:graphicFrameChg>
        <pc:graphicFrameChg chg="add mod modGraphic">
          <ac:chgData name="Chu Lin" userId="a9d5f5a05d2946b6" providerId="LiveId" clId="{A624DEA4-834B-44D9-BB5B-23A5D14AA4FA}" dt="2026-08-20T16:49:46.693" v="1292" actId="20577"/>
          <ac:graphicFrameMkLst>
            <pc:docMk/>
            <pc:sldMk cId="3819300637" sldId="259"/>
            <ac:graphicFrameMk id="5" creationId="{D37F944E-2AEB-CFC4-81DC-A17B13B2957F}"/>
          </ac:graphicFrameMkLst>
        </pc:graphicFrameChg>
      </pc:sldChg>
      <pc:sldChg chg="modSp new mod">
        <pc:chgData name="Chu Lin" userId="a9d5f5a05d2946b6" providerId="LiveId" clId="{A624DEA4-834B-44D9-BB5B-23A5D14AA4FA}" dt="2026-08-21T18:30:12.618" v="3799" actId="20577"/>
        <pc:sldMkLst>
          <pc:docMk/>
          <pc:sldMk cId="2467462330" sldId="260"/>
        </pc:sldMkLst>
        <pc:spChg chg="mod">
          <ac:chgData name="Chu Lin" userId="a9d5f5a05d2946b6" providerId="LiveId" clId="{A624DEA4-834B-44D9-BB5B-23A5D14AA4FA}" dt="2026-08-21T18:28:45.922" v="3760" actId="20577"/>
          <ac:spMkLst>
            <pc:docMk/>
            <pc:sldMk cId="2467462330" sldId="260"/>
            <ac:spMk id="2" creationId="{24E4ED65-DABA-50F3-2985-A13E13F7B83A}"/>
          </ac:spMkLst>
        </pc:spChg>
        <pc:spChg chg="mod">
          <ac:chgData name="Chu Lin" userId="a9d5f5a05d2946b6" providerId="LiveId" clId="{A624DEA4-834B-44D9-BB5B-23A5D14AA4FA}" dt="2026-08-21T18:30:12.618" v="3799" actId="20577"/>
          <ac:spMkLst>
            <pc:docMk/>
            <pc:sldMk cId="2467462330" sldId="260"/>
            <ac:spMk id="3" creationId="{523C754F-97D9-3F6A-FCF7-815178B2F76D}"/>
          </ac:spMkLst>
        </pc:spChg>
      </pc:sldChg>
      <pc:sldChg chg="modSp new mod">
        <pc:chgData name="Chu Lin" userId="a9d5f5a05d2946b6" providerId="LiveId" clId="{A624DEA4-834B-44D9-BB5B-23A5D14AA4FA}" dt="2026-08-20T18:35:37.704" v="2226" actId="20577"/>
        <pc:sldMkLst>
          <pc:docMk/>
          <pc:sldMk cId="726056395" sldId="261"/>
        </pc:sldMkLst>
        <pc:spChg chg="mod">
          <ac:chgData name="Chu Lin" userId="a9d5f5a05d2946b6" providerId="LiveId" clId="{A624DEA4-834B-44D9-BB5B-23A5D14AA4FA}" dt="2026-08-20T15:31:14.538" v="796"/>
          <ac:spMkLst>
            <pc:docMk/>
            <pc:sldMk cId="726056395" sldId="261"/>
            <ac:spMk id="2" creationId="{686E17B6-4A35-258F-3167-EBA526075F45}"/>
          </ac:spMkLst>
        </pc:spChg>
        <pc:spChg chg="mod">
          <ac:chgData name="Chu Lin" userId="a9d5f5a05d2946b6" providerId="LiveId" clId="{A624DEA4-834B-44D9-BB5B-23A5D14AA4FA}" dt="2026-08-20T18:35:37.704" v="2226" actId="20577"/>
          <ac:spMkLst>
            <pc:docMk/>
            <pc:sldMk cId="726056395" sldId="261"/>
            <ac:spMk id="3" creationId="{CBDB1D39-5E31-2E7C-05DF-F35ABF451E37}"/>
          </ac:spMkLst>
        </pc:spChg>
      </pc:sldChg>
      <pc:sldChg chg="modSp new mod ord">
        <pc:chgData name="Chu Lin" userId="a9d5f5a05d2946b6" providerId="LiveId" clId="{A624DEA4-834B-44D9-BB5B-23A5D14AA4FA}" dt="2026-08-20T17:44:00.708" v="1995" actId="27636"/>
        <pc:sldMkLst>
          <pc:docMk/>
          <pc:sldMk cId="1008486459" sldId="262"/>
        </pc:sldMkLst>
        <pc:spChg chg="mod">
          <ac:chgData name="Chu Lin" userId="a9d5f5a05d2946b6" providerId="LiveId" clId="{A624DEA4-834B-44D9-BB5B-23A5D14AA4FA}" dt="2026-08-20T17:38:21.086" v="1417" actId="20577"/>
          <ac:spMkLst>
            <pc:docMk/>
            <pc:sldMk cId="1008486459" sldId="262"/>
            <ac:spMk id="2" creationId="{CEFED8D5-5569-A59A-CFBE-A31A4017713B}"/>
          </ac:spMkLst>
        </pc:spChg>
        <pc:spChg chg="mod">
          <ac:chgData name="Chu Lin" userId="a9d5f5a05d2946b6" providerId="LiveId" clId="{A624DEA4-834B-44D9-BB5B-23A5D14AA4FA}" dt="2026-08-20T17:44:00.708" v="1995" actId="27636"/>
          <ac:spMkLst>
            <pc:docMk/>
            <pc:sldMk cId="1008486459" sldId="262"/>
            <ac:spMk id="3" creationId="{67B4EEF0-31B7-6453-450B-F2D59CCD881F}"/>
          </ac:spMkLst>
        </pc:spChg>
      </pc:sldChg>
      <pc:sldChg chg="modSp new mod ord">
        <pc:chgData name="Chu Lin" userId="a9d5f5a05d2946b6" providerId="LiveId" clId="{A624DEA4-834B-44D9-BB5B-23A5D14AA4FA}" dt="2026-08-20T19:25:13.595" v="2580" actId="20577"/>
        <pc:sldMkLst>
          <pc:docMk/>
          <pc:sldMk cId="1481717380" sldId="263"/>
        </pc:sldMkLst>
        <pc:spChg chg="mod">
          <ac:chgData name="Chu Lin" userId="a9d5f5a05d2946b6" providerId="LiveId" clId="{A624DEA4-834B-44D9-BB5B-23A5D14AA4FA}" dt="2026-08-20T18:44:10.030" v="2244"/>
          <ac:spMkLst>
            <pc:docMk/>
            <pc:sldMk cId="1481717380" sldId="263"/>
            <ac:spMk id="2" creationId="{1188E19A-DBE4-D1EF-DED9-859A7322FF1B}"/>
          </ac:spMkLst>
        </pc:spChg>
        <pc:spChg chg="mod">
          <ac:chgData name="Chu Lin" userId="a9d5f5a05d2946b6" providerId="LiveId" clId="{A624DEA4-834B-44D9-BB5B-23A5D14AA4FA}" dt="2026-08-20T19:25:13.595" v="2580" actId="20577"/>
          <ac:spMkLst>
            <pc:docMk/>
            <pc:sldMk cId="1481717380" sldId="263"/>
            <ac:spMk id="3" creationId="{3AE2D3BB-D1EC-E052-2726-C861DE40AA27}"/>
          </ac:spMkLst>
        </pc:spChg>
      </pc:sldChg>
      <pc:sldChg chg="modSp new del mod">
        <pc:chgData name="Chu Lin" userId="a9d5f5a05d2946b6" providerId="LiveId" clId="{A624DEA4-834B-44D9-BB5B-23A5D14AA4FA}" dt="2026-08-20T19:30:26.356" v="2625" actId="47"/>
        <pc:sldMkLst>
          <pc:docMk/>
          <pc:sldMk cId="1482934811" sldId="264"/>
        </pc:sldMkLst>
        <pc:spChg chg="mod">
          <ac:chgData name="Chu Lin" userId="a9d5f5a05d2946b6" providerId="LiveId" clId="{A624DEA4-834B-44D9-BB5B-23A5D14AA4FA}" dt="2026-08-20T19:30:19.103" v="2624" actId="20577"/>
          <ac:spMkLst>
            <pc:docMk/>
            <pc:sldMk cId="1482934811" sldId="264"/>
            <ac:spMk id="2" creationId="{0BA7CED3-02D3-3FD9-7DAB-756514FCE0BD}"/>
          </ac:spMkLst>
        </pc:spChg>
      </pc:sldChg>
      <pc:sldChg chg="modSp new mod">
        <pc:chgData name="Chu Lin" userId="a9d5f5a05d2946b6" providerId="LiveId" clId="{A624DEA4-834B-44D9-BB5B-23A5D14AA4FA}" dt="2026-08-20T22:29:16.487" v="3566" actId="20577"/>
        <pc:sldMkLst>
          <pc:docMk/>
          <pc:sldMk cId="2484532690" sldId="264"/>
        </pc:sldMkLst>
        <pc:spChg chg="mod">
          <ac:chgData name="Chu Lin" userId="a9d5f5a05d2946b6" providerId="LiveId" clId="{A624DEA4-834B-44D9-BB5B-23A5D14AA4FA}" dt="2026-08-20T19:39:14.956" v="2853"/>
          <ac:spMkLst>
            <pc:docMk/>
            <pc:sldMk cId="2484532690" sldId="264"/>
            <ac:spMk id="2" creationId="{FCF6C626-627B-E109-D141-C37CD84AC6FF}"/>
          </ac:spMkLst>
        </pc:spChg>
        <pc:spChg chg="mod">
          <ac:chgData name="Chu Lin" userId="a9d5f5a05d2946b6" providerId="LiveId" clId="{A624DEA4-834B-44D9-BB5B-23A5D14AA4FA}" dt="2026-08-20T22:29:16.487" v="3566" actId="20577"/>
          <ac:spMkLst>
            <pc:docMk/>
            <pc:sldMk cId="2484532690" sldId="264"/>
            <ac:spMk id="3" creationId="{7068C10B-487F-5AF2-A8CB-9F5F51233CBA}"/>
          </ac:spMkLst>
        </pc:spChg>
      </pc:sldChg>
      <pc:sldChg chg="new del">
        <pc:chgData name="Chu Lin" userId="a9d5f5a05d2946b6" providerId="LiveId" clId="{A624DEA4-834B-44D9-BB5B-23A5D14AA4FA}" dt="2026-08-21T00:00:36.645" v="3567" actId="47"/>
        <pc:sldMkLst>
          <pc:docMk/>
          <pc:sldMk cId="4071068386" sldId="265"/>
        </pc:sldMkLst>
      </pc:sldChg>
      <pc:sldChg chg="delSp modSp mod">
        <pc:chgData name="Chu Lin" userId="a9d5f5a05d2946b6" providerId="LiveId" clId="{A624DEA4-834B-44D9-BB5B-23A5D14AA4FA}" dt="2026-08-21T12:12:25.393" v="3738" actId="255"/>
        <pc:sldMkLst>
          <pc:docMk/>
          <pc:sldMk cId="0" sldId="266"/>
        </pc:sldMkLst>
        <pc:spChg chg="del">
          <ac:chgData name="Chu Lin" userId="a9d5f5a05d2946b6" providerId="LiveId" clId="{A624DEA4-834B-44D9-BB5B-23A5D14AA4FA}" dt="2026-08-21T00:03:31.714" v="3618" actId="478"/>
          <ac:spMkLst>
            <pc:docMk/>
            <pc:sldMk cId="0" sldId="266"/>
            <ac:spMk id="3" creationId="{00000000-0000-0000-0000-000000000000}"/>
          </ac:spMkLst>
        </pc:spChg>
        <pc:spChg chg="mod">
          <ac:chgData name="Chu Lin" userId="a9d5f5a05d2946b6" providerId="LiveId" clId="{A624DEA4-834B-44D9-BB5B-23A5D14AA4FA}" dt="2026-08-21T12:12:25.393" v="3738" actId="255"/>
          <ac:spMkLst>
            <pc:docMk/>
            <pc:sldMk cId="0" sldId="266"/>
            <ac:spMk id="4" creationId="{00000000-0000-0000-0000-000000000000}"/>
          </ac:spMkLst>
        </pc:spChg>
        <pc:spChg chg="mod">
          <ac:chgData name="Chu Lin" userId="a9d5f5a05d2946b6" providerId="LiveId" clId="{A624DEA4-834B-44D9-BB5B-23A5D14AA4FA}" dt="2026-08-21T12:12:25.393" v="3738" actId="255"/>
          <ac:spMkLst>
            <pc:docMk/>
            <pc:sldMk cId="0" sldId="266"/>
            <ac:spMk id="5" creationId="{00000000-0000-0000-0000-000000000000}"/>
          </ac:spMkLst>
        </pc:spChg>
        <pc:spChg chg="mod">
          <ac:chgData name="Chu Lin" userId="a9d5f5a05d2946b6" providerId="LiveId" clId="{A624DEA4-834B-44D9-BB5B-23A5D14AA4FA}" dt="2026-08-21T12:12:25.393" v="3738" actId="255"/>
          <ac:spMkLst>
            <pc:docMk/>
            <pc:sldMk cId="0" sldId="266"/>
            <ac:spMk id="6" creationId="{00000000-0000-0000-0000-000000000000}"/>
          </ac:spMkLst>
        </pc:spChg>
        <pc:spChg chg="mod">
          <ac:chgData name="Chu Lin" userId="a9d5f5a05d2946b6" providerId="LiveId" clId="{A624DEA4-834B-44D9-BB5B-23A5D14AA4FA}" dt="2026-08-21T12:12:25.393" v="3738" actId="255"/>
          <ac:spMkLst>
            <pc:docMk/>
            <pc:sldMk cId="0" sldId="266"/>
            <ac:spMk id="7" creationId="{00000000-0000-0000-0000-000000000000}"/>
          </ac:spMkLst>
        </pc:spChg>
        <pc:spChg chg="mod">
          <ac:chgData name="Chu Lin" userId="a9d5f5a05d2946b6" providerId="LiveId" clId="{A624DEA4-834B-44D9-BB5B-23A5D14AA4FA}" dt="2026-08-21T12:12:25.393" v="3738" actId="255"/>
          <ac:spMkLst>
            <pc:docMk/>
            <pc:sldMk cId="0" sldId="266"/>
            <ac:spMk id="11" creationId="{00000000-0000-0000-0000-000000000000}"/>
          </ac:spMkLst>
        </pc:spChg>
        <pc:spChg chg="mod">
          <ac:chgData name="Chu Lin" userId="a9d5f5a05d2946b6" providerId="LiveId" clId="{A624DEA4-834B-44D9-BB5B-23A5D14AA4FA}" dt="2026-08-21T12:12:25.393" v="3738" actId="255"/>
          <ac:spMkLst>
            <pc:docMk/>
            <pc:sldMk cId="0" sldId="266"/>
            <ac:spMk id="12" creationId="{00000000-0000-0000-0000-000000000000}"/>
          </ac:spMkLst>
        </pc:spChg>
        <pc:spChg chg="mod">
          <ac:chgData name="Chu Lin" userId="a9d5f5a05d2946b6" providerId="LiveId" clId="{A624DEA4-834B-44D9-BB5B-23A5D14AA4FA}" dt="2026-08-21T12:12:25.393" v="3738" actId="255"/>
          <ac:spMkLst>
            <pc:docMk/>
            <pc:sldMk cId="0" sldId="266"/>
            <ac:spMk id="13" creationId="{00000000-0000-0000-0000-000000000000}"/>
          </ac:spMkLst>
        </pc:spChg>
        <pc:spChg chg="mod">
          <ac:chgData name="Chu Lin" userId="a9d5f5a05d2946b6" providerId="LiveId" clId="{A624DEA4-834B-44D9-BB5B-23A5D14AA4FA}" dt="2026-08-21T12:12:25.393" v="3738" actId="255"/>
          <ac:spMkLst>
            <pc:docMk/>
            <pc:sldMk cId="0" sldId="266"/>
            <ac:spMk id="17" creationId="{00000000-0000-0000-0000-000000000000}"/>
          </ac:spMkLst>
        </pc:spChg>
        <pc:spChg chg="mod">
          <ac:chgData name="Chu Lin" userId="a9d5f5a05d2946b6" providerId="LiveId" clId="{A624DEA4-834B-44D9-BB5B-23A5D14AA4FA}" dt="2026-08-21T12:12:25.393" v="3738" actId="255"/>
          <ac:spMkLst>
            <pc:docMk/>
            <pc:sldMk cId="0" sldId="266"/>
            <ac:spMk id="18" creationId="{00000000-0000-0000-0000-000000000000}"/>
          </ac:spMkLst>
        </pc:spChg>
        <pc:spChg chg="mod">
          <ac:chgData name="Chu Lin" userId="a9d5f5a05d2946b6" providerId="LiveId" clId="{A624DEA4-834B-44D9-BB5B-23A5D14AA4FA}" dt="2026-08-21T00:05:42.708" v="3636" actId="108"/>
          <ac:spMkLst>
            <pc:docMk/>
            <pc:sldMk cId="0" sldId="266"/>
            <ac:spMk id="21" creationId="{00000000-0000-0000-0000-000000000000}"/>
          </ac:spMkLst>
        </pc:spChg>
      </pc:sldChg>
      <pc:sldChg chg="modSp mod">
        <pc:chgData name="Chu Lin" userId="a9d5f5a05d2946b6" providerId="LiveId" clId="{A624DEA4-834B-44D9-BB5B-23A5D14AA4FA}" dt="2026-08-21T12:12:50.503" v="3742" actId="14100"/>
        <pc:sldMkLst>
          <pc:docMk/>
          <pc:sldMk cId="0" sldId="267"/>
        </pc:sldMkLst>
        <pc:spChg chg="mod">
          <ac:chgData name="Chu Lin" userId="a9d5f5a05d2946b6" providerId="LiveId" clId="{A624DEA4-834B-44D9-BB5B-23A5D14AA4FA}" dt="2026-08-21T00:30:40.291" v="3698" actId="20577"/>
          <ac:spMkLst>
            <pc:docMk/>
            <pc:sldMk cId="0" sldId="267"/>
            <ac:spMk id="5" creationId="{00000000-0000-0000-0000-000000000000}"/>
          </ac:spMkLst>
        </pc:spChg>
        <pc:spChg chg="mod">
          <ac:chgData name="Chu Lin" userId="a9d5f5a05d2946b6" providerId="LiveId" clId="{A624DEA4-834B-44D9-BB5B-23A5D14AA4FA}" dt="2026-08-21T00:04:35.443" v="3627" actId="20577"/>
          <ac:spMkLst>
            <pc:docMk/>
            <pc:sldMk cId="0" sldId="267"/>
            <ac:spMk id="6" creationId="{00000000-0000-0000-0000-000000000000}"/>
          </ac:spMkLst>
        </pc:spChg>
        <pc:spChg chg="mod">
          <ac:chgData name="Chu Lin" userId="a9d5f5a05d2946b6" providerId="LiveId" clId="{A624DEA4-834B-44D9-BB5B-23A5D14AA4FA}" dt="2026-08-21T12:12:50.503" v="3742" actId="14100"/>
          <ac:spMkLst>
            <pc:docMk/>
            <pc:sldMk cId="0" sldId="267"/>
            <ac:spMk id="7" creationId="{00000000-0000-0000-0000-000000000000}"/>
          </ac:spMkLst>
        </pc:spChg>
        <pc:spChg chg="mod">
          <ac:chgData name="Chu Lin" userId="a9d5f5a05d2946b6" providerId="LiveId" clId="{A624DEA4-834B-44D9-BB5B-23A5D14AA4FA}" dt="2026-08-21T00:05:50.976" v="3637" actId="108"/>
          <ac:spMkLst>
            <pc:docMk/>
            <pc:sldMk cId="0" sldId="267"/>
            <ac:spMk id="9" creationId="{00000000-0000-0000-0000-000000000000}"/>
          </ac:spMkLst>
        </pc:spChg>
      </pc:sldChg>
      <pc:sldChg chg="delSp modSp mod">
        <pc:chgData name="Chu Lin" userId="a9d5f5a05d2946b6" providerId="LiveId" clId="{A624DEA4-834B-44D9-BB5B-23A5D14AA4FA}" dt="2026-08-21T12:13:41.437" v="3750" actId="20577"/>
        <pc:sldMkLst>
          <pc:docMk/>
          <pc:sldMk cId="0" sldId="268"/>
        </pc:sldMkLst>
        <pc:spChg chg="del">
          <ac:chgData name="Chu Lin" userId="a9d5f5a05d2946b6" providerId="LiveId" clId="{A624DEA4-834B-44D9-BB5B-23A5D14AA4FA}" dt="2026-08-21T00:05:58.677" v="3638" actId="478"/>
          <ac:spMkLst>
            <pc:docMk/>
            <pc:sldMk cId="0" sldId="268"/>
            <ac:spMk id="3" creationId="{00000000-0000-0000-0000-000000000000}"/>
          </ac:spMkLst>
        </pc:spChg>
        <pc:spChg chg="mod">
          <ac:chgData name="Chu Lin" userId="a9d5f5a05d2946b6" providerId="LiveId" clId="{A624DEA4-834B-44D9-BB5B-23A5D14AA4FA}" dt="2026-08-21T12:13:23.532" v="3744" actId="14100"/>
          <ac:spMkLst>
            <pc:docMk/>
            <pc:sldMk cId="0" sldId="268"/>
            <ac:spMk id="5" creationId="{00000000-0000-0000-0000-000000000000}"/>
          </ac:spMkLst>
        </pc:spChg>
        <pc:spChg chg="mod">
          <ac:chgData name="Chu Lin" userId="a9d5f5a05d2946b6" providerId="LiveId" clId="{A624DEA4-834B-44D9-BB5B-23A5D14AA4FA}" dt="2026-08-21T12:13:41.437" v="3750" actId="20577"/>
          <ac:spMkLst>
            <pc:docMk/>
            <pc:sldMk cId="0" sldId="268"/>
            <ac:spMk id="6" creationId="{00000000-0000-0000-0000-000000000000}"/>
          </ac:spMkLst>
        </pc:spChg>
        <pc:graphicFrameChg chg="mod">
          <ac:chgData name="Chu Lin" userId="a9d5f5a05d2946b6" providerId="LiveId" clId="{A624DEA4-834B-44D9-BB5B-23A5D14AA4FA}" dt="2026-08-21T00:06:48.299" v="3651" actId="20577"/>
          <ac:graphicFrameMkLst>
            <pc:docMk/>
            <pc:sldMk cId="0" sldId="268"/>
            <ac:graphicFrameMk id="4" creationId="{00000000-0000-0000-0000-000000000000}"/>
          </ac:graphicFrameMkLst>
        </pc:graphicFrameChg>
      </pc:sldChg>
      <pc:sldChg chg="modSp mod">
        <pc:chgData name="Chu Lin" userId="a9d5f5a05d2946b6" providerId="LiveId" clId="{A624DEA4-834B-44D9-BB5B-23A5D14AA4FA}" dt="2026-08-21T00:08:37.073" v="3674" actId="20577"/>
        <pc:sldMkLst>
          <pc:docMk/>
          <pc:sldMk cId="0" sldId="269"/>
        </pc:sldMkLst>
        <pc:spChg chg="mod">
          <ac:chgData name="Chu Lin" userId="a9d5f5a05d2946b6" providerId="LiveId" clId="{A624DEA4-834B-44D9-BB5B-23A5D14AA4FA}" dt="2026-08-21T00:08:37.073" v="3674" actId="20577"/>
          <ac:spMkLst>
            <pc:docMk/>
            <pc:sldMk cId="0" sldId="269"/>
            <ac:spMk id="5" creationId="{00000000-0000-0000-0000-000000000000}"/>
          </ac:spMkLst>
        </pc:spChg>
        <pc:graphicFrameChg chg="mod modGraphic">
          <ac:chgData name="Chu Lin" userId="a9d5f5a05d2946b6" providerId="LiveId" clId="{A624DEA4-834B-44D9-BB5B-23A5D14AA4FA}" dt="2026-08-21T00:08:06.020" v="3660"/>
          <ac:graphicFrameMkLst>
            <pc:docMk/>
            <pc:sldMk cId="0" sldId="269"/>
            <ac:graphicFrameMk id="8" creationId="{00000000-0000-0000-0000-000000000000}"/>
          </ac:graphicFrameMkLst>
        </pc:graphicFrameChg>
      </pc:sldChg>
      <pc:sldChg chg="modSp mod">
        <pc:chgData name="Chu Lin" userId="a9d5f5a05d2946b6" providerId="LiveId" clId="{A624DEA4-834B-44D9-BB5B-23A5D14AA4FA}" dt="2026-08-21T00:27:30.671" v="3684"/>
        <pc:sldMkLst>
          <pc:docMk/>
          <pc:sldMk cId="0" sldId="270"/>
        </pc:sldMkLst>
        <pc:spChg chg="mod">
          <ac:chgData name="Chu Lin" userId="a9d5f5a05d2946b6" providerId="LiveId" clId="{A624DEA4-834B-44D9-BB5B-23A5D14AA4FA}" dt="2026-08-21T00:27:30.671" v="3684"/>
          <ac:spMkLst>
            <pc:docMk/>
            <pc:sldMk cId="0" sldId="270"/>
            <ac:spMk id="7" creationId="{00000000-0000-0000-0000-000000000000}"/>
          </ac:spMkLst>
        </pc:spChg>
        <pc:graphicFrameChg chg="modGraphic">
          <ac:chgData name="Chu Lin" userId="a9d5f5a05d2946b6" providerId="LiveId" clId="{A624DEA4-834B-44D9-BB5B-23A5D14AA4FA}" dt="2026-08-21T00:08:47.614" v="3675" actId="122"/>
          <ac:graphicFrameMkLst>
            <pc:docMk/>
            <pc:sldMk cId="0" sldId="270"/>
            <ac:graphicFrameMk id="4" creationId="{00000000-0000-0000-0000-000000000000}"/>
          </ac:graphicFrameMkLst>
        </pc:graphicFrameChg>
      </pc:sldChg>
      <pc:sldChg chg="modSp mod">
        <pc:chgData name="Chu Lin" userId="a9d5f5a05d2946b6" providerId="LiveId" clId="{A624DEA4-834B-44D9-BB5B-23A5D14AA4FA}" dt="2026-08-21T00:35:45.716" v="3701" actId="12385"/>
        <pc:sldMkLst>
          <pc:docMk/>
          <pc:sldMk cId="0" sldId="271"/>
        </pc:sldMkLst>
        <pc:graphicFrameChg chg="mod modGraphic">
          <ac:chgData name="Chu Lin" userId="a9d5f5a05d2946b6" providerId="LiveId" clId="{A624DEA4-834B-44D9-BB5B-23A5D14AA4FA}" dt="2026-08-21T00:35:45.716" v="3701" actId="12385"/>
          <ac:graphicFrameMkLst>
            <pc:docMk/>
            <pc:sldMk cId="0" sldId="271"/>
            <ac:graphicFrameMk id="4" creationId="{00000000-0000-0000-0000-000000000000}"/>
          </ac:graphicFrameMkLst>
        </pc:graphicFrameChg>
      </pc:sldChg>
      <pc:sldChg chg="modSp">
        <pc:chgData name="Chu Lin" userId="a9d5f5a05d2946b6" providerId="LiveId" clId="{A624DEA4-834B-44D9-BB5B-23A5D14AA4FA}" dt="2026-08-21T00:09:18.019" v="3679"/>
        <pc:sldMkLst>
          <pc:docMk/>
          <pc:sldMk cId="0" sldId="272"/>
        </pc:sldMkLst>
        <pc:graphicFrameChg chg="mod">
          <ac:chgData name="Chu Lin" userId="a9d5f5a05d2946b6" providerId="LiveId" clId="{A624DEA4-834B-44D9-BB5B-23A5D14AA4FA}" dt="2026-08-21T00:09:18.019" v="3679"/>
          <ac:graphicFrameMkLst>
            <pc:docMk/>
            <pc:sldMk cId="0" sldId="272"/>
            <ac:graphicFrameMk id="4" creationId="{00000000-0000-0000-0000-000000000000}"/>
          </ac:graphicFrameMkLst>
        </pc:graphicFrameChg>
      </pc:sldChg>
      <pc:sldChg chg="modSp mod">
        <pc:chgData name="Chu Lin" userId="a9d5f5a05d2946b6" providerId="LiveId" clId="{A624DEA4-834B-44D9-BB5B-23A5D14AA4FA}" dt="2026-08-21T19:27:07.108" v="3806" actId="255"/>
        <pc:sldMkLst>
          <pc:docMk/>
          <pc:sldMk cId="0" sldId="273"/>
        </pc:sldMkLst>
        <pc:spChg chg="mod">
          <ac:chgData name="Chu Lin" userId="a9d5f5a05d2946b6" providerId="LiveId" clId="{A624DEA4-834B-44D9-BB5B-23A5D14AA4FA}" dt="2026-08-21T00:52:32.490" v="3729" actId="113"/>
          <ac:spMkLst>
            <pc:docMk/>
            <pc:sldMk cId="0" sldId="273"/>
            <ac:spMk id="6" creationId="{00000000-0000-0000-0000-000000000000}"/>
          </ac:spMkLst>
        </pc:spChg>
        <pc:spChg chg="mod">
          <ac:chgData name="Chu Lin" userId="a9d5f5a05d2946b6" providerId="LiveId" clId="{A624DEA4-834B-44D9-BB5B-23A5D14AA4FA}" dt="2026-08-21T19:27:07.108" v="3806" actId="255"/>
          <ac:spMkLst>
            <pc:docMk/>
            <pc:sldMk cId="0" sldId="273"/>
            <ac:spMk id="7" creationId="{00000000-0000-0000-0000-000000000000}"/>
          </ac:spMkLst>
        </pc:spChg>
        <pc:spChg chg="mod">
          <ac:chgData name="Chu Lin" userId="a9d5f5a05d2946b6" providerId="LiveId" clId="{A624DEA4-834B-44D9-BB5B-23A5D14AA4FA}" dt="2026-08-21T19:27:07.108" v="3806" actId="255"/>
          <ac:spMkLst>
            <pc:docMk/>
            <pc:sldMk cId="0" sldId="273"/>
            <ac:spMk id="8" creationId="{00000000-0000-0000-0000-000000000000}"/>
          </ac:spMkLst>
        </pc:spChg>
      </pc:sldChg>
      <pc:sldChg chg="modSp mod">
        <pc:chgData name="Chu Lin" userId="a9d5f5a05d2946b6" providerId="LiveId" clId="{A624DEA4-834B-44D9-BB5B-23A5D14AA4FA}" dt="2026-08-21T00:09:42.529" v="3681" actId="20577"/>
        <pc:sldMkLst>
          <pc:docMk/>
          <pc:sldMk cId="0" sldId="274"/>
        </pc:sldMkLst>
        <pc:spChg chg="mod">
          <ac:chgData name="Chu Lin" userId="a9d5f5a05d2946b6" providerId="LiveId" clId="{A624DEA4-834B-44D9-BB5B-23A5D14AA4FA}" dt="2026-08-21T00:09:42.529" v="3681" actId="20577"/>
          <ac:spMkLst>
            <pc:docMk/>
            <pc:sldMk cId="0" sldId="274"/>
            <ac:spMk id="4" creationId="{00000000-0000-0000-0000-000000000000}"/>
          </ac:spMkLst>
        </pc:spChg>
      </pc:sldChg>
      <pc:sldChg chg="modSp mod">
        <pc:chgData name="Chu Lin" userId="a9d5f5a05d2946b6" providerId="LiveId" clId="{A624DEA4-834B-44D9-BB5B-23A5D14AA4FA}" dt="2026-08-21T00:03:06.111" v="3617" actId="122"/>
        <pc:sldMkLst>
          <pc:docMk/>
          <pc:sldMk cId="0" sldId="275"/>
        </pc:sldMkLst>
        <pc:spChg chg="mod">
          <ac:chgData name="Chu Lin" userId="a9d5f5a05d2946b6" providerId="LiveId" clId="{A624DEA4-834B-44D9-BB5B-23A5D14AA4FA}" dt="2026-08-21T00:01:24.835" v="3579" actId="1076"/>
          <ac:spMkLst>
            <pc:docMk/>
            <pc:sldMk cId="0" sldId="275"/>
            <ac:spMk id="5" creationId="{00000000-0000-0000-0000-000000000000}"/>
          </ac:spMkLst>
        </pc:spChg>
        <pc:spChg chg="mod">
          <ac:chgData name="Chu Lin" userId="a9d5f5a05d2946b6" providerId="LiveId" clId="{A624DEA4-834B-44D9-BB5B-23A5D14AA4FA}" dt="2026-08-21T00:01:34.984" v="3580" actId="255"/>
          <ac:spMkLst>
            <pc:docMk/>
            <pc:sldMk cId="0" sldId="275"/>
            <ac:spMk id="7" creationId="{00000000-0000-0000-0000-000000000000}"/>
          </ac:spMkLst>
        </pc:spChg>
        <pc:graphicFrameChg chg="mod modGraphic">
          <ac:chgData name="Chu Lin" userId="a9d5f5a05d2946b6" providerId="LiveId" clId="{A624DEA4-834B-44D9-BB5B-23A5D14AA4FA}" dt="2026-08-21T00:02:40.951" v="3608"/>
          <ac:graphicFrameMkLst>
            <pc:docMk/>
            <pc:sldMk cId="0" sldId="275"/>
            <ac:graphicFrameMk id="3" creationId="{00000000-0000-0000-0000-000000000000}"/>
          </ac:graphicFrameMkLst>
        </pc:graphicFrameChg>
        <pc:graphicFrameChg chg="mod modGraphic">
          <ac:chgData name="Chu Lin" userId="a9d5f5a05d2946b6" providerId="LiveId" clId="{A624DEA4-834B-44D9-BB5B-23A5D14AA4FA}" dt="2026-08-21T00:03:02.559" v="3616" actId="122"/>
          <ac:graphicFrameMkLst>
            <pc:docMk/>
            <pc:sldMk cId="0" sldId="275"/>
            <ac:graphicFrameMk id="4" creationId="{00000000-0000-0000-0000-000000000000}"/>
          </ac:graphicFrameMkLst>
        </pc:graphicFrameChg>
        <pc:graphicFrameChg chg="mod modGraphic">
          <ac:chgData name="Chu Lin" userId="a9d5f5a05d2946b6" providerId="LiveId" clId="{A624DEA4-834B-44D9-BB5B-23A5D14AA4FA}" dt="2026-08-21T00:03:06.111" v="3617" actId="122"/>
          <ac:graphicFrameMkLst>
            <pc:docMk/>
            <pc:sldMk cId="0" sldId="275"/>
            <ac:graphicFrameMk id="6" creationId="{00000000-0000-0000-0000-000000000000}"/>
          </ac:graphicFrameMkLst>
        </pc:graphicFrameChg>
      </pc:sldChg>
      <pc:sldChg chg="addSp modSp new mod">
        <pc:chgData name="Chu Lin" userId="a9d5f5a05d2946b6" providerId="LiveId" clId="{A624DEA4-834B-44D9-BB5B-23A5D14AA4FA}" dt="2026-08-21T00:51:19.295" v="3720" actId="20577"/>
        <pc:sldMkLst>
          <pc:docMk/>
          <pc:sldMk cId="3934293787" sldId="276"/>
        </pc:sldMkLst>
        <pc:spChg chg="mod">
          <ac:chgData name="Chu Lin" userId="a9d5f5a05d2946b6" providerId="LiveId" clId="{A624DEA4-834B-44D9-BB5B-23A5D14AA4FA}" dt="2026-08-21T00:50:40.529" v="3714" actId="20577"/>
          <ac:spMkLst>
            <pc:docMk/>
            <pc:sldMk cId="3934293787" sldId="276"/>
            <ac:spMk id="2" creationId="{1E1CF0FC-308A-B8C5-058F-99459BB858E3}"/>
          </ac:spMkLst>
        </pc:spChg>
        <pc:spChg chg="add mod">
          <ac:chgData name="Chu Lin" userId="a9d5f5a05d2946b6" providerId="LiveId" clId="{A624DEA4-834B-44D9-BB5B-23A5D14AA4FA}" dt="2026-08-21T00:51:19.295" v="3720" actId="20577"/>
          <ac:spMkLst>
            <pc:docMk/>
            <pc:sldMk cId="3934293787" sldId="276"/>
            <ac:spMk id="3" creationId="{E7032F38-51BC-A858-7FD1-D62E1E7EE262}"/>
          </ac:spMkLst>
        </pc:spChg>
      </pc:sldChg>
      <pc:sldMasterChg chg="del delSldLayout">
        <pc:chgData name="Chu Lin" userId="a9d5f5a05d2946b6" providerId="LiveId" clId="{A624DEA4-834B-44D9-BB5B-23A5D14AA4FA}" dt="2026-08-20T15:11:36.866" v="12" actId="26606"/>
        <pc:sldMasterMkLst>
          <pc:docMk/>
          <pc:sldMasterMk cId="1254530944" sldId="2147483648"/>
        </pc:sldMasterMkLst>
        <pc:sldLayoutChg chg="del">
          <pc:chgData name="Chu Lin" userId="a9d5f5a05d2946b6" providerId="LiveId" clId="{A624DEA4-834B-44D9-BB5B-23A5D14AA4FA}" dt="2026-08-20T15:11:36.866" v="12" actId="26606"/>
          <pc:sldLayoutMkLst>
            <pc:docMk/>
            <pc:sldMasterMk cId="1254530944" sldId="2147483648"/>
            <pc:sldLayoutMk cId="3078122515" sldId="2147483649"/>
          </pc:sldLayoutMkLst>
        </pc:sldLayoutChg>
        <pc:sldLayoutChg chg="del">
          <pc:chgData name="Chu Lin" userId="a9d5f5a05d2946b6" providerId="LiveId" clId="{A624DEA4-834B-44D9-BB5B-23A5D14AA4FA}" dt="2026-08-20T15:11:36.866" v="12" actId="26606"/>
          <pc:sldLayoutMkLst>
            <pc:docMk/>
            <pc:sldMasterMk cId="1254530944" sldId="2147483648"/>
            <pc:sldLayoutMk cId="2082270972" sldId="2147483650"/>
          </pc:sldLayoutMkLst>
        </pc:sldLayoutChg>
        <pc:sldLayoutChg chg="del">
          <pc:chgData name="Chu Lin" userId="a9d5f5a05d2946b6" providerId="LiveId" clId="{A624DEA4-834B-44D9-BB5B-23A5D14AA4FA}" dt="2026-08-20T15:11:36.866" v="12" actId="26606"/>
          <pc:sldLayoutMkLst>
            <pc:docMk/>
            <pc:sldMasterMk cId="1254530944" sldId="2147483648"/>
            <pc:sldLayoutMk cId="1423691502" sldId="2147483651"/>
          </pc:sldLayoutMkLst>
        </pc:sldLayoutChg>
        <pc:sldLayoutChg chg="del">
          <pc:chgData name="Chu Lin" userId="a9d5f5a05d2946b6" providerId="LiveId" clId="{A624DEA4-834B-44D9-BB5B-23A5D14AA4FA}" dt="2026-08-20T15:11:36.866" v="12" actId="26606"/>
          <pc:sldLayoutMkLst>
            <pc:docMk/>
            <pc:sldMasterMk cId="1254530944" sldId="2147483648"/>
            <pc:sldLayoutMk cId="757812759" sldId="2147483652"/>
          </pc:sldLayoutMkLst>
        </pc:sldLayoutChg>
        <pc:sldLayoutChg chg="del">
          <pc:chgData name="Chu Lin" userId="a9d5f5a05d2946b6" providerId="LiveId" clId="{A624DEA4-834B-44D9-BB5B-23A5D14AA4FA}" dt="2026-08-20T15:11:36.866" v="12" actId="26606"/>
          <pc:sldLayoutMkLst>
            <pc:docMk/>
            <pc:sldMasterMk cId="1254530944" sldId="2147483648"/>
            <pc:sldLayoutMk cId="3167296305" sldId="2147483653"/>
          </pc:sldLayoutMkLst>
        </pc:sldLayoutChg>
        <pc:sldLayoutChg chg="del">
          <pc:chgData name="Chu Lin" userId="a9d5f5a05d2946b6" providerId="LiveId" clId="{A624DEA4-834B-44D9-BB5B-23A5D14AA4FA}" dt="2026-08-20T15:11:36.866" v="12" actId="26606"/>
          <pc:sldLayoutMkLst>
            <pc:docMk/>
            <pc:sldMasterMk cId="1254530944" sldId="2147483648"/>
            <pc:sldLayoutMk cId="2288122192" sldId="2147483654"/>
          </pc:sldLayoutMkLst>
        </pc:sldLayoutChg>
        <pc:sldLayoutChg chg="del">
          <pc:chgData name="Chu Lin" userId="a9d5f5a05d2946b6" providerId="LiveId" clId="{A624DEA4-834B-44D9-BB5B-23A5D14AA4FA}" dt="2026-08-20T15:11:36.866" v="12" actId="26606"/>
          <pc:sldLayoutMkLst>
            <pc:docMk/>
            <pc:sldMasterMk cId="1254530944" sldId="2147483648"/>
            <pc:sldLayoutMk cId="1621150989" sldId="2147483655"/>
          </pc:sldLayoutMkLst>
        </pc:sldLayoutChg>
        <pc:sldLayoutChg chg="del">
          <pc:chgData name="Chu Lin" userId="a9d5f5a05d2946b6" providerId="LiveId" clId="{A624DEA4-834B-44D9-BB5B-23A5D14AA4FA}" dt="2026-08-20T15:11:36.866" v="12" actId="26606"/>
          <pc:sldLayoutMkLst>
            <pc:docMk/>
            <pc:sldMasterMk cId="1254530944" sldId="2147483648"/>
            <pc:sldLayoutMk cId="1652573227" sldId="2147483656"/>
          </pc:sldLayoutMkLst>
        </pc:sldLayoutChg>
        <pc:sldLayoutChg chg="del">
          <pc:chgData name="Chu Lin" userId="a9d5f5a05d2946b6" providerId="LiveId" clId="{A624DEA4-834B-44D9-BB5B-23A5D14AA4FA}" dt="2026-08-20T15:11:36.866" v="12" actId="26606"/>
          <pc:sldLayoutMkLst>
            <pc:docMk/>
            <pc:sldMasterMk cId="1254530944" sldId="2147483648"/>
            <pc:sldLayoutMk cId="619629173" sldId="2147483657"/>
          </pc:sldLayoutMkLst>
        </pc:sldLayoutChg>
        <pc:sldLayoutChg chg="del">
          <pc:chgData name="Chu Lin" userId="a9d5f5a05d2946b6" providerId="LiveId" clId="{A624DEA4-834B-44D9-BB5B-23A5D14AA4FA}" dt="2026-08-20T15:11:36.866" v="12" actId="26606"/>
          <pc:sldLayoutMkLst>
            <pc:docMk/>
            <pc:sldMasterMk cId="1254530944" sldId="2147483648"/>
            <pc:sldLayoutMk cId="2263907074" sldId="2147483658"/>
          </pc:sldLayoutMkLst>
        </pc:sldLayoutChg>
        <pc:sldLayoutChg chg="del">
          <pc:chgData name="Chu Lin" userId="a9d5f5a05d2946b6" providerId="LiveId" clId="{A624DEA4-834B-44D9-BB5B-23A5D14AA4FA}" dt="2026-08-20T15:11:36.866" v="12" actId="26606"/>
          <pc:sldLayoutMkLst>
            <pc:docMk/>
            <pc:sldMasterMk cId="1254530944" sldId="2147483648"/>
            <pc:sldLayoutMk cId="592257157" sldId="2147483659"/>
          </pc:sldLayoutMkLst>
        </pc:sldLayoutChg>
      </pc:sldMasterChg>
      <pc:sldMasterChg chg="add addSldLayout">
        <pc:chgData name="Chu Lin" userId="a9d5f5a05d2946b6" providerId="LiveId" clId="{A624DEA4-834B-44D9-BB5B-23A5D14AA4FA}" dt="2026-08-20T15:11:36.866" v="12" actId="26606"/>
        <pc:sldMasterMkLst>
          <pc:docMk/>
          <pc:sldMasterMk cId="1318086908" sldId="2147483699"/>
        </pc:sldMasterMkLst>
        <pc:sldLayoutChg chg="add">
          <pc:chgData name="Chu Lin" userId="a9d5f5a05d2946b6" providerId="LiveId" clId="{A624DEA4-834B-44D9-BB5B-23A5D14AA4FA}" dt="2026-08-20T15:11:36.866" v="12" actId="26606"/>
          <pc:sldLayoutMkLst>
            <pc:docMk/>
            <pc:sldMasterMk cId="1318086908" sldId="2147483699"/>
            <pc:sldLayoutMk cId="4095239896" sldId="2147483688"/>
          </pc:sldLayoutMkLst>
        </pc:sldLayoutChg>
        <pc:sldLayoutChg chg="add">
          <pc:chgData name="Chu Lin" userId="a9d5f5a05d2946b6" providerId="LiveId" clId="{A624DEA4-834B-44D9-BB5B-23A5D14AA4FA}" dt="2026-08-20T15:11:36.866" v="12" actId="26606"/>
          <pc:sldLayoutMkLst>
            <pc:docMk/>
            <pc:sldMasterMk cId="1318086908" sldId="2147483699"/>
            <pc:sldLayoutMk cId="2886924057" sldId="2147483689"/>
          </pc:sldLayoutMkLst>
        </pc:sldLayoutChg>
        <pc:sldLayoutChg chg="add">
          <pc:chgData name="Chu Lin" userId="a9d5f5a05d2946b6" providerId="LiveId" clId="{A624DEA4-834B-44D9-BB5B-23A5D14AA4FA}" dt="2026-08-20T15:11:36.866" v="12" actId="26606"/>
          <pc:sldLayoutMkLst>
            <pc:docMk/>
            <pc:sldMasterMk cId="1318086908" sldId="2147483699"/>
            <pc:sldLayoutMk cId="500546338" sldId="2147483690"/>
          </pc:sldLayoutMkLst>
        </pc:sldLayoutChg>
        <pc:sldLayoutChg chg="add">
          <pc:chgData name="Chu Lin" userId="a9d5f5a05d2946b6" providerId="LiveId" clId="{A624DEA4-834B-44D9-BB5B-23A5D14AA4FA}" dt="2026-08-20T15:11:36.866" v="12" actId="26606"/>
          <pc:sldLayoutMkLst>
            <pc:docMk/>
            <pc:sldMasterMk cId="1318086908" sldId="2147483699"/>
            <pc:sldLayoutMk cId="197449387" sldId="2147483691"/>
          </pc:sldLayoutMkLst>
        </pc:sldLayoutChg>
        <pc:sldLayoutChg chg="add">
          <pc:chgData name="Chu Lin" userId="a9d5f5a05d2946b6" providerId="LiveId" clId="{A624DEA4-834B-44D9-BB5B-23A5D14AA4FA}" dt="2026-08-20T15:11:36.866" v="12" actId="26606"/>
          <pc:sldLayoutMkLst>
            <pc:docMk/>
            <pc:sldMasterMk cId="1318086908" sldId="2147483699"/>
            <pc:sldLayoutMk cId="3956605325" sldId="2147483692"/>
          </pc:sldLayoutMkLst>
        </pc:sldLayoutChg>
        <pc:sldLayoutChg chg="add">
          <pc:chgData name="Chu Lin" userId="a9d5f5a05d2946b6" providerId="LiveId" clId="{A624DEA4-834B-44D9-BB5B-23A5D14AA4FA}" dt="2026-08-20T15:11:36.866" v="12" actId="26606"/>
          <pc:sldLayoutMkLst>
            <pc:docMk/>
            <pc:sldMasterMk cId="1318086908" sldId="2147483699"/>
            <pc:sldLayoutMk cId="657253017" sldId="2147483693"/>
          </pc:sldLayoutMkLst>
        </pc:sldLayoutChg>
        <pc:sldLayoutChg chg="add">
          <pc:chgData name="Chu Lin" userId="a9d5f5a05d2946b6" providerId="LiveId" clId="{A624DEA4-834B-44D9-BB5B-23A5D14AA4FA}" dt="2026-08-20T15:11:36.866" v="12" actId="26606"/>
          <pc:sldLayoutMkLst>
            <pc:docMk/>
            <pc:sldMasterMk cId="1318086908" sldId="2147483699"/>
            <pc:sldLayoutMk cId="1466046552" sldId="2147483694"/>
          </pc:sldLayoutMkLst>
        </pc:sldLayoutChg>
        <pc:sldLayoutChg chg="add">
          <pc:chgData name="Chu Lin" userId="a9d5f5a05d2946b6" providerId="LiveId" clId="{A624DEA4-834B-44D9-BB5B-23A5D14AA4FA}" dt="2026-08-20T15:11:36.866" v="12" actId="26606"/>
          <pc:sldLayoutMkLst>
            <pc:docMk/>
            <pc:sldMasterMk cId="1318086908" sldId="2147483699"/>
            <pc:sldLayoutMk cId="4241948137" sldId="2147483695"/>
          </pc:sldLayoutMkLst>
        </pc:sldLayoutChg>
        <pc:sldLayoutChg chg="add">
          <pc:chgData name="Chu Lin" userId="a9d5f5a05d2946b6" providerId="LiveId" clId="{A624DEA4-834B-44D9-BB5B-23A5D14AA4FA}" dt="2026-08-20T15:11:36.866" v="12" actId="26606"/>
          <pc:sldLayoutMkLst>
            <pc:docMk/>
            <pc:sldMasterMk cId="1318086908" sldId="2147483699"/>
            <pc:sldLayoutMk cId="1735229713" sldId="2147483696"/>
          </pc:sldLayoutMkLst>
        </pc:sldLayoutChg>
        <pc:sldLayoutChg chg="add">
          <pc:chgData name="Chu Lin" userId="a9d5f5a05d2946b6" providerId="LiveId" clId="{A624DEA4-834B-44D9-BB5B-23A5D14AA4FA}" dt="2026-08-20T15:11:36.866" v="12" actId="26606"/>
          <pc:sldLayoutMkLst>
            <pc:docMk/>
            <pc:sldMasterMk cId="1318086908" sldId="2147483699"/>
            <pc:sldLayoutMk cId="3510718878" sldId="2147483697"/>
          </pc:sldLayoutMkLst>
        </pc:sldLayoutChg>
        <pc:sldLayoutChg chg="add">
          <pc:chgData name="Chu Lin" userId="a9d5f5a05d2946b6" providerId="LiveId" clId="{A624DEA4-834B-44D9-BB5B-23A5D14AA4FA}" dt="2026-08-20T15:11:36.866" v="12" actId="26606"/>
          <pc:sldLayoutMkLst>
            <pc:docMk/>
            <pc:sldMasterMk cId="1318086908" sldId="2147483699"/>
            <pc:sldLayoutMk cId="2963250622" sldId="214748369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8/21/2026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6046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8/21/2026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1948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8/21/2026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35229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8/21/2026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0718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8/21/2026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3250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8/21/2026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56605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8/21/2026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5239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8/21/2026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86924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8/21/2026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00546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8/21/2026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449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8/21/2026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7253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8/21/2026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31808690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C5300B8-821C-50B9-E498-CCA9DF648F45}"/>
              </a:ext>
            </a:extLst>
          </p:cNvPr>
          <p:cNvPicPr>
            <a:picLocks noChangeAspect="1"/>
          </p:cNvPicPr>
          <p:nvPr/>
        </p:nvPicPr>
        <p:blipFill>
          <a:blip r:embed="rId2"/>
          <a:srcRect r="3112" b="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56CCF788-818E-F30A-E12F-A5A4D556DA11}"/>
              </a:ext>
            </a:extLst>
          </p:cNvPr>
          <p:cNvSpPr>
            <a:spLocks noGrp="1"/>
          </p:cNvSpPr>
          <p:nvPr>
            <p:ph type="ctrTitle"/>
          </p:nvPr>
        </p:nvSpPr>
        <p:spPr>
          <a:xfrm>
            <a:off x="286506" y="603315"/>
            <a:ext cx="5649211" cy="3685731"/>
          </a:xfrm>
        </p:spPr>
        <p:txBody>
          <a:bodyPr anchor="t">
            <a:normAutofit/>
          </a:bodyPr>
          <a:lstStyle/>
          <a:p>
            <a:pPr algn="l"/>
            <a:r>
              <a:rPr lang="en-US" sz="6600"/>
              <a:t>Stage3 </a:t>
            </a:r>
          </a:p>
        </p:txBody>
      </p:sp>
      <p:sp>
        <p:nvSpPr>
          <p:cNvPr id="3" name="Subtitle 2">
            <a:extLst>
              <a:ext uri="{FF2B5EF4-FFF2-40B4-BE49-F238E27FC236}">
                <a16:creationId xmlns:a16="http://schemas.microsoft.com/office/drawing/2014/main" id="{BC9050E9-D252-D659-B490-8FACC2684FB0}"/>
              </a:ext>
            </a:extLst>
          </p:cNvPr>
          <p:cNvSpPr>
            <a:spLocks noGrp="1"/>
          </p:cNvSpPr>
          <p:nvPr>
            <p:ph type="subTitle" idx="1"/>
          </p:nvPr>
        </p:nvSpPr>
        <p:spPr>
          <a:xfrm>
            <a:off x="286507" y="4437176"/>
            <a:ext cx="4007587" cy="1290807"/>
          </a:xfrm>
        </p:spPr>
        <p:txBody>
          <a:bodyPr anchor="ctr">
            <a:normAutofit/>
          </a:bodyPr>
          <a:lstStyle/>
          <a:p>
            <a:pPr algn="l"/>
            <a:r>
              <a:rPr lang="en-US" sz="2200" dirty="0"/>
              <a:t>chu</a:t>
            </a:r>
          </a:p>
        </p:txBody>
      </p:sp>
    </p:spTree>
    <p:extLst>
      <p:ext uri="{BB962C8B-B14F-4D97-AF65-F5344CB8AC3E}">
        <p14:creationId xmlns:p14="http://schemas.microsoft.com/office/powerpoint/2010/main" val="283802544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A6D1-DE54-8384-F0DD-8A7CB64BAC5F}"/>
              </a:ext>
            </a:extLst>
          </p:cNvPr>
          <p:cNvSpPr>
            <a:spLocks noGrp="1"/>
          </p:cNvSpPr>
          <p:nvPr>
            <p:ph type="title"/>
          </p:nvPr>
        </p:nvSpPr>
        <p:spPr/>
        <p:txBody>
          <a:bodyPr/>
          <a:lstStyle/>
          <a:p>
            <a:r>
              <a:rPr lang="en-US" dirty="0"/>
              <a:t>What changed from the previous version?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76E02E-2415-7200-D24C-F9E7E5A6F747}"/>
                  </a:ext>
                </a:extLst>
              </p:cNvPr>
              <p:cNvSpPr>
                <a:spLocks noGrp="1"/>
              </p:cNvSpPr>
              <p:nvPr>
                <p:ph idx="1"/>
              </p:nvPr>
            </p:nvSpPr>
            <p:spPr>
              <a:xfrm>
                <a:off x="612646" y="1477537"/>
                <a:ext cx="10653579" cy="5236414"/>
              </a:xfrm>
            </p:spPr>
            <p:txBody>
              <a:bodyPr>
                <a:normAutofit/>
              </a:bodyPr>
              <a:lstStyle/>
              <a:p>
                <a:pPr marL="0" indent="0">
                  <a:buNone/>
                </a:pPr>
                <a14:m>
                  <m:oMathPara xmlns:m="http://schemas.openxmlformats.org/officeDocument/2006/math">
                    <m:oMath>
                      <m:r>
                        <a:rPr lang="en-US" b="0" i="1" smtClean="0">
                          <a:latin typeface="Cambria Math" panose="02040503050406030204" pitchFamily="18" charset="0"/>
                        </a:rPr>
                        <m:t>𝑃𝑟𝑒𝑣𝑖𝑜𝑢𝑠</m:t>
                      </m:r>
                      <m:r>
                        <a:rPr lang="en-US" b="0" i="1" smtClean="0">
                          <a:latin typeface="Cambria Math" panose="02040503050406030204" pitchFamily="18" charset="0"/>
                        </a:rPr>
                        <m:t>:</m:t>
                      </m:r>
                      <m:r>
                        <a:rPr lang="en-US" b="0" i="1" smtClean="0">
                          <a:latin typeface="Cambria Math" panose="02040503050406030204" pitchFamily="18" charset="0"/>
                        </a:rPr>
                        <m:t>𝑠𝑜𝑓𝑡</m:t>
                      </m:r>
                      <m:r>
                        <a:rPr lang="en-US" b="0" i="1" smtClean="0">
                          <a:latin typeface="Cambria Math" panose="02040503050406030204" pitchFamily="18" charset="0"/>
                        </a:rPr>
                        <m:t> </m:t>
                      </m:r>
                      <m:r>
                        <a:rPr lang="en-US" b="0" i="1" smtClean="0">
                          <a:latin typeface="Cambria Math" panose="02040503050406030204" pitchFamily="18" charset="0"/>
                        </a:rPr>
                        <m:t>𝑔𝑎𝑡𝑒</m:t>
                      </m:r>
                      <m:r>
                        <a:rPr lang="en-US" b="0" i="1" smtClean="0">
                          <a:latin typeface="Cambria Math" panose="02040503050406030204" pitchFamily="18" charset="0"/>
                        </a:rPr>
                        <m:t>+</m:t>
                      </m:r>
                      <m:r>
                        <a:rPr lang="en-US" b="0" i="1" smtClean="0">
                          <a:latin typeface="Cambria Math" panose="02040503050406030204" pitchFamily="18" charset="0"/>
                        </a:rPr>
                        <m:t>𝑔𝑙𝑜𝑏𝑎𝑙</m:t>
                      </m:r>
                      <m:r>
                        <a:rPr lang="en-US" b="0" i="1" smtClean="0">
                          <a:latin typeface="Cambria Math" panose="02040503050406030204" pitchFamily="18" charset="0"/>
                        </a:rPr>
                        <m:t> </m:t>
                      </m:r>
                      <m:r>
                        <a:rPr lang="en-US" b="0" i="1" smtClean="0">
                          <a:latin typeface="Cambria Math" panose="02040503050406030204" pitchFamily="18" charset="0"/>
                        </a:rPr>
                        <m:t>𝑝𝑎𝑖𝑟</m:t>
                      </m:r>
                      <m:r>
                        <a:rPr lang="en-US" b="0" i="1" smtClean="0">
                          <a:latin typeface="Cambria Math" panose="02040503050406030204" pitchFamily="18" charset="0"/>
                        </a:rPr>
                        <m:t> </m:t>
                      </m:r>
                      <m:r>
                        <a:rPr lang="en-US" b="0" i="1" smtClean="0">
                          <a:latin typeface="Cambria Math" panose="02040503050406030204" pitchFamily="18" charset="0"/>
                        </a:rPr>
                        <m:t>𝑙𝑜𝑠𝑠</m:t>
                      </m:r>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 new version improves the graph-learning optimization problem, but still uses a gated predictor rather than a fully modular SCM.</a:t>
                </a:r>
              </a:p>
            </p:txBody>
          </p:sp>
        </mc:Choice>
        <mc:Fallback xmlns="">
          <p:sp>
            <p:nvSpPr>
              <p:cNvPr id="3" name="Content Placeholder 2">
                <a:extLst>
                  <a:ext uri="{FF2B5EF4-FFF2-40B4-BE49-F238E27FC236}">
                    <a16:creationId xmlns:a16="http://schemas.microsoft.com/office/drawing/2014/main" id="{9176E02E-2415-7200-D24C-F9E7E5A6F747}"/>
                  </a:ext>
                </a:extLst>
              </p:cNvPr>
              <p:cNvSpPr>
                <a:spLocks noGrp="1" noRot="1" noChangeAspect="1" noMove="1" noResize="1" noEditPoints="1" noAdjustHandles="1" noChangeArrowheads="1" noChangeShapeType="1" noTextEdit="1"/>
              </p:cNvSpPr>
              <p:nvPr>
                <p:ph idx="1"/>
              </p:nvPr>
            </p:nvSpPr>
            <p:spPr>
              <a:xfrm>
                <a:off x="612646" y="1477537"/>
                <a:ext cx="10653579" cy="5236414"/>
              </a:xfrm>
              <a:blipFill>
                <a:blip r:embed="rId2"/>
                <a:stretch>
                  <a:fillRect l="-572" r="-572" b="-19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B57D2984-EA7B-D647-C2D9-519600FA62F0}"/>
                  </a:ext>
                </a:extLst>
              </p:cNvPr>
              <p:cNvGraphicFramePr>
                <a:graphicFrameLocks noGrp="1"/>
              </p:cNvGraphicFramePr>
              <p:nvPr>
                <p:extLst>
                  <p:ext uri="{D42A27DB-BD31-4B8C-83A1-F6EECF244321}">
                    <p14:modId xmlns:p14="http://schemas.microsoft.com/office/powerpoint/2010/main" val="102157006"/>
                  </p:ext>
                </p:extLst>
              </p:nvPr>
            </p:nvGraphicFramePr>
            <p:xfrm>
              <a:off x="925774" y="2090511"/>
              <a:ext cx="10340451" cy="3571240"/>
            </p:xfrm>
            <a:graphic>
              <a:graphicData uri="http://schemas.openxmlformats.org/drawingml/2006/table">
                <a:tbl>
                  <a:tblPr firstRow="1" bandRow="1">
                    <a:tableStyleId>{073A0DAA-6AF3-43AB-8588-CEC1D06C72B9}</a:tableStyleId>
                  </a:tblPr>
                  <a:tblGrid>
                    <a:gridCol w="3446817">
                      <a:extLst>
                        <a:ext uri="{9D8B030D-6E8A-4147-A177-3AD203B41FA5}">
                          <a16:colId xmlns:a16="http://schemas.microsoft.com/office/drawing/2014/main" val="2043386796"/>
                        </a:ext>
                      </a:extLst>
                    </a:gridCol>
                    <a:gridCol w="3446817">
                      <a:extLst>
                        <a:ext uri="{9D8B030D-6E8A-4147-A177-3AD203B41FA5}">
                          <a16:colId xmlns:a16="http://schemas.microsoft.com/office/drawing/2014/main" val="740752488"/>
                        </a:ext>
                      </a:extLst>
                    </a:gridCol>
                    <a:gridCol w="3446817">
                      <a:extLst>
                        <a:ext uri="{9D8B030D-6E8A-4147-A177-3AD203B41FA5}">
                          <a16:colId xmlns:a16="http://schemas.microsoft.com/office/drawing/2014/main" val="1007254941"/>
                        </a:ext>
                      </a:extLst>
                    </a:gridCol>
                  </a:tblGrid>
                  <a:tr h="370840">
                    <a:tc>
                      <a:txBody>
                        <a:bodyPr/>
                        <a:lstStyle/>
                        <a:p>
                          <a:pPr>
                            <a:buNone/>
                          </a:pPr>
                          <a:r>
                            <a:rPr lang="en-US"/>
                            <a:t>Previous issue</a:t>
                          </a:r>
                        </a:p>
                      </a:txBody>
                      <a:tcPr anchor="ctr"/>
                    </a:tc>
                    <a:tc>
                      <a:txBody>
                        <a:bodyPr/>
                        <a:lstStyle/>
                        <a:p>
                          <a:pPr>
                            <a:buNone/>
                          </a:pPr>
                          <a:r>
                            <a:rPr lang="en-US" dirty="0"/>
                            <a:t>Evidence</a:t>
                          </a:r>
                        </a:p>
                      </a:txBody>
                      <a:tcPr anchor="ctr"/>
                    </a:tc>
                    <a:tc>
                      <a:txBody>
                        <a:bodyPr/>
                        <a:lstStyle/>
                        <a:p>
                          <a:pPr>
                            <a:buNone/>
                          </a:pPr>
                          <a:r>
                            <a:rPr lang="en-US"/>
                            <a:t>New fix</a:t>
                          </a:r>
                        </a:p>
                      </a:txBody>
                      <a:tcPr anchor="ctr"/>
                    </a:tc>
                    <a:extLst>
                      <a:ext uri="{0D108BD9-81ED-4DB2-BD59-A6C34878D82A}">
                        <a16:rowId xmlns:a16="http://schemas.microsoft.com/office/drawing/2014/main" val="3116541094"/>
                      </a:ext>
                    </a:extLst>
                  </a:tr>
                  <a:tr h="370840">
                    <a:tc>
                      <a:txBody>
                        <a:bodyPr/>
                        <a:lstStyle/>
                        <a:p>
                          <a:pPr>
                            <a:buNone/>
                          </a:pPr>
                          <a:r>
                            <a:rPr lang="en-US" dirty="0"/>
                            <a:t>Gate stayed near 0.5</a:t>
                          </a:r>
                        </a:p>
                      </a:txBody>
                      <a:tcPr anchor="ctr"/>
                    </a:tc>
                    <a:tc>
                      <a:txBody>
                        <a:bodyPr/>
                        <a:lstStyle/>
                        <a:p>
                          <a:pPr>
                            <a:buNone/>
                          </a:pPr>
                          <a:r>
                            <a:rPr lang="en-US"/>
                            <a:t>True causes and decoys had nearly identical gates</a:t>
                          </a:r>
                        </a:p>
                      </a:txBody>
                      <a:tcPr anchor="ctr"/>
                    </a:tc>
                    <a:tc>
                      <a:txBody>
                        <a:bodyPr/>
                        <a:lstStyle/>
                        <a:p>
                          <a:pPr>
                            <a:buNone/>
                          </a:pPr>
                          <a:r>
                            <a:rPr lang="en-US" dirty="0"/>
                            <a:t>Hard-concrete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0">
                                      <a:latin typeface="Cambria Math" panose="02040503050406030204" pitchFamily="18" charset="0"/>
                                    </a:rPr>
                                    <m:t>0</m:t>
                                  </m:r>
                                </m:sub>
                              </m:sSub>
                            </m:oMath>
                          </a14:m>
                          <a:r>
                            <a:rPr lang="en-US" dirty="0"/>
                            <a:t> gates</a:t>
                          </a:r>
                        </a:p>
                      </a:txBody>
                      <a:tcPr anchor="ctr"/>
                    </a:tc>
                    <a:extLst>
                      <a:ext uri="{0D108BD9-81ED-4DB2-BD59-A6C34878D82A}">
                        <a16:rowId xmlns:a16="http://schemas.microsoft.com/office/drawing/2014/main" val="317687116"/>
                      </a:ext>
                    </a:extLst>
                  </a:tr>
                  <a:tr h="370840">
                    <a:tc>
                      <a:txBody>
                        <a:bodyPr/>
                        <a:lstStyle/>
                        <a:p>
                          <a:pPr>
                            <a:buNone/>
                          </a:pPr>
                          <a:r>
                            <a:rPr lang="en-US" dirty="0"/>
                            <a:t>Pair loss was dominated by large effects</a:t>
                          </a:r>
                        </a:p>
                      </a:txBody>
                      <a:tcPr anchor="ctr"/>
                    </a:tc>
                    <a:tc>
                      <a:txBody>
                        <a:bodyPr/>
                        <a:lstStyle/>
                        <a:p>
                          <a:pPr>
                            <a:buNone/>
                          </a:pPr>
                          <a:r>
                            <a:rPr lang="en-US"/>
                            <a:t>Large velocity/position effects outweighed small effects</a:t>
                          </a:r>
                        </a:p>
                      </a:txBody>
                      <a:tcPr anchor="ctr"/>
                    </a:tc>
                    <a:tc>
                      <a:txBody>
                        <a:bodyPr/>
                        <a:lstStyle/>
                        <a:p>
                          <a:pPr>
                            <a:buNone/>
                          </a:pPr>
                          <a:r>
                            <a:rPr lang="en-US"/>
                            <a:t>Per-intervention normalized pair loss</a:t>
                          </a:r>
                        </a:p>
                      </a:txBody>
                      <a:tcPr anchor="ctr"/>
                    </a:tc>
                    <a:extLst>
                      <a:ext uri="{0D108BD9-81ED-4DB2-BD59-A6C34878D82A}">
                        <a16:rowId xmlns:a16="http://schemas.microsoft.com/office/drawing/2014/main" val="3960624380"/>
                      </a:ext>
                    </a:extLst>
                  </a:tr>
                  <a:tr h="370840">
                    <a:tc>
                      <a:txBody>
                        <a:bodyPr/>
                        <a:lstStyle/>
                        <a:p>
                          <a:pPr>
                            <a:buNone/>
                          </a:pPr>
                          <a:r>
                            <a:rPr lang="en-US"/>
                            <a:t>Model selection preferred ID fit</a:t>
                          </a:r>
                        </a:p>
                      </a:txBody>
                      <a:tcPr anchor="ctr"/>
                    </a:tc>
                    <a:tc>
                      <a:txBody>
                        <a:bodyPr/>
                        <a:lstStyle/>
                        <a:p>
                          <a:pPr>
                            <a:buNone/>
                          </a:pPr>
                          <a:r>
                            <a:rPr lang="en-US"/>
                            <a:t>Best ID RMSE can use shortcuts</a:t>
                          </a:r>
                        </a:p>
                      </a:txBody>
                      <a:tcPr anchor="ctr"/>
                    </a:tc>
                    <a:tc>
                      <a:txBody>
                        <a:bodyPr/>
                        <a:lstStyle/>
                        <a:p>
                          <a:pPr>
                            <a:buNone/>
                          </a:pPr>
                          <a:r>
                            <a:rPr lang="en-US"/>
                            <a:t>Select checkpoints using held-out pair loss</a:t>
                          </a:r>
                        </a:p>
                      </a:txBody>
                      <a:tcPr anchor="ctr"/>
                    </a:tc>
                    <a:extLst>
                      <a:ext uri="{0D108BD9-81ED-4DB2-BD59-A6C34878D82A}">
                        <a16:rowId xmlns:a16="http://schemas.microsoft.com/office/drawing/2014/main" val="2777005714"/>
                      </a:ext>
                    </a:extLst>
                  </a:tr>
                  <a:tr h="370840">
                    <a:tc>
                      <a:txBody>
                        <a:bodyPr/>
                        <a:lstStyle/>
                        <a:p>
                          <a:pPr>
                            <a:buNone/>
                          </a:pPr>
                          <a:r>
                            <a:rPr lang="en-US"/>
                            <a:t>Gate had weak structural gradient</a:t>
                          </a:r>
                        </a:p>
                      </a:txBody>
                      <a:tcPr anchor="ctr"/>
                    </a:tc>
                    <a:tc>
                      <a:txBody>
                        <a:bodyPr/>
                        <a:lstStyle/>
                        <a:p>
                          <a:pPr>
                            <a:buNone/>
                          </a:pPr>
                          <a:r>
                            <a:rPr lang="en-US" dirty="0"/>
                            <a:t>Gate did not get enough causal training signal</a:t>
                          </a:r>
                        </a:p>
                      </a:txBody>
                      <a:tcPr anchor="ctr"/>
                    </a:tc>
                    <a:tc>
                      <a:txBody>
                        <a:bodyPr/>
                        <a:lstStyle/>
                        <a:p>
                          <a:pPr>
                            <a:buNone/>
                          </a:pPr>
                          <a:r>
                            <a:rPr lang="en-US" dirty="0"/>
                            <a:t>Separate gate LR + gradient logging</a:t>
                          </a:r>
                        </a:p>
                      </a:txBody>
                      <a:tcPr anchor="ctr"/>
                    </a:tc>
                    <a:extLst>
                      <a:ext uri="{0D108BD9-81ED-4DB2-BD59-A6C34878D82A}">
                        <a16:rowId xmlns:a16="http://schemas.microsoft.com/office/drawing/2014/main" val="3181819167"/>
                      </a:ext>
                    </a:extLst>
                  </a:tr>
                  <a:tr h="370840">
                    <a:tc>
                      <a:txBody>
                        <a:bodyPr/>
                        <a:lstStyle/>
                        <a:p>
                          <a:pPr>
                            <a:buNone/>
                          </a:pPr>
                          <a:r>
                            <a:rPr lang="en-US"/>
                            <a:t>Input/output scales differed</a:t>
                          </a:r>
                        </a:p>
                      </a:txBody>
                      <a:tcPr anchor="ctr"/>
                    </a:tc>
                    <a:tc>
                      <a:txBody>
                        <a:bodyPr/>
                        <a:lstStyle/>
                        <a:p>
                          <a:pPr>
                            <a:buNone/>
                          </a:pPr>
                          <a:r>
                            <a:rPr lang="en-US"/>
                            <a:t>MSE and pair loss could have mismatched scales</a:t>
                          </a:r>
                        </a:p>
                      </a:txBody>
                      <a:tcPr anchor="ctr"/>
                    </a:tc>
                    <a:tc>
                      <a:txBody>
                        <a:bodyPr/>
                        <a:lstStyle/>
                        <a:p>
                          <a:pPr>
                            <a:buNone/>
                          </a:pPr>
                          <a:r>
                            <a:rPr lang="en-US" dirty="0"/>
                            <a:t>Standardize input and output dimensions</a:t>
                          </a:r>
                        </a:p>
                      </a:txBody>
                      <a:tcPr anchor="ctr"/>
                    </a:tc>
                    <a:extLst>
                      <a:ext uri="{0D108BD9-81ED-4DB2-BD59-A6C34878D82A}">
                        <a16:rowId xmlns:a16="http://schemas.microsoft.com/office/drawing/2014/main" val="661162326"/>
                      </a:ext>
                    </a:extLst>
                  </a:tr>
                </a:tbl>
              </a:graphicData>
            </a:graphic>
          </p:graphicFrame>
        </mc:Choice>
        <mc:Fallback xmlns="">
          <p:graphicFrame>
            <p:nvGraphicFramePr>
              <p:cNvPr id="6" name="Table 5">
                <a:extLst>
                  <a:ext uri="{FF2B5EF4-FFF2-40B4-BE49-F238E27FC236}">
                    <a16:creationId xmlns:a16="http://schemas.microsoft.com/office/drawing/2014/main" id="{B57D2984-EA7B-D647-C2D9-519600FA62F0}"/>
                  </a:ext>
                </a:extLst>
              </p:cNvPr>
              <p:cNvGraphicFramePr>
                <a:graphicFrameLocks noGrp="1"/>
              </p:cNvGraphicFramePr>
              <p:nvPr>
                <p:extLst>
                  <p:ext uri="{D42A27DB-BD31-4B8C-83A1-F6EECF244321}">
                    <p14:modId xmlns:p14="http://schemas.microsoft.com/office/powerpoint/2010/main" val="102157006"/>
                  </p:ext>
                </p:extLst>
              </p:nvPr>
            </p:nvGraphicFramePr>
            <p:xfrm>
              <a:off x="925774" y="2090511"/>
              <a:ext cx="10340451" cy="3571240"/>
            </p:xfrm>
            <a:graphic>
              <a:graphicData uri="http://schemas.openxmlformats.org/drawingml/2006/table">
                <a:tbl>
                  <a:tblPr firstRow="1" bandRow="1">
                    <a:tableStyleId>{073A0DAA-6AF3-43AB-8588-CEC1D06C72B9}</a:tableStyleId>
                  </a:tblPr>
                  <a:tblGrid>
                    <a:gridCol w="3446817">
                      <a:extLst>
                        <a:ext uri="{9D8B030D-6E8A-4147-A177-3AD203B41FA5}">
                          <a16:colId xmlns:a16="http://schemas.microsoft.com/office/drawing/2014/main" val="2043386796"/>
                        </a:ext>
                      </a:extLst>
                    </a:gridCol>
                    <a:gridCol w="3446817">
                      <a:extLst>
                        <a:ext uri="{9D8B030D-6E8A-4147-A177-3AD203B41FA5}">
                          <a16:colId xmlns:a16="http://schemas.microsoft.com/office/drawing/2014/main" val="740752488"/>
                        </a:ext>
                      </a:extLst>
                    </a:gridCol>
                    <a:gridCol w="3446817">
                      <a:extLst>
                        <a:ext uri="{9D8B030D-6E8A-4147-A177-3AD203B41FA5}">
                          <a16:colId xmlns:a16="http://schemas.microsoft.com/office/drawing/2014/main" val="1007254941"/>
                        </a:ext>
                      </a:extLst>
                    </a:gridCol>
                  </a:tblGrid>
                  <a:tr h="370840">
                    <a:tc>
                      <a:txBody>
                        <a:bodyPr/>
                        <a:lstStyle/>
                        <a:p>
                          <a:pPr>
                            <a:buNone/>
                          </a:pPr>
                          <a:r>
                            <a:rPr lang="en-US"/>
                            <a:t>Previous issue</a:t>
                          </a:r>
                        </a:p>
                      </a:txBody>
                      <a:tcPr anchor="ctr"/>
                    </a:tc>
                    <a:tc>
                      <a:txBody>
                        <a:bodyPr/>
                        <a:lstStyle/>
                        <a:p>
                          <a:pPr>
                            <a:buNone/>
                          </a:pPr>
                          <a:r>
                            <a:rPr lang="en-US" dirty="0"/>
                            <a:t>Evidence</a:t>
                          </a:r>
                        </a:p>
                      </a:txBody>
                      <a:tcPr anchor="ctr"/>
                    </a:tc>
                    <a:tc>
                      <a:txBody>
                        <a:bodyPr/>
                        <a:lstStyle/>
                        <a:p>
                          <a:pPr>
                            <a:buNone/>
                          </a:pPr>
                          <a:r>
                            <a:rPr lang="en-US"/>
                            <a:t>New fix</a:t>
                          </a:r>
                        </a:p>
                      </a:txBody>
                      <a:tcPr anchor="ctr"/>
                    </a:tc>
                    <a:extLst>
                      <a:ext uri="{0D108BD9-81ED-4DB2-BD59-A6C34878D82A}">
                        <a16:rowId xmlns:a16="http://schemas.microsoft.com/office/drawing/2014/main" val="3116541094"/>
                      </a:ext>
                    </a:extLst>
                  </a:tr>
                  <a:tr h="640080">
                    <a:tc>
                      <a:txBody>
                        <a:bodyPr/>
                        <a:lstStyle/>
                        <a:p>
                          <a:pPr>
                            <a:buNone/>
                          </a:pPr>
                          <a:r>
                            <a:rPr lang="en-US" dirty="0"/>
                            <a:t>Gate stayed near 0.5</a:t>
                          </a:r>
                        </a:p>
                      </a:txBody>
                      <a:tcPr anchor="ctr"/>
                    </a:tc>
                    <a:tc>
                      <a:txBody>
                        <a:bodyPr/>
                        <a:lstStyle/>
                        <a:p>
                          <a:pPr>
                            <a:buNone/>
                          </a:pPr>
                          <a:r>
                            <a:rPr lang="en-US"/>
                            <a:t>True causes and decoys had nearly identical gates</a:t>
                          </a:r>
                        </a:p>
                      </a:txBody>
                      <a:tcPr anchor="ctr"/>
                    </a:tc>
                    <a:tc>
                      <a:txBody>
                        <a:bodyPr/>
                        <a:lstStyle/>
                        <a:p>
                          <a:endParaRPr lang="en-US"/>
                        </a:p>
                      </a:txBody>
                      <a:tcPr anchor="ctr">
                        <a:blipFill>
                          <a:blip r:embed="rId3"/>
                          <a:stretch>
                            <a:fillRect l="-200177" t="-60952" r="-707" b="-416190"/>
                          </a:stretch>
                        </a:blipFill>
                      </a:tcPr>
                    </a:tc>
                    <a:extLst>
                      <a:ext uri="{0D108BD9-81ED-4DB2-BD59-A6C34878D82A}">
                        <a16:rowId xmlns:a16="http://schemas.microsoft.com/office/drawing/2014/main" val="317687116"/>
                      </a:ext>
                    </a:extLst>
                  </a:tr>
                  <a:tr h="640080">
                    <a:tc>
                      <a:txBody>
                        <a:bodyPr/>
                        <a:lstStyle/>
                        <a:p>
                          <a:pPr>
                            <a:buNone/>
                          </a:pPr>
                          <a:r>
                            <a:rPr lang="en-US" dirty="0"/>
                            <a:t>Pair loss was dominated by large effects</a:t>
                          </a:r>
                        </a:p>
                      </a:txBody>
                      <a:tcPr anchor="ctr"/>
                    </a:tc>
                    <a:tc>
                      <a:txBody>
                        <a:bodyPr/>
                        <a:lstStyle/>
                        <a:p>
                          <a:pPr>
                            <a:buNone/>
                          </a:pPr>
                          <a:r>
                            <a:rPr lang="en-US"/>
                            <a:t>Large velocity/position effects outweighed small effects</a:t>
                          </a:r>
                        </a:p>
                      </a:txBody>
                      <a:tcPr anchor="ctr"/>
                    </a:tc>
                    <a:tc>
                      <a:txBody>
                        <a:bodyPr/>
                        <a:lstStyle/>
                        <a:p>
                          <a:pPr>
                            <a:buNone/>
                          </a:pPr>
                          <a:r>
                            <a:rPr lang="en-US"/>
                            <a:t>Per-intervention normalized pair loss</a:t>
                          </a:r>
                        </a:p>
                      </a:txBody>
                      <a:tcPr anchor="ctr"/>
                    </a:tc>
                    <a:extLst>
                      <a:ext uri="{0D108BD9-81ED-4DB2-BD59-A6C34878D82A}">
                        <a16:rowId xmlns:a16="http://schemas.microsoft.com/office/drawing/2014/main" val="3960624380"/>
                      </a:ext>
                    </a:extLst>
                  </a:tr>
                  <a:tr h="640080">
                    <a:tc>
                      <a:txBody>
                        <a:bodyPr/>
                        <a:lstStyle/>
                        <a:p>
                          <a:pPr>
                            <a:buNone/>
                          </a:pPr>
                          <a:r>
                            <a:rPr lang="en-US"/>
                            <a:t>Model selection preferred ID fit</a:t>
                          </a:r>
                        </a:p>
                      </a:txBody>
                      <a:tcPr anchor="ctr"/>
                    </a:tc>
                    <a:tc>
                      <a:txBody>
                        <a:bodyPr/>
                        <a:lstStyle/>
                        <a:p>
                          <a:pPr>
                            <a:buNone/>
                          </a:pPr>
                          <a:r>
                            <a:rPr lang="en-US"/>
                            <a:t>Best ID RMSE can use shortcuts</a:t>
                          </a:r>
                        </a:p>
                      </a:txBody>
                      <a:tcPr anchor="ctr"/>
                    </a:tc>
                    <a:tc>
                      <a:txBody>
                        <a:bodyPr/>
                        <a:lstStyle/>
                        <a:p>
                          <a:pPr>
                            <a:buNone/>
                          </a:pPr>
                          <a:r>
                            <a:rPr lang="en-US"/>
                            <a:t>Select checkpoints using held-out pair loss</a:t>
                          </a:r>
                        </a:p>
                      </a:txBody>
                      <a:tcPr anchor="ctr"/>
                    </a:tc>
                    <a:extLst>
                      <a:ext uri="{0D108BD9-81ED-4DB2-BD59-A6C34878D82A}">
                        <a16:rowId xmlns:a16="http://schemas.microsoft.com/office/drawing/2014/main" val="2777005714"/>
                      </a:ext>
                    </a:extLst>
                  </a:tr>
                  <a:tr h="640080">
                    <a:tc>
                      <a:txBody>
                        <a:bodyPr/>
                        <a:lstStyle/>
                        <a:p>
                          <a:pPr>
                            <a:buNone/>
                          </a:pPr>
                          <a:r>
                            <a:rPr lang="en-US"/>
                            <a:t>Gate had weak structural gradient</a:t>
                          </a:r>
                        </a:p>
                      </a:txBody>
                      <a:tcPr anchor="ctr"/>
                    </a:tc>
                    <a:tc>
                      <a:txBody>
                        <a:bodyPr/>
                        <a:lstStyle/>
                        <a:p>
                          <a:pPr>
                            <a:buNone/>
                          </a:pPr>
                          <a:r>
                            <a:rPr lang="en-US" dirty="0"/>
                            <a:t>Gate did not get enough causal training signal</a:t>
                          </a:r>
                        </a:p>
                      </a:txBody>
                      <a:tcPr anchor="ctr"/>
                    </a:tc>
                    <a:tc>
                      <a:txBody>
                        <a:bodyPr/>
                        <a:lstStyle/>
                        <a:p>
                          <a:pPr>
                            <a:buNone/>
                          </a:pPr>
                          <a:r>
                            <a:rPr lang="en-US" dirty="0"/>
                            <a:t>Separate gate LR + gradient logging</a:t>
                          </a:r>
                        </a:p>
                      </a:txBody>
                      <a:tcPr anchor="ctr"/>
                    </a:tc>
                    <a:extLst>
                      <a:ext uri="{0D108BD9-81ED-4DB2-BD59-A6C34878D82A}">
                        <a16:rowId xmlns:a16="http://schemas.microsoft.com/office/drawing/2014/main" val="3181819167"/>
                      </a:ext>
                    </a:extLst>
                  </a:tr>
                  <a:tr h="640080">
                    <a:tc>
                      <a:txBody>
                        <a:bodyPr/>
                        <a:lstStyle/>
                        <a:p>
                          <a:pPr>
                            <a:buNone/>
                          </a:pPr>
                          <a:r>
                            <a:rPr lang="en-US"/>
                            <a:t>Input/output scales differed</a:t>
                          </a:r>
                        </a:p>
                      </a:txBody>
                      <a:tcPr anchor="ctr"/>
                    </a:tc>
                    <a:tc>
                      <a:txBody>
                        <a:bodyPr/>
                        <a:lstStyle/>
                        <a:p>
                          <a:pPr>
                            <a:buNone/>
                          </a:pPr>
                          <a:r>
                            <a:rPr lang="en-US"/>
                            <a:t>MSE and pair loss could have mismatched scales</a:t>
                          </a:r>
                        </a:p>
                      </a:txBody>
                      <a:tcPr anchor="ctr"/>
                    </a:tc>
                    <a:tc>
                      <a:txBody>
                        <a:bodyPr/>
                        <a:lstStyle/>
                        <a:p>
                          <a:pPr>
                            <a:buNone/>
                          </a:pPr>
                          <a:r>
                            <a:rPr lang="en-US" dirty="0"/>
                            <a:t>Standardize input and output dimensions</a:t>
                          </a:r>
                        </a:p>
                      </a:txBody>
                      <a:tcPr anchor="ctr"/>
                    </a:tc>
                    <a:extLst>
                      <a:ext uri="{0D108BD9-81ED-4DB2-BD59-A6C34878D82A}">
                        <a16:rowId xmlns:a16="http://schemas.microsoft.com/office/drawing/2014/main" val="661162326"/>
                      </a:ext>
                    </a:extLst>
                  </a:tr>
                </a:tbl>
              </a:graphicData>
            </a:graphic>
          </p:graphicFrame>
        </mc:Fallback>
      </mc:AlternateContent>
    </p:spTree>
    <p:extLst>
      <p:ext uri="{BB962C8B-B14F-4D97-AF65-F5344CB8AC3E}">
        <p14:creationId xmlns:p14="http://schemas.microsoft.com/office/powerpoint/2010/main" val="1207584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ED8D5-5569-A59A-CFBE-A31A4017713B}"/>
              </a:ext>
            </a:extLst>
          </p:cNvPr>
          <p:cNvSpPr>
            <a:spLocks noGrp="1"/>
          </p:cNvSpPr>
          <p:nvPr>
            <p:ph type="title"/>
          </p:nvPr>
        </p:nvSpPr>
        <p:spPr/>
        <p:txBody>
          <a:bodyPr/>
          <a:lstStyle/>
          <a:p>
            <a:r>
              <a:rPr lang="en-US" dirty="0"/>
              <a:t>Graph change with different seed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B4EEF0-31B7-6453-450B-F2D59CCD881F}"/>
                  </a:ext>
                </a:extLst>
              </p:cNvPr>
              <p:cNvSpPr>
                <a:spLocks noGrp="1"/>
              </p:cNvSpPr>
              <p:nvPr>
                <p:ph idx="1"/>
              </p:nvPr>
            </p:nvSpPr>
            <p:spPr>
              <a:xfrm>
                <a:off x="612647" y="1715532"/>
                <a:ext cx="10653579" cy="4873158"/>
              </a:xfrm>
            </p:spPr>
            <p:txBody>
              <a:bodyPr>
                <a:normAutofit lnSpcReduction="10000"/>
              </a:bodyPr>
              <a:lstStyle/>
              <a:p>
                <a:r>
                  <a:rPr lang="en-US" dirty="0"/>
                  <a:t>Previous version, we use the same G in all seed. Now, we change G in each seed.</a:t>
                </a:r>
              </a:p>
              <a:p>
                <a:r>
                  <a:rPr lang="en-US" dirty="0"/>
                  <a:t>Then we have pre-seed switches:</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𝑓𝑜𝑟𝑐𝑒</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𝑓𝑟𝑖𝑐𝑡𝑖𝑜𝑛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𝑎𝑛𝑔𝑙𝑒</m:t>
                          </m:r>
                        </m:sub>
                      </m:sSub>
                      <m:r>
                        <a:rPr lang="en-US" b="0" i="1" smtClean="0">
                          <a:latin typeface="Cambria Math" panose="02040503050406030204" pitchFamily="18" charset="0"/>
                        </a:rPr>
                        <m:t>]</m:t>
                      </m:r>
                    </m:oMath>
                  </m:oMathPara>
                </a14:m>
                <a:endParaRPr lang="en-US" dirty="0"/>
              </a:p>
              <a:p>
                <a:pPr marL="0" indent="0">
                  <a:buNone/>
                </a:pPr>
                <a:r>
                  <a:rPr lang="en-US" dirty="0"/>
                  <a:t>For example, there is a seed:</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𝑓𝑜𝑟𝑐𝑒</m:t>
                          </m:r>
                        </m:sub>
                      </m:sSub>
                      <m:r>
                        <a:rPr lang="en-US" b="0" i="1" smtClean="0">
                          <a:latin typeface="Cambria Math" panose="02040503050406030204" pitchFamily="18" charset="0"/>
                        </a:rPr>
                        <m:t>=1</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𝑓𝑟𝑖𝑐𝑡𝑖𝑜𝑛</m:t>
                          </m:r>
                        </m:sub>
                      </m:sSub>
                      <m:r>
                        <a:rPr lang="en-US" b="0" i="1" smtClean="0">
                          <a:latin typeface="Cambria Math" panose="02040503050406030204" pitchFamily="18" charset="0"/>
                        </a:rPr>
                        <m:t>=1</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𝑎𝑛𝑔𝑙𝑒</m:t>
                          </m:r>
                        </m:sub>
                      </m:sSub>
                      <m:r>
                        <a:rPr lang="en-US" b="0" i="1" smtClean="0">
                          <a:latin typeface="Cambria Math" panose="02040503050406030204" pitchFamily="18" charset="0"/>
                        </a:rPr>
                        <m:t>=0</m:t>
                      </m:r>
                    </m:oMath>
                  </m:oMathPara>
                </a14:m>
                <a:endParaRPr lang="en-US" dirty="0"/>
              </a:p>
              <a:p>
                <a:pPr marL="0" indent="0">
                  <a:buNone/>
                </a:pPr>
                <a:r>
                  <a:rPr lang="en-US" dirty="0"/>
                  <a:t>Then this seed’s mechanism will be:</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𝑐𝑠𝑖𝑔𝑛</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sub>
                              </m:sSub>
                            </m:e>
                          </m:d>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sub>
                                  </m:sSub>
                                </m:e>
                              </m:d>
                            </m:e>
                            <m:sup>
                              <m:r>
                                <a:rPr lang="en-US" b="0" i="1" smtClean="0">
                                  <a:latin typeface="Cambria Math" panose="02040503050406030204" pitchFamily="18" charset="0"/>
                                </a:rPr>
                                <m:t>2</m:t>
                              </m:r>
                            </m:sup>
                          </m:sSup>
                        </m:num>
                        <m:den>
                          <m:r>
                            <a:rPr lang="en-US" b="0" i="1" smtClean="0">
                              <a:latin typeface="Cambria Math" panose="02040503050406030204" pitchFamily="18" charset="0"/>
                            </a:rPr>
                            <m:t>𝑚</m:t>
                          </m:r>
                        </m:den>
                      </m:f>
                      <m:r>
                        <a:rPr lang="en-US" b="0" i="1" smtClean="0">
                          <a:latin typeface="Cambria Math" panose="02040503050406030204" pitchFamily="18" charset="0"/>
                        </a:rPr>
                        <m:t>+0.15</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oMath>
                  </m:oMathPara>
                </a14:m>
                <a:endParaRPr lang="en-US" dirty="0"/>
              </a:p>
              <a:p>
                <a:pPr marL="0" indent="0">
                  <a:buNone/>
                </a:pPr>
                <a:r>
                  <a:rPr lang="en-US" dirty="0"/>
                  <a:t>This case, </a:t>
                </a:r>
                <a14:m>
                  <m:oMath xmlns:m="http://schemas.openxmlformats.org/officeDocument/2006/math">
                    <m:r>
                      <a:rPr lang="en-US" i="1" dirty="0" smtClean="0">
                        <a:latin typeface="Cambria Math" panose="02040503050406030204" pitchFamily="18" charset="0"/>
                      </a:rPr>
                      <m:t>𝑎𝑛𝑔𝑙</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𝑒</m:t>
                        </m:r>
                      </m:e>
                      <m:sub>
                        <m:r>
                          <a:rPr lang="en-US" i="1" dirty="0" smtClean="0">
                            <a:latin typeface="Cambria Math" panose="02040503050406030204" pitchFamily="18" charset="0"/>
                          </a:rPr>
                          <m:t>𝑡</m:t>
                        </m:r>
                      </m:sub>
                    </m:sSub>
                    <m:r>
                      <a:rPr lang="en-US" i="1" dirty="0">
                        <a:latin typeface="Cambria Math" panose="02040503050406030204" pitchFamily="18" charset="0"/>
                      </a:rPr>
                      <m:t> </m:t>
                    </m:r>
                  </m:oMath>
                </a14:m>
                <a:r>
                  <a:rPr lang="en-US" dirty="0"/>
                  <a:t>will become </a:t>
                </a:r>
                <a14:m>
                  <m:oMath xmlns:m="http://schemas.openxmlformats.org/officeDocument/2006/math">
                    <m:r>
                      <a:rPr lang="en-US" i="1" dirty="0" smtClean="0">
                        <a:latin typeface="Cambria Math" panose="02040503050406030204" pitchFamily="18" charset="0"/>
                      </a:rPr>
                      <m:t>𝑖𝑛𝑎𝑐𝑡𝑖𝑣</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𝑒</m:t>
                        </m:r>
                      </m:e>
                      <m:sub>
                        <m:r>
                          <a:rPr lang="en-US" i="1" dirty="0" smtClean="0">
                            <a:latin typeface="Cambria Math" panose="02040503050406030204" pitchFamily="18" charset="0"/>
                          </a:rPr>
                          <m:t>𝑐𝑎𝑢𝑠𝑒</m:t>
                        </m:r>
                      </m:sub>
                    </m:sSub>
                  </m:oMath>
                </a14:m>
                <a:r>
                  <a:rPr lang="en-US" dirty="0"/>
                  <a:t>, which means this is wrong relationship in this seed case. And the real factor will change the number too, maybe change to 15, 18, or 21 edges. I tested the graph learner on multiple independent causal graphs, rather than repeatedly training it 50 times on the same graph.</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7B4EEF0-31B7-6453-450B-F2D59CCD881F}"/>
                  </a:ext>
                </a:extLst>
              </p:cNvPr>
              <p:cNvSpPr>
                <a:spLocks noGrp="1" noRot="1" noChangeAspect="1" noMove="1" noResize="1" noEditPoints="1" noAdjustHandles="1" noChangeArrowheads="1" noChangeShapeType="1" noTextEdit="1"/>
              </p:cNvSpPr>
              <p:nvPr>
                <p:ph idx="1"/>
              </p:nvPr>
            </p:nvSpPr>
            <p:spPr>
              <a:xfrm>
                <a:off x="612647" y="1715532"/>
                <a:ext cx="10653579" cy="4873158"/>
              </a:xfrm>
              <a:blipFill>
                <a:blip r:embed="rId2"/>
                <a:stretch>
                  <a:fillRect l="-572" t="-500" r="-572" b="-375"/>
                </a:stretch>
              </a:blipFill>
            </p:spPr>
            <p:txBody>
              <a:bodyPr/>
              <a:lstStyle/>
              <a:p>
                <a:r>
                  <a:rPr lang="en-US">
                    <a:noFill/>
                  </a:rPr>
                  <a:t> </a:t>
                </a:r>
              </a:p>
            </p:txBody>
          </p:sp>
        </mc:Fallback>
      </mc:AlternateContent>
    </p:spTree>
    <p:extLst>
      <p:ext uri="{BB962C8B-B14F-4D97-AF65-F5344CB8AC3E}">
        <p14:creationId xmlns:p14="http://schemas.microsoft.com/office/powerpoint/2010/main" val="1008486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F9DE-BCB6-71EB-00B0-D24EEEFD5B1F}"/>
              </a:ext>
            </a:extLst>
          </p:cNvPr>
          <p:cNvSpPr>
            <a:spLocks noGrp="1"/>
          </p:cNvSpPr>
          <p:nvPr>
            <p:ph type="title"/>
          </p:nvPr>
        </p:nvSpPr>
        <p:spPr/>
        <p:txBody>
          <a:bodyPr/>
          <a:lstStyle/>
          <a:p>
            <a:r>
              <a:rPr lang="en-US" dirty="0"/>
              <a:t>Algorithm change 1: hard-concrete gate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2CF837-B79B-1206-098C-55D052B32AC4}"/>
                  </a:ext>
                </a:extLst>
              </p:cNvPr>
              <p:cNvSpPr>
                <a:spLocks noGrp="1"/>
              </p:cNvSpPr>
              <p:nvPr>
                <p:ph idx="1"/>
              </p:nvPr>
            </p:nvSpPr>
            <p:spPr>
              <a:xfrm>
                <a:off x="612647" y="1164921"/>
                <a:ext cx="10653579" cy="5473875"/>
              </a:xfrm>
            </p:spPr>
            <p:txBody>
              <a:bodyPr>
                <a:normAutofit fontScale="92500" lnSpcReduction="10000"/>
              </a:bodyPr>
              <a:lstStyle/>
              <a:p>
                <a:r>
                  <a:rPr lang="en-US" dirty="0"/>
                  <a:t>Previous gate:</a:t>
                </a:r>
              </a:p>
              <a:p>
                <a:pPr marL="0" indent="0">
                  <a:buNone/>
                </a:pPr>
                <a14:m>
                  <m:oMathPara xmlns:m="http://schemas.openxmlformats.org/officeDocument/2006/math">
                    <m:o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𝑖𝑗</m:t>
                          </m:r>
                        </m:sub>
                        <m:sup>
                          <m:r>
                            <a:rPr lang="en-US" b="0" i="1" smtClean="0">
                              <a:latin typeface="Cambria Math" panose="02040503050406030204" pitchFamily="18" charset="0"/>
                            </a:rPr>
                            <m:t>𝑠𝑖𝑔𝑚𝑜𝑖𝑑</m:t>
                          </m:r>
                        </m:sup>
                      </m:sSubSup>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𝛽</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oMath>
                  </m:oMathPara>
                </a14:m>
                <a:endParaRPr lang="en-US" dirty="0"/>
              </a:p>
              <a:p>
                <a:pPr marL="0" indent="0">
                  <a:buNone/>
                </a:pPr>
                <a:r>
                  <a:rPr lang="en-US" dirty="0"/>
                  <a:t>But problem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𝑖𝑗</m:t>
                        </m:r>
                      </m:sub>
                    </m:sSub>
                    <m:r>
                      <a:rPr lang="en-US" b="0" i="1" smtClean="0">
                        <a:latin typeface="Cambria Math" panose="02040503050406030204" pitchFamily="18" charset="0"/>
                        <a:ea typeface="Cambria Math" panose="02040503050406030204" pitchFamily="18" charset="0"/>
                      </a:rPr>
                      <m:t>≈0.5</m:t>
                    </m:r>
                  </m:oMath>
                </a14:m>
                <a:r>
                  <a:rPr lang="en-US" dirty="0"/>
                  <a:t>, which happened easily, every gate will be "Half-open, half-closed" state; the images cannot be truly separated. Then we use hard-concrete gate:</a:t>
                </a:r>
              </a:p>
              <a:p>
                <a:r>
                  <a:rPr lang="en-US" dirty="0"/>
                  <a:t>New version sample first:</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r>
                        <a:rPr lang="en-US" b="0" i="1" smtClean="0">
                          <a:latin typeface="Cambria Math" panose="02040503050406030204" pitchFamily="18" charset="0"/>
                        </a:rPr>
                        <m:t>𝑈𝑛𝑖𝑓𝑜𝑟𝑚</m:t>
                      </m:r>
                      <m:r>
                        <a:rPr lang="en-US" b="0" i="1" smtClean="0">
                          <a:latin typeface="Cambria Math" panose="02040503050406030204" pitchFamily="18" charset="0"/>
                        </a:rPr>
                        <m:t>(0,1)</m:t>
                      </m:r>
                    </m:oMath>
                  </m:oMathPara>
                </a14:m>
                <a:endParaRPr lang="en-US"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m:t>
                      </m:r>
                      <m:f>
                        <m:fPr>
                          <m:ctrlPr>
                            <a:rPr lang="en-US" b="0" i="1" smtClean="0">
                              <a:latin typeface="Cambria Math" panose="02040503050406030204" pitchFamily="18" charset="0"/>
                            </a:rPr>
                          </m:ctrlPr>
                        </m:fPr>
                        <m:num>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𝑖𝑗</m:t>
                                  </m:r>
                                </m:sub>
                              </m:sSub>
                            </m:e>
                          </m:func>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𝑖𝑗</m:t>
                                      </m:r>
                                    </m:sub>
                                  </m:sSub>
                                </m:e>
                              </m:d>
                            </m:e>
                          </m:fun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𝑖𝑗</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𝐻𝐶</m:t>
                              </m:r>
                            </m:sub>
                          </m:sSub>
                        </m:den>
                      </m:f>
                      <m:r>
                        <a:rPr lang="en-US" b="0" i="1" smtClean="0">
                          <a:latin typeface="Cambria Math" panose="02040503050406030204" pitchFamily="18" charset="0"/>
                        </a:rPr>
                        <m:t>)</m:t>
                      </m:r>
                    </m:oMath>
                  </m:oMathPara>
                </a14:m>
                <a:endParaRPr lang="en-US" dirty="0"/>
              </a:p>
              <a:p>
                <a:r>
                  <a:rPr lang="en-US" dirty="0"/>
                  <a:t>Then stretch and clamp:</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r>
                        <a:rPr lang="en-US" b="0" i="1" smtClean="0">
                          <a:latin typeface="Cambria Math" panose="02040503050406030204" pitchFamily="18" charset="0"/>
                        </a:rPr>
                        <m:t>𝑐𝑙𝑖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sub>
                      </m:sSub>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𝑖𝑗</m:t>
                              </m:r>
                            </m:sub>
                          </m:sSub>
                          <m:d>
                            <m:dPr>
                              <m:ctrlPr>
                                <a:rPr lang="en-US" i="0"/>
                              </m:ctrlPr>
                            </m:dPr>
                            <m:e>
                              <m:r>
                                <m:rPr>
                                  <m:nor/>
                                </m:rPr>
                                <a:rPr lang="en-US" i="0"/>
                                <m:t>ζ</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e>
                          </m:d>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𝛾</m:t>
                          </m:r>
                        </m:e>
                      </m:d>
                      <m:r>
                        <a:rPr lang="en-US" b="0" i="1" smtClean="0">
                          <a:latin typeface="Cambria Math" panose="02040503050406030204" pitchFamily="18" charset="0"/>
                          <a:ea typeface="Cambria Math" panose="02040503050406030204" pitchFamily="18" charset="0"/>
                        </a:rPr>
                        <m:t>,</m:t>
                      </m:r>
                    </m:oMath>
                  </m:oMathPara>
                </a14:m>
                <a:endParaRPr lang="en-US"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
                      <m:r>
                        <a:rPr lang="en-US" i="1">
                          <a:latin typeface="Cambria Math" panose="02040503050406030204" pitchFamily="18" charset="0"/>
                        </a:rPr>
                        <m:t>𝛾</m:t>
                      </m:r>
                      <m:r>
                        <a:rPr lang="en-US">
                          <a:latin typeface="Cambria Math" panose="02040503050406030204" pitchFamily="18" charset="0"/>
                        </a:rPr>
                        <m:t>=−</m:t>
                      </m:r>
                      <m:r>
                        <m:rPr>
                          <m:nor/>
                        </m:rPr>
                        <a:rPr lang="en-US" b="0" i="0" smtClean="0"/>
                        <m:t>0.1</m:t>
                      </m:r>
                      <m:r>
                        <m:rPr>
                          <m:nor/>
                        </m:rPr>
                        <a:rPr lang="en-US" i="0"/>
                        <m:t>，</m:t>
                      </m:r>
                      <m:r>
                        <a:rPr lang="en-US" i="1">
                          <a:latin typeface="Cambria Math" panose="02040503050406030204" pitchFamily="18" charset="0"/>
                        </a:rPr>
                        <m:t>𝜁</m:t>
                      </m:r>
                      <m:r>
                        <a:rPr lang="en-US">
                          <a:latin typeface="Cambria Math" panose="02040503050406030204" pitchFamily="18" charset="0"/>
                        </a:rPr>
                        <m:t>=1.1</m:t>
                      </m:r>
                      <m:r>
                        <m:rPr>
                          <m:nor/>
                        </m:rPr>
                        <a:rPr lang="en-US" i="0"/>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𝐻𝐶</m:t>
                          </m:r>
                        </m:sub>
                      </m:sSub>
                      <m:r>
                        <a:rPr lang="en-US">
                          <a:latin typeface="Cambria Math" panose="02040503050406030204" pitchFamily="18" charset="0"/>
                        </a:rPr>
                        <m:t>=2/3</m:t>
                      </m:r>
                      <m:r>
                        <m:rPr>
                          <m:nor/>
                        </m:rPr>
                        <a:rPr lang="en-US" i="0"/>
                        <m:t>（Louizos, Welling &amp; Kingma, ICLR 2018）</m:t>
                      </m:r>
                    </m:oMath>
                  </m:oMathPara>
                </a14:m>
                <a:endParaRPr lang="en-US" dirty="0"/>
              </a:p>
              <a:p>
                <a:r>
                  <a:rPr lang="en-US" dirty="0" err="1"/>
                  <a:t>Trianing</a:t>
                </a:r>
                <a:r>
                  <a:rPr lang="en-US" dirty="0"/>
                  <a:t>/evaluation is diff:</a:t>
                </a:r>
              </a:p>
              <a:p>
                <a:pPr marL="0" indent="0">
                  <a:buNone/>
                </a:pPr>
                <a14:m>
                  <m:oMathPara xmlns:m="http://schemas.openxmlformats.org/officeDocument/2006/math">
                    <m:o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𝑖𝑗</m:t>
                          </m:r>
                        </m:sub>
                        <m:sup>
                          <m:r>
                            <a:rPr lang="en-US" b="0" i="1" smtClean="0">
                              <a:latin typeface="Cambria Math" panose="02040503050406030204" pitchFamily="18" charset="0"/>
                            </a:rPr>
                            <m:t>𝑡𝑟𝑎𝑖𝑛</m:t>
                          </m:r>
                        </m:sup>
                      </m:sSubSup>
                      <m:r>
                        <a:rPr lang="en-US" b="0" i="1" smtClean="0">
                          <a:latin typeface="Cambria Math" panose="02040503050406030204" pitchFamily="18" charset="0"/>
                        </a:rPr>
                        <m:t>=</m:t>
                      </m:r>
                      <m:r>
                        <a:rPr lang="en-US" b="0" i="1" smtClean="0">
                          <a:latin typeface="Cambria Math" panose="02040503050406030204" pitchFamily="18" charset="0"/>
                        </a:rPr>
                        <m:t>𝑐𝑙𝑖𝑝</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𝑖𝑗</m:t>
                              </m:r>
                            </m:sub>
                          </m:sSub>
                          <m:d>
                            <m:dPr>
                              <m:ctrlPr>
                                <a:rPr lang="en-US" i="0"/>
                              </m:ctrlPr>
                            </m:dPr>
                            <m:e>
                              <m:r>
                                <m:rPr>
                                  <m:nor/>
                                </m:rPr>
                                <a:rPr lang="en-US" i="0"/>
                                <m:t>ζ</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𝛾</m:t>
                              </m:r>
                            </m:e>
                          </m:d>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𝛾</m:t>
                          </m:r>
                        </m:e>
                      </m:d>
                      <m:r>
                        <a:rPr lang="en-US" b="0" i="1" smtClean="0">
                          <a:latin typeface="Cambria Math" panose="02040503050406030204" pitchFamily="18" charset="0"/>
                          <a:ea typeface="Cambria Math" panose="02040503050406030204" pitchFamily="18" charset="0"/>
                        </a:rPr>
                        <m:t>,  </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𝑖𝑗</m:t>
                          </m:r>
                        </m:sub>
                        <m:sup>
                          <m:r>
                            <a:rPr lang="en-US" b="0" i="1" smtClean="0">
                              <a:latin typeface="Cambria Math" panose="02040503050406030204" pitchFamily="18" charset="0"/>
                              <a:ea typeface="Cambria Math" panose="02040503050406030204" pitchFamily="18" charset="0"/>
                            </a:rPr>
                            <m:t>𝑒𝑣𝑎𝑙</m:t>
                          </m:r>
                        </m:sup>
                      </m:sSub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𝑐𝑙𝑖𝑝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𝑖𝑗</m:t>
                          </m:r>
                        </m:sub>
                      </m:sSub>
                      <m:r>
                        <a:rPr lang="en-US" b="0" i="1" smtClean="0">
                          <a:latin typeface="Cambria Math" panose="02040503050406030204" pitchFamily="18" charset="0"/>
                          <a:ea typeface="Cambria Math" panose="02040503050406030204" pitchFamily="18" charset="0"/>
                        </a:rPr>
                        <m:t>)</m:t>
                      </m:r>
                      <m:d>
                        <m:dPr>
                          <m:ctrlPr>
                            <a:rPr lang="en-US" i="0"/>
                          </m:ctrlPr>
                        </m:dPr>
                        <m:e>
                          <m:r>
                            <m:rPr>
                              <m:nor/>
                            </m:rPr>
                            <a:rPr lang="en-US" i="0"/>
                            <m:t>ζ</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𝛾</m:t>
                          </m:r>
                        </m:e>
                      </m:d>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B62CF837-B79B-1206-098C-55D052B32AC4}"/>
                  </a:ext>
                </a:extLst>
              </p:cNvPr>
              <p:cNvSpPr>
                <a:spLocks noGrp="1" noRot="1" noChangeAspect="1" noMove="1" noResize="1" noEditPoints="1" noAdjustHandles="1" noChangeArrowheads="1" noChangeShapeType="1" noTextEdit="1"/>
              </p:cNvSpPr>
              <p:nvPr>
                <p:ph idx="1"/>
              </p:nvPr>
            </p:nvSpPr>
            <p:spPr>
              <a:xfrm>
                <a:off x="612647" y="1164921"/>
                <a:ext cx="10653579" cy="5473875"/>
              </a:xfrm>
              <a:blipFill>
                <a:blip r:embed="rId2"/>
                <a:stretch>
                  <a:fillRect l="-515" t="-445"/>
                </a:stretch>
              </a:blipFill>
            </p:spPr>
            <p:txBody>
              <a:bodyPr/>
              <a:lstStyle/>
              <a:p>
                <a:r>
                  <a:rPr lang="en-US">
                    <a:noFill/>
                  </a:rPr>
                  <a:t> </a:t>
                </a:r>
              </a:p>
            </p:txBody>
          </p:sp>
        </mc:Fallback>
      </mc:AlternateContent>
    </p:spTree>
    <p:extLst>
      <p:ext uri="{BB962C8B-B14F-4D97-AF65-F5344CB8AC3E}">
        <p14:creationId xmlns:p14="http://schemas.microsoft.com/office/powerpoint/2010/main" val="332332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ED65-DABA-50F3-2985-A13E13F7B83A}"/>
              </a:ext>
            </a:extLst>
          </p:cNvPr>
          <p:cNvSpPr>
            <a:spLocks noGrp="1"/>
          </p:cNvSpPr>
          <p:nvPr>
            <p:ph type="title"/>
          </p:nvPr>
        </p:nvSpPr>
        <p:spPr/>
        <p:txBody>
          <a:bodyPr/>
          <a:lstStyle/>
          <a:p>
            <a:r>
              <a:rPr lang="en-US" dirty="0"/>
              <a:t>Algorithm change 1: hard-concrete gate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3C754F-97D9-3F6A-FCF7-815178B2F76D}"/>
                  </a:ext>
                </a:extLst>
              </p:cNvPr>
              <p:cNvSpPr>
                <a:spLocks noGrp="1"/>
              </p:cNvSpPr>
              <p:nvPr>
                <p:ph idx="1"/>
              </p:nvPr>
            </p:nvSpPr>
            <p:spPr>
              <a:xfrm>
                <a:off x="612647" y="1327759"/>
                <a:ext cx="10653579" cy="5530241"/>
              </a:xfrm>
            </p:spPr>
            <p:txBody>
              <a:bodyPr>
                <a:normAutofit fontScale="85000" lnSpcReduction="10000"/>
              </a:bodyPr>
              <a:lstStyle/>
              <a:p>
                <a:r>
                  <a:rPr lang="en-US" dirty="0"/>
                  <a:t>Sigmoid gates tend to cause edges to settle near 0.5; however, combining hard-concrete gates with 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0</m:t>
                        </m:r>
                      </m:sub>
                    </m:sSub>
                    <m:r>
                      <a:rPr lang="en-US" b="0" i="1" smtClean="0">
                        <a:latin typeface="Cambria Math" panose="02040503050406030204" pitchFamily="18" charset="0"/>
                      </a:rPr>
                      <m:t> </m:t>
                    </m:r>
                  </m:oMath>
                </a14:m>
                <a:r>
                  <a:rPr lang="en-US" dirty="0"/>
                  <a:t>penalty makes the "half-open" state costly, thereby driving edges toward 0 or 1.</a:t>
                </a:r>
              </a:p>
              <a:p>
                <a:r>
                  <a:rPr lang="en-US" dirty="0"/>
                  <a:t>The corresponding sparsity </a:t>
                </a:r>
                <a:r>
                  <a:rPr lang="en-US" dirty="0" err="1"/>
                  <a:t>regularizer</a:t>
                </a:r>
                <a:r>
                  <a:rPr lang="en-US" dirty="0"/>
                  <a:t> is</a:t>
                </a:r>
              </a:p>
              <a:p>
                <a:pPr marL="0" indent="0">
                  <a:buNone/>
                </a:pPr>
                <a14:m>
                  <m:oMathPara xmlns:m="http://schemas.openxmlformats.org/officeDocument/2006/math">
                    <m:o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ℒ</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0</m:t>
                              </m:r>
                            </m:sub>
                          </m:sSub>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ℒ</m:t>
                          </m:r>
                        </m:e>
                        <m:sub>
                          <m:r>
                            <a:rPr lang="en-US" b="0" i="1" smtClean="0">
                              <a:latin typeface="Cambria Math" panose="02040503050406030204" pitchFamily="18" charset="0"/>
                              <a:ea typeface="Cambria Math" panose="02040503050406030204" pitchFamily="18" charset="0"/>
                            </a:rPr>
                            <m:t>𝑝𝑒𝑛</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0</m:t>
                          </m:r>
                        </m:sub>
                      </m:sSub>
                      <m:r>
                        <m:rPr>
                          <m:nor/>
                        </m:rPr>
                        <a:rPr lang="en-US" i="0"/>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24×3</m:t>
                          </m:r>
                        </m:den>
                      </m:f>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m:rPr>
                              <m:brk m:alnAt="23"/>
                            </m:rPr>
                            <a:rPr lang="en-US" b="0" i="1" smtClean="0">
                              <a:latin typeface="Cambria Math" panose="02040503050406030204" pitchFamily="18" charset="0"/>
                              <a:ea typeface="Cambria Math" panose="02040503050406030204" pitchFamily="18" charset="0"/>
                            </a:rPr>
                            <m:t>=</m:t>
                          </m:r>
                          <m:r>
                            <m:rPr>
                              <m:brk m:alnAt="23"/>
                            </m:rP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24</m:t>
                          </m:r>
                        </m:sup>
                        <m:e>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𝑗</m:t>
                              </m:r>
                              <m:r>
                                <m:rPr>
                                  <m:brk m:alnAt="23"/>
                                </m:rPr>
                                <a:rPr lang="en-US" b="0" i="1" smtClean="0">
                                  <a:latin typeface="Cambria Math" panose="02040503050406030204" pitchFamily="18" charset="0"/>
                                  <a:ea typeface="Cambria Math" panose="02040503050406030204" pitchFamily="18" charset="0"/>
                                </a:rPr>
                                <m:t>=</m:t>
                              </m:r>
                              <m:r>
                                <m:rPr>
                                  <m:brk m:alnAt="23"/>
                                </m:rP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𝑖𝑗</m:t>
                                  </m:r>
                                </m:sub>
                              </m:sSub>
                              <m:r>
                                <a:rPr lang="en-US" b="0" i="1" smtClean="0">
                                  <a:latin typeface="Cambria Math" panose="02040503050406030204" pitchFamily="18" charset="0"/>
                                  <a:ea typeface="Cambria Math" panose="02040503050406030204" pitchFamily="18" charset="0"/>
                                </a:rPr>
                                <m:t>&gt;0)</m:t>
                              </m:r>
                            </m:e>
                          </m:nary>
                        </m:e>
                      </m:nary>
                    </m:oMath>
                  </m:oMathPara>
                </a14:m>
                <a:endParaRPr lang="en-US" dirty="0"/>
              </a:p>
              <a:p>
                <a:pPr marL="0" indent="0">
                  <a:buNone/>
                </a:pPr>
                <a:r>
                  <a:rPr lang="en-US" dirty="0"/>
                  <a:t>The implication is not to directly penalize the magnitude of the edge weight, but rather to penalize the probability of the edge being in the "on" state.</a:t>
                </a:r>
              </a:p>
              <a:p>
                <a:r>
                  <a:rPr lang="en-US" dirty="0"/>
                  <a:t>I also did the column normalization, prevents a meaningless scaling path where all gate values ​​shrink while the weights of the first MLP layer grow; the model must learn the relative structure among inputs rather than global scaling.</a:t>
                </a:r>
              </a:p>
              <a:p>
                <a:pPr marL="0" indent="0">
                  <a:buNone/>
                </a:pPr>
                <a14:m>
                  <m:oMathPara xmlns:m="http://schemas.openxmlformats.org/officeDocument/2006/math">
                    <m:o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m:t>
                              </m:r>
                              <m:r>
                                <a:rPr lang="en-US" b="0" i="1" smtClean="0">
                                  <a:latin typeface="Cambria Math" panose="02040503050406030204" pitchFamily="18" charset="0"/>
                                </a:rPr>
                                <m:t>𝑗</m:t>
                              </m:r>
                            </m:sub>
                          </m:sSub>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m:t>
                              </m:r>
                              <m:r>
                                <a:rPr lang="en-US" b="0" i="1" smtClean="0">
                                  <a:latin typeface="Cambria Math" panose="02040503050406030204" pitchFamily="18" charset="0"/>
                                </a:rPr>
                                <m:t>𝑗</m:t>
                              </m:r>
                            </m:sub>
                          </m:sSub>
                        </m:num>
                        <m:den>
                          <m:r>
                            <a:rPr lang="en-US" b="0" i="1" smtClean="0">
                              <a:latin typeface="Cambria Math" panose="02040503050406030204" pitchFamily="18" charset="0"/>
                            </a:rPr>
                            <m:t>𝑚𝑒𝑎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𝑖𝑗</m:t>
                                  </m:r>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𝜖</m:t>
                          </m:r>
                        </m:den>
                      </m:f>
                    </m:oMath>
                  </m:oMathPara>
                </a14:m>
                <a:endParaRPr lang="en-US" dirty="0"/>
              </a:p>
              <a:p>
                <a:pPr marL="0" indent="0">
                  <a:buNone/>
                </a:pPr>
                <a:r>
                  <a:rPr lang="en-US" dirty="0"/>
                  <a:t>Then, the training only change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24,</m:t>
                        </m:r>
                        <m:r>
                          <a:rPr lang="en-US" b="0" i="1" smtClean="0">
                            <a:latin typeface="Cambria Math" panose="02040503050406030204" pitchFamily="18" charset="0"/>
                          </a:rPr>
                          <m:t>𝑗</m:t>
                        </m:r>
                      </m:sub>
                    </m:sSub>
                  </m:oMath>
                </a14:m>
                <a:r>
                  <a:rPr lang="en-US" dirty="0"/>
                  <a:t>, and will not change whole gate. Cuz I want to find which input is more likely the ‘casual’</a:t>
                </a:r>
              </a:p>
            </p:txBody>
          </p:sp>
        </mc:Choice>
        <mc:Fallback xmlns="">
          <p:sp>
            <p:nvSpPr>
              <p:cNvPr id="3" name="Content Placeholder 2">
                <a:extLst>
                  <a:ext uri="{FF2B5EF4-FFF2-40B4-BE49-F238E27FC236}">
                    <a16:creationId xmlns:a16="http://schemas.microsoft.com/office/drawing/2014/main" id="{523C754F-97D9-3F6A-FCF7-815178B2F76D}"/>
                  </a:ext>
                </a:extLst>
              </p:cNvPr>
              <p:cNvSpPr>
                <a:spLocks noGrp="1" noRot="1" noChangeAspect="1" noMove="1" noResize="1" noEditPoints="1" noAdjustHandles="1" noChangeArrowheads="1" noChangeShapeType="1" noTextEdit="1"/>
              </p:cNvSpPr>
              <p:nvPr>
                <p:ph idx="1"/>
              </p:nvPr>
            </p:nvSpPr>
            <p:spPr>
              <a:xfrm>
                <a:off x="612647" y="1327759"/>
                <a:ext cx="10653579" cy="5530241"/>
              </a:xfrm>
              <a:blipFill>
                <a:blip r:embed="rId2"/>
                <a:stretch>
                  <a:fillRect l="-343" t="-221" r="-744"/>
                </a:stretch>
              </a:blipFill>
            </p:spPr>
            <p:txBody>
              <a:bodyPr/>
              <a:lstStyle/>
              <a:p>
                <a:r>
                  <a:rPr lang="en-US">
                    <a:noFill/>
                  </a:rPr>
                  <a:t> </a:t>
                </a:r>
              </a:p>
            </p:txBody>
          </p:sp>
        </mc:Fallback>
      </mc:AlternateContent>
    </p:spTree>
    <p:extLst>
      <p:ext uri="{BB962C8B-B14F-4D97-AF65-F5344CB8AC3E}">
        <p14:creationId xmlns:p14="http://schemas.microsoft.com/office/powerpoint/2010/main" val="2467462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E17B6-4A35-258F-3167-EBA526075F45}"/>
              </a:ext>
            </a:extLst>
          </p:cNvPr>
          <p:cNvSpPr>
            <a:spLocks noGrp="1"/>
          </p:cNvSpPr>
          <p:nvPr>
            <p:ph type="title"/>
          </p:nvPr>
        </p:nvSpPr>
        <p:spPr/>
        <p:txBody>
          <a:bodyPr/>
          <a:lstStyle/>
          <a:p>
            <a:r>
              <a:rPr lang="en-US" dirty="0"/>
              <a:t>Algorithm change 2: normalized intervention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DB1D39-5E31-2E7C-05DF-F35ABF451E37}"/>
                  </a:ext>
                </a:extLst>
              </p:cNvPr>
              <p:cNvSpPr>
                <a:spLocks noGrp="1"/>
              </p:cNvSpPr>
              <p:nvPr>
                <p:ph idx="1"/>
              </p:nvPr>
            </p:nvSpPr>
            <p:spPr>
              <a:xfrm>
                <a:off x="612647" y="1715532"/>
                <a:ext cx="10653579" cy="4898210"/>
              </a:xfrm>
            </p:spPr>
            <p:txBody>
              <a:bodyPr>
                <a:normAutofit fontScale="85000" lnSpcReduction="10000"/>
              </a:bodyPr>
              <a:lstStyle/>
              <a:p>
                <a:r>
                  <a:rPr lang="en-US" dirty="0"/>
                  <a:t>Old version loss function:</a:t>
                </a:r>
              </a:p>
              <a:p>
                <a:pPr marL="0" indent="0">
                  <a:buNone/>
                </a:pPr>
                <a14:m>
                  <m:oMathPara xmlns:m="http://schemas.openxmlformats.org/officeDocument/2006/math">
                    <m:o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ℒ</m:t>
                          </m:r>
                        </m:e>
                        <m:sub>
                          <m:r>
                            <a:rPr lang="en-US" b="0" i="1" smtClean="0">
                              <a:latin typeface="Cambria Math" panose="02040503050406030204" pitchFamily="18" charset="0"/>
                              <a:ea typeface="Cambria Math" panose="02040503050406030204" pitchFamily="18" charset="0"/>
                            </a:rPr>
                            <m:t>𝑝𝑎𝑖𝑟</m:t>
                          </m:r>
                        </m:sub>
                        <m:sup>
                          <m:r>
                            <a:rPr lang="en-US" b="0" i="1" smtClean="0">
                              <a:latin typeface="Cambria Math" panose="02040503050406030204" pitchFamily="18" charset="0"/>
                              <a:ea typeface="Cambria Math" panose="02040503050406030204" pitchFamily="18" charset="0"/>
                            </a:rPr>
                            <m:t>𝑜𝑙𝑑</m:t>
                          </m:r>
                        </m:sup>
                      </m:sSub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𝐵</m:t>
                          </m:r>
                        </m:den>
                      </m:f>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𝑛</m:t>
                          </m:r>
                          <m:r>
                            <m:rPr>
                              <m:brk m:alnAt="23"/>
                            </m:rPr>
                            <a:rPr lang="en-US" b="0" i="1" smtClean="0">
                              <a:latin typeface="Cambria Math" panose="02040503050406030204" pitchFamily="18" charset="0"/>
                              <a:ea typeface="Cambria Math" panose="02040503050406030204" pitchFamily="18" charset="0"/>
                            </a:rPr>
                            <m:t>=</m:t>
                          </m:r>
                          <m:r>
                            <m:rPr>
                              <m:brk m:alnAt="23"/>
                            </m:rP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𝐵</m:t>
                          </m:r>
                        </m:sup>
                        <m:e>
                          <m:sSubSup>
                            <m:sSubSupPr>
                              <m:ctrlPr>
                                <a:rPr lang="en-US" b="0" i="1" smtClean="0">
                                  <a:latin typeface="Cambria Math" panose="02040503050406030204" pitchFamily="18" charset="0"/>
                                  <a:ea typeface="Cambria Math" panose="02040503050406030204" pitchFamily="18" charset="0"/>
                                </a:rPr>
                              </m:ctrlPr>
                            </m:sSubSupPr>
                            <m:e>
                              <m:d>
                                <m:dPr>
                                  <m:begChr m:val="|"/>
                                  <m:endChr m:val="|"/>
                                  <m:ctrlPr>
                                    <a:rPr lang="en-US" b="0" i="1" smtClean="0">
                                      <a:latin typeface="Cambria Math" panose="02040503050406030204" pitchFamily="18" charset="0"/>
                                      <a:ea typeface="Cambria Math" panose="02040503050406030204" pitchFamily="18" charset="0"/>
                                    </a:rPr>
                                  </m:ctrlPr>
                                </m:dPr>
                                <m:e>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𝜏</m:t>
                                              </m:r>
                                            </m:e>
                                          </m:acc>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𝑛</m:t>
                                          </m:r>
                                        </m:sub>
                                      </m:sSub>
                                    </m:e>
                                  </m:d>
                                </m:e>
                              </m:d>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e>
                      </m:nary>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𝜏</m:t>
                                      </m:r>
                                    </m:e>
                                  </m:acc>
                                </m:e>
                                <m:sub>
                                  <m:r>
                                    <a:rPr lang="en-US" i="1">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𝑓</m:t>
                                  </m:r>
                                </m:e>
                              </m:acc>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𝑐𝑓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b>
                                  </m:sSub>
                                </m:e>
                              </m:d>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𝑓</m:t>
                                  </m:r>
                                </m:e>
                              </m:acc>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𝑏𝑎𝑠𝑒</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𝑐𝑓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𝑏𝑎𝑠𝑒</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b>
                              </m:sSub>
                            </m:e>
                          </m:eqArr>
                        </m:e>
                      </m:d>
                    </m:oMath>
                  </m:oMathPara>
                </a14:m>
                <a:endParaRPr lang="en-US" dirty="0"/>
              </a:p>
              <a:p>
                <a:pPr marL="0" indent="0">
                  <a:buNone/>
                </a:pPr>
                <a:r>
                  <a:rPr lang="en-US" dirty="0"/>
                  <a:t>But the scales of the different intervention effects vary. So we have to do ‘normalization’:</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𝑠𝑎𝑚𝑝𝑙𝑒</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m:t>
                          </m:r>
                          <m:r>
                            <a:rPr lang="en-US" b="0" i="1" smtClean="0">
                              <a:latin typeface="Cambria Math" panose="02040503050406030204" pitchFamily="18" charset="0"/>
                            </a:rPr>
                            <m:t>𝑖𝑛𝑡𝑒𝑟𝑣𝑒𝑛𝑒𝑠</m:t>
                          </m:r>
                          <m:r>
                            <a:rPr lang="en-US" b="0" i="1" smtClean="0">
                              <a:latin typeface="Cambria Math" panose="02040503050406030204" pitchFamily="18" charset="0"/>
                            </a:rPr>
                            <m:t> </m:t>
                          </m:r>
                          <m:r>
                            <a:rPr lang="en-US" b="0" i="1" smtClean="0">
                              <a:latin typeface="Cambria Math" panose="02040503050406030204" pitchFamily="18" charset="0"/>
                            </a:rPr>
                            <m:t>𝑜𝑛</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oMath>
                  </m:oMathPara>
                </a14:m>
                <a:endParaRPr lang="en-US" b="0"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𝑖</m:t>
                                  </m:r>
                                </m:sub>
                              </m:sSub>
                              <m:r>
                                <a:rPr lang="en-US" b="0" i="1" smtClean="0">
                                  <a:latin typeface="Cambria Math" panose="02040503050406030204" pitchFamily="18" charset="0"/>
                                </a:rPr>
                                <m:t>|3</m:t>
                              </m:r>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𝑛</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𝐵</m:t>
                                  </m:r>
                                </m:e>
                                <m:sub>
                                  <m:r>
                                    <a:rPr lang="en-US" i="1">
                                      <a:latin typeface="Cambria Math" panose="02040503050406030204" pitchFamily="18" charset="0"/>
                                      <a:ea typeface="Cambria Math" panose="02040503050406030204" pitchFamily="18" charset="0"/>
                                    </a:rPr>
                                    <m:t>𝑖</m:t>
                                  </m:r>
                                </m:sub>
                              </m:sSub>
                            </m:sub>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m:rPr>
                                      <m:brk m:alnAt="23"/>
                                    </m:rP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3</m:t>
                                  </m:r>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𝜏</m:t>
                                      </m:r>
                                    </m:e>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2</m:t>
                                      </m:r>
                                    </m:sup>
                                  </m:sSubSup>
                                </m:e>
                              </m:nary>
                            </m:e>
                          </m:nary>
                        </m:e>
                      </m:rad>
                    </m:oMath>
                  </m:oMathPara>
                </a14:m>
                <a:endParaRPr lang="en-US" b="0" dirty="0"/>
              </a:p>
              <a:p>
                <a:pPr marL="0" indent="0">
                  <a:buNone/>
                </a:pPr>
                <a:r>
                  <a:rPr lang="en-US" dirty="0"/>
                  <a:t>Then we have the new function:</a:t>
                </a:r>
                <a:endParaRPr lang="en-US" b="0" dirty="0"/>
              </a:p>
              <a:p>
                <a:pPr marL="0" indent="0">
                  <a:buNone/>
                </a:pPr>
                <a14:m>
                  <m:oMathPara xmlns:m="http://schemas.openxmlformats.org/officeDocument/2006/math">
                    <m:o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ℒ</m:t>
                          </m:r>
                        </m:e>
                        <m:sub>
                          <m:r>
                            <a:rPr lang="en-US" i="1">
                              <a:latin typeface="Cambria Math" panose="02040503050406030204" pitchFamily="18" charset="0"/>
                              <a:ea typeface="Cambria Math" panose="02040503050406030204" pitchFamily="18" charset="0"/>
                            </a:rPr>
                            <m:t>𝑝𝑎𝑖𝑟</m:t>
                          </m:r>
                        </m:sub>
                        <m:sup>
                          <m:r>
                            <a:rPr lang="en-US" b="0" i="1" smtClean="0">
                              <a:latin typeface="Cambria Math" panose="02040503050406030204" pitchFamily="18" charset="0"/>
                              <a:ea typeface="Cambria Math" panose="02040503050406030204" pitchFamily="18" charset="0"/>
                            </a:rPr>
                            <m:t>𝑛𝑒𝑤</m:t>
                          </m:r>
                        </m:sup>
                      </m:sSub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den>
                      </m:f>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m:t>
                          </m:r>
                        </m:sub>
                        <m:sup/>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𝐵</m:t>
                                      </m:r>
                                    </m:e>
                                    <m:sub>
                                      <m:r>
                                        <a:rPr lang="en-US" b="0" i="1" smtClean="0">
                                          <a:latin typeface="Cambria Math" panose="02040503050406030204" pitchFamily="18" charset="0"/>
                                          <a:ea typeface="Cambria Math" panose="02040503050406030204" pitchFamily="18" charset="0"/>
                                        </a:rPr>
                                        <m:t>𝑖</m:t>
                                      </m:r>
                                    </m:sub>
                                  </m:sSub>
                                </m:e>
                              </m:d>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2</m:t>
                                  </m:r>
                                </m:sup>
                              </m:sSubSup>
                            </m:den>
                          </m:f>
                        </m:e>
                      </m:nary>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𝐵</m:t>
                              </m:r>
                            </m:e>
                            <m:sub>
                              <m:r>
                                <a:rPr lang="en-US" b="0" i="1" smtClean="0">
                                  <a:latin typeface="Cambria Math" panose="02040503050406030204" pitchFamily="18" charset="0"/>
                                  <a:ea typeface="Cambria Math" panose="02040503050406030204" pitchFamily="18" charset="0"/>
                                </a:rPr>
                                <m:t>𝑖</m:t>
                              </m:r>
                            </m:sub>
                          </m:sSub>
                        </m:sub>
                        <m:sup/>
                        <m:e>
                          <m:sSubSup>
                            <m:sSubSupPr>
                              <m:ctrlPr>
                                <a:rPr lang="en-US" i="1">
                                  <a:latin typeface="Cambria Math" panose="02040503050406030204" pitchFamily="18" charset="0"/>
                                  <a:ea typeface="Cambria Math" panose="02040503050406030204" pitchFamily="18" charset="0"/>
                                </a:rPr>
                              </m:ctrlPr>
                            </m:sSubSupPr>
                            <m:e>
                              <m:d>
                                <m:dPr>
                                  <m:begChr m:val="|"/>
                                  <m:endChr m:val="|"/>
                                  <m:ctrlPr>
                                    <a:rPr lang="en-US" i="1">
                                      <a:latin typeface="Cambria Math" panose="02040503050406030204" pitchFamily="18" charset="0"/>
                                      <a:ea typeface="Cambria Math" panose="02040503050406030204" pitchFamily="18" charset="0"/>
                                    </a:rPr>
                                  </m:ctrlPr>
                                </m:dPr>
                                <m:e>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𝜏</m:t>
                                              </m:r>
                                            </m:e>
                                          </m:acc>
                                        </m:e>
                                        <m:sub>
                                          <m:r>
                                            <a:rPr lang="en-US" i="1">
                                              <a:latin typeface="Cambria Math" panose="02040503050406030204" pitchFamily="18" charset="0"/>
                                              <a:ea typeface="Cambria Math" panose="02040503050406030204" pitchFamily="18" charset="0"/>
                                            </a:rPr>
                                            <m:t>𝑛</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𝜏</m:t>
                                          </m:r>
                                        </m:e>
                                        <m:sub>
                                          <m:r>
                                            <a:rPr lang="en-US" i="1">
                                              <a:latin typeface="Cambria Math" panose="02040503050406030204" pitchFamily="18" charset="0"/>
                                              <a:ea typeface="Cambria Math" panose="02040503050406030204" pitchFamily="18" charset="0"/>
                                            </a:rPr>
                                            <m:t>𝑛</m:t>
                                          </m:r>
                                        </m:sub>
                                      </m:sSub>
                                    </m:e>
                                  </m:d>
                                </m:e>
                              </m:d>
                            </m:e>
                            <m:sub>
                              <m:r>
                                <a:rPr lang="en-US" i="1">
                                  <a:latin typeface="Cambria Math" panose="02040503050406030204" pitchFamily="18" charset="0"/>
                                  <a:ea typeface="Cambria Math" panose="02040503050406030204" pitchFamily="18" charset="0"/>
                                </a:rPr>
                                <m:t>2</m:t>
                              </m:r>
                            </m:sub>
                            <m:sup>
                              <m:r>
                                <a:rPr lang="en-US" i="1">
                                  <a:latin typeface="Cambria Math" panose="02040503050406030204" pitchFamily="18" charset="0"/>
                                  <a:ea typeface="Cambria Math" panose="02040503050406030204" pitchFamily="18" charset="0"/>
                                </a:rPr>
                                <m:t>2</m:t>
                              </m:r>
                            </m:sup>
                          </m:sSubSup>
                        </m:e>
                      </m:nary>
                    </m:oMath>
                  </m:oMathPara>
                </a14:m>
                <a:endParaRPr lang="en-US" dirty="0"/>
              </a:p>
              <a:p>
                <a:pPr marL="0" indent="0">
                  <a:buNone/>
                </a:pPr>
                <a:r>
                  <a:rPr lang="en-US" dirty="0"/>
                  <a:t>The total loss function still is the previous one.</a:t>
                </a:r>
                <a14:m>
                  <m:oMath xmlns:m="http://schemas.openxmlformats.org/officeDocument/2006/math">
                    <m:r>
                      <a:rPr lang="en-US" b="0" i="0" smtClean="0">
                        <a:solidFill>
                          <a:srgbClr val="242D38"/>
                        </a:solidFill>
                        <a:latin typeface="Cambria Math" panose="02040503050406030204" pitchFamily="18" charset="0"/>
                        <a:ea typeface="Cambria Math" panose="02040503050406030204" pitchFamily="18" charset="0"/>
                      </a:rPr>
                      <m:t>  </m:t>
                    </m:r>
                    <m:r>
                      <a:rPr lang="en-US" i="1">
                        <a:solidFill>
                          <a:srgbClr val="242D38"/>
                        </a:solidFill>
                        <a:latin typeface="Cambria Math" panose="02040503050406030204" pitchFamily="18" charset="0"/>
                        <a:ea typeface="Cambria Math" panose="02040503050406030204" pitchFamily="18" charset="0"/>
                      </a:rPr>
                      <m:t>ℒ</m:t>
                    </m:r>
                    <m:r>
                      <a:rPr lang="en-US" i="1">
                        <a:solidFill>
                          <a:srgbClr val="242D38"/>
                        </a:solidFill>
                        <a:latin typeface="Cambria Math" panose="02040503050406030204" pitchFamily="18" charset="0"/>
                      </a:rPr>
                      <m:t>=</m:t>
                    </m:r>
                    <m:sSub>
                      <m:sSubPr>
                        <m:ctrlPr>
                          <a:rPr lang="en-US" i="1">
                            <a:solidFill>
                              <a:srgbClr val="242D38"/>
                            </a:solidFill>
                            <a:latin typeface="Cambria Math" panose="02040503050406030204" pitchFamily="18" charset="0"/>
                            <a:ea typeface="Cambria Math" panose="02040503050406030204" pitchFamily="18" charset="0"/>
                          </a:rPr>
                        </m:ctrlPr>
                      </m:sSubPr>
                      <m:e>
                        <m:r>
                          <a:rPr lang="en-US" i="1">
                            <a:solidFill>
                              <a:srgbClr val="242D38"/>
                            </a:solidFill>
                            <a:latin typeface="Cambria Math" panose="02040503050406030204" pitchFamily="18" charset="0"/>
                            <a:ea typeface="Cambria Math" panose="02040503050406030204" pitchFamily="18" charset="0"/>
                          </a:rPr>
                          <m:t>ℒ</m:t>
                        </m:r>
                      </m:e>
                      <m:sub>
                        <m:r>
                          <a:rPr lang="en-US" i="1">
                            <a:solidFill>
                              <a:srgbClr val="242D38"/>
                            </a:solidFill>
                            <a:latin typeface="Cambria Math" panose="02040503050406030204" pitchFamily="18" charset="0"/>
                          </a:rPr>
                          <m:t>𝑜𝑏𝑠</m:t>
                        </m:r>
                      </m:sub>
                    </m:sSub>
                    <m:r>
                      <a:rPr lang="en-US" i="1">
                        <a:solidFill>
                          <a:srgbClr val="242D38"/>
                        </a:solidFill>
                        <a:latin typeface="Cambria Math" panose="02040503050406030204" pitchFamily="18" charset="0"/>
                      </a:rPr>
                      <m:t>+</m:t>
                    </m:r>
                    <m:sSub>
                      <m:sSubPr>
                        <m:ctrlPr>
                          <a:rPr lang="en-US" i="1">
                            <a:solidFill>
                              <a:srgbClr val="242D38"/>
                            </a:solidFill>
                            <a:latin typeface="Cambria Math" panose="02040503050406030204" pitchFamily="18" charset="0"/>
                          </a:rPr>
                        </m:ctrlPr>
                      </m:sSubPr>
                      <m:e>
                        <m:sSub>
                          <m:sSubPr>
                            <m:ctrlPr>
                              <a:rPr lang="en-US" i="1">
                                <a:solidFill>
                                  <a:srgbClr val="242D38"/>
                                </a:solidFill>
                                <a:latin typeface="Cambria Math" panose="02040503050406030204" pitchFamily="18" charset="0"/>
                              </a:rPr>
                            </m:ctrlPr>
                          </m:sSubPr>
                          <m:e>
                            <m:r>
                              <a:rPr lang="en-US" i="1">
                                <a:solidFill>
                                  <a:srgbClr val="242D38"/>
                                </a:solidFill>
                                <a:latin typeface="Cambria Math" panose="02040503050406030204" pitchFamily="18" charset="0"/>
                              </a:rPr>
                              <m:t>𝜆</m:t>
                            </m:r>
                          </m:e>
                          <m:sub>
                            <m:r>
                              <a:rPr lang="en-US" i="1">
                                <a:solidFill>
                                  <a:srgbClr val="242D38"/>
                                </a:solidFill>
                                <a:latin typeface="Cambria Math" panose="02040503050406030204" pitchFamily="18" charset="0"/>
                              </a:rPr>
                              <m:t>𝑝𝑎𝑖𝑟</m:t>
                            </m:r>
                          </m:sub>
                        </m:sSub>
                        <m:r>
                          <a:rPr lang="en-US" i="1">
                            <a:solidFill>
                              <a:srgbClr val="242D38"/>
                            </a:solidFill>
                            <a:latin typeface="Cambria Math" panose="02040503050406030204" pitchFamily="18" charset="0"/>
                            <a:ea typeface="Cambria Math" panose="02040503050406030204" pitchFamily="18" charset="0"/>
                          </a:rPr>
                          <m:t>𝜔</m:t>
                        </m:r>
                        <m:d>
                          <m:dPr>
                            <m:ctrlPr>
                              <a:rPr lang="en-US" i="1">
                                <a:solidFill>
                                  <a:srgbClr val="242D38"/>
                                </a:solidFill>
                                <a:latin typeface="Cambria Math" panose="02040503050406030204" pitchFamily="18" charset="0"/>
                                <a:ea typeface="Cambria Math" panose="02040503050406030204" pitchFamily="18" charset="0"/>
                              </a:rPr>
                            </m:ctrlPr>
                          </m:dPr>
                          <m:e>
                            <m:r>
                              <a:rPr lang="en-US" i="1">
                                <a:solidFill>
                                  <a:srgbClr val="242D38"/>
                                </a:solidFill>
                                <a:latin typeface="Cambria Math" panose="02040503050406030204" pitchFamily="18" charset="0"/>
                                <a:ea typeface="Cambria Math" panose="02040503050406030204" pitchFamily="18" charset="0"/>
                              </a:rPr>
                              <m:t>𝑡</m:t>
                            </m:r>
                          </m:e>
                        </m:d>
                        <m:r>
                          <a:rPr lang="en-US" i="1">
                            <a:solidFill>
                              <a:srgbClr val="242D38"/>
                            </a:solidFill>
                            <a:latin typeface="Cambria Math" panose="02040503050406030204" pitchFamily="18" charset="0"/>
                            <a:ea typeface="Cambria Math" panose="02040503050406030204" pitchFamily="18" charset="0"/>
                          </a:rPr>
                          <m:t>ℒ</m:t>
                        </m:r>
                      </m:e>
                      <m:sub>
                        <m:r>
                          <a:rPr lang="en-US" i="1">
                            <a:solidFill>
                              <a:srgbClr val="242D38"/>
                            </a:solidFill>
                            <a:latin typeface="Cambria Math" panose="02040503050406030204" pitchFamily="18" charset="0"/>
                            <a:ea typeface="Cambria Math" panose="02040503050406030204" pitchFamily="18" charset="0"/>
                          </a:rPr>
                          <m:t>𝑝𝑎𝑖𝑟</m:t>
                        </m:r>
                      </m:sub>
                    </m:sSub>
                    <m:r>
                      <a:rPr lang="en-US" i="1">
                        <a:solidFill>
                          <a:srgbClr val="242D38"/>
                        </a:solidFill>
                        <a:latin typeface="Cambria Math" panose="02040503050406030204" pitchFamily="18" charset="0"/>
                        <a:ea typeface="Cambria Math" panose="02040503050406030204" pitchFamily="18" charset="0"/>
                      </a:rPr>
                      <m:t>+</m:t>
                    </m:r>
                    <m:sSub>
                      <m:sSubPr>
                        <m:ctrlPr>
                          <a:rPr lang="en-US" i="1">
                            <a:solidFill>
                              <a:srgbClr val="242D38"/>
                            </a:solidFill>
                            <a:latin typeface="Cambria Math" panose="02040503050406030204" pitchFamily="18" charset="0"/>
                            <a:ea typeface="Cambria Math" panose="02040503050406030204" pitchFamily="18" charset="0"/>
                          </a:rPr>
                        </m:ctrlPr>
                      </m:sSubPr>
                      <m:e>
                        <m:r>
                          <a:rPr lang="en-US" i="1">
                            <a:solidFill>
                              <a:srgbClr val="242D38"/>
                            </a:solidFill>
                            <a:latin typeface="Cambria Math" panose="02040503050406030204" pitchFamily="18" charset="0"/>
                            <a:ea typeface="Cambria Math" panose="02040503050406030204" pitchFamily="18" charset="0"/>
                          </a:rPr>
                          <m:t>ℒ</m:t>
                        </m:r>
                      </m:e>
                      <m:sub>
                        <m:r>
                          <a:rPr lang="en-US" i="1">
                            <a:solidFill>
                              <a:srgbClr val="242D38"/>
                            </a:solidFill>
                            <a:latin typeface="Cambria Math" panose="02040503050406030204" pitchFamily="18" charset="0"/>
                            <a:ea typeface="Cambria Math" panose="02040503050406030204" pitchFamily="18" charset="0"/>
                          </a:rPr>
                          <m:t>𝑝𝑒𝑛</m:t>
                        </m:r>
                      </m:sub>
                    </m:sSub>
                    <m:r>
                      <a:rPr lang="en-US" b="0" i="1" smtClean="0">
                        <a:solidFill>
                          <a:srgbClr val="242D38"/>
                        </a:solidFill>
                        <a:latin typeface="Cambria Math" panose="02040503050406030204" pitchFamily="18" charset="0"/>
                        <a:ea typeface="Cambria Math" panose="02040503050406030204" pitchFamily="18" charset="0"/>
                      </a:rPr>
                      <m:t>,</m:t>
                    </m:r>
                    <m:r>
                      <a:rPr lang="en-US" i="1">
                        <a:solidFill>
                          <a:srgbClr val="242D38"/>
                        </a:solidFill>
                        <a:latin typeface="Cambria Math" panose="02040503050406030204" pitchFamily="18" charset="0"/>
                        <a:ea typeface="Cambria Math" panose="02040503050406030204" pitchFamily="18" charset="0"/>
                      </a:rPr>
                      <m:t>𝜔</m:t>
                    </m:r>
                    <m:d>
                      <m:dPr>
                        <m:ctrlPr>
                          <a:rPr lang="en-US" i="1">
                            <a:solidFill>
                              <a:srgbClr val="242D38"/>
                            </a:solidFill>
                            <a:latin typeface="Cambria Math" panose="02040503050406030204" pitchFamily="18" charset="0"/>
                            <a:ea typeface="Cambria Math" panose="02040503050406030204" pitchFamily="18" charset="0"/>
                          </a:rPr>
                        </m:ctrlPr>
                      </m:dPr>
                      <m:e>
                        <m:r>
                          <a:rPr lang="en-US" i="1">
                            <a:solidFill>
                              <a:srgbClr val="242D38"/>
                            </a:solidFill>
                            <a:latin typeface="Cambria Math" panose="02040503050406030204" pitchFamily="18" charset="0"/>
                            <a:ea typeface="Cambria Math" panose="02040503050406030204" pitchFamily="18" charset="0"/>
                          </a:rPr>
                          <m:t>𝑡</m:t>
                        </m:r>
                      </m:e>
                    </m:d>
                    <m:r>
                      <a:rPr lang="en-US" b="0" i="1" smtClean="0">
                        <a:solidFill>
                          <a:srgbClr val="242D38"/>
                        </a:solidFill>
                        <a:latin typeface="Cambria Math" panose="02040503050406030204" pitchFamily="18" charset="0"/>
                        <a:ea typeface="Cambria Math" panose="02040503050406030204" pitchFamily="18" charset="0"/>
                      </a:rPr>
                      <m:t>=0.25</m:t>
                    </m:r>
                  </m:oMath>
                </a14:m>
                <a:endParaRPr lang="en-US" dirty="0">
                  <a:solidFill>
                    <a:srgbClr val="242D38"/>
                  </a:solidFill>
                  <a:latin typeface="Aptos"/>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CBDB1D39-5E31-2E7C-05DF-F35ABF451E37}"/>
                  </a:ext>
                </a:extLst>
              </p:cNvPr>
              <p:cNvSpPr>
                <a:spLocks noGrp="1" noRot="1" noChangeAspect="1" noMove="1" noResize="1" noEditPoints="1" noAdjustHandles="1" noChangeArrowheads="1" noChangeShapeType="1" noTextEdit="1"/>
              </p:cNvSpPr>
              <p:nvPr>
                <p:ph idx="1"/>
              </p:nvPr>
            </p:nvSpPr>
            <p:spPr>
              <a:xfrm>
                <a:off x="612647" y="1715532"/>
                <a:ext cx="10653579" cy="4898210"/>
              </a:xfrm>
              <a:blipFill>
                <a:blip r:embed="rId2"/>
                <a:stretch>
                  <a:fillRect l="-343" t="-124"/>
                </a:stretch>
              </a:blipFill>
            </p:spPr>
            <p:txBody>
              <a:bodyPr/>
              <a:lstStyle/>
              <a:p>
                <a:r>
                  <a:rPr lang="en-US">
                    <a:noFill/>
                  </a:rPr>
                  <a:t> </a:t>
                </a:r>
              </a:p>
            </p:txBody>
          </p:sp>
        </mc:Fallback>
      </mc:AlternateContent>
    </p:spTree>
    <p:extLst>
      <p:ext uri="{BB962C8B-B14F-4D97-AF65-F5344CB8AC3E}">
        <p14:creationId xmlns:p14="http://schemas.microsoft.com/office/powerpoint/2010/main" val="726056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E19A-DBE4-D1EF-DED9-859A7322FF1B}"/>
              </a:ext>
            </a:extLst>
          </p:cNvPr>
          <p:cNvSpPr>
            <a:spLocks noGrp="1"/>
          </p:cNvSpPr>
          <p:nvPr>
            <p:ph type="title"/>
          </p:nvPr>
        </p:nvSpPr>
        <p:spPr/>
        <p:txBody>
          <a:bodyPr/>
          <a:lstStyle/>
          <a:p>
            <a:r>
              <a:rPr lang="en-US" dirty="0"/>
              <a:t>Algorithm change 2: normalized intervention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E2D3BB-D1EC-E052-2726-C861DE40AA27}"/>
                  </a:ext>
                </a:extLst>
              </p:cNvPr>
              <p:cNvSpPr>
                <a:spLocks noGrp="1"/>
              </p:cNvSpPr>
              <p:nvPr>
                <p:ph idx="1"/>
              </p:nvPr>
            </p:nvSpPr>
            <p:spPr/>
            <p:txBody>
              <a:bodyPr/>
              <a:lstStyle/>
              <a:p>
                <a:r>
                  <a:rPr lang="en-US" dirty="0"/>
                  <a:t>I also added the floor, since according to the new loss pair function, if we divide by really small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oMath>
                </a14:m>
                <a:r>
                  <a:rPr lang="en-US" dirty="0"/>
                  <a:t> will tend to disproportionately amplify variables that have little to no effect.</a:t>
                </a:r>
              </a:p>
              <a:p>
                <a:r>
                  <a:rPr lang="en-US" dirty="0"/>
                  <a:t>For example: </a:t>
                </a:r>
                <a14:m>
                  <m:oMath xmlns:m="http://schemas.openxmlformats.org/officeDocument/2006/math">
                    <m:sSub>
                      <m:sSubPr>
                        <m:ctrlPr>
                          <a:rPr lang="en-US" i="1" dirty="0" smtClean="0">
                            <a:latin typeface="Cambria Math" panose="02040503050406030204" pitchFamily="18" charset="0"/>
                          </a:rPr>
                        </m:ctrlPr>
                      </m:sSub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𝑎𝑐𝑐𝑒𝑙𝑒𝑟𝑎𝑡𝑖𝑜𝑛</m:t>
                            </m:r>
                          </m:sub>
                        </m:sSub>
                      </m:e>
                      <m:sub>
                        <m:r>
                          <a:rPr lang="en-US" i="1" dirty="0" smtClean="0">
                            <a:latin typeface="Cambria Math" panose="02040503050406030204" pitchFamily="18" charset="0"/>
                          </a:rPr>
                          <m:t>𝑡</m:t>
                        </m:r>
                      </m:sub>
                    </m:sSub>
                    <m:r>
                      <a:rPr lang="en-US" b="0" i="1" dirty="0" smtClean="0">
                        <a:latin typeface="Cambria Math" panose="02040503050406030204" pitchFamily="18" charset="0"/>
                      </a:rPr>
                      <m:t>=</m:t>
                    </m:r>
                    <m:r>
                      <m:rPr>
                        <m:nor/>
                      </m:rPr>
                      <a:rPr lang="en-US" i="0" dirty="0"/>
                      <m:t>0.008</m:t>
                    </m:r>
                  </m:oMath>
                </a14:m>
                <a:r>
                  <a:rPr lang="en-US" dirty="0"/>
                  <a:t>​, then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0.008</m:t>
                        </m:r>
                      </m:den>
                    </m:f>
                    <m:r>
                      <a:rPr lang="en-US" b="0" i="1" smtClean="0">
                        <a:latin typeface="Cambria Math" panose="02040503050406030204" pitchFamily="18" charset="0"/>
                      </a:rPr>
                      <m:t>=15625</m:t>
                    </m:r>
                  </m:oMath>
                </a14:m>
                <a:r>
                  <a:rPr lang="en-US" dirty="0"/>
                  <a:t>, which will dwarf all other loss function like </a:t>
                </a:r>
                <a14:m>
                  <m:oMath xmlns:m="http://schemas.openxmlformats.org/officeDocument/2006/math">
                    <m:sSub>
                      <m:sSubPr>
                        <m:ctrlPr>
                          <a:rPr lang="en-US" i="1">
                            <a:solidFill>
                              <a:srgbClr val="242D38"/>
                            </a:solidFill>
                            <a:latin typeface="Cambria Math" panose="02040503050406030204" pitchFamily="18" charset="0"/>
                            <a:ea typeface="Cambria Math" panose="02040503050406030204" pitchFamily="18" charset="0"/>
                          </a:rPr>
                        </m:ctrlPr>
                      </m:sSubPr>
                      <m:e>
                        <m:r>
                          <a:rPr lang="en-US" i="1">
                            <a:solidFill>
                              <a:srgbClr val="242D38"/>
                            </a:solidFill>
                            <a:latin typeface="Cambria Math" panose="02040503050406030204" pitchFamily="18" charset="0"/>
                            <a:ea typeface="Cambria Math" panose="02040503050406030204" pitchFamily="18" charset="0"/>
                          </a:rPr>
                          <m:t>ℒ</m:t>
                        </m:r>
                      </m:e>
                      <m:sub>
                        <m:r>
                          <a:rPr lang="en-US" b="0" i="1" smtClean="0">
                            <a:solidFill>
                              <a:srgbClr val="242D38"/>
                            </a:solidFill>
                            <a:latin typeface="Cambria Math" panose="02040503050406030204" pitchFamily="18" charset="0"/>
                            <a:ea typeface="Cambria Math" panose="02040503050406030204" pitchFamily="18" charset="0"/>
                          </a:rPr>
                          <m:t>𝑜𝑏𝑠</m:t>
                        </m:r>
                      </m:sub>
                    </m:sSub>
                    <m:r>
                      <a:rPr lang="en-US" b="0" i="1" smtClean="0">
                        <a:solidFill>
                          <a:srgbClr val="242D38"/>
                        </a:solidFill>
                        <a:latin typeface="Cambria Math" panose="02040503050406030204" pitchFamily="18" charset="0"/>
                        <a:ea typeface="Cambria Math" panose="02040503050406030204" pitchFamily="18" charset="0"/>
                      </a:rPr>
                      <m:t> </m:t>
                    </m:r>
                    <m:r>
                      <a:rPr lang="en-US" b="0" i="1" smtClean="0">
                        <a:solidFill>
                          <a:srgbClr val="242D38"/>
                        </a:solidFill>
                        <a:latin typeface="Cambria Math" panose="02040503050406030204" pitchFamily="18" charset="0"/>
                        <a:ea typeface="Cambria Math" panose="02040503050406030204" pitchFamily="18" charset="0"/>
                      </a:rPr>
                      <m:t>𝑎𝑛𝑑</m:t>
                    </m:r>
                    <m:r>
                      <a:rPr lang="en-US" b="0" i="1" smtClean="0">
                        <a:solidFill>
                          <a:srgbClr val="242D38"/>
                        </a:solidFill>
                        <a:latin typeface="Cambria Math" panose="02040503050406030204" pitchFamily="18" charset="0"/>
                        <a:ea typeface="Cambria Math" panose="02040503050406030204" pitchFamily="18" charset="0"/>
                      </a:rPr>
                      <m:t> </m:t>
                    </m:r>
                    <m:sSub>
                      <m:sSubPr>
                        <m:ctrlPr>
                          <a:rPr lang="en-US" i="1">
                            <a:solidFill>
                              <a:srgbClr val="242D38"/>
                            </a:solidFill>
                            <a:latin typeface="Cambria Math" panose="02040503050406030204" pitchFamily="18" charset="0"/>
                            <a:ea typeface="Cambria Math" panose="02040503050406030204" pitchFamily="18" charset="0"/>
                          </a:rPr>
                        </m:ctrlPr>
                      </m:sSubPr>
                      <m:e>
                        <m:r>
                          <a:rPr lang="en-US" i="1">
                            <a:solidFill>
                              <a:srgbClr val="242D38"/>
                            </a:solidFill>
                            <a:latin typeface="Cambria Math" panose="02040503050406030204" pitchFamily="18" charset="0"/>
                            <a:ea typeface="Cambria Math" panose="02040503050406030204" pitchFamily="18" charset="0"/>
                          </a:rPr>
                          <m:t>ℒ</m:t>
                        </m:r>
                      </m:e>
                      <m:sub>
                        <m:r>
                          <a:rPr lang="en-US" b="0" i="1" smtClean="0">
                            <a:solidFill>
                              <a:srgbClr val="242D38"/>
                            </a:solidFill>
                            <a:latin typeface="Cambria Math" panose="02040503050406030204" pitchFamily="18" charset="0"/>
                            <a:ea typeface="Cambria Math" panose="02040503050406030204" pitchFamily="18" charset="0"/>
                          </a:rPr>
                          <m:t>𝑝𝑒𝑛</m:t>
                        </m:r>
                      </m:sub>
                    </m:sSub>
                  </m:oMath>
                </a14:m>
                <a:endParaRPr lang="en-US"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𝑠</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𝑚𝑒𝑑𝑖𝑎𝑛</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e>
                          </m:d>
                        </m:e>
                      </m:func>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=0.2</m:t>
                      </m:r>
                    </m:oMath>
                  </m:oMathPara>
                </a14:m>
                <a:endParaRPr lang="en-US" dirty="0"/>
              </a:p>
              <a:p>
                <a:pPr marL="0" indent="0">
                  <a:buNone/>
                </a:pPr>
                <a:r>
                  <a:rPr lang="en-US" dirty="0"/>
                  <a:t>Use this avoids both the monopolization by large effects and the infinite amplification of small effects.</a:t>
                </a:r>
              </a:p>
            </p:txBody>
          </p:sp>
        </mc:Choice>
        <mc:Fallback xmlns="">
          <p:sp>
            <p:nvSpPr>
              <p:cNvPr id="3" name="Content Placeholder 2">
                <a:extLst>
                  <a:ext uri="{FF2B5EF4-FFF2-40B4-BE49-F238E27FC236}">
                    <a16:creationId xmlns:a16="http://schemas.microsoft.com/office/drawing/2014/main" id="{3AE2D3BB-D1EC-E052-2726-C861DE40AA27}"/>
                  </a:ext>
                </a:extLst>
              </p:cNvPr>
              <p:cNvSpPr>
                <a:spLocks noGrp="1" noRot="1" noChangeAspect="1" noMove="1" noResize="1" noEditPoints="1" noAdjustHandles="1" noChangeArrowheads="1" noChangeShapeType="1" noTextEdit="1"/>
              </p:cNvSpPr>
              <p:nvPr>
                <p:ph idx="1"/>
              </p:nvPr>
            </p:nvSpPr>
            <p:spPr>
              <a:blipFill>
                <a:blip r:embed="rId2"/>
                <a:stretch>
                  <a:fillRect l="-572"/>
                </a:stretch>
              </a:blipFill>
            </p:spPr>
            <p:txBody>
              <a:bodyPr/>
              <a:lstStyle/>
              <a:p>
                <a:r>
                  <a:rPr lang="en-US">
                    <a:noFill/>
                  </a:rPr>
                  <a:t> </a:t>
                </a:r>
              </a:p>
            </p:txBody>
          </p:sp>
        </mc:Fallback>
      </mc:AlternateContent>
    </p:spTree>
    <p:extLst>
      <p:ext uri="{BB962C8B-B14F-4D97-AF65-F5344CB8AC3E}">
        <p14:creationId xmlns:p14="http://schemas.microsoft.com/office/powerpoint/2010/main" val="1481717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C626-627B-E109-D141-C37CD84AC6FF}"/>
              </a:ext>
            </a:extLst>
          </p:cNvPr>
          <p:cNvSpPr>
            <a:spLocks noGrp="1"/>
          </p:cNvSpPr>
          <p:nvPr>
            <p:ph type="title"/>
          </p:nvPr>
        </p:nvSpPr>
        <p:spPr/>
        <p:txBody>
          <a:bodyPr/>
          <a:lstStyle/>
          <a:p>
            <a:r>
              <a:rPr lang="en-US" dirty="0"/>
              <a:t>Fixed the anti-causal issue with early stopping.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68C10B-487F-5AF2-A8CB-9F5F51233CBA}"/>
                  </a:ext>
                </a:extLst>
              </p:cNvPr>
              <p:cNvSpPr>
                <a:spLocks noGrp="1"/>
              </p:cNvSpPr>
              <p:nvPr>
                <p:ph idx="1"/>
              </p:nvPr>
            </p:nvSpPr>
            <p:spPr>
              <a:xfrm>
                <a:off x="612647" y="1715532"/>
                <a:ext cx="10653579" cy="5142468"/>
              </a:xfrm>
            </p:spPr>
            <p:txBody>
              <a:bodyPr>
                <a:normAutofit/>
              </a:bodyPr>
              <a:lstStyle/>
              <a:p>
                <a:r>
                  <a:rPr lang="en-US" dirty="0"/>
                  <a:t>Previous version: used ID(in distribution) validation RMSE select checkpoint:</a:t>
                </a:r>
              </a:p>
              <a:p>
                <a:pPr marL="0" indent="0">
                  <a:buNone/>
                </a:pPr>
                <a14:m>
                  <m:oMathPara xmlns:m="http://schemas.openxmlformats.org/officeDocument/2006/math">
                    <m:oMath>
                      <m:r>
                        <a:rPr lang="en-US" b="0" i="1" smtClean="0">
                          <a:latin typeface="Cambria Math" panose="02040503050406030204" pitchFamily="18" charset="0"/>
                        </a:rPr>
                        <m:t>𝑠𝑒𝑙𝑒𝑐𝑡</m:t>
                      </m:r>
                      <m:r>
                        <a:rPr lang="en-US" b="0" i="1" smtClean="0">
                          <a:latin typeface="Cambria Math" panose="02040503050406030204" pitchFamily="18" charset="0"/>
                        </a:rPr>
                        <m:t> </m:t>
                      </m:r>
                      <m:r>
                        <a:rPr lang="en-US" b="0" i="1" smtClean="0">
                          <a:latin typeface="Cambria Math" panose="02040503050406030204" pitchFamily="18" charset="0"/>
                        </a:rPr>
                        <m:t>𝑐ℎ𝑒𝑐𝑘𝑝𝑜𝑖𝑛𝑡</m:t>
                      </m:r>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min</m:t>
                              </m:r>
                            </m:fName>
                            <m:e>
                              <m:r>
                                <a:rPr lang="en-US" b="0" i="1" smtClean="0">
                                  <a:latin typeface="Cambria Math" panose="02040503050406030204" pitchFamily="18" charset="0"/>
                                </a:rPr>
                                <m:t>𝑅𝑀𝑆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𝐼𝐷</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func>
                        </m:e>
                      </m:func>
                    </m:oMath>
                  </m:oMathPara>
                </a14:m>
                <a:endParaRPr lang="en-US" dirty="0"/>
              </a:p>
              <a:p>
                <a:pPr marL="0" indent="0">
                  <a:buNone/>
                </a:pPr>
                <a:r>
                  <a:rPr lang="en-US" dirty="0"/>
                  <a:t>But this would lean towards a shortcut. Since the </a:t>
                </a:r>
                <a14:m>
                  <m:oMath xmlns:m="http://schemas.openxmlformats.org/officeDocument/2006/math">
                    <m:r>
                      <a:rPr lang="en-US" b="0" i="1" smtClean="0">
                        <a:latin typeface="Cambria Math" panose="02040503050406030204" pitchFamily="18" charset="0"/>
                      </a:rPr>
                      <m:t>𝑠𝑒𝑛𝑠𝑜𝑟</m:t>
                    </m:r>
                    <m:r>
                      <a:rPr lang="en-US" b="0" i="1" smtClean="0">
                        <a:latin typeface="Cambria Math" panose="02040503050406030204" pitchFamily="18" charset="0"/>
                      </a:rPr>
                      <m:t>_</m:t>
                    </m:r>
                    <m:r>
                      <a:rPr lang="en-US" b="0" i="1" smtClean="0">
                        <a:latin typeface="Cambria Math" panose="02040503050406030204" pitchFamily="18" charset="0"/>
                      </a:rPr>
                      <m:t>𝑣</m:t>
                    </m:r>
                  </m:oMath>
                </a14:m>
                <a:r>
                  <a:rPr lang="en-US" dirty="0"/>
                  <a:t> in train and ID validation is </a:t>
                </a:r>
                <a:r>
                  <a:rPr lang="en-US" altLang="zh-CN" dirty="0"/>
                  <a:t>really</a:t>
                </a:r>
                <a:r>
                  <a:rPr lang="en-US" dirty="0"/>
                  <a:t> useful (I designed this on purpose), which means model might only use this factor that can directly tell how the speed looks like. Then, the model can’t learn the physical method:</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US" dirty="0"/>
              </a:p>
              <a:p>
                <a:pPr marL="0" indent="0">
                  <a:buNone/>
                </a:pPr>
                <a:r>
                  <a:rPr lang="en-US" dirty="0"/>
                  <a:t>The new method look at the held-out pair loss:</a:t>
                </a:r>
              </a:p>
              <a:p>
                <a:pPr marL="0" indent="0">
                  <a:buNone/>
                </a:pPr>
                <a14:m>
                  <m:oMathPara xmlns:m="http://schemas.openxmlformats.org/officeDocument/2006/math">
                    <m:oMath>
                      <m:r>
                        <a:rPr lang="en-US" b="0" i="1" smtClean="0">
                          <a:latin typeface="Cambria Math" panose="02040503050406030204" pitchFamily="18" charset="0"/>
                        </a:rPr>
                        <m:t>𝑐𝑟𝑖𝑡𝑒𝑟𝑖𝑜𝑛</m:t>
                      </m:r>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ℒ</m:t>
                              </m:r>
                            </m:e>
                            <m:sub>
                              <m:r>
                                <a:rPr lang="en-US" b="0" i="1" smtClean="0">
                                  <a:latin typeface="Cambria Math" panose="02040503050406030204" pitchFamily="18" charset="0"/>
                                  <a:ea typeface="Cambria Math" panose="02040503050406030204" pitchFamily="18" charset="0"/>
                                </a:rPr>
                                <m:t>𝑣𝑎𝑙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𝑜𝑏𝑠</m:t>
                              </m:r>
                            </m:sub>
                          </m:sSub>
                        </m:num>
                        <m:den>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𝑣𝑎𝑙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𝑜𝑏𝑠</m:t>
                              </m:r>
                            </m:sub>
                            <m: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sup>
                          </m:sSubSup>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ℒ</m:t>
                              </m:r>
                            </m:e>
                            <m:sub>
                              <m:r>
                                <a:rPr lang="en-US" i="1">
                                  <a:latin typeface="Cambria Math" panose="02040503050406030204" pitchFamily="18" charset="0"/>
                                  <a:ea typeface="Cambria Math" panose="02040503050406030204" pitchFamily="18" charset="0"/>
                                </a:rPr>
                                <m:t>𝑣𝑎𝑙</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𝑝𝑎𝑖𝑟</m:t>
                              </m:r>
                            </m:sub>
                          </m:sSub>
                        </m:num>
                        <m:den>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𝑣𝑎𝑙</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𝑝𝑎𝑖𝑟</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sup>
                          </m:sSubSup>
                        </m:den>
                      </m:f>
                    </m:oMath>
                  </m:oMathPara>
                </a14:m>
                <a:endParaRPr lang="en-US" dirty="0"/>
              </a:p>
              <a:p>
                <a:pPr marL="0" indent="0">
                  <a:buNone/>
                </a:pPr>
                <a:r>
                  <a:rPr lang="en-US" dirty="0"/>
                  <a:t>For a checkpoint like this, it is not enough to simply predict the ID output accurately; it must also correctly predict the magnitude of change resulting from the intervention.</a:t>
                </a:r>
              </a:p>
            </p:txBody>
          </p:sp>
        </mc:Choice>
        <mc:Fallback xmlns="">
          <p:sp>
            <p:nvSpPr>
              <p:cNvPr id="3" name="Content Placeholder 2">
                <a:extLst>
                  <a:ext uri="{FF2B5EF4-FFF2-40B4-BE49-F238E27FC236}">
                    <a16:creationId xmlns:a16="http://schemas.microsoft.com/office/drawing/2014/main" id="{7068C10B-487F-5AF2-A8CB-9F5F51233CBA}"/>
                  </a:ext>
                </a:extLst>
              </p:cNvPr>
              <p:cNvSpPr>
                <a:spLocks noGrp="1" noRot="1" noChangeAspect="1" noMove="1" noResize="1" noEditPoints="1" noAdjustHandles="1" noChangeArrowheads="1" noChangeShapeType="1" noTextEdit="1"/>
              </p:cNvSpPr>
              <p:nvPr>
                <p:ph idx="1"/>
              </p:nvPr>
            </p:nvSpPr>
            <p:spPr>
              <a:xfrm>
                <a:off x="612647" y="1715532"/>
                <a:ext cx="10653579" cy="5142468"/>
              </a:xfrm>
              <a:blipFill>
                <a:blip r:embed="rId2"/>
                <a:stretch>
                  <a:fillRect l="-572"/>
                </a:stretch>
              </a:blipFill>
            </p:spPr>
            <p:txBody>
              <a:bodyPr/>
              <a:lstStyle/>
              <a:p>
                <a:r>
                  <a:rPr lang="en-US">
                    <a:noFill/>
                  </a:rPr>
                  <a:t> </a:t>
                </a:r>
              </a:p>
            </p:txBody>
          </p:sp>
        </mc:Fallback>
      </mc:AlternateContent>
    </p:spTree>
    <p:extLst>
      <p:ext uri="{BB962C8B-B14F-4D97-AF65-F5344CB8AC3E}">
        <p14:creationId xmlns:p14="http://schemas.microsoft.com/office/powerpoint/2010/main" val="2484532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rPr dirty="0"/>
              <a:t>Pipeline: from world to verdict</a:t>
            </a:r>
          </a:p>
        </p:txBody>
      </p:sp>
      <p:sp>
        <p:nvSpPr>
          <p:cNvPr id="4" name="Rounded Rectangle 3"/>
          <p:cNvSpPr/>
          <p:nvPr/>
        </p:nvSpPr>
        <p:spPr>
          <a:xfrm>
            <a:off x="612648" y="1645920"/>
            <a:ext cx="2331720" cy="1170432"/>
          </a:xfrm>
          <a:prstGeom prst="roundRect">
            <a:avLst/>
          </a:prstGeom>
          <a:solidFill>
            <a:srgbClr val="ECF6F5"/>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a:t>1  Define SCM</a:t>
            </a:r>
          </a:p>
          <a:p>
            <a:pPr algn="ctr">
              <a:spcAft>
                <a:spcPts val="100"/>
              </a:spcAft>
              <a:defRPr sz="1050">
                <a:solidFill>
                  <a:srgbClr val="666E6A"/>
                </a:solidFill>
                <a:latin typeface="Neue Haas Grotesk Text Pro"/>
              </a:defRPr>
            </a:pPr>
            <a:r>
              <a:rPr sz="1200"/>
              <a:t>7 physical causes</a:t>
            </a:r>
          </a:p>
          <a:p>
            <a:pPr algn="ctr">
              <a:spcAft>
                <a:spcPts val="100"/>
              </a:spcAft>
              <a:defRPr sz="1050">
                <a:solidFill>
                  <a:srgbClr val="666E6A"/>
                </a:solidFill>
                <a:latin typeface="Neue Haas Grotesk Text Pro"/>
              </a:defRPr>
            </a:pPr>
            <a:r>
              <a:rPr sz="1200"/>
              <a:t>+ 17 decoys</a:t>
            </a:r>
          </a:p>
          <a:p>
            <a:pPr algn="ctr">
              <a:spcAft>
                <a:spcPts val="100"/>
              </a:spcAft>
              <a:defRPr sz="1050">
                <a:solidFill>
                  <a:srgbClr val="666E6A"/>
                </a:solidFill>
                <a:latin typeface="Neue Haas Grotesk Text Pro"/>
              </a:defRPr>
            </a:pPr>
            <a:r>
              <a:rPr sz="1200"/>
              <a:t>collision dynamics</a:t>
            </a:r>
          </a:p>
        </p:txBody>
      </p:sp>
      <p:sp>
        <p:nvSpPr>
          <p:cNvPr id="5" name="Rounded Rectangle 4"/>
          <p:cNvSpPr/>
          <p:nvPr/>
        </p:nvSpPr>
        <p:spPr>
          <a:xfrm>
            <a:off x="3218688" y="1645920"/>
            <a:ext cx="2331720" cy="1170432"/>
          </a:xfrm>
          <a:prstGeom prst="roundRect">
            <a:avLst/>
          </a:prstGeom>
          <a:solidFill>
            <a:srgbClr val="ECF6F5"/>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a:t>2  Per-seed graph</a:t>
            </a:r>
          </a:p>
          <a:p>
            <a:pPr algn="ctr">
              <a:spcAft>
                <a:spcPts val="100"/>
              </a:spcAft>
              <a:defRPr sz="1050">
                <a:solidFill>
                  <a:srgbClr val="666E6A"/>
                </a:solidFill>
                <a:latin typeface="Neue Haas Grotesk Text Pro"/>
              </a:defRPr>
            </a:pPr>
            <a:r>
              <a:rPr sz="1200"/>
              <a:t>draw switches</a:t>
            </a:r>
          </a:p>
          <a:p>
            <a:pPr algn="ctr">
              <a:spcAft>
                <a:spcPts val="100"/>
              </a:spcAft>
              <a:defRPr sz="1050">
                <a:solidFill>
                  <a:srgbClr val="666E6A"/>
                </a:solidFill>
                <a:latin typeface="Neue Haas Grotesk Text Pro"/>
              </a:defRPr>
            </a:pPr>
            <a:r>
              <a:rPr sz="1200"/>
              <a:t>S = [force, friction, angle]</a:t>
            </a:r>
          </a:p>
          <a:p>
            <a:pPr algn="ctr">
              <a:spcAft>
                <a:spcPts val="100"/>
              </a:spcAft>
              <a:defRPr sz="1050">
                <a:solidFill>
                  <a:srgbClr val="666E6A"/>
                </a:solidFill>
                <a:latin typeface="Neue Haas Grotesk Text Pro"/>
              </a:defRPr>
            </a:pPr>
            <a:r>
              <a:rPr sz="1200"/>
              <a:t>5-7 true causes</a:t>
            </a:r>
          </a:p>
        </p:txBody>
      </p:sp>
      <p:sp>
        <p:nvSpPr>
          <p:cNvPr id="6" name="Rounded Rectangle 5"/>
          <p:cNvSpPr/>
          <p:nvPr/>
        </p:nvSpPr>
        <p:spPr>
          <a:xfrm>
            <a:off x="5824728" y="1645920"/>
            <a:ext cx="2331720" cy="1170432"/>
          </a:xfrm>
          <a:prstGeom prst="roundRect">
            <a:avLst/>
          </a:prstGeom>
          <a:solidFill>
            <a:srgbClr val="ECF6F5"/>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dirty="0"/>
              <a:t>3  Derive </a:t>
            </a:r>
            <a:r>
              <a:rPr sz="1200" dirty="0" err="1"/>
              <a:t>A_true</a:t>
            </a:r>
            <a:endParaRPr sz="1200" dirty="0"/>
          </a:p>
          <a:p>
            <a:pPr algn="ctr">
              <a:spcAft>
                <a:spcPts val="100"/>
              </a:spcAft>
              <a:defRPr sz="1050">
                <a:solidFill>
                  <a:srgbClr val="666E6A"/>
                </a:solidFill>
                <a:latin typeface="Neue Haas Grotesk Text Pro"/>
              </a:defRPr>
            </a:pPr>
            <a:r>
              <a:rPr sz="1200" dirty="0"/>
              <a:t>numerically, not by hand</a:t>
            </a:r>
          </a:p>
          <a:p>
            <a:pPr algn="ctr">
              <a:spcAft>
                <a:spcPts val="100"/>
              </a:spcAft>
              <a:defRPr sz="1050">
                <a:solidFill>
                  <a:srgbClr val="666E6A"/>
                </a:solidFill>
                <a:latin typeface="Neue Haas Grotesk Text Pro"/>
              </a:defRPr>
            </a:pPr>
            <a:r>
              <a:rPr sz="1200" dirty="0"/>
              <a:t>perturb ±0.4, noise off</a:t>
            </a:r>
          </a:p>
          <a:p>
            <a:pPr algn="ctr">
              <a:spcAft>
                <a:spcPts val="100"/>
              </a:spcAft>
              <a:defRPr sz="1050">
                <a:solidFill>
                  <a:srgbClr val="666E6A"/>
                </a:solidFill>
                <a:latin typeface="Neue Haas Grotesk Text Pro"/>
              </a:defRPr>
            </a:pPr>
            <a:r>
              <a:rPr sz="1200" dirty="0"/>
              <a:t>see which outputs move</a:t>
            </a:r>
          </a:p>
        </p:txBody>
      </p:sp>
      <p:sp>
        <p:nvSpPr>
          <p:cNvPr id="7" name="Rounded Rectangle 6"/>
          <p:cNvSpPr/>
          <p:nvPr/>
        </p:nvSpPr>
        <p:spPr>
          <a:xfrm>
            <a:off x="8430768" y="1645920"/>
            <a:ext cx="2331720" cy="1170432"/>
          </a:xfrm>
          <a:prstGeom prst="roundRect">
            <a:avLst/>
          </a:prstGeom>
          <a:solidFill>
            <a:srgbClr val="ECF6F5"/>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a:t>4  Sample data</a:t>
            </a:r>
          </a:p>
          <a:p>
            <a:pPr algn="ctr">
              <a:spcAft>
                <a:spcPts val="100"/>
              </a:spcAft>
              <a:defRPr sz="1050">
                <a:solidFill>
                  <a:srgbClr val="666E6A"/>
                </a:solidFill>
                <a:latin typeface="Neue Haas Grotesk Text Pro"/>
              </a:defRPr>
            </a:pPr>
            <a:r>
              <a:rPr sz="1200"/>
              <a:t>observational splits</a:t>
            </a:r>
          </a:p>
          <a:p>
            <a:pPr algn="ctr">
              <a:spcAft>
                <a:spcPts val="100"/>
              </a:spcAft>
              <a:defRPr sz="1050">
                <a:solidFill>
                  <a:srgbClr val="666E6A"/>
                </a:solidFill>
                <a:latin typeface="Neue Haas Grotesk Text Pro"/>
              </a:defRPr>
            </a:pPr>
            <a:r>
              <a:rPr sz="1200"/>
              <a:t>+ twin rollouts</a:t>
            </a:r>
          </a:p>
          <a:p>
            <a:pPr algn="ctr">
              <a:spcAft>
                <a:spcPts val="100"/>
              </a:spcAft>
              <a:defRPr sz="1050">
                <a:solidFill>
                  <a:srgbClr val="666E6A"/>
                </a:solidFill>
                <a:latin typeface="Neue Haas Grotesk Text Pro"/>
              </a:defRPr>
            </a:pPr>
            <a:r>
              <a:rPr sz="1200"/>
              <a:t>sharing exogenous noise</a:t>
            </a:r>
          </a:p>
        </p:txBody>
      </p:sp>
      <p:cxnSp>
        <p:nvCxnSpPr>
          <p:cNvPr id="8" name="Connector 7"/>
          <p:cNvCxnSpPr/>
          <p:nvPr/>
        </p:nvCxnSpPr>
        <p:spPr>
          <a:xfrm>
            <a:off x="2944368" y="2231136"/>
            <a:ext cx="274320" cy="0"/>
          </a:xfrm>
          <a:prstGeom prst="line">
            <a:avLst/>
          </a:prstGeom>
          <a:ln w="22225">
            <a:solidFill>
              <a:srgbClr val="169C9A"/>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550408" y="2231136"/>
            <a:ext cx="274320" cy="0"/>
          </a:xfrm>
          <a:prstGeom prst="line">
            <a:avLst/>
          </a:prstGeom>
          <a:ln w="22225">
            <a:solidFill>
              <a:srgbClr val="169C9A"/>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156448" y="2231136"/>
            <a:ext cx="274320" cy="0"/>
          </a:xfrm>
          <a:prstGeom prst="line">
            <a:avLst/>
          </a:prstGeom>
          <a:ln w="22225">
            <a:solidFill>
              <a:srgbClr val="169C9A"/>
            </a:solidFill>
            <a:tailEnd type="triangle" w="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863840" y="3154680"/>
            <a:ext cx="2898648" cy="1170432"/>
          </a:xfrm>
          <a:prstGeom prst="roundRect">
            <a:avLst/>
          </a:prstGeom>
          <a:solidFill>
            <a:srgbClr val="FDF6EA"/>
          </a:solidFill>
          <a:ln w="15875">
            <a:solidFill>
              <a:srgbClr val="E15C3D"/>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a:t>5  Write to disk</a:t>
            </a:r>
          </a:p>
          <a:p>
            <a:pPr algn="ctr">
              <a:spcAft>
                <a:spcPts val="100"/>
              </a:spcAft>
              <a:defRPr sz="1050">
                <a:solidFill>
                  <a:srgbClr val="666E6A"/>
                </a:solidFill>
                <a:latin typeface="Neue Haas Grotesk Text Pro"/>
              </a:defRPr>
            </a:pPr>
            <a:r>
              <a:rPr sz="1200"/>
              <a:t>dataset/cfg_&lt;hash&gt;/</a:t>
            </a:r>
          </a:p>
          <a:p>
            <a:pPr algn="ctr">
              <a:spcAft>
                <a:spcPts val="100"/>
              </a:spcAft>
              <a:defRPr sz="1050">
                <a:solidFill>
                  <a:srgbClr val="666E6A"/>
                </a:solidFill>
                <a:latin typeface="Neue Haas Grotesk Text Pro"/>
              </a:defRPr>
            </a:pPr>
            <a:r>
              <a:rPr sz="1200"/>
              <a:t>seed_0000.npz … + manifest.json</a:t>
            </a:r>
          </a:p>
          <a:p>
            <a:pPr algn="ctr">
              <a:spcAft>
                <a:spcPts val="100"/>
              </a:spcAft>
              <a:defRPr sz="1050">
                <a:solidFill>
                  <a:srgbClr val="666E6A"/>
                </a:solidFill>
                <a:latin typeface="Neue Haas Grotesk Text Pro"/>
              </a:defRPr>
            </a:pPr>
            <a:r>
              <a:rPr sz="1200"/>
              <a:t>4 CSVs: ground truth + QA</a:t>
            </a:r>
          </a:p>
        </p:txBody>
      </p:sp>
      <p:sp>
        <p:nvSpPr>
          <p:cNvPr id="12" name="Rounded Rectangle 11"/>
          <p:cNvSpPr/>
          <p:nvPr/>
        </p:nvSpPr>
        <p:spPr>
          <a:xfrm>
            <a:off x="4498848" y="3154680"/>
            <a:ext cx="2898648" cy="1170432"/>
          </a:xfrm>
          <a:prstGeom prst="roundRect">
            <a:avLst/>
          </a:prstGeom>
          <a:solidFill>
            <a:srgbClr val="FDF6EA"/>
          </a:solidFill>
          <a:ln w="15875">
            <a:solidFill>
              <a:srgbClr val="E15C3D"/>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a:t>6  QA gate</a:t>
            </a:r>
          </a:p>
          <a:p>
            <a:pPr algn="ctr">
              <a:spcAft>
                <a:spcPts val="100"/>
              </a:spcAft>
              <a:defRPr sz="1050">
                <a:solidFill>
                  <a:srgbClr val="666E6A"/>
                </a:solidFill>
                <a:latin typeface="Neue Haas Grotesk Text Pro"/>
              </a:defRPr>
            </a:pPr>
            <a:r>
              <a:rPr sz="1200"/>
              <a:t>9 checks per seed</a:t>
            </a:r>
          </a:p>
          <a:p>
            <a:pPr algn="ctr">
              <a:spcAft>
                <a:spcPts val="100"/>
              </a:spcAft>
              <a:defRPr sz="1050">
                <a:solidFill>
                  <a:srgbClr val="666E6A"/>
                </a:solidFill>
                <a:latin typeface="Neue Haas Grotesk Text Pro"/>
              </a:defRPr>
            </a:pPr>
            <a:r>
              <a:rPr sz="1200"/>
              <a:t>do(decoy) effect == 0 ?</a:t>
            </a:r>
          </a:p>
          <a:p>
            <a:pPr algn="ctr">
              <a:spcAft>
                <a:spcPts val="100"/>
              </a:spcAft>
              <a:defRPr sz="1050">
                <a:solidFill>
                  <a:srgbClr val="666E6A"/>
                </a:solidFill>
                <a:latin typeface="Neue Haas Grotesk Text Pro"/>
              </a:defRPr>
            </a:pPr>
            <a:r>
              <a:rPr sz="1200"/>
              <a:t>shift reaches every output ?</a:t>
            </a:r>
          </a:p>
        </p:txBody>
      </p:sp>
      <p:sp>
        <p:nvSpPr>
          <p:cNvPr id="13" name="Rounded Rectangle 12"/>
          <p:cNvSpPr/>
          <p:nvPr/>
        </p:nvSpPr>
        <p:spPr>
          <a:xfrm>
            <a:off x="1133856" y="3154680"/>
            <a:ext cx="2898648" cy="1170432"/>
          </a:xfrm>
          <a:prstGeom prst="roundRect">
            <a:avLst/>
          </a:prstGeom>
          <a:solidFill>
            <a:srgbClr val="ECF6F5"/>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a:t>7  Notebook loads</a:t>
            </a:r>
          </a:p>
          <a:p>
            <a:pPr algn="ctr">
              <a:spcAft>
                <a:spcPts val="100"/>
              </a:spcAft>
              <a:defRPr sz="1050">
                <a:solidFill>
                  <a:srgbClr val="666E6A"/>
                </a:solidFill>
                <a:latin typeface="Neue Haas Grotesk Text Pro"/>
              </a:defRPr>
            </a:pPr>
            <a:r>
              <a:rPr sz="1200"/>
              <a:t>standardize inputs</a:t>
            </a:r>
          </a:p>
          <a:p>
            <a:pPr algn="ctr">
              <a:spcAft>
                <a:spcPts val="100"/>
              </a:spcAft>
              <a:defRPr sz="1050">
                <a:solidFill>
                  <a:srgbClr val="666E6A"/>
                </a:solidFill>
                <a:latin typeface="Neue Haas Grotesk Text Pro"/>
              </a:defRPr>
            </a:pPr>
            <a:r>
              <a:rPr sz="1200"/>
              <a:t>compute effect scales</a:t>
            </a:r>
          </a:p>
          <a:p>
            <a:pPr algn="ctr">
              <a:spcAft>
                <a:spcPts val="100"/>
              </a:spcAft>
              <a:defRPr sz="1050">
                <a:solidFill>
                  <a:srgbClr val="666E6A"/>
                </a:solidFill>
                <a:latin typeface="Neue Haas Grotesk Text Pro"/>
              </a:defRPr>
            </a:pPr>
            <a:r>
              <a:rPr sz="1200"/>
              <a:t>no SCM code needed</a:t>
            </a:r>
          </a:p>
        </p:txBody>
      </p:sp>
      <p:cxnSp>
        <p:nvCxnSpPr>
          <p:cNvPr id="14" name="Connector 13"/>
          <p:cNvCxnSpPr/>
          <p:nvPr/>
        </p:nvCxnSpPr>
        <p:spPr>
          <a:xfrm>
            <a:off x="9592056" y="2816352"/>
            <a:ext cx="0" cy="338328"/>
          </a:xfrm>
          <a:prstGeom prst="line">
            <a:avLst/>
          </a:prstGeom>
          <a:ln w="22225">
            <a:solidFill>
              <a:srgbClr val="E15C3D"/>
            </a:solidFill>
            <a:tailEnd type="triangle" w="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397496" y="3739896"/>
            <a:ext cx="466344" cy="0"/>
          </a:xfrm>
          <a:prstGeom prst="line">
            <a:avLst/>
          </a:prstGeom>
          <a:ln w="22225">
            <a:solidFill>
              <a:srgbClr val="E15C3D"/>
            </a:solidFill>
            <a:tailEnd type="triangle" w="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4032504" y="3739896"/>
            <a:ext cx="466344" cy="0"/>
          </a:xfrm>
          <a:prstGeom prst="line">
            <a:avLst/>
          </a:prstGeom>
          <a:ln w="22225">
            <a:solidFill>
              <a:srgbClr val="E15C3D"/>
            </a:solidFill>
            <a:tailEnd type="triangle" w="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Rounded Rectangle 16"/>
              <p:cNvSpPr/>
              <p:nvPr/>
            </p:nvSpPr>
            <p:spPr>
              <a:xfrm>
                <a:off x="612648" y="4663440"/>
                <a:ext cx="4892040" cy="1234440"/>
              </a:xfrm>
              <a:prstGeom prst="roundRect">
                <a:avLst/>
              </a:prstGeom>
              <a:solidFill>
                <a:srgbClr val="ECF6F5"/>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dirty="0"/>
                  <a:t>8  Train 7 arms per seed</a:t>
                </a:r>
              </a:p>
              <a:p>
                <a:pPr algn="ctr">
                  <a:spcAft>
                    <a:spcPts val="100"/>
                  </a:spcAft>
                  <a:defRPr sz="1050">
                    <a:solidFill>
                      <a:srgbClr val="666E6A"/>
                    </a:solidFill>
                    <a:latin typeface="Neue Haas Grotesk Text Pro"/>
                  </a:defRPr>
                </a:pPr>
                <a:r>
                  <a:rPr sz="1200" dirty="0"/>
                  <a:t>black box / ensemble / per-node / learned gate</a:t>
                </a:r>
              </a:p>
              <a:p>
                <a:pPr algn="ctr">
                  <a:spcAft>
                    <a:spcPts val="100"/>
                  </a:spcAft>
                  <a:defRPr sz="1050">
                    <a:solidFill>
                      <a:srgbClr val="666E6A"/>
                    </a:solidFill>
                    <a:latin typeface="Neue Haas Grotesk Text Pro"/>
                  </a:defRPr>
                </a:pPr>
                <a14:m>
                  <m:oMathPara xmlns:m="http://schemas.openxmlformats.org/officeDocument/2006/math">
                    <m:oMath>
                      <m:r>
                        <a:rPr lang="en-US" sz="1200" i="1" dirty="0" smtClean="0">
                          <a:latin typeface="Cambria Math" panose="02040503050406030204" pitchFamily="18" charset="0"/>
                        </a:rPr>
                        <m:t>𝑟𝑎𝑛𝑑𝑜𝑚</m:t>
                      </m:r>
                      <m:r>
                        <a:rPr lang="en-US" sz="1200" i="1" dirty="0" smtClean="0">
                          <a:latin typeface="Cambria Math" panose="02040503050406030204" pitchFamily="18" charset="0"/>
                        </a:rPr>
                        <m:t> / </m:t>
                      </m:r>
                      <m:r>
                        <a:rPr lang="en-US" sz="1200" i="1" dirty="0" smtClean="0">
                          <a:latin typeface="Cambria Math" panose="02040503050406030204" pitchFamily="18" charset="0"/>
                        </a:rPr>
                        <m:t>𝑟𝑎𝑛𝑑𝑜𝑚</m:t>
                      </m:r>
                      <m:r>
                        <a:rPr lang="en-US" sz="1200" i="1" dirty="0" smtClean="0">
                          <a:latin typeface="Cambria Math" panose="02040503050406030204" pitchFamily="18" charset="0"/>
                        </a:rPr>
                        <m:t>_</m:t>
                      </m:r>
                      <m:r>
                        <a:rPr lang="en-US" sz="1200" i="1" dirty="0" smtClean="0">
                          <a:latin typeface="Cambria Math" panose="02040503050406030204" pitchFamily="18" charset="0"/>
                        </a:rPr>
                        <m:t>ℎ𝑐</m:t>
                      </m:r>
                      <m:r>
                        <a:rPr lang="en-US" sz="1200" i="1" dirty="0">
                          <a:latin typeface="Cambria Math" panose="02040503050406030204" pitchFamily="18" charset="0"/>
                        </a:rPr>
                        <m:t> </m:t>
                      </m:r>
                      <m:r>
                        <a:rPr lang="en-US" sz="1200" i="1" dirty="0" smtClean="0">
                          <a:latin typeface="Cambria Math" panose="02040503050406030204" pitchFamily="18" charset="0"/>
                        </a:rPr>
                        <m:t>/ </m:t>
                      </m:r>
                      <m:r>
                        <a:rPr lang="en-US" sz="1200" i="1" dirty="0" smtClean="0">
                          <a:latin typeface="Cambria Math" panose="02040503050406030204" pitchFamily="18" charset="0"/>
                        </a:rPr>
                        <m:t>𝑜𝑟𝑎𝑐𝑙𝑒</m:t>
                      </m:r>
                    </m:oMath>
                  </m:oMathPara>
                </a14:m>
                <a:endParaRPr sz="1200" dirty="0"/>
              </a:p>
              <a:p>
                <a:pPr algn="ctr">
                  <a:spcAft>
                    <a:spcPts val="100"/>
                  </a:spcAft>
                  <a:defRPr sz="1050">
                    <a:solidFill>
                      <a:srgbClr val="666E6A"/>
                    </a:solidFill>
                    <a:latin typeface="Neue Haas Grotesk Text Pro"/>
                  </a:defRPr>
                </a:pPr>
                <a14:m>
                  <m:oMathPara xmlns:m="http://schemas.openxmlformats.org/officeDocument/2006/math">
                    <m:oMath>
                      <m:r>
                        <a:rPr lang="en-US" sz="1200" i="1" dirty="0" smtClean="0">
                          <a:latin typeface="Cambria Math" panose="02040503050406030204" pitchFamily="18" charset="0"/>
                        </a:rPr>
                        <m:t>𝑙𝑜𝑠𝑠</m:t>
                      </m:r>
                      <m:r>
                        <a:rPr lang="en-US" sz="1200" i="1" dirty="0" smtClean="0">
                          <a:latin typeface="Cambria Math" panose="02040503050406030204" pitchFamily="18" charset="0"/>
                        </a:rPr>
                        <m:t> = </m:t>
                      </m:r>
                      <m:r>
                        <a:rPr lang="en-US" sz="1200" i="1" dirty="0" err="1">
                          <a:latin typeface="Cambria Math" panose="02040503050406030204" pitchFamily="18" charset="0"/>
                        </a:rPr>
                        <m:t>𝑜𝑏𝑠</m:t>
                      </m:r>
                      <m:r>
                        <a:rPr lang="en-US" sz="1200" i="1" dirty="0">
                          <a:latin typeface="Cambria Math" panose="02040503050406030204" pitchFamily="18" charset="0"/>
                        </a:rPr>
                        <m:t> + </m:t>
                      </m:r>
                      <m:r>
                        <a:rPr lang="en-US" sz="1200" i="1" dirty="0" err="1">
                          <a:latin typeface="Cambria Math" panose="02040503050406030204" pitchFamily="18" charset="0"/>
                        </a:rPr>
                        <m:t>𝜆</m:t>
                      </m:r>
                      <m:r>
                        <a:rPr lang="en-US" sz="1200" i="1" dirty="0" err="1">
                          <a:latin typeface="Cambria Math" panose="02040503050406030204" pitchFamily="18" charset="0"/>
                        </a:rPr>
                        <m:t>·</m:t>
                      </m:r>
                      <m:r>
                        <a:rPr lang="en-US" sz="1200" i="1" dirty="0" err="1">
                          <a:latin typeface="Cambria Math" panose="02040503050406030204" pitchFamily="18" charset="0"/>
                        </a:rPr>
                        <m:t>𝑝𝑎𝑖𝑟</m:t>
                      </m:r>
                      <m:r>
                        <a:rPr lang="en-US" sz="1200" i="1" dirty="0">
                          <a:latin typeface="Cambria Math" panose="02040503050406030204" pitchFamily="18" charset="0"/>
                        </a:rPr>
                        <m:t> + </m:t>
                      </m:r>
                      <m:r>
                        <a:rPr lang="en-US" sz="1200" i="1" dirty="0">
                          <a:latin typeface="Cambria Math" panose="02040503050406030204" pitchFamily="18" charset="0"/>
                        </a:rPr>
                        <m:t>𝐿</m:t>
                      </m:r>
                      <m:r>
                        <a:rPr lang="en-US" sz="1200" i="1" dirty="0">
                          <a:latin typeface="Cambria Math" panose="02040503050406030204" pitchFamily="18" charset="0"/>
                        </a:rPr>
                        <m:t>0,   </m:t>
                      </m:r>
                      <m:r>
                        <a:rPr lang="en-US" sz="1200" i="1" dirty="0">
                          <a:latin typeface="Cambria Math" panose="02040503050406030204" pitchFamily="18" charset="0"/>
                        </a:rPr>
                        <m:t>𝑠𝑒𝑙𝑒𝑐𝑡𝑖𝑜𝑛</m:t>
                      </m:r>
                      <m:r>
                        <a:rPr lang="en-US" sz="1200" i="1" dirty="0">
                          <a:latin typeface="Cambria Math" panose="02040503050406030204" pitchFamily="18" charset="0"/>
                        </a:rPr>
                        <m:t> = </m:t>
                      </m:r>
                      <m:r>
                        <a:rPr lang="en-US" sz="1200" i="1" dirty="0" err="1">
                          <a:latin typeface="Cambria Math" panose="02040503050406030204" pitchFamily="18" charset="0"/>
                        </a:rPr>
                        <m:t>𝑜𝑏𝑠</m:t>
                      </m:r>
                      <m:r>
                        <a:rPr lang="en-US" sz="1200" i="1" dirty="0">
                          <a:latin typeface="Cambria Math" panose="02040503050406030204" pitchFamily="18" charset="0"/>
                        </a:rPr>
                        <m:t> + </m:t>
                      </m:r>
                      <m:r>
                        <a:rPr lang="en-US" sz="1200" i="1" dirty="0">
                          <a:latin typeface="Cambria Math" panose="02040503050406030204" pitchFamily="18" charset="0"/>
                        </a:rPr>
                        <m:t>ℎ𝑒𝑙𝑑</m:t>
                      </m:r>
                      <m:r>
                        <a:rPr lang="en-US" sz="1200" i="1" dirty="0">
                          <a:latin typeface="Cambria Math" panose="02040503050406030204" pitchFamily="18" charset="0"/>
                        </a:rPr>
                        <m:t>−</m:t>
                      </m:r>
                      <m:r>
                        <a:rPr lang="en-US" sz="1200" i="1" dirty="0">
                          <a:latin typeface="Cambria Math" panose="02040503050406030204" pitchFamily="18" charset="0"/>
                        </a:rPr>
                        <m:t>𝑜𝑢𝑡</m:t>
                      </m:r>
                      <m:r>
                        <a:rPr lang="en-US" sz="1200" i="1" dirty="0">
                          <a:latin typeface="Cambria Math" panose="02040503050406030204" pitchFamily="18" charset="0"/>
                        </a:rPr>
                        <m:t> </m:t>
                      </m:r>
                      <m:r>
                        <a:rPr lang="en-US" sz="1200" i="1" dirty="0">
                          <a:latin typeface="Cambria Math" panose="02040503050406030204" pitchFamily="18" charset="0"/>
                        </a:rPr>
                        <m:t>𝑝𝑎𝑖𝑟</m:t>
                      </m:r>
                    </m:oMath>
                  </m:oMathPara>
                </a14:m>
                <a:endParaRPr sz="1200" dirty="0"/>
              </a:p>
            </p:txBody>
          </p:sp>
        </mc:Choice>
        <mc:Fallback xmlns="">
          <p:sp>
            <p:nvSpPr>
              <p:cNvPr id="17" name="Rounded Rectangle 16"/>
              <p:cNvSpPr>
                <a:spLocks noRot="1" noChangeAspect="1" noMove="1" noResize="1" noEditPoints="1" noAdjustHandles="1" noChangeArrowheads="1" noChangeShapeType="1" noTextEdit="1"/>
              </p:cNvSpPr>
              <p:nvPr/>
            </p:nvSpPr>
            <p:spPr>
              <a:xfrm>
                <a:off x="612648" y="4663440"/>
                <a:ext cx="4892040" cy="1234440"/>
              </a:xfrm>
              <a:prstGeom prst="roundRect">
                <a:avLst/>
              </a:prstGeom>
              <a:blipFill>
                <a:blip r:embed="rId2"/>
                <a:stretch>
                  <a:fillRect/>
                </a:stretch>
              </a:blipFill>
              <a:ln w="15875">
                <a:solidFill>
                  <a:srgbClr val="169C9A"/>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ounded Rectangle 17"/>
              <p:cNvSpPr/>
              <p:nvPr/>
            </p:nvSpPr>
            <p:spPr>
              <a:xfrm>
                <a:off x="5870448" y="4663440"/>
                <a:ext cx="4892040" cy="1234440"/>
              </a:xfrm>
              <a:prstGeom prst="roundRect">
                <a:avLst/>
              </a:prstGeom>
              <a:solidFill>
                <a:srgbClr val="E9F4EF"/>
              </a:solidFill>
              <a:ln w="15875">
                <a:solidFill>
                  <a:srgbClr val="3D9072"/>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dirty="0"/>
                  <a:t>9  Score and decide</a:t>
                </a:r>
              </a:p>
              <a:p>
                <a:pPr algn="ctr">
                  <a:spcAft>
                    <a:spcPts val="100"/>
                  </a:spcAft>
                  <a:defRPr sz="1050">
                    <a:solidFill>
                      <a:srgbClr val="666E6A"/>
                    </a:solidFill>
                    <a:latin typeface="Neue Haas Grotesk Text Pro"/>
                  </a:defRPr>
                </a:pPr>
                <a:r>
                  <a:rPr sz="1200" dirty="0"/>
                  <a:t>LAYER 1  gate: true-cause rank</a:t>
                </a:r>
              </a:p>
              <a:p>
                <a:pPr algn="ctr">
                  <a:spcAft>
                    <a:spcPts val="100"/>
                  </a:spcAft>
                  <a:defRPr sz="1050">
                    <a:solidFill>
                      <a:srgbClr val="666E6A"/>
                    </a:solidFill>
                    <a:latin typeface="Neue Haas Grotesk Text Pro"/>
                  </a:defRPr>
                </a:pPr>
                <a:r>
                  <a:rPr sz="1200" dirty="0"/>
                  <a:t>LAYER 2  learned vs </a:t>
                </a:r>
                <a14:m>
                  <m:oMath xmlns:m="http://schemas.openxmlformats.org/officeDocument/2006/math">
                    <m:r>
                      <a:rPr lang="en-US" sz="1200" i="1" dirty="0" smtClean="0">
                        <a:latin typeface="Cambria Math" panose="02040503050406030204" pitchFamily="18" charset="0"/>
                      </a:rPr>
                      <m:t>𝑟𝑎𝑛𝑑𝑜𝑚</m:t>
                    </m:r>
                    <m:r>
                      <a:rPr lang="en-US" sz="1200" i="1" dirty="0" smtClean="0">
                        <a:latin typeface="Cambria Math" panose="02040503050406030204" pitchFamily="18" charset="0"/>
                      </a:rPr>
                      <m:t>_</m:t>
                    </m:r>
                    <m:r>
                      <a:rPr lang="en-US" sz="1200" i="1" dirty="0" smtClean="0">
                        <a:latin typeface="Cambria Math" panose="02040503050406030204" pitchFamily="18" charset="0"/>
                      </a:rPr>
                      <m:t>ℎ𝑐</m:t>
                    </m:r>
                    <m:r>
                      <a:rPr lang="en-US" sz="1200" i="1" dirty="0">
                        <a:latin typeface="Cambria Math" panose="02040503050406030204" pitchFamily="18" charset="0"/>
                      </a:rPr>
                      <m:t>  </m:t>
                    </m:r>
                  </m:oMath>
                </a14:m>
                <a:r>
                  <a:rPr sz="1200" dirty="0"/>
                  <a:t>(the matched control)</a:t>
                </a:r>
              </a:p>
              <a:p>
                <a:pPr algn="ctr">
                  <a:spcAft>
                    <a:spcPts val="100"/>
                  </a:spcAft>
                  <a:defRPr sz="1050">
                    <a:solidFill>
                      <a:srgbClr val="666E6A"/>
                    </a:solidFill>
                    <a:latin typeface="Neue Haas Grotesk Text Pro"/>
                  </a:defRPr>
                </a:pPr>
                <a:r>
                  <a:rPr sz="1200" dirty="0"/>
                  <a:t>LAYER 3  OOD RMSE, </a:t>
                </a:r>
                <a14:m>
                  <m:oMath xmlns:m="http://schemas.openxmlformats.org/officeDocument/2006/math">
                    <m:r>
                      <a:rPr lang="en-US" sz="1200" i="1" dirty="0" smtClean="0">
                        <a:latin typeface="Cambria Math" panose="02040503050406030204" pitchFamily="18" charset="0"/>
                      </a:rPr>
                      <m:t>√</m:t>
                    </m:r>
                    <m:r>
                      <a:rPr lang="en-US" sz="1200" i="1" dirty="0" smtClean="0">
                        <a:latin typeface="Cambria Math" panose="02040503050406030204" pitchFamily="18" charset="0"/>
                      </a:rPr>
                      <m:t>𝑃𝐸𝐻𝐸</m:t>
                    </m:r>
                  </m:oMath>
                </a14:m>
                <a:r>
                  <a:rPr sz="1200" dirty="0"/>
                  <a:t>, spurious sensitivity</a:t>
                </a:r>
              </a:p>
            </p:txBody>
          </p:sp>
        </mc:Choice>
        <mc:Fallback xmlns="">
          <p:sp>
            <p:nvSpPr>
              <p:cNvPr id="18" name="Rounded Rectangle 17"/>
              <p:cNvSpPr>
                <a:spLocks noRot="1" noChangeAspect="1" noMove="1" noResize="1" noEditPoints="1" noAdjustHandles="1" noChangeArrowheads="1" noChangeShapeType="1" noTextEdit="1"/>
              </p:cNvSpPr>
              <p:nvPr/>
            </p:nvSpPr>
            <p:spPr>
              <a:xfrm>
                <a:off x="5870448" y="4663440"/>
                <a:ext cx="4892040" cy="1234440"/>
              </a:xfrm>
              <a:prstGeom prst="roundRect">
                <a:avLst/>
              </a:prstGeom>
              <a:blipFill>
                <a:blip r:embed="rId3"/>
                <a:stretch>
                  <a:fillRect/>
                </a:stretch>
              </a:blipFill>
              <a:ln w="15875">
                <a:solidFill>
                  <a:srgbClr val="3D9072"/>
                </a:solidFill>
              </a:ln>
              <a:effectLst/>
            </p:spPr>
            <p:txBody>
              <a:bodyPr/>
              <a:lstStyle/>
              <a:p>
                <a:r>
                  <a:rPr lang="en-US">
                    <a:noFill/>
                  </a:rPr>
                  <a:t> </a:t>
                </a:r>
              </a:p>
            </p:txBody>
          </p:sp>
        </mc:Fallback>
      </mc:AlternateContent>
      <p:cxnSp>
        <p:nvCxnSpPr>
          <p:cNvPr id="19" name="Connector 18"/>
          <p:cNvCxnSpPr/>
          <p:nvPr/>
        </p:nvCxnSpPr>
        <p:spPr>
          <a:xfrm>
            <a:off x="2587752" y="4325112"/>
            <a:ext cx="0" cy="338328"/>
          </a:xfrm>
          <a:prstGeom prst="line">
            <a:avLst/>
          </a:prstGeom>
          <a:ln w="22225">
            <a:solidFill>
              <a:srgbClr val="169C9A"/>
            </a:solidFill>
            <a:tailEnd type="triangle" w="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504688" y="5276088"/>
            <a:ext cx="365760" cy="0"/>
          </a:xfrm>
          <a:prstGeom prst="line">
            <a:avLst/>
          </a:prstGeom>
          <a:ln w="22225">
            <a:solidFill>
              <a:srgbClr val="3D9072"/>
            </a:solidFill>
            <a:tailEnd type="triangle" w="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2648" y="6053328"/>
            <a:ext cx="10881360" cy="307777"/>
          </a:xfrm>
          <a:prstGeom prst="rect">
            <a:avLst/>
          </a:prstGeom>
          <a:noFill/>
        </p:spPr>
        <p:txBody>
          <a:bodyPr wrap="square" lIns="0" tIns="0" rIns="0" bIns="0">
            <a:spAutoFit/>
          </a:bodyPr>
          <a:lstStyle/>
          <a:p>
            <a:pPr algn="l">
              <a:spcAft>
                <a:spcPts val="400"/>
              </a:spcAft>
              <a:defRPr sz="1150" b="0" i="1">
                <a:solidFill>
                  <a:srgbClr val="666E6A"/>
                </a:solidFill>
                <a:latin typeface="Neue Haas Grotesk Text Pro"/>
              </a:defRPr>
            </a:pPr>
            <a:r>
              <a:rPr sz="2000" dirty="0"/>
              <a:t>LAYER 1 is the hard gate: a downstream gain with a flat gate is not evidence about causal structure.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Dataset: the world</a:t>
            </a:r>
          </a:p>
        </p:txBody>
      </p:sp>
      <p:sp>
        <p:nvSpPr>
          <p:cNvPr id="3" name="TextBox 2"/>
          <p:cNvSpPr txBox="1"/>
          <p:nvPr/>
        </p:nvSpPr>
        <p:spPr>
          <a:xfrm>
            <a:off x="612648" y="1188720"/>
            <a:ext cx="10881360" cy="347472"/>
          </a:xfrm>
          <a:prstGeom prst="rect">
            <a:avLst/>
          </a:prstGeom>
          <a:noFill/>
        </p:spPr>
        <p:txBody>
          <a:bodyPr wrap="square" lIns="0">
            <a:spAutoFit/>
          </a:bodyPr>
          <a:lstStyle/>
          <a:p>
            <a:pPr>
              <a:defRPr sz="1300" i="1">
                <a:solidFill>
                  <a:srgbClr val="666E6A"/>
                </a:solidFill>
                <a:latin typeface="Neue Haas Grotesk Text Pro"/>
              </a:defRPr>
            </a:pPr>
            <a:r>
              <a:rPr dirty="0"/>
              <a:t>one step of a damped, driven particle in a box — the model never sees these equations</a:t>
            </a:r>
          </a:p>
        </p:txBody>
      </p:sp>
      <p:sp>
        <p:nvSpPr>
          <p:cNvPr id="4" name="TextBox 3"/>
          <p:cNvSpPr txBox="1"/>
          <p:nvPr/>
        </p:nvSpPr>
        <p:spPr>
          <a:xfrm>
            <a:off x="612648" y="1572768"/>
            <a:ext cx="10881360" cy="274320"/>
          </a:xfrm>
          <a:prstGeom prst="rect">
            <a:avLst/>
          </a:prstGeom>
          <a:noFill/>
        </p:spPr>
        <p:txBody>
          <a:bodyPr wrap="square" lIns="0" tIns="0" rIns="0" bIns="0">
            <a:spAutoFit/>
          </a:bodyPr>
          <a:lstStyle/>
          <a:p>
            <a:pPr algn="l">
              <a:spcAft>
                <a:spcPts val="400"/>
              </a:spcAft>
              <a:defRPr sz="1300" b="1" i="0">
                <a:solidFill>
                  <a:srgbClr val="2C3932"/>
                </a:solidFill>
                <a:latin typeface="Neue Haas Grotesk Text Pro"/>
              </a:defRPr>
            </a:pPr>
            <a:r>
              <a:t>Per substep k = 1…K   (K = 6,  h = Δt/K):</a:t>
            </a:r>
          </a:p>
        </p:txBody>
      </p:sp>
      <mc:AlternateContent xmlns:mc="http://schemas.openxmlformats.org/markup-compatibility/2006" xmlns:a14="http://schemas.microsoft.com/office/drawing/2010/main">
        <mc:Choice Requires="a14">
          <p:sp>
            <p:nvSpPr>
              <p:cNvPr id="5" name="TextBox 4"/>
              <p:cNvSpPr txBox="1"/>
              <p:nvPr/>
            </p:nvSpPr>
            <p:spPr>
              <a:xfrm>
                <a:off x="960120" y="1901952"/>
                <a:ext cx="7863840" cy="992579"/>
              </a:xfrm>
              <a:prstGeom prst="rect">
                <a:avLst/>
              </a:prstGeom>
              <a:noFill/>
            </p:spPr>
            <p:txBody>
              <a:bodyPr wrap="square" lIns="0" tIns="0" rIns="0" bIns="0">
                <a:spAutoFit/>
              </a:bodyPr>
              <a:lstStyle/>
              <a:p>
                <a:pPr algn="l">
                  <a:spcAft>
                    <a:spcPts val="900"/>
                  </a:spcAft>
                  <a:defRPr sz="1400" b="0" i="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𝑎</m:t>
                      </m:r>
                      <m:r>
                        <a:rPr lang="en-US" i="1" dirty="0" smtClean="0">
                          <a:latin typeface="Cambria Math" panose="02040503050406030204" pitchFamily="18" charset="0"/>
                        </a:rPr>
                        <m:t>←( </m:t>
                      </m:r>
                      <m:r>
                        <a:rPr lang="en-US" i="1" dirty="0" err="1">
                          <a:latin typeface="Cambria Math" panose="02040503050406030204" pitchFamily="18" charset="0"/>
                        </a:rPr>
                        <m:t>𝐹</m:t>
                      </m:r>
                      <m:r>
                        <a:rPr lang="en-US" i="1" dirty="0" err="1">
                          <a:latin typeface="Cambria Math" panose="02040503050406030204" pitchFamily="18" charset="0"/>
                        </a:rPr>
                        <m:t>·</m:t>
                      </m:r>
                      <m:r>
                        <m:rPr>
                          <m:sty m:val="p"/>
                        </m:rPr>
                        <a:rPr lang="en-US" i="1" dirty="0" err="1">
                          <a:latin typeface="Cambria Math" panose="02040503050406030204" pitchFamily="18" charset="0"/>
                        </a:rPr>
                        <m:t>cos</m:t>
                      </m:r>
                      <m:r>
                        <a:rPr lang="en-US" i="1" dirty="0">
                          <a:latin typeface="Cambria Math" panose="02040503050406030204" pitchFamily="18" charset="0"/>
                        </a:rPr>
                        <m:t>⁡</m:t>
                      </m:r>
                      <m:r>
                        <a:rPr lang="en-US" i="1" dirty="0">
                          <a:latin typeface="Cambria Math" panose="02040503050406030204" pitchFamily="18" charset="0"/>
                        </a:rPr>
                        <m:t>𝜃</m:t>
                      </m:r>
                      <m:r>
                        <a:rPr lang="en-US" i="1" dirty="0">
                          <a:latin typeface="Cambria Math" panose="02040503050406030204" pitchFamily="18" charset="0"/>
                        </a:rPr>
                        <m:t>−</m:t>
                      </m:r>
                      <m:r>
                        <a:rPr lang="en-US" i="1" dirty="0" err="1">
                          <a:latin typeface="Cambria Math" panose="02040503050406030204" pitchFamily="18" charset="0"/>
                        </a:rPr>
                        <m:t>𝑐</m:t>
                      </m:r>
                      <m:r>
                        <a:rPr lang="en-US" i="1" dirty="0" err="1">
                          <a:latin typeface="Cambria Math" panose="02040503050406030204" pitchFamily="18" charset="0"/>
                        </a:rPr>
                        <m:t>·</m:t>
                      </m:r>
                      <m:r>
                        <a:rPr lang="en-US" i="1" dirty="0" err="1">
                          <a:latin typeface="Cambria Math" panose="02040503050406030204" pitchFamily="18" charset="0"/>
                        </a:rPr>
                        <m:t>𝑠𝑖𝑔𝑛</m:t>
                      </m:r>
                      <m:r>
                        <a:rPr lang="en-US" i="1" dirty="0">
                          <a:latin typeface="Cambria Math" panose="02040503050406030204" pitchFamily="18" charset="0"/>
                        </a:rPr>
                        <m:t>(</m:t>
                      </m:r>
                      <m:r>
                        <a:rPr lang="en-US" i="1" dirty="0">
                          <a:latin typeface="Cambria Math" panose="02040503050406030204" pitchFamily="18" charset="0"/>
                        </a:rPr>
                        <m:t>𝑣</m:t>
                      </m:r>
                      <m:r>
                        <a:rPr lang="en-US" i="1" dirty="0">
                          <a:latin typeface="Cambria Math" panose="02040503050406030204" pitchFamily="18" charset="0"/>
                        </a:rPr>
                        <m:t>)·|</m:t>
                      </m:r>
                      <m:r>
                        <a:rPr lang="en-US" i="1" dirty="0">
                          <a:latin typeface="Cambria Math" panose="02040503050406030204" pitchFamily="18" charset="0"/>
                        </a:rPr>
                        <m:t>𝑣</m:t>
                      </m:r>
                      <m:r>
                        <a:rPr lang="en-US" i="1" dirty="0">
                          <a:latin typeface="Cambria Math" panose="02040503050406030204" pitchFamily="18" charset="0"/>
                        </a:rPr>
                        <m:t>|² ) / </m:t>
                      </m:r>
                      <m:r>
                        <a:rPr lang="en-US" i="1" dirty="0">
                          <a:latin typeface="Cambria Math" panose="02040503050406030204" pitchFamily="18" charset="0"/>
                        </a:rPr>
                        <m:t>𝑚</m:t>
                      </m:r>
                      <m:r>
                        <a:rPr lang="en-US" i="1" dirty="0">
                          <a:latin typeface="Cambria Math" panose="02040503050406030204" pitchFamily="18" charset="0"/>
                        </a:rPr>
                        <m:t>+0.15·</m:t>
                      </m:r>
                      <m:r>
                        <a:rPr lang="en-US" i="1" dirty="0">
                          <a:latin typeface="Cambria Math" panose="02040503050406030204" pitchFamily="18" charset="0"/>
                        </a:rPr>
                        <m:t>𝑎</m:t>
                      </m:r>
                    </m:oMath>
                  </m:oMathPara>
                </a14:m>
                <a:endParaRPr dirty="0"/>
              </a:p>
              <a:p>
                <a:pPr algn="l">
                  <a:spcAft>
                    <a:spcPts val="900"/>
                  </a:spcAft>
                  <a:defRPr sz="1400" b="0" i="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𝑣</m:t>
                      </m:r>
                      <m:r>
                        <a:rPr lang="en-US" i="1" dirty="0" smtClean="0">
                          <a:latin typeface="Cambria Math" panose="02040503050406030204" pitchFamily="18" charset="0"/>
                        </a:rPr>
                        <m:t> ←  </m:t>
                      </m:r>
                      <m:r>
                        <a:rPr lang="en-US" i="1" dirty="0" smtClean="0">
                          <a:latin typeface="Cambria Math" panose="02040503050406030204" pitchFamily="18" charset="0"/>
                        </a:rPr>
                        <m:t>𝑣</m:t>
                      </m:r>
                      <m:r>
                        <a:rPr lang="en-US" i="1" dirty="0" smtClean="0">
                          <a:latin typeface="Cambria Math" panose="02040503050406030204" pitchFamily="18" charset="0"/>
                        </a:rPr>
                        <m:t> + </m:t>
                      </m:r>
                      <m:r>
                        <a:rPr lang="en-US" i="1" dirty="0" err="1">
                          <a:latin typeface="Cambria Math" panose="02040503050406030204" pitchFamily="18" charset="0"/>
                        </a:rPr>
                        <m:t>ℎ</m:t>
                      </m:r>
                      <m:r>
                        <a:rPr lang="en-US" i="1" dirty="0" err="1">
                          <a:latin typeface="Cambria Math" panose="02040503050406030204" pitchFamily="18" charset="0"/>
                        </a:rPr>
                        <m:t>·</m:t>
                      </m:r>
                      <m:r>
                        <a:rPr lang="en-US" i="1" dirty="0" err="1">
                          <a:latin typeface="Cambria Math" panose="02040503050406030204" pitchFamily="18" charset="0"/>
                        </a:rPr>
                        <m:t>𝑎</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𝑥</m:t>
                      </m:r>
                      <m:r>
                        <a:rPr lang="en-US" i="1" dirty="0">
                          <a:latin typeface="Cambria Math" panose="02040503050406030204" pitchFamily="18" charset="0"/>
                        </a:rPr>
                        <m:t> + </m:t>
                      </m:r>
                      <m:r>
                        <a:rPr lang="en-US" i="1" dirty="0" err="1">
                          <a:latin typeface="Cambria Math" panose="02040503050406030204" pitchFamily="18" charset="0"/>
                        </a:rPr>
                        <m:t>ℎ</m:t>
                      </m:r>
                      <m:r>
                        <a:rPr lang="en-US" i="1" dirty="0" err="1">
                          <a:latin typeface="Cambria Math" panose="02040503050406030204" pitchFamily="18" charset="0"/>
                        </a:rPr>
                        <m:t>·</m:t>
                      </m:r>
                      <m:r>
                        <a:rPr lang="en-US" i="1" dirty="0" err="1">
                          <a:latin typeface="Cambria Math" panose="02040503050406030204" pitchFamily="18" charset="0"/>
                        </a:rPr>
                        <m:t>𝑣</m:t>
                      </m:r>
                    </m:oMath>
                  </m:oMathPara>
                </a14:m>
                <a:endParaRPr dirty="0"/>
              </a:p>
              <a:p>
                <a:pPr algn="l">
                  <a:spcAft>
                    <a:spcPts val="900"/>
                  </a:spcAft>
                  <a:defRPr sz="1400" b="0" i="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𝑖𝑓</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|&gt;</m:t>
                      </m:r>
                      <m:r>
                        <a:rPr lang="en-US" i="1" dirty="0" smtClean="0">
                          <a:latin typeface="Cambria Math" panose="02040503050406030204" pitchFamily="18" charset="0"/>
                        </a:rPr>
                        <m:t>𝑊</m:t>
                      </m:r>
                      <m:r>
                        <a:rPr lang="en-US" i="1" dirty="0" smtClean="0">
                          <a:latin typeface="Cambria Math" panose="02040503050406030204" pitchFamily="18" charset="0"/>
                        </a:rPr>
                        <m:t> :   </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𝑠𝑖𝑔𝑛</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)·(2</m:t>
                      </m:r>
                      <m:r>
                        <a:rPr lang="en-US" i="1" dirty="0" smtClean="0">
                          <a:latin typeface="Cambria Math" panose="02040503050406030204" pitchFamily="18" charset="0"/>
                        </a:rPr>
                        <m:t>𝑊</m:t>
                      </m:r>
                      <m:r>
                        <a:rPr lang="en-US" i="1" dirty="0" smtClean="0">
                          <a:latin typeface="Cambria Math" panose="02040503050406030204" pitchFamily="18" charset="0"/>
                        </a:rPr>
                        <m:t> − |</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𝑣</m:t>
                      </m:r>
                      <m:r>
                        <a:rPr lang="en-US" i="1" dirty="0" smtClean="0">
                          <a:latin typeface="Cambria Math" panose="02040503050406030204" pitchFamily="18" charset="0"/>
                        </a:rPr>
                        <m:t> ← −</m:t>
                      </m:r>
                      <m:r>
                        <a:rPr lang="en-US" i="1" dirty="0" err="1">
                          <a:latin typeface="Cambria Math" panose="02040503050406030204" pitchFamily="18" charset="0"/>
                        </a:rPr>
                        <m:t>𝑒</m:t>
                      </m:r>
                      <m:r>
                        <a:rPr lang="en-US" i="1" dirty="0" err="1">
                          <a:latin typeface="Cambria Math" panose="02040503050406030204" pitchFamily="18" charset="0"/>
                        </a:rPr>
                        <m:t>·</m:t>
                      </m:r>
                      <m:r>
                        <a:rPr lang="en-US" i="1" dirty="0" err="1">
                          <a:latin typeface="Cambria Math" panose="02040503050406030204" pitchFamily="18" charset="0"/>
                        </a:rPr>
                        <m:t>𝑣</m:t>
                      </m:r>
                      <m:r>
                        <a:rPr lang="en-US" i="1" dirty="0">
                          <a:latin typeface="Cambria Math" panose="02040503050406030204" pitchFamily="18" charset="0"/>
                        </a:rPr>
                        <m:t>,   </m:t>
                      </m:r>
                      <m:r>
                        <a:rPr lang="en-US" i="1" dirty="0">
                          <a:latin typeface="Cambria Math" panose="02040503050406030204" pitchFamily="18" charset="0"/>
                        </a:rPr>
                        <m:t>𝑎</m:t>
                      </m:r>
                      <m:r>
                        <a:rPr lang="en-US" i="1" dirty="0">
                          <a:latin typeface="Cambria Math" panose="02040503050406030204" pitchFamily="18" charset="0"/>
                        </a:rPr>
                        <m:t> ← −</m:t>
                      </m:r>
                      <m:r>
                        <a:rPr lang="en-US" i="1" dirty="0" err="1">
                          <a:latin typeface="Cambria Math" panose="02040503050406030204" pitchFamily="18" charset="0"/>
                        </a:rPr>
                        <m:t>𝑒</m:t>
                      </m:r>
                      <m:r>
                        <a:rPr lang="en-US" i="1" dirty="0" err="1">
                          <a:latin typeface="Cambria Math" panose="02040503050406030204" pitchFamily="18" charset="0"/>
                        </a:rPr>
                        <m:t>·</m:t>
                      </m:r>
                      <m:r>
                        <a:rPr lang="en-US" i="1" dirty="0" err="1">
                          <a:latin typeface="Cambria Math" panose="02040503050406030204" pitchFamily="18" charset="0"/>
                        </a:rPr>
                        <m:t>𝑎</m:t>
                      </m:r>
                    </m:oMath>
                  </m:oMathPara>
                </a14:m>
                <a:endParaRPr dirty="0"/>
              </a:p>
            </p:txBody>
          </p:sp>
        </mc:Choice>
        <mc:Fallback xmlns="">
          <p:sp>
            <p:nvSpPr>
              <p:cNvPr id="5" name="TextBox 4"/>
              <p:cNvSpPr txBox="1">
                <a:spLocks noRot="1" noChangeAspect="1" noMove="1" noResize="1" noEditPoints="1" noAdjustHandles="1" noChangeArrowheads="1" noChangeShapeType="1" noTextEdit="1"/>
              </p:cNvSpPr>
              <p:nvPr/>
            </p:nvSpPr>
            <p:spPr>
              <a:xfrm>
                <a:off x="960120" y="1901952"/>
                <a:ext cx="7863840" cy="992579"/>
              </a:xfrm>
              <a:prstGeom prst="rect">
                <a:avLst/>
              </a:prstGeom>
              <a:blipFill>
                <a:blip r:embed="rId2"/>
                <a:stretch>
                  <a:fillRect t="-6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12648" y="3127248"/>
                <a:ext cx="10881360" cy="200632"/>
              </a:xfrm>
              <a:prstGeom prst="rect">
                <a:avLst/>
              </a:prstGeom>
              <a:noFill/>
            </p:spPr>
            <p:txBody>
              <a:bodyPr wrap="square" lIns="0" tIns="0" rIns="0" bIns="0">
                <a:spAutoFit/>
              </a:bodyPr>
              <a:lstStyle/>
              <a:p>
                <a:pPr algn="l">
                  <a:spcAft>
                    <a:spcPts val="400"/>
                  </a:spcAft>
                  <a:defRPr sz="1300" b="0" i="0">
                    <a:solidFill>
                      <a:srgbClr val="2C3932"/>
                    </a:solidFill>
                    <a:latin typeface="Neue Haas Grotesk Text Pro"/>
                  </a:defRPr>
                </a:pPr>
                <a:r>
                  <a:rPr lang="en-US" dirty="0"/>
                  <a:t>Output:  </a:t>
                </a:r>
                <a14:m>
                  <m:oMath xmlns:m="http://schemas.openxmlformats.org/officeDocument/2006/math">
                    <m:r>
                      <a:rPr lang="en-US" i="1" dirty="0" smtClean="0">
                        <a:latin typeface="Cambria Math" panose="02040503050406030204" pitchFamily="18" charset="0"/>
                      </a:rPr>
                      <m:t>𝑌</m:t>
                    </m:r>
                    <m:r>
                      <a:rPr lang="en-US" i="1" dirty="0" smtClean="0">
                        <a:latin typeface="Cambria Math" panose="02040503050406030204" pitchFamily="18" charset="0"/>
                      </a:rPr>
                      <m:t> = ( </m:t>
                    </m:r>
                    <m:r>
                      <a:rPr lang="en-US" i="1" dirty="0" smtClean="0">
                        <a:latin typeface="Cambria Math" panose="02040503050406030204" pitchFamily="18" charset="0"/>
                      </a:rPr>
                      <m:t>𝑎</m:t>
                    </m:r>
                    <m:r>
                      <a:rPr lang="en-US" i="1" dirty="0" smtClean="0">
                        <a:latin typeface="Cambria Math" panose="02040503050406030204" pitchFamily="18" charset="0"/>
                      </a:rPr>
                      <m:t>⁽ᴷ⁾+</m:t>
                    </m:r>
                    <m:sSub>
                      <m:sSubPr>
                        <m:ctrlPr>
                          <a:rPr lang="ar-AE" i="1" dirty="0" err="1">
                            <a:latin typeface="Cambria Math" panose="02040503050406030204" pitchFamily="18" charset="0"/>
                          </a:rPr>
                        </m:ctrlPr>
                      </m:sSubPr>
                      <m:e>
                        <m:r>
                          <a:rPr lang="ar-AE" i="1" dirty="0" err="1">
                            <a:latin typeface="Cambria Math" panose="02040503050406030204" pitchFamily="18" charset="0"/>
                          </a:rPr>
                          <m:t>𝑢</m:t>
                        </m:r>
                      </m:e>
                      <m:sub>
                        <m:r>
                          <a:rPr lang="ar-AE" i="1" dirty="0" err="1">
                            <a:latin typeface="Cambria Math" panose="02040503050406030204" pitchFamily="18" charset="0"/>
                          </a:rPr>
                          <m:t>𝑎</m:t>
                        </m:r>
                      </m:sub>
                    </m:sSub>
                    <m:r>
                      <a:rPr lang="ar-AE" i="1" dirty="0">
                        <a:latin typeface="Cambria Math" panose="02040503050406030204" pitchFamily="18" charset="0"/>
                      </a:rPr>
                      <m:t> ,  </m:t>
                    </m:r>
                    <m:r>
                      <a:rPr lang="ar-AE" i="1" dirty="0">
                        <a:latin typeface="Cambria Math" panose="02040503050406030204" pitchFamily="18" charset="0"/>
                      </a:rPr>
                      <m:t>𝑣</m:t>
                    </m:r>
                    <m:r>
                      <a:rPr lang="ar-AE" i="1" dirty="0">
                        <a:latin typeface="Cambria Math" panose="02040503050406030204" pitchFamily="18" charset="0"/>
                      </a:rPr>
                      <m:t>⁽ᴷ⁾+</m:t>
                    </m:r>
                    <m:sSub>
                      <m:sSubPr>
                        <m:ctrlPr>
                          <a:rPr lang="en-US" i="1" dirty="0" err="1">
                            <a:latin typeface="Cambria Math" panose="02040503050406030204" pitchFamily="18" charset="0"/>
                          </a:rPr>
                        </m:ctrlPr>
                      </m:sSubPr>
                      <m:e>
                        <m:r>
                          <a:rPr lang="en-US" i="1" dirty="0" err="1">
                            <a:latin typeface="Cambria Math" panose="02040503050406030204" pitchFamily="18" charset="0"/>
                          </a:rPr>
                          <m:t>𝑢</m:t>
                        </m:r>
                      </m:e>
                      <m:sub>
                        <m:r>
                          <a:rPr lang="en-US" i="1" dirty="0" err="1">
                            <a:latin typeface="Cambria Math" panose="02040503050406030204" pitchFamily="18" charset="0"/>
                          </a:rPr>
                          <m:t>𝑣</m:t>
                        </m:r>
                      </m:sub>
                    </m:sSub>
                    <m:r>
                      <a:rPr lang="en-US" i="1" dirty="0">
                        <a:latin typeface="Cambria Math" panose="02040503050406030204" pitchFamily="18" charset="0"/>
                      </a:rPr>
                      <m:t> ,  </m:t>
                    </m:r>
                    <m:r>
                      <a:rPr lang="en-US" i="1" dirty="0">
                        <a:latin typeface="Cambria Math" panose="02040503050406030204" pitchFamily="18" charset="0"/>
                      </a:rPr>
                      <m:t>𝑥</m:t>
                    </m:r>
                    <m:r>
                      <a:rPr lang="en-US" i="1" dirty="0">
                        <a:latin typeface="Cambria Math" panose="02040503050406030204" pitchFamily="18" charset="0"/>
                      </a:rPr>
                      <m:t>⁽ᴷ⁾+</m:t>
                    </m:r>
                    <m:sSub>
                      <m:sSubPr>
                        <m:ctrlPr>
                          <a:rPr lang="en-US" i="1" dirty="0" err="1">
                            <a:latin typeface="Cambria Math" panose="02040503050406030204" pitchFamily="18" charset="0"/>
                          </a:rPr>
                        </m:ctrlPr>
                      </m:sSubPr>
                      <m:e>
                        <m:r>
                          <a:rPr lang="en-US" i="1" dirty="0" err="1">
                            <a:latin typeface="Cambria Math" panose="02040503050406030204" pitchFamily="18" charset="0"/>
                          </a:rPr>
                          <m:t>𝑢</m:t>
                        </m:r>
                      </m:e>
                      <m:sub>
                        <m:r>
                          <a:rPr lang="en-US" i="1" dirty="0" err="1">
                            <a:latin typeface="Cambria Math" panose="02040503050406030204" pitchFamily="18" charset="0"/>
                          </a:rPr>
                          <m:t>𝑥</m:t>
                        </m:r>
                      </m:sub>
                    </m:sSub>
                    <m:r>
                      <a:rPr lang="en-US" i="1" dirty="0">
                        <a:latin typeface="Cambria Math" panose="02040503050406030204" pitchFamily="18" charset="0"/>
                      </a:rPr>
                      <m:t> ),   </m:t>
                    </m:r>
                    <m:r>
                      <a:rPr lang="en-US" i="1" dirty="0">
                        <a:latin typeface="Cambria Math" panose="02040503050406030204" pitchFamily="18" charset="0"/>
                      </a:rPr>
                      <m:t>𝑢</m:t>
                    </m:r>
                    <m:r>
                      <a:rPr lang="en-US" i="1" dirty="0">
                        <a:latin typeface="Cambria Math" panose="02040503050406030204" pitchFamily="18" charset="0"/>
                      </a:rPr>
                      <m:t> ~ </m:t>
                    </m:r>
                    <m:r>
                      <a:rPr lang="en-US" i="1" dirty="0">
                        <a:latin typeface="Cambria Math" panose="02040503050406030204" pitchFamily="18" charset="0"/>
                      </a:rPr>
                      <m:t>𝑁</m:t>
                    </m:r>
                    <m:r>
                      <a:rPr lang="en-US" i="1" dirty="0">
                        <a:latin typeface="Cambria Math" panose="02040503050406030204" pitchFamily="18" charset="0"/>
                      </a:rPr>
                      <m:t>(0, </m:t>
                    </m:r>
                    <m:r>
                      <a:rPr lang="en-US" i="1" dirty="0">
                        <a:latin typeface="Cambria Math" panose="02040503050406030204" pitchFamily="18" charset="0"/>
                      </a:rPr>
                      <m:t>𝜎</m:t>
                    </m:r>
                    <m:r>
                      <a:rPr lang="en-US" i="1" dirty="0">
                        <a:latin typeface="Cambria Math" panose="02040503050406030204" pitchFamily="18" charset="0"/>
                      </a:rPr>
                      <m:t>²)</m:t>
                    </m:r>
                  </m:oMath>
                </a14:m>
                <a:endParaRPr dirty="0"/>
              </a:p>
            </p:txBody>
          </p:sp>
        </mc:Choice>
        <mc:Fallback xmlns="">
          <p:sp>
            <p:nvSpPr>
              <p:cNvPr id="6" name="TextBox 5"/>
              <p:cNvSpPr txBox="1">
                <a:spLocks noRot="1" noChangeAspect="1" noMove="1" noResize="1" noEditPoints="1" noAdjustHandles="1" noChangeArrowheads="1" noChangeShapeType="1" noTextEdit="1"/>
              </p:cNvSpPr>
              <p:nvPr/>
            </p:nvSpPr>
            <p:spPr>
              <a:xfrm>
                <a:off x="612648" y="3127248"/>
                <a:ext cx="10881360" cy="200632"/>
              </a:xfrm>
              <a:prstGeom prst="rect">
                <a:avLst/>
              </a:prstGeom>
              <a:blipFill>
                <a:blip r:embed="rId3"/>
                <a:stretch>
                  <a:fillRect l="-952" t="-21212" b="-484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612648" y="3703319"/>
                <a:ext cx="4983480" cy="2252004"/>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400" dirty="0"/>
                  <a:t>Why wall collisions</a:t>
                </a:r>
              </a:p>
              <a:p>
                <a:pPr algn="ctr">
                  <a:spcAft>
                    <a:spcPts val="100"/>
                  </a:spcAft>
                  <a:defRPr sz="1050">
                    <a:solidFill>
                      <a:srgbClr val="666E6A"/>
                    </a:solidFill>
                    <a:latin typeface="Neue Haas Grotesk Text Pro"/>
                  </a:defRPr>
                </a:pPr>
                <a:r>
                  <a:rPr sz="1400" dirty="0"/>
                  <a:t>Reflection is a non-differentiable piecewise map, and</a:t>
                </a:r>
              </a:p>
              <a:p>
                <a:pPr algn="ctr">
                  <a:spcAft>
                    <a:spcPts val="100"/>
                  </a:spcAft>
                  <a:defRPr sz="1050">
                    <a:solidFill>
                      <a:srgbClr val="666E6A"/>
                    </a:solidFill>
                    <a:latin typeface="Neue Haas Grotesk Text Pro"/>
                  </a:defRPr>
                </a:pPr>
                <a:r>
                  <a:rPr sz="1400" dirty="0"/>
                  <a:t>HOW MANY times a trajectory hits the wall is a</a:t>
                </a:r>
              </a:p>
              <a:p>
                <a:pPr algn="ctr">
                  <a:spcAft>
                    <a:spcPts val="100"/>
                  </a:spcAft>
                  <a:defRPr sz="1050">
                    <a:solidFill>
                      <a:srgbClr val="666E6A"/>
                    </a:solidFill>
                    <a:latin typeface="Neue Haas Grotesk Text Pro"/>
                  </a:defRPr>
                </a:pPr>
                <a:r>
                  <a:rPr sz="1400" dirty="0"/>
                  <a:t>discrete function of every cause.</a:t>
                </a:r>
              </a:p>
              <a:p>
                <a:pPr algn="ctr">
                  <a:spcAft>
                    <a:spcPts val="100"/>
                  </a:spcAft>
                  <a:defRPr sz="1050">
                    <a:solidFill>
                      <a:srgbClr val="666E6A"/>
                    </a:solidFill>
                    <a:latin typeface="Neue Haas Grotesk Text Pro"/>
                  </a:defRPr>
                </a:pPr>
                <a:endParaRPr sz="1400" dirty="0"/>
              </a:p>
              <a:p>
                <a:pPr algn="ctr">
                  <a:spcAft>
                    <a:spcPts val="100"/>
                  </a:spcAft>
                  <a:defRPr sz="1050">
                    <a:solidFill>
                      <a:srgbClr val="666E6A"/>
                    </a:solidFill>
                    <a:latin typeface="Neue Haas Grotesk Text Pro"/>
                  </a:defRPr>
                </a:pPr>
                <a:r>
                  <a:rPr sz="1400" dirty="0"/>
                  <a:t>Nesting 1/m instead was tried first and made the task</a:t>
                </a:r>
              </a:p>
              <a:p>
                <a:pPr algn="ctr">
                  <a:spcAft>
                    <a:spcPts val="100"/>
                  </a:spcAft>
                  <a:defRPr sz="1050">
                    <a:solidFill>
                      <a:srgbClr val="666E6A"/>
                    </a:solidFill>
                    <a:latin typeface="Neue Haas Grotesk Text Pro"/>
                  </a:defRPr>
                </a:pPr>
                <a:r>
                  <a:rPr sz="1400" dirty="0"/>
                  <a:t>MORE linear (</a:t>
                </a:r>
                <a14:m>
                  <m:oMath xmlns:m="http://schemas.openxmlformats.org/officeDocument/2006/math">
                    <m:r>
                      <a:rPr lang="en-US" sz="1400" i="1" dirty="0" smtClean="0">
                        <a:latin typeface="Cambria Math" panose="02040503050406030204" pitchFamily="18" charset="0"/>
                      </a:rPr>
                      <m:t>𝑅</m:t>
                    </m:r>
                    <m:r>
                      <a:rPr lang="en-US" sz="1400" i="1" dirty="0" smtClean="0">
                        <a:latin typeface="Cambria Math" panose="02040503050406030204" pitchFamily="18" charset="0"/>
                      </a:rPr>
                      <m:t>²</m:t>
                    </m:r>
                  </m:oMath>
                </a14:m>
                <a:r>
                  <a:rPr sz="1400" dirty="0"/>
                  <a:t> 0.848 → 0.881): the drive term</a:t>
                </a:r>
              </a:p>
              <a:p>
                <a:pPr algn="ctr">
                  <a:spcAft>
                    <a:spcPts val="100"/>
                  </a:spcAft>
                  <a:defRPr sz="1050">
                    <a:solidFill>
                      <a:srgbClr val="666E6A"/>
                    </a:solidFill>
                    <a:latin typeface="Neue Haas Grotesk Text Pro"/>
                  </a:defRPr>
                </a:pPr>
                <a14:m>
                  <m:oMath xmlns:m="http://schemas.openxmlformats.org/officeDocument/2006/math">
                    <m:r>
                      <a:rPr lang="en-US" sz="1400" i="1" dirty="0" smtClean="0">
                        <a:latin typeface="Cambria Math" panose="02040503050406030204" pitchFamily="18" charset="0"/>
                      </a:rPr>
                      <m:t>𝐹</m:t>
                    </m:r>
                    <m:r>
                      <a:rPr lang="en-US" sz="1400" i="1" dirty="0" smtClean="0">
                        <a:latin typeface="Cambria Math" panose="02040503050406030204" pitchFamily="18" charset="0"/>
                      </a:rPr>
                      <m:t>·</m:t>
                    </m:r>
                    <m:r>
                      <m:rPr>
                        <m:sty m:val="p"/>
                      </m:rPr>
                      <a:rPr lang="en-US" sz="1400" i="1" dirty="0" smtClean="0">
                        <a:latin typeface="Cambria Math" panose="02040503050406030204" pitchFamily="18" charset="0"/>
                      </a:rPr>
                      <m:t>cos</m:t>
                    </m:r>
                    <m:r>
                      <a:rPr lang="en-US" sz="1400" i="1" dirty="0" smtClean="0">
                        <a:latin typeface="Cambria Math" panose="02040503050406030204" pitchFamily="18" charset="0"/>
                      </a:rPr>
                      <m:t>𝜃</m:t>
                    </m:r>
                    <m:r>
                      <a:rPr lang="en-US" sz="1400" i="1" dirty="0">
                        <a:latin typeface="Cambria Math" panose="02040503050406030204" pitchFamily="18" charset="0"/>
                      </a:rPr>
                      <m:t>/</m:t>
                    </m:r>
                    <m:r>
                      <a:rPr lang="en-US" sz="1400" i="1" dirty="0">
                        <a:latin typeface="Cambria Math" panose="02040503050406030204" pitchFamily="18" charset="0"/>
                      </a:rPr>
                      <m:t>𝑚</m:t>
                    </m:r>
                    <m:r>
                      <a:rPr lang="en-US" sz="1400" i="1" dirty="0">
                        <a:latin typeface="Cambria Math" panose="02040503050406030204" pitchFamily="18" charset="0"/>
                      </a:rPr>
                      <m:t> </m:t>
                    </m:r>
                  </m:oMath>
                </a14:m>
                <a:r>
                  <a:rPr sz="1400" dirty="0"/>
                  <a:t>dominates the variance and is near-linear in F.</a:t>
                </a:r>
              </a:p>
            </p:txBody>
          </p:sp>
        </mc:Choice>
        <mc:Fallback xmlns="">
          <p:sp>
            <p:nvSpPr>
              <p:cNvPr id="7" name="Rounded Rectangle 6"/>
              <p:cNvSpPr>
                <a:spLocks noRot="1" noChangeAspect="1" noMove="1" noResize="1" noEditPoints="1" noAdjustHandles="1" noChangeArrowheads="1" noChangeShapeType="1" noTextEdit="1"/>
              </p:cNvSpPr>
              <p:nvPr/>
            </p:nvSpPr>
            <p:spPr>
              <a:xfrm>
                <a:off x="612648" y="3703319"/>
                <a:ext cx="4983480" cy="2252004"/>
              </a:xfrm>
              <a:prstGeom prst="roundRect">
                <a:avLst/>
              </a:prstGeom>
              <a:blipFill>
                <a:blip r:embed="rId4"/>
                <a:stretch>
                  <a:fillRect b="-3485"/>
                </a:stretch>
              </a:blipFill>
              <a:ln w="15875">
                <a:solidFill>
                  <a:srgbClr val="169C9A"/>
                </a:solidFill>
              </a:ln>
              <a:effectLst/>
            </p:spPr>
            <p:txBody>
              <a:bodyPr/>
              <a:lstStyle/>
              <a:p>
                <a:r>
                  <a:rPr lang="en-US">
                    <a:noFill/>
                  </a:rPr>
                  <a:t> </a:t>
                </a:r>
              </a:p>
            </p:txBody>
          </p:sp>
        </mc:Fallback>
      </mc:AlternateContent>
      <p:graphicFrame>
        <p:nvGraphicFramePr>
          <p:cNvPr id="8" name="Table 7"/>
          <p:cNvGraphicFramePr>
            <a:graphicFrameLocks noGrp="1"/>
          </p:cNvGraphicFramePr>
          <p:nvPr/>
        </p:nvGraphicFramePr>
        <p:xfrm>
          <a:off x="5897880" y="3703320"/>
          <a:ext cx="4864608" cy="1554480"/>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98448">
                  <a:extLst>
                    <a:ext uri="{9D8B030D-6E8A-4147-A177-3AD203B41FA5}">
                      <a16:colId xmlns:a16="http://schemas.microsoft.com/office/drawing/2014/main" val="20002"/>
                    </a:ext>
                  </a:extLst>
                </a:gridCol>
              </a:tblGrid>
              <a:tr h="347472">
                <a:tc>
                  <a:txBody>
                    <a:bodyPr/>
                    <a:lstStyle/>
                    <a:p>
                      <a:pPr>
                        <a:defRPr sz="1200" b="1">
                          <a:solidFill>
                            <a:srgbClr val="FFFFFF"/>
                          </a:solidFill>
                          <a:latin typeface="Neue Haas Grotesk Text Pro"/>
                        </a:defRPr>
                      </a:pPr>
                      <a:r>
                        <a:t>Linear R² of the output</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v1 world</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v2 world</a:t>
                      </a:r>
                    </a:p>
                  </a:txBody>
                  <a:tcPr marL="64008" marR="45720" marT="18288" marB="18288" anchor="ctr">
                    <a:solidFill>
                      <a:srgbClr val="169C9A"/>
                    </a:solidFill>
                  </a:tcPr>
                </a:tc>
                <a:extLst>
                  <a:ext uri="{0D108BD9-81ED-4DB2-BD59-A6C34878D82A}">
                    <a16:rowId xmlns:a16="http://schemas.microsoft.com/office/drawing/2014/main" val="10000"/>
                  </a:ext>
                </a:extLst>
              </a:tr>
              <a:tr h="301752">
                <a:tc>
                  <a:txBody>
                    <a:bodyPr/>
                    <a:lstStyle/>
                    <a:p>
                      <a:pPr>
                        <a:defRPr sz="1150" b="0">
                          <a:solidFill>
                            <a:srgbClr val="2C3932"/>
                          </a:solidFill>
                          <a:latin typeface="Neue Haas Grotesk Text Pro"/>
                        </a:defRPr>
                      </a:pPr>
                      <a:r>
                        <a:t>acceleration_next</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0.906</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0.78</a:t>
                      </a:r>
                    </a:p>
                  </a:txBody>
                  <a:tcPr marL="64008" marR="45720" marT="18288" marB="18288" anchor="ctr">
                    <a:solidFill>
                      <a:srgbClr val="ECF6F5"/>
                    </a:solidFill>
                  </a:tcPr>
                </a:tc>
                <a:extLst>
                  <a:ext uri="{0D108BD9-81ED-4DB2-BD59-A6C34878D82A}">
                    <a16:rowId xmlns:a16="http://schemas.microsoft.com/office/drawing/2014/main" val="10001"/>
                  </a:ext>
                </a:extLst>
              </a:tr>
              <a:tr h="301752">
                <a:tc>
                  <a:txBody>
                    <a:bodyPr/>
                    <a:lstStyle/>
                    <a:p>
                      <a:pPr>
                        <a:defRPr sz="1150" b="0">
                          <a:solidFill>
                            <a:srgbClr val="2C3932"/>
                          </a:solidFill>
                          <a:latin typeface="Neue Haas Grotesk Text Pro"/>
                        </a:defRPr>
                      </a:pPr>
                      <a:r>
                        <a:t>velocity_next</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0.998</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0.19</a:t>
                      </a:r>
                    </a:p>
                  </a:txBody>
                  <a:tcPr marL="64008" marR="45720" marT="18288" marB="18288" anchor="ctr">
                    <a:solidFill>
                      <a:srgbClr val="F7FBFB"/>
                    </a:solidFill>
                  </a:tcPr>
                </a:tc>
                <a:extLst>
                  <a:ext uri="{0D108BD9-81ED-4DB2-BD59-A6C34878D82A}">
                    <a16:rowId xmlns:a16="http://schemas.microsoft.com/office/drawing/2014/main" val="10002"/>
                  </a:ext>
                </a:extLst>
              </a:tr>
              <a:tr h="301752">
                <a:tc>
                  <a:txBody>
                    <a:bodyPr/>
                    <a:lstStyle/>
                    <a:p>
                      <a:pPr>
                        <a:defRPr sz="1150" b="0">
                          <a:solidFill>
                            <a:srgbClr val="2C3932"/>
                          </a:solidFill>
                          <a:latin typeface="Neue Haas Grotesk Text Pro"/>
                        </a:defRPr>
                      </a:pPr>
                      <a:r>
                        <a:t>position_next</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1.000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0.40</a:t>
                      </a:r>
                    </a:p>
                  </a:txBody>
                  <a:tcPr marL="64008" marR="45720" marT="18288" marB="18288" anchor="ctr">
                    <a:solidFill>
                      <a:srgbClr val="ECF6F5"/>
                    </a:solidFill>
                  </a:tcPr>
                </a:tc>
                <a:extLst>
                  <a:ext uri="{0D108BD9-81ED-4DB2-BD59-A6C34878D82A}">
                    <a16:rowId xmlns:a16="http://schemas.microsoft.com/office/drawing/2014/main" val="10003"/>
                  </a:ext>
                </a:extLst>
              </a:tr>
              <a:tr h="301752">
                <a:tc>
                  <a:txBody>
                    <a:bodyPr/>
                    <a:lstStyle/>
                    <a:p>
                      <a:pPr>
                        <a:defRPr sz="1150" b="1">
                          <a:solidFill>
                            <a:srgbClr val="2C3932"/>
                          </a:solidFill>
                          <a:latin typeface="Neue Haas Grotesk Text Pro"/>
                        </a:defRPr>
                      </a:pPr>
                      <a:r>
                        <a:t>mean</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0.968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0.40</a:t>
                      </a:r>
                    </a:p>
                  </a:txBody>
                  <a:tcPr marL="64008" marR="45720" marT="18288" marB="18288" anchor="ctr">
                    <a:solidFill>
                      <a:srgbClr val="FFECE5"/>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5897880" y="5468112"/>
            <a:ext cx="4864608" cy="923330"/>
          </a:xfrm>
          <a:prstGeom prst="rect">
            <a:avLst/>
          </a:prstGeom>
          <a:noFill/>
        </p:spPr>
        <p:txBody>
          <a:bodyPr wrap="square" lIns="0" tIns="0" rIns="0" bIns="0">
            <a:spAutoFit/>
          </a:bodyPr>
          <a:lstStyle/>
          <a:p>
            <a:pPr algn="l">
              <a:spcAft>
                <a:spcPts val="400"/>
              </a:spcAft>
              <a:defRPr sz="1000" b="0" i="1">
                <a:solidFill>
                  <a:srgbClr val="666E6A"/>
                </a:solidFill>
                <a:latin typeface="Neue Haas Grotesk Text Pro"/>
              </a:defRPr>
            </a:pPr>
            <a:r>
              <a:rPr sz="2000" i="1" dirty="0">
                <a:solidFill>
                  <a:srgbClr val="666E6A"/>
                </a:solidFill>
                <a:latin typeface="Neue Haas Grotesk Text Pro"/>
              </a:rPr>
              <a:t>R² ≈ 1 means a linear model already solves it: a black box wins for free and there is no ceiling to compete for.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Dataset: 24 inputs, only 5–7 of them are causes</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37548889"/>
                  </p:ext>
                </p:extLst>
              </p:nvPr>
            </p:nvGraphicFramePr>
            <p:xfrm>
              <a:off x="612648" y="1600200"/>
              <a:ext cx="10149840" cy="2555748"/>
            </p:xfrm>
            <a:graphic>
              <a:graphicData uri="http://schemas.openxmlformats.org/drawingml/2006/table">
                <a:tbl>
                  <a:tblPr firstRow="1">
                    <a:tableStyleId>{5C22544A-7EE6-4342-B048-85BDC9FD1C3A}</a:tableStyleId>
                  </a:tblPr>
                  <a:tblGrid>
                    <a:gridCol w="23774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2240280">
                      <a:extLst>
                        <a:ext uri="{9D8B030D-6E8A-4147-A177-3AD203B41FA5}">
                          <a16:colId xmlns:a16="http://schemas.microsoft.com/office/drawing/2014/main" val="20004"/>
                        </a:ext>
                      </a:extLst>
                    </a:gridCol>
                  </a:tblGrid>
                  <a:tr h="347472">
                    <a:tc>
                      <a:txBody>
                        <a:bodyPr/>
                        <a:lstStyle/>
                        <a:p>
                          <a:pPr>
                            <a:defRPr sz="1200" b="1">
                              <a:solidFill>
                                <a:srgbClr val="FFFFFF"/>
                              </a:solidFill>
                              <a:latin typeface="Neue Haas Grotesk Text Pro"/>
                            </a:defRPr>
                          </a:pPr>
                          <a:r>
                            <a:t>Role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n</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How it is built</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cond R² gain</a:t>
                          </a:r>
                        </a:p>
                      </a:txBody>
                      <a:tcPr marL="64008" marR="45720" marT="18288" marB="18288" anchor="ctr">
                        <a:solidFill>
                          <a:srgbClr val="169C9A"/>
                        </a:solidFill>
                      </a:tcPr>
                    </a:tc>
                    <a:tc>
                      <a:txBody>
                        <a:bodyPr/>
                        <a:lstStyle/>
                        <a:p>
                          <a:pPr algn="l">
                            <a:defRPr sz="1200" b="1">
                              <a:solidFill>
                                <a:srgbClr val="FFFFFF"/>
                              </a:solidFill>
                              <a:latin typeface="Neue Haas Grotesk Text Pro"/>
                            </a:defRPr>
                          </a:pPr>
                          <a:r>
                            <a:t>corr train → test</a:t>
                          </a:r>
                        </a:p>
                      </a:txBody>
                      <a:tcPr marL="64008" marR="45720" marT="18288" marB="18288" anchor="ctr">
                        <a:solidFill>
                          <a:srgbClr val="169C9A"/>
                        </a:solidFill>
                      </a:tcPr>
                    </a:tc>
                    <a:extLst>
                      <a:ext uri="{0D108BD9-81ED-4DB2-BD59-A6C34878D82A}">
                        <a16:rowId xmlns:a16="http://schemas.microsoft.com/office/drawing/2014/main" val="10000"/>
                      </a:ext>
                    </a:extLst>
                  </a:tr>
                  <a:tr h="315468">
                    <a:tc>
                      <a:txBody>
                        <a:bodyPr/>
                        <a:lstStyle/>
                        <a:p>
                          <a:pPr>
                            <a:defRPr sz="1150" b="0">
                              <a:solidFill>
                                <a:srgbClr val="2C3932"/>
                              </a:solidFill>
                              <a:latin typeface="Neue Haas Grotesk Text Pro"/>
                            </a:defRPr>
                          </a:pPr>
                          <a:r>
                            <a:t>true_cause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5–7</a:t>
                          </a:r>
                        </a:p>
                      </a:txBody>
                      <a:tcPr marL="64008" marR="45720" marT="18288" marB="18288" anchor="ctr">
                        <a:solidFill>
                          <a:srgbClr val="ECF6F5"/>
                        </a:solidFill>
                      </a:tcPr>
                    </a:tc>
                    <a:tc>
                      <a:txBody>
                        <a:bodyPr/>
                        <a:lstStyle/>
                        <a:p>
                          <a:pPr algn="l">
                            <a:defRPr sz="1150" b="0">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𝑒𝑛𝑡𝑒𝑟𝑠</m:t>
                                </m:r>
                                <m:r>
                                  <a:rPr lang="en-US" i="1" smtClean="0">
                                    <a:latin typeface="Cambria Math" panose="02040503050406030204" pitchFamily="18" charset="0"/>
                                  </a:rPr>
                                  <m:t> </m:t>
                                </m:r>
                                <m:r>
                                  <a:rPr lang="en-US" i="1" smtClean="0">
                                    <a:latin typeface="Cambria Math" panose="02040503050406030204" pitchFamily="18" charset="0"/>
                                  </a:rPr>
                                  <m:t>𝑡ℎ𝑒</m:t>
                                </m:r>
                                <m:r>
                                  <a:rPr lang="en-US" i="1" smtClean="0">
                                    <a:latin typeface="Cambria Math" panose="02040503050406030204" pitchFamily="18" charset="0"/>
                                  </a:rPr>
                                  <m:t> </m:t>
                                </m:r>
                                <m:r>
                                  <a:rPr lang="en-US" i="1" smtClean="0">
                                    <a:latin typeface="Cambria Math" panose="02040503050406030204" pitchFamily="18" charset="0"/>
                                  </a:rPr>
                                  <m:t>𝑚𝑒𝑐ℎ𝑎𝑛𝑖𝑠𝑚</m:t>
                                </m:r>
                                <m:r>
                                  <a:rPr lang="en-US" i="1" smtClean="0">
                                    <a:latin typeface="Cambria Math" panose="02040503050406030204" pitchFamily="18" charset="0"/>
                                  </a:rPr>
                                  <m:t> </m:t>
                                </m:r>
                                <m:r>
                                  <a:rPr lang="en-US" i="1" smtClean="0">
                                    <a:latin typeface="Cambria Math" panose="02040503050406030204" pitchFamily="18" charset="0"/>
                                  </a:rPr>
                                  <m:t>𝑎𝑏𝑜𝑣𝑒</m:t>
                                </m:r>
                              </m:oMath>
                            </m:oMathPara>
                          </a14:m>
                          <a:endParaRP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a:t>
                          </a:r>
                        </a:p>
                      </a:txBody>
                      <a:tcPr marL="64008" marR="45720" marT="18288" marB="18288" anchor="ctr">
                        <a:solidFill>
                          <a:srgbClr val="ECF6F5"/>
                        </a:solidFill>
                      </a:tcPr>
                    </a:tc>
                    <a:extLst>
                      <a:ext uri="{0D108BD9-81ED-4DB2-BD59-A6C34878D82A}">
                        <a16:rowId xmlns:a16="http://schemas.microsoft.com/office/drawing/2014/main" val="10001"/>
                      </a:ext>
                    </a:extLst>
                  </a:tr>
                  <a:tr h="315468">
                    <a:tc>
                      <a:txBody>
                        <a:bodyPr/>
                        <a:lstStyle/>
                        <a:p>
                          <a:pPr>
                            <a:defRPr sz="1150" b="1">
                              <a:solidFill>
                                <a:srgbClr val="2C3932"/>
                              </a:solidFill>
                              <a:latin typeface="Neue Haas Grotesk Text Pro"/>
                            </a:defRPr>
                          </a:pPr>
                          <a:r>
                            <a:t>descendant_of_outcome</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3</a:t>
                          </a:r>
                        </a:p>
                      </a:txBody>
                      <a:tcPr marL="64008" marR="45720" marT="18288" marB="18288" anchor="ctr">
                        <a:solidFill>
                          <a:srgbClr val="FFECE5"/>
                        </a:solidFill>
                      </a:tcPr>
                    </a:tc>
                    <a:tc>
                      <a:txBody>
                        <a:bodyPr/>
                        <a:lstStyle/>
                        <a:p>
                          <a:pPr algn="l">
                            <a:defRPr sz="1150" b="1">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𝒄𝒐𝒍𝒐𝒓</m:t>
                                </m:r>
                                <m:r>
                                  <a:rPr lang="en-US" i="1" smtClean="0">
                                    <a:latin typeface="Cambria Math" panose="02040503050406030204" pitchFamily="18" charset="0"/>
                                  </a:rPr>
                                  <m:t> = </m:t>
                                </m:r>
                                <m:r>
                                  <a:rPr lang="en-US" i="1" smtClean="0">
                                    <a:latin typeface="Cambria Math" panose="02040503050406030204" pitchFamily="18" charset="0"/>
                                  </a:rPr>
                                  <m:t>𝟏</m:t>
                                </m:r>
                                <m:r>
                                  <a:rPr lang="en-US" i="1" smtClean="0">
                                    <a:latin typeface="Cambria Math" panose="02040503050406030204" pitchFamily="18" charset="0"/>
                                  </a:rPr>
                                  <m:t>.</m:t>
                                </m:r>
                                <m:r>
                                  <a:rPr lang="en-US" i="1" smtClean="0">
                                    <a:latin typeface="Cambria Math" panose="02040503050406030204" pitchFamily="18" charset="0"/>
                                  </a:rPr>
                                  <m:t>𝟐</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𝒂</m:t>
                                    </m:r>
                                  </m:e>
                                  <m:sub>
                                    <m:r>
                                      <a:rPr lang="en-US" i="1" smtClean="0">
                                        <a:latin typeface="Cambria Math" panose="02040503050406030204" pitchFamily="18" charset="0"/>
                                      </a:rPr>
                                      <m:t>𝒏𝒆𝒙𝒕</m:t>
                                    </m:r>
                                  </m:sub>
                                </m:sSub>
                                <m:r>
                                  <a:rPr lang="en-US" i="1" smtClean="0">
                                    <a:latin typeface="Cambria Math" panose="02040503050406030204" pitchFamily="18" charset="0"/>
                                  </a:rPr>
                                  <m:t> + </m:t>
                                </m:r>
                                <m:r>
                                  <a:rPr lang="en-US" i="1" smtClean="0">
                                    <a:latin typeface="Cambria Math" panose="02040503050406030204" pitchFamily="18" charset="0"/>
                                  </a:rPr>
                                  <m:t>𝜺</m:t>
                                </m:r>
                              </m:oMath>
                            </m:oMathPara>
                          </a14:m>
                          <a:endParaRP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0.21 – 0.78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+0.996 → −0.996</a:t>
                          </a:r>
                        </a:p>
                      </a:txBody>
                      <a:tcPr marL="64008" marR="45720" marT="18288" marB="18288" anchor="ctr">
                        <a:solidFill>
                          <a:srgbClr val="FFECE5"/>
                        </a:solidFill>
                      </a:tcPr>
                    </a:tc>
                    <a:extLst>
                      <a:ext uri="{0D108BD9-81ED-4DB2-BD59-A6C34878D82A}">
                        <a16:rowId xmlns:a16="http://schemas.microsoft.com/office/drawing/2014/main" val="10002"/>
                      </a:ext>
                    </a:extLst>
                  </a:tr>
                  <a:tr h="315468">
                    <a:tc>
                      <a:txBody>
                        <a:bodyPr/>
                        <a:lstStyle/>
                        <a:p>
                          <a:pPr>
                            <a:defRPr sz="1150" b="0">
                              <a:solidFill>
                                <a:srgbClr val="2C3932"/>
                              </a:solidFill>
                              <a:latin typeface="Neue Haas Grotesk Text Pro"/>
                            </a:defRPr>
                          </a:pPr>
                          <a:r>
                            <a:t>proxy_of_cause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4</a:t>
                          </a:r>
                        </a:p>
                      </a:txBody>
                      <a:tcPr marL="64008" marR="45720" marT="18288" marB="18288" anchor="ctr">
                        <a:solidFill>
                          <a:srgbClr val="ECF6F5"/>
                        </a:solidFill>
                      </a:tcPr>
                    </a:tc>
                    <a:tc>
                      <a:txBody>
                        <a:bodyPr/>
                        <a:lstStyle/>
                        <a:p>
                          <a:pPr algn="l">
                            <a:defRPr sz="1150" b="0">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𝑝𝑟𝑜𝑥𝑦</m:t>
                                </m:r>
                                <m:r>
                                  <a:rPr lang="en-US" i="1" smtClean="0">
                                    <a:latin typeface="Cambria Math" panose="02040503050406030204" pitchFamily="18" charset="0"/>
                                  </a:rPr>
                                  <m:t>_</m:t>
                                </m:r>
                                <m:r>
                                  <a:rPr lang="en-US" i="1" smtClean="0">
                                    <a:latin typeface="Cambria Math" panose="02040503050406030204" pitchFamily="18" charset="0"/>
                                  </a:rPr>
                                  <m:t>𝑓𝑜𝑟𝑐𝑒</m:t>
                                </m:r>
                                <m:r>
                                  <a:rPr lang="en-US" i="1" smtClean="0">
                                    <a:latin typeface="Cambria Math" panose="02040503050406030204" pitchFamily="18" charset="0"/>
                                  </a:rPr>
                                  <m:t> = 0.95·</m:t>
                                </m:r>
                                <m:r>
                                  <a:rPr lang="en-US" i="1" smtClean="0">
                                    <a:latin typeface="Cambria Math" panose="02040503050406030204" pitchFamily="18" charset="0"/>
                                  </a:rPr>
                                  <m:t>𝑓𝑜𝑟𝑐𝑒</m:t>
                                </m:r>
                                <m:r>
                                  <a:rPr lang="en-US" i="1" smtClean="0">
                                    <a:latin typeface="Cambria Math" panose="02040503050406030204" pitchFamily="18" charset="0"/>
                                  </a:rPr>
                                  <m:t> + </m:t>
                                </m:r>
                                <m:r>
                                  <a:rPr lang="en-US" i="1" smtClean="0">
                                    <a:latin typeface="Cambria Math" panose="02040503050406030204" pitchFamily="18" charset="0"/>
                                  </a:rPr>
                                  <m:t>𝜀</m:t>
                                </m:r>
                              </m:oMath>
                            </m:oMathPara>
                          </a14:m>
                          <a:endParaRP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 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weak</a:t>
                          </a:r>
                        </a:p>
                      </a:txBody>
                      <a:tcPr marL="64008" marR="45720" marT="18288" marB="18288" anchor="ctr">
                        <a:solidFill>
                          <a:srgbClr val="ECF6F5"/>
                        </a:solidFill>
                      </a:tcPr>
                    </a:tc>
                    <a:extLst>
                      <a:ext uri="{0D108BD9-81ED-4DB2-BD59-A6C34878D82A}">
                        <a16:rowId xmlns:a16="http://schemas.microsoft.com/office/drawing/2014/main" val="10003"/>
                      </a:ext>
                    </a:extLst>
                  </a:tr>
                  <a:tr h="315468">
                    <a:tc>
                      <a:txBody>
                        <a:bodyPr/>
                        <a:lstStyle/>
                        <a:p>
                          <a:pPr>
                            <a:defRPr sz="1150" b="0">
                              <a:solidFill>
                                <a:srgbClr val="2C3932"/>
                              </a:solidFill>
                              <a:latin typeface="Neue Haas Grotesk Text Pro"/>
                            </a:defRPr>
                          </a:pPr>
                          <a:r>
                            <a:t>collider_of_parents</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2</a:t>
                          </a:r>
                        </a:p>
                      </a:txBody>
                      <a:tcPr marL="64008" marR="45720" marT="18288" marB="18288" anchor="ctr">
                        <a:solidFill>
                          <a:srgbClr val="F7FBFB"/>
                        </a:solidFill>
                      </a:tcPr>
                    </a:tc>
                    <a:tc>
                      <a:txBody>
                        <a:bodyPr/>
                        <a:lstStyle/>
                        <a:p>
                          <a:pPr algn="l">
                            <a:defRPr sz="1150" b="0">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𝑡𝑒𝑥𝑡𝑢𝑟𝑒</m:t>
                                </m:r>
                                <m:r>
                                  <a:rPr lang="en-US" i="1" smtClean="0">
                                    <a:latin typeface="Cambria Math" panose="02040503050406030204" pitchFamily="18" charset="0"/>
                                  </a:rPr>
                                  <m:t> = 0.9·</m:t>
                                </m:r>
                                <m:sSub>
                                  <m:sSubPr>
                                    <m:ctrlPr>
                                      <a:rPr lang="en-US" i="1" smtClean="0">
                                        <a:latin typeface="Cambria Math" panose="02040503050406030204" pitchFamily="18" charset="0"/>
                                      </a:rPr>
                                    </m:ctrlPr>
                                  </m:sSubPr>
                                  <m:e>
                                    <m:r>
                                      <a:rPr lang="en-US" i="1" smtClean="0">
                                        <a:latin typeface="Cambria Math" panose="02040503050406030204" pitchFamily="18" charset="0"/>
                                      </a:rPr>
                                      <m:t>𝑣</m:t>
                                    </m:r>
                                  </m:e>
                                  <m:sub>
                                    <m:r>
                                      <a:rPr lang="en-US" i="1" smtClean="0">
                                        <a:latin typeface="Cambria Math" panose="02040503050406030204" pitchFamily="18" charset="0"/>
                                      </a:rPr>
                                      <m:t>𝑡</m:t>
                                    </m:r>
                                  </m:sub>
                                </m:sSub>
                                <m:r>
                                  <a:rPr lang="en-US" i="1" smtClean="0">
                                    <a:latin typeface="Cambria Math" panose="02040503050406030204" pitchFamily="18" charset="0"/>
                                  </a:rPr>
                                  <m:t> + 0.35·</m:t>
                                </m:r>
                                <m:r>
                                  <a:rPr lang="en-US" i="1" smtClean="0">
                                    <a:latin typeface="Cambria Math" panose="02040503050406030204" pitchFamily="18" charset="0"/>
                                  </a:rPr>
                                  <m:t>𝐹</m:t>
                                </m:r>
                                <m:r>
                                  <a:rPr lang="en-US" i="1" smtClean="0">
                                    <a:latin typeface="Cambria Math" panose="02040503050406030204" pitchFamily="18" charset="0"/>
                                  </a:rPr>
                                  <m:t> + </m:t>
                                </m:r>
                                <m:r>
                                  <a:rPr lang="en-US" i="1" smtClean="0">
                                    <a:latin typeface="Cambria Math" panose="02040503050406030204" pitchFamily="18" charset="0"/>
                                  </a:rPr>
                                  <m:t>𝜀</m:t>
                                </m:r>
                              </m:oMath>
                            </m:oMathPara>
                          </a14:m>
                          <a:endParaRP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 0</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weak</a:t>
                          </a:r>
                        </a:p>
                      </a:txBody>
                      <a:tcPr marL="64008" marR="45720" marT="18288" marB="18288" anchor="ctr">
                        <a:solidFill>
                          <a:srgbClr val="F7FBFB"/>
                        </a:solidFill>
                      </a:tcPr>
                    </a:tc>
                    <a:extLst>
                      <a:ext uri="{0D108BD9-81ED-4DB2-BD59-A6C34878D82A}">
                        <a16:rowId xmlns:a16="http://schemas.microsoft.com/office/drawing/2014/main" val="10004"/>
                      </a:ext>
                    </a:extLst>
                  </a:tr>
                  <a:tr h="315468">
                    <a:tc>
                      <a:txBody>
                        <a:bodyPr/>
                        <a:lstStyle/>
                        <a:p>
                          <a:pPr>
                            <a:defRPr sz="1150" b="0">
                              <a:solidFill>
                                <a:srgbClr val="2C3932"/>
                              </a:solidFill>
                              <a:latin typeface="Neue Haas Grotesk Text Pro"/>
                            </a:defRPr>
                          </a:pPr>
                          <a:r>
                            <a:t>descendant_of_parent</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2</a:t>
                          </a:r>
                        </a:p>
                      </a:txBody>
                      <a:tcPr marL="64008" marR="45720" marT="18288" marB="18288" anchor="ctr">
                        <a:solidFill>
                          <a:srgbClr val="ECF6F5"/>
                        </a:solidFill>
                      </a:tcPr>
                    </a:tc>
                    <a:tc>
                      <a:txBody>
                        <a:bodyPr/>
                        <a:lstStyle/>
                        <a:p>
                          <a:pPr algn="l">
                            <a:defRPr sz="1150" b="0">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𝑑𝑟𝑖𝑓𝑡</m:t>
                                </m:r>
                                <m:r>
                                  <a:rPr lang="en-US" i="1" smtClean="0">
                                    <a:latin typeface="Cambria Math" panose="02040503050406030204" pitchFamily="18" charset="0"/>
                                  </a:rPr>
                                  <m:t> = 0.6·</m:t>
                                </m:r>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𝑡</m:t>
                                    </m:r>
                                  </m:sub>
                                </m:sSub>
                                <m:r>
                                  <a:rPr lang="en-US" i="1" smtClean="0">
                                    <a:latin typeface="Cambria Math" panose="02040503050406030204" pitchFamily="18" charset="0"/>
                                  </a:rPr>
                                  <m:t> + </m:t>
                                </m:r>
                                <m:r>
                                  <a:rPr lang="en-US" i="1" smtClean="0">
                                    <a:latin typeface="Cambria Math" panose="02040503050406030204" pitchFamily="18" charset="0"/>
                                  </a:rPr>
                                  <m:t>𝜀</m:t>
                                </m:r>
                              </m:oMath>
                            </m:oMathPara>
                          </a14:m>
                          <a:endParaRP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 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weak</a:t>
                          </a:r>
                        </a:p>
                      </a:txBody>
                      <a:tcPr marL="64008" marR="45720" marT="18288" marB="18288" anchor="ctr">
                        <a:solidFill>
                          <a:srgbClr val="ECF6F5"/>
                        </a:solidFill>
                      </a:tcPr>
                    </a:tc>
                    <a:extLst>
                      <a:ext uri="{0D108BD9-81ED-4DB2-BD59-A6C34878D82A}">
                        <a16:rowId xmlns:a16="http://schemas.microsoft.com/office/drawing/2014/main" val="10005"/>
                      </a:ext>
                    </a:extLst>
                  </a:tr>
                  <a:tr h="315468">
                    <a:tc>
                      <a:txBody>
                        <a:bodyPr/>
                        <a:lstStyle/>
                        <a:p>
                          <a:pPr>
                            <a:defRPr sz="1150" b="0">
                              <a:solidFill>
                                <a:srgbClr val="2C3932"/>
                              </a:solidFill>
                              <a:latin typeface="Neue Haas Grotesk Text Pro"/>
                            </a:defRPr>
                          </a:pPr>
                          <a:r>
                            <a:t>nonlinear_proxy</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1</a:t>
                          </a:r>
                        </a:p>
                      </a:txBody>
                      <a:tcPr marL="64008" marR="45720" marT="18288" marB="18288" anchor="ctr">
                        <a:solidFill>
                          <a:srgbClr val="F7FBFB"/>
                        </a:solidFill>
                      </a:tcPr>
                    </a:tc>
                    <a:tc>
                      <a:txBody>
                        <a:bodyPr/>
                        <a:lstStyle/>
                        <a:p>
                          <a:pPr algn="l">
                            <a:defRPr sz="1150" b="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𝑟𝑚𝑠</m:t>
                                </m:r>
                                <m:r>
                                  <a:rPr lang="en-US" i="1" dirty="0" smtClean="0">
                                    <a:latin typeface="Cambria Math" panose="02040503050406030204" pitchFamily="18" charset="0"/>
                                  </a:rPr>
                                  <m:t>_</m:t>
                                </m:r>
                                <m:r>
                                  <a:rPr lang="en-US" i="1" dirty="0" smtClean="0">
                                    <a:latin typeface="Cambria Math" panose="02040503050406030204" pitchFamily="18" charset="0"/>
                                  </a:rPr>
                                  <m:t>𝑠𝑡𝑎𝑡𝑒</m:t>
                                </m:r>
                                <m:r>
                                  <a:rPr lang="en-US" i="1" dirty="0">
                                    <a:latin typeface="Cambria Math" panose="02040503050406030204" pitchFamily="18" charset="0"/>
                                  </a:rPr>
                                  <m:t> =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𝑡</m:t>
                                    </m:r>
                                  </m:sub>
                                </m:sSub>
                                <m:r>
                                  <a:rPr lang="en-US" i="1" dirty="0">
                                    <a:latin typeface="Cambria Math" panose="02040503050406030204" pitchFamily="18" charset="0"/>
                                  </a:rPr>
                                  <m:t>² + </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𝑡</m:t>
                                    </m:r>
                                  </m:sub>
                                </m:sSub>
                                <m:r>
                                  <a:rPr lang="en-US" i="1" dirty="0">
                                    <a:latin typeface="Cambria Math" panose="02040503050406030204" pitchFamily="18" charset="0"/>
                                  </a:rPr>
                                  <m:t>²) + </m:t>
                                </m:r>
                                <m:r>
                                  <a:rPr lang="en-US" i="1" dirty="0">
                                    <a:latin typeface="Cambria Math" panose="02040503050406030204" pitchFamily="18" charset="0"/>
                                  </a:rPr>
                                  <m:t>𝜀</m:t>
                                </m:r>
                              </m:oMath>
                            </m:oMathPara>
                          </a14:m>
                          <a:endParaRP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 0</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weak</a:t>
                          </a:r>
                        </a:p>
                      </a:txBody>
                      <a:tcPr marL="64008" marR="45720" marT="18288" marB="18288" anchor="ctr">
                        <a:solidFill>
                          <a:srgbClr val="F7FBFB"/>
                        </a:solidFill>
                      </a:tcPr>
                    </a:tc>
                    <a:extLst>
                      <a:ext uri="{0D108BD9-81ED-4DB2-BD59-A6C34878D82A}">
                        <a16:rowId xmlns:a16="http://schemas.microsoft.com/office/drawing/2014/main" val="10006"/>
                      </a:ext>
                    </a:extLst>
                  </a:tr>
                  <a:tr h="315468">
                    <a:tc>
                      <a:txBody>
                        <a:bodyPr/>
                        <a:lstStyle/>
                        <a:p>
                          <a:pPr>
                            <a:defRPr sz="1150" b="0">
                              <a:solidFill>
                                <a:srgbClr val="2C3932"/>
                              </a:solidFill>
                              <a:latin typeface="Neue Haas Grotesk Text Pro"/>
                            </a:defRPr>
                          </a:pPr>
                          <a:r>
                            <a:t>pure_noise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5</a:t>
                          </a:r>
                        </a:p>
                      </a:txBody>
                      <a:tcPr marL="64008" marR="45720" marT="18288" marB="18288" anchor="ctr">
                        <a:solidFill>
                          <a:srgbClr val="ECF6F5"/>
                        </a:solidFill>
                      </a:tcPr>
                    </a:tc>
                    <a:tc>
                      <a:txBody>
                        <a:bodyPr/>
                        <a:lstStyle/>
                        <a:p>
                          <a:pPr algn="l">
                            <a:defRPr sz="1150" b="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𝑏𝑔</m:t>
                                </m:r>
                                <m:r>
                                  <a:rPr lang="en-US" i="1" dirty="0" smtClean="0">
                                    <a:latin typeface="Cambria Math" panose="02040503050406030204" pitchFamily="18" charset="0"/>
                                  </a:rPr>
                                  <m:t>_</m:t>
                                </m:r>
                                <m:r>
                                  <a:rPr lang="en-US" i="1" dirty="0" smtClean="0">
                                    <a:latin typeface="Cambria Math" panose="02040503050406030204" pitchFamily="18" charset="0"/>
                                  </a:rPr>
                                  <m:t>𝑙𝑖𝑔ℎ𝑡</m:t>
                                </m:r>
                                <m:r>
                                  <a:rPr lang="en-US" i="1" dirty="0">
                                    <a:latin typeface="Cambria Math" panose="02040503050406030204" pitchFamily="18" charset="0"/>
                                  </a:rPr>
                                  <m:t> ~ </m:t>
                                </m:r>
                                <m:r>
                                  <a:rPr lang="en-US" i="1" dirty="0">
                                    <a:latin typeface="Cambria Math" panose="02040503050406030204" pitchFamily="18" charset="0"/>
                                  </a:rPr>
                                  <m:t>𝑁</m:t>
                                </m:r>
                                <m:r>
                                  <a:rPr lang="en-US" i="1" dirty="0">
                                    <a:latin typeface="Cambria Math" panose="02040503050406030204" pitchFamily="18" charset="0"/>
                                  </a:rPr>
                                  <m:t>(0,1)</m:t>
                                </m:r>
                              </m:oMath>
                            </m:oMathPara>
                          </a14:m>
                          <a:endParaRPr dirty="0"/>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rPr dirty="0"/>
                            <a:t>none</a:t>
                          </a:r>
                        </a:p>
                      </a:txBody>
                      <a:tcPr marL="64008" marR="45720" marT="18288" marB="18288" anchor="ctr">
                        <a:solidFill>
                          <a:srgbClr val="ECF6F5"/>
                        </a:solidFill>
                      </a:tcPr>
                    </a:tc>
                    <a:extLst>
                      <a:ext uri="{0D108BD9-81ED-4DB2-BD59-A6C34878D82A}">
                        <a16:rowId xmlns:a16="http://schemas.microsoft.com/office/drawing/2014/main" val="10007"/>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37548889"/>
                  </p:ext>
                </p:extLst>
              </p:nvPr>
            </p:nvGraphicFramePr>
            <p:xfrm>
              <a:off x="612648" y="1600200"/>
              <a:ext cx="10149840" cy="2555748"/>
            </p:xfrm>
            <a:graphic>
              <a:graphicData uri="http://schemas.openxmlformats.org/drawingml/2006/table">
                <a:tbl>
                  <a:tblPr firstRow="1">
                    <a:tableStyleId>{5C22544A-7EE6-4342-B048-85BDC9FD1C3A}</a:tableStyleId>
                  </a:tblPr>
                  <a:tblGrid>
                    <a:gridCol w="23774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2240280">
                      <a:extLst>
                        <a:ext uri="{9D8B030D-6E8A-4147-A177-3AD203B41FA5}">
                          <a16:colId xmlns:a16="http://schemas.microsoft.com/office/drawing/2014/main" val="20004"/>
                        </a:ext>
                      </a:extLst>
                    </a:gridCol>
                  </a:tblGrid>
                  <a:tr h="347472">
                    <a:tc>
                      <a:txBody>
                        <a:bodyPr/>
                        <a:lstStyle/>
                        <a:p>
                          <a:pPr>
                            <a:defRPr sz="1200" b="1">
                              <a:solidFill>
                                <a:srgbClr val="FFFFFF"/>
                              </a:solidFill>
                              <a:latin typeface="Neue Haas Grotesk Text Pro"/>
                            </a:defRPr>
                          </a:pPr>
                          <a:r>
                            <a:t>Role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n</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How it is built</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cond R² gain</a:t>
                          </a:r>
                        </a:p>
                      </a:txBody>
                      <a:tcPr marL="64008" marR="45720" marT="18288" marB="18288" anchor="ctr">
                        <a:solidFill>
                          <a:srgbClr val="169C9A"/>
                        </a:solidFill>
                      </a:tcPr>
                    </a:tc>
                    <a:tc>
                      <a:txBody>
                        <a:bodyPr/>
                        <a:lstStyle/>
                        <a:p>
                          <a:pPr algn="l">
                            <a:defRPr sz="1200" b="1">
                              <a:solidFill>
                                <a:srgbClr val="FFFFFF"/>
                              </a:solidFill>
                              <a:latin typeface="Neue Haas Grotesk Text Pro"/>
                            </a:defRPr>
                          </a:pPr>
                          <a:r>
                            <a:t>corr train → test</a:t>
                          </a:r>
                        </a:p>
                      </a:txBody>
                      <a:tcPr marL="64008" marR="45720" marT="18288" marB="18288" anchor="ctr">
                        <a:solidFill>
                          <a:srgbClr val="169C9A"/>
                        </a:solidFill>
                      </a:tcPr>
                    </a:tc>
                    <a:extLst>
                      <a:ext uri="{0D108BD9-81ED-4DB2-BD59-A6C34878D82A}">
                        <a16:rowId xmlns:a16="http://schemas.microsoft.com/office/drawing/2014/main" val="10000"/>
                      </a:ext>
                    </a:extLst>
                  </a:tr>
                  <a:tr h="315468">
                    <a:tc>
                      <a:txBody>
                        <a:bodyPr/>
                        <a:lstStyle/>
                        <a:p>
                          <a:pPr>
                            <a:defRPr sz="1150" b="0">
                              <a:solidFill>
                                <a:srgbClr val="2C3932"/>
                              </a:solidFill>
                              <a:latin typeface="Neue Haas Grotesk Text Pro"/>
                            </a:defRPr>
                          </a:pPr>
                          <a:r>
                            <a:t>true_cause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5–7</a:t>
                          </a:r>
                        </a:p>
                      </a:txBody>
                      <a:tcPr marL="64008" marR="45720" marT="18288" marB="18288" anchor="ctr">
                        <a:solidFill>
                          <a:srgbClr val="ECF6F5"/>
                        </a:solidFill>
                      </a:tcPr>
                    </a:tc>
                    <a:tc>
                      <a:txBody>
                        <a:bodyPr/>
                        <a:lstStyle/>
                        <a:p>
                          <a:endParaRPr lang="en-US"/>
                        </a:p>
                      </a:txBody>
                      <a:tcPr marL="64008" marR="45720" marT="18288" marB="18288" anchor="ctr">
                        <a:blipFill>
                          <a:blip r:embed="rId2"/>
                          <a:stretch>
                            <a:fillRect l="-84192" t="-111538" r="-112611" b="-603846"/>
                          </a:stretch>
                        </a:blipFill>
                      </a:tcPr>
                    </a:tc>
                    <a:tc>
                      <a:txBody>
                        <a:bodyPr/>
                        <a:lstStyle/>
                        <a:p>
                          <a:pPr algn="ctr">
                            <a:defRPr sz="1150" b="0">
                              <a:solidFill>
                                <a:srgbClr val="2C3932"/>
                              </a:solidFill>
                              <a:latin typeface="Neue Haas Grotesk Text Pro"/>
                            </a:defRPr>
                          </a:pPr>
                          <a:r>
                            <a:t>—</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a:t>
                          </a:r>
                        </a:p>
                      </a:txBody>
                      <a:tcPr marL="64008" marR="45720" marT="18288" marB="18288" anchor="ctr">
                        <a:solidFill>
                          <a:srgbClr val="ECF6F5"/>
                        </a:solidFill>
                      </a:tcPr>
                    </a:tc>
                    <a:extLst>
                      <a:ext uri="{0D108BD9-81ED-4DB2-BD59-A6C34878D82A}">
                        <a16:rowId xmlns:a16="http://schemas.microsoft.com/office/drawing/2014/main" val="10001"/>
                      </a:ext>
                    </a:extLst>
                  </a:tr>
                  <a:tr h="315468">
                    <a:tc>
                      <a:txBody>
                        <a:bodyPr/>
                        <a:lstStyle/>
                        <a:p>
                          <a:pPr>
                            <a:defRPr sz="1150" b="1">
                              <a:solidFill>
                                <a:srgbClr val="2C3932"/>
                              </a:solidFill>
                              <a:latin typeface="Neue Haas Grotesk Text Pro"/>
                            </a:defRPr>
                          </a:pPr>
                          <a:r>
                            <a:t>descendant_of_outcome</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3</a:t>
                          </a:r>
                        </a:p>
                      </a:txBody>
                      <a:tcPr marL="64008" marR="45720" marT="18288" marB="18288" anchor="ctr">
                        <a:solidFill>
                          <a:srgbClr val="FFECE5"/>
                        </a:solidFill>
                      </a:tcPr>
                    </a:tc>
                    <a:tc>
                      <a:txBody>
                        <a:bodyPr/>
                        <a:lstStyle/>
                        <a:p>
                          <a:endParaRPr lang="en-US"/>
                        </a:p>
                      </a:txBody>
                      <a:tcPr marL="64008" marR="45720" marT="18288" marB="18288" anchor="ctr">
                        <a:blipFill>
                          <a:blip r:embed="rId2"/>
                          <a:stretch>
                            <a:fillRect l="-84192" t="-211538" r="-112611" b="-503846"/>
                          </a:stretch>
                        </a:blipFill>
                      </a:tcPr>
                    </a:tc>
                    <a:tc>
                      <a:txBody>
                        <a:bodyPr/>
                        <a:lstStyle/>
                        <a:p>
                          <a:pPr algn="ctr">
                            <a:defRPr sz="1150" b="1">
                              <a:solidFill>
                                <a:srgbClr val="2C3932"/>
                              </a:solidFill>
                              <a:latin typeface="Neue Haas Grotesk Text Pro"/>
                            </a:defRPr>
                          </a:pPr>
                          <a:r>
                            <a:t>0.21 – 0.78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+0.996 → −0.996</a:t>
                          </a:r>
                        </a:p>
                      </a:txBody>
                      <a:tcPr marL="64008" marR="45720" marT="18288" marB="18288" anchor="ctr">
                        <a:solidFill>
                          <a:srgbClr val="FFECE5"/>
                        </a:solidFill>
                      </a:tcPr>
                    </a:tc>
                    <a:extLst>
                      <a:ext uri="{0D108BD9-81ED-4DB2-BD59-A6C34878D82A}">
                        <a16:rowId xmlns:a16="http://schemas.microsoft.com/office/drawing/2014/main" val="10002"/>
                      </a:ext>
                    </a:extLst>
                  </a:tr>
                  <a:tr h="315468">
                    <a:tc>
                      <a:txBody>
                        <a:bodyPr/>
                        <a:lstStyle/>
                        <a:p>
                          <a:pPr>
                            <a:defRPr sz="1150" b="0">
                              <a:solidFill>
                                <a:srgbClr val="2C3932"/>
                              </a:solidFill>
                              <a:latin typeface="Neue Haas Grotesk Text Pro"/>
                            </a:defRPr>
                          </a:pPr>
                          <a:r>
                            <a:t>proxy_of_cause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4</a:t>
                          </a:r>
                        </a:p>
                      </a:txBody>
                      <a:tcPr marL="64008" marR="45720" marT="18288" marB="18288" anchor="ctr">
                        <a:solidFill>
                          <a:srgbClr val="ECF6F5"/>
                        </a:solidFill>
                      </a:tcPr>
                    </a:tc>
                    <a:tc>
                      <a:txBody>
                        <a:bodyPr/>
                        <a:lstStyle/>
                        <a:p>
                          <a:endParaRPr lang="en-US"/>
                        </a:p>
                      </a:txBody>
                      <a:tcPr marL="64008" marR="45720" marT="18288" marB="18288" anchor="ctr">
                        <a:blipFill>
                          <a:blip r:embed="rId2"/>
                          <a:stretch>
                            <a:fillRect l="-84192" t="-311538" r="-112611" b="-403846"/>
                          </a:stretch>
                        </a:blipFill>
                      </a:tcPr>
                    </a:tc>
                    <a:tc>
                      <a:txBody>
                        <a:bodyPr/>
                        <a:lstStyle/>
                        <a:p>
                          <a:pPr algn="ctr">
                            <a:defRPr sz="1150" b="0">
                              <a:solidFill>
                                <a:srgbClr val="2C3932"/>
                              </a:solidFill>
                              <a:latin typeface="Neue Haas Grotesk Text Pro"/>
                            </a:defRPr>
                          </a:pPr>
                          <a:r>
                            <a:t>≈ 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weak</a:t>
                          </a:r>
                        </a:p>
                      </a:txBody>
                      <a:tcPr marL="64008" marR="45720" marT="18288" marB="18288" anchor="ctr">
                        <a:solidFill>
                          <a:srgbClr val="ECF6F5"/>
                        </a:solidFill>
                      </a:tcPr>
                    </a:tc>
                    <a:extLst>
                      <a:ext uri="{0D108BD9-81ED-4DB2-BD59-A6C34878D82A}">
                        <a16:rowId xmlns:a16="http://schemas.microsoft.com/office/drawing/2014/main" val="10003"/>
                      </a:ext>
                    </a:extLst>
                  </a:tr>
                  <a:tr h="315468">
                    <a:tc>
                      <a:txBody>
                        <a:bodyPr/>
                        <a:lstStyle/>
                        <a:p>
                          <a:pPr>
                            <a:defRPr sz="1150" b="0">
                              <a:solidFill>
                                <a:srgbClr val="2C3932"/>
                              </a:solidFill>
                              <a:latin typeface="Neue Haas Grotesk Text Pro"/>
                            </a:defRPr>
                          </a:pPr>
                          <a:r>
                            <a:t>collider_of_parents</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2</a:t>
                          </a:r>
                        </a:p>
                      </a:txBody>
                      <a:tcPr marL="64008" marR="45720" marT="18288" marB="18288" anchor="ctr">
                        <a:solidFill>
                          <a:srgbClr val="F7FBFB"/>
                        </a:solidFill>
                      </a:tcPr>
                    </a:tc>
                    <a:tc>
                      <a:txBody>
                        <a:bodyPr/>
                        <a:lstStyle/>
                        <a:p>
                          <a:endParaRPr lang="en-US"/>
                        </a:p>
                      </a:txBody>
                      <a:tcPr marL="64008" marR="45720" marT="18288" marB="18288" anchor="ctr">
                        <a:blipFill>
                          <a:blip r:embed="rId2"/>
                          <a:stretch>
                            <a:fillRect l="-84192" t="-419608" r="-112611" b="-311765"/>
                          </a:stretch>
                        </a:blipFill>
                      </a:tcPr>
                    </a:tc>
                    <a:tc>
                      <a:txBody>
                        <a:bodyPr/>
                        <a:lstStyle/>
                        <a:p>
                          <a:pPr algn="ctr">
                            <a:defRPr sz="1150" b="0">
                              <a:solidFill>
                                <a:srgbClr val="2C3932"/>
                              </a:solidFill>
                              <a:latin typeface="Neue Haas Grotesk Text Pro"/>
                            </a:defRPr>
                          </a:pPr>
                          <a:r>
                            <a:t>≈ 0</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weak</a:t>
                          </a:r>
                        </a:p>
                      </a:txBody>
                      <a:tcPr marL="64008" marR="45720" marT="18288" marB="18288" anchor="ctr">
                        <a:solidFill>
                          <a:srgbClr val="F7FBFB"/>
                        </a:solidFill>
                      </a:tcPr>
                    </a:tc>
                    <a:extLst>
                      <a:ext uri="{0D108BD9-81ED-4DB2-BD59-A6C34878D82A}">
                        <a16:rowId xmlns:a16="http://schemas.microsoft.com/office/drawing/2014/main" val="10004"/>
                      </a:ext>
                    </a:extLst>
                  </a:tr>
                  <a:tr h="315468">
                    <a:tc>
                      <a:txBody>
                        <a:bodyPr/>
                        <a:lstStyle/>
                        <a:p>
                          <a:pPr>
                            <a:defRPr sz="1150" b="0">
                              <a:solidFill>
                                <a:srgbClr val="2C3932"/>
                              </a:solidFill>
                              <a:latin typeface="Neue Haas Grotesk Text Pro"/>
                            </a:defRPr>
                          </a:pPr>
                          <a:r>
                            <a:t>descendant_of_parent</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2</a:t>
                          </a:r>
                        </a:p>
                      </a:txBody>
                      <a:tcPr marL="64008" marR="45720" marT="18288" marB="18288" anchor="ctr">
                        <a:solidFill>
                          <a:srgbClr val="ECF6F5"/>
                        </a:solidFill>
                      </a:tcPr>
                    </a:tc>
                    <a:tc>
                      <a:txBody>
                        <a:bodyPr/>
                        <a:lstStyle/>
                        <a:p>
                          <a:endParaRPr lang="en-US"/>
                        </a:p>
                      </a:txBody>
                      <a:tcPr marL="64008" marR="45720" marT="18288" marB="18288" anchor="ctr">
                        <a:blipFill>
                          <a:blip r:embed="rId2"/>
                          <a:stretch>
                            <a:fillRect l="-84192" t="-509615" r="-112611" b="-205769"/>
                          </a:stretch>
                        </a:blipFill>
                      </a:tcPr>
                    </a:tc>
                    <a:tc>
                      <a:txBody>
                        <a:bodyPr/>
                        <a:lstStyle/>
                        <a:p>
                          <a:pPr algn="ctr">
                            <a:defRPr sz="1150" b="0">
                              <a:solidFill>
                                <a:srgbClr val="2C3932"/>
                              </a:solidFill>
                              <a:latin typeface="Neue Haas Grotesk Text Pro"/>
                            </a:defRPr>
                          </a:pPr>
                          <a:r>
                            <a:t>≈ 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weak</a:t>
                          </a:r>
                        </a:p>
                      </a:txBody>
                      <a:tcPr marL="64008" marR="45720" marT="18288" marB="18288" anchor="ctr">
                        <a:solidFill>
                          <a:srgbClr val="ECF6F5"/>
                        </a:solidFill>
                      </a:tcPr>
                    </a:tc>
                    <a:extLst>
                      <a:ext uri="{0D108BD9-81ED-4DB2-BD59-A6C34878D82A}">
                        <a16:rowId xmlns:a16="http://schemas.microsoft.com/office/drawing/2014/main" val="10005"/>
                      </a:ext>
                    </a:extLst>
                  </a:tr>
                  <a:tr h="315468">
                    <a:tc>
                      <a:txBody>
                        <a:bodyPr/>
                        <a:lstStyle/>
                        <a:p>
                          <a:pPr>
                            <a:defRPr sz="1150" b="0">
                              <a:solidFill>
                                <a:srgbClr val="2C3932"/>
                              </a:solidFill>
                              <a:latin typeface="Neue Haas Grotesk Text Pro"/>
                            </a:defRPr>
                          </a:pPr>
                          <a:r>
                            <a:t>nonlinear_proxy</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1</a:t>
                          </a:r>
                        </a:p>
                      </a:txBody>
                      <a:tcPr marL="64008" marR="45720" marT="18288" marB="18288" anchor="ctr">
                        <a:solidFill>
                          <a:srgbClr val="F7FBFB"/>
                        </a:solidFill>
                      </a:tcPr>
                    </a:tc>
                    <a:tc>
                      <a:txBody>
                        <a:bodyPr/>
                        <a:lstStyle/>
                        <a:p>
                          <a:endParaRPr lang="en-US"/>
                        </a:p>
                      </a:txBody>
                      <a:tcPr marL="64008" marR="45720" marT="18288" marB="18288" anchor="ctr">
                        <a:blipFill>
                          <a:blip r:embed="rId2"/>
                          <a:stretch>
                            <a:fillRect l="-84192" t="-609615" r="-112611" b="-105769"/>
                          </a:stretch>
                        </a:blipFill>
                      </a:tcPr>
                    </a:tc>
                    <a:tc>
                      <a:txBody>
                        <a:bodyPr/>
                        <a:lstStyle/>
                        <a:p>
                          <a:pPr algn="ctr">
                            <a:defRPr sz="1150" b="0">
                              <a:solidFill>
                                <a:srgbClr val="2C3932"/>
                              </a:solidFill>
                              <a:latin typeface="Neue Haas Grotesk Text Pro"/>
                            </a:defRPr>
                          </a:pPr>
                          <a:r>
                            <a:t>≈ 0</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weak</a:t>
                          </a:r>
                        </a:p>
                      </a:txBody>
                      <a:tcPr marL="64008" marR="45720" marT="18288" marB="18288" anchor="ctr">
                        <a:solidFill>
                          <a:srgbClr val="F7FBFB"/>
                        </a:solidFill>
                      </a:tcPr>
                    </a:tc>
                    <a:extLst>
                      <a:ext uri="{0D108BD9-81ED-4DB2-BD59-A6C34878D82A}">
                        <a16:rowId xmlns:a16="http://schemas.microsoft.com/office/drawing/2014/main" val="10006"/>
                      </a:ext>
                    </a:extLst>
                  </a:tr>
                  <a:tr h="315468">
                    <a:tc>
                      <a:txBody>
                        <a:bodyPr/>
                        <a:lstStyle/>
                        <a:p>
                          <a:pPr>
                            <a:defRPr sz="1150" b="0">
                              <a:solidFill>
                                <a:srgbClr val="2C3932"/>
                              </a:solidFill>
                              <a:latin typeface="Neue Haas Grotesk Text Pro"/>
                            </a:defRPr>
                          </a:pPr>
                          <a:r>
                            <a:t>pure_noise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5</a:t>
                          </a:r>
                        </a:p>
                      </a:txBody>
                      <a:tcPr marL="64008" marR="45720" marT="18288" marB="18288" anchor="ctr">
                        <a:solidFill>
                          <a:srgbClr val="ECF6F5"/>
                        </a:solidFill>
                      </a:tcPr>
                    </a:tc>
                    <a:tc>
                      <a:txBody>
                        <a:bodyPr/>
                        <a:lstStyle/>
                        <a:p>
                          <a:endParaRPr lang="en-US"/>
                        </a:p>
                      </a:txBody>
                      <a:tcPr marL="64008" marR="45720" marT="18288" marB="18288" anchor="ctr">
                        <a:blipFill>
                          <a:blip r:embed="rId2"/>
                          <a:stretch>
                            <a:fillRect l="-84192" t="-709615" r="-112611" b="-5769"/>
                          </a:stretch>
                        </a:blipFill>
                      </a:tcPr>
                    </a:tc>
                    <a:tc>
                      <a:txBody>
                        <a:bodyPr/>
                        <a:lstStyle/>
                        <a:p>
                          <a:pPr algn="ctr">
                            <a:defRPr sz="1150" b="0">
                              <a:solidFill>
                                <a:srgbClr val="2C3932"/>
                              </a:solidFill>
                              <a:latin typeface="Neue Haas Grotesk Text Pro"/>
                            </a:defRPr>
                          </a:pPr>
                          <a:r>
                            <a:t>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rPr dirty="0"/>
                            <a:t>none</a:t>
                          </a:r>
                        </a:p>
                      </a:txBody>
                      <a:tcPr marL="64008" marR="45720" marT="18288" marB="18288" anchor="ctr">
                        <a:solidFill>
                          <a:srgbClr val="ECF6F5"/>
                        </a:solidFill>
                      </a:tcPr>
                    </a:tc>
                    <a:extLst>
                      <a:ext uri="{0D108BD9-81ED-4DB2-BD59-A6C34878D82A}">
                        <a16:rowId xmlns:a16="http://schemas.microsoft.com/office/drawing/2014/main" val="10007"/>
                      </a:ext>
                    </a:extLst>
                  </a:tr>
                </a:tbl>
              </a:graphicData>
            </a:graphic>
          </p:graphicFrame>
        </mc:Fallback>
      </mc:AlternateContent>
      <mc:AlternateContent xmlns:mc="http://schemas.openxmlformats.org/markup-compatibility/2006" xmlns:a14="http://schemas.microsoft.com/office/drawing/2010/main">
        <mc:Choice Requires="a14">
          <p:sp>
            <p:nvSpPr>
              <p:cNvPr id="5" name="Rounded Rectangle 4"/>
              <p:cNvSpPr/>
              <p:nvPr/>
            </p:nvSpPr>
            <p:spPr>
              <a:xfrm>
                <a:off x="612648" y="4480559"/>
                <a:ext cx="4983480" cy="2131255"/>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400" dirty="0"/>
                  <a:t>cond R² gain is the number that matters</a:t>
                </a:r>
              </a:p>
              <a:p>
                <a:pPr algn="ctr">
                  <a:spcAft>
                    <a:spcPts val="100"/>
                  </a:spcAft>
                  <a:defRPr sz="1050">
                    <a:solidFill>
                      <a:srgbClr val="666E6A"/>
                    </a:solidFill>
                    <a:latin typeface="Neue Haas Grotesk Text Pro"/>
                  </a:defRPr>
                </a:pPr>
                <a:r>
                  <a:rPr sz="1400" dirty="0"/>
                  <a:t>Extra variance explained ON TOP of all true causes.</a:t>
                </a:r>
              </a:p>
              <a:p>
                <a:pPr algn="ctr">
                  <a:spcAft>
                    <a:spcPts val="100"/>
                  </a:spcAft>
                  <a:defRPr sz="1050">
                    <a:solidFill>
                      <a:srgbClr val="666E6A"/>
                    </a:solidFill>
                    <a:latin typeface="Neue Haas Grotesk Text Pro"/>
                  </a:defRPr>
                </a:pPr>
                <a14:m>
                  <m:oMath xmlns:m="http://schemas.openxmlformats.org/officeDocument/2006/math">
                    <m:r>
                      <a:rPr lang="en-US" sz="1400" i="1" dirty="0" smtClean="0">
                        <a:latin typeface="Cambria Math" panose="02040503050406030204" pitchFamily="18" charset="0"/>
                      </a:rPr>
                      <m:t>𝑠𝑒𝑛𝑠𝑜𝑟</m:t>
                    </m:r>
                    <m:r>
                      <a:rPr lang="en-US" sz="1400" i="1" dirty="0" smtClean="0">
                        <a:latin typeface="Cambria Math" panose="02040503050406030204" pitchFamily="18" charset="0"/>
                      </a:rPr>
                      <m:t>_</m:t>
                    </m:r>
                    <m:r>
                      <a:rPr lang="en-US" sz="1400" i="1" dirty="0" smtClean="0">
                        <a:latin typeface="Cambria Math" panose="02040503050406030204" pitchFamily="18" charset="0"/>
                      </a:rPr>
                      <m:t>𝑣</m:t>
                    </m:r>
                    <m:r>
                      <a:rPr lang="en-US" sz="1400" i="1" dirty="0">
                        <a:latin typeface="Cambria Math" panose="02040503050406030204" pitchFamily="18" charset="0"/>
                      </a:rPr>
                      <m:t> </m:t>
                    </m:r>
                  </m:oMath>
                </a14:m>
                <a:r>
                  <a:rPr sz="1400" dirty="0"/>
                  <a:t>scores 0.782 — it is 1.0·v_next + ε, almost a</a:t>
                </a:r>
              </a:p>
              <a:p>
                <a:pPr algn="ctr">
                  <a:spcAft>
                    <a:spcPts val="100"/>
                  </a:spcAft>
                  <a:defRPr sz="1050">
                    <a:solidFill>
                      <a:srgbClr val="666E6A"/>
                    </a:solidFill>
                    <a:latin typeface="Neue Haas Grotesk Text Pro"/>
                  </a:defRPr>
                </a:pPr>
                <a:r>
                  <a:rPr sz="1400" dirty="0"/>
                  <a:t>copy of the answer. Any loss-</a:t>
                </a:r>
                <a:r>
                  <a:rPr sz="1400" dirty="0" err="1"/>
                  <a:t>minimising</a:t>
                </a:r>
                <a:r>
                  <a:rPr sz="1400" dirty="0"/>
                  <a:t> model takes it.</a:t>
                </a:r>
              </a:p>
              <a:p>
                <a:pPr algn="ctr">
                  <a:spcAft>
                    <a:spcPts val="100"/>
                  </a:spcAft>
                  <a:defRPr sz="1050">
                    <a:solidFill>
                      <a:srgbClr val="666E6A"/>
                    </a:solidFill>
                    <a:latin typeface="Neue Haas Grotesk Text Pro"/>
                  </a:defRPr>
                </a:pPr>
                <a:r>
                  <a:rPr sz="1400" dirty="0"/>
                  <a:t>Marginal correlation misleads: mass enters as </a:t>
                </a:r>
                <a14:m>
                  <m:oMath xmlns:m="http://schemas.openxmlformats.org/officeDocument/2006/math">
                    <m:r>
                      <a:rPr lang="en-US" sz="1400" i="1" dirty="0" smtClean="0">
                        <a:latin typeface="Cambria Math" panose="02040503050406030204" pitchFamily="18" charset="0"/>
                      </a:rPr>
                      <m:t>𝐹</m:t>
                    </m:r>
                    <m:r>
                      <a:rPr lang="en-US" sz="1400" i="1" dirty="0" smtClean="0">
                        <a:latin typeface="Cambria Math" panose="02040503050406030204" pitchFamily="18" charset="0"/>
                      </a:rPr>
                      <m:t>·</m:t>
                    </m:r>
                    <m:r>
                      <m:rPr>
                        <m:sty m:val="p"/>
                      </m:rPr>
                      <a:rPr lang="en-US" sz="1400" i="1" dirty="0" smtClean="0">
                        <a:latin typeface="Cambria Math" panose="02040503050406030204" pitchFamily="18" charset="0"/>
                      </a:rPr>
                      <m:t>cos</m:t>
                    </m:r>
                    <m:r>
                      <a:rPr lang="en-US" sz="1400" i="1" dirty="0" smtClean="0">
                        <a:latin typeface="Cambria Math" panose="02040503050406030204" pitchFamily="18" charset="0"/>
                      </a:rPr>
                      <m:t>𝜃</m:t>
                    </m:r>
                    <m:r>
                      <a:rPr lang="en-US" sz="1400" i="1" dirty="0">
                        <a:latin typeface="Cambria Math" panose="02040503050406030204" pitchFamily="18" charset="0"/>
                      </a:rPr>
                      <m:t>/</m:t>
                    </m:r>
                    <m:r>
                      <a:rPr lang="en-US" sz="1400" i="1" dirty="0">
                        <a:latin typeface="Cambria Math" panose="02040503050406030204" pitchFamily="18" charset="0"/>
                      </a:rPr>
                      <m:t>𝑚</m:t>
                    </m:r>
                  </m:oMath>
                </a14:m>
                <a:endParaRPr sz="1400" dirty="0"/>
              </a:p>
              <a:p>
                <a:pPr algn="ctr">
                  <a:spcAft>
                    <a:spcPts val="100"/>
                  </a:spcAft>
                  <a:defRPr sz="1050">
                    <a:solidFill>
                      <a:srgbClr val="666E6A"/>
                    </a:solidFill>
                    <a:latin typeface="Neue Haas Grotesk Text Pro"/>
                  </a:defRPr>
                </a:pPr>
                <a:r>
                  <a:rPr sz="1400" dirty="0"/>
                  <a:t>with F symmetric, so mass itself barely correlates with Y.</a:t>
                </a:r>
              </a:p>
            </p:txBody>
          </p:sp>
        </mc:Choice>
        <mc:Fallback xmlns="">
          <p:sp>
            <p:nvSpPr>
              <p:cNvPr id="5" name="Rounded Rectangle 4"/>
              <p:cNvSpPr>
                <a:spLocks noRot="1" noChangeAspect="1" noMove="1" noResize="1" noEditPoints="1" noAdjustHandles="1" noChangeArrowheads="1" noChangeShapeType="1" noTextEdit="1"/>
              </p:cNvSpPr>
              <p:nvPr/>
            </p:nvSpPr>
            <p:spPr>
              <a:xfrm>
                <a:off x="612648" y="4480559"/>
                <a:ext cx="4983480" cy="2131255"/>
              </a:xfrm>
              <a:prstGeom prst="roundRect">
                <a:avLst/>
              </a:prstGeom>
              <a:blipFill>
                <a:blip r:embed="rId3"/>
                <a:stretch>
                  <a:fillRect/>
                </a:stretch>
              </a:blipFill>
              <a:ln w="15875">
                <a:solidFill>
                  <a:srgbClr val="169C9A"/>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5779008" y="4480559"/>
                <a:ext cx="4983480" cy="2131255"/>
              </a:xfrm>
              <a:prstGeom prst="roundRect">
                <a:avLst/>
              </a:prstGeom>
              <a:solidFill>
                <a:srgbClr val="FDF6EA"/>
              </a:solidFill>
              <a:ln w="15875">
                <a:solidFill>
                  <a:srgbClr val="E15C3D"/>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lang="en-US" sz="1400" dirty="0"/>
                  <a:t>At test time the shortcut FLIPS</a:t>
                </a:r>
              </a:p>
              <a:p>
                <a:pPr algn="ctr">
                  <a:spcAft>
                    <a:spcPts val="100"/>
                  </a:spcAft>
                  <a:defRPr sz="1050">
                    <a:solidFill>
                      <a:srgbClr val="666E6A"/>
                    </a:solidFill>
                    <a:latin typeface="Neue Haas Grotesk Text Pro"/>
                  </a:defRPr>
                </a:pPr>
                <a:r>
                  <a:rPr lang="en-US" sz="1400" dirty="0"/>
                  <a:t>train  </a:t>
                </a:r>
                <a14:m>
                  <m:oMath xmlns:m="http://schemas.openxmlformats.org/officeDocument/2006/math">
                    <m:r>
                      <a:rPr lang="en-US" sz="1400" i="1" dirty="0" smtClean="0">
                        <a:latin typeface="Cambria Math" panose="02040503050406030204" pitchFamily="18" charset="0"/>
                      </a:rPr>
                      <m:t>𝑐𝑜𝑙𝑜𝑟</m:t>
                    </m:r>
                    <m:r>
                      <a:rPr lang="en-US" sz="1400" i="1" dirty="0" smtClean="0">
                        <a:latin typeface="Cambria Math" panose="02040503050406030204" pitchFamily="18" charset="0"/>
                      </a:rPr>
                      <m:t>=+1.2·</m:t>
                    </m:r>
                    <m:sSub>
                      <m:sSubPr>
                        <m:ctrlPr>
                          <a:rPr lang="ar-AE" sz="1400" i="1" dirty="0" smtClean="0">
                            <a:latin typeface="Cambria Math" panose="02040503050406030204" pitchFamily="18" charset="0"/>
                          </a:rPr>
                        </m:ctrlPr>
                      </m:sSubPr>
                      <m:e>
                        <m:r>
                          <a:rPr lang="ar-AE" sz="1400" i="1" dirty="0" smtClean="0">
                            <a:latin typeface="Cambria Math" panose="02040503050406030204" pitchFamily="18" charset="0"/>
                          </a:rPr>
                          <m:t>𝑎</m:t>
                        </m:r>
                      </m:e>
                      <m:sub>
                        <m:r>
                          <a:rPr lang="ar-AE" sz="1400" i="1" dirty="0" smtClean="0">
                            <a:latin typeface="Cambria Math" panose="02040503050406030204" pitchFamily="18" charset="0"/>
                          </a:rPr>
                          <m:t>𝑛𝑒𝑥𝑡</m:t>
                        </m:r>
                      </m:sub>
                    </m:sSub>
                    <m:r>
                      <a:rPr lang="ar-AE" sz="1400" i="1" dirty="0" smtClean="0">
                        <a:latin typeface="Cambria Math" panose="02040503050406030204" pitchFamily="18" charset="0"/>
                      </a:rPr>
                      <m:t>     </m:t>
                    </m:r>
                    <m:r>
                      <a:rPr lang="ar-AE" sz="1400" i="1" dirty="0" smtClean="0">
                        <a:latin typeface="Cambria Math" panose="02040503050406030204" pitchFamily="18" charset="0"/>
                      </a:rPr>
                      <m:t>𝑡𝑒𝑠𝑡</m:t>
                    </m:r>
                    <m:r>
                      <a:rPr lang="ar-AE" sz="1400" i="1" dirty="0" smtClean="0">
                        <a:latin typeface="Cambria Math" panose="02040503050406030204" pitchFamily="18" charset="0"/>
                      </a:rPr>
                      <m:t>  </m:t>
                    </m:r>
                    <m:r>
                      <a:rPr lang="ar-AE" sz="1400" i="1" dirty="0" smtClean="0">
                        <a:latin typeface="Cambria Math" panose="02040503050406030204" pitchFamily="18" charset="0"/>
                      </a:rPr>
                      <m:t>𝑐𝑜𝑙𝑜𝑟</m:t>
                    </m:r>
                    <m:r>
                      <a:rPr lang="ar-AE" sz="1400" i="1" dirty="0" smtClean="0">
                        <a:latin typeface="Cambria Math" panose="02040503050406030204" pitchFamily="18" charset="0"/>
                      </a:rPr>
                      <m:t>=−1.2·</m:t>
                    </m:r>
                    <m:sSub>
                      <m:sSubPr>
                        <m:ctrlPr>
                          <a:rPr lang="ar-AE" sz="1400" i="1" dirty="0" smtClean="0">
                            <a:latin typeface="Cambria Math" panose="02040503050406030204" pitchFamily="18" charset="0"/>
                          </a:rPr>
                        </m:ctrlPr>
                      </m:sSubPr>
                      <m:e>
                        <m:r>
                          <a:rPr lang="ar-AE" sz="1400" i="1" dirty="0" smtClean="0">
                            <a:latin typeface="Cambria Math" panose="02040503050406030204" pitchFamily="18" charset="0"/>
                          </a:rPr>
                          <m:t>𝑎</m:t>
                        </m:r>
                      </m:e>
                      <m:sub>
                        <m:r>
                          <a:rPr lang="ar-AE" sz="1400" i="1" dirty="0" smtClean="0">
                            <a:latin typeface="Cambria Math" panose="02040503050406030204" pitchFamily="18" charset="0"/>
                          </a:rPr>
                          <m:t>𝑛𝑒𝑥𝑡</m:t>
                        </m:r>
                      </m:sub>
                    </m:sSub>
                  </m:oMath>
                </a14:m>
                <a:endParaRPr lang="ar-AE" sz="1400" dirty="0"/>
              </a:p>
              <a:p>
                <a:pPr algn="ctr">
                  <a:spcAft>
                    <a:spcPts val="100"/>
                  </a:spcAft>
                  <a:defRPr sz="1050">
                    <a:solidFill>
                      <a:srgbClr val="666E6A"/>
                    </a:solidFill>
                    <a:latin typeface="Neue Haas Grotesk Text Pro"/>
                  </a:defRPr>
                </a:pPr>
                <a:endParaRPr lang="ar-AE" sz="1400" dirty="0"/>
              </a:p>
              <a:p>
                <a:pPr algn="ctr">
                  <a:spcAft>
                    <a:spcPts val="100"/>
                  </a:spcAft>
                  <a:defRPr sz="1050">
                    <a:solidFill>
                      <a:srgbClr val="666E6A"/>
                    </a:solidFill>
                    <a:latin typeface="Neue Haas Grotesk Text Pro"/>
                  </a:defRPr>
                </a:pPr>
                <a:r>
                  <a:rPr lang="en-US" sz="1400" dirty="0"/>
                  <a:t>Replacing it with noise (the old choice) only makes a</a:t>
                </a:r>
              </a:p>
              <a:p>
                <a:pPr algn="ctr">
                  <a:spcAft>
                    <a:spcPts val="100"/>
                  </a:spcAft>
                  <a:defRPr sz="1050">
                    <a:solidFill>
                      <a:srgbClr val="666E6A"/>
                    </a:solidFill>
                    <a:latin typeface="Neue Haas Grotesk Text Pro"/>
                  </a:defRPr>
                </a:pPr>
                <a:r>
                  <a:rPr lang="en-US" sz="1400" dirty="0"/>
                  <a:t>shortcut-reliant model NOISIER — RMSE cannot separate</a:t>
                </a:r>
              </a:p>
              <a:p>
                <a:pPr algn="ctr">
                  <a:spcAft>
                    <a:spcPts val="100"/>
                  </a:spcAft>
                  <a:defRPr sz="1050">
                    <a:solidFill>
                      <a:srgbClr val="666E6A"/>
                    </a:solidFill>
                    <a:latin typeface="Neue Haas Grotesk Text Pro"/>
                  </a:defRPr>
                </a:pPr>
                <a:r>
                  <a:rPr lang="en-US" sz="1400" dirty="0"/>
                  <a:t>that from ordinary error. Flipping makes it</a:t>
                </a:r>
              </a:p>
              <a:p>
                <a:pPr algn="ctr">
                  <a:spcAft>
                    <a:spcPts val="100"/>
                  </a:spcAft>
                  <a:defRPr sz="1050">
                    <a:solidFill>
                      <a:srgbClr val="666E6A"/>
                    </a:solidFill>
                    <a:latin typeface="Neue Haas Grotesk Text Pro"/>
                  </a:defRPr>
                </a:pPr>
                <a:r>
                  <a:rPr lang="en-US" sz="1400" dirty="0"/>
                  <a:t>CONFIDENTLY WRONG.</a:t>
                </a:r>
                <a:endParaRPr sz="1400" dirty="0"/>
              </a:p>
            </p:txBody>
          </p:sp>
        </mc:Choice>
        <mc:Fallback xmlns="">
          <p:sp>
            <p:nvSpPr>
              <p:cNvPr id="6" name="Rounded Rectangle 5"/>
              <p:cNvSpPr>
                <a:spLocks noRot="1" noChangeAspect="1" noMove="1" noResize="1" noEditPoints="1" noAdjustHandles="1" noChangeArrowheads="1" noChangeShapeType="1" noTextEdit="1"/>
              </p:cNvSpPr>
              <p:nvPr/>
            </p:nvSpPr>
            <p:spPr>
              <a:xfrm>
                <a:off x="5779008" y="4480559"/>
                <a:ext cx="4983480" cy="2131255"/>
              </a:xfrm>
              <a:prstGeom prst="roundRect">
                <a:avLst/>
              </a:prstGeom>
              <a:blipFill>
                <a:blip r:embed="rId4"/>
                <a:stretch>
                  <a:fillRect/>
                </a:stretch>
              </a:blipFill>
              <a:ln w="15875">
                <a:solidFill>
                  <a:srgbClr val="E15C3D"/>
                </a:solidFill>
              </a:ln>
              <a:effectLst/>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Dataset: paired interventions</a:t>
            </a:r>
          </a:p>
        </p:txBody>
      </p:sp>
      <p:sp>
        <p:nvSpPr>
          <p:cNvPr id="3" name="TextBox 2"/>
          <p:cNvSpPr txBox="1"/>
          <p:nvPr/>
        </p:nvSpPr>
        <p:spPr>
          <a:xfrm>
            <a:off x="612648" y="1188720"/>
            <a:ext cx="10881360" cy="347472"/>
          </a:xfrm>
          <a:prstGeom prst="rect">
            <a:avLst/>
          </a:prstGeom>
          <a:noFill/>
        </p:spPr>
        <p:txBody>
          <a:bodyPr wrap="square" lIns="0">
            <a:spAutoFit/>
          </a:bodyPr>
          <a:lstStyle/>
          <a:p>
            <a:pPr>
              <a:defRPr sz="1300" i="1">
                <a:solidFill>
                  <a:srgbClr val="666E6A"/>
                </a:solidFill>
                <a:latin typeface="Neue Haas Grotesk Text Pro"/>
              </a:defRPr>
            </a:pPr>
            <a:r>
              <a:t>why ground-truth √PEHE is computable here and never is on real data</a:t>
            </a:r>
          </a:p>
        </p:txBody>
      </p:sp>
      <p:sp>
        <p:nvSpPr>
          <p:cNvPr id="4" name="TextBox 3"/>
          <p:cNvSpPr txBox="1"/>
          <p:nvPr/>
        </p:nvSpPr>
        <p:spPr>
          <a:xfrm>
            <a:off x="612648" y="1600200"/>
            <a:ext cx="10881360" cy="274320"/>
          </a:xfrm>
          <a:prstGeom prst="rect">
            <a:avLst/>
          </a:prstGeom>
          <a:noFill/>
        </p:spPr>
        <p:txBody>
          <a:bodyPr wrap="square" lIns="0" tIns="0" rIns="0" bIns="0">
            <a:spAutoFit/>
          </a:bodyPr>
          <a:lstStyle/>
          <a:p>
            <a:pPr algn="l">
              <a:spcAft>
                <a:spcPts val="400"/>
              </a:spcAft>
              <a:defRPr sz="1300" b="1" i="0">
                <a:solidFill>
                  <a:srgbClr val="2C3932"/>
                </a:solidFill>
                <a:latin typeface="Neue Haas Grotesk Text Pro"/>
              </a:defRPr>
            </a:pPr>
            <a:r>
              <a:t>For each sample, two twin rollouts that SHARE the exogenous noise U:</a:t>
            </a:r>
          </a:p>
        </p:txBody>
      </p:sp>
      <mc:AlternateContent xmlns:mc="http://schemas.openxmlformats.org/markup-compatibility/2006" xmlns:a14="http://schemas.microsoft.com/office/drawing/2010/main">
        <mc:Choice Requires="a14">
          <p:sp>
            <p:nvSpPr>
              <p:cNvPr id="5" name="TextBox 4"/>
              <p:cNvSpPr txBox="1"/>
              <p:nvPr/>
            </p:nvSpPr>
            <p:spPr>
              <a:xfrm>
                <a:off x="960120" y="1965960"/>
                <a:ext cx="9601200" cy="514308"/>
              </a:xfrm>
              <a:prstGeom prst="rect">
                <a:avLst/>
              </a:prstGeom>
              <a:noFill/>
            </p:spPr>
            <p:txBody>
              <a:bodyPr wrap="square" lIns="0" tIns="0" rIns="0" bIns="0">
                <a:spAutoFit/>
              </a:bodyPr>
              <a:lstStyle/>
              <a:p>
                <a:pPr algn="l">
                  <a:spcAft>
                    <a:spcPts val="700"/>
                  </a:spcAft>
                  <a:defRPr sz="1300" b="0" i="0">
                    <a:solidFill>
                      <a:srgbClr val="2C3932"/>
                    </a:solidFill>
                    <a:latin typeface="Neue Haas Grotesk Text Pro"/>
                  </a:defRPr>
                </a:pPr>
                <a14:m>
                  <m:oMathPara xmlns:m="http://schemas.openxmlformats.org/officeDocument/2006/math">
                    <m:oMath>
                      <m:sSup>
                        <m:sSupPr>
                          <m:ctrlPr>
                            <a:rPr lang="ar-AE" i="1" dirty="0" smtClean="0">
                              <a:latin typeface="Cambria Math" panose="02040503050406030204" pitchFamily="18" charset="0"/>
                            </a:rPr>
                          </m:ctrlPr>
                        </m:sSupPr>
                        <m:e>
                          <m:r>
                            <a:rPr lang="ar-AE" i="1" dirty="0" smtClean="0">
                              <a:latin typeface="Cambria Math" panose="02040503050406030204" pitchFamily="18" charset="0"/>
                            </a:rPr>
                            <m:t>𝜏</m:t>
                          </m:r>
                        </m:e>
                        <m:sup>
                          <m:r>
                            <a:rPr lang="ar-AE" i="1" dirty="0" smtClean="0">
                              <a:latin typeface="Cambria Math" panose="02040503050406030204" pitchFamily="18" charset="0"/>
                            </a:rPr>
                            <m:t>(</m:t>
                          </m:r>
                        </m:sup>
                      </m:sSup>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ⁿ</m:t>
                          </m:r>
                        </m:e>
                        <m:sup>
                          <m:r>
                            <a:rPr lang="ar-AE" i="1" dirty="0" smtClean="0">
                              <a:latin typeface="Cambria Math" panose="02040503050406030204" pitchFamily="18" charset="0"/>
                            </a:rPr>
                            <m:t>)</m:t>
                          </m:r>
                        </m:sup>
                      </m:sSup>
                      <m:r>
                        <a:rPr lang="en-US" b="0" i="1" dirty="0" smtClean="0">
                          <a:latin typeface="Cambria Math" panose="02040503050406030204" pitchFamily="18" charset="0"/>
                        </a:rPr>
                        <m:t>=</m:t>
                      </m:r>
                      <m:r>
                        <a:rPr lang="ar-AE" i="1" dirty="0" smtClean="0">
                          <a:latin typeface="Cambria Math" panose="02040503050406030204" pitchFamily="18" charset="0"/>
                        </a:rPr>
                        <m:t>𝑓</m:t>
                      </m:r>
                      <m:d>
                        <m:dPr>
                          <m:ctrlPr>
                            <a:rPr lang="ar-AE" i="1" dirty="0" smtClean="0">
                              <a:latin typeface="Cambria Math" panose="02040503050406030204" pitchFamily="18" charset="0"/>
                            </a:rPr>
                          </m:ctrlPr>
                        </m:dPr>
                        <m:e>
                          <m:r>
                            <a:rPr lang="ar-AE" i="1" dirty="0" smtClean="0">
                              <a:latin typeface="Cambria Math" panose="02040503050406030204" pitchFamily="18" charset="0"/>
                            </a:rPr>
                            <m:t> </m:t>
                          </m:r>
                          <m:r>
                            <a:rPr lang="ar-AE" i="1" dirty="0" smtClean="0">
                              <a:latin typeface="Cambria Math" panose="02040503050406030204" pitchFamily="18" charset="0"/>
                            </a:rPr>
                            <m:t>𝑑𝑜</m:t>
                          </m:r>
                          <m:d>
                            <m:dPr>
                              <m:ctrlPr>
                                <a:rPr lang="ar-AE" i="1" dirty="0" smtClean="0">
                                  <a:latin typeface="Cambria Math" panose="02040503050406030204" pitchFamily="18" charset="0"/>
                                </a:rPr>
                              </m:ctrlPr>
                            </m:dPr>
                            <m:e>
                              <m:r>
                                <a:rPr lang="ar-AE" i="1" dirty="0" smtClean="0">
                                  <a:latin typeface="Cambria Math" panose="02040503050406030204" pitchFamily="18" charset="0"/>
                                </a:rPr>
                                <m:t>𝑋</m:t>
                              </m:r>
                              <m:r>
                                <a:rPr lang="en-US" i="1" dirty="0" smtClean="0">
                                  <a:latin typeface="Cambria Math" panose="02040503050406030204" pitchFamily="18" charset="0"/>
                                </a:rPr>
                                <m:t>ᵢ = </m:t>
                              </m:r>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𝑥</m:t>
                                  </m:r>
                                </m:e>
                              </m:acc>
                            </m:e>
                          </m:d>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𝑈</m:t>
                              </m:r>
                            </m:e>
                            <m:sup>
                              <m:r>
                                <a:rPr lang="en-US" i="1" dirty="0" smtClean="0">
                                  <a:latin typeface="Cambria Math" panose="02040503050406030204" pitchFamily="18" charset="0"/>
                                </a:rPr>
                                <m:t>(</m:t>
                              </m:r>
                            </m:sup>
                          </m:sSup>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ⁿ</m:t>
                              </m:r>
                            </m:e>
                            <m:sup>
                              <m:r>
                                <a:rPr lang="en-US" i="1" dirty="0" smtClean="0">
                                  <a:latin typeface="Cambria Math" panose="02040503050406030204" pitchFamily="18" charset="0"/>
                                </a:rPr>
                                <m:t>)</m:t>
                              </m:r>
                            </m:sup>
                          </m:sSup>
                        </m:e>
                      </m:d>
                      <m:r>
                        <a:rPr lang="en-US" b="0" i="1" dirty="0" smtClean="0">
                          <a:latin typeface="Cambria Math" panose="02040503050406030204" pitchFamily="18" charset="0"/>
                        </a:rPr>
                        <m:t>−</m:t>
                      </m:r>
                      <m:r>
                        <a:rPr lang="en-US" i="1" dirty="0" smtClean="0">
                          <a:latin typeface="Cambria Math" panose="02040503050406030204" pitchFamily="18" charset="0"/>
                        </a:rPr>
                        <m:t>𝑓</m:t>
                      </m:r>
                      <m:r>
                        <a:rPr lang="en-US" i="1" dirty="0" smtClean="0">
                          <a:latin typeface="Cambria Math" panose="02040503050406030204" pitchFamily="18" charset="0"/>
                        </a:rPr>
                        <m:t>( </m:t>
                      </m:r>
                      <m:r>
                        <a:rPr lang="en-US" i="1" dirty="0" smtClean="0">
                          <a:latin typeface="Cambria Math" panose="02040503050406030204" pitchFamily="18" charset="0"/>
                        </a:rPr>
                        <m:t>𝑋</m:t>
                      </m:r>
                      <m:r>
                        <a:rPr lang="en-US" i="1" dirty="0" smtClean="0">
                          <a:latin typeface="Cambria Math" panose="02040503050406030204" pitchFamily="18" charset="0"/>
                        </a:rPr>
                        <m:t>⁽ⁿ⁾, </m:t>
                      </m:r>
                      <m:r>
                        <a:rPr lang="en-US" i="1" dirty="0" smtClean="0">
                          <a:latin typeface="Cambria Math" panose="02040503050406030204" pitchFamily="18" charset="0"/>
                        </a:rPr>
                        <m:t>𝑈</m:t>
                      </m:r>
                      <m:r>
                        <a:rPr lang="en-US" i="1" dirty="0" smtClean="0">
                          <a:latin typeface="Cambria Math" panose="02040503050406030204" pitchFamily="18" charset="0"/>
                        </a:rPr>
                        <m:t>⁽ⁿ⁾ )</m:t>
                      </m:r>
                    </m:oMath>
                  </m:oMathPara>
                </a14:m>
                <a:endParaRPr lang="en-US" dirty="0"/>
              </a:p>
              <a:p>
                <a:pPr algn="l">
                  <a:spcAft>
                    <a:spcPts val="700"/>
                  </a:spcAft>
                  <a:defRPr sz="1300" b="0" i="0">
                    <a:solidFill>
                      <a:srgbClr val="2C3932"/>
                    </a:solidFill>
                    <a:latin typeface="Neue Haas Grotesk Text Pro"/>
                  </a:defRPr>
                </a:pPr>
                <a:r>
                  <a:rPr lang="en-US" dirty="0"/>
                  <a:t>Because U is identical, </a:t>
                </a:r>
                <a:r>
                  <a:rPr lang="el-GR" dirty="0"/>
                  <a:t>τ </a:t>
                </a:r>
                <a:r>
                  <a:rPr lang="en-US" dirty="0"/>
                  <a:t>is the EXACT individual treatment effect — no noise term.</a:t>
                </a:r>
                <a:endParaRPr dirty="0"/>
              </a:p>
            </p:txBody>
          </p:sp>
        </mc:Choice>
        <mc:Fallback xmlns="">
          <p:sp>
            <p:nvSpPr>
              <p:cNvPr id="5" name="TextBox 4"/>
              <p:cNvSpPr txBox="1">
                <a:spLocks noRot="1" noChangeAspect="1" noMove="1" noResize="1" noEditPoints="1" noAdjustHandles="1" noChangeArrowheads="1" noChangeShapeType="1" noTextEdit="1"/>
              </p:cNvSpPr>
              <p:nvPr/>
            </p:nvSpPr>
            <p:spPr>
              <a:xfrm>
                <a:off x="960120" y="1965960"/>
                <a:ext cx="9601200" cy="514308"/>
              </a:xfrm>
              <a:prstGeom prst="rect">
                <a:avLst/>
              </a:prstGeom>
              <a:blipFill>
                <a:blip r:embed="rId2"/>
                <a:stretch>
                  <a:fillRect l="-1079" t="-2381" b="-19048"/>
                </a:stretch>
              </a:blipFill>
            </p:spPr>
            <p:txBody>
              <a:bodyPr/>
              <a:lstStyle/>
              <a:p>
                <a:r>
                  <a:rPr lang="en-US">
                    <a:noFill/>
                  </a:rPr>
                  <a:t> </a:t>
                </a:r>
              </a:p>
            </p:txBody>
          </p:sp>
        </mc:Fallback>
      </mc:AlternateContent>
      <p:sp>
        <p:nvSpPr>
          <p:cNvPr id="6" name="Rounded Rectangle 5"/>
          <p:cNvSpPr/>
          <p:nvPr/>
        </p:nvSpPr>
        <p:spPr>
          <a:xfrm>
            <a:off x="612648" y="2788920"/>
            <a:ext cx="4983480" cy="1325880"/>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t>The invariant everything rests on</a:t>
            </a:r>
          </a:p>
          <a:p>
            <a:pPr algn="ctr">
              <a:spcAft>
                <a:spcPts val="100"/>
              </a:spcAft>
              <a:defRPr sz="1050">
                <a:solidFill>
                  <a:srgbClr val="666E6A"/>
                </a:solidFill>
                <a:latin typeface="Neue Haas Grotesk Text Pro"/>
              </a:defRPr>
            </a:pPr>
            <a:r>
              <a:t>For do(decoy), the true effect must be EXACTLY zero —</a:t>
            </a:r>
          </a:p>
          <a:p>
            <a:pPr algn="ctr">
              <a:spcAft>
                <a:spcPts val="100"/>
              </a:spcAft>
              <a:defRPr sz="1050">
                <a:solidFill>
                  <a:srgbClr val="666E6A"/>
                </a:solidFill>
                <a:latin typeface="Neue Haas Grotesk Text Pro"/>
              </a:defRPr>
            </a:pPr>
            <a:r>
              <a:t>no decoy is a cause of anything.</a:t>
            </a:r>
          </a:p>
          <a:p>
            <a:pPr algn="ctr">
              <a:spcAft>
                <a:spcPts val="100"/>
              </a:spcAft>
              <a:defRPr sz="1050">
                <a:solidFill>
                  <a:srgbClr val="666E6A"/>
                </a:solidFill>
                <a:latin typeface="Neue Haas Grotesk Text Pro"/>
              </a:defRPr>
            </a:pPr>
            <a:r>
              <a:t>Measured: all 17 decoys give 0.000000.</a:t>
            </a:r>
          </a:p>
          <a:p>
            <a:pPr algn="ctr">
              <a:spcAft>
                <a:spcPts val="100"/>
              </a:spcAft>
              <a:defRPr sz="1050">
                <a:solidFill>
                  <a:srgbClr val="666E6A"/>
                </a:solidFill>
                <a:latin typeface="Neue Haas Grotesk Text Pro"/>
              </a:defRPr>
            </a:pPr>
            <a:r>
              <a:t>If this fails, spurious_sensitivity is meaningless.</a:t>
            </a:r>
          </a:p>
        </p:txBody>
      </p:sp>
      <p:sp>
        <p:nvSpPr>
          <p:cNvPr id="7" name="Rounded Rectangle 6"/>
          <p:cNvSpPr/>
          <p:nvPr/>
        </p:nvSpPr>
        <p:spPr>
          <a:xfrm>
            <a:off x="5779008" y="2788920"/>
            <a:ext cx="4983480" cy="1325880"/>
          </a:xfrm>
          <a:prstGeom prst="roundRect">
            <a:avLst/>
          </a:prstGeom>
          <a:solidFill>
            <a:srgbClr val="FDF6EA"/>
          </a:solidFill>
          <a:ln w="15875">
            <a:solidFill>
              <a:srgbClr val="E15C3D"/>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t>A bug class this catches</a:t>
            </a:r>
          </a:p>
          <a:p>
            <a:pPr algn="ctr">
              <a:spcAft>
                <a:spcPts val="100"/>
              </a:spcAft>
              <a:defRPr sz="1050">
                <a:solidFill>
                  <a:srgbClr val="666E6A"/>
                </a:solidFill>
                <a:latin typeface="Neue Haas Grotesk Text Pro"/>
              </a:defRPr>
            </a:pPr>
            <a:r>
              <a:t>do(mass) moves acceleration_next, so `color` — its child —</a:t>
            </a:r>
          </a:p>
          <a:p>
            <a:pPr algn="ctr">
              <a:spcAft>
                <a:spcPts val="100"/>
              </a:spcAft>
              <a:defRPr sz="1050">
                <a:solidFill>
                  <a:srgbClr val="666E6A"/>
                </a:solidFill>
                <a:latin typeface="Neue Haas Grotesk Text Pro"/>
              </a:defRPr>
            </a:pPr>
            <a:r>
              <a:t>must move too. Twins differ in ~17 inputs, not 1.</a:t>
            </a:r>
          </a:p>
          <a:p>
            <a:pPr algn="ctr">
              <a:spcAft>
                <a:spcPts val="100"/>
              </a:spcAft>
              <a:defRPr sz="1050">
                <a:solidFill>
                  <a:srgbClr val="666E6A"/>
                </a:solidFill>
                <a:latin typeface="Neue Haas Grotesk Text Pro"/>
              </a:defRPr>
            </a:pPr>
            <a:r>
              <a:t>Freezing the downstream decoys would silently make the</a:t>
            </a:r>
          </a:p>
          <a:p>
            <a:pPr algn="ctr">
              <a:spcAft>
                <a:spcPts val="100"/>
              </a:spcAft>
              <a:defRPr sz="1050">
                <a:solidFill>
                  <a:srgbClr val="666E6A"/>
                </a:solidFill>
                <a:latin typeface="Neue Haas Grotesk Text Pro"/>
              </a:defRPr>
            </a:pPr>
            <a:r>
              <a:t>twins non-counterfactual, and nothing would error.</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423715387"/>
                  </p:ext>
                </p:extLst>
              </p:nvPr>
            </p:nvGraphicFramePr>
            <p:xfrm>
              <a:off x="612648" y="4160520"/>
              <a:ext cx="10149840" cy="1879092"/>
            </p:xfrm>
            <a:graphic>
              <a:graphicData uri="http://schemas.openxmlformats.org/drawingml/2006/table">
                <a:tbl>
                  <a:tblPr firstRow="1">
                    <a:tableStyleId>{5C22544A-7EE6-4342-B048-85BDC9FD1C3A}</a:tableStyleId>
                  </a:tblPr>
                  <a:tblGrid>
                    <a:gridCol w="57607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47472">
                    <a:tc>
                      <a:txBody>
                        <a:bodyPr/>
                        <a:lstStyle/>
                        <a:p>
                          <a:pPr>
                            <a:defRPr sz="1200" b="1">
                              <a:solidFill>
                                <a:srgbClr val="FFFFFF"/>
                              </a:solidFill>
                              <a:latin typeface="Neue Haas Grotesk Text Pro"/>
                            </a:defRPr>
                          </a:pPr>
                          <a:r>
                            <a:t>QA check (9 per seed, 450 total)</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seed 0</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verdict</a:t>
                          </a:r>
                        </a:p>
                      </a:txBody>
                      <a:tcPr marL="64008" marR="45720" marT="18288" marB="18288" anchor="ctr">
                        <a:solidFill>
                          <a:srgbClr val="169C9A"/>
                        </a:solidFill>
                      </a:tcPr>
                    </a:tc>
                    <a:extLst>
                      <a:ext uri="{0D108BD9-81ED-4DB2-BD59-A6C34878D82A}">
                        <a16:rowId xmlns:a16="http://schemas.microsoft.com/office/drawing/2014/main" val="10000"/>
                      </a:ext>
                    </a:extLst>
                  </a:tr>
                  <a:tr h="306324">
                    <a:tc>
                      <a:txBody>
                        <a:bodyPr/>
                        <a:lstStyle/>
                        <a:p>
                          <a:pPr>
                            <a:defRPr sz="1150" b="0">
                              <a:solidFill>
                                <a:srgbClr val="2C3932"/>
                              </a:solidFill>
                              <a:latin typeface="Neue Haas Grotesk Text Pro"/>
                            </a:defRPr>
                          </a:pPr>
                          <a:r>
                            <a:t>do(decoy) true effect is exactly 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PASS</a:t>
                          </a:r>
                        </a:p>
                      </a:txBody>
                      <a:tcPr marL="64008" marR="45720" marT="18288" marB="18288" anchor="ctr">
                        <a:solidFill>
                          <a:srgbClr val="ECF6F5"/>
                        </a:solidFill>
                      </a:tcPr>
                    </a:tc>
                    <a:extLst>
                      <a:ext uri="{0D108BD9-81ED-4DB2-BD59-A6C34878D82A}">
                        <a16:rowId xmlns:a16="http://schemas.microsoft.com/office/drawing/2014/main" val="10001"/>
                      </a:ext>
                    </a:extLst>
                  </a:tr>
                  <a:tr h="306324">
                    <a:tc>
                      <a:txBody>
                        <a:bodyPr/>
                        <a:lstStyle/>
                        <a:p>
                          <a:pPr>
                            <a:defRPr sz="1150" b="0">
                              <a:solidFill>
                                <a:srgbClr val="2C3932"/>
                              </a:solidFill>
                              <a:latin typeface="Neue Haas Grotesk Text Pro"/>
                            </a:defRPr>
                          </a:pPr>
                          <a:r>
                            <a:t>do(true cause) moves the outcome</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0.0067</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PASS</a:t>
                          </a:r>
                        </a:p>
                      </a:txBody>
                      <a:tcPr marL="64008" marR="45720" marT="18288" marB="18288" anchor="ctr">
                        <a:solidFill>
                          <a:srgbClr val="F7FBFB"/>
                        </a:solidFill>
                      </a:tcPr>
                    </a:tc>
                    <a:extLst>
                      <a:ext uri="{0D108BD9-81ED-4DB2-BD59-A6C34878D82A}">
                        <a16:rowId xmlns:a16="http://schemas.microsoft.com/office/drawing/2014/main" val="10002"/>
                      </a:ext>
                    </a:extLst>
                  </a:tr>
                  <a:tr h="306324">
                    <a:tc>
                      <a:txBody>
                        <a:bodyPr/>
                        <a:lstStyle/>
                        <a:p>
                          <a:pPr>
                            <a:defRPr sz="1150" b="0">
                              <a:solidFill>
                                <a:srgbClr val="2C3932"/>
                              </a:solidFill>
                              <a:latin typeface="Neue Haas Grotesk Text Pro"/>
                            </a:defRPr>
                          </a:pPr>
                          <a:r>
                            <a:t>shift raises error on EVERY output (min ID→OOD ratio)</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1.749</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PASS</a:t>
                          </a:r>
                        </a:p>
                      </a:txBody>
                      <a:tcPr marL="64008" marR="45720" marT="18288" marB="18288" anchor="ctr">
                        <a:solidFill>
                          <a:srgbClr val="ECF6F5"/>
                        </a:solidFill>
                      </a:tcPr>
                    </a:tc>
                    <a:extLst>
                      <a:ext uri="{0D108BD9-81ED-4DB2-BD59-A6C34878D82A}">
                        <a16:rowId xmlns:a16="http://schemas.microsoft.com/office/drawing/2014/main" val="10003"/>
                      </a:ext>
                    </a:extLst>
                  </a:tr>
                  <a:tr h="306324">
                    <a:tc>
                      <a:txBody>
                        <a:bodyPr/>
                        <a:lstStyle/>
                        <a:p>
                          <a:pPr>
                            <a:defRPr sz="1150" b="0">
                              <a:solidFill>
                                <a:srgbClr val="2C3932"/>
                              </a:solidFill>
                              <a:latin typeface="Neue Haas Grotesk Text Pro"/>
                            </a:defRPr>
                          </a:pPr>
                          <a:r>
                            <a:rPr dirty="0"/>
                            <a:t>tempting shortcuts (</a:t>
                          </a:r>
                          <a:r>
                            <a:rPr dirty="0" err="1"/>
                            <a:t>cond</a:t>
                          </a:r>
                          <a:r>
                            <a:rPr dirty="0"/>
                            <a:t> </a:t>
                          </a:r>
                          <a14:m>
                            <m:oMath xmlns:m="http://schemas.openxmlformats.org/officeDocument/2006/math">
                              <m:r>
                                <a:rPr lang="en-US" i="1" dirty="0" smtClean="0">
                                  <a:latin typeface="Cambria Math" panose="02040503050406030204" pitchFamily="18" charset="0"/>
                                </a:rPr>
                                <m:t>𝑅</m:t>
                              </m:r>
                              <m:r>
                                <a:rPr lang="en-US" i="1" dirty="0" smtClean="0">
                                  <a:latin typeface="Cambria Math" panose="02040503050406030204" pitchFamily="18" charset="0"/>
                                </a:rPr>
                                <m:t>² &gt; 0.05</m:t>
                              </m:r>
                            </m:oMath>
                          </a14:m>
                          <a:r>
                            <a:rPr dirty="0"/>
                            <a:t>) reverse at test</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3 / 3</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PASS</a:t>
                          </a:r>
                        </a:p>
                      </a:txBody>
                      <a:tcPr marL="64008" marR="45720" marT="18288" marB="18288" anchor="ctr">
                        <a:solidFill>
                          <a:srgbClr val="F7FBFB"/>
                        </a:solidFill>
                      </a:tcPr>
                    </a:tc>
                    <a:extLst>
                      <a:ext uri="{0D108BD9-81ED-4DB2-BD59-A6C34878D82A}">
                        <a16:rowId xmlns:a16="http://schemas.microsoft.com/office/drawing/2014/main" val="10004"/>
                      </a:ext>
                    </a:extLst>
                  </a:tr>
                  <a:tr h="306324">
                    <a:tc>
                      <a:txBody>
                        <a:bodyPr/>
                        <a:lstStyle/>
                        <a:p>
                          <a:pPr>
                            <a:defRPr sz="1150" b="0">
                              <a:solidFill>
                                <a:srgbClr val="2C3932"/>
                              </a:solidFill>
                              <a:latin typeface="Neue Haas Grotesk Text Pro"/>
                            </a:defRPr>
                          </a:pPr>
                          <a:r>
                            <a:t>pairs per intervened variable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rPr dirty="0"/>
                            <a:t>941 vs 1000 expected</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rPr dirty="0"/>
                            <a:t>PASS</a:t>
                          </a:r>
                        </a:p>
                      </a:txBody>
                      <a:tcPr marL="64008" marR="45720" marT="18288" marB="18288" anchor="ctr">
                        <a:solidFill>
                          <a:srgbClr val="ECF6F5"/>
                        </a:solidFill>
                      </a:tcPr>
                    </a:tc>
                    <a:extLst>
                      <a:ext uri="{0D108BD9-81ED-4DB2-BD59-A6C34878D82A}">
                        <a16:rowId xmlns:a16="http://schemas.microsoft.com/office/drawing/2014/main" val="10005"/>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423715387"/>
                  </p:ext>
                </p:extLst>
              </p:nvPr>
            </p:nvGraphicFramePr>
            <p:xfrm>
              <a:off x="612648" y="4160520"/>
              <a:ext cx="10149840" cy="1879092"/>
            </p:xfrm>
            <a:graphic>
              <a:graphicData uri="http://schemas.openxmlformats.org/drawingml/2006/table">
                <a:tbl>
                  <a:tblPr firstRow="1">
                    <a:tableStyleId>{5C22544A-7EE6-4342-B048-85BDC9FD1C3A}</a:tableStyleId>
                  </a:tblPr>
                  <a:tblGrid>
                    <a:gridCol w="57607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47472">
                    <a:tc>
                      <a:txBody>
                        <a:bodyPr/>
                        <a:lstStyle/>
                        <a:p>
                          <a:pPr>
                            <a:defRPr sz="1200" b="1">
                              <a:solidFill>
                                <a:srgbClr val="FFFFFF"/>
                              </a:solidFill>
                              <a:latin typeface="Neue Haas Grotesk Text Pro"/>
                            </a:defRPr>
                          </a:pPr>
                          <a:r>
                            <a:t>QA check (9 per seed, 450 total)</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seed 0</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verdict</a:t>
                          </a:r>
                        </a:p>
                      </a:txBody>
                      <a:tcPr marL="64008" marR="45720" marT="18288" marB="18288" anchor="ctr">
                        <a:solidFill>
                          <a:srgbClr val="169C9A"/>
                        </a:solidFill>
                      </a:tcPr>
                    </a:tc>
                    <a:extLst>
                      <a:ext uri="{0D108BD9-81ED-4DB2-BD59-A6C34878D82A}">
                        <a16:rowId xmlns:a16="http://schemas.microsoft.com/office/drawing/2014/main" val="10000"/>
                      </a:ext>
                    </a:extLst>
                  </a:tr>
                  <a:tr h="306324">
                    <a:tc>
                      <a:txBody>
                        <a:bodyPr/>
                        <a:lstStyle/>
                        <a:p>
                          <a:pPr>
                            <a:defRPr sz="1150" b="0">
                              <a:solidFill>
                                <a:srgbClr val="2C3932"/>
                              </a:solidFill>
                              <a:latin typeface="Neue Haas Grotesk Text Pro"/>
                            </a:defRPr>
                          </a:pPr>
                          <a:r>
                            <a:t>do(decoy) true effect is exactly 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PASS</a:t>
                          </a:r>
                        </a:p>
                      </a:txBody>
                      <a:tcPr marL="64008" marR="45720" marT="18288" marB="18288" anchor="ctr">
                        <a:solidFill>
                          <a:srgbClr val="ECF6F5"/>
                        </a:solidFill>
                      </a:tcPr>
                    </a:tc>
                    <a:extLst>
                      <a:ext uri="{0D108BD9-81ED-4DB2-BD59-A6C34878D82A}">
                        <a16:rowId xmlns:a16="http://schemas.microsoft.com/office/drawing/2014/main" val="10001"/>
                      </a:ext>
                    </a:extLst>
                  </a:tr>
                  <a:tr h="306324">
                    <a:tc>
                      <a:txBody>
                        <a:bodyPr/>
                        <a:lstStyle/>
                        <a:p>
                          <a:pPr>
                            <a:defRPr sz="1150" b="0">
                              <a:solidFill>
                                <a:srgbClr val="2C3932"/>
                              </a:solidFill>
                              <a:latin typeface="Neue Haas Grotesk Text Pro"/>
                            </a:defRPr>
                          </a:pPr>
                          <a:r>
                            <a:t>do(true cause) moves the outcome</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0.0067</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PASS</a:t>
                          </a:r>
                        </a:p>
                      </a:txBody>
                      <a:tcPr marL="64008" marR="45720" marT="18288" marB="18288" anchor="ctr">
                        <a:solidFill>
                          <a:srgbClr val="F7FBFB"/>
                        </a:solidFill>
                      </a:tcPr>
                    </a:tc>
                    <a:extLst>
                      <a:ext uri="{0D108BD9-81ED-4DB2-BD59-A6C34878D82A}">
                        <a16:rowId xmlns:a16="http://schemas.microsoft.com/office/drawing/2014/main" val="10002"/>
                      </a:ext>
                    </a:extLst>
                  </a:tr>
                  <a:tr h="306324">
                    <a:tc>
                      <a:txBody>
                        <a:bodyPr/>
                        <a:lstStyle/>
                        <a:p>
                          <a:pPr>
                            <a:defRPr sz="1150" b="0">
                              <a:solidFill>
                                <a:srgbClr val="2C3932"/>
                              </a:solidFill>
                              <a:latin typeface="Neue Haas Grotesk Text Pro"/>
                            </a:defRPr>
                          </a:pPr>
                          <a:r>
                            <a:t>shift raises error on EVERY output (min ID→OOD ratio)</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1.749</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PASS</a:t>
                          </a:r>
                        </a:p>
                      </a:txBody>
                      <a:tcPr marL="64008" marR="45720" marT="18288" marB="18288" anchor="ctr">
                        <a:solidFill>
                          <a:srgbClr val="ECF6F5"/>
                        </a:solidFill>
                      </a:tcPr>
                    </a:tc>
                    <a:extLst>
                      <a:ext uri="{0D108BD9-81ED-4DB2-BD59-A6C34878D82A}">
                        <a16:rowId xmlns:a16="http://schemas.microsoft.com/office/drawing/2014/main" val="10003"/>
                      </a:ext>
                    </a:extLst>
                  </a:tr>
                  <a:tr h="306324">
                    <a:tc>
                      <a:txBody>
                        <a:bodyPr/>
                        <a:lstStyle/>
                        <a:p>
                          <a:endParaRPr lang="en-US"/>
                        </a:p>
                      </a:txBody>
                      <a:tcPr marL="64008" marR="45720" marT="18288" marB="18288" anchor="ctr">
                        <a:blipFill>
                          <a:blip r:embed="rId3"/>
                          <a:stretch>
                            <a:fillRect l="-106" t="-409804" r="-76533" b="-105882"/>
                          </a:stretch>
                        </a:blipFill>
                      </a:tcPr>
                    </a:tc>
                    <a:tc>
                      <a:txBody>
                        <a:bodyPr/>
                        <a:lstStyle/>
                        <a:p>
                          <a:pPr algn="ctr">
                            <a:defRPr sz="1150" b="0">
                              <a:solidFill>
                                <a:srgbClr val="2C3932"/>
                              </a:solidFill>
                              <a:latin typeface="Neue Haas Grotesk Text Pro"/>
                            </a:defRPr>
                          </a:pPr>
                          <a:r>
                            <a:t>3 / 3</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PASS</a:t>
                          </a:r>
                        </a:p>
                      </a:txBody>
                      <a:tcPr marL="64008" marR="45720" marT="18288" marB="18288" anchor="ctr">
                        <a:solidFill>
                          <a:srgbClr val="F7FBFB"/>
                        </a:solidFill>
                      </a:tcPr>
                    </a:tc>
                    <a:extLst>
                      <a:ext uri="{0D108BD9-81ED-4DB2-BD59-A6C34878D82A}">
                        <a16:rowId xmlns:a16="http://schemas.microsoft.com/office/drawing/2014/main" val="10004"/>
                      </a:ext>
                    </a:extLst>
                  </a:tr>
                  <a:tr h="306324">
                    <a:tc>
                      <a:txBody>
                        <a:bodyPr/>
                        <a:lstStyle/>
                        <a:p>
                          <a:pPr>
                            <a:defRPr sz="1150" b="0">
                              <a:solidFill>
                                <a:srgbClr val="2C3932"/>
                              </a:solidFill>
                              <a:latin typeface="Neue Haas Grotesk Text Pro"/>
                            </a:defRPr>
                          </a:pPr>
                          <a:r>
                            <a:t>pairs per intervened variable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rPr dirty="0"/>
                            <a:t>941 vs 1000 expected</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rPr dirty="0"/>
                            <a:t>PASS</a:t>
                          </a:r>
                        </a:p>
                      </a:txBody>
                      <a:tcPr marL="64008" marR="45720" marT="18288" marB="18288" anchor="ctr">
                        <a:solidFill>
                          <a:srgbClr val="ECF6F5"/>
                        </a:solidFill>
                      </a:tcPr>
                    </a:tc>
                    <a:extLst>
                      <a:ext uri="{0D108BD9-81ED-4DB2-BD59-A6C34878D82A}">
                        <a16:rowId xmlns:a16="http://schemas.microsoft.com/office/drawing/2014/main" val="10005"/>
                      </a:ext>
                    </a:extLst>
                  </a:tr>
                </a:tbl>
              </a:graphicData>
            </a:graphic>
          </p:graphicFrame>
        </mc:Fallback>
      </mc:AlternateContent>
      <p:sp>
        <p:nvSpPr>
          <p:cNvPr id="9" name="TextBox 8"/>
          <p:cNvSpPr txBox="1"/>
          <p:nvPr/>
        </p:nvSpPr>
        <p:spPr>
          <a:xfrm>
            <a:off x="612648" y="6291072"/>
            <a:ext cx="10881360" cy="411480"/>
          </a:xfrm>
          <a:prstGeom prst="rect">
            <a:avLst/>
          </a:prstGeom>
          <a:noFill/>
        </p:spPr>
        <p:txBody>
          <a:bodyPr wrap="square" lIns="0" tIns="0" rIns="0" bIns="0">
            <a:spAutoFit/>
          </a:bodyPr>
          <a:lstStyle/>
          <a:p>
            <a:pPr algn="l">
              <a:spcAft>
                <a:spcPts val="400"/>
              </a:spcAft>
              <a:defRPr sz="1050" b="0" i="1">
                <a:solidFill>
                  <a:srgbClr val="666E6A"/>
                </a:solidFill>
                <a:latin typeface="Neue Haas Grotesk Text Pro"/>
              </a:defRPr>
            </a:pPr>
            <a:r>
              <a:t>449 / 450 passed. The one failure (seed 25, ratio 1.152) is a force-only seed: with friction and angle inactive, fewer shifted variables are causes.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The control that decides the claim: random_hc</a:t>
            </a:r>
          </a:p>
        </p:txBody>
      </p:sp>
      <p:sp>
        <p:nvSpPr>
          <p:cNvPr id="3" name="TextBox 2"/>
          <p:cNvSpPr txBox="1"/>
          <p:nvPr/>
        </p:nvSpPr>
        <p:spPr>
          <a:xfrm>
            <a:off x="612648" y="1188720"/>
            <a:ext cx="10881360" cy="347472"/>
          </a:xfrm>
          <a:prstGeom prst="rect">
            <a:avLst/>
          </a:prstGeom>
          <a:noFill/>
        </p:spPr>
        <p:txBody>
          <a:bodyPr wrap="square" lIns="0">
            <a:spAutoFit/>
          </a:bodyPr>
          <a:lstStyle/>
          <a:p>
            <a:pPr>
              <a:defRPr sz="1300" i="1">
                <a:solidFill>
                  <a:srgbClr val="666E6A"/>
                </a:solidFill>
                <a:latin typeface="Neue Haas Grotesk Text Pro"/>
              </a:defRPr>
            </a:pPr>
            <a:r>
              <a:t>once the learned gate became stochastic, the old random control stopped being matched</a:t>
            </a:r>
          </a:p>
        </p:txBody>
      </p:sp>
      <p:graphicFrame>
        <p:nvGraphicFramePr>
          <p:cNvPr id="4" name="Table 3"/>
          <p:cNvGraphicFramePr>
            <a:graphicFrameLocks noGrp="1"/>
          </p:cNvGraphicFramePr>
          <p:nvPr>
            <p:extLst>
              <p:ext uri="{D42A27DB-BD31-4B8C-83A1-F6EECF244321}">
                <p14:modId xmlns:p14="http://schemas.microsoft.com/office/powerpoint/2010/main" val="4150747170"/>
              </p:ext>
            </p:extLst>
          </p:nvPr>
        </p:nvGraphicFramePr>
        <p:xfrm>
          <a:off x="612648" y="1645920"/>
          <a:ext cx="10149840" cy="1993392"/>
        </p:xfrm>
        <a:graphic>
          <a:graphicData uri="http://schemas.openxmlformats.org/drawingml/2006/table">
            <a:tbl>
              <a:tblPr firstRow="1">
                <a:tableStyleId>{5C22544A-7EE6-4342-B048-85BDC9FD1C3A}</a:tableStyleId>
              </a:tblPr>
              <a:tblGrid>
                <a:gridCol w="19202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47472">
                <a:tc>
                  <a:txBody>
                    <a:bodyPr/>
                    <a:lstStyle/>
                    <a:p>
                      <a:pPr>
                        <a:defRPr sz="1200" b="1">
                          <a:solidFill>
                            <a:srgbClr val="FFFFFF"/>
                          </a:solidFill>
                          <a:latin typeface="Neue Haas Grotesk Text Pro"/>
                        </a:defRPr>
                      </a:pPr>
                      <a:r>
                        <a:t>Arm</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Architecture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Mask</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HC sampling</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L0</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Col. norm</a:t>
                      </a:r>
                    </a:p>
                  </a:txBody>
                  <a:tcPr marL="64008" marR="45720" marT="18288" marB="18288" anchor="ctr">
                    <a:solidFill>
                      <a:srgbClr val="169C9A"/>
                    </a:solidFill>
                  </a:tcPr>
                </a:tc>
                <a:extLst>
                  <a:ext uri="{0D108BD9-81ED-4DB2-BD59-A6C34878D82A}">
                    <a16:rowId xmlns:a16="http://schemas.microsoft.com/office/drawing/2014/main" val="10000"/>
                  </a:ext>
                </a:extLst>
              </a:tr>
              <a:tr h="329184">
                <a:tc>
                  <a:txBody>
                    <a:bodyPr/>
                    <a:lstStyle/>
                    <a:p>
                      <a:pPr>
                        <a:defRPr sz="1150" b="0">
                          <a:solidFill>
                            <a:srgbClr val="2C3932"/>
                          </a:solidFill>
                          <a:latin typeface="Neue Haas Grotesk Text Pro"/>
                        </a:defRPr>
                      </a:pPr>
                      <a:r>
                        <a:t>per_node_full</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3 heads</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all ones</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ECF6F5"/>
                    </a:solidFill>
                  </a:tcPr>
                </a:tc>
                <a:extLst>
                  <a:ext uri="{0D108BD9-81ED-4DB2-BD59-A6C34878D82A}">
                    <a16:rowId xmlns:a16="http://schemas.microsoft.com/office/drawing/2014/main" val="10001"/>
                  </a:ext>
                </a:extLst>
              </a:tr>
              <a:tr h="329184">
                <a:tc>
                  <a:txBody>
                    <a:bodyPr/>
                    <a:lstStyle/>
                    <a:p>
                      <a:pPr>
                        <a:defRPr sz="1150" b="0">
                          <a:solidFill>
                            <a:srgbClr val="2C3932"/>
                          </a:solidFill>
                          <a:latin typeface="Neue Haas Grotesk Text Pro"/>
                        </a:defRPr>
                      </a:pPr>
                      <a:r>
                        <a:t>oracle_graph</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3 heads</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TRUE graph, frozen</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F7FBFB"/>
                    </a:solidFill>
                  </a:tcPr>
                </a:tc>
                <a:extLst>
                  <a:ext uri="{0D108BD9-81ED-4DB2-BD59-A6C34878D82A}">
                    <a16:rowId xmlns:a16="http://schemas.microsoft.com/office/drawing/2014/main" val="10002"/>
                  </a:ext>
                </a:extLst>
              </a:tr>
              <a:tr h="329184">
                <a:tc>
                  <a:txBody>
                    <a:bodyPr/>
                    <a:lstStyle/>
                    <a:p>
                      <a:pPr>
                        <a:defRPr sz="1150" b="0">
                          <a:solidFill>
                            <a:srgbClr val="2C3932"/>
                          </a:solidFill>
                          <a:latin typeface="Neue Haas Grotesk Text Pro"/>
                        </a:defRPr>
                      </a:pPr>
                      <a:r>
                        <a:t>random_graph</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3 heads</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wrong, frozen soft</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no</a:t>
                      </a:r>
                    </a:p>
                  </a:txBody>
                  <a:tcPr marL="64008" marR="45720" marT="18288" marB="18288" anchor="ctr">
                    <a:solidFill>
                      <a:srgbClr val="ECF6F5"/>
                    </a:solidFill>
                  </a:tcPr>
                </a:tc>
                <a:extLst>
                  <a:ext uri="{0D108BD9-81ED-4DB2-BD59-A6C34878D82A}">
                    <a16:rowId xmlns:a16="http://schemas.microsoft.com/office/drawing/2014/main" val="10003"/>
                  </a:ext>
                </a:extLst>
              </a:tr>
              <a:tr h="329184">
                <a:tc>
                  <a:txBody>
                    <a:bodyPr/>
                    <a:lstStyle/>
                    <a:p>
                      <a:pPr>
                        <a:defRPr sz="1150" b="1">
                          <a:solidFill>
                            <a:srgbClr val="2C3932"/>
                          </a:solidFill>
                          <a:latin typeface="Neue Haas Grotesk Text Pro"/>
                        </a:defRPr>
                      </a:pPr>
                      <a:r>
                        <a:t>learned_graph</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3 heads</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LEARNED</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yes</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yes</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yes</a:t>
                      </a:r>
                    </a:p>
                  </a:txBody>
                  <a:tcPr marL="64008" marR="45720" marT="18288" marB="18288" anchor="ctr">
                    <a:solidFill>
                      <a:srgbClr val="FFECE5"/>
                    </a:solidFill>
                  </a:tcPr>
                </a:tc>
                <a:extLst>
                  <a:ext uri="{0D108BD9-81ED-4DB2-BD59-A6C34878D82A}">
                    <a16:rowId xmlns:a16="http://schemas.microsoft.com/office/drawing/2014/main" val="10004"/>
                  </a:ext>
                </a:extLst>
              </a:tr>
              <a:tr h="329184">
                <a:tc>
                  <a:txBody>
                    <a:bodyPr/>
                    <a:lstStyle/>
                    <a:p>
                      <a:pPr>
                        <a:defRPr sz="1150" b="1">
                          <a:solidFill>
                            <a:srgbClr val="2C3932"/>
                          </a:solidFill>
                          <a:latin typeface="Neue Haas Grotesk Text Pro"/>
                        </a:defRPr>
                      </a:pPr>
                      <a:r>
                        <a:t>random_hc</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3 heads</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rPr dirty="0"/>
                        <a:t>wrong, frozen</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yes</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yes</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rPr dirty="0"/>
                        <a:t>yes</a:t>
                      </a:r>
                    </a:p>
                  </a:txBody>
                  <a:tcPr marL="64008" marR="45720" marT="18288" marB="18288" anchor="ctr">
                    <a:solidFill>
                      <a:srgbClr val="FFECE5"/>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612648" y="3840480"/>
            <a:ext cx="4983480" cy="1234440"/>
          </a:xfrm>
          <a:prstGeom prst="roundRect">
            <a:avLst/>
          </a:prstGeom>
          <a:solidFill>
            <a:srgbClr val="FDF6EA"/>
          </a:solidFill>
          <a:ln w="15875">
            <a:solidFill>
              <a:srgbClr val="E15C3D"/>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t>Why random_graph is no longer valid</a:t>
            </a:r>
          </a:p>
          <a:p>
            <a:pPr algn="ctr">
              <a:spcAft>
                <a:spcPts val="100"/>
              </a:spcAft>
              <a:defRPr sz="1050">
                <a:solidFill>
                  <a:srgbClr val="666E6A"/>
                </a:solidFill>
                <a:latin typeface="Neue Haas Grotesk Text Pro"/>
              </a:defRPr>
            </a:pPr>
            <a:r>
              <a:t>learned_graph gained stochastic gating and an L0 term.</a:t>
            </a:r>
          </a:p>
          <a:p>
            <a:pPr algn="ctr">
              <a:spcAft>
                <a:spcPts val="100"/>
              </a:spcAft>
              <a:defRPr sz="1050">
                <a:solidFill>
                  <a:srgbClr val="666E6A"/>
                </a:solidFill>
                <a:latin typeface="Neue Haas Grotesk Text Pro"/>
              </a:defRPr>
            </a:pPr>
            <a:r>
              <a:t>random_graph has neither. Stochastic gating IS a</a:t>
            </a:r>
          </a:p>
          <a:p>
            <a:pPr algn="ctr">
              <a:spcAft>
                <a:spcPts val="100"/>
              </a:spcAft>
              <a:defRPr sz="1050">
                <a:solidFill>
                  <a:srgbClr val="666E6A"/>
                </a:solidFill>
                <a:latin typeface="Neue Haas Grotesk Text Pro"/>
              </a:defRPr>
            </a:pPr>
            <a:r>
              <a:t>regulariser, so any gap could be regularisation rather</a:t>
            </a:r>
          </a:p>
          <a:p>
            <a:pPr algn="ctr">
              <a:spcAft>
                <a:spcPts val="100"/>
              </a:spcAft>
              <a:defRPr sz="1050">
                <a:solidFill>
                  <a:srgbClr val="666E6A"/>
                </a:solidFill>
                <a:latin typeface="Neue Haas Grotesk Text Pro"/>
              </a:defRPr>
            </a:pPr>
            <a:r>
              <a:t>than structure.</a:t>
            </a:r>
          </a:p>
        </p:txBody>
      </p:sp>
      <p:sp>
        <p:nvSpPr>
          <p:cNvPr id="6" name="Rounded Rectangle 5"/>
          <p:cNvSpPr/>
          <p:nvPr/>
        </p:nvSpPr>
        <p:spPr>
          <a:xfrm>
            <a:off x="5779008" y="3840480"/>
            <a:ext cx="4983480" cy="1234440"/>
          </a:xfrm>
          <a:prstGeom prst="roundRect">
            <a:avLst/>
          </a:prstGeom>
          <a:solidFill>
            <a:srgbClr val="E9F4EF"/>
          </a:solidFill>
          <a:ln w="15875">
            <a:solidFill>
              <a:srgbClr val="3D9072"/>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t>What random_hc holds fixed</a:t>
            </a:r>
          </a:p>
          <a:p>
            <a:pPr algn="ctr">
              <a:spcAft>
                <a:spcPts val="100"/>
              </a:spcAft>
              <a:defRPr sz="1050">
                <a:solidFill>
                  <a:srgbClr val="666E6A"/>
                </a:solidFill>
                <a:latin typeface="Neue Haas Grotesk Text Pro"/>
              </a:defRPr>
            </a:pPr>
            <a:r>
              <a:t>Identical machinery, same open-edge count (21),</a:t>
            </a:r>
          </a:p>
          <a:p>
            <a:pPr algn="ctr">
              <a:spcAft>
                <a:spcPts val="100"/>
              </a:spcAft>
              <a:defRPr sz="1050">
                <a:solidFill>
                  <a:srgbClr val="666E6A"/>
                </a:solidFill>
                <a:latin typeface="Neue Haas Grotesk Text Pro"/>
              </a:defRPr>
            </a:pPr>
            <a:r>
              <a:t>cell agreement with the truth 0.611 — a genuinely</a:t>
            </a:r>
          </a:p>
          <a:p>
            <a:pPr algn="ctr">
              <a:spcAft>
                <a:spcPts val="100"/>
              </a:spcAft>
              <a:defRPr sz="1050">
                <a:solidFill>
                  <a:srgbClr val="666E6A"/>
                </a:solidFill>
                <a:latin typeface="Neue Haas Grotesk Text Pro"/>
              </a:defRPr>
            </a:pPr>
            <a:r>
              <a:t>WRONG graph. The only remaining difference is whether</a:t>
            </a:r>
          </a:p>
          <a:p>
            <a:pPr algn="ctr">
              <a:spcAft>
                <a:spcPts val="100"/>
              </a:spcAft>
              <a:defRPr sz="1050">
                <a:solidFill>
                  <a:srgbClr val="666E6A"/>
                </a:solidFill>
                <a:latin typeface="Neue Haas Grotesk Text Pro"/>
              </a:defRPr>
            </a:pPr>
            <a:r>
              <a:t>the graph is correct.</a:t>
            </a:r>
          </a:p>
        </p:txBody>
      </p:sp>
      <mc:AlternateContent xmlns:mc="http://schemas.openxmlformats.org/markup-compatibility/2006" xmlns:a14="http://schemas.microsoft.com/office/drawing/2010/main">
        <mc:Choice Requires="a14">
          <p:sp>
            <p:nvSpPr>
              <p:cNvPr id="7" name="TextBox 6"/>
              <p:cNvSpPr txBox="1"/>
              <p:nvPr/>
            </p:nvSpPr>
            <p:spPr>
              <a:xfrm>
                <a:off x="612648" y="5303520"/>
                <a:ext cx="10881360" cy="569387"/>
              </a:xfrm>
              <a:prstGeom prst="rect">
                <a:avLst/>
              </a:prstGeom>
              <a:noFill/>
            </p:spPr>
            <p:txBody>
              <a:bodyPr wrap="square" lIns="0" tIns="0" rIns="0" bIns="0">
                <a:spAutoFit/>
              </a:bodyPr>
              <a:lstStyle/>
              <a:p>
                <a:pPr algn="l">
                  <a:spcAft>
                    <a:spcPts val="600"/>
                  </a:spcAft>
                  <a:defRPr sz="1200" b="0" i="0">
                    <a:solidFill>
                      <a:srgbClr val="2C3932"/>
                    </a:solidFill>
                    <a:latin typeface="Neue Haas Grotesk Text Pro"/>
                  </a:defRPr>
                </a:pPr>
                <a14:m>
                  <m:oMath xmlns:m="http://schemas.openxmlformats.org/officeDocument/2006/math">
                    <m:r>
                      <a:rPr lang="en-US" sz="1600" i="1" dirty="0" smtClean="0">
                        <a:latin typeface="Cambria Math" panose="02040503050406030204" pitchFamily="18" charset="0"/>
                      </a:rPr>
                      <m:t>𝐴</m:t>
                    </m:r>
                    <m:r>
                      <a:rPr lang="en-US" sz="1600" i="1" dirty="0" smtClean="0">
                        <a:latin typeface="Cambria Math" panose="02040503050406030204" pitchFamily="18" charset="0"/>
                      </a:rPr>
                      <m:t>_</m:t>
                    </m:r>
                    <m:r>
                      <a:rPr lang="en-US" sz="1600" i="1" dirty="0" smtClean="0">
                        <a:latin typeface="Cambria Math" panose="02040503050406030204" pitchFamily="18" charset="0"/>
                      </a:rPr>
                      <m:t>𝑟𝑎𝑛𝑑𝑜𝑚</m:t>
                    </m:r>
                    <m:r>
                      <a:rPr lang="en-US" sz="1600" i="1" dirty="0" smtClean="0">
                        <a:latin typeface="Cambria Math" panose="02040503050406030204" pitchFamily="18" charset="0"/>
                      </a:rPr>
                      <m:t>_</m:t>
                    </m:r>
                    <m:r>
                      <a:rPr lang="en-US" sz="1600" i="1" dirty="0" smtClean="0">
                        <a:latin typeface="Cambria Math" panose="02040503050406030204" pitchFamily="18" charset="0"/>
                      </a:rPr>
                      <m:t>ℎ𝑐</m:t>
                    </m:r>
                    <m:r>
                      <a:rPr lang="en-US" sz="1600" i="1" dirty="0">
                        <a:latin typeface="Cambria Math" panose="02040503050406030204" pitchFamily="18" charset="0"/>
                      </a:rPr>
                      <m:t> :</m:t>
                    </m:r>
                  </m:oMath>
                </a14:m>
                <a:r>
                  <a:rPr sz="1600" dirty="0"/>
                  <a:t>  logits frozen at </a:t>
                </a:r>
                <a14:m>
                  <m:oMath xmlns:m="http://schemas.openxmlformats.org/officeDocument/2006/math">
                    <m:r>
                      <a:rPr lang="en-US" sz="1600" i="1" dirty="0" smtClean="0">
                        <a:latin typeface="Cambria Math" panose="02040503050406030204" pitchFamily="18" charset="0"/>
                      </a:rPr>
                      <m:t>±2.5 </m:t>
                    </m:r>
                  </m:oMath>
                </a14:m>
                <a:r>
                  <a:rPr sz="1600" dirty="0"/>
                  <a:t>on a shuffled edge set,  </a:t>
                </a:r>
                <a14:m>
                  <m:oMath xmlns:m="http://schemas.openxmlformats.org/officeDocument/2006/math">
                    <m:r>
                      <a:rPr lang="en-US" sz="1600" i="1" dirty="0" smtClean="0">
                        <a:latin typeface="Cambria Math" panose="02040503050406030204" pitchFamily="18" charset="0"/>
                      </a:rPr>
                      <m:t>𝑟𝑒𝑞𝑢𝑖𝑟𝑒𝑠</m:t>
                    </m:r>
                    <m:r>
                      <a:rPr lang="en-US" sz="1600" i="1" dirty="0" smtClean="0">
                        <a:latin typeface="Cambria Math" panose="02040503050406030204" pitchFamily="18" charset="0"/>
                      </a:rPr>
                      <m:t>_</m:t>
                    </m:r>
                    <m:r>
                      <a:rPr lang="en-US" sz="1600" i="1" dirty="0" smtClean="0">
                        <a:latin typeface="Cambria Math" panose="02040503050406030204" pitchFamily="18" charset="0"/>
                      </a:rPr>
                      <m:t>𝑔𝑟𝑎𝑑</m:t>
                    </m:r>
                    <m:r>
                      <a:rPr lang="en-US" sz="1600" i="1" dirty="0">
                        <a:latin typeface="Cambria Math" panose="02040503050406030204" pitchFamily="18" charset="0"/>
                      </a:rPr>
                      <m:t> = </m:t>
                    </m:r>
                    <m:r>
                      <a:rPr lang="en-US" sz="1600" i="1" dirty="0">
                        <a:latin typeface="Cambria Math" panose="02040503050406030204" pitchFamily="18" charset="0"/>
                      </a:rPr>
                      <m:t>𝐹𝑎𝑙𝑠𝑒</m:t>
                    </m:r>
                  </m:oMath>
                </a14:m>
                <a:endParaRPr sz="1600" dirty="0"/>
              </a:p>
              <a:p>
                <a:pPr algn="l">
                  <a:spcAft>
                    <a:spcPts val="600"/>
                  </a:spcAft>
                  <a:defRPr sz="1200" b="0" i="0">
                    <a:solidFill>
                      <a:srgbClr val="2C3932"/>
                    </a:solidFill>
                    <a:latin typeface="Neue Haas Grotesk Text Pro"/>
                  </a:defRPr>
                </a:pPr>
                <a14:m>
                  <m:oMath xmlns:m="http://schemas.openxmlformats.org/officeDocument/2006/math">
                    <m:r>
                      <a:rPr lang="en-US" sz="1600" i="1" dirty="0" smtClean="0">
                        <a:latin typeface="Cambria Math" panose="02040503050406030204" pitchFamily="18" charset="0"/>
                      </a:rPr>
                      <m:t>𝑙𝑒𝑎𝑟𝑛𝑒𝑑</m:t>
                    </m:r>
                    <m:r>
                      <a:rPr lang="en-US" sz="1600" i="1" dirty="0" smtClean="0">
                        <a:latin typeface="Cambria Math" panose="02040503050406030204" pitchFamily="18" charset="0"/>
                      </a:rPr>
                      <m:t>_</m:t>
                    </m:r>
                    <m:r>
                      <a:rPr lang="en-US" sz="1600" i="1" dirty="0" smtClean="0">
                        <a:latin typeface="Cambria Math" panose="02040503050406030204" pitchFamily="18" charset="0"/>
                      </a:rPr>
                      <m:t>𝑔𝑟𝑎𝑝ℎ</m:t>
                    </m:r>
                    <m:r>
                      <a:rPr lang="en-US" sz="1600" i="1" dirty="0">
                        <a:latin typeface="Cambria Math" panose="02040503050406030204" pitchFamily="18" charset="0"/>
                      </a:rPr>
                      <m:t> − </m:t>
                    </m:r>
                    <m:r>
                      <a:rPr lang="en-US" sz="1600" i="1" dirty="0" err="1">
                        <a:latin typeface="Cambria Math" panose="02040503050406030204" pitchFamily="18" charset="0"/>
                      </a:rPr>
                      <m:t>𝑟𝑎𝑛𝑑𝑜𝑚</m:t>
                    </m:r>
                    <m:r>
                      <a:rPr lang="en-US" sz="1600" i="1" dirty="0" err="1">
                        <a:latin typeface="Cambria Math" panose="02040503050406030204" pitchFamily="18" charset="0"/>
                      </a:rPr>
                      <m:t>_</m:t>
                    </m:r>
                    <m:r>
                      <a:rPr lang="en-US" sz="1600" i="1" dirty="0" err="1">
                        <a:latin typeface="Cambria Math" panose="02040503050406030204" pitchFamily="18" charset="0"/>
                      </a:rPr>
                      <m:t>ℎ𝑐</m:t>
                    </m:r>
                    <m:r>
                      <a:rPr lang="en-US" sz="1600" i="1" dirty="0">
                        <a:latin typeface="Cambria Math" panose="02040503050406030204" pitchFamily="18" charset="0"/>
                      </a:rPr>
                      <m:t>  </m:t>
                    </m:r>
                  </m:oMath>
                </a14:m>
                <a:r>
                  <a:rPr sz="1600" dirty="0"/>
                  <a:t>is therefore the only comparison that isolates graph correctness.</a:t>
                </a:r>
              </a:p>
            </p:txBody>
          </p:sp>
        </mc:Choice>
        <mc:Fallback xmlns="">
          <p:sp>
            <p:nvSpPr>
              <p:cNvPr id="7" name="TextBox 6"/>
              <p:cNvSpPr txBox="1">
                <a:spLocks noRot="1" noChangeAspect="1" noMove="1" noResize="1" noEditPoints="1" noAdjustHandles="1" noChangeArrowheads="1" noChangeShapeType="1" noTextEdit="1"/>
              </p:cNvSpPr>
              <p:nvPr/>
            </p:nvSpPr>
            <p:spPr>
              <a:xfrm>
                <a:off x="612648" y="5303520"/>
                <a:ext cx="10881360" cy="569387"/>
              </a:xfrm>
              <a:prstGeom prst="rect">
                <a:avLst/>
              </a:prstGeom>
              <a:blipFill>
                <a:blip r:embed="rId2"/>
                <a:stretch>
                  <a:fillRect l="-672" t="-10753" b="-20430"/>
                </a:stretch>
              </a:blipFill>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Results: the ceiling is real</a:t>
            </a:r>
          </a:p>
        </p:txBody>
      </p:sp>
      <p:sp>
        <p:nvSpPr>
          <p:cNvPr id="3" name="TextBox 2"/>
          <p:cNvSpPr txBox="1"/>
          <p:nvPr/>
        </p:nvSpPr>
        <p:spPr>
          <a:xfrm>
            <a:off x="612648" y="1188720"/>
            <a:ext cx="10881360" cy="347472"/>
          </a:xfrm>
          <a:prstGeom prst="rect">
            <a:avLst/>
          </a:prstGeom>
          <a:noFill/>
        </p:spPr>
        <p:txBody>
          <a:bodyPr wrap="square" lIns="0">
            <a:spAutoFit/>
          </a:bodyPr>
          <a:lstStyle/>
          <a:p>
            <a:pPr>
              <a:defRPr sz="1300" i="1">
                <a:solidFill>
                  <a:srgbClr val="666E6A"/>
                </a:solidFill>
                <a:latin typeface="Neue Haas Grotesk Text Pro"/>
              </a:defRPr>
            </a:pPr>
            <a:r>
              <a:t>10 seeds, 4 distinct graph structures, paired t-test against the black box</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501783029"/>
                  </p:ext>
                </p:extLst>
              </p:nvPr>
            </p:nvGraphicFramePr>
            <p:xfrm>
              <a:off x="612648" y="1600200"/>
              <a:ext cx="10149840" cy="2491740"/>
            </p:xfrm>
            <a:graphic>
              <a:graphicData uri="http://schemas.openxmlformats.org/drawingml/2006/table">
                <a:tbl>
                  <a:tblPr firstRow="1">
                    <a:tableStyleId>{073A0DAA-6AF3-43AB-8588-CEC1D06C72B9}</a:tableStyleId>
                  </a:tblPr>
                  <a:tblGrid>
                    <a:gridCol w="2788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47472">
                    <a:tc>
                      <a:txBody>
                        <a:bodyPr/>
                        <a:lstStyle/>
                        <a:p>
                          <a:pPr>
                            <a:defRPr sz="1200" b="1">
                              <a:solidFill>
                                <a:srgbClr val="FFFFFF"/>
                              </a:solidFill>
                              <a:latin typeface="Neue Haas Grotesk Text Pro"/>
                            </a:defRPr>
                          </a:pPr>
                          <a:r>
                            <a:t>Arm</a:t>
                          </a:r>
                        </a:p>
                      </a:txBody>
                      <a:tcPr marL="64008" marR="45720" marT="18288" marB="18288" anchor="ctr"/>
                    </a:tc>
                    <a:tc>
                      <a:txBody>
                        <a:bodyPr/>
                        <a:lstStyle/>
                        <a:p>
                          <a:pPr algn="ctr">
                            <a:defRPr sz="1200" b="1">
                              <a:solidFill>
                                <a:srgbClr val="FFFFFF"/>
                              </a:solidFill>
                              <a:latin typeface="Neue Haas Grotesk Text Pro"/>
                            </a:defRPr>
                          </a:pPr>
                          <a:r>
                            <a:t>OOD RMSE</a:t>
                          </a:r>
                        </a:p>
                      </a:txBody>
                      <a:tcPr marL="64008" marR="45720" marT="18288" marB="18288" anchor="ctr"/>
                    </a:tc>
                    <a:tc>
                      <a:txBody>
                        <a:bodyPr/>
                        <a:lstStyle/>
                        <a:p>
                          <a:pPr algn="ctr">
                            <a:defRPr sz="1200" b="1">
                              <a:solidFill>
                                <a:srgbClr val="FFFFFF"/>
                              </a:solidFill>
                              <a:latin typeface="Neue Haas Grotesk Text Pro"/>
                            </a:defRPr>
                          </a:pPr>
                          <a:r>
                            <a:t>vs black box</a:t>
                          </a:r>
                        </a:p>
                      </a:txBody>
                      <a:tcPr marL="64008" marR="45720" marT="18288" marB="18288" anchor="ctr"/>
                    </a:tc>
                    <a:tc>
                      <a:txBody>
                        <a:bodyPr/>
                        <a:lstStyle/>
                        <a:p>
                          <a:pPr algn="ctr">
                            <a:defRPr sz="1200" b="1">
                              <a:solidFill>
                                <a:srgbClr val="FFFFFF"/>
                              </a:solidFill>
                              <a:latin typeface="Neue Haas Grotesk Text Pro"/>
                            </a:defRPr>
                          </a:pPr>
                          <a:r>
                            <a:t>√PEHE</a:t>
                          </a:r>
                        </a:p>
                      </a:txBody>
                      <a:tcPr marL="64008" marR="45720" marT="18288" marB="18288" anchor="ctr"/>
                    </a:tc>
                    <a:tc>
                      <a:txBody>
                        <a:bodyPr/>
                        <a:lstStyle/>
                        <a:p>
                          <a:pPr algn="ctr">
                            <a:defRPr sz="1200" b="1">
                              <a:solidFill>
                                <a:srgbClr val="FFFFFF"/>
                              </a:solidFill>
                              <a:latin typeface="Neue Haas Grotesk Text Pro"/>
                            </a:defRPr>
                          </a:pPr>
                          <a:r>
                            <a:t>vs black box</a:t>
                          </a:r>
                        </a:p>
                      </a:txBody>
                      <a:tcPr marL="64008" marR="45720" marT="18288" marB="18288" anchor="ctr"/>
                    </a:tc>
                    <a:tc>
                      <a:txBody>
                        <a:bodyPr/>
                        <a:lstStyle/>
                        <a:p>
                          <a:pPr algn="ctr">
                            <a:defRPr sz="1200" b="1">
                              <a:solidFill>
                                <a:srgbClr val="FFFFFF"/>
                              </a:solidFill>
                              <a:latin typeface="Neue Haas Grotesk Text Pro"/>
                            </a:defRPr>
                          </a:pPr>
                          <a:r>
                            <a:t>wins</a:t>
                          </a:r>
                        </a:p>
                      </a:txBody>
                      <a:tcPr marL="64008" marR="45720" marT="18288" marB="18288" anchor="ctr"/>
                    </a:tc>
                    <a:extLst>
                      <a:ext uri="{0D108BD9-81ED-4DB2-BD59-A6C34878D82A}">
                        <a16:rowId xmlns:a16="http://schemas.microsoft.com/office/drawing/2014/main" val="10000"/>
                      </a:ext>
                    </a:extLst>
                  </a:tr>
                  <a:tr h="306324">
                    <a:tc>
                      <a:txBody>
                        <a:bodyPr/>
                        <a:lstStyle/>
                        <a:p>
                          <a:pPr>
                            <a:defRPr sz="1150" b="0">
                              <a:solidFill>
                                <a:srgbClr val="2C3932"/>
                              </a:solidFill>
                              <a:latin typeface="Neue Haas Grotesk Text Pro"/>
                            </a:defRPr>
                          </a:pPr>
                          <a14:m>
                            <m:oMathPara xmlns:m="http://schemas.openxmlformats.org/officeDocument/2006/math">
                              <m:oMath>
                                <m:r>
                                  <a:rPr lang="en-US" smtClean="0">
                                    <a:latin typeface="Cambria Math" panose="02040503050406030204" pitchFamily="18" charset="0"/>
                                  </a:rPr>
                                  <m:t>𝑚𝑜𝑛𝑜𝑙𝑖𝑡ℎ𝑖𝑐</m:t>
                                </m:r>
                                <m:r>
                                  <a:rPr lang="en-US" smtClean="0">
                                    <a:latin typeface="Cambria Math" panose="02040503050406030204" pitchFamily="18" charset="0"/>
                                  </a:rPr>
                                  <m:t> (</m:t>
                                </m:r>
                                <m:r>
                                  <a:rPr lang="en-US" smtClean="0">
                                    <a:latin typeface="Cambria Math" panose="02040503050406030204" pitchFamily="18" charset="0"/>
                                  </a:rPr>
                                  <m:t>𝑏𝑙𝑎𝑐𝑘</m:t>
                                </m:r>
                                <m:r>
                                  <a:rPr lang="en-US" smtClean="0">
                                    <a:latin typeface="Cambria Math" panose="02040503050406030204" pitchFamily="18" charset="0"/>
                                  </a:rPr>
                                  <m:t> </m:t>
                                </m:r>
                                <m:r>
                                  <a:rPr lang="en-US" smtClean="0">
                                    <a:latin typeface="Cambria Math" panose="02040503050406030204" pitchFamily="18" charset="0"/>
                                  </a:rPr>
                                  <m:t>𝑏𝑜𝑥</m:t>
                                </m:r>
                                <m:r>
                                  <a:rPr lang="en-US" smtClean="0">
                                    <a:latin typeface="Cambria Math" panose="02040503050406030204" pitchFamily="18" charset="0"/>
                                  </a:rPr>
                                  <m:t>)</m:t>
                                </m:r>
                              </m:oMath>
                            </m:oMathPara>
                          </a14:m>
                          <a:endParaRPr/>
                        </a:p>
                      </a:txBody>
                      <a:tcPr marL="64008" marR="45720" marT="18288" marB="18288" anchor="ctr"/>
                    </a:tc>
                    <a:tc>
                      <a:txBody>
                        <a:bodyPr/>
                        <a:lstStyle/>
                        <a:p>
                          <a:pPr algn="ctr">
                            <a:defRPr sz="1150" b="0">
                              <a:solidFill>
                                <a:srgbClr val="2C3932"/>
                              </a:solidFill>
                              <a:latin typeface="Neue Haas Grotesk Text Pro"/>
                            </a:defRPr>
                          </a:pPr>
                          <a:r>
                            <a:t>1.371</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tc>
                      <a:txBody>
                        <a:bodyPr/>
                        <a:lstStyle/>
                        <a:p>
                          <a:pPr algn="ctr">
                            <a:defRPr sz="1150" b="0">
                              <a:solidFill>
                                <a:srgbClr val="2C3932"/>
                              </a:solidFill>
                              <a:latin typeface="Neue Haas Grotesk Text Pro"/>
                            </a:defRPr>
                          </a:pPr>
                          <a:r>
                            <a:t>0.544</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1"/>
                      </a:ext>
                    </a:extLst>
                  </a:tr>
                  <a:tr h="306324">
                    <a:tc>
                      <a:txBody>
                        <a:bodyPr/>
                        <a:lstStyle/>
                        <a:p>
                          <a:pPr>
                            <a:defRPr sz="1150" b="0">
                              <a:solidFill>
                                <a:srgbClr val="2C3932"/>
                              </a:solidFill>
                              <a:latin typeface="Neue Haas Grotesk Text Pro"/>
                            </a:defRPr>
                          </a:pPr>
                          <a14:m>
                            <m:oMathPara xmlns:m="http://schemas.openxmlformats.org/officeDocument/2006/math">
                              <m:oMath>
                                <m:r>
                                  <a:rPr lang="en-US" smtClean="0">
                                    <a:latin typeface="Cambria Math" panose="02040503050406030204" pitchFamily="18" charset="0"/>
                                  </a:rPr>
                                  <m:t>𝑒𝑛𝑠𝑒𝑚𝑏𝑙𝑒</m:t>
                                </m:r>
                                <m:r>
                                  <a:rPr lang="en-US" smtClean="0">
                                    <a:latin typeface="Cambria Math" panose="02040503050406030204" pitchFamily="18" charset="0"/>
                                  </a:rPr>
                                  <m:t>_</m:t>
                                </m:r>
                                <m:r>
                                  <a:rPr lang="en-US" smtClean="0">
                                    <a:latin typeface="Cambria Math" panose="02040503050406030204" pitchFamily="18" charset="0"/>
                                  </a:rPr>
                                  <m:t>𝑚𝑜𝑛𝑜</m:t>
                                </m:r>
                                <m:r>
                                  <a:rPr lang="en-US" smtClean="0">
                                    <a:latin typeface="Cambria Math" panose="02040503050406030204" pitchFamily="18" charset="0"/>
                                  </a:rPr>
                                  <m:t> (5×)</m:t>
                                </m:r>
                              </m:oMath>
                            </m:oMathPara>
                          </a14:m>
                          <a:endParaRPr/>
                        </a:p>
                      </a:txBody>
                      <a:tcPr marL="64008" marR="45720" marT="18288" marB="18288" anchor="ctr"/>
                    </a:tc>
                    <a:tc>
                      <a:txBody>
                        <a:bodyPr/>
                        <a:lstStyle/>
                        <a:p>
                          <a:pPr algn="ctr">
                            <a:defRPr sz="1150" b="0">
                              <a:solidFill>
                                <a:srgbClr val="2C3932"/>
                              </a:solidFill>
                              <a:latin typeface="Neue Haas Grotesk Text Pro"/>
                            </a:defRPr>
                          </a:pPr>
                          <a:r>
                            <a:t>1.335</a:t>
                          </a:r>
                        </a:p>
                      </a:txBody>
                      <a:tcPr marL="64008" marR="45720" marT="18288" marB="18288" anchor="ctr"/>
                    </a:tc>
                    <a:tc>
                      <a:txBody>
                        <a:bodyPr/>
                        <a:lstStyle/>
                        <a:p>
                          <a:pPr algn="ctr">
                            <a:defRPr sz="1150" b="0">
                              <a:solidFill>
                                <a:srgbClr val="2C3932"/>
                              </a:solidFill>
                              <a:latin typeface="Neue Haas Grotesk Text Pro"/>
                            </a:defRPr>
                          </a:pPr>
                          <a:r>
                            <a:t>−2.6%</a:t>
                          </a:r>
                        </a:p>
                      </a:txBody>
                      <a:tcPr marL="64008" marR="45720" marT="18288" marB="18288" anchor="ctr"/>
                    </a:tc>
                    <a:tc>
                      <a:txBody>
                        <a:bodyPr/>
                        <a:lstStyle/>
                        <a:p>
                          <a:pPr algn="ctr">
                            <a:defRPr sz="1150" b="0">
                              <a:solidFill>
                                <a:srgbClr val="2C3932"/>
                              </a:solidFill>
                              <a:latin typeface="Neue Haas Grotesk Text Pro"/>
                            </a:defRPr>
                          </a:pPr>
                          <a:r>
                            <a:t>0.516</a:t>
                          </a:r>
                        </a:p>
                      </a:txBody>
                      <a:tcPr marL="64008" marR="45720" marT="18288" marB="18288" anchor="ctr"/>
                    </a:tc>
                    <a:tc>
                      <a:txBody>
                        <a:bodyPr/>
                        <a:lstStyle/>
                        <a:p>
                          <a:pPr algn="ctr">
                            <a:defRPr sz="1150" b="0">
                              <a:solidFill>
                                <a:srgbClr val="2C3932"/>
                              </a:solidFill>
                              <a:latin typeface="Neue Haas Grotesk Text Pro"/>
                            </a:defRPr>
                          </a:pPr>
                          <a:r>
                            <a:t>−5.1%</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2"/>
                      </a:ext>
                    </a:extLst>
                  </a:tr>
                  <a:tr h="306324">
                    <a:tc>
                      <a:txBody>
                        <a:bodyPr/>
                        <a:lstStyle/>
                        <a:p>
                          <a:pPr>
                            <a:defRPr sz="1150" b="0">
                              <a:solidFill>
                                <a:srgbClr val="2C3932"/>
                              </a:solidFill>
                              <a:latin typeface="Neue Haas Grotesk Text Pro"/>
                            </a:defRPr>
                          </a:pPr>
                          <a14:m>
                            <m:oMathPara xmlns:m="http://schemas.openxmlformats.org/officeDocument/2006/math">
                              <m:oMath>
                                <m:r>
                                  <a:rPr lang="en-US" smtClean="0">
                                    <a:latin typeface="Cambria Math" panose="02040503050406030204" pitchFamily="18" charset="0"/>
                                  </a:rPr>
                                  <m:t>𝑝𝑒𝑟</m:t>
                                </m:r>
                                <m:r>
                                  <a:rPr lang="en-US" smtClean="0">
                                    <a:latin typeface="Cambria Math" panose="02040503050406030204" pitchFamily="18" charset="0"/>
                                  </a:rPr>
                                  <m:t>_</m:t>
                                </m:r>
                                <m:r>
                                  <a:rPr lang="en-US" smtClean="0">
                                    <a:latin typeface="Cambria Math" panose="02040503050406030204" pitchFamily="18" charset="0"/>
                                  </a:rPr>
                                  <m:t>𝑛𝑜𝑑𝑒</m:t>
                                </m:r>
                                <m:r>
                                  <a:rPr lang="en-US" smtClean="0">
                                    <a:latin typeface="Cambria Math" panose="02040503050406030204" pitchFamily="18" charset="0"/>
                                  </a:rPr>
                                  <m:t>_</m:t>
                                </m:r>
                                <m:r>
                                  <a:rPr lang="en-US" smtClean="0">
                                    <a:latin typeface="Cambria Math" panose="02040503050406030204" pitchFamily="18" charset="0"/>
                                  </a:rPr>
                                  <m:t>𝑓𝑢𝑙𝑙</m:t>
                                </m:r>
                              </m:oMath>
                            </m:oMathPara>
                          </a14:m>
                          <a:endParaRPr/>
                        </a:p>
                      </a:txBody>
                      <a:tcPr marL="64008" marR="45720" marT="18288" marB="18288" anchor="ctr"/>
                    </a:tc>
                    <a:tc>
                      <a:txBody>
                        <a:bodyPr/>
                        <a:lstStyle/>
                        <a:p>
                          <a:pPr algn="ctr">
                            <a:defRPr sz="1150" b="0">
                              <a:solidFill>
                                <a:srgbClr val="2C3932"/>
                              </a:solidFill>
                              <a:latin typeface="Neue Haas Grotesk Text Pro"/>
                            </a:defRPr>
                          </a:pPr>
                          <a:r>
                            <a:t>1.459</a:t>
                          </a:r>
                        </a:p>
                      </a:txBody>
                      <a:tcPr marL="64008" marR="45720" marT="18288" marB="18288" anchor="ctr"/>
                    </a:tc>
                    <a:tc>
                      <a:txBody>
                        <a:bodyPr/>
                        <a:lstStyle/>
                        <a:p>
                          <a:pPr algn="ctr">
                            <a:defRPr sz="1150" b="0">
                              <a:solidFill>
                                <a:srgbClr val="2C3932"/>
                              </a:solidFill>
                              <a:latin typeface="Neue Haas Grotesk Text Pro"/>
                            </a:defRPr>
                          </a:pPr>
                          <a:r>
                            <a:t>+6.5%</a:t>
                          </a:r>
                        </a:p>
                      </a:txBody>
                      <a:tcPr marL="64008" marR="45720" marT="18288" marB="18288" anchor="ctr"/>
                    </a:tc>
                    <a:tc>
                      <a:txBody>
                        <a:bodyPr/>
                        <a:lstStyle/>
                        <a:p>
                          <a:pPr algn="ctr">
                            <a:defRPr sz="1150" b="0">
                              <a:solidFill>
                                <a:srgbClr val="2C3932"/>
                              </a:solidFill>
                              <a:latin typeface="Neue Haas Grotesk Text Pro"/>
                            </a:defRPr>
                          </a:pPr>
                          <a:r>
                            <a:t>0.580</a:t>
                          </a:r>
                        </a:p>
                      </a:txBody>
                      <a:tcPr marL="64008" marR="45720" marT="18288" marB="18288" anchor="ctr"/>
                    </a:tc>
                    <a:tc>
                      <a:txBody>
                        <a:bodyPr/>
                        <a:lstStyle/>
                        <a:p>
                          <a:pPr algn="ctr">
                            <a:defRPr sz="1150" b="0">
                              <a:solidFill>
                                <a:srgbClr val="2C3932"/>
                              </a:solidFill>
                              <a:latin typeface="Neue Haas Grotesk Text Pro"/>
                            </a:defRPr>
                          </a:pPr>
                          <a:r>
                            <a:t>+6.7%</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3"/>
                      </a:ext>
                    </a:extLst>
                  </a:tr>
                  <a:tr h="306324">
                    <a:tc>
                      <a:txBody>
                        <a:bodyPr/>
                        <a:lstStyle/>
                        <a:p>
                          <a:pPr>
                            <a:defRPr sz="1150" b="0">
                              <a:solidFill>
                                <a:srgbClr val="2C3932"/>
                              </a:solidFill>
                              <a:latin typeface="Neue Haas Grotesk Text Pro"/>
                            </a:defRPr>
                          </a:pPr>
                          <a14:m>
                            <m:oMathPara xmlns:m="http://schemas.openxmlformats.org/officeDocument/2006/math">
                              <m:oMath>
                                <m:r>
                                  <a:rPr lang="en-US" smtClean="0">
                                    <a:latin typeface="Cambria Math" panose="02040503050406030204" pitchFamily="18" charset="0"/>
                                  </a:rPr>
                                  <m:t>𝑙𝑒𝑎𝑟𝑛𝑒𝑑</m:t>
                                </m:r>
                                <m:r>
                                  <a:rPr lang="en-US" smtClean="0">
                                    <a:latin typeface="Cambria Math" panose="02040503050406030204" pitchFamily="18" charset="0"/>
                                  </a:rPr>
                                  <m:t>_</m:t>
                                </m:r>
                                <m:r>
                                  <a:rPr lang="en-US" smtClean="0">
                                    <a:latin typeface="Cambria Math" panose="02040503050406030204" pitchFamily="18" charset="0"/>
                                  </a:rPr>
                                  <m:t>𝑔𝑟𝑎𝑝ℎ</m:t>
                                </m:r>
                              </m:oMath>
                            </m:oMathPara>
                          </a14:m>
                          <a:endParaRPr/>
                        </a:p>
                      </a:txBody>
                      <a:tcPr marL="64008" marR="45720" marT="18288" marB="18288" anchor="ctr"/>
                    </a:tc>
                    <a:tc>
                      <a:txBody>
                        <a:bodyPr/>
                        <a:lstStyle/>
                        <a:p>
                          <a:pPr algn="ctr">
                            <a:defRPr sz="1150" b="0">
                              <a:solidFill>
                                <a:srgbClr val="2C3932"/>
                              </a:solidFill>
                              <a:latin typeface="Neue Haas Grotesk Text Pro"/>
                            </a:defRPr>
                          </a:pPr>
                          <a:r>
                            <a:t>1.273</a:t>
                          </a:r>
                        </a:p>
                      </a:txBody>
                      <a:tcPr marL="64008" marR="45720" marT="18288" marB="18288" anchor="ctr"/>
                    </a:tc>
                    <a:tc>
                      <a:txBody>
                        <a:bodyPr/>
                        <a:lstStyle/>
                        <a:p>
                          <a:pPr algn="ctr">
                            <a:defRPr sz="1150" b="0">
                              <a:solidFill>
                                <a:srgbClr val="2C3932"/>
                              </a:solidFill>
                              <a:latin typeface="Neue Haas Grotesk Text Pro"/>
                            </a:defRPr>
                          </a:pPr>
                          <a:r>
                            <a:t>−7.1%</a:t>
                          </a:r>
                        </a:p>
                      </a:txBody>
                      <a:tcPr marL="64008" marR="45720" marT="18288" marB="18288" anchor="ctr"/>
                    </a:tc>
                    <a:tc>
                      <a:txBody>
                        <a:bodyPr/>
                        <a:lstStyle/>
                        <a:p>
                          <a:pPr algn="ctr">
                            <a:defRPr sz="1150" b="0">
                              <a:solidFill>
                                <a:srgbClr val="2C3932"/>
                              </a:solidFill>
                              <a:latin typeface="Neue Haas Grotesk Text Pro"/>
                            </a:defRPr>
                          </a:pPr>
                          <a:r>
                            <a:t>0.483</a:t>
                          </a:r>
                        </a:p>
                      </a:txBody>
                      <a:tcPr marL="64008" marR="45720" marT="18288" marB="18288" anchor="ctr"/>
                    </a:tc>
                    <a:tc>
                      <a:txBody>
                        <a:bodyPr/>
                        <a:lstStyle/>
                        <a:p>
                          <a:pPr algn="ctr">
                            <a:defRPr sz="1150" b="0">
                              <a:solidFill>
                                <a:srgbClr val="2C3932"/>
                              </a:solidFill>
                              <a:latin typeface="Neue Haas Grotesk Text Pro"/>
                            </a:defRPr>
                          </a:pPr>
                          <a:r>
                            <a:t>−11.1%</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4"/>
                      </a:ext>
                    </a:extLst>
                  </a:tr>
                  <a:tr h="306324">
                    <a:tc>
                      <a:txBody>
                        <a:bodyPr/>
                        <a:lstStyle/>
                        <a:p>
                          <a:pPr>
                            <a:defRPr sz="1150" b="0">
                              <a:solidFill>
                                <a:srgbClr val="2C3932"/>
                              </a:solidFill>
                              <a:latin typeface="Neue Haas Grotesk Text Pro"/>
                            </a:defRPr>
                          </a:pPr>
                          <a14:m>
                            <m:oMathPara xmlns:m="http://schemas.openxmlformats.org/officeDocument/2006/math">
                              <m:oMath>
                                <m:r>
                                  <a:rPr lang="en-US" smtClean="0">
                                    <a:latin typeface="Cambria Math" panose="02040503050406030204" pitchFamily="18" charset="0"/>
                                  </a:rPr>
                                  <m:t>𝑟𝑎𝑛𝑑𝑜𝑚</m:t>
                                </m:r>
                                <m:r>
                                  <a:rPr lang="en-US" smtClean="0">
                                    <a:latin typeface="Cambria Math" panose="02040503050406030204" pitchFamily="18" charset="0"/>
                                  </a:rPr>
                                  <m:t>_</m:t>
                                </m:r>
                                <m:r>
                                  <a:rPr lang="en-US" smtClean="0">
                                    <a:latin typeface="Cambria Math" panose="02040503050406030204" pitchFamily="18" charset="0"/>
                                  </a:rPr>
                                  <m:t>𝑔𝑟𝑎𝑝ℎ</m:t>
                                </m:r>
                              </m:oMath>
                            </m:oMathPara>
                          </a14:m>
                          <a:endParaRPr/>
                        </a:p>
                      </a:txBody>
                      <a:tcPr marL="64008" marR="45720" marT="18288" marB="18288" anchor="ctr"/>
                    </a:tc>
                    <a:tc>
                      <a:txBody>
                        <a:bodyPr/>
                        <a:lstStyle/>
                        <a:p>
                          <a:pPr algn="ctr">
                            <a:defRPr sz="1150" b="0">
                              <a:solidFill>
                                <a:srgbClr val="2C3932"/>
                              </a:solidFill>
                              <a:latin typeface="Neue Haas Grotesk Text Pro"/>
                            </a:defRPr>
                          </a:pPr>
                          <a:r>
                            <a:t>1.508</a:t>
                          </a:r>
                        </a:p>
                      </a:txBody>
                      <a:tcPr marL="64008" marR="45720" marT="18288" marB="18288" anchor="ctr"/>
                    </a:tc>
                    <a:tc>
                      <a:txBody>
                        <a:bodyPr/>
                        <a:lstStyle/>
                        <a:p>
                          <a:pPr algn="ctr">
                            <a:defRPr sz="1150" b="0">
                              <a:solidFill>
                                <a:srgbClr val="2C3932"/>
                              </a:solidFill>
                              <a:latin typeface="Neue Haas Grotesk Text Pro"/>
                            </a:defRPr>
                          </a:pPr>
                          <a:r>
                            <a:t>+10.0%</a:t>
                          </a:r>
                        </a:p>
                      </a:txBody>
                      <a:tcPr marL="64008" marR="45720" marT="18288" marB="18288" anchor="ctr"/>
                    </a:tc>
                    <a:tc>
                      <a:txBody>
                        <a:bodyPr/>
                        <a:lstStyle/>
                        <a:p>
                          <a:pPr algn="ctr">
                            <a:defRPr sz="1150" b="0">
                              <a:solidFill>
                                <a:srgbClr val="2C3932"/>
                              </a:solidFill>
                              <a:latin typeface="Neue Haas Grotesk Text Pro"/>
                            </a:defRPr>
                          </a:pPr>
                          <a:r>
                            <a:t>0.593</a:t>
                          </a:r>
                        </a:p>
                      </a:txBody>
                      <a:tcPr marL="64008" marR="45720" marT="18288" marB="18288" anchor="ctr"/>
                    </a:tc>
                    <a:tc>
                      <a:txBody>
                        <a:bodyPr/>
                        <a:lstStyle/>
                        <a:p>
                          <a:pPr algn="ctr">
                            <a:defRPr sz="1150" b="0">
                              <a:solidFill>
                                <a:srgbClr val="2C3932"/>
                              </a:solidFill>
                              <a:latin typeface="Neue Haas Grotesk Text Pro"/>
                            </a:defRPr>
                          </a:pPr>
                          <a:r>
                            <a:t>+9.0%</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5"/>
                      </a:ext>
                    </a:extLst>
                  </a:tr>
                  <a:tr h="306324">
                    <a:tc>
                      <a:txBody>
                        <a:bodyPr/>
                        <a:lstStyle/>
                        <a:p>
                          <a:pPr>
                            <a:defRPr sz="1150" b="0">
                              <a:solidFill>
                                <a:srgbClr val="2C3932"/>
                              </a:solidFill>
                              <a:latin typeface="Neue Haas Grotesk Text Pro"/>
                            </a:defRPr>
                          </a:pPr>
                          <a14:m>
                            <m:oMathPara xmlns:m="http://schemas.openxmlformats.org/officeDocument/2006/math">
                              <m:oMath>
                                <m:r>
                                  <a:rPr lang="en-US" smtClean="0">
                                    <a:latin typeface="Cambria Math" panose="02040503050406030204" pitchFamily="18" charset="0"/>
                                  </a:rPr>
                                  <m:t>𝑟𝑎𝑛𝑑𝑜𝑚</m:t>
                                </m:r>
                                <m:r>
                                  <a:rPr lang="en-US" smtClean="0">
                                    <a:latin typeface="Cambria Math" panose="02040503050406030204" pitchFamily="18" charset="0"/>
                                  </a:rPr>
                                  <m:t>_</m:t>
                                </m:r>
                                <m:r>
                                  <a:rPr lang="en-US" smtClean="0">
                                    <a:latin typeface="Cambria Math" panose="02040503050406030204" pitchFamily="18" charset="0"/>
                                  </a:rPr>
                                  <m:t>ℎ𝑐</m:t>
                                </m:r>
                              </m:oMath>
                            </m:oMathPara>
                          </a14:m>
                          <a:endParaRPr/>
                        </a:p>
                      </a:txBody>
                      <a:tcPr marL="64008" marR="45720" marT="18288" marB="18288" anchor="ctr"/>
                    </a:tc>
                    <a:tc>
                      <a:txBody>
                        <a:bodyPr/>
                        <a:lstStyle/>
                        <a:p>
                          <a:pPr algn="ctr">
                            <a:defRPr sz="1150" b="0">
                              <a:solidFill>
                                <a:srgbClr val="2C3932"/>
                              </a:solidFill>
                              <a:latin typeface="Neue Haas Grotesk Text Pro"/>
                            </a:defRPr>
                          </a:pPr>
                          <a:r>
                            <a:t>1.245</a:t>
                          </a:r>
                        </a:p>
                      </a:txBody>
                      <a:tcPr marL="64008" marR="45720" marT="18288" marB="18288" anchor="ctr"/>
                    </a:tc>
                    <a:tc>
                      <a:txBody>
                        <a:bodyPr/>
                        <a:lstStyle/>
                        <a:p>
                          <a:pPr algn="ctr">
                            <a:defRPr sz="1150" b="0">
                              <a:solidFill>
                                <a:srgbClr val="2C3932"/>
                              </a:solidFill>
                              <a:latin typeface="Neue Haas Grotesk Text Pro"/>
                            </a:defRPr>
                          </a:pPr>
                          <a:r>
                            <a:t>−9.2%</a:t>
                          </a:r>
                        </a:p>
                      </a:txBody>
                      <a:tcPr marL="64008" marR="45720" marT="18288" marB="18288" anchor="ctr"/>
                    </a:tc>
                    <a:tc>
                      <a:txBody>
                        <a:bodyPr/>
                        <a:lstStyle/>
                        <a:p>
                          <a:pPr algn="ctr">
                            <a:defRPr sz="1150" b="0">
                              <a:solidFill>
                                <a:srgbClr val="2C3932"/>
                              </a:solidFill>
                              <a:latin typeface="Neue Haas Grotesk Text Pro"/>
                            </a:defRPr>
                          </a:pPr>
                          <a:r>
                            <a:t>0.466</a:t>
                          </a:r>
                        </a:p>
                      </a:txBody>
                      <a:tcPr marL="64008" marR="45720" marT="18288" marB="18288" anchor="ctr"/>
                    </a:tc>
                    <a:tc>
                      <a:txBody>
                        <a:bodyPr/>
                        <a:lstStyle/>
                        <a:p>
                          <a:pPr algn="ctr">
                            <a:defRPr sz="1150" b="0">
                              <a:solidFill>
                                <a:srgbClr val="2C3932"/>
                              </a:solidFill>
                              <a:latin typeface="Neue Haas Grotesk Text Pro"/>
                            </a:defRPr>
                          </a:pPr>
                          <a:r>
                            <a:t>−14.3%</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6"/>
                      </a:ext>
                    </a:extLst>
                  </a:tr>
                  <a:tr h="306324">
                    <a:tc>
                      <a:txBody>
                        <a:bodyPr/>
                        <a:lstStyle/>
                        <a:p>
                          <a:pPr>
                            <a:defRPr sz="1150" b="1">
                              <a:solidFill>
                                <a:srgbClr val="2C3932"/>
                              </a:solidFill>
                              <a:latin typeface="Neue Haas Grotesk Text Pro"/>
                            </a:defRPr>
                          </a:pPr>
                          <a14:m>
                            <m:oMathPara xmlns:m="http://schemas.openxmlformats.org/officeDocument/2006/math">
                              <m:oMath>
                                <m:r>
                                  <a:rPr lang="en-US" dirty="0" smtClean="0">
                                    <a:latin typeface="Cambria Math" panose="02040503050406030204" pitchFamily="18" charset="0"/>
                                  </a:rPr>
                                  <m:t>𝒐𝒓𝒂𝒄𝒍𝒆</m:t>
                                </m:r>
                                <m:r>
                                  <a:rPr lang="en-US" dirty="0" smtClean="0">
                                    <a:latin typeface="Cambria Math" panose="02040503050406030204" pitchFamily="18" charset="0"/>
                                  </a:rPr>
                                  <m:t>_</m:t>
                                </m:r>
                                <m:r>
                                  <a:rPr lang="en-US" dirty="0" smtClean="0">
                                    <a:latin typeface="Cambria Math" panose="02040503050406030204" pitchFamily="18" charset="0"/>
                                  </a:rPr>
                                  <m:t>𝒈𝒓𝒂𝒑𝒉</m:t>
                                </m:r>
                                <m:r>
                                  <a:rPr lang="en-US" dirty="0">
                                    <a:latin typeface="Cambria Math" panose="02040503050406030204" pitchFamily="18" charset="0"/>
                                  </a:rPr>
                                  <m:t> (</m:t>
                                </m:r>
                                <m:r>
                                  <a:rPr lang="en-US" dirty="0">
                                    <a:latin typeface="Cambria Math" panose="02040503050406030204" pitchFamily="18" charset="0"/>
                                  </a:rPr>
                                  <m:t>𝒕𝒓𝒖𝒆</m:t>
                                </m:r>
                                <m:r>
                                  <a:rPr lang="en-US" dirty="0">
                                    <a:latin typeface="Cambria Math" panose="02040503050406030204" pitchFamily="18" charset="0"/>
                                  </a:rPr>
                                  <m:t> </m:t>
                                </m:r>
                                <m:r>
                                  <a:rPr lang="en-US" dirty="0">
                                    <a:latin typeface="Cambria Math" panose="02040503050406030204" pitchFamily="18" charset="0"/>
                                  </a:rPr>
                                  <m:t>𝑮</m:t>
                                </m:r>
                                <m:r>
                                  <a:rPr lang="en-US" dirty="0">
                                    <a:latin typeface="Cambria Math" panose="02040503050406030204" pitchFamily="18" charset="0"/>
                                  </a:rPr>
                                  <m:t>)</m:t>
                                </m:r>
                              </m:oMath>
                            </m:oMathPara>
                          </a14:m>
                          <a:endParaRPr/>
                        </a:p>
                      </a:txBody>
                      <a:tcPr marL="64008" marR="45720" marT="18288" marB="18288" anchor="ctr"/>
                    </a:tc>
                    <a:tc>
                      <a:txBody>
                        <a:bodyPr/>
                        <a:lstStyle/>
                        <a:p>
                          <a:pPr algn="ctr">
                            <a:defRPr sz="1150" b="1">
                              <a:solidFill>
                                <a:srgbClr val="2C3932"/>
                              </a:solidFill>
                              <a:latin typeface="Neue Haas Grotesk Text Pro"/>
                            </a:defRPr>
                          </a:pPr>
                          <a:r>
                            <a:t>0.505</a:t>
                          </a:r>
                        </a:p>
                      </a:txBody>
                      <a:tcPr marL="64008" marR="45720" marT="18288" marB="18288" anchor="ctr"/>
                    </a:tc>
                    <a:tc>
                      <a:txBody>
                        <a:bodyPr/>
                        <a:lstStyle/>
                        <a:p>
                          <a:pPr algn="ctr">
                            <a:defRPr sz="1150" b="1">
                              <a:solidFill>
                                <a:srgbClr val="2C3932"/>
                              </a:solidFill>
                              <a:latin typeface="Neue Haas Grotesk Text Pro"/>
                            </a:defRPr>
                          </a:pPr>
                          <a:r>
                            <a:t>−63.2%</a:t>
                          </a:r>
                        </a:p>
                      </a:txBody>
                      <a:tcPr marL="64008" marR="45720" marT="18288" marB="18288" anchor="ctr"/>
                    </a:tc>
                    <a:tc>
                      <a:txBody>
                        <a:bodyPr/>
                        <a:lstStyle/>
                        <a:p>
                          <a:pPr algn="ctr">
                            <a:defRPr sz="1150" b="1">
                              <a:solidFill>
                                <a:srgbClr val="2C3932"/>
                              </a:solidFill>
                              <a:latin typeface="Neue Haas Grotesk Text Pro"/>
                            </a:defRPr>
                          </a:pPr>
                          <a:r>
                            <a:t>0.199</a:t>
                          </a:r>
                        </a:p>
                      </a:txBody>
                      <a:tcPr marL="64008" marR="45720" marT="18288" marB="18288" anchor="ctr"/>
                    </a:tc>
                    <a:tc>
                      <a:txBody>
                        <a:bodyPr/>
                        <a:lstStyle/>
                        <a:p>
                          <a:pPr algn="ctr">
                            <a:defRPr sz="1150" b="1">
                              <a:solidFill>
                                <a:srgbClr val="2C3932"/>
                              </a:solidFill>
                              <a:latin typeface="Neue Haas Grotesk Text Pro"/>
                            </a:defRPr>
                          </a:pPr>
                          <a:r>
                            <a:t>−63.4%</a:t>
                          </a:r>
                        </a:p>
                      </a:txBody>
                      <a:tcPr marL="64008" marR="45720" marT="18288" marB="18288" anchor="ctr"/>
                    </a:tc>
                    <a:tc>
                      <a:txBody>
                        <a:bodyPr/>
                        <a:lstStyle/>
                        <a:p>
                          <a:pPr algn="ctr">
                            <a:defRPr sz="1150" b="1">
                              <a:solidFill>
                                <a:srgbClr val="2C3932"/>
                              </a:solidFill>
                              <a:latin typeface="Neue Haas Grotesk Text Pro"/>
                            </a:defRPr>
                          </a:pPr>
                          <a:r>
                            <a:rPr dirty="0"/>
                            <a:t>10/10</a:t>
                          </a:r>
                        </a:p>
                      </a:txBody>
                      <a:tcPr marL="64008" marR="45720" marT="18288" marB="18288" anchor="ctr"/>
                    </a:tc>
                    <a:extLst>
                      <a:ext uri="{0D108BD9-81ED-4DB2-BD59-A6C34878D82A}">
                        <a16:rowId xmlns:a16="http://schemas.microsoft.com/office/drawing/2014/main" val="10007"/>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501783029"/>
                  </p:ext>
                </p:extLst>
              </p:nvPr>
            </p:nvGraphicFramePr>
            <p:xfrm>
              <a:off x="612648" y="1600200"/>
              <a:ext cx="10149840" cy="2491740"/>
            </p:xfrm>
            <a:graphic>
              <a:graphicData uri="http://schemas.openxmlformats.org/drawingml/2006/table">
                <a:tbl>
                  <a:tblPr firstRow="1">
                    <a:tableStyleId>{073A0DAA-6AF3-43AB-8588-CEC1D06C72B9}</a:tableStyleId>
                  </a:tblPr>
                  <a:tblGrid>
                    <a:gridCol w="2788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47472">
                    <a:tc>
                      <a:txBody>
                        <a:bodyPr/>
                        <a:lstStyle/>
                        <a:p>
                          <a:pPr>
                            <a:defRPr sz="1200" b="1">
                              <a:solidFill>
                                <a:srgbClr val="FFFFFF"/>
                              </a:solidFill>
                              <a:latin typeface="Neue Haas Grotesk Text Pro"/>
                            </a:defRPr>
                          </a:pPr>
                          <a:r>
                            <a:t>Arm</a:t>
                          </a:r>
                        </a:p>
                      </a:txBody>
                      <a:tcPr marL="64008" marR="45720" marT="18288" marB="18288" anchor="ctr"/>
                    </a:tc>
                    <a:tc>
                      <a:txBody>
                        <a:bodyPr/>
                        <a:lstStyle/>
                        <a:p>
                          <a:pPr algn="ctr">
                            <a:defRPr sz="1200" b="1">
                              <a:solidFill>
                                <a:srgbClr val="FFFFFF"/>
                              </a:solidFill>
                              <a:latin typeface="Neue Haas Grotesk Text Pro"/>
                            </a:defRPr>
                          </a:pPr>
                          <a:r>
                            <a:t>OOD RMSE</a:t>
                          </a:r>
                        </a:p>
                      </a:txBody>
                      <a:tcPr marL="64008" marR="45720" marT="18288" marB="18288" anchor="ctr"/>
                    </a:tc>
                    <a:tc>
                      <a:txBody>
                        <a:bodyPr/>
                        <a:lstStyle/>
                        <a:p>
                          <a:pPr algn="ctr">
                            <a:defRPr sz="1200" b="1">
                              <a:solidFill>
                                <a:srgbClr val="FFFFFF"/>
                              </a:solidFill>
                              <a:latin typeface="Neue Haas Grotesk Text Pro"/>
                            </a:defRPr>
                          </a:pPr>
                          <a:r>
                            <a:t>vs black box</a:t>
                          </a:r>
                        </a:p>
                      </a:txBody>
                      <a:tcPr marL="64008" marR="45720" marT="18288" marB="18288" anchor="ctr"/>
                    </a:tc>
                    <a:tc>
                      <a:txBody>
                        <a:bodyPr/>
                        <a:lstStyle/>
                        <a:p>
                          <a:pPr algn="ctr">
                            <a:defRPr sz="1200" b="1">
                              <a:solidFill>
                                <a:srgbClr val="FFFFFF"/>
                              </a:solidFill>
                              <a:latin typeface="Neue Haas Grotesk Text Pro"/>
                            </a:defRPr>
                          </a:pPr>
                          <a:r>
                            <a:t>√PEHE</a:t>
                          </a:r>
                        </a:p>
                      </a:txBody>
                      <a:tcPr marL="64008" marR="45720" marT="18288" marB="18288" anchor="ctr"/>
                    </a:tc>
                    <a:tc>
                      <a:txBody>
                        <a:bodyPr/>
                        <a:lstStyle/>
                        <a:p>
                          <a:pPr algn="ctr">
                            <a:defRPr sz="1200" b="1">
                              <a:solidFill>
                                <a:srgbClr val="FFFFFF"/>
                              </a:solidFill>
                              <a:latin typeface="Neue Haas Grotesk Text Pro"/>
                            </a:defRPr>
                          </a:pPr>
                          <a:r>
                            <a:t>vs black box</a:t>
                          </a:r>
                        </a:p>
                      </a:txBody>
                      <a:tcPr marL="64008" marR="45720" marT="18288" marB="18288" anchor="ctr"/>
                    </a:tc>
                    <a:tc>
                      <a:txBody>
                        <a:bodyPr/>
                        <a:lstStyle/>
                        <a:p>
                          <a:pPr algn="ctr">
                            <a:defRPr sz="1200" b="1">
                              <a:solidFill>
                                <a:srgbClr val="FFFFFF"/>
                              </a:solidFill>
                              <a:latin typeface="Neue Haas Grotesk Text Pro"/>
                            </a:defRPr>
                          </a:pPr>
                          <a:r>
                            <a:t>wins</a:t>
                          </a:r>
                        </a:p>
                      </a:txBody>
                      <a:tcPr marL="64008" marR="45720" marT="18288" marB="18288" anchor="ctr"/>
                    </a:tc>
                    <a:extLst>
                      <a:ext uri="{0D108BD9-81ED-4DB2-BD59-A6C34878D82A}">
                        <a16:rowId xmlns:a16="http://schemas.microsoft.com/office/drawing/2014/main" val="10000"/>
                      </a:ext>
                    </a:extLst>
                  </a:tr>
                  <a:tr h="306324">
                    <a:tc>
                      <a:txBody>
                        <a:bodyPr/>
                        <a:lstStyle/>
                        <a:p>
                          <a:endParaRPr lang="en-US"/>
                        </a:p>
                      </a:txBody>
                      <a:tcPr marL="64008" marR="45720" marT="18288" marB="18288" anchor="ctr">
                        <a:blipFill>
                          <a:blip r:embed="rId2"/>
                          <a:stretch>
                            <a:fillRect l="-218" t="-113725" r="-264629" b="-600000"/>
                          </a:stretch>
                        </a:blipFill>
                      </a:tcPr>
                    </a:tc>
                    <a:tc>
                      <a:txBody>
                        <a:bodyPr/>
                        <a:lstStyle/>
                        <a:p>
                          <a:pPr algn="ctr">
                            <a:defRPr sz="1150" b="0">
                              <a:solidFill>
                                <a:srgbClr val="2C3932"/>
                              </a:solidFill>
                              <a:latin typeface="Neue Haas Grotesk Text Pro"/>
                            </a:defRPr>
                          </a:pPr>
                          <a:r>
                            <a:t>1.371</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tc>
                      <a:txBody>
                        <a:bodyPr/>
                        <a:lstStyle/>
                        <a:p>
                          <a:pPr algn="ctr">
                            <a:defRPr sz="1150" b="0">
                              <a:solidFill>
                                <a:srgbClr val="2C3932"/>
                              </a:solidFill>
                              <a:latin typeface="Neue Haas Grotesk Text Pro"/>
                            </a:defRPr>
                          </a:pPr>
                          <a:r>
                            <a:t>0.544</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1"/>
                      </a:ext>
                    </a:extLst>
                  </a:tr>
                  <a:tr h="306324">
                    <a:tc>
                      <a:txBody>
                        <a:bodyPr/>
                        <a:lstStyle/>
                        <a:p>
                          <a:endParaRPr lang="en-US"/>
                        </a:p>
                      </a:txBody>
                      <a:tcPr marL="64008" marR="45720" marT="18288" marB="18288" anchor="ctr">
                        <a:blipFill>
                          <a:blip r:embed="rId2"/>
                          <a:stretch>
                            <a:fillRect l="-218" t="-218000" r="-264629" b="-512000"/>
                          </a:stretch>
                        </a:blipFill>
                      </a:tcPr>
                    </a:tc>
                    <a:tc>
                      <a:txBody>
                        <a:bodyPr/>
                        <a:lstStyle/>
                        <a:p>
                          <a:pPr algn="ctr">
                            <a:defRPr sz="1150" b="0">
                              <a:solidFill>
                                <a:srgbClr val="2C3932"/>
                              </a:solidFill>
                              <a:latin typeface="Neue Haas Grotesk Text Pro"/>
                            </a:defRPr>
                          </a:pPr>
                          <a:r>
                            <a:t>1.335</a:t>
                          </a:r>
                        </a:p>
                      </a:txBody>
                      <a:tcPr marL="64008" marR="45720" marT="18288" marB="18288" anchor="ctr"/>
                    </a:tc>
                    <a:tc>
                      <a:txBody>
                        <a:bodyPr/>
                        <a:lstStyle/>
                        <a:p>
                          <a:pPr algn="ctr">
                            <a:defRPr sz="1150" b="0">
                              <a:solidFill>
                                <a:srgbClr val="2C3932"/>
                              </a:solidFill>
                              <a:latin typeface="Neue Haas Grotesk Text Pro"/>
                            </a:defRPr>
                          </a:pPr>
                          <a:r>
                            <a:t>−2.6%</a:t>
                          </a:r>
                        </a:p>
                      </a:txBody>
                      <a:tcPr marL="64008" marR="45720" marT="18288" marB="18288" anchor="ctr"/>
                    </a:tc>
                    <a:tc>
                      <a:txBody>
                        <a:bodyPr/>
                        <a:lstStyle/>
                        <a:p>
                          <a:pPr algn="ctr">
                            <a:defRPr sz="1150" b="0">
                              <a:solidFill>
                                <a:srgbClr val="2C3932"/>
                              </a:solidFill>
                              <a:latin typeface="Neue Haas Grotesk Text Pro"/>
                            </a:defRPr>
                          </a:pPr>
                          <a:r>
                            <a:t>0.516</a:t>
                          </a:r>
                        </a:p>
                      </a:txBody>
                      <a:tcPr marL="64008" marR="45720" marT="18288" marB="18288" anchor="ctr"/>
                    </a:tc>
                    <a:tc>
                      <a:txBody>
                        <a:bodyPr/>
                        <a:lstStyle/>
                        <a:p>
                          <a:pPr algn="ctr">
                            <a:defRPr sz="1150" b="0">
                              <a:solidFill>
                                <a:srgbClr val="2C3932"/>
                              </a:solidFill>
                              <a:latin typeface="Neue Haas Grotesk Text Pro"/>
                            </a:defRPr>
                          </a:pPr>
                          <a:r>
                            <a:t>−5.1%</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2"/>
                      </a:ext>
                    </a:extLst>
                  </a:tr>
                  <a:tr h="306324">
                    <a:tc>
                      <a:txBody>
                        <a:bodyPr/>
                        <a:lstStyle/>
                        <a:p>
                          <a:endParaRPr lang="en-US"/>
                        </a:p>
                      </a:txBody>
                      <a:tcPr marL="64008" marR="45720" marT="18288" marB="18288" anchor="ctr">
                        <a:blipFill>
                          <a:blip r:embed="rId2"/>
                          <a:stretch>
                            <a:fillRect l="-218" t="-318000" r="-264629" b="-412000"/>
                          </a:stretch>
                        </a:blipFill>
                      </a:tcPr>
                    </a:tc>
                    <a:tc>
                      <a:txBody>
                        <a:bodyPr/>
                        <a:lstStyle/>
                        <a:p>
                          <a:pPr algn="ctr">
                            <a:defRPr sz="1150" b="0">
                              <a:solidFill>
                                <a:srgbClr val="2C3932"/>
                              </a:solidFill>
                              <a:latin typeface="Neue Haas Grotesk Text Pro"/>
                            </a:defRPr>
                          </a:pPr>
                          <a:r>
                            <a:t>1.459</a:t>
                          </a:r>
                        </a:p>
                      </a:txBody>
                      <a:tcPr marL="64008" marR="45720" marT="18288" marB="18288" anchor="ctr"/>
                    </a:tc>
                    <a:tc>
                      <a:txBody>
                        <a:bodyPr/>
                        <a:lstStyle/>
                        <a:p>
                          <a:pPr algn="ctr">
                            <a:defRPr sz="1150" b="0">
                              <a:solidFill>
                                <a:srgbClr val="2C3932"/>
                              </a:solidFill>
                              <a:latin typeface="Neue Haas Grotesk Text Pro"/>
                            </a:defRPr>
                          </a:pPr>
                          <a:r>
                            <a:t>+6.5%</a:t>
                          </a:r>
                        </a:p>
                      </a:txBody>
                      <a:tcPr marL="64008" marR="45720" marT="18288" marB="18288" anchor="ctr"/>
                    </a:tc>
                    <a:tc>
                      <a:txBody>
                        <a:bodyPr/>
                        <a:lstStyle/>
                        <a:p>
                          <a:pPr algn="ctr">
                            <a:defRPr sz="1150" b="0">
                              <a:solidFill>
                                <a:srgbClr val="2C3932"/>
                              </a:solidFill>
                              <a:latin typeface="Neue Haas Grotesk Text Pro"/>
                            </a:defRPr>
                          </a:pPr>
                          <a:r>
                            <a:t>0.580</a:t>
                          </a:r>
                        </a:p>
                      </a:txBody>
                      <a:tcPr marL="64008" marR="45720" marT="18288" marB="18288" anchor="ctr"/>
                    </a:tc>
                    <a:tc>
                      <a:txBody>
                        <a:bodyPr/>
                        <a:lstStyle/>
                        <a:p>
                          <a:pPr algn="ctr">
                            <a:defRPr sz="1150" b="0">
                              <a:solidFill>
                                <a:srgbClr val="2C3932"/>
                              </a:solidFill>
                              <a:latin typeface="Neue Haas Grotesk Text Pro"/>
                            </a:defRPr>
                          </a:pPr>
                          <a:r>
                            <a:t>+6.7%</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3"/>
                      </a:ext>
                    </a:extLst>
                  </a:tr>
                  <a:tr h="306324">
                    <a:tc>
                      <a:txBody>
                        <a:bodyPr/>
                        <a:lstStyle/>
                        <a:p>
                          <a:endParaRPr lang="en-US"/>
                        </a:p>
                      </a:txBody>
                      <a:tcPr marL="64008" marR="45720" marT="18288" marB="18288" anchor="ctr">
                        <a:blipFill>
                          <a:blip r:embed="rId2"/>
                          <a:stretch>
                            <a:fillRect l="-218" t="-409804" r="-264629" b="-303922"/>
                          </a:stretch>
                        </a:blipFill>
                      </a:tcPr>
                    </a:tc>
                    <a:tc>
                      <a:txBody>
                        <a:bodyPr/>
                        <a:lstStyle/>
                        <a:p>
                          <a:pPr algn="ctr">
                            <a:defRPr sz="1150" b="0">
                              <a:solidFill>
                                <a:srgbClr val="2C3932"/>
                              </a:solidFill>
                              <a:latin typeface="Neue Haas Grotesk Text Pro"/>
                            </a:defRPr>
                          </a:pPr>
                          <a:r>
                            <a:t>1.273</a:t>
                          </a:r>
                        </a:p>
                      </a:txBody>
                      <a:tcPr marL="64008" marR="45720" marT="18288" marB="18288" anchor="ctr"/>
                    </a:tc>
                    <a:tc>
                      <a:txBody>
                        <a:bodyPr/>
                        <a:lstStyle/>
                        <a:p>
                          <a:pPr algn="ctr">
                            <a:defRPr sz="1150" b="0">
                              <a:solidFill>
                                <a:srgbClr val="2C3932"/>
                              </a:solidFill>
                              <a:latin typeface="Neue Haas Grotesk Text Pro"/>
                            </a:defRPr>
                          </a:pPr>
                          <a:r>
                            <a:t>−7.1%</a:t>
                          </a:r>
                        </a:p>
                      </a:txBody>
                      <a:tcPr marL="64008" marR="45720" marT="18288" marB="18288" anchor="ctr"/>
                    </a:tc>
                    <a:tc>
                      <a:txBody>
                        <a:bodyPr/>
                        <a:lstStyle/>
                        <a:p>
                          <a:pPr algn="ctr">
                            <a:defRPr sz="1150" b="0">
                              <a:solidFill>
                                <a:srgbClr val="2C3932"/>
                              </a:solidFill>
                              <a:latin typeface="Neue Haas Grotesk Text Pro"/>
                            </a:defRPr>
                          </a:pPr>
                          <a:r>
                            <a:t>0.483</a:t>
                          </a:r>
                        </a:p>
                      </a:txBody>
                      <a:tcPr marL="64008" marR="45720" marT="18288" marB="18288" anchor="ctr"/>
                    </a:tc>
                    <a:tc>
                      <a:txBody>
                        <a:bodyPr/>
                        <a:lstStyle/>
                        <a:p>
                          <a:pPr algn="ctr">
                            <a:defRPr sz="1150" b="0">
                              <a:solidFill>
                                <a:srgbClr val="2C3932"/>
                              </a:solidFill>
                              <a:latin typeface="Neue Haas Grotesk Text Pro"/>
                            </a:defRPr>
                          </a:pPr>
                          <a:r>
                            <a:t>−11.1%</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4"/>
                      </a:ext>
                    </a:extLst>
                  </a:tr>
                  <a:tr h="306324">
                    <a:tc>
                      <a:txBody>
                        <a:bodyPr/>
                        <a:lstStyle/>
                        <a:p>
                          <a:endParaRPr lang="en-US"/>
                        </a:p>
                      </a:txBody>
                      <a:tcPr marL="64008" marR="45720" marT="18288" marB="18288" anchor="ctr">
                        <a:blipFill>
                          <a:blip r:embed="rId2"/>
                          <a:stretch>
                            <a:fillRect l="-218" t="-520000" r="-264629" b="-210000"/>
                          </a:stretch>
                        </a:blipFill>
                      </a:tcPr>
                    </a:tc>
                    <a:tc>
                      <a:txBody>
                        <a:bodyPr/>
                        <a:lstStyle/>
                        <a:p>
                          <a:pPr algn="ctr">
                            <a:defRPr sz="1150" b="0">
                              <a:solidFill>
                                <a:srgbClr val="2C3932"/>
                              </a:solidFill>
                              <a:latin typeface="Neue Haas Grotesk Text Pro"/>
                            </a:defRPr>
                          </a:pPr>
                          <a:r>
                            <a:t>1.508</a:t>
                          </a:r>
                        </a:p>
                      </a:txBody>
                      <a:tcPr marL="64008" marR="45720" marT="18288" marB="18288" anchor="ctr"/>
                    </a:tc>
                    <a:tc>
                      <a:txBody>
                        <a:bodyPr/>
                        <a:lstStyle/>
                        <a:p>
                          <a:pPr algn="ctr">
                            <a:defRPr sz="1150" b="0">
                              <a:solidFill>
                                <a:srgbClr val="2C3932"/>
                              </a:solidFill>
                              <a:latin typeface="Neue Haas Grotesk Text Pro"/>
                            </a:defRPr>
                          </a:pPr>
                          <a:r>
                            <a:t>+10.0%</a:t>
                          </a:r>
                        </a:p>
                      </a:txBody>
                      <a:tcPr marL="64008" marR="45720" marT="18288" marB="18288" anchor="ctr"/>
                    </a:tc>
                    <a:tc>
                      <a:txBody>
                        <a:bodyPr/>
                        <a:lstStyle/>
                        <a:p>
                          <a:pPr algn="ctr">
                            <a:defRPr sz="1150" b="0">
                              <a:solidFill>
                                <a:srgbClr val="2C3932"/>
                              </a:solidFill>
                              <a:latin typeface="Neue Haas Grotesk Text Pro"/>
                            </a:defRPr>
                          </a:pPr>
                          <a:r>
                            <a:t>0.593</a:t>
                          </a:r>
                        </a:p>
                      </a:txBody>
                      <a:tcPr marL="64008" marR="45720" marT="18288" marB="18288" anchor="ctr"/>
                    </a:tc>
                    <a:tc>
                      <a:txBody>
                        <a:bodyPr/>
                        <a:lstStyle/>
                        <a:p>
                          <a:pPr algn="ctr">
                            <a:defRPr sz="1150" b="0">
                              <a:solidFill>
                                <a:srgbClr val="2C3932"/>
                              </a:solidFill>
                              <a:latin typeface="Neue Haas Grotesk Text Pro"/>
                            </a:defRPr>
                          </a:pPr>
                          <a:r>
                            <a:t>+9.0%</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5"/>
                      </a:ext>
                    </a:extLst>
                  </a:tr>
                  <a:tr h="306324">
                    <a:tc>
                      <a:txBody>
                        <a:bodyPr/>
                        <a:lstStyle/>
                        <a:p>
                          <a:endParaRPr lang="en-US"/>
                        </a:p>
                      </a:txBody>
                      <a:tcPr marL="64008" marR="45720" marT="18288" marB="18288" anchor="ctr">
                        <a:blipFill>
                          <a:blip r:embed="rId2"/>
                          <a:stretch>
                            <a:fillRect l="-218" t="-607843" r="-264629" b="-105882"/>
                          </a:stretch>
                        </a:blipFill>
                      </a:tcPr>
                    </a:tc>
                    <a:tc>
                      <a:txBody>
                        <a:bodyPr/>
                        <a:lstStyle/>
                        <a:p>
                          <a:pPr algn="ctr">
                            <a:defRPr sz="1150" b="0">
                              <a:solidFill>
                                <a:srgbClr val="2C3932"/>
                              </a:solidFill>
                              <a:latin typeface="Neue Haas Grotesk Text Pro"/>
                            </a:defRPr>
                          </a:pPr>
                          <a:r>
                            <a:t>1.245</a:t>
                          </a:r>
                        </a:p>
                      </a:txBody>
                      <a:tcPr marL="64008" marR="45720" marT="18288" marB="18288" anchor="ctr"/>
                    </a:tc>
                    <a:tc>
                      <a:txBody>
                        <a:bodyPr/>
                        <a:lstStyle/>
                        <a:p>
                          <a:pPr algn="ctr">
                            <a:defRPr sz="1150" b="0">
                              <a:solidFill>
                                <a:srgbClr val="2C3932"/>
                              </a:solidFill>
                              <a:latin typeface="Neue Haas Grotesk Text Pro"/>
                            </a:defRPr>
                          </a:pPr>
                          <a:r>
                            <a:t>−9.2%</a:t>
                          </a:r>
                        </a:p>
                      </a:txBody>
                      <a:tcPr marL="64008" marR="45720" marT="18288" marB="18288" anchor="ctr"/>
                    </a:tc>
                    <a:tc>
                      <a:txBody>
                        <a:bodyPr/>
                        <a:lstStyle/>
                        <a:p>
                          <a:pPr algn="ctr">
                            <a:defRPr sz="1150" b="0">
                              <a:solidFill>
                                <a:srgbClr val="2C3932"/>
                              </a:solidFill>
                              <a:latin typeface="Neue Haas Grotesk Text Pro"/>
                            </a:defRPr>
                          </a:pPr>
                          <a:r>
                            <a:t>0.466</a:t>
                          </a:r>
                        </a:p>
                      </a:txBody>
                      <a:tcPr marL="64008" marR="45720" marT="18288" marB="18288" anchor="ctr"/>
                    </a:tc>
                    <a:tc>
                      <a:txBody>
                        <a:bodyPr/>
                        <a:lstStyle/>
                        <a:p>
                          <a:pPr algn="ctr">
                            <a:defRPr sz="1150" b="0">
                              <a:solidFill>
                                <a:srgbClr val="2C3932"/>
                              </a:solidFill>
                              <a:latin typeface="Neue Haas Grotesk Text Pro"/>
                            </a:defRPr>
                          </a:pPr>
                          <a:r>
                            <a:t>−14.3%</a:t>
                          </a:r>
                        </a:p>
                      </a:txBody>
                      <a:tcPr marL="64008" marR="45720" marT="18288" marB="18288" anchor="ctr"/>
                    </a:tc>
                    <a:tc>
                      <a:txBody>
                        <a:bodyPr/>
                        <a:lstStyle/>
                        <a:p>
                          <a:pPr algn="ctr">
                            <a:defRPr sz="1150" b="0">
                              <a:solidFill>
                                <a:srgbClr val="2C3932"/>
                              </a:solidFill>
                              <a:latin typeface="Neue Haas Grotesk Text Pro"/>
                            </a:defRPr>
                          </a:pPr>
                          <a:r>
                            <a:t>—</a:t>
                          </a:r>
                        </a:p>
                      </a:txBody>
                      <a:tcPr marL="64008" marR="45720" marT="18288" marB="18288" anchor="ctr"/>
                    </a:tc>
                    <a:extLst>
                      <a:ext uri="{0D108BD9-81ED-4DB2-BD59-A6C34878D82A}">
                        <a16:rowId xmlns:a16="http://schemas.microsoft.com/office/drawing/2014/main" val="10006"/>
                      </a:ext>
                    </a:extLst>
                  </a:tr>
                  <a:tr h="306324">
                    <a:tc>
                      <a:txBody>
                        <a:bodyPr/>
                        <a:lstStyle/>
                        <a:p>
                          <a:endParaRPr lang="en-US"/>
                        </a:p>
                      </a:txBody>
                      <a:tcPr marL="64008" marR="45720" marT="18288" marB="18288" anchor="ctr">
                        <a:blipFill>
                          <a:blip r:embed="rId2"/>
                          <a:stretch>
                            <a:fillRect l="-218" t="-722000" r="-264629" b="-8000"/>
                          </a:stretch>
                        </a:blipFill>
                      </a:tcPr>
                    </a:tc>
                    <a:tc>
                      <a:txBody>
                        <a:bodyPr/>
                        <a:lstStyle/>
                        <a:p>
                          <a:pPr algn="ctr">
                            <a:defRPr sz="1150" b="1">
                              <a:solidFill>
                                <a:srgbClr val="2C3932"/>
                              </a:solidFill>
                              <a:latin typeface="Neue Haas Grotesk Text Pro"/>
                            </a:defRPr>
                          </a:pPr>
                          <a:r>
                            <a:t>0.505</a:t>
                          </a:r>
                        </a:p>
                      </a:txBody>
                      <a:tcPr marL="64008" marR="45720" marT="18288" marB="18288" anchor="ctr"/>
                    </a:tc>
                    <a:tc>
                      <a:txBody>
                        <a:bodyPr/>
                        <a:lstStyle/>
                        <a:p>
                          <a:pPr algn="ctr">
                            <a:defRPr sz="1150" b="1">
                              <a:solidFill>
                                <a:srgbClr val="2C3932"/>
                              </a:solidFill>
                              <a:latin typeface="Neue Haas Grotesk Text Pro"/>
                            </a:defRPr>
                          </a:pPr>
                          <a:r>
                            <a:t>−63.2%</a:t>
                          </a:r>
                        </a:p>
                      </a:txBody>
                      <a:tcPr marL="64008" marR="45720" marT="18288" marB="18288" anchor="ctr"/>
                    </a:tc>
                    <a:tc>
                      <a:txBody>
                        <a:bodyPr/>
                        <a:lstStyle/>
                        <a:p>
                          <a:pPr algn="ctr">
                            <a:defRPr sz="1150" b="1">
                              <a:solidFill>
                                <a:srgbClr val="2C3932"/>
                              </a:solidFill>
                              <a:latin typeface="Neue Haas Grotesk Text Pro"/>
                            </a:defRPr>
                          </a:pPr>
                          <a:r>
                            <a:t>0.199</a:t>
                          </a:r>
                        </a:p>
                      </a:txBody>
                      <a:tcPr marL="64008" marR="45720" marT="18288" marB="18288" anchor="ctr"/>
                    </a:tc>
                    <a:tc>
                      <a:txBody>
                        <a:bodyPr/>
                        <a:lstStyle/>
                        <a:p>
                          <a:pPr algn="ctr">
                            <a:defRPr sz="1150" b="1">
                              <a:solidFill>
                                <a:srgbClr val="2C3932"/>
                              </a:solidFill>
                              <a:latin typeface="Neue Haas Grotesk Text Pro"/>
                            </a:defRPr>
                          </a:pPr>
                          <a:r>
                            <a:t>−63.4%</a:t>
                          </a:r>
                        </a:p>
                      </a:txBody>
                      <a:tcPr marL="64008" marR="45720" marT="18288" marB="18288" anchor="ctr"/>
                    </a:tc>
                    <a:tc>
                      <a:txBody>
                        <a:bodyPr/>
                        <a:lstStyle/>
                        <a:p>
                          <a:pPr algn="ctr">
                            <a:defRPr sz="1150" b="1">
                              <a:solidFill>
                                <a:srgbClr val="2C3932"/>
                              </a:solidFill>
                              <a:latin typeface="Neue Haas Grotesk Text Pro"/>
                            </a:defRPr>
                          </a:pPr>
                          <a:r>
                            <a:rPr dirty="0"/>
                            <a:t>10/10</a:t>
                          </a:r>
                        </a:p>
                      </a:txBody>
                      <a:tcPr marL="64008" marR="45720" marT="18288" marB="18288" anchor="ctr"/>
                    </a:tc>
                    <a:extLst>
                      <a:ext uri="{0D108BD9-81ED-4DB2-BD59-A6C34878D82A}">
                        <a16:rowId xmlns:a16="http://schemas.microsoft.com/office/drawing/2014/main" val="10007"/>
                      </a:ext>
                    </a:extLst>
                  </a:tr>
                </a:tbl>
              </a:graphicData>
            </a:graphic>
          </p:graphicFrame>
        </mc:Fallback>
      </mc:AlternateContent>
      <p:sp>
        <p:nvSpPr>
          <p:cNvPr id="5" name="Rounded Rectangle 4"/>
          <p:cNvSpPr/>
          <p:nvPr/>
        </p:nvSpPr>
        <p:spPr>
          <a:xfrm>
            <a:off x="612648" y="4434840"/>
            <a:ext cx="3246120" cy="1600200"/>
          </a:xfrm>
          <a:prstGeom prst="roundRect">
            <a:avLst/>
          </a:prstGeom>
          <a:solidFill>
            <a:srgbClr val="E9F4EF"/>
          </a:solidFill>
          <a:ln w="15875">
            <a:solidFill>
              <a:srgbClr val="3D9072"/>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dirty="0"/>
              <a:t>Structure is worth 63%</a:t>
            </a:r>
          </a:p>
          <a:p>
            <a:pPr algn="ctr">
              <a:spcAft>
                <a:spcPts val="100"/>
              </a:spcAft>
              <a:defRPr sz="1050">
                <a:solidFill>
                  <a:srgbClr val="666E6A"/>
                </a:solidFill>
                <a:latin typeface="Neue Haas Grotesk Text Pro"/>
              </a:defRPr>
            </a:pPr>
            <a:r>
              <a:rPr dirty="0"/>
              <a:t>The true graph cuts OOD error by 63.2%,</a:t>
            </a:r>
          </a:p>
          <a:p>
            <a:pPr algn="ctr">
              <a:spcAft>
                <a:spcPts val="100"/>
              </a:spcAft>
              <a:defRPr sz="1050">
                <a:solidFill>
                  <a:srgbClr val="666E6A"/>
                </a:solidFill>
                <a:latin typeface="Neue Haas Grotesk Text Pro"/>
              </a:defRPr>
            </a:pPr>
            <a:r>
              <a:rPr dirty="0"/>
              <a:t>10/10 seeds.</a:t>
            </a:r>
          </a:p>
          <a:p>
            <a:pPr algn="ctr">
              <a:spcAft>
                <a:spcPts val="100"/>
              </a:spcAft>
              <a:defRPr sz="1050">
                <a:solidFill>
                  <a:srgbClr val="666E6A"/>
                </a:solidFill>
                <a:latin typeface="Neue Haas Grotesk Text Pro"/>
              </a:defRPr>
            </a:pPr>
            <a:r>
              <a:rPr dirty="0"/>
              <a:t>In the v1 world the same comparison was</a:t>
            </a:r>
          </a:p>
          <a:p>
            <a:pPr algn="ctr">
              <a:spcAft>
                <a:spcPts val="100"/>
              </a:spcAft>
              <a:defRPr sz="1050">
                <a:solidFill>
                  <a:srgbClr val="666E6A"/>
                </a:solidFill>
                <a:latin typeface="Neue Haas Grotesk Text Pro"/>
              </a:defRPr>
            </a:pPr>
            <a:r>
              <a:rPr dirty="0"/>
              <a:t>p = 0.75 — there was nothing to win.</a:t>
            </a:r>
          </a:p>
        </p:txBody>
      </p:sp>
      <p:sp>
        <p:nvSpPr>
          <p:cNvPr id="6" name="Rounded Rectangle 5"/>
          <p:cNvSpPr/>
          <p:nvPr/>
        </p:nvSpPr>
        <p:spPr>
          <a:xfrm>
            <a:off x="4069080" y="4434840"/>
            <a:ext cx="3246120" cy="1600200"/>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t>A general prior is worth 2.6%</a:t>
            </a:r>
          </a:p>
          <a:p>
            <a:pPr algn="ctr">
              <a:spcAft>
                <a:spcPts val="100"/>
              </a:spcAft>
              <a:defRPr sz="1050">
                <a:solidFill>
                  <a:srgbClr val="666E6A"/>
                </a:solidFill>
                <a:latin typeface="Neue Haas Grotesk Text Pro"/>
              </a:defRPr>
            </a:pPr>
            <a:r>
              <a:t>A 5-model ensemble is the strongest</a:t>
            </a:r>
          </a:p>
          <a:p>
            <a:pPr algn="ctr">
              <a:spcAft>
                <a:spcPts val="100"/>
              </a:spcAft>
              <a:defRPr sz="1050">
                <a:solidFill>
                  <a:srgbClr val="666E6A"/>
                </a:solidFill>
                <a:latin typeface="Neue Haas Grotesk Text Pro"/>
              </a:defRPr>
            </a:pPr>
            <a:r>
              <a:t>robustness prior available without causal</a:t>
            </a:r>
          </a:p>
          <a:p>
            <a:pPr algn="ctr">
              <a:spcAft>
                <a:spcPts val="100"/>
              </a:spcAft>
              <a:defRPr sz="1050">
                <a:solidFill>
                  <a:srgbClr val="666E6A"/>
                </a:solidFill>
                <a:latin typeface="Neue Haas Grotesk Text Pro"/>
              </a:defRPr>
            </a:pPr>
            <a:r>
              <a:t>knowledge. It recovers 1/24 of what</a:t>
            </a:r>
          </a:p>
          <a:p>
            <a:pPr algn="ctr">
              <a:spcAft>
                <a:spcPts val="100"/>
              </a:spcAft>
              <a:defRPr sz="1050">
                <a:solidFill>
                  <a:srgbClr val="666E6A"/>
                </a:solidFill>
                <a:latin typeface="Neue Haas Grotesk Text Pro"/>
              </a:defRPr>
            </a:pPr>
            <a:r>
              <a:t>structure recovers.</a:t>
            </a:r>
          </a:p>
        </p:txBody>
      </p:sp>
      <p:sp>
        <p:nvSpPr>
          <p:cNvPr id="7" name="Rounded Rectangle 6"/>
          <p:cNvSpPr/>
          <p:nvPr/>
        </p:nvSpPr>
        <p:spPr>
          <a:xfrm>
            <a:off x="7516368" y="4434840"/>
            <a:ext cx="3246120" cy="1600200"/>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t>The gain is the mask</a:t>
            </a:r>
          </a:p>
          <a:p>
            <a:pPr algn="ctr">
              <a:spcAft>
                <a:spcPts val="100"/>
              </a:spcAft>
              <a:defRPr sz="1050">
                <a:solidFill>
                  <a:srgbClr val="666E6A"/>
                </a:solidFill>
                <a:latin typeface="Neue Haas Grotesk Text Pro"/>
              </a:defRPr>
            </a:pPr>
            <a:r>
              <a:t>per_node_full and oracle_graph are the</a:t>
            </a:r>
          </a:p>
          <a:p>
            <a:pPr algn="ctr">
              <a:spcAft>
                <a:spcPts val="100"/>
              </a:spcAft>
              <a:defRPr sz="1050">
                <a:solidFill>
                  <a:srgbClr val="666E6A"/>
                </a:solidFill>
                <a:latin typeface="Neue Haas Grotesk Text Pro"/>
              </a:defRPr>
            </a:pPr>
            <a:r>
              <a:t>SAME architecture and differ only in the</a:t>
            </a:r>
          </a:p>
          <a:p>
            <a:pPr algn="ctr">
              <a:spcAft>
                <a:spcPts val="100"/>
              </a:spcAft>
              <a:defRPr sz="1050">
                <a:solidFill>
                  <a:srgbClr val="666E6A"/>
                </a:solidFill>
                <a:latin typeface="Neue Haas Grotesk Text Pro"/>
              </a:defRPr>
            </a:pPr>
            <a:r>
              <a:t>mask. Splitting into heads alone is 6.5%</a:t>
            </a:r>
          </a:p>
          <a:p>
            <a:pPr algn="ctr">
              <a:spcAft>
                <a:spcPts val="100"/>
              </a:spcAft>
              <a:defRPr sz="1050">
                <a:solidFill>
                  <a:srgbClr val="666E6A"/>
                </a:solidFill>
                <a:latin typeface="Neue Haas Grotesk Text Pro"/>
              </a:defRPr>
            </a:pPr>
            <a:r>
              <a:t>WORSE than the black box.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Results: the learned gate does not beat a wrong graph</a:t>
            </a:r>
          </a:p>
        </p:txBody>
      </p:sp>
      <p:sp>
        <p:nvSpPr>
          <p:cNvPr id="3" name="TextBox 2"/>
          <p:cNvSpPr txBox="1"/>
          <p:nvPr/>
        </p:nvSpPr>
        <p:spPr>
          <a:xfrm>
            <a:off x="612648" y="1188720"/>
            <a:ext cx="10881360" cy="347472"/>
          </a:xfrm>
          <a:prstGeom prst="rect">
            <a:avLst/>
          </a:prstGeom>
          <a:noFill/>
        </p:spPr>
        <p:txBody>
          <a:bodyPr wrap="square" lIns="0">
            <a:spAutoFit/>
          </a:bodyPr>
          <a:lstStyle/>
          <a:p>
            <a:pPr>
              <a:defRPr sz="1300" i="1">
                <a:solidFill>
                  <a:srgbClr val="666E6A"/>
                </a:solidFill>
                <a:latin typeface="Neue Haas Grotesk Text Pro"/>
              </a:defRPr>
            </a:pPr>
            <a:r>
              <a:t>three independent metrics, same verdict</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108909427"/>
                  </p:ext>
                </p:extLst>
              </p:nvPr>
            </p:nvGraphicFramePr>
            <p:xfrm>
              <a:off x="612648" y="1627632"/>
              <a:ext cx="10149840" cy="2185416"/>
            </p:xfrm>
            <a:graphic>
              <a:graphicData uri="http://schemas.openxmlformats.org/drawingml/2006/table">
                <a:tbl>
                  <a:tblPr firstRow="1">
                    <a:tableStyleId>{5C22544A-7EE6-4342-B048-85BDC9FD1C3A}</a:tableStyleId>
                  </a:tblPr>
                  <a:tblGrid>
                    <a:gridCol w="37033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347472">
                    <a:tc>
                      <a:txBody>
                        <a:bodyPr/>
                        <a:lstStyle/>
                        <a:p>
                          <a:pPr>
                            <a:defRPr sz="1200" b="1">
                              <a:solidFill>
                                <a:srgbClr val="FFFFFF"/>
                              </a:solidFill>
                              <a:latin typeface="Neue Haas Grotesk Text Pro"/>
                            </a:defRPr>
                          </a:pPr>
                          <a:r>
                            <a:t>Comparison</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learned</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control</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change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p (paired t)</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wins</a:t>
                          </a:r>
                        </a:p>
                      </a:txBody>
                      <a:tcPr marL="64008" marR="45720" marT="18288" marB="18288" anchor="ctr">
                        <a:solidFill>
                          <a:srgbClr val="169C9A"/>
                        </a:solidFill>
                      </a:tcPr>
                    </a:tc>
                    <a:extLst>
                      <a:ext uri="{0D108BD9-81ED-4DB2-BD59-A6C34878D82A}">
                        <a16:rowId xmlns:a16="http://schemas.microsoft.com/office/drawing/2014/main" val="10000"/>
                      </a:ext>
                    </a:extLst>
                  </a:tr>
                  <a:tr h="306324">
                    <a:tc>
                      <a:txBody>
                        <a:bodyPr/>
                        <a:lstStyle/>
                        <a:p>
                          <a:pPr>
                            <a:defRPr sz="1150" b="0">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𝑣𝑠</m:t>
                                </m:r>
                                <m:r>
                                  <a:rPr lang="en-US" i="1" smtClean="0">
                                    <a:latin typeface="Cambria Math" panose="02040503050406030204" pitchFamily="18" charset="0"/>
                                  </a:rPr>
                                  <m:t> </m:t>
                                </m:r>
                                <m:r>
                                  <a:rPr lang="en-US" i="1" smtClean="0">
                                    <a:latin typeface="Cambria Math" panose="02040503050406030204" pitchFamily="18" charset="0"/>
                                  </a:rPr>
                                  <m:t>𝑟𝑎𝑛𝑑𝑜𝑚</m:t>
                                </m:r>
                                <m:r>
                                  <a:rPr lang="en-US" i="1" smtClean="0">
                                    <a:latin typeface="Cambria Math" panose="02040503050406030204" pitchFamily="18" charset="0"/>
                                  </a:rPr>
                                  <m:t>_</m:t>
                                </m:r>
                                <m:r>
                                  <a:rPr lang="en-US" i="1" smtClean="0">
                                    <a:latin typeface="Cambria Math" panose="02040503050406030204" pitchFamily="18" charset="0"/>
                                  </a:rPr>
                                  <m:t>𝑔𝑟𝑎𝑝ℎ</m:t>
                                </m:r>
                                <m:r>
                                  <a:rPr lang="en-US" i="1" smtClean="0">
                                    <a:latin typeface="Cambria Math" panose="02040503050406030204" pitchFamily="18" charset="0"/>
                                  </a:rPr>
                                  <m:t> — </m:t>
                                </m:r>
                                <m:r>
                                  <a:rPr lang="en-US" i="1" smtClean="0">
                                    <a:latin typeface="Cambria Math" panose="02040503050406030204" pitchFamily="18" charset="0"/>
                                  </a:rPr>
                                  <m:t>𝑂𝑂𝐷</m:t>
                                </m:r>
                                <m:r>
                                  <a:rPr lang="en-US" i="1" smtClean="0">
                                    <a:latin typeface="Cambria Math" panose="02040503050406030204" pitchFamily="18" charset="0"/>
                                  </a:rPr>
                                  <m:t> </m:t>
                                </m:r>
                                <m:r>
                                  <a:rPr lang="en-US" i="1" smtClean="0">
                                    <a:latin typeface="Cambria Math" panose="02040503050406030204" pitchFamily="18" charset="0"/>
                                  </a:rPr>
                                  <m:t>𝑅𝑀𝑆𝐸</m:t>
                                </m:r>
                              </m:oMath>
                            </m:oMathPara>
                          </a14:m>
                          <a:endParaRP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1.273</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1.508</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−15.6%</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0.0008</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9/10</a:t>
                          </a:r>
                        </a:p>
                      </a:txBody>
                      <a:tcPr marL="64008" marR="45720" marT="18288" marB="18288" anchor="ctr">
                        <a:solidFill>
                          <a:srgbClr val="ECF6F5"/>
                        </a:solidFill>
                      </a:tcPr>
                    </a:tc>
                    <a:extLst>
                      <a:ext uri="{0D108BD9-81ED-4DB2-BD59-A6C34878D82A}">
                        <a16:rowId xmlns:a16="http://schemas.microsoft.com/office/drawing/2014/main" val="10001"/>
                      </a:ext>
                    </a:extLst>
                  </a:tr>
                  <a:tr h="306324">
                    <a:tc>
                      <a:txBody>
                        <a:bodyPr/>
                        <a:lstStyle/>
                        <a:p>
                          <a:pPr>
                            <a:defRPr sz="1150" b="0">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𝑣𝑠</m:t>
                                </m:r>
                                <m:r>
                                  <a:rPr lang="en-US" i="1" smtClean="0">
                                    <a:latin typeface="Cambria Math" panose="02040503050406030204" pitchFamily="18" charset="0"/>
                                  </a:rPr>
                                  <m:t> </m:t>
                                </m:r>
                                <m:r>
                                  <a:rPr lang="en-US" i="1" smtClean="0">
                                    <a:latin typeface="Cambria Math" panose="02040503050406030204" pitchFamily="18" charset="0"/>
                                  </a:rPr>
                                  <m:t>𝑟𝑎𝑛𝑑𝑜𝑚</m:t>
                                </m:r>
                                <m:r>
                                  <a:rPr lang="en-US" i="1" smtClean="0">
                                    <a:latin typeface="Cambria Math" panose="02040503050406030204" pitchFamily="18" charset="0"/>
                                  </a:rPr>
                                  <m:t>_</m:t>
                                </m:r>
                                <m:r>
                                  <a:rPr lang="en-US" i="1" smtClean="0">
                                    <a:latin typeface="Cambria Math" panose="02040503050406030204" pitchFamily="18" charset="0"/>
                                  </a:rPr>
                                  <m:t>𝑔𝑟𝑎𝑝ℎ</m:t>
                                </m:r>
                                <m:r>
                                  <a:rPr lang="en-US" i="1" smtClean="0">
                                    <a:latin typeface="Cambria Math" panose="02040503050406030204" pitchFamily="18" charset="0"/>
                                  </a:rPr>
                                  <m:t> — √</m:t>
                                </m:r>
                                <m:r>
                                  <a:rPr lang="en-US" i="1" smtClean="0">
                                    <a:latin typeface="Cambria Math" panose="02040503050406030204" pitchFamily="18" charset="0"/>
                                  </a:rPr>
                                  <m:t>𝑃𝐸𝐻𝐸</m:t>
                                </m:r>
                              </m:oMath>
                            </m:oMathPara>
                          </a14:m>
                          <a:endParaRP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0.483</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0.593</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−18.5%</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0.0004</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9/10</a:t>
                          </a:r>
                        </a:p>
                      </a:txBody>
                      <a:tcPr marL="64008" marR="45720" marT="18288" marB="18288" anchor="ctr">
                        <a:solidFill>
                          <a:srgbClr val="F7FBFB"/>
                        </a:solidFill>
                      </a:tcPr>
                    </a:tc>
                    <a:extLst>
                      <a:ext uri="{0D108BD9-81ED-4DB2-BD59-A6C34878D82A}">
                        <a16:rowId xmlns:a16="http://schemas.microsoft.com/office/drawing/2014/main" val="10002"/>
                      </a:ext>
                    </a:extLst>
                  </a:tr>
                  <a:tr h="306324">
                    <a:tc>
                      <a:txBody>
                        <a:bodyPr/>
                        <a:lstStyle/>
                        <a:p>
                          <a:pPr>
                            <a:defRPr sz="1150" b="0">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𝑣𝑠</m:t>
                                </m:r>
                                <m:r>
                                  <a:rPr lang="en-US" i="1" smtClean="0">
                                    <a:latin typeface="Cambria Math" panose="02040503050406030204" pitchFamily="18" charset="0"/>
                                  </a:rPr>
                                  <m:t> </m:t>
                                </m:r>
                                <m:r>
                                  <a:rPr lang="en-US" i="1" smtClean="0">
                                    <a:latin typeface="Cambria Math" panose="02040503050406030204" pitchFamily="18" charset="0"/>
                                  </a:rPr>
                                  <m:t>𝑟𝑎𝑛𝑑𝑜𝑚</m:t>
                                </m:r>
                                <m:r>
                                  <a:rPr lang="en-US" i="1" smtClean="0">
                                    <a:latin typeface="Cambria Math" panose="02040503050406030204" pitchFamily="18" charset="0"/>
                                  </a:rPr>
                                  <m:t>_</m:t>
                                </m:r>
                                <m:r>
                                  <a:rPr lang="en-US" i="1" smtClean="0">
                                    <a:latin typeface="Cambria Math" panose="02040503050406030204" pitchFamily="18" charset="0"/>
                                  </a:rPr>
                                  <m:t>𝑔𝑟𝑎𝑝ℎ</m:t>
                                </m:r>
                                <m:r>
                                  <a:rPr lang="en-US" i="1" smtClean="0">
                                    <a:latin typeface="Cambria Math" panose="02040503050406030204" pitchFamily="18" charset="0"/>
                                  </a:rPr>
                                  <m:t> — </m:t>
                                </m:r>
                                <m:r>
                                  <a:rPr lang="en-US" i="1" smtClean="0">
                                    <a:latin typeface="Cambria Math" panose="02040503050406030204" pitchFamily="18" charset="0"/>
                                  </a:rPr>
                                  <m:t>𝑠𝑝𝑢𝑟𝑖𝑜𝑢𝑠</m:t>
                                </m:r>
                                <m:r>
                                  <a:rPr lang="en-US" i="1" smtClean="0">
                                    <a:latin typeface="Cambria Math" panose="02040503050406030204" pitchFamily="18" charset="0"/>
                                  </a:rPr>
                                  <m:t> </m:t>
                                </m:r>
                                <m:r>
                                  <a:rPr lang="en-US" i="1" smtClean="0">
                                    <a:latin typeface="Cambria Math" panose="02040503050406030204" pitchFamily="18" charset="0"/>
                                  </a:rPr>
                                  <m:t>𝑠𝑒𝑛𝑠</m:t>
                                </m:r>
                                <m:r>
                                  <a:rPr lang="en-US" i="1" smtClean="0">
                                    <a:latin typeface="Cambria Math" panose="02040503050406030204" pitchFamily="18" charset="0"/>
                                  </a:rPr>
                                  <m:t>.</m:t>
                                </m:r>
                              </m:oMath>
                            </m:oMathPara>
                          </a14:m>
                          <a:endParaRP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0.052</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0.124</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−58.0%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&lt;0.0001</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10/10</a:t>
                          </a:r>
                        </a:p>
                      </a:txBody>
                      <a:tcPr marL="64008" marR="45720" marT="18288" marB="18288" anchor="ctr">
                        <a:solidFill>
                          <a:srgbClr val="ECF6F5"/>
                        </a:solidFill>
                      </a:tcPr>
                    </a:tc>
                    <a:extLst>
                      <a:ext uri="{0D108BD9-81ED-4DB2-BD59-A6C34878D82A}">
                        <a16:rowId xmlns:a16="http://schemas.microsoft.com/office/drawing/2014/main" val="10003"/>
                      </a:ext>
                    </a:extLst>
                  </a:tr>
                  <a:tr h="306324">
                    <a:tc>
                      <a:txBody>
                        <a:bodyPr/>
                        <a:lstStyle/>
                        <a:p>
                          <a:pPr>
                            <a:defRPr sz="1150" b="1">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𝒗𝒔</m:t>
                                </m:r>
                                <m:r>
                                  <a:rPr lang="en-US" i="1" smtClean="0">
                                    <a:latin typeface="Cambria Math" panose="02040503050406030204" pitchFamily="18" charset="0"/>
                                  </a:rPr>
                                  <m:t> </m:t>
                                </m:r>
                                <m:r>
                                  <a:rPr lang="en-US" i="1" smtClean="0">
                                    <a:latin typeface="Cambria Math" panose="02040503050406030204" pitchFamily="18" charset="0"/>
                                  </a:rPr>
                                  <m:t>𝒓𝒂𝒏𝒅𝒐𝒎</m:t>
                                </m:r>
                                <m:r>
                                  <a:rPr lang="en-US" i="1" smtClean="0">
                                    <a:latin typeface="Cambria Math" panose="02040503050406030204" pitchFamily="18" charset="0"/>
                                  </a:rPr>
                                  <m:t>_</m:t>
                                </m:r>
                                <m:r>
                                  <a:rPr lang="en-US" i="1" smtClean="0">
                                    <a:latin typeface="Cambria Math" panose="02040503050406030204" pitchFamily="18" charset="0"/>
                                  </a:rPr>
                                  <m:t>𝒉𝒄</m:t>
                                </m:r>
                                <m:r>
                                  <a:rPr lang="en-US" i="1" smtClean="0">
                                    <a:latin typeface="Cambria Math" panose="02040503050406030204" pitchFamily="18" charset="0"/>
                                  </a:rPr>
                                  <m:t> — </m:t>
                                </m:r>
                                <m:r>
                                  <a:rPr lang="en-US" i="1" smtClean="0">
                                    <a:latin typeface="Cambria Math" panose="02040503050406030204" pitchFamily="18" charset="0"/>
                                  </a:rPr>
                                  <m:t>𝑶𝑶𝑫</m:t>
                                </m:r>
                                <m:r>
                                  <a:rPr lang="en-US" i="1" smtClean="0">
                                    <a:latin typeface="Cambria Math" panose="02040503050406030204" pitchFamily="18" charset="0"/>
                                  </a:rPr>
                                  <m:t> </m:t>
                                </m:r>
                                <m:r>
                                  <a:rPr lang="en-US" i="1" smtClean="0">
                                    <a:latin typeface="Cambria Math" panose="02040503050406030204" pitchFamily="18" charset="0"/>
                                  </a:rPr>
                                  <m:t>𝑹𝑴𝑺𝑬</m:t>
                                </m:r>
                              </m:oMath>
                            </m:oMathPara>
                          </a14:m>
                          <a:endParaRP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1.273</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1.245</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+2.3%</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0.48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5/10</a:t>
                          </a:r>
                        </a:p>
                      </a:txBody>
                      <a:tcPr marL="64008" marR="45720" marT="18288" marB="18288" anchor="ctr">
                        <a:solidFill>
                          <a:srgbClr val="FFECE5"/>
                        </a:solidFill>
                      </a:tcPr>
                    </a:tc>
                    <a:extLst>
                      <a:ext uri="{0D108BD9-81ED-4DB2-BD59-A6C34878D82A}">
                        <a16:rowId xmlns:a16="http://schemas.microsoft.com/office/drawing/2014/main" val="10004"/>
                      </a:ext>
                    </a:extLst>
                  </a:tr>
                  <a:tr h="306324">
                    <a:tc>
                      <a:txBody>
                        <a:bodyPr/>
                        <a:lstStyle/>
                        <a:p>
                          <a:pPr>
                            <a:defRPr sz="1150" b="1">
                              <a:solidFill>
                                <a:srgbClr val="2C3932"/>
                              </a:solidFill>
                              <a:latin typeface="Neue Haas Grotesk Text Pro"/>
                            </a:defRPr>
                          </a:pPr>
                          <a14:m>
                            <m:oMathPara xmlns:m="http://schemas.openxmlformats.org/officeDocument/2006/math">
                              <m:oMath>
                                <m:r>
                                  <a:rPr lang="en-US" i="1" smtClean="0">
                                    <a:latin typeface="Cambria Math" panose="02040503050406030204" pitchFamily="18" charset="0"/>
                                  </a:rPr>
                                  <m:t>𝒗𝒔</m:t>
                                </m:r>
                                <m:r>
                                  <a:rPr lang="en-US" i="1" smtClean="0">
                                    <a:latin typeface="Cambria Math" panose="02040503050406030204" pitchFamily="18" charset="0"/>
                                  </a:rPr>
                                  <m:t> </m:t>
                                </m:r>
                                <m:r>
                                  <a:rPr lang="en-US" i="1" smtClean="0">
                                    <a:latin typeface="Cambria Math" panose="02040503050406030204" pitchFamily="18" charset="0"/>
                                  </a:rPr>
                                  <m:t>𝒓𝒂𝒏𝒅𝒐𝒎</m:t>
                                </m:r>
                                <m:r>
                                  <a:rPr lang="en-US" i="1" smtClean="0">
                                    <a:latin typeface="Cambria Math" panose="02040503050406030204" pitchFamily="18" charset="0"/>
                                  </a:rPr>
                                  <m:t>_</m:t>
                                </m:r>
                                <m:r>
                                  <a:rPr lang="en-US" i="1" smtClean="0">
                                    <a:latin typeface="Cambria Math" panose="02040503050406030204" pitchFamily="18" charset="0"/>
                                  </a:rPr>
                                  <m:t>𝒉𝒄</m:t>
                                </m:r>
                                <m:r>
                                  <a:rPr lang="en-US" i="1" smtClean="0">
                                    <a:latin typeface="Cambria Math" panose="02040503050406030204" pitchFamily="18" charset="0"/>
                                  </a:rPr>
                                  <m:t> — √</m:t>
                                </m:r>
                                <m:r>
                                  <a:rPr lang="en-US" i="1" smtClean="0">
                                    <a:latin typeface="Cambria Math" panose="02040503050406030204" pitchFamily="18" charset="0"/>
                                  </a:rPr>
                                  <m:t>𝑷𝑬𝑯𝑬</m:t>
                                </m:r>
                              </m:oMath>
                            </m:oMathPara>
                          </a14:m>
                          <a:endParaRP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0.483</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0.466</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+3.8%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0.28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5/10</a:t>
                          </a:r>
                        </a:p>
                      </a:txBody>
                      <a:tcPr marL="64008" marR="45720" marT="18288" marB="18288" anchor="ctr">
                        <a:solidFill>
                          <a:srgbClr val="FFECE5"/>
                        </a:solidFill>
                      </a:tcPr>
                    </a:tc>
                    <a:extLst>
                      <a:ext uri="{0D108BD9-81ED-4DB2-BD59-A6C34878D82A}">
                        <a16:rowId xmlns:a16="http://schemas.microsoft.com/office/drawing/2014/main" val="10005"/>
                      </a:ext>
                    </a:extLst>
                  </a:tr>
                  <a:tr h="306324">
                    <a:tc>
                      <a:txBody>
                        <a:bodyPr/>
                        <a:lstStyle/>
                        <a:p>
                          <a:pPr>
                            <a:defRPr sz="1150" b="1">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𝒗𝒔</m:t>
                                </m:r>
                                <m:r>
                                  <a:rPr lang="en-US" i="1" dirty="0" smtClean="0">
                                    <a:latin typeface="Cambria Math" panose="02040503050406030204" pitchFamily="18" charset="0"/>
                                  </a:rPr>
                                  <m:t> </m:t>
                                </m:r>
                                <m:r>
                                  <a:rPr lang="en-US" i="1" dirty="0" err="1">
                                    <a:latin typeface="Cambria Math" panose="02040503050406030204" pitchFamily="18" charset="0"/>
                                  </a:rPr>
                                  <m:t>𝒓𝒂𝒏𝒅𝒐𝒎</m:t>
                                </m:r>
                                <m:r>
                                  <a:rPr lang="en-US" i="1" dirty="0" err="1">
                                    <a:latin typeface="Cambria Math" panose="02040503050406030204" pitchFamily="18" charset="0"/>
                                  </a:rPr>
                                  <m:t>_</m:t>
                                </m:r>
                                <m:r>
                                  <a:rPr lang="en-US" i="1" dirty="0" err="1">
                                    <a:latin typeface="Cambria Math" panose="02040503050406030204" pitchFamily="18" charset="0"/>
                                  </a:rPr>
                                  <m:t>𝒉𝒄</m:t>
                                </m:r>
                                <m:r>
                                  <a:rPr lang="en-US" i="1" dirty="0">
                                    <a:latin typeface="Cambria Math" panose="02040503050406030204" pitchFamily="18" charset="0"/>
                                  </a:rPr>
                                  <m:t> — </m:t>
                                </m:r>
                                <m:r>
                                  <a:rPr lang="en-US" i="1" dirty="0">
                                    <a:latin typeface="Cambria Math" panose="02040503050406030204" pitchFamily="18" charset="0"/>
                                  </a:rPr>
                                  <m:t>𝒔𝒑𝒖𝒓𝒊𝒐𝒖𝒔</m:t>
                                </m:r>
                                <m:r>
                                  <a:rPr lang="en-US" i="1" dirty="0">
                                    <a:latin typeface="Cambria Math" panose="02040503050406030204" pitchFamily="18" charset="0"/>
                                  </a:rPr>
                                  <m:t> </m:t>
                                </m:r>
                                <m:r>
                                  <a:rPr lang="en-US" i="1" dirty="0" err="1">
                                    <a:latin typeface="Cambria Math" panose="02040503050406030204" pitchFamily="18" charset="0"/>
                                  </a:rPr>
                                  <m:t>𝒔𝒆𝒏𝒔</m:t>
                                </m:r>
                                <m:r>
                                  <a:rPr lang="en-US" i="1" dirty="0" err="1">
                                    <a:latin typeface="Cambria Math" panose="02040503050406030204" pitchFamily="18" charset="0"/>
                                  </a:rPr>
                                  <m:t>.</m:t>
                                </m:r>
                              </m:oMath>
                            </m:oMathPara>
                          </a14:m>
                          <a:endParaRP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0.052</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0.047</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+10.2%</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0.56</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rPr dirty="0"/>
                            <a:t>5/10</a:t>
                          </a:r>
                        </a:p>
                      </a:txBody>
                      <a:tcPr marL="64008" marR="45720" marT="18288" marB="18288" anchor="ctr">
                        <a:solidFill>
                          <a:srgbClr val="FFECE5"/>
                        </a:solidFill>
                      </a:tcPr>
                    </a:tc>
                    <a:extLst>
                      <a:ext uri="{0D108BD9-81ED-4DB2-BD59-A6C34878D82A}">
                        <a16:rowId xmlns:a16="http://schemas.microsoft.com/office/drawing/2014/main" val="10006"/>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108909427"/>
                  </p:ext>
                </p:extLst>
              </p:nvPr>
            </p:nvGraphicFramePr>
            <p:xfrm>
              <a:off x="612648" y="1627632"/>
              <a:ext cx="10149840" cy="2185416"/>
            </p:xfrm>
            <a:graphic>
              <a:graphicData uri="http://schemas.openxmlformats.org/drawingml/2006/table">
                <a:tbl>
                  <a:tblPr firstRow="1">
                    <a:tableStyleId>{5C22544A-7EE6-4342-B048-85BDC9FD1C3A}</a:tableStyleId>
                  </a:tblPr>
                  <a:tblGrid>
                    <a:gridCol w="37033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347472">
                    <a:tc>
                      <a:txBody>
                        <a:bodyPr/>
                        <a:lstStyle/>
                        <a:p>
                          <a:pPr>
                            <a:defRPr sz="1200" b="1">
                              <a:solidFill>
                                <a:srgbClr val="FFFFFF"/>
                              </a:solidFill>
                              <a:latin typeface="Neue Haas Grotesk Text Pro"/>
                            </a:defRPr>
                          </a:pPr>
                          <a:r>
                            <a:t>Comparison</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learned</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control</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change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p (paired t)</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wins</a:t>
                          </a:r>
                        </a:p>
                      </a:txBody>
                      <a:tcPr marL="64008" marR="45720" marT="18288" marB="18288" anchor="ctr">
                        <a:solidFill>
                          <a:srgbClr val="169C9A"/>
                        </a:solidFill>
                      </a:tcPr>
                    </a:tc>
                    <a:extLst>
                      <a:ext uri="{0D108BD9-81ED-4DB2-BD59-A6C34878D82A}">
                        <a16:rowId xmlns:a16="http://schemas.microsoft.com/office/drawing/2014/main" val="10000"/>
                      </a:ext>
                    </a:extLst>
                  </a:tr>
                  <a:tr h="306324">
                    <a:tc>
                      <a:txBody>
                        <a:bodyPr/>
                        <a:lstStyle/>
                        <a:p>
                          <a:endParaRPr lang="en-US"/>
                        </a:p>
                      </a:txBody>
                      <a:tcPr marL="64008" marR="45720" marT="18288" marB="18288" anchor="ctr">
                        <a:blipFill>
                          <a:blip r:embed="rId2"/>
                          <a:stretch>
                            <a:fillRect l="-164" t="-118000" r="-174671" b="-512000"/>
                          </a:stretch>
                        </a:blipFill>
                      </a:tcPr>
                    </a:tc>
                    <a:tc>
                      <a:txBody>
                        <a:bodyPr/>
                        <a:lstStyle/>
                        <a:p>
                          <a:pPr algn="ctr">
                            <a:defRPr sz="1150" b="0">
                              <a:solidFill>
                                <a:srgbClr val="2C3932"/>
                              </a:solidFill>
                              <a:latin typeface="Neue Haas Grotesk Text Pro"/>
                            </a:defRPr>
                          </a:pPr>
                          <a:r>
                            <a:t>1.273</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1.508</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−15.6%</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0.0008</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9/10</a:t>
                          </a:r>
                        </a:p>
                      </a:txBody>
                      <a:tcPr marL="64008" marR="45720" marT="18288" marB="18288" anchor="ctr">
                        <a:solidFill>
                          <a:srgbClr val="ECF6F5"/>
                        </a:solidFill>
                      </a:tcPr>
                    </a:tc>
                    <a:extLst>
                      <a:ext uri="{0D108BD9-81ED-4DB2-BD59-A6C34878D82A}">
                        <a16:rowId xmlns:a16="http://schemas.microsoft.com/office/drawing/2014/main" val="10001"/>
                      </a:ext>
                    </a:extLst>
                  </a:tr>
                  <a:tr h="306324">
                    <a:tc>
                      <a:txBody>
                        <a:bodyPr/>
                        <a:lstStyle/>
                        <a:p>
                          <a:endParaRPr lang="en-US"/>
                        </a:p>
                      </a:txBody>
                      <a:tcPr marL="64008" marR="45720" marT="18288" marB="18288" anchor="ctr">
                        <a:blipFill>
                          <a:blip r:embed="rId2"/>
                          <a:stretch>
                            <a:fillRect l="-164" t="-213725" r="-174671" b="-401961"/>
                          </a:stretch>
                        </a:blipFill>
                      </a:tcPr>
                    </a:tc>
                    <a:tc>
                      <a:txBody>
                        <a:bodyPr/>
                        <a:lstStyle/>
                        <a:p>
                          <a:pPr algn="ctr">
                            <a:defRPr sz="1150" b="0">
                              <a:solidFill>
                                <a:srgbClr val="2C3932"/>
                              </a:solidFill>
                              <a:latin typeface="Neue Haas Grotesk Text Pro"/>
                            </a:defRPr>
                          </a:pPr>
                          <a:r>
                            <a:t>0.483</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0.593</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−18.5%</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0.0004</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9/10</a:t>
                          </a:r>
                        </a:p>
                      </a:txBody>
                      <a:tcPr marL="64008" marR="45720" marT="18288" marB="18288" anchor="ctr">
                        <a:solidFill>
                          <a:srgbClr val="F7FBFB"/>
                        </a:solidFill>
                      </a:tcPr>
                    </a:tc>
                    <a:extLst>
                      <a:ext uri="{0D108BD9-81ED-4DB2-BD59-A6C34878D82A}">
                        <a16:rowId xmlns:a16="http://schemas.microsoft.com/office/drawing/2014/main" val="10002"/>
                      </a:ext>
                    </a:extLst>
                  </a:tr>
                  <a:tr h="306324">
                    <a:tc>
                      <a:txBody>
                        <a:bodyPr/>
                        <a:lstStyle/>
                        <a:p>
                          <a:endParaRPr lang="en-US"/>
                        </a:p>
                      </a:txBody>
                      <a:tcPr marL="64008" marR="45720" marT="18288" marB="18288" anchor="ctr">
                        <a:blipFill>
                          <a:blip r:embed="rId2"/>
                          <a:stretch>
                            <a:fillRect l="-164" t="-320000" r="-174671" b="-310000"/>
                          </a:stretch>
                        </a:blipFill>
                      </a:tcPr>
                    </a:tc>
                    <a:tc>
                      <a:txBody>
                        <a:bodyPr/>
                        <a:lstStyle/>
                        <a:p>
                          <a:pPr algn="ctr">
                            <a:defRPr sz="1150" b="0">
                              <a:solidFill>
                                <a:srgbClr val="2C3932"/>
                              </a:solidFill>
                              <a:latin typeface="Neue Haas Grotesk Text Pro"/>
                            </a:defRPr>
                          </a:pPr>
                          <a:r>
                            <a:t>0.052</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0.124</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−58.0%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&lt;0.0001</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10/10</a:t>
                          </a:r>
                        </a:p>
                      </a:txBody>
                      <a:tcPr marL="64008" marR="45720" marT="18288" marB="18288" anchor="ctr">
                        <a:solidFill>
                          <a:srgbClr val="ECF6F5"/>
                        </a:solidFill>
                      </a:tcPr>
                    </a:tc>
                    <a:extLst>
                      <a:ext uri="{0D108BD9-81ED-4DB2-BD59-A6C34878D82A}">
                        <a16:rowId xmlns:a16="http://schemas.microsoft.com/office/drawing/2014/main" val="10003"/>
                      </a:ext>
                    </a:extLst>
                  </a:tr>
                  <a:tr h="306324">
                    <a:tc>
                      <a:txBody>
                        <a:bodyPr/>
                        <a:lstStyle/>
                        <a:p>
                          <a:endParaRPr lang="en-US"/>
                        </a:p>
                      </a:txBody>
                      <a:tcPr marL="64008" marR="45720" marT="18288" marB="18288" anchor="ctr">
                        <a:blipFill>
                          <a:blip r:embed="rId2"/>
                          <a:stretch>
                            <a:fillRect l="-164" t="-420000" r="-174671" b="-210000"/>
                          </a:stretch>
                        </a:blipFill>
                      </a:tcPr>
                    </a:tc>
                    <a:tc>
                      <a:txBody>
                        <a:bodyPr/>
                        <a:lstStyle/>
                        <a:p>
                          <a:pPr algn="ctr">
                            <a:defRPr sz="1150" b="1">
                              <a:solidFill>
                                <a:srgbClr val="2C3932"/>
                              </a:solidFill>
                              <a:latin typeface="Neue Haas Grotesk Text Pro"/>
                            </a:defRPr>
                          </a:pPr>
                          <a:r>
                            <a:t>1.273</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1.245</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+2.3%</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0.48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5/10</a:t>
                          </a:r>
                        </a:p>
                      </a:txBody>
                      <a:tcPr marL="64008" marR="45720" marT="18288" marB="18288" anchor="ctr">
                        <a:solidFill>
                          <a:srgbClr val="FFECE5"/>
                        </a:solidFill>
                      </a:tcPr>
                    </a:tc>
                    <a:extLst>
                      <a:ext uri="{0D108BD9-81ED-4DB2-BD59-A6C34878D82A}">
                        <a16:rowId xmlns:a16="http://schemas.microsoft.com/office/drawing/2014/main" val="10004"/>
                      </a:ext>
                    </a:extLst>
                  </a:tr>
                  <a:tr h="306324">
                    <a:tc>
                      <a:txBody>
                        <a:bodyPr/>
                        <a:lstStyle/>
                        <a:p>
                          <a:endParaRPr lang="en-US"/>
                        </a:p>
                      </a:txBody>
                      <a:tcPr marL="64008" marR="45720" marT="18288" marB="18288" anchor="ctr">
                        <a:blipFill>
                          <a:blip r:embed="rId2"/>
                          <a:stretch>
                            <a:fillRect l="-164" t="-509804" r="-174671" b="-105882"/>
                          </a:stretch>
                        </a:blipFill>
                      </a:tcPr>
                    </a:tc>
                    <a:tc>
                      <a:txBody>
                        <a:bodyPr/>
                        <a:lstStyle/>
                        <a:p>
                          <a:pPr algn="ctr">
                            <a:defRPr sz="1150" b="1">
                              <a:solidFill>
                                <a:srgbClr val="2C3932"/>
                              </a:solidFill>
                              <a:latin typeface="Neue Haas Grotesk Text Pro"/>
                            </a:defRPr>
                          </a:pPr>
                          <a:r>
                            <a:t>0.483</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0.466</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+3.8%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0.28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5/10</a:t>
                          </a:r>
                        </a:p>
                      </a:txBody>
                      <a:tcPr marL="64008" marR="45720" marT="18288" marB="18288" anchor="ctr">
                        <a:solidFill>
                          <a:srgbClr val="FFECE5"/>
                        </a:solidFill>
                      </a:tcPr>
                    </a:tc>
                    <a:extLst>
                      <a:ext uri="{0D108BD9-81ED-4DB2-BD59-A6C34878D82A}">
                        <a16:rowId xmlns:a16="http://schemas.microsoft.com/office/drawing/2014/main" val="10005"/>
                      </a:ext>
                    </a:extLst>
                  </a:tr>
                  <a:tr h="306324">
                    <a:tc>
                      <a:txBody>
                        <a:bodyPr/>
                        <a:lstStyle/>
                        <a:p>
                          <a:endParaRPr lang="en-US"/>
                        </a:p>
                      </a:txBody>
                      <a:tcPr marL="64008" marR="45720" marT="18288" marB="18288" anchor="ctr">
                        <a:blipFill>
                          <a:blip r:embed="rId2"/>
                          <a:stretch>
                            <a:fillRect l="-164" t="-622000" r="-174671" b="-8000"/>
                          </a:stretch>
                        </a:blipFill>
                      </a:tcPr>
                    </a:tc>
                    <a:tc>
                      <a:txBody>
                        <a:bodyPr/>
                        <a:lstStyle/>
                        <a:p>
                          <a:pPr algn="ctr">
                            <a:defRPr sz="1150" b="1">
                              <a:solidFill>
                                <a:srgbClr val="2C3932"/>
                              </a:solidFill>
                              <a:latin typeface="Neue Haas Grotesk Text Pro"/>
                            </a:defRPr>
                          </a:pPr>
                          <a:r>
                            <a:t>0.052</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0.047</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+10.2%</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0.56</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rPr dirty="0"/>
                            <a:t>5/10</a:t>
                          </a:r>
                        </a:p>
                      </a:txBody>
                      <a:tcPr marL="64008" marR="45720" marT="18288" marB="18288" anchor="ctr">
                        <a:solidFill>
                          <a:srgbClr val="FFECE5"/>
                        </a:solidFill>
                      </a:tcPr>
                    </a:tc>
                    <a:extLst>
                      <a:ext uri="{0D108BD9-81ED-4DB2-BD59-A6C34878D82A}">
                        <a16:rowId xmlns:a16="http://schemas.microsoft.com/office/drawing/2014/main" val="10006"/>
                      </a:ext>
                    </a:extLst>
                  </a:tr>
                </a:tbl>
              </a:graphicData>
            </a:graphic>
          </p:graphicFrame>
        </mc:Fallback>
      </mc:AlternateContent>
      <p:sp>
        <p:nvSpPr>
          <p:cNvPr id="5" name="TextBox 4"/>
          <p:cNvSpPr txBox="1"/>
          <p:nvPr/>
        </p:nvSpPr>
        <p:spPr>
          <a:xfrm>
            <a:off x="612648" y="4315968"/>
            <a:ext cx="10881360" cy="274320"/>
          </a:xfrm>
          <a:prstGeom prst="rect">
            <a:avLst/>
          </a:prstGeom>
          <a:noFill/>
        </p:spPr>
        <p:txBody>
          <a:bodyPr wrap="square" lIns="0" tIns="0" rIns="0" bIns="0">
            <a:spAutoFit/>
          </a:bodyPr>
          <a:lstStyle/>
          <a:p>
            <a:pPr algn="l">
              <a:spcAft>
                <a:spcPts val="400"/>
              </a:spcAft>
              <a:defRPr sz="1250" b="1" i="0">
                <a:solidFill>
                  <a:srgbClr val="2C3932"/>
                </a:solidFill>
                <a:latin typeface="Neue Haas Grotesk Text Pro"/>
              </a:defRPr>
            </a:pPr>
            <a:r>
              <a:t>A completely wrong graph reproduces the entire gain. The benefit comes from stochastic gating as a regulariser, not from structure.</a:t>
            </a:r>
          </a:p>
        </p:txBody>
      </p:sp>
      <p:graphicFrame>
        <p:nvGraphicFramePr>
          <p:cNvPr id="6" name="Table 5"/>
          <p:cNvGraphicFramePr>
            <a:graphicFrameLocks noGrp="1"/>
          </p:cNvGraphicFramePr>
          <p:nvPr/>
        </p:nvGraphicFramePr>
        <p:xfrm>
          <a:off x="612648" y="4754880"/>
          <a:ext cx="4983480" cy="1252728"/>
        </p:xfrm>
        <a:graphic>
          <a:graphicData uri="http://schemas.openxmlformats.org/drawingml/2006/table">
            <a:tbl>
              <a:tblPr firstRow="1">
                <a:tableStyleId>{5C22544A-7EE6-4342-B048-85BDC9FD1C3A}</a:tableStyleId>
              </a:tblPr>
              <a:tblGrid>
                <a:gridCol w="2606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47472">
                <a:tc>
                  <a:txBody>
                    <a:bodyPr/>
                    <a:lstStyle/>
                    <a:p>
                      <a:pPr>
                        <a:defRPr sz="1200" b="1">
                          <a:solidFill>
                            <a:srgbClr val="FFFFFF"/>
                          </a:solidFill>
                          <a:latin typeface="Neue Haas Grotesk Text Pro"/>
                        </a:defRPr>
                      </a:pPr>
                      <a:r>
                        <a:t>Signature of heavy regularisation</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ID RMSE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OOD gap</a:t>
                      </a:r>
                    </a:p>
                  </a:txBody>
                  <a:tcPr marL="64008" marR="45720" marT="18288" marB="18288" anchor="ctr">
                    <a:solidFill>
                      <a:srgbClr val="169C9A"/>
                    </a:solidFill>
                  </a:tcPr>
                </a:tc>
                <a:extLst>
                  <a:ext uri="{0D108BD9-81ED-4DB2-BD59-A6C34878D82A}">
                    <a16:rowId xmlns:a16="http://schemas.microsoft.com/office/drawing/2014/main" val="10000"/>
                  </a:ext>
                </a:extLst>
              </a:tr>
              <a:tr h="301752">
                <a:tc>
                  <a:txBody>
                    <a:bodyPr/>
                    <a:lstStyle/>
                    <a:p>
                      <a:pPr>
                        <a:defRPr sz="1150" b="0">
                          <a:solidFill>
                            <a:srgbClr val="2C3932"/>
                          </a:solidFill>
                          <a:latin typeface="Neue Haas Grotesk Text Pro"/>
                        </a:defRPr>
                      </a:pPr>
                      <a:r>
                        <a:t>monolithic</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0.055</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25.7×</a:t>
                      </a:r>
                    </a:p>
                  </a:txBody>
                  <a:tcPr marL="64008" marR="45720" marT="18288" marB="18288" anchor="ctr">
                    <a:solidFill>
                      <a:srgbClr val="ECF6F5"/>
                    </a:solidFill>
                  </a:tcPr>
                </a:tc>
                <a:extLst>
                  <a:ext uri="{0D108BD9-81ED-4DB2-BD59-A6C34878D82A}">
                    <a16:rowId xmlns:a16="http://schemas.microsoft.com/office/drawing/2014/main" val="10001"/>
                  </a:ext>
                </a:extLst>
              </a:tr>
              <a:tr h="301752">
                <a:tc>
                  <a:txBody>
                    <a:bodyPr/>
                    <a:lstStyle/>
                    <a:p>
                      <a:pPr>
                        <a:defRPr sz="1150" b="0">
                          <a:solidFill>
                            <a:srgbClr val="2C3932"/>
                          </a:solidFill>
                          <a:latin typeface="Neue Haas Grotesk Text Pro"/>
                        </a:defRPr>
                      </a:pPr>
                      <a:r>
                        <a:t>learned_graph</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0.441</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3.1×</a:t>
                      </a:r>
                    </a:p>
                  </a:txBody>
                  <a:tcPr marL="64008" marR="45720" marT="18288" marB="18288" anchor="ctr">
                    <a:solidFill>
                      <a:srgbClr val="F7FBFB"/>
                    </a:solidFill>
                  </a:tcPr>
                </a:tc>
                <a:extLst>
                  <a:ext uri="{0D108BD9-81ED-4DB2-BD59-A6C34878D82A}">
                    <a16:rowId xmlns:a16="http://schemas.microsoft.com/office/drawing/2014/main" val="10002"/>
                  </a:ext>
                </a:extLst>
              </a:tr>
              <a:tr h="301752">
                <a:tc>
                  <a:txBody>
                    <a:bodyPr/>
                    <a:lstStyle/>
                    <a:p>
                      <a:pPr>
                        <a:defRPr sz="1150" b="0">
                          <a:solidFill>
                            <a:srgbClr val="2C3932"/>
                          </a:solidFill>
                          <a:latin typeface="Neue Haas Grotesk Text Pro"/>
                        </a:defRPr>
                      </a:pPr>
                      <a:r>
                        <a:t>random_hc</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0.721</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1.8×</a:t>
                      </a:r>
                    </a:p>
                  </a:txBody>
                  <a:tcPr marL="64008" marR="45720" marT="18288" marB="18288" anchor="ctr">
                    <a:solidFill>
                      <a:srgbClr val="ECF6F5"/>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779008" y="4754880"/>
            <a:ext cx="4983480" cy="1280160"/>
          </a:xfrm>
          <a:prstGeom prst="roundRect">
            <a:avLst/>
          </a:prstGeom>
          <a:solidFill>
            <a:srgbClr val="FDF6EA"/>
          </a:solidFill>
          <a:ln w="15875">
            <a:solidFill>
              <a:srgbClr val="E15C3D"/>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t>Two more tells</a:t>
            </a:r>
          </a:p>
          <a:p>
            <a:pPr algn="ctr">
              <a:spcAft>
                <a:spcPts val="100"/>
              </a:spcAft>
              <a:defRPr sz="1050">
                <a:solidFill>
                  <a:srgbClr val="666E6A"/>
                </a:solidFill>
                <a:latin typeface="Neue Haas Grotesk Text Pro"/>
              </a:defRPr>
            </a:pPr>
            <a:r>
              <a:t>Trading fit for robustness — the hallmark of strong</a:t>
            </a:r>
          </a:p>
          <a:p>
            <a:pPr algn="ctr">
              <a:spcAft>
                <a:spcPts val="100"/>
              </a:spcAft>
              <a:defRPr sz="1050">
                <a:solidFill>
                  <a:srgbClr val="666E6A"/>
                </a:solidFill>
                <a:latin typeface="Neue Haas Grotesk Text Pro"/>
              </a:defRPr>
            </a:pPr>
            <a:r>
              <a:t>regularisation (like high-rate dropout), unrelated to causality.</a:t>
            </a:r>
          </a:p>
          <a:p>
            <a:pPr algn="ctr">
              <a:spcAft>
                <a:spcPts val="100"/>
              </a:spcAft>
              <a:defRPr sz="1050">
                <a:solidFill>
                  <a:srgbClr val="666E6A"/>
                </a:solidFill>
                <a:latin typeface="Neue Haas Grotesk Text Pro"/>
              </a:defRPr>
            </a:pPr>
            <a:r>
              <a:t>sign_acc:  oracle 0.812   black box 0.535   learned 0.343</a:t>
            </a:r>
          </a:p>
          <a:p>
            <a:pPr algn="ctr">
              <a:spcAft>
                <a:spcPts val="100"/>
              </a:spcAft>
              <a:defRPr sz="1050">
                <a:solidFill>
                  <a:srgbClr val="666E6A"/>
                </a:solidFill>
                <a:latin typeface="Neue Haas Grotesk Text Pro"/>
              </a:defRPr>
            </a:pPr>
            <a:r>
              <a:t>The learned gate gets intervention DIRECTION wrong more</a:t>
            </a:r>
          </a:p>
          <a:p>
            <a:pPr algn="ctr">
              <a:spcAft>
                <a:spcPts val="100"/>
              </a:spcAft>
              <a:defRPr sz="1050">
                <a:solidFill>
                  <a:srgbClr val="666E6A"/>
                </a:solidFill>
                <a:latin typeface="Neue Haas Grotesk Text Pro"/>
              </a:defRPr>
            </a:pPr>
            <a:r>
              <a:t>often than the black box does.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Results: gate direction fixed, magnitude not</a:t>
            </a:r>
          </a:p>
        </p:txBody>
      </p:sp>
      <p:sp>
        <p:nvSpPr>
          <p:cNvPr id="3" name="TextBox 2"/>
          <p:cNvSpPr txBox="1"/>
          <p:nvPr/>
        </p:nvSpPr>
        <p:spPr>
          <a:xfrm>
            <a:off x="612648" y="1188720"/>
            <a:ext cx="10881360" cy="347472"/>
          </a:xfrm>
          <a:prstGeom prst="rect">
            <a:avLst/>
          </a:prstGeom>
          <a:noFill/>
        </p:spPr>
        <p:txBody>
          <a:bodyPr wrap="square" lIns="0">
            <a:spAutoFit/>
          </a:bodyPr>
          <a:lstStyle/>
          <a:p>
            <a:pPr>
              <a:defRPr sz="1300" i="1">
                <a:solidFill>
                  <a:srgbClr val="666E6A"/>
                </a:solidFill>
                <a:latin typeface="Neue Haas Grotesk Text Pro"/>
              </a:defRPr>
            </a:pPr>
            <a:r>
              <a:rPr dirty="0"/>
              <a:t>per-role gate values, 10 seeds — this is LAYER 1, the hard gate</a:t>
            </a:r>
          </a:p>
        </p:txBody>
      </p:sp>
      <p:graphicFrame>
        <p:nvGraphicFramePr>
          <p:cNvPr id="4" name="Table 3"/>
          <p:cNvGraphicFramePr>
            <a:graphicFrameLocks noGrp="1"/>
          </p:cNvGraphicFramePr>
          <p:nvPr/>
        </p:nvGraphicFramePr>
        <p:xfrm>
          <a:off x="612648" y="1627632"/>
          <a:ext cx="5623560" cy="2651760"/>
        </p:xfrm>
        <a:graphic>
          <a:graphicData uri="http://schemas.openxmlformats.org/drawingml/2006/table">
            <a:tbl>
              <a:tblPr firstRow="1">
                <a:tableStyleId>{5C22544A-7EE6-4342-B048-85BDC9FD1C3A}</a:tableStyleId>
              </a:tblPr>
              <a:tblGrid>
                <a:gridCol w="30632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47472">
                <a:tc>
                  <a:txBody>
                    <a:bodyPr/>
                    <a:lstStyle/>
                    <a:p>
                      <a:pPr>
                        <a:defRPr sz="1200" b="1">
                          <a:solidFill>
                            <a:srgbClr val="FFFFFF"/>
                          </a:solidFill>
                          <a:latin typeface="Neue Haas Grotesk Text Pro"/>
                        </a:defRPr>
                      </a:pPr>
                      <a:r>
                        <a:t>Role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gate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v1</a:t>
                      </a:r>
                    </a:p>
                  </a:txBody>
                  <a:tcPr marL="64008" marR="45720" marT="18288" marB="18288" anchor="ctr">
                    <a:solidFill>
                      <a:srgbClr val="169C9A"/>
                    </a:solidFill>
                  </a:tcPr>
                </a:tc>
                <a:extLst>
                  <a:ext uri="{0D108BD9-81ED-4DB2-BD59-A6C34878D82A}">
                    <a16:rowId xmlns:a16="http://schemas.microsoft.com/office/drawing/2014/main" val="10000"/>
                  </a:ext>
                </a:extLst>
              </a:tr>
              <a:tr h="288036">
                <a:tc>
                  <a:txBody>
                    <a:bodyPr/>
                    <a:lstStyle/>
                    <a:p>
                      <a:pPr>
                        <a:defRPr sz="1150" b="0">
                          <a:solidFill>
                            <a:srgbClr val="2C3932"/>
                          </a:solidFill>
                          <a:latin typeface="Neue Haas Grotesk Text Pro"/>
                        </a:defRPr>
                      </a:pPr>
                      <a:r>
                        <a:t>descendant_of_outcome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rPr dirty="0"/>
                        <a:t>0.5980</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0.4940</a:t>
                      </a:r>
                    </a:p>
                  </a:txBody>
                  <a:tcPr marL="64008" marR="45720" marT="18288" marB="18288" anchor="ctr">
                    <a:solidFill>
                      <a:srgbClr val="ECF6F5"/>
                    </a:solidFill>
                  </a:tcPr>
                </a:tc>
                <a:extLst>
                  <a:ext uri="{0D108BD9-81ED-4DB2-BD59-A6C34878D82A}">
                    <a16:rowId xmlns:a16="http://schemas.microsoft.com/office/drawing/2014/main" val="10001"/>
                  </a:ext>
                </a:extLst>
              </a:tr>
              <a:tr h="288036">
                <a:tc>
                  <a:txBody>
                    <a:bodyPr/>
                    <a:lstStyle/>
                    <a:p>
                      <a:pPr>
                        <a:defRPr sz="1150" b="1">
                          <a:solidFill>
                            <a:srgbClr val="2C3932"/>
                          </a:solidFill>
                          <a:latin typeface="Neue Haas Grotesk Text Pro"/>
                        </a:defRPr>
                      </a:pPr>
                      <a:r>
                        <a:t>true_cause</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rPr dirty="0"/>
                        <a:t>0.5675</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0.4643</a:t>
                      </a:r>
                    </a:p>
                  </a:txBody>
                  <a:tcPr marL="64008" marR="45720" marT="18288" marB="18288" anchor="ctr">
                    <a:solidFill>
                      <a:srgbClr val="FFECE5"/>
                    </a:solidFill>
                  </a:tcPr>
                </a:tc>
                <a:extLst>
                  <a:ext uri="{0D108BD9-81ED-4DB2-BD59-A6C34878D82A}">
                    <a16:rowId xmlns:a16="http://schemas.microsoft.com/office/drawing/2014/main" val="10002"/>
                  </a:ext>
                </a:extLst>
              </a:tr>
              <a:tr h="288036">
                <a:tc>
                  <a:txBody>
                    <a:bodyPr/>
                    <a:lstStyle/>
                    <a:p>
                      <a:pPr>
                        <a:defRPr sz="1150" b="0">
                          <a:solidFill>
                            <a:srgbClr val="2C3932"/>
                          </a:solidFill>
                          <a:latin typeface="Neue Haas Grotesk Text Pro"/>
                        </a:defRPr>
                      </a:pPr>
                      <a:r>
                        <a:t>descendant_of_parent</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rPr dirty="0"/>
                        <a:t>0.5658</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0.4560</a:t>
                      </a:r>
                    </a:p>
                  </a:txBody>
                  <a:tcPr marL="64008" marR="45720" marT="18288" marB="18288" anchor="ctr">
                    <a:solidFill>
                      <a:srgbClr val="ECF6F5"/>
                    </a:solidFill>
                  </a:tcPr>
                </a:tc>
                <a:extLst>
                  <a:ext uri="{0D108BD9-81ED-4DB2-BD59-A6C34878D82A}">
                    <a16:rowId xmlns:a16="http://schemas.microsoft.com/office/drawing/2014/main" val="10003"/>
                  </a:ext>
                </a:extLst>
              </a:tr>
              <a:tr h="288036">
                <a:tc>
                  <a:txBody>
                    <a:bodyPr/>
                    <a:lstStyle/>
                    <a:p>
                      <a:pPr>
                        <a:defRPr sz="1150" b="0">
                          <a:solidFill>
                            <a:srgbClr val="2C3932"/>
                          </a:solidFill>
                          <a:latin typeface="Neue Haas Grotesk Text Pro"/>
                        </a:defRPr>
                      </a:pPr>
                      <a:r>
                        <a:t>nonlinear_proxy</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rPr dirty="0"/>
                        <a:t>0.5645</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0.4810</a:t>
                      </a:r>
                    </a:p>
                  </a:txBody>
                  <a:tcPr marL="64008" marR="45720" marT="18288" marB="18288" anchor="ctr">
                    <a:solidFill>
                      <a:srgbClr val="F7FBFB"/>
                    </a:solidFill>
                  </a:tcPr>
                </a:tc>
                <a:extLst>
                  <a:ext uri="{0D108BD9-81ED-4DB2-BD59-A6C34878D82A}">
                    <a16:rowId xmlns:a16="http://schemas.microsoft.com/office/drawing/2014/main" val="10004"/>
                  </a:ext>
                </a:extLst>
              </a:tr>
              <a:tr h="288036">
                <a:tc>
                  <a:txBody>
                    <a:bodyPr/>
                    <a:lstStyle/>
                    <a:p>
                      <a:pPr>
                        <a:defRPr sz="1150" b="0">
                          <a:solidFill>
                            <a:srgbClr val="2C3932"/>
                          </a:solidFill>
                          <a:latin typeface="Neue Haas Grotesk Text Pro"/>
                        </a:defRPr>
                      </a:pPr>
                      <a:r>
                        <a:t>collider_of_parents</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0.5607</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0.4779</a:t>
                      </a:r>
                    </a:p>
                  </a:txBody>
                  <a:tcPr marL="64008" marR="45720" marT="18288" marB="18288" anchor="ctr">
                    <a:solidFill>
                      <a:srgbClr val="ECF6F5"/>
                    </a:solidFill>
                  </a:tcPr>
                </a:tc>
                <a:extLst>
                  <a:ext uri="{0D108BD9-81ED-4DB2-BD59-A6C34878D82A}">
                    <a16:rowId xmlns:a16="http://schemas.microsoft.com/office/drawing/2014/main" val="10005"/>
                  </a:ext>
                </a:extLst>
              </a:tr>
              <a:tr h="288036">
                <a:tc>
                  <a:txBody>
                    <a:bodyPr/>
                    <a:lstStyle/>
                    <a:p>
                      <a:pPr>
                        <a:defRPr sz="1150" b="0">
                          <a:solidFill>
                            <a:srgbClr val="2C3932"/>
                          </a:solidFill>
                          <a:latin typeface="Neue Haas Grotesk Text Pro"/>
                        </a:defRPr>
                      </a:pPr>
                      <a:r>
                        <a:t>proxy_of_cause</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0.5559</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0.4771</a:t>
                      </a:r>
                    </a:p>
                  </a:txBody>
                  <a:tcPr marL="64008" marR="45720" marT="18288" marB="18288" anchor="ctr">
                    <a:solidFill>
                      <a:srgbClr val="F7FBFB"/>
                    </a:solidFill>
                  </a:tcPr>
                </a:tc>
                <a:extLst>
                  <a:ext uri="{0D108BD9-81ED-4DB2-BD59-A6C34878D82A}">
                    <a16:rowId xmlns:a16="http://schemas.microsoft.com/office/drawing/2014/main" val="10006"/>
                  </a:ext>
                </a:extLst>
              </a:tr>
              <a:tr h="288036">
                <a:tc>
                  <a:txBody>
                    <a:bodyPr/>
                    <a:lstStyle/>
                    <a:p>
                      <a:pPr>
                        <a:defRPr sz="1150" b="0">
                          <a:solidFill>
                            <a:srgbClr val="2C3932"/>
                          </a:solidFill>
                          <a:latin typeface="Neue Haas Grotesk Text Pro"/>
                        </a:defRPr>
                      </a:pPr>
                      <a:r>
                        <a:t>inactive_cause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0.5516</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a:t>
                      </a:r>
                    </a:p>
                  </a:txBody>
                  <a:tcPr marL="64008" marR="45720" marT="18288" marB="18288" anchor="ctr">
                    <a:solidFill>
                      <a:srgbClr val="ECF6F5"/>
                    </a:solidFill>
                  </a:tcPr>
                </a:tc>
                <a:extLst>
                  <a:ext uri="{0D108BD9-81ED-4DB2-BD59-A6C34878D82A}">
                    <a16:rowId xmlns:a16="http://schemas.microsoft.com/office/drawing/2014/main" val="10007"/>
                  </a:ext>
                </a:extLst>
              </a:tr>
              <a:tr h="288036">
                <a:tc>
                  <a:txBody>
                    <a:bodyPr/>
                    <a:lstStyle/>
                    <a:p>
                      <a:pPr>
                        <a:defRPr sz="1150" b="0">
                          <a:solidFill>
                            <a:srgbClr val="2C3932"/>
                          </a:solidFill>
                          <a:latin typeface="Neue Haas Grotesk Text Pro"/>
                        </a:defRPr>
                      </a:pPr>
                      <a:r>
                        <a:rPr dirty="0" err="1"/>
                        <a:t>pure_noise</a:t>
                      </a:r>
                      <a:endParaRPr dirty="0"/>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0.5080</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rPr dirty="0"/>
                        <a:t>0.3942</a:t>
                      </a:r>
                    </a:p>
                  </a:txBody>
                  <a:tcPr marL="64008" marR="45720" marT="18288" marB="18288" anchor="ctr">
                    <a:solidFill>
                      <a:srgbClr val="F7FBFB"/>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6492240" y="1627632"/>
            <a:ext cx="4270248" cy="1417320"/>
          </a:xfrm>
          <a:prstGeom prst="roundRect">
            <a:avLst/>
          </a:prstGeom>
          <a:solidFill>
            <a:srgbClr val="E9F4EF"/>
          </a:solidFill>
          <a:ln w="15875">
            <a:solidFill>
              <a:srgbClr val="3D9072"/>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t>Real progress</a:t>
            </a:r>
          </a:p>
          <a:p>
            <a:pPr algn="ctr">
              <a:spcAft>
                <a:spcPts val="100"/>
              </a:spcAft>
              <a:defRPr sz="1050">
                <a:solidFill>
                  <a:srgbClr val="666E6A"/>
                </a:solidFill>
                <a:latin typeface="Neue Haas Grotesk Text Pro"/>
              </a:defRPr>
            </a:pPr>
            <a:r>
              <a:t>true-cause RANK  5/7 → 2/8</a:t>
            </a:r>
          </a:p>
          <a:p>
            <a:pPr algn="ctr">
              <a:spcAft>
                <a:spcPts val="100"/>
              </a:spcAft>
              <a:defRPr sz="1050">
                <a:solidFill>
                  <a:srgbClr val="666E6A"/>
                </a:solidFill>
                <a:latin typeface="Neue Haas Grotesk Text Pro"/>
              </a:defRPr>
            </a:pPr>
            <a:r>
              <a:t>decoy mean excluding noise  0.5661</a:t>
            </a:r>
          </a:p>
          <a:p>
            <a:pPr algn="ctr">
              <a:spcAft>
                <a:spcPts val="100"/>
              </a:spcAft>
              <a:defRPr sz="1050">
                <a:solidFill>
                  <a:srgbClr val="666E6A"/>
                </a:solidFill>
                <a:latin typeface="Neue Haas Grotesk Text Pro"/>
              </a:defRPr>
            </a:pPr>
            <a:r>
              <a:t>true causes  0.5675  →  first time ABOVE</a:t>
            </a:r>
          </a:p>
          <a:p>
            <a:pPr algn="ctr">
              <a:spcAft>
                <a:spcPts val="100"/>
              </a:spcAft>
              <a:defRPr sz="1050">
                <a:solidFill>
                  <a:srgbClr val="666E6A"/>
                </a:solidFill>
                <a:latin typeface="Neue Haas Grotesk Text Pro"/>
              </a:defRPr>
            </a:pPr>
            <a:r>
              <a:t>v1's AUROC came entirely from closing pure_noise;</a:t>
            </a:r>
          </a:p>
          <a:p>
            <a:pPr algn="ctr">
              <a:spcAft>
                <a:spcPts val="100"/>
              </a:spcAft>
              <a:defRPr sz="1050">
                <a:solidFill>
                  <a:srgbClr val="666E6A"/>
                </a:solidFill>
                <a:latin typeface="Neue Haas Grotesk Text Pro"/>
              </a:defRPr>
            </a:pPr>
            <a:r>
              <a:t>that specific pathology is fixed.</a:t>
            </a:r>
          </a:p>
        </p:txBody>
      </p:sp>
      <p:sp>
        <p:nvSpPr>
          <p:cNvPr id="6" name="Rounded Rectangle 5"/>
          <p:cNvSpPr/>
          <p:nvPr/>
        </p:nvSpPr>
        <p:spPr>
          <a:xfrm>
            <a:off x="6492240" y="3182112"/>
            <a:ext cx="4270248" cy="1325880"/>
          </a:xfrm>
          <a:prstGeom prst="roundRect">
            <a:avLst/>
          </a:prstGeom>
          <a:solidFill>
            <a:srgbClr val="FDF6EA"/>
          </a:solidFill>
          <a:ln w="15875">
            <a:solidFill>
              <a:srgbClr val="E15C3D"/>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400" dirty="0">
                <a:solidFill>
                  <a:schemeClr val="tx1"/>
                </a:solidFill>
              </a:rPr>
              <a:t>But the magnitude is negligible</a:t>
            </a:r>
          </a:p>
          <a:p>
            <a:pPr algn="ctr">
              <a:spcAft>
                <a:spcPts val="100"/>
              </a:spcAft>
              <a:defRPr sz="1050">
                <a:solidFill>
                  <a:srgbClr val="666E6A"/>
                </a:solidFill>
                <a:latin typeface="Neue Haas Grotesk Text Pro"/>
              </a:defRPr>
            </a:pPr>
            <a:r>
              <a:rPr sz="1400" dirty="0">
                <a:solidFill>
                  <a:schemeClr val="tx1"/>
                </a:solidFill>
              </a:rPr>
              <a:t>all roles inside [0.508, 0.598], span 0.09</a:t>
            </a:r>
          </a:p>
          <a:p>
            <a:pPr algn="ctr">
              <a:spcAft>
                <a:spcPts val="100"/>
              </a:spcAft>
              <a:defRPr sz="1050">
                <a:solidFill>
                  <a:srgbClr val="666E6A"/>
                </a:solidFill>
                <a:latin typeface="Neue Haas Grotesk Text Pro"/>
              </a:defRPr>
            </a:pPr>
            <a:r>
              <a:rPr sz="1400" dirty="0">
                <a:solidFill>
                  <a:schemeClr val="tx1"/>
                </a:solidFill>
              </a:rPr>
              <a:t>separation 0.018      AUROC 0.543</a:t>
            </a:r>
          </a:p>
          <a:p>
            <a:pPr algn="ctr">
              <a:spcAft>
                <a:spcPts val="100"/>
              </a:spcAft>
              <a:defRPr sz="1050">
                <a:solidFill>
                  <a:srgbClr val="666E6A"/>
                </a:solidFill>
                <a:latin typeface="Neue Haas Grotesk Text Pro"/>
              </a:defRPr>
            </a:pPr>
            <a:r>
              <a:rPr sz="1400" dirty="0">
                <a:solidFill>
                  <a:schemeClr val="tx1"/>
                </a:solidFill>
              </a:rPr>
              <a:t>F1 0.363   SHD 43.1</a:t>
            </a:r>
          </a:p>
          <a:p>
            <a:pPr algn="ctr">
              <a:spcAft>
                <a:spcPts val="100"/>
              </a:spcAft>
              <a:defRPr sz="1050">
                <a:solidFill>
                  <a:srgbClr val="666E6A"/>
                </a:solidFill>
                <a:latin typeface="Neue Haas Grotesk Text Pro"/>
              </a:defRPr>
            </a:pPr>
            <a:r>
              <a:rPr sz="1400" dirty="0">
                <a:solidFill>
                  <a:schemeClr val="tx1"/>
                </a:solidFill>
              </a:rPr>
              <a:t>training-free effect matrix: AUROC 1.000</a:t>
            </a:r>
          </a:p>
        </p:txBody>
      </p:sp>
      <p:sp>
        <p:nvSpPr>
          <p:cNvPr id="7" name="Rounded Rectangle 6"/>
          <p:cNvSpPr/>
          <p:nvPr/>
        </p:nvSpPr>
        <p:spPr>
          <a:xfrm>
            <a:off x="6492240" y="4645151"/>
            <a:ext cx="4270248" cy="1925769"/>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dirty="0"/>
              <a:t>The diagnosis, and a testable fix</a:t>
            </a:r>
          </a:p>
          <a:p>
            <a:pPr algn="ctr">
              <a:spcAft>
                <a:spcPts val="100"/>
              </a:spcAft>
              <a:defRPr sz="1050">
                <a:solidFill>
                  <a:srgbClr val="666E6A"/>
                </a:solidFill>
                <a:latin typeface="Neue Haas Grotesk Text Pro"/>
              </a:defRPr>
            </a:pPr>
            <a:r>
              <a:rPr sz="1200" dirty="0" err="1"/>
              <a:t>grad_obs</a:t>
            </a:r>
            <a:r>
              <a:rPr sz="1200" dirty="0"/>
              <a:t> 0.0354   </a:t>
            </a:r>
            <a:r>
              <a:rPr sz="1200" dirty="0" err="1"/>
              <a:t>grad_pair</a:t>
            </a:r>
            <a:r>
              <a:rPr sz="1200" dirty="0"/>
              <a:t> 0.0145   ratio 0.45</a:t>
            </a:r>
          </a:p>
          <a:p>
            <a:pPr algn="ctr">
              <a:spcAft>
                <a:spcPts val="100"/>
              </a:spcAft>
              <a:defRPr sz="1050">
                <a:solidFill>
                  <a:srgbClr val="666E6A"/>
                </a:solidFill>
                <a:latin typeface="Neue Haas Grotesk Text Pro"/>
              </a:defRPr>
            </a:pPr>
            <a:r>
              <a:rPr sz="1200" dirty="0"/>
              <a:t>The OBSERVATIONAL term drives the gate 2.2 : 1,</a:t>
            </a:r>
          </a:p>
          <a:p>
            <a:pPr algn="ctr">
              <a:spcAft>
                <a:spcPts val="100"/>
              </a:spcAft>
              <a:defRPr sz="1050">
                <a:solidFill>
                  <a:srgbClr val="666E6A"/>
                </a:solidFill>
                <a:latin typeface="Neue Haas Grotesk Text Pro"/>
              </a:defRPr>
            </a:pPr>
            <a:r>
              <a:rPr sz="1200" dirty="0"/>
              <a:t>so it opens whatever helps in-distribution fit —</a:t>
            </a:r>
          </a:p>
          <a:p>
            <a:pPr algn="ctr">
              <a:spcAft>
                <a:spcPts val="100"/>
              </a:spcAft>
              <a:defRPr sz="1050">
                <a:solidFill>
                  <a:srgbClr val="666E6A"/>
                </a:solidFill>
                <a:latin typeface="Neue Haas Grotesk Text Pro"/>
              </a:defRPr>
            </a:pPr>
            <a:r>
              <a:rPr sz="1200" dirty="0"/>
              <a:t>exactly why </a:t>
            </a:r>
            <a:r>
              <a:rPr sz="1200" dirty="0" err="1"/>
              <a:t>descendant_of_outcome</a:t>
            </a:r>
            <a:r>
              <a:rPr sz="1200" dirty="0"/>
              <a:t> ranks first.</a:t>
            </a:r>
          </a:p>
          <a:p>
            <a:pPr algn="ctr">
              <a:spcAft>
                <a:spcPts val="100"/>
              </a:spcAft>
              <a:defRPr sz="1050">
                <a:solidFill>
                  <a:srgbClr val="666E6A"/>
                </a:solidFill>
                <a:latin typeface="Neue Haas Grotesk Text Pro"/>
              </a:defRPr>
            </a:pPr>
            <a:r>
              <a:rPr sz="1200" dirty="0"/>
              <a:t>Prediction: </a:t>
            </a:r>
            <a:r>
              <a:rPr sz="1200" dirty="0" err="1"/>
              <a:t>λ_pair</a:t>
            </a:r>
            <a:r>
              <a:rPr sz="1200" dirty="0"/>
              <a:t> = 3 → ratio ≈ 1.35;  λ = 10 → ≈ 4.1</a:t>
            </a:r>
          </a:p>
        </p:txBody>
      </p:sp>
      <p:sp>
        <p:nvSpPr>
          <p:cNvPr id="8" name="Rounded Rectangle 7"/>
          <p:cNvSpPr/>
          <p:nvPr/>
        </p:nvSpPr>
        <p:spPr>
          <a:xfrm>
            <a:off x="612648" y="4526279"/>
            <a:ext cx="5623560" cy="2079831"/>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l">
              <a:spcAft>
                <a:spcPts val="400"/>
              </a:spcAft>
              <a:defRPr sz="1200" b="1">
                <a:solidFill>
                  <a:srgbClr val="2C3932"/>
                </a:solidFill>
                <a:latin typeface="Neue Haas Grotesk Text Pro"/>
              </a:defRPr>
            </a:pPr>
            <a:r>
              <a:rPr sz="1200"/>
              <a:t>Why the magnitude is still small</a:t>
            </a:r>
          </a:p>
          <a:p>
            <a:pPr algn="l">
              <a:spcAft>
                <a:spcPts val="100"/>
              </a:spcAft>
              <a:defRPr sz="1050">
                <a:solidFill>
                  <a:srgbClr val="666E6A"/>
                </a:solidFill>
                <a:latin typeface="Neue Haas Grotesk Text Pro"/>
              </a:defRPr>
            </a:pPr>
            <a:r>
              <a:rPr sz="1200"/>
              <a:t>The effect-scale floor fixed the 15625× over-amplification of</a:t>
            </a:r>
          </a:p>
          <a:p>
            <a:pPr algn="l">
              <a:spcAft>
                <a:spcPts val="100"/>
              </a:spcAft>
              <a:defRPr sz="1050">
                <a:solidFill>
                  <a:srgbClr val="666E6A"/>
                </a:solidFill>
                <a:latin typeface="Neue Haas Grotesk Text Pro"/>
              </a:defRPr>
            </a:pPr>
            <a:r>
              <a:rPr sz="1200"/>
              <a:t>acceleration_t, but it also weakened the pair signal — and the</a:t>
            </a:r>
          </a:p>
          <a:p>
            <a:pPr algn="l">
              <a:spcAft>
                <a:spcPts val="100"/>
              </a:spcAft>
              <a:defRPr sz="1050">
                <a:solidFill>
                  <a:srgbClr val="666E6A"/>
                </a:solidFill>
                <a:latin typeface="Neue Haas Grotesk Text Pro"/>
              </a:defRPr>
            </a:pPr>
            <a:r>
              <a:rPr sz="1200"/>
              <a:t>pair term is the ONLY one carrying causal information.</a:t>
            </a:r>
          </a:p>
          <a:p>
            <a:pPr algn="l">
              <a:spcAft>
                <a:spcPts val="100"/>
              </a:spcAft>
              <a:defRPr sz="1050">
                <a:solidFill>
                  <a:srgbClr val="666E6A"/>
                </a:solidFill>
                <a:latin typeface="Neue Haas Grotesk Text Pro"/>
              </a:defRPr>
            </a:pPr>
            <a:endParaRPr sz="1200"/>
          </a:p>
          <a:p>
            <a:pPr algn="l">
              <a:spcAft>
                <a:spcPts val="100"/>
              </a:spcAft>
              <a:defRPr sz="1050">
                <a:solidFill>
                  <a:srgbClr val="666E6A"/>
                </a:solidFill>
                <a:latin typeface="Neue Haas Grotesk Text Pro"/>
              </a:defRPr>
            </a:pPr>
            <a:r>
              <a:rPr sz="1200"/>
              <a:t>So the gate is currently being shaped mostly by in-distribution</a:t>
            </a:r>
          </a:p>
          <a:p>
            <a:pPr algn="l">
              <a:spcAft>
                <a:spcPts val="100"/>
              </a:spcAft>
              <a:defRPr sz="1050">
                <a:solidFill>
                  <a:srgbClr val="666E6A"/>
                </a:solidFill>
                <a:latin typeface="Neue Haas Grotesk Text Pro"/>
              </a:defRPr>
            </a:pPr>
            <a:r>
              <a:rPr sz="1200"/>
              <a:t>fit, which is exactly the criterion that rewards shortcuts.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What this run does and does not establish</a:t>
            </a:r>
          </a:p>
        </p:txBody>
      </p:sp>
      <p:sp>
        <p:nvSpPr>
          <p:cNvPr id="3" name="Rounded Rectangle 2"/>
          <p:cNvSpPr/>
          <p:nvPr/>
        </p:nvSpPr>
        <p:spPr>
          <a:xfrm>
            <a:off x="612648" y="1554480"/>
            <a:ext cx="3310128" cy="3154680"/>
          </a:xfrm>
          <a:prstGeom prst="roundRect">
            <a:avLst/>
          </a:prstGeom>
          <a:solidFill>
            <a:srgbClr val="E9F4EF"/>
          </a:solidFill>
          <a:ln w="15875">
            <a:solidFill>
              <a:srgbClr val="3D9072"/>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l">
              <a:spcAft>
                <a:spcPts val="400"/>
              </a:spcAft>
              <a:defRPr sz="1300" b="1">
                <a:solidFill>
                  <a:srgbClr val="2C3932"/>
                </a:solidFill>
                <a:latin typeface="Neue Haas Grotesk Text Pro"/>
              </a:defRPr>
            </a:pPr>
            <a:r>
              <a:t>PROVEN</a:t>
            </a:r>
          </a:p>
          <a:p>
            <a:pPr algn="l">
              <a:spcAft>
                <a:spcPts val="100"/>
              </a:spcAft>
              <a:defRPr sz="1050">
                <a:solidFill>
                  <a:srgbClr val="666E6A"/>
                </a:solidFill>
                <a:latin typeface="Neue Haas Grotesk Text Pro"/>
              </a:defRPr>
            </a:pPr>
            <a:r>
              <a:t>1.  The task rewards correct structure.</a:t>
            </a:r>
          </a:p>
          <a:p>
            <a:pPr algn="l">
              <a:spcAft>
                <a:spcPts val="100"/>
              </a:spcAft>
              <a:defRPr sz="1050">
                <a:solidFill>
                  <a:srgbClr val="666E6A"/>
                </a:solidFill>
                <a:latin typeface="Neue Haas Grotesk Text Pro"/>
              </a:defRPr>
            </a:pPr>
            <a:r>
              <a:t>     oracle −63.2%, 10/10 seeds,</a:t>
            </a:r>
          </a:p>
          <a:p>
            <a:pPr algn="l">
              <a:spcAft>
                <a:spcPts val="100"/>
              </a:spcAft>
              <a:defRPr sz="1050">
                <a:solidFill>
                  <a:srgbClr val="666E6A"/>
                </a:solidFill>
                <a:latin typeface="Neue Haas Grotesk Text Pro"/>
              </a:defRPr>
            </a:pPr>
            <a:r>
              <a:t>     across 4 distinct graphs.</a:t>
            </a:r>
          </a:p>
          <a:p>
            <a:pPr algn="l">
              <a:spcAft>
                <a:spcPts val="100"/>
              </a:spcAft>
              <a:defRPr sz="1050">
                <a:solidFill>
                  <a:srgbClr val="666E6A"/>
                </a:solidFill>
                <a:latin typeface="Neue Haas Grotesk Text Pro"/>
              </a:defRPr>
            </a:pPr>
            <a:endParaRPr/>
          </a:p>
          <a:p>
            <a:pPr algn="l">
              <a:spcAft>
                <a:spcPts val="100"/>
              </a:spcAft>
              <a:defRPr sz="1050">
                <a:solidFill>
                  <a:srgbClr val="666E6A"/>
                </a:solidFill>
                <a:latin typeface="Neue Haas Grotesk Text Pro"/>
              </a:defRPr>
            </a:pPr>
            <a:r>
              <a:t>2.  Structure ≫ generic robustness prior.</a:t>
            </a:r>
          </a:p>
          <a:p>
            <a:pPr algn="l">
              <a:spcAft>
                <a:spcPts val="100"/>
              </a:spcAft>
              <a:defRPr sz="1050">
                <a:solidFill>
                  <a:srgbClr val="666E6A"/>
                </a:solidFill>
                <a:latin typeface="Neue Haas Grotesk Text Pro"/>
              </a:defRPr>
            </a:pPr>
            <a:r>
              <a:t>     63.2% vs 2.6% — a factor of 24.</a:t>
            </a:r>
          </a:p>
          <a:p>
            <a:pPr algn="l">
              <a:spcAft>
                <a:spcPts val="100"/>
              </a:spcAft>
              <a:defRPr sz="1050">
                <a:solidFill>
                  <a:srgbClr val="666E6A"/>
                </a:solidFill>
                <a:latin typeface="Neue Haas Grotesk Text Pro"/>
              </a:defRPr>
            </a:pPr>
            <a:endParaRPr/>
          </a:p>
          <a:p>
            <a:pPr algn="l">
              <a:spcAft>
                <a:spcPts val="100"/>
              </a:spcAft>
              <a:defRPr sz="1050">
                <a:solidFill>
                  <a:srgbClr val="666E6A"/>
                </a:solidFill>
                <a:latin typeface="Neue Haas Grotesk Text Pro"/>
              </a:defRPr>
            </a:pPr>
            <a:r>
              <a:t>3.  The gain is the mask, not the</a:t>
            </a:r>
          </a:p>
          <a:p>
            <a:pPr algn="l">
              <a:spcAft>
                <a:spcPts val="100"/>
              </a:spcAft>
              <a:defRPr sz="1050">
                <a:solidFill>
                  <a:srgbClr val="666E6A"/>
                </a:solidFill>
                <a:latin typeface="Neue Haas Grotesk Text Pro"/>
              </a:defRPr>
            </a:pPr>
            <a:r>
              <a:t>     architecture. per_node_full is</a:t>
            </a:r>
          </a:p>
          <a:p>
            <a:pPr algn="l">
              <a:spcAft>
                <a:spcPts val="100"/>
              </a:spcAft>
              <a:defRPr sz="1050">
                <a:solidFill>
                  <a:srgbClr val="666E6A"/>
                </a:solidFill>
                <a:latin typeface="Neue Haas Grotesk Text Pro"/>
              </a:defRPr>
            </a:pPr>
            <a:r>
              <a:t>     6.5% WORSE than the black box.</a:t>
            </a:r>
          </a:p>
          <a:p>
            <a:pPr algn="l">
              <a:spcAft>
                <a:spcPts val="100"/>
              </a:spcAft>
              <a:defRPr sz="1050">
                <a:solidFill>
                  <a:srgbClr val="666E6A"/>
                </a:solidFill>
                <a:latin typeface="Neue Haas Grotesk Text Pro"/>
              </a:defRPr>
            </a:pPr>
            <a:endParaRPr/>
          </a:p>
          <a:p>
            <a:pPr algn="l">
              <a:spcAft>
                <a:spcPts val="100"/>
              </a:spcAft>
              <a:defRPr sz="1050">
                <a:solidFill>
                  <a:srgbClr val="666E6A"/>
                </a:solidFill>
                <a:latin typeface="Neue Haas Grotesk Text Pro"/>
              </a:defRPr>
            </a:pPr>
            <a:r>
              <a:t>4.  The black box does take the bait:</a:t>
            </a:r>
          </a:p>
          <a:p>
            <a:pPr algn="l">
              <a:spcAft>
                <a:spcPts val="100"/>
              </a:spcAft>
              <a:defRPr sz="1050">
                <a:solidFill>
                  <a:srgbClr val="666E6A"/>
                </a:solidFill>
                <a:latin typeface="Neue Haas Grotesk Text Pro"/>
              </a:defRPr>
            </a:pPr>
            <a:r>
              <a:t>     ID 0.055 → OOD 1.371, gap 25.7×.</a:t>
            </a:r>
          </a:p>
        </p:txBody>
      </p:sp>
      <p:sp>
        <p:nvSpPr>
          <p:cNvPr id="4" name="Rounded Rectangle 3"/>
          <p:cNvSpPr/>
          <p:nvPr/>
        </p:nvSpPr>
        <p:spPr>
          <a:xfrm>
            <a:off x="4133087" y="1554480"/>
            <a:ext cx="3310128" cy="3154680"/>
          </a:xfrm>
          <a:prstGeom prst="roundRect">
            <a:avLst/>
          </a:prstGeom>
          <a:solidFill>
            <a:srgbClr val="FDF6EA"/>
          </a:solidFill>
          <a:ln w="15875">
            <a:solidFill>
              <a:srgbClr val="E15C3D"/>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l">
              <a:spcAft>
                <a:spcPts val="400"/>
              </a:spcAft>
              <a:defRPr sz="1300" b="1">
                <a:solidFill>
                  <a:srgbClr val="2C3932"/>
                </a:solidFill>
                <a:latin typeface="Neue Haas Grotesk Text Pro"/>
              </a:defRPr>
            </a:pPr>
            <a:r>
              <a:rPr dirty="0"/>
              <a:t>DISPROVEN</a:t>
            </a:r>
          </a:p>
          <a:p>
            <a:pPr algn="l">
              <a:spcAft>
                <a:spcPts val="100"/>
              </a:spcAft>
              <a:defRPr sz="1050">
                <a:solidFill>
                  <a:srgbClr val="666E6A"/>
                </a:solidFill>
                <a:latin typeface="Neue Haas Grotesk Text Pro"/>
              </a:defRPr>
            </a:pPr>
            <a:r>
              <a:rPr dirty="0"/>
              <a:t>The learned gate did NOT recover</a:t>
            </a:r>
          </a:p>
          <a:p>
            <a:pPr algn="l">
              <a:spcAft>
                <a:spcPts val="100"/>
              </a:spcAft>
              <a:defRPr sz="1050">
                <a:solidFill>
                  <a:srgbClr val="666E6A"/>
                </a:solidFill>
                <a:latin typeface="Neue Haas Grotesk Text Pro"/>
              </a:defRPr>
            </a:pPr>
            <a:r>
              <a:rPr dirty="0"/>
              <a:t>structure.</a:t>
            </a:r>
          </a:p>
          <a:p>
            <a:pPr algn="l">
              <a:spcAft>
                <a:spcPts val="100"/>
              </a:spcAft>
              <a:defRPr sz="1050">
                <a:solidFill>
                  <a:srgbClr val="666E6A"/>
                </a:solidFill>
                <a:latin typeface="Neue Haas Grotesk Text Pro"/>
              </a:defRPr>
            </a:pPr>
            <a:endParaRPr dirty="0"/>
          </a:p>
          <a:p>
            <a:pPr algn="l">
              <a:spcAft>
                <a:spcPts val="100"/>
              </a:spcAft>
              <a:defRPr sz="1050">
                <a:solidFill>
                  <a:srgbClr val="666E6A"/>
                </a:solidFill>
                <a:latin typeface="Neue Haas Grotesk Text Pro"/>
              </a:defRPr>
            </a:pPr>
            <a:r>
              <a:rPr dirty="0"/>
              <a:t>Against the matched control it is a</a:t>
            </a:r>
          </a:p>
          <a:p>
            <a:pPr algn="l">
              <a:spcAft>
                <a:spcPts val="100"/>
              </a:spcAft>
              <a:defRPr sz="1050">
                <a:solidFill>
                  <a:srgbClr val="666E6A"/>
                </a:solidFill>
                <a:latin typeface="Neue Haas Grotesk Text Pro"/>
              </a:defRPr>
            </a:pPr>
            <a:r>
              <a:rPr dirty="0"/>
              <a:t>tie on all three metrics:</a:t>
            </a:r>
          </a:p>
          <a:p>
            <a:pPr algn="l">
              <a:spcAft>
                <a:spcPts val="100"/>
              </a:spcAft>
              <a:defRPr sz="1050">
                <a:solidFill>
                  <a:srgbClr val="666E6A"/>
                </a:solidFill>
                <a:latin typeface="Neue Haas Grotesk Text Pro"/>
              </a:defRPr>
            </a:pPr>
            <a:r>
              <a:rPr dirty="0"/>
              <a:t>     OOD    +2.3%   p = 0.48</a:t>
            </a:r>
          </a:p>
          <a:p>
            <a:pPr algn="l">
              <a:spcAft>
                <a:spcPts val="100"/>
              </a:spcAft>
              <a:defRPr sz="1050">
                <a:solidFill>
                  <a:srgbClr val="666E6A"/>
                </a:solidFill>
                <a:latin typeface="Neue Haas Grotesk Text Pro"/>
              </a:defRPr>
            </a:pPr>
            <a:r>
              <a:rPr dirty="0"/>
              <a:t>     PEHE   +3.8%   p = 0.28</a:t>
            </a:r>
          </a:p>
          <a:p>
            <a:pPr algn="l">
              <a:spcAft>
                <a:spcPts val="100"/>
              </a:spcAft>
              <a:defRPr sz="1050">
                <a:solidFill>
                  <a:srgbClr val="666E6A"/>
                </a:solidFill>
                <a:latin typeface="Neue Haas Grotesk Text Pro"/>
              </a:defRPr>
            </a:pPr>
            <a:r>
              <a:rPr dirty="0"/>
              <a:t>     spur   +10.2%  </a:t>
            </a:r>
            <a:r>
              <a:rPr lang="en-US" dirty="0"/>
              <a:t>  </a:t>
            </a:r>
            <a:r>
              <a:rPr dirty="0"/>
              <a:t>p = 0.56</a:t>
            </a:r>
          </a:p>
          <a:p>
            <a:pPr algn="l">
              <a:spcAft>
                <a:spcPts val="100"/>
              </a:spcAft>
              <a:defRPr sz="1050">
                <a:solidFill>
                  <a:srgbClr val="666E6A"/>
                </a:solidFill>
                <a:latin typeface="Neue Haas Grotesk Text Pro"/>
              </a:defRPr>
            </a:pPr>
            <a:endParaRPr dirty="0"/>
          </a:p>
          <a:p>
            <a:pPr algn="l">
              <a:spcAft>
                <a:spcPts val="100"/>
              </a:spcAft>
              <a:defRPr sz="1050">
                <a:solidFill>
                  <a:srgbClr val="666E6A"/>
                </a:solidFill>
                <a:latin typeface="Neue Haas Grotesk Text Pro"/>
              </a:defRPr>
            </a:pPr>
            <a:r>
              <a:rPr dirty="0"/>
              <a:t>A completely wrong graph reproduces</a:t>
            </a:r>
          </a:p>
          <a:p>
            <a:pPr algn="l">
              <a:spcAft>
                <a:spcPts val="100"/>
              </a:spcAft>
              <a:defRPr sz="1050">
                <a:solidFill>
                  <a:srgbClr val="666E6A"/>
                </a:solidFill>
                <a:latin typeface="Neue Haas Grotesk Text Pro"/>
              </a:defRPr>
            </a:pPr>
            <a:r>
              <a:rPr dirty="0"/>
              <a:t>the whole gain, so the benefit is</a:t>
            </a:r>
          </a:p>
          <a:p>
            <a:pPr algn="l">
              <a:spcAft>
                <a:spcPts val="100"/>
              </a:spcAft>
              <a:defRPr sz="1050">
                <a:solidFill>
                  <a:srgbClr val="666E6A"/>
                </a:solidFill>
                <a:latin typeface="Neue Haas Grotesk Text Pro"/>
              </a:defRPr>
            </a:pPr>
            <a:r>
              <a:rPr dirty="0" err="1"/>
              <a:t>regularisation</a:t>
            </a:r>
            <a:r>
              <a:rPr dirty="0"/>
              <a:t>, not structure.</a:t>
            </a:r>
          </a:p>
        </p:txBody>
      </p:sp>
      <p:sp>
        <p:nvSpPr>
          <p:cNvPr id="5" name="Rounded Rectangle 4"/>
          <p:cNvSpPr/>
          <p:nvPr/>
        </p:nvSpPr>
        <p:spPr>
          <a:xfrm>
            <a:off x="7653527" y="1554480"/>
            <a:ext cx="3108960" cy="3154680"/>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l">
              <a:spcAft>
                <a:spcPts val="400"/>
              </a:spcAft>
              <a:defRPr sz="1300" b="1">
                <a:solidFill>
                  <a:srgbClr val="2C3932"/>
                </a:solidFill>
                <a:latin typeface="Neue Haas Grotesk Text Pro"/>
              </a:defRPr>
            </a:pPr>
            <a:r>
              <a:t>OPEN</a:t>
            </a:r>
          </a:p>
          <a:p>
            <a:pPr algn="l">
              <a:spcAft>
                <a:spcPts val="100"/>
              </a:spcAft>
              <a:defRPr sz="1050">
                <a:solidFill>
                  <a:srgbClr val="666E6A"/>
                </a:solidFill>
                <a:latin typeface="Neue Haas Grotesk Text Pro"/>
              </a:defRPr>
            </a:pPr>
            <a:r>
              <a:t>Gate direction is now correct but the</a:t>
            </a:r>
          </a:p>
          <a:p>
            <a:pPr algn="l">
              <a:spcAft>
                <a:spcPts val="100"/>
              </a:spcAft>
              <a:defRPr sz="1050">
                <a:solidFill>
                  <a:srgbClr val="666E6A"/>
                </a:solidFill>
                <a:latin typeface="Neue Haas Grotesk Text Pro"/>
              </a:defRPr>
            </a:pPr>
            <a:r>
              <a:t>magnitude is negligible</a:t>
            </a:r>
          </a:p>
          <a:p>
            <a:pPr algn="l">
              <a:spcAft>
                <a:spcPts val="100"/>
              </a:spcAft>
              <a:defRPr sz="1050">
                <a:solidFill>
                  <a:srgbClr val="666E6A"/>
                </a:solidFill>
                <a:latin typeface="Neue Haas Grotesk Text Pro"/>
              </a:defRPr>
            </a:pPr>
            <a:r>
              <a:t>(separation 0.018).</a:t>
            </a:r>
          </a:p>
          <a:p>
            <a:pPr algn="l">
              <a:spcAft>
                <a:spcPts val="100"/>
              </a:spcAft>
              <a:defRPr sz="1050">
                <a:solidFill>
                  <a:srgbClr val="666E6A"/>
                </a:solidFill>
                <a:latin typeface="Neue Haas Grotesk Text Pro"/>
              </a:defRPr>
            </a:pPr>
            <a:endParaRPr/>
          </a:p>
          <a:p>
            <a:pPr algn="l">
              <a:spcAft>
                <a:spcPts val="100"/>
              </a:spcAft>
              <a:defRPr sz="1050">
                <a:solidFill>
                  <a:srgbClr val="666E6A"/>
                </a:solidFill>
                <a:latin typeface="Neue Haas Grotesk Text Pro"/>
              </a:defRPr>
            </a:pPr>
            <a:r>
              <a:t>Gradient ratio 0.45 says the</a:t>
            </a:r>
          </a:p>
          <a:p>
            <a:pPr algn="l">
              <a:spcAft>
                <a:spcPts val="100"/>
              </a:spcAft>
              <a:defRPr sz="1050">
                <a:solidFill>
                  <a:srgbClr val="666E6A"/>
                </a:solidFill>
                <a:latin typeface="Neue Haas Grotesk Text Pro"/>
              </a:defRPr>
            </a:pPr>
            <a:r>
              <a:t>observational term dominates — a</a:t>
            </a:r>
          </a:p>
          <a:p>
            <a:pPr algn="l">
              <a:spcAft>
                <a:spcPts val="100"/>
              </a:spcAft>
              <a:defRPr sz="1050">
                <a:solidFill>
                  <a:srgbClr val="666E6A"/>
                </a:solidFill>
                <a:latin typeface="Neue Haas Grotesk Text Pro"/>
              </a:defRPr>
            </a:pPr>
            <a:r>
              <a:t>specific, testable cause.</a:t>
            </a:r>
          </a:p>
          <a:p>
            <a:pPr algn="l">
              <a:spcAft>
                <a:spcPts val="100"/>
              </a:spcAft>
              <a:defRPr sz="1050">
                <a:solidFill>
                  <a:srgbClr val="666E6A"/>
                </a:solidFill>
                <a:latin typeface="Neue Haas Grotesk Text Pro"/>
              </a:defRPr>
            </a:pPr>
            <a:endParaRPr/>
          </a:p>
          <a:p>
            <a:pPr algn="l">
              <a:spcAft>
                <a:spcPts val="100"/>
              </a:spcAft>
              <a:defRPr sz="1050">
                <a:solidFill>
                  <a:srgbClr val="666E6A"/>
                </a:solidFill>
                <a:latin typeface="Neue Haas Grotesk Text Pro"/>
              </a:defRPr>
            </a:pPr>
            <a:r>
              <a:t>Next: sweep λ_pair ∈ {3, 10},</a:t>
            </a:r>
          </a:p>
          <a:p>
            <a:pPr algn="l">
              <a:spcAft>
                <a:spcPts val="100"/>
              </a:spcAft>
              <a:defRPr sz="1050">
                <a:solidFill>
                  <a:srgbClr val="666E6A"/>
                </a:solidFill>
                <a:latin typeface="Neue Haas Grotesk Text Pro"/>
              </a:defRPr>
            </a:pPr>
            <a:r>
              <a:t>gate_lr ×10, and sigmoid-gate-only.</a:t>
            </a:r>
          </a:p>
          <a:p>
            <a:pPr algn="l">
              <a:spcAft>
                <a:spcPts val="100"/>
              </a:spcAft>
              <a:defRPr sz="1050">
                <a:solidFill>
                  <a:srgbClr val="666E6A"/>
                </a:solidFill>
                <a:latin typeface="Neue Haas Grotesk Text Pro"/>
              </a:defRPr>
            </a:pPr>
            <a:endParaRPr/>
          </a:p>
          <a:p>
            <a:pPr algn="l">
              <a:spcAft>
                <a:spcPts val="100"/>
              </a:spcAft>
              <a:defRPr sz="1050">
                <a:solidFill>
                  <a:srgbClr val="666E6A"/>
                </a:solidFill>
                <a:latin typeface="Neue Haas Grotesk Text Pro"/>
              </a:defRPr>
            </a:pPr>
            <a:r>
              <a:t>Criterion: true-cause rank → 1/8.</a:t>
            </a:r>
          </a:p>
        </p:txBody>
      </p:sp>
      <p:sp>
        <p:nvSpPr>
          <p:cNvPr id="6" name="TextBox 5"/>
          <p:cNvSpPr txBox="1"/>
          <p:nvPr/>
        </p:nvSpPr>
        <p:spPr>
          <a:xfrm>
            <a:off x="612648" y="4956048"/>
            <a:ext cx="10149840" cy="777240"/>
          </a:xfrm>
          <a:prstGeom prst="rect">
            <a:avLst/>
          </a:prstGeom>
          <a:noFill/>
        </p:spPr>
        <p:txBody>
          <a:bodyPr wrap="square" lIns="0" tIns="0" rIns="0" bIns="0">
            <a:spAutoFit/>
          </a:bodyPr>
          <a:lstStyle/>
          <a:p>
            <a:pPr algn="l">
              <a:spcAft>
                <a:spcPts val="100"/>
              </a:spcAft>
              <a:defRPr sz="1050" b="1" i="0">
                <a:solidFill>
                  <a:srgbClr val="E15C3D"/>
                </a:solidFill>
                <a:latin typeface="Neue Haas Grotesk Text Pro"/>
              </a:defRPr>
            </a:pPr>
            <a:r>
              <a:t>LIMITATION to state up front:  all active causes reach all three outputs, so A_true has rank 1. The 63% ceiling therefore</a:t>
            </a:r>
          </a:p>
          <a:p>
            <a:pPr algn="l">
              <a:spcAft>
                <a:spcPts val="100"/>
              </a:spcAft>
              <a:defRPr sz="1050" b="1" i="0">
                <a:solidFill>
                  <a:srgbClr val="E15C3D"/>
                </a:solidFill>
                <a:latin typeface="Neue Haas Grotesk Text Pro"/>
              </a:defRPr>
            </a:pPr>
            <a:r>
              <a:t>measures CAUSE-vs-DECOY SEPARATION, not per-output parent-set recovery. Separating those needs a multi-object SCM.</a:t>
            </a:r>
          </a:p>
        </p:txBody>
      </p:sp>
      <p:sp>
        <p:nvSpPr>
          <p:cNvPr id="7" name="Rounded Rectangle 6"/>
          <p:cNvSpPr/>
          <p:nvPr/>
        </p:nvSpPr>
        <p:spPr>
          <a:xfrm>
            <a:off x="612648" y="5468112"/>
            <a:ext cx="10149840" cy="960120"/>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dirty="0"/>
              <a:t>One-sentence summary</a:t>
            </a:r>
          </a:p>
          <a:p>
            <a:pPr algn="ctr">
              <a:spcAft>
                <a:spcPts val="100"/>
              </a:spcAft>
              <a:defRPr sz="1050">
                <a:solidFill>
                  <a:srgbClr val="666E6A"/>
                </a:solidFill>
                <a:latin typeface="Neue Haas Grotesk Text Pro"/>
              </a:defRPr>
            </a:pPr>
            <a:r>
              <a:rPr dirty="0"/>
              <a:t>We built a task where the true graph is worth 63.2% (10/10 seeds) while the strongest non-causal prior is worth 2.6%.</a:t>
            </a:r>
          </a:p>
          <a:p>
            <a:pPr algn="ctr">
              <a:spcAft>
                <a:spcPts val="100"/>
              </a:spcAft>
              <a:defRPr sz="1050">
                <a:solidFill>
                  <a:srgbClr val="666E6A"/>
                </a:solidFill>
                <a:latin typeface="Neue Haas Grotesk Text Pro"/>
              </a:defRPr>
            </a:pPr>
            <a:r>
              <a:rPr dirty="0"/>
              <a:t>The learned gate captured 11% of that, and a matched wrong graph captured the same 11% — so the gain is </a:t>
            </a:r>
            <a:r>
              <a:rPr dirty="0" err="1"/>
              <a:t>regularisation</a:t>
            </a:r>
            <a:r>
              <a:rPr dirty="0"/>
              <a:t>, not recovered structure.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4968E-6CB1-5B06-49B7-BCEC07001489}"/>
              </a:ext>
            </a:extLst>
          </p:cNvPr>
          <p:cNvSpPr>
            <a:spLocks noGrp="1"/>
          </p:cNvSpPr>
          <p:nvPr>
            <p:ph type="title"/>
          </p:nvPr>
        </p:nvSpPr>
        <p:spPr/>
        <p:txBody>
          <a:bodyPr/>
          <a:lstStyle/>
          <a:p>
            <a:r>
              <a:rPr lang="en-US" dirty="0"/>
              <a:t>Parameters(1/2) loss function, hard-concrete</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AD6D000-2915-0C4B-96D7-B64A53297954}"/>
                  </a:ext>
                </a:extLst>
              </p:cNvPr>
              <p:cNvGraphicFramePr>
                <a:graphicFrameLocks noGrp="1"/>
              </p:cNvGraphicFramePr>
              <p:nvPr>
                <p:extLst>
                  <p:ext uri="{D42A27DB-BD31-4B8C-83A1-F6EECF244321}">
                    <p14:modId xmlns:p14="http://schemas.microsoft.com/office/powerpoint/2010/main" val="3160144415"/>
                  </p:ext>
                </p:extLst>
              </p:nvPr>
            </p:nvGraphicFramePr>
            <p:xfrm>
              <a:off x="438411" y="1492058"/>
              <a:ext cx="7690981" cy="2276094"/>
            </p:xfrm>
            <a:graphic>
              <a:graphicData uri="http://schemas.openxmlformats.org/drawingml/2006/table">
                <a:tbl>
                  <a:tblPr firstRow="1" bandRow="1">
                    <a:tableStyleId>{5C22544A-7EE6-4342-B048-85BDC9FD1C3A}</a:tableStyleId>
                  </a:tblPr>
                  <a:tblGrid>
                    <a:gridCol w="1559380">
                      <a:extLst>
                        <a:ext uri="{9D8B030D-6E8A-4147-A177-3AD203B41FA5}">
                          <a16:colId xmlns:a16="http://schemas.microsoft.com/office/drawing/2014/main" val="839291115"/>
                        </a:ext>
                      </a:extLst>
                    </a:gridCol>
                    <a:gridCol w="6131601">
                      <a:extLst>
                        <a:ext uri="{9D8B030D-6E8A-4147-A177-3AD203B41FA5}">
                          <a16:colId xmlns:a16="http://schemas.microsoft.com/office/drawing/2014/main" val="3913852354"/>
                        </a:ext>
                      </a:extLst>
                    </a:gridCol>
                  </a:tblGrid>
                  <a:tr h="370840">
                    <a:tc>
                      <a:txBody>
                        <a:bodyPr/>
                        <a:lstStyle/>
                        <a:p>
                          <a:pPr>
                            <a:buNone/>
                          </a:pPr>
                          <a:r>
                            <a:rPr lang="en-US" dirty="0"/>
                            <a:t>Parameters </a:t>
                          </a:r>
                        </a:p>
                      </a:txBody>
                      <a:tcPr anchor="ctr"/>
                    </a:tc>
                    <a:tc>
                      <a:txBody>
                        <a:bodyPr/>
                        <a:lstStyle/>
                        <a:p>
                          <a:pPr>
                            <a:buNone/>
                          </a:pPr>
                          <a:r>
                            <a:rPr lang="en-US" dirty="0"/>
                            <a:t>Meaning</a:t>
                          </a:r>
                        </a:p>
                      </a:txBody>
                      <a:tcPr anchor="ctr"/>
                    </a:tc>
                    <a:extLst>
                      <a:ext uri="{0D108BD9-81ED-4DB2-BD59-A6C34878D82A}">
                        <a16:rowId xmlns:a16="http://schemas.microsoft.com/office/drawing/2014/main" val="1143141635"/>
                      </a:ext>
                    </a:extLst>
                  </a:tr>
                  <a:tr h="370840">
                    <a:tc>
                      <a:txBody>
                        <a:bodyPr/>
                        <a:lstStyle/>
                        <a:p>
                          <a:pP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𝑖𝑗</m:t>
                                    </m:r>
                                  </m:sub>
                                </m:sSub>
                              </m:oMath>
                            </m:oMathPara>
                          </a14:m>
                          <a:endParaRPr lang="en-US"/>
                        </a:p>
                      </a:txBody>
                      <a:tcPr anchor="ctr"/>
                    </a:tc>
                    <a:tc>
                      <a:txBody>
                        <a:bodyPr/>
                        <a:lstStyle/>
                        <a:p>
                          <a:pPr>
                            <a:buNone/>
                          </a:pPr>
                          <a:r>
                            <a:rPr lang="en-US" dirty="0"/>
                            <a:t>Trainable logit for the edge from 𝑖 to 𝑗</a:t>
                          </a:r>
                        </a:p>
                      </a:txBody>
                      <a:tcPr anchor="ctr"/>
                    </a:tc>
                    <a:extLst>
                      <a:ext uri="{0D108BD9-81ED-4DB2-BD59-A6C34878D82A}">
                        <a16:rowId xmlns:a16="http://schemas.microsoft.com/office/drawing/2014/main" val="1900886714"/>
                      </a:ext>
                    </a:extLst>
                  </a:tr>
                  <a:tr h="370840">
                    <a:tc>
                      <a:txBody>
                        <a:bodyPr/>
                        <a:lstStyle/>
                        <a:p>
                          <a:pP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𝑖𝑗</m:t>
                                    </m:r>
                                  </m:sub>
                                </m:sSub>
                              </m:oMath>
                            </m:oMathPara>
                          </a14:m>
                          <a:endParaRPr lang="en-US"/>
                        </a:p>
                      </a:txBody>
                      <a:tcPr anchor="ctr"/>
                    </a:tc>
                    <a:tc>
                      <a:txBody>
                        <a:bodyPr/>
                        <a:lstStyle/>
                        <a:p>
                          <a:pPr>
                            <a:buNone/>
                          </a:pPr>
                          <a:r>
                            <a:rPr lang="en-US" dirty="0"/>
                            <a:t>Noise sampled randomly during training</a:t>
                          </a:r>
                        </a:p>
                      </a:txBody>
                      <a:tcPr anchor="ctr"/>
                    </a:tc>
                    <a:extLst>
                      <a:ext uri="{0D108BD9-81ED-4DB2-BD59-A6C34878D82A}">
                        <a16:rowId xmlns:a16="http://schemas.microsoft.com/office/drawing/2014/main" val="4131312226"/>
                      </a:ext>
                    </a:extLst>
                  </a:tr>
                  <a:tr h="370840">
                    <a:tc>
                      <a:txBody>
                        <a:bodyPr/>
                        <a:lstStyle/>
                        <a:p>
                          <a:pP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𝛽</m:t>
                                    </m:r>
                                  </m:e>
                                  <m:sub>
                                    <m:r>
                                      <m:rPr>
                                        <m:sty m:val="p"/>
                                      </m:rPr>
                                      <a:rPr lang="en-US" i="0">
                                        <a:latin typeface="Cambria Math" panose="02040503050406030204" pitchFamily="18" charset="0"/>
                                      </a:rPr>
                                      <m:t>HC</m:t>
                                    </m:r>
                                  </m:sub>
                                </m:sSub>
                              </m:oMath>
                            </m:oMathPara>
                          </a14:m>
                          <a:endParaRPr lang="en-US"/>
                        </a:p>
                      </a:txBody>
                      <a:tcPr anchor="ctr"/>
                    </a:tc>
                    <a:tc>
                      <a:txBody>
                        <a:bodyPr/>
                        <a:lstStyle/>
                        <a:p>
                          <a:pPr>
                            <a:buNone/>
                          </a:pPr>
                          <a:r>
                            <a:rPr lang="en-US"/>
                            <a:t>hard-concrete temperature</a:t>
                          </a:r>
                        </a:p>
                      </a:txBody>
                      <a:tcPr anchor="ctr"/>
                    </a:tc>
                    <a:extLst>
                      <a:ext uri="{0D108BD9-81ED-4DB2-BD59-A6C34878D82A}">
                        <a16:rowId xmlns:a16="http://schemas.microsoft.com/office/drawing/2014/main" val="2942871664"/>
                      </a:ext>
                    </a:extLst>
                  </a:tr>
                  <a:tr h="370840">
                    <a:tc>
                      <a:txBody>
                        <a:bodyPr/>
                        <a:lstStyle/>
                        <a:p>
                          <a:pPr>
                            <a:buNone/>
                          </a:pPr>
                          <a14:m>
                            <m:oMathPara xmlns:m="http://schemas.openxmlformats.org/officeDocument/2006/math">
                              <m:oMath>
                                <m:r>
                                  <a:rPr lang="en-US" i="1">
                                    <a:latin typeface="Cambria Math" panose="02040503050406030204" pitchFamily="18" charset="0"/>
                                  </a:rPr>
                                  <m:t>𝛾</m:t>
                                </m:r>
                                <m:r>
                                  <a:rPr lang="en-US" i="0">
                                    <a:latin typeface="Cambria Math" panose="02040503050406030204" pitchFamily="18" charset="0"/>
                                  </a:rPr>
                                  <m:t>,</m:t>
                                </m:r>
                                <m:r>
                                  <a:rPr lang="en-US" i="1">
                                    <a:latin typeface="Cambria Math" panose="02040503050406030204" pitchFamily="18" charset="0"/>
                                  </a:rPr>
                                  <m:t>𝜁</m:t>
                                </m:r>
                              </m:oMath>
                            </m:oMathPara>
                          </a14:m>
                          <a:endParaRPr lang="en-US"/>
                        </a:p>
                      </a:txBody>
                      <a:tcPr anchor="ctr"/>
                    </a:tc>
                    <a:tc>
                      <a:txBody>
                        <a:bodyPr/>
                        <a:lstStyle/>
                        <a:p>
                          <a:pPr>
                            <a:buNone/>
                          </a:pPr>
                          <a:r>
                            <a:rPr lang="en-US" dirty="0"/>
                            <a:t>Stretch constants; allow the gate to reach exactly 0 or 1</a:t>
                          </a:r>
                        </a:p>
                      </a:txBody>
                      <a:tcPr anchor="ctr"/>
                    </a:tc>
                    <a:extLst>
                      <a:ext uri="{0D108BD9-81ED-4DB2-BD59-A6C34878D82A}">
                        <a16:rowId xmlns:a16="http://schemas.microsoft.com/office/drawing/2014/main" val="2661631401"/>
                      </a:ext>
                    </a:extLst>
                  </a:tr>
                  <a:tr h="370840">
                    <a:tc>
                      <a:txBody>
                        <a:bodyPr/>
                        <a:lstStyle/>
                        <a:p>
                          <a:pP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𝑖𝑗</m:t>
                                    </m:r>
                                  </m:sub>
                                </m:sSub>
                              </m:oMath>
                            </m:oMathPara>
                          </a14:m>
                          <a:endParaRPr lang="en-US"/>
                        </a:p>
                      </a:txBody>
                      <a:tcPr anchor="ctr"/>
                    </a:tc>
                    <a:tc>
                      <a:txBody>
                        <a:bodyPr/>
                        <a:lstStyle/>
                        <a:p>
                          <a:pPr>
                            <a:buNone/>
                          </a:pPr>
                          <a:r>
                            <a:rPr lang="en-US" dirty="0"/>
                            <a:t>Final gate; tends towards a closed or open state</a:t>
                          </a:r>
                        </a:p>
                      </a:txBody>
                      <a:tcPr anchor="ctr"/>
                    </a:tc>
                    <a:extLst>
                      <a:ext uri="{0D108BD9-81ED-4DB2-BD59-A6C34878D82A}">
                        <a16:rowId xmlns:a16="http://schemas.microsoft.com/office/drawing/2014/main" val="1554044456"/>
                      </a:ext>
                    </a:extLst>
                  </a:tr>
                </a:tbl>
              </a:graphicData>
            </a:graphic>
          </p:graphicFrame>
        </mc:Choice>
        <mc:Fallback xmlns="">
          <p:graphicFrame>
            <p:nvGraphicFramePr>
              <p:cNvPr id="4" name="Table 3">
                <a:extLst>
                  <a:ext uri="{FF2B5EF4-FFF2-40B4-BE49-F238E27FC236}">
                    <a16:creationId xmlns:a16="http://schemas.microsoft.com/office/drawing/2014/main" id="{3AD6D000-2915-0C4B-96D7-B64A53297954}"/>
                  </a:ext>
                </a:extLst>
              </p:cNvPr>
              <p:cNvGraphicFramePr>
                <a:graphicFrameLocks noGrp="1"/>
              </p:cNvGraphicFramePr>
              <p:nvPr>
                <p:extLst>
                  <p:ext uri="{D42A27DB-BD31-4B8C-83A1-F6EECF244321}">
                    <p14:modId xmlns:p14="http://schemas.microsoft.com/office/powerpoint/2010/main" val="3160144415"/>
                  </p:ext>
                </p:extLst>
              </p:nvPr>
            </p:nvGraphicFramePr>
            <p:xfrm>
              <a:off x="438411" y="1492058"/>
              <a:ext cx="7690981" cy="2276094"/>
            </p:xfrm>
            <a:graphic>
              <a:graphicData uri="http://schemas.openxmlformats.org/drawingml/2006/table">
                <a:tbl>
                  <a:tblPr firstRow="1" bandRow="1">
                    <a:tableStyleId>{5C22544A-7EE6-4342-B048-85BDC9FD1C3A}</a:tableStyleId>
                  </a:tblPr>
                  <a:tblGrid>
                    <a:gridCol w="1559380">
                      <a:extLst>
                        <a:ext uri="{9D8B030D-6E8A-4147-A177-3AD203B41FA5}">
                          <a16:colId xmlns:a16="http://schemas.microsoft.com/office/drawing/2014/main" val="839291115"/>
                        </a:ext>
                      </a:extLst>
                    </a:gridCol>
                    <a:gridCol w="6131601">
                      <a:extLst>
                        <a:ext uri="{9D8B030D-6E8A-4147-A177-3AD203B41FA5}">
                          <a16:colId xmlns:a16="http://schemas.microsoft.com/office/drawing/2014/main" val="3913852354"/>
                        </a:ext>
                      </a:extLst>
                    </a:gridCol>
                  </a:tblGrid>
                  <a:tr h="370840">
                    <a:tc>
                      <a:txBody>
                        <a:bodyPr/>
                        <a:lstStyle/>
                        <a:p>
                          <a:pPr>
                            <a:buNone/>
                          </a:pPr>
                          <a:r>
                            <a:rPr lang="en-US" dirty="0"/>
                            <a:t>Parameters </a:t>
                          </a:r>
                        </a:p>
                      </a:txBody>
                      <a:tcPr anchor="ctr"/>
                    </a:tc>
                    <a:tc>
                      <a:txBody>
                        <a:bodyPr/>
                        <a:lstStyle/>
                        <a:p>
                          <a:pPr>
                            <a:buNone/>
                          </a:pPr>
                          <a:r>
                            <a:rPr lang="en-US" dirty="0"/>
                            <a:t>Meaning</a:t>
                          </a:r>
                        </a:p>
                      </a:txBody>
                      <a:tcPr anchor="ctr"/>
                    </a:tc>
                    <a:extLst>
                      <a:ext uri="{0D108BD9-81ED-4DB2-BD59-A6C34878D82A}">
                        <a16:rowId xmlns:a16="http://schemas.microsoft.com/office/drawing/2014/main" val="1143141635"/>
                      </a:ext>
                    </a:extLst>
                  </a:tr>
                  <a:tr h="387858">
                    <a:tc>
                      <a:txBody>
                        <a:bodyPr/>
                        <a:lstStyle/>
                        <a:p>
                          <a:endParaRPr lang="en-US"/>
                        </a:p>
                      </a:txBody>
                      <a:tcPr anchor="ctr">
                        <a:blipFill>
                          <a:blip r:embed="rId2"/>
                          <a:stretch>
                            <a:fillRect l="-391" t="-100000" r="-394922" b="-410938"/>
                          </a:stretch>
                        </a:blipFill>
                      </a:tcPr>
                    </a:tc>
                    <a:tc>
                      <a:txBody>
                        <a:bodyPr/>
                        <a:lstStyle/>
                        <a:p>
                          <a:pPr>
                            <a:buNone/>
                          </a:pPr>
                          <a:r>
                            <a:rPr lang="en-US" dirty="0"/>
                            <a:t>Trainable logit for the edge from 𝑖 to 𝑗</a:t>
                          </a:r>
                        </a:p>
                      </a:txBody>
                      <a:tcPr anchor="ctr"/>
                    </a:tc>
                    <a:extLst>
                      <a:ext uri="{0D108BD9-81ED-4DB2-BD59-A6C34878D82A}">
                        <a16:rowId xmlns:a16="http://schemas.microsoft.com/office/drawing/2014/main" val="1900886714"/>
                      </a:ext>
                    </a:extLst>
                  </a:tr>
                  <a:tr h="387858">
                    <a:tc>
                      <a:txBody>
                        <a:bodyPr/>
                        <a:lstStyle/>
                        <a:p>
                          <a:endParaRPr lang="en-US"/>
                        </a:p>
                      </a:txBody>
                      <a:tcPr anchor="ctr">
                        <a:blipFill>
                          <a:blip r:embed="rId2"/>
                          <a:stretch>
                            <a:fillRect l="-391" t="-200000" r="-394922" b="-310938"/>
                          </a:stretch>
                        </a:blipFill>
                      </a:tcPr>
                    </a:tc>
                    <a:tc>
                      <a:txBody>
                        <a:bodyPr/>
                        <a:lstStyle/>
                        <a:p>
                          <a:pPr>
                            <a:buNone/>
                          </a:pPr>
                          <a:r>
                            <a:rPr lang="en-US" dirty="0"/>
                            <a:t>Noise sampled randomly during training</a:t>
                          </a:r>
                        </a:p>
                      </a:txBody>
                      <a:tcPr anchor="ctr"/>
                    </a:tc>
                    <a:extLst>
                      <a:ext uri="{0D108BD9-81ED-4DB2-BD59-A6C34878D82A}">
                        <a16:rowId xmlns:a16="http://schemas.microsoft.com/office/drawing/2014/main" val="4131312226"/>
                      </a:ext>
                    </a:extLst>
                  </a:tr>
                  <a:tr h="370840">
                    <a:tc>
                      <a:txBody>
                        <a:bodyPr/>
                        <a:lstStyle/>
                        <a:p>
                          <a:endParaRPr lang="en-US"/>
                        </a:p>
                      </a:txBody>
                      <a:tcPr anchor="ctr">
                        <a:blipFill>
                          <a:blip r:embed="rId2"/>
                          <a:stretch>
                            <a:fillRect l="-391" t="-314754" r="-394922" b="-226230"/>
                          </a:stretch>
                        </a:blipFill>
                      </a:tcPr>
                    </a:tc>
                    <a:tc>
                      <a:txBody>
                        <a:bodyPr/>
                        <a:lstStyle/>
                        <a:p>
                          <a:pPr>
                            <a:buNone/>
                          </a:pPr>
                          <a:r>
                            <a:rPr lang="en-US"/>
                            <a:t>hard-concrete temperature</a:t>
                          </a:r>
                        </a:p>
                      </a:txBody>
                      <a:tcPr anchor="ctr"/>
                    </a:tc>
                    <a:extLst>
                      <a:ext uri="{0D108BD9-81ED-4DB2-BD59-A6C34878D82A}">
                        <a16:rowId xmlns:a16="http://schemas.microsoft.com/office/drawing/2014/main" val="2942871664"/>
                      </a:ext>
                    </a:extLst>
                  </a:tr>
                  <a:tr h="370840">
                    <a:tc>
                      <a:txBody>
                        <a:bodyPr/>
                        <a:lstStyle/>
                        <a:p>
                          <a:endParaRPr lang="en-US"/>
                        </a:p>
                      </a:txBody>
                      <a:tcPr anchor="ctr">
                        <a:blipFill>
                          <a:blip r:embed="rId2"/>
                          <a:stretch>
                            <a:fillRect l="-391" t="-414754" r="-394922" b="-126230"/>
                          </a:stretch>
                        </a:blipFill>
                      </a:tcPr>
                    </a:tc>
                    <a:tc>
                      <a:txBody>
                        <a:bodyPr/>
                        <a:lstStyle/>
                        <a:p>
                          <a:pPr>
                            <a:buNone/>
                          </a:pPr>
                          <a:r>
                            <a:rPr lang="en-US" dirty="0"/>
                            <a:t>Stretch constants; allow the gate to reach exactly 0 or 1</a:t>
                          </a:r>
                        </a:p>
                      </a:txBody>
                      <a:tcPr anchor="ctr"/>
                    </a:tc>
                    <a:extLst>
                      <a:ext uri="{0D108BD9-81ED-4DB2-BD59-A6C34878D82A}">
                        <a16:rowId xmlns:a16="http://schemas.microsoft.com/office/drawing/2014/main" val="2661631401"/>
                      </a:ext>
                    </a:extLst>
                  </a:tr>
                  <a:tr h="387858">
                    <a:tc>
                      <a:txBody>
                        <a:bodyPr/>
                        <a:lstStyle/>
                        <a:p>
                          <a:endParaRPr lang="en-US"/>
                        </a:p>
                      </a:txBody>
                      <a:tcPr anchor="ctr">
                        <a:blipFill>
                          <a:blip r:embed="rId2"/>
                          <a:stretch>
                            <a:fillRect l="-391" t="-490625" r="-394922" b="-20313"/>
                          </a:stretch>
                        </a:blipFill>
                      </a:tcPr>
                    </a:tc>
                    <a:tc>
                      <a:txBody>
                        <a:bodyPr/>
                        <a:lstStyle/>
                        <a:p>
                          <a:pPr>
                            <a:buNone/>
                          </a:pPr>
                          <a:r>
                            <a:rPr lang="en-US" dirty="0"/>
                            <a:t>Final gate; tends towards a closed or open state</a:t>
                          </a:r>
                        </a:p>
                      </a:txBody>
                      <a:tcPr anchor="ctr"/>
                    </a:tc>
                    <a:extLst>
                      <a:ext uri="{0D108BD9-81ED-4DB2-BD59-A6C34878D82A}">
                        <a16:rowId xmlns:a16="http://schemas.microsoft.com/office/drawing/2014/main" val="155404445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D37F944E-2AEB-CFC4-81DC-A17B13B2957F}"/>
                  </a:ext>
                </a:extLst>
              </p:cNvPr>
              <p:cNvGraphicFramePr>
                <a:graphicFrameLocks noGrp="1"/>
              </p:cNvGraphicFramePr>
              <p:nvPr>
                <p:extLst>
                  <p:ext uri="{D42A27DB-BD31-4B8C-83A1-F6EECF244321}">
                    <p14:modId xmlns:p14="http://schemas.microsoft.com/office/powerpoint/2010/main" val="4228451746"/>
                  </p:ext>
                </p:extLst>
              </p:nvPr>
            </p:nvGraphicFramePr>
            <p:xfrm>
              <a:off x="438411" y="4084320"/>
              <a:ext cx="9206630" cy="2225040"/>
            </p:xfrm>
            <a:graphic>
              <a:graphicData uri="http://schemas.openxmlformats.org/drawingml/2006/table">
                <a:tbl>
                  <a:tblPr firstRow="1" bandRow="1">
                    <a:tableStyleId>{5C22544A-7EE6-4342-B048-85BDC9FD1C3A}</a:tableStyleId>
                  </a:tblPr>
                  <a:tblGrid>
                    <a:gridCol w="1859319">
                      <a:extLst>
                        <a:ext uri="{9D8B030D-6E8A-4147-A177-3AD203B41FA5}">
                          <a16:colId xmlns:a16="http://schemas.microsoft.com/office/drawing/2014/main" val="998794846"/>
                        </a:ext>
                      </a:extLst>
                    </a:gridCol>
                    <a:gridCol w="7347311">
                      <a:extLst>
                        <a:ext uri="{9D8B030D-6E8A-4147-A177-3AD203B41FA5}">
                          <a16:colId xmlns:a16="http://schemas.microsoft.com/office/drawing/2014/main" val="1611007773"/>
                        </a:ext>
                      </a:extLst>
                    </a:gridCol>
                  </a:tblGrid>
                  <a:tr h="370840">
                    <a:tc>
                      <a:txBody>
                        <a:bodyPr/>
                        <a:lstStyle/>
                        <a:p>
                          <a:pPr>
                            <a:buNone/>
                          </a:pPr>
                          <a:r>
                            <a:rPr lang="en-US" dirty="0"/>
                            <a:t>Parameters</a:t>
                          </a:r>
                        </a:p>
                      </a:txBody>
                      <a:tcPr anchor="ctr"/>
                    </a:tc>
                    <a:tc>
                      <a:txBody>
                        <a:bodyPr/>
                        <a:lstStyle/>
                        <a:p>
                          <a:pPr>
                            <a:buNone/>
                          </a:pPr>
                          <a:r>
                            <a:rPr lang="en-US" dirty="0"/>
                            <a:t>Meaning</a:t>
                          </a:r>
                        </a:p>
                      </a:txBody>
                      <a:tcPr anchor="ctr"/>
                    </a:tc>
                    <a:extLst>
                      <a:ext uri="{0D108BD9-81ED-4DB2-BD59-A6C34878D82A}">
                        <a16:rowId xmlns:a16="http://schemas.microsoft.com/office/drawing/2014/main" val="1138748214"/>
                      </a:ext>
                    </a:extLst>
                  </a:tr>
                  <a:tr h="370840">
                    <a:tc>
                      <a:txBody>
                        <a:bodyPr/>
                        <a:lstStyle/>
                        <a:p>
                          <a:pPr>
                            <a:buNone/>
                          </a:pPr>
                          <a14:m>
                            <m:oMathPara xmlns:m="http://schemas.openxmlformats.org/officeDocument/2006/math">
                              <m:oMath>
                                <m:r>
                                  <a:rPr lang="en-US">
                                    <a:latin typeface="Cambria Math" panose="02040503050406030204" pitchFamily="18" charset="0"/>
                                  </a:rPr>
                                  <m:t>ℐ</m:t>
                                </m:r>
                              </m:oMath>
                            </m:oMathPara>
                          </a14:m>
                          <a:endParaRPr lang="en-US"/>
                        </a:p>
                      </a:txBody>
                      <a:tcPr anchor="ctr"/>
                    </a:tc>
                    <a:tc>
                      <a:txBody>
                        <a:bodyPr/>
                        <a:lstStyle/>
                        <a:p>
                          <a:pPr>
                            <a:buNone/>
                          </a:pPr>
                          <a:r>
                            <a:rPr lang="en-US" dirty="0"/>
                            <a:t>The set of variables actually intervened upon in the current batch.</a:t>
                          </a:r>
                        </a:p>
                      </a:txBody>
                      <a:tcPr anchor="ctr"/>
                    </a:tc>
                    <a:extLst>
                      <a:ext uri="{0D108BD9-81ED-4DB2-BD59-A6C34878D82A}">
                        <a16:rowId xmlns:a16="http://schemas.microsoft.com/office/drawing/2014/main" val="3173091691"/>
                      </a:ext>
                    </a:extLst>
                  </a:tr>
                  <a:tr h="370840">
                    <a:tc>
                      <a:txBody>
                        <a:bodyPr/>
                        <a:lstStyle/>
                        <a:p>
                          <a:pPr>
                            <a:buNone/>
                          </a:pPr>
                          <a14:m>
                            <m:oMathPara xmlns:m="http://schemas.openxmlformats.org/officeDocument/2006/math">
                              <m:oMath>
                                <m:sSub>
                                  <m:sSubPr>
                                    <m:ctrlPr>
                                      <a:rPr lang="en-US">
                                        <a:latin typeface="Cambria Math" panose="02040503050406030204" pitchFamily="18" charset="0"/>
                                      </a:rPr>
                                    </m:ctrlPr>
                                  </m:sSubPr>
                                  <m:e>
                                    <m:r>
                                      <a:rPr lang="en-US">
                                        <a:latin typeface="Cambria Math" panose="02040503050406030204" pitchFamily="18" charset="0"/>
                                      </a:rPr>
                                      <m:t>ℬ</m:t>
                                    </m:r>
                                  </m:e>
                                  <m:sub>
                                    <m:r>
                                      <a:rPr lang="en-US" i="1">
                                        <a:latin typeface="Cambria Math" panose="02040503050406030204" pitchFamily="18" charset="0"/>
                                      </a:rPr>
                                      <m:t>𝑖</m:t>
                                    </m:r>
                                  </m:sub>
                                </m:sSub>
                              </m:oMath>
                            </m:oMathPara>
                          </a14:m>
                          <a:endParaRPr lang="en-US"/>
                        </a:p>
                      </a:txBody>
                      <a:tcPr anchor="ctr"/>
                    </a:tc>
                    <a:tc>
                      <a:txBody>
                        <a:bodyPr/>
                        <a:lstStyle/>
                        <a:p>
                          <a:pPr>
                            <a:buNone/>
                          </a:pPr>
                          <a:r>
                            <a:rPr lang="en-US" dirty="0"/>
                            <a:t>The set of samples for which the intervention variable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oMath>
                          </a14:m>
                          <a:endParaRPr lang="en-US" dirty="0"/>
                        </a:p>
                      </a:txBody>
                      <a:tcPr anchor="ctr"/>
                    </a:tc>
                    <a:extLst>
                      <a:ext uri="{0D108BD9-81ED-4DB2-BD59-A6C34878D82A}">
                        <a16:rowId xmlns:a16="http://schemas.microsoft.com/office/drawing/2014/main" val="100152338"/>
                      </a:ext>
                    </a:extLst>
                  </a:tr>
                  <a:tr h="370840">
                    <a:tc>
                      <a:txBody>
                        <a:bodyPr/>
                        <a:lstStyle/>
                        <a:p>
                          <a:pP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oMath>
                            </m:oMathPara>
                          </a14:m>
                          <a:endParaRPr lang="en-US"/>
                        </a:p>
                      </a:txBody>
                      <a:tcPr anchor="ctr"/>
                    </a:tc>
                    <a:tc>
                      <a:txBody>
                        <a:bodyPr/>
                        <a:lstStyle/>
                        <a:p>
                          <a:pPr>
                            <a:buNone/>
                          </a:pPr>
                          <a:r>
                            <a:rPr lang="en-US" dirty="0"/>
                            <a:t>The scale of the true effect of variable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oMath>
                          </a14:m>
                          <a:endParaRPr lang="en-US" dirty="0"/>
                        </a:p>
                      </a:txBody>
                      <a:tcPr anchor="ctr"/>
                    </a:tc>
                    <a:extLst>
                      <a:ext uri="{0D108BD9-81ED-4DB2-BD59-A6C34878D82A}">
                        <a16:rowId xmlns:a16="http://schemas.microsoft.com/office/drawing/2014/main" val="48152993"/>
                      </a:ext>
                    </a:extLst>
                  </a:tr>
                  <a:tr h="370840">
                    <a:tc>
                      <a:txBody>
                        <a:bodyPr/>
                        <a:lstStyle/>
                        <a:p>
                          <a:pPr>
                            <a:buNone/>
                          </a:pPr>
                          <a14:m>
                            <m:oMathPara xmlns:m="http://schemas.openxmlformats.org/officeDocument/2006/math">
                              <m:o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𝜏</m:t>
                                        </m:r>
                                      </m:e>
                                    </m:acc>
                                  </m:e>
                                  <m:sub>
                                    <m:r>
                                      <a:rPr lang="en-US" i="1">
                                        <a:latin typeface="Cambria Math" panose="02040503050406030204" pitchFamily="18" charset="0"/>
                                      </a:rPr>
                                      <m:t>𝑛</m:t>
                                    </m:r>
                                  </m:sub>
                                </m:sSub>
                              </m:oMath>
                            </m:oMathPara>
                          </a14:m>
                          <a:endParaRPr lang="en-US"/>
                        </a:p>
                      </a:txBody>
                      <a:tcPr anchor="ctr"/>
                    </a:tc>
                    <a:tc>
                      <a:txBody>
                        <a:bodyPr/>
                        <a:lstStyle/>
                        <a:p>
                          <a:pPr>
                            <a:buNone/>
                          </a:pPr>
                          <a:r>
                            <a:rPr lang="en-US" dirty="0"/>
                            <a:t>Predicted individual effect</a:t>
                          </a:r>
                        </a:p>
                      </a:txBody>
                      <a:tcPr anchor="ctr"/>
                    </a:tc>
                    <a:extLst>
                      <a:ext uri="{0D108BD9-81ED-4DB2-BD59-A6C34878D82A}">
                        <a16:rowId xmlns:a16="http://schemas.microsoft.com/office/drawing/2014/main" val="1540144280"/>
                      </a:ext>
                    </a:extLst>
                  </a:tr>
                  <a:tr h="370840">
                    <a:tc>
                      <a:txBody>
                        <a:bodyPr/>
                        <a:lstStyle/>
                        <a:p>
                          <a:pP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sub>
                                </m:sSub>
                              </m:oMath>
                            </m:oMathPara>
                          </a14:m>
                          <a:endParaRPr lang="en-US"/>
                        </a:p>
                      </a:txBody>
                      <a:tcPr anchor="ctr"/>
                    </a:tc>
                    <a:tc>
                      <a:txBody>
                        <a:bodyPr/>
                        <a:lstStyle/>
                        <a:p>
                          <a:pPr>
                            <a:buNone/>
                          </a:pPr>
                          <a:r>
                            <a:rPr lang="en-US" dirty="0" err="1"/>
                            <a:t>Acutal</a:t>
                          </a:r>
                          <a:r>
                            <a:rPr lang="en-US" dirty="0"/>
                            <a:t> individual effect</a:t>
                          </a:r>
                        </a:p>
                      </a:txBody>
                      <a:tcPr anchor="ctr"/>
                    </a:tc>
                    <a:extLst>
                      <a:ext uri="{0D108BD9-81ED-4DB2-BD59-A6C34878D82A}">
                        <a16:rowId xmlns:a16="http://schemas.microsoft.com/office/drawing/2014/main" val="2795515347"/>
                      </a:ext>
                    </a:extLst>
                  </a:tr>
                </a:tbl>
              </a:graphicData>
            </a:graphic>
          </p:graphicFrame>
        </mc:Choice>
        <mc:Fallback xmlns="">
          <p:graphicFrame>
            <p:nvGraphicFramePr>
              <p:cNvPr id="5" name="Table 4">
                <a:extLst>
                  <a:ext uri="{FF2B5EF4-FFF2-40B4-BE49-F238E27FC236}">
                    <a16:creationId xmlns:a16="http://schemas.microsoft.com/office/drawing/2014/main" id="{D37F944E-2AEB-CFC4-81DC-A17B13B2957F}"/>
                  </a:ext>
                </a:extLst>
              </p:cNvPr>
              <p:cNvGraphicFramePr>
                <a:graphicFrameLocks noGrp="1"/>
              </p:cNvGraphicFramePr>
              <p:nvPr>
                <p:extLst>
                  <p:ext uri="{D42A27DB-BD31-4B8C-83A1-F6EECF244321}">
                    <p14:modId xmlns:p14="http://schemas.microsoft.com/office/powerpoint/2010/main" val="4228451746"/>
                  </p:ext>
                </p:extLst>
              </p:nvPr>
            </p:nvGraphicFramePr>
            <p:xfrm>
              <a:off x="438411" y="4084320"/>
              <a:ext cx="9206630" cy="2225040"/>
            </p:xfrm>
            <a:graphic>
              <a:graphicData uri="http://schemas.openxmlformats.org/drawingml/2006/table">
                <a:tbl>
                  <a:tblPr firstRow="1" bandRow="1">
                    <a:tableStyleId>{5C22544A-7EE6-4342-B048-85BDC9FD1C3A}</a:tableStyleId>
                  </a:tblPr>
                  <a:tblGrid>
                    <a:gridCol w="1859319">
                      <a:extLst>
                        <a:ext uri="{9D8B030D-6E8A-4147-A177-3AD203B41FA5}">
                          <a16:colId xmlns:a16="http://schemas.microsoft.com/office/drawing/2014/main" val="998794846"/>
                        </a:ext>
                      </a:extLst>
                    </a:gridCol>
                    <a:gridCol w="7347311">
                      <a:extLst>
                        <a:ext uri="{9D8B030D-6E8A-4147-A177-3AD203B41FA5}">
                          <a16:colId xmlns:a16="http://schemas.microsoft.com/office/drawing/2014/main" val="1611007773"/>
                        </a:ext>
                      </a:extLst>
                    </a:gridCol>
                  </a:tblGrid>
                  <a:tr h="370840">
                    <a:tc>
                      <a:txBody>
                        <a:bodyPr/>
                        <a:lstStyle/>
                        <a:p>
                          <a:pPr>
                            <a:buNone/>
                          </a:pPr>
                          <a:r>
                            <a:rPr lang="en-US" dirty="0"/>
                            <a:t>Parameters</a:t>
                          </a:r>
                        </a:p>
                      </a:txBody>
                      <a:tcPr anchor="ctr"/>
                    </a:tc>
                    <a:tc>
                      <a:txBody>
                        <a:bodyPr/>
                        <a:lstStyle/>
                        <a:p>
                          <a:pPr>
                            <a:buNone/>
                          </a:pPr>
                          <a:r>
                            <a:rPr lang="en-US" dirty="0"/>
                            <a:t>Meaning</a:t>
                          </a:r>
                        </a:p>
                      </a:txBody>
                      <a:tcPr anchor="ctr"/>
                    </a:tc>
                    <a:extLst>
                      <a:ext uri="{0D108BD9-81ED-4DB2-BD59-A6C34878D82A}">
                        <a16:rowId xmlns:a16="http://schemas.microsoft.com/office/drawing/2014/main" val="1138748214"/>
                      </a:ext>
                    </a:extLst>
                  </a:tr>
                  <a:tr h="370840">
                    <a:tc>
                      <a:txBody>
                        <a:bodyPr/>
                        <a:lstStyle/>
                        <a:p>
                          <a:endParaRPr lang="en-US"/>
                        </a:p>
                      </a:txBody>
                      <a:tcPr anchor="ctr">
                        <a:blipFill>
                          <a:blip r:embed="rId3"/>
                          <a:stretch>
                            <a:fillRect l="-328" t="-106557" r="-397049" b="-424590"/>
                          </a:stretch>
                        </a:blipFill>
                      </a:tcPr>
                    </a:tc>
                    <a:tc>
                      <a:txBody>
                        <a:bodyPr/>
                        <a:lstStyle/>
                        <a:p>
                          <a:pPr>
                            <a:buNone/>
                          </a:pPr>
                          <a:r>
                            <a:rPr lang="en-US" dirty="0"/>
                            <a:t>The set of variables actually intervened upon in the current batch.</a:t>
                          </a:r>
                        </a:p>
                      </a:txBody>
                      <a:tcPr anchor="ctr"/>
                    </a:tc>
                    <a:extLst>
                      <a:ext uri="{0D108BD9-81ED-4DB2-BD59-A6C34878D82A}">
                        <a16:rowId xmlns:a16="http://schemas.microsoft.com/office/drawing/2014/main" val="3173091691"/>
                      </a:ext>
                    </a:extLst>
                  </a:tr>
                  <a:tr h="370840">
                    <a:tc>
                      <a:txBody>
                        <a:bodyPr/>
                        <a:lstStyle/>
                        <a:p>
                          <a:endParaRPr lang="en-US"/>
                        </a:p>
                      </a:txBody>
                      <a:tcPr anchor="ctr">
                        <a:blipFill>
                          <a:blip r:embed="rId3"/>
                          <a:stretch>
                            <a:fillRect l="-328" t="-206557" r="-397049" b="-324590"/>
                          </a:stretch>
                        </a:blipFill>
                      </a:tcPr>
                    </a:tc>
                    <a:tc>
                      <a:txBody>
                        <a:bodyPr/>
                        <a:lstStyle/>
                        <a:p>
                          <a:endParaRPr lang="en-US"/>
                        </a:p>
                      </a:txBody>
                      <a:tcPr anchor="ctr">
                        <a:blipFill>
                          <a:blip r:embed="rId3"/>
                          <a:stretch>
                            <a:fillRect l="-25352" t="-206557" r="-331" b="-324590"/>
                          </a:stretch>
                        </a:blipFill>
                      </a:tcPr>
                    </a:tc>
                    <a:extLst>
                      <a:ext uri="{0D108BD9-81ED-4DB2-BD59-A6C34878D82A}">
                        <a16:rowId xmlns:a16="http://schemas.microsoft.com/office/drawing/2014/main" val="100152338"/>
                      </a:ext>
                    </a:extLst>
                  </a:tr>
                  <a:tr h="370840">
                    <a:tc>
                      <a:txBody>
                        <a:bodyPr/>
                        <a:lstStyle/>
                        <a:p>
                          <a:endParaRPr lang="en-US"/>
                        </a:p>
                      </a:txBody>
                      <a:tcPr anchor="ctr">
                        <a:blipFill>
                          <a:blip r:embed="rId3"/>
                          <a:stretch>
                            <a:fillRect l="-328" t="-311667" r="-397049" b="-230000"/>
                          </a:stretch>
                        </a:blipFill>
                      </a:tcPr>
                    </a:tc>
                    <a:tc>
                      <a:txBody>
                        <a:bodyPr/>
                        <a:lstStyle/>
                        <a:p>
                          <a:endParaRPr lang="en-US"/>
                        </a:p>
                      </a:txBody>
                      <a:tcPr anchor="ctr">
                        <a:blipFill>
                          <a:blip r:embed="rId3"/>
                          <a:stretch>
                            <a:fillRect l="-25352" t="-311667" r="-331" b="-230000"/>
                          </a:stretch>
                        </a:blipFill>
                      </a:tcPr>
                    </a:tc>
                    <a:extLst>
                      <a:ext uri="{0D108BD9-81ED-4DB2-BD59-A6C34878D82A}">
                        <a16:rowId xmlns:a16="http://schemas.microsoft.com/office/drawing/2014/main" val="48152993"/>
                      </a:ext>
                    </a:extLst>
                  </a:tr>
                  <a:tr h="370840">
                    <a:tc>
                      <a:txBody>
                        <a:bodyPr/>
                        <a:lstStyle/>
                        <a:p>
                          <a:endParaRPr lang="en-US"/>
                        </a:p>
                      </a:txBody>
                      <a:tcPr anchor="ctr">
                        <a:blipFill>
                          <a:blip r:embed="rId3"/>
                          <a:stretch>
                            <a:fillRect l="-328" t="-404918" r="-397049" b="-126230"/>
                          </a:stretch>
                        </a:blipFill>
                      </a:tcPr>
                    </a:tc>
                    <a:tc>
                      <a:txBody>
                        <a:bodyPr/>
                        <a:lstStyle/>
                        <a:p>
                          <a:pPr>
                            <a:buNone/>
                          </a:pPr>
                          <a:r>
                            <a:rPr lang="en-US" dirty="0"/>
                            <a:t>Predicted individual effect</a:t>
                          </a:r>
                        </a:p>
                      </a:txBody>
                      <a:tcPr anchor="ctr"/>
                    </a:tc>
                    <a:extLst>
                      <a:ext uri="{0D108BD9-81ED-4DB2-BD59-A6C34878D82A}">
                        <a16:rowId xmlns:a16="http://schemas.microsoft.com/office/drawing/2014/main" val="1540144280"/>
                      </a:ext>
                    </a:extLst>
                  </a:tr>
                  <a:tr h="370840">
                    <a:tc>
                      <a:txBody>
                        <a:bodyPr/>
                        <a:lstStyle/>
                        <a:p>
                          <a:endParaRPr lang="en-US"/>
                        </a:p>
                      </a:txBody>
                      <a:tcPr anchor="ctr">
                        <a:blipFill>
                          <a:blip r:embed="rId3"/>
                          <a:stretch>
                            <a:fillRect l="-328" t="-504918" r="-397049" b="-26230"/>
                          </a:stretch>
                        </a:blipFill>
                      </a:tcPr>
                    </a:tc>
                    <a:tc>
                      <a:txBody>
                        <a:bodyPr/>
                        <a:lstStyle/>
                        <a:p>
                          <a:pPr>
                            <a:buNone/>
                          </a:pPr>
                          <a:r>
                            <a:rPr lang="en-US" dirty="0" err="1"/>
                            <a:t>Acutal</a:t>
                          </a:r>
                          <a:r>
                            <a:rPr lang="en-US" dirty="0"/>
                            <a:t> individual effect</a:t>
                          </a:r>
                        </a:p>
                      </a:txBody>
                      <a:tcPr anchor="ctr"/>
                    </a:tc>
                    <a:extLst>
                      <a:ext uri="{0D108BD9-81ED-4DB2-BD59-A6C34878D82A}">
                        <a16:rowId xmlns:a16="http://schemas.microsoft.com/office/drawing/2014/main" val="2795515347"/>
                      </a:ext>
                    </a:extLst>
                  </a:tr>
                </a:tbl>
              </a:graphicData>
            </a:graphic>
          </p:graphicFrame>
        </mc:Fallback>
      </mc:AlternateContent>
    </p:spTree>
    <p:extLst>
      <p:ext uri="{BB962C8B-B14F-4D97-AF65-F5344CB8AC3E}">
        <p14:creationId xmlns:p14="http://schemas.microsoft.com/office/powerpoint/2010/main" val="3819300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84048"/>
            <a:ext cx="10881360" cy="868680"/>
          </a:xfrm>
        </p:spPr>
        <p:txBody>
          <a:bodyPr/>
          <a:lstStyle/>
          <a:p>
            <a:pPr>
              <a:defRPr sz="3000" b="1">
                <a:solidFill>
                  <a:srgbClr val="000000"/>
                </a:solidFill>
                <a:latin typeface="Neue Haas Grotesk Text Pro"/>
              </a:defRPr>
            </a:pPr>
            <a:r>
              <a:t>Parameters (2/2): loss, controls, metrics</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736947070"/>
                  </p:ext>
                </p:extLst>
              </p:nvPr>
            </p:nvGraphicFramePr>
            <p:xfrm>
              <a:off x="612648" y="1417320"/>
              <a:ext cx="5166360" cy="2350005"/>
            </p:xfrm>
            <a:graphic>
              <a:graphicData uri="http://schemas.openxmlformats.org/drawingml/2006/table">
                <a:tbl>
                  <a:tblPr firstRow="1">
                    <a:tableStyleId>{5C22544A-7EE6-4342-B048-85BDC9FD1C3A}</a:tableStyleId>
                  </a:tblPr>
                  <a:tblGrid>
                    <a:gridCol w="13258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64491">
                    <a:tc>
                      <a:txBody>
                        <a:bodyPr/>
                        <a:lstStyle/>
                        <a:p>
                          <a:pPr>
                            <a:defRPr sz="1200" b="1">
                              <a:solidFill>
                                <a:srgbClr val="FFFFFF"/>
                              </a:solidFill>
                              <a:latin typeface="Neue Haas Grotesk Text Pro"/>
                            </a:defRPr>
                          </a:pPr>
                          <a:r>
                            <a:t>Symbol</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Meaning</a:t>
                          </a:r>
                        </a:p>
                      </a:txBody>
                      <a:tcPr marL="64008" marR="45720" marT="18288" marB="18288" anchor="ctr">
                        <a:solidFill>
                          <a:srgbClr val="169C9A"/>
                        </a:solidFill>
                      </a:tcPr>
                    </a:tc>
                    <a:extLst>
                      <a:ext uri="{0D108BD9-81ED-4DB2-BD59-A6C34878D82A}">
                        <a16:rowId xmlns:a16="http://schemas.microsoft.com/office/drawing/2014/main" val="10000"/>
                      </a:ext>
                    </a:extLst>
                  </a:tr>
                  <a:tr h="330919">
                    <a:tc>
                      <a:txBody>
                        <a:bodyPr/>
                        <a:lstStyle/>
                        <a:p>
                          <a:pPr>
                            <a:defRPr sz="1100" b="0">
                              <a:solidFill>
                                <a:srgbClr val="2C3932"/>
                              </a:solidFill>
                              <a:latin typeface="Neue Haas Grotesk Text Pro"/>
                            </a:defRPr>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𝑖</m:t>
                                    </m:r>
                                  </m:sub>
                                </m:sSub>
                              </m:oMath>
                            </m:oMathPara>
                          </a14:m>
                          <a:endParaRPr dirty="0"/>
                        </a:p>
                      </a:txBody>
                      <a:tcPr marL="64008" marR="45720" marT="18288" marB="18288" anchor="ctr">
                        <a:solidFill>
                          <a:srgbClr val="ECF6F5"/>
                        </a:solidFill>
                      </a:tcPr>
                    </a:tc>
                    <a:tc>
                      <a:txBody>
                        <a:bodyPr/>
                        <a:lstStyle/>
                        <a:p>
                          <a:pPr algn="l">
                            <a:defRPr sz="1100" b="0">
                              <a:solidFill>
                                <a:srgbClr val="2C3932"/>
                              </a:solidFill>
                              <a:latin typeface="Neue Haas Grotesk Text Pro"/>
                            </a:defRPr>
                          </a:pPr>
                          <a:r>
                            <a:t>RMS of the true effect under do(X_i), with a floor</a:t>
                          </a:r>
                        </a:p>
                      </a:txBody>
                      <a:tcPr marL="64008" marR="45720" marT="18288" marB="18288" anchor="ctr">
                        <a:solidFill>
                          <a:srgbClr val="ECF6F5"/>
                        </a:solidFill>
                      </a:tcPr>
                    </a:tc>
                    <a:extLst>
                      <a:ext uri="{0D108BD9-81ED-4DB2-BD59-A6C34878D82A}">
                        <a16:rowId xmlns:a16="http://schemas.microsoft.com/office/drawing/2014/main" val="10001"/>
                      </a:ext>
                    </a:extLst>
                  </a:tr>
                  <a:tr h="330919">
                    <a:tc>
                      <a:txBody>
                        <a:bodyPr/>
                        <a:lstStyle/>
                        <a:p>
                          <a:pPr>
                            <a:defRPr sz="1100" b="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𝛼</m:t>
                                </m:r>
                                <m:r>
                                  <a:rPr lang="en-US" i="1" dirty="0" smtClean="0">
                                    <a:latin typeface="Cambria Math" panose="02040503050406030204" pitchFamily="18" charset="0"/>
                                  </a:rPr>
                                  <m:t> = 0.2</m:t>
                                </m:r>
                              </m:oMath>
                            </m:oMathPara>
                          </a14:m>
                          <a:endParaRPr dirty="0"/>
                        </a:p>
                      </a:txBody>
                      <a:tcPr marL="64008" marR="45720" marT="18288" marB="18288" anchor="ctr">
                        <a:solidFill>
                          <a:srgbClr val="F7FBFB"/>
                        </a:solidFill>
                      </a:tcPr>
                    </a:tc>
                    <a:tc>
                      <a:txBody>
                        <a:bodyPr/>
                        <a:lstStyle/>
                        <a:p>
                          <a:pPr algn="l">
                            <a:defRPr sz="1100" b="0">
                              <a:solidFill>
                                <a:srgbClr val="2C3932"/>
                              </a:solidFill>
                              <a:latin typeface="Neue Haas Grotesk Text Pro"/>
                            </a:defRPr>
                          </a:pPr>
                          <a:r>
                            <a:t>floor fraction:  s_i ← max(s_i, α·median(s))</a:t>
                          </a:r>
                        </a:p>
                      </a:txBody>
                      <a:tcPr marL="64008" marR="45720" marT="18288" marB="18288" anchor="ctr">
                        <a:solidFill>
                          <a:srgbClr val="F7FBFB"/>
                        </a:solidFill>
                      </a:tcPr>
                    </a:tc>
                    <a:extLst>
                      <a:ext uri="{0D108BD9-81ED-4DB2-BD59-A6C34878D82A}">
                        <a16:rowId xmlns:a16="http://schemas.microsoft.com/office/drawing/2014/main" val="10002"/>
                      </a:ext>
                    </a:extLst>
                  </a:tr>
                  <a:tr h="330919">
                    <a:tc>
                      <a:txBody>
                        <a:bodyPr/>
                        <a:lstStyle/>
                        <a:p>
                          <a:pPr>
                            <a:defRPr sz="1100" b="0">
                              <a:solidFill>
                                <a:srgbClr val="2C3932"/>
                              </a:solidFill>
                              <a:latin typeface="Neue Haas Grotesk Text Pro"/>
                            </a:defRPr>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𝜆</m:t>
                                    </m:r>
                                  </m:e>
                                  <m:sub>
                                    <m:r>
                                      <a:rPr lang="en-US" i="1" dirty="0" smtClean="0">
                                        <a:latin typeface="Cambria Math" panose="02040503050406030204" pitchFamily="18" charset="0"/>
                                      </a:rPr>
                                      <m:t>𝑝𝑎𝑖𝑟</m:t>
                                    </m:r>
                                  </m:sub>
                                </m:sSub>
                              </m:oMath>
                            </m:oMathPara>
                          </a14:m>
                          <a:endParaRPr dirty="0"/>
                        </a:p>
                      </a:txBody>
                      <a:tcPr marL="64008" marR="45720" marT="18288" marB="18288" anchor="ctr">
                        <a:solidFill>
                          <a:srgbClr val="ECF6F5"/>
                        </a:solidFill>
                      </a:tcPr>
                    </a:tc>
                    <a:tc>
                      <a:txBody>
                        <a:bodyPr/>
                        <a:lstStyle/>
                        <a:p>
                          <a:pPr algn="l">
                            <a:defRPr sz="1100" b="0">
                              <a:solidFill>
                                <a:srgbClr val="2C3932"/>
                              </a:solidFill>
                              <a:latin typeface="Neue Haas Grotesk Text Pro"/>
                            </a:defRPr>
                          </a:pPr>
                          <a:r>
                            <a:t>weight of the intervention loss (default 1.0)</a:t>
                          </a:r>
                        </a:p>
                      </a:txBody>
                      <a:tcPr marL="64008" marR="45720" marT="18288" marB="18288" anchor="ctr">
                        <a:solidFill>
                          <a:srgbClr val="ECF6F5"/>
                        </a:solidFill>
                      </a:tcPr>
                    </a:tc>
                    <a:extLst>
                      <a:ext uri="{0D108BD9-81ED-4DB2-BD59-A6C34878D82A}">
                        <a16:rowId xmlns:a16="http://schemas.microsoft.com/office/drawing/2014/main" val="10003"/>
                      </a:ext>
                    </a:extLst>
                  </a:tr>
                  <a:tr h="330919">
                    <a:tc>
                      <a:txBody>
                        <a:bodyPr/>
                        <a:lstStyle/>
                        <a:p>
                          <a:pPr>
                            <a:defRPr sz="1100" b="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ea typeface="Cambria Math" panose="02040503050406030204" pitchFamily="18" charset="0"/>
                                  </a:rPr>
                                  <m:t>𝜔</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oMath>
                            </m:oMathPara>
                          </a14:m>
                          <a:endParaRPr dirty="0"/>
                        </a:p>
                      </a:txBody>
                      <a:tcPr marL="64008" marR="45720" marT="18288" marB="18288" anchor="ctr">
                        <a:solidFill>
                          <a:srgbClr val="F7FBFB"/>
                        </a:solidFill>
                      </a:tcPr>
                    </a:tc>
                    <a:tc>
                      <a:txBody>
                        <a:bodyPr/>
                        <a:lstStyle/>
                        <a:p>
                          <a:pPr algn="l">
                            <a:defRPr sz="1100" b="0">
                              <a:solidFill>
                                <a:srgbClr val="2C3932"/>
                              </a:solidFill>
                              <a:latin typeface="Neue Haas Grotesk Text Pro"/>
                            </a:defRPr>
                          </a:pPr>
                          <a:r>
                            <a:t>warm-up: 0.25 for the first 20 epochs, then 1.0</a:t>
                          </a:r>
                        </a:p>
                      </a:txBody>
                      <a:tcPr marL="64008" marR="45720" marT="18288" marB="18288" anchor="ctr">
                        <a:solidFill>
                          <a:srgbClr val="F7FBFB"/>
                        </a:solidFill>
                      </a:tcPr>
                    </a:tc>
                    <a:extLst>
                      <a:ext uri="{0D108BD9-81ED-4DB2-BD59-A6C34878D82A}">
                        <a16:rowId xmlns:a16="http://schemas.microsoft.com/office/drawing/2014/main" val="10004"/>
                      </a:ext>
                    </a:extLst>
                  </a:tr>
                  <a:tr h="330919">
                    <a:tc>
                      <a:txBody>
                        <a:bodyPr/>
                        <a:lstStyle/>
                        <a:p>
                          <a:pPr>
                            <a:defRPr sz="1100" b="0">
                              <a:solidFill>
                                <a:srgbClr val="2C3932"/>
                              </a:solidFill>
                              <a:latin typeface="Neue Haas Grotesk Text Pro"/>
                            </a:defRPr>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𝜆</m:t>
                                    </m:r>
                                  </m:e>
                                  <m:sub>
                                    <m:r>
                                      <a:rPr lang="en-US" i="1" dirty="0" smtClean="0">
                                        <a:latin typeface="Cambria Math" panose="02040503050406030204" pitchFamily="18" charset="0"/>
                                      </a:rPr>
                                      <m:t>0</m:t>
                                    </m:r>
                                  </m:sub>
                                </m:sSub>
                              </m:oMath>
                            </m:oMathPara>
                          </a14:m>
                          <a:endParaRPr dirty="0"/>
                        </a:p>
                      </a:txBody>
                      <a:tcPr marL="64008" marR="45720" marT="18288" marB="18288" anchor="ctr">
                        <a:solidFill>
                          <a:srgbClr val="ECF6F5"/>
                        </a:solidFill>
                      </a:tcPr>
                    </a:tc>
                    <a:tc>
                      <a:txBody>
                        <a:bodyPr/>
                        <a:lstStyle/>
                        <a:p>
                          <a:pPr algn="l">
                            <a:defRPr sz="1100" b="0">
                              <a:solidFill>
                                <a:srgbClr val="2C3932"/>
                              </a:solidFill>
                              <a:latin typeface="Neue Haas Grotesk Text Pro"/>
                            </a:defRPr>
                          </a:pPr>
                          <a:r>
                            <a:t>L0 weight on the gate (default 0.01)</a:t>
                          </a:r>
                        </a:p>
                      </a:txBody>
                      <a:tcPr marL="64008" marR="45720" marT="18288" marB="18288" anchor="ctr">
                        <a:solidFill>
                          <a:srgbClr val="ECF6F5"/>
                        </a:solidFill>
                      </a:tcPr>
                    </a:tc>
                    <a:extLst>
                      <a:ext uri="{0D108BD9-81ED-4DB2-BD59-A6C34878D82A}">
                        <a16:rowId xmlns:a16="http://schemas.microsoft.com/office/drawing/2014/main" val="10005"/>
                      </a:ext>
                    </a:extLst>
                  </a:tr>
                  <a:tr h="330919">
                    <a:tc>
                      <a:txBody>
                        <a:bodyPr/>
                        <a:lstStyle/>
                        <a:p>
                          <a:pPr>
                            <a:defRPr sz="1100" b="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𝜀</m:t>
                                </m:r>
                              </m:oMath>
                            </m:oMathPara>
                          </a14:m>
                          <a:endParaRPr dirty="0"/>
                        </a:p>
                      </a:txBody>
                      <a:tcPr marL="64008" marR="45720" marT="18288" marB="18288" anchor="ctr">
                        <a:solidFill>
                          <a:srgbClr val="F7FBFB"/>
                        </a:solidFill>
                      </a:tcPr>
                    </a:tc>
                    <a:tc>
                      <a:txBody>
                        <a:bodyPr/>
                        <a:lstStyle/>
                        <a:p>
                          <a:pPr algn="l">
                            <a:defRPr sz="1100" b="0">
                              <a:solidFill>
                                <a:srgbClr val="2C3932"/>
                              </a:solidFill>
                              <a:latin typeface="Neue Haas Grotesk Text Pro"/>
                            </a:defRPr>
                          </a:pPr>
                          <a:r>
                            <a:rPr dirty="0"/>
                            <a:t>1e-6, guards the column-</a:t>
                          </a:r>
                          <a:r>
                            <a:rPr dirty="0" err="1"/>
                            <a:t>normalisation</a:t>
                          </a:r>
                          <a:r>
                            <a:rPr dirty="0"/>
                            <a:t> divide</a:t>
                          </a:r>
                        </a:p>
                      </a:txBody>
                      <a:tcPr marL="64008" marR="45720" marT="18288" marB="18288" anchor="ctr">
                        <a:solidFill>
                          <a:srgbClr val="F7FBFB"/>
                        </a:solidFill>
                      </a:tcPr>
                    </a:tc>
                    <a:extLst>
                      <a:ext uri="{0D108BD9-81ED-4DB2-BD59-A6C34878D82A}">
                        <a16:rowId xmlns:a16="http://schemas.microsoft.com/office/drawing/2014/main" val="10006"/>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736947070"/>
                  </p:ext>
                </p:extLst>
              </p:nvPr>
            </p:nvGraphicFramePr>
            <p:xfrm>
              <a:off x="612648" y="1417320"/>
              <a:ext cx="5166360" cy="2350005"/>
            </p:xfrm>
            <a:graphic>
              <a:graphicData uri="http://schemas.openxmlformats.org/drawingml/2006/table">
                <a:tbl>
                  <a:tblPr firstRow="1">
                    <a:tableStyleId>{5C22544A-7EE6-4342-B048-85BDC9FD1C3A}</a:tableStyleId>
                  </a:tblPr>
                  <a:tblGrid>
                    <a:gridCol w="13258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64491">
                    <a:tc>
                      <a:txBody>
                        <a:bodyPr/>
                        <a:lstStyle/>
                        <a:p>
                          <a:pPr>
                            <a:defRPr sz="1200" b="1">
                              <a:solidFill>
                                <a:srgbClr val="FFFFFF"/>
                              </a:solidFill>
                              <a:latin typeface="Neue Haas Grotesk Text Pro"/>
                            </a:defRPr>
                          </a:pPr>
                          <a:r>
                            <a:t>Symbol</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Meaning</a:t>
                          </a:r>
                        </a:p>
                      </a:txBody>
                      <a:tcPr marL="64008" marR="45720" marT="18288" marB="18288" anchor="ctr">
                        <a:solidFill>
                          <a:srgbClr val="169C9A"/>
                        </a:solidFill>
                      </a:tcPr>
                    </a:tc>
                    <a:extLst>
                      <a:ext uri="{0D108BD9-81ED-4DB2-BD59-A6C34878D82A}">
                        <a16:rowId xmlns:a16="http://schemas.microsoft.com/office/drawing/2014/main" val="10000"/>
                      </a:ext>
                    </a:extLst>
                  </a:tr>
                  <a:tr h="330919">
                    <a:tc>
                      <a:txBody>
                        <a:bodyPr/>
                        <a:lstStyle/>
                        <a:p>
                          <a:endParaRPr lang="en-US"/>
                        </a:p>
                      </a:txBody>
                      <a:tcPr marL="64008" marR="45720" marT="18288" marB="18288" anchor="ctr">
                        <a:blipFill>
                          <a:blip r:embed="rId2"/>
                          <a:stretch>
                            <a:fillRect l="-459" t="-112963" r="-291284" b="-509259"/>
                          </a:stretch>
                        </a:blipFill>
                      </a:tcPr>
                    </a:tc>
                    <a:tc>
                      <a:txBody>
                        <a:bodyPr/>
                        <a:lstStyle/>
                        <a:p>
                          <a:pPr algn="l">
                            <a:defRPr sz="1100" b="0">
                              <a:solidFill>
                                <a:srgbClr val="2C3932"/>
                              </a:solidFill>
                              <a:latin typeface="Neue Haas Grotesk Text Pro"/>
                            </a:defRPr>
                          </a:pPr>
                          <a:r>
                            <a:t>RMS of the true effect under do(X_i), with a floor</a:t>
                          </a:r>
                        </a:p>
                      </a:txBody>
                      <a:tcPr marL="64008" marR="45720" marT="18288" marB="18288" anchor="ctr">
                        <a:solidFill>
                          <a:srgbClr val="ECF6F5"/>
                        </a:solidFill>
                      </a:tcPr>
                    </a:tc>
                    <a:extLst>
                      <a:ext uri="{0D108BD9-81ED-4DB2-BD59-A6C34878D82A}">
                        <a16:rowId xmlns:a16="http://schemas.microsoft.com/office/drawing/2014/main" val="10001"/>
                      </a:ext>
                    </a:extLst>
                  </a:tr>
                  <a:tr h="330919">
                    <a:tc>
                      <a:txBody>
                        <a:bodyPr/>
                        <a:lstStyle/>
                        <a:p>
                          <a:endParaRPr lang="en-US"/>
                        </a:p>
                      </a:txBody>
                      <a:tcPr marL="64008" marR="45720" marT="18288" marB="18288" anchor="ctr">
                        <a:blipFill>
                          <a:blip r:embed="rId2"/>
                          <a:stretch>
                            <a:fillRect l="-459" t="-209091" r="-291284" b="-400000"/>
                          </a:stretch>
                        </a:blipFill>
                      </a:tcPr>
                    </a:tc>
                    <a:tc>
                      <a:txBody>
                        <a:bodyPr/>
                        <a:lstStyle/>
                        <a:p>
                          <a:pPr algn="l">
                            <a:defRPr sz="1100" b="0">
                              <a:solidFill>
                                <a:srgbClr val="2C3932"/>
                              </a:solidFill>
                              <a:latin typeface="Neue Haas Grotesk Text Pro"/>
                            </a:defRPr>
                          </a:pPr>
                          <a:r>
                            <a:t>floor fraction:  s_i ← max(s_i, α·median(s))</a:t>
                          </a:r>
                        </a:p>
                      </a:txBody>
                      <a:tcPr marL="64008" marR="45720" marT="18288" marB="18288" anchor="ctr">
                        <a:solidFill>
                          <a:srgbClr val="F7FBFB"/>
                        </a:solidFill>
                      </a:tcPr>
                    </a:tc>
                    <a:extLst>
                      <a:ext uri="{0D108BD9-81ED-4DB2-BD59-A6C34878D82A}">
                        <a16:rowId xmlns:a16="http://schemas.microsoft.com/office/drawing/2014/main" val="10002"/>
                      </a:ext>
                    </a:extLst>
                  </a:tr>
                  <a:tr h="330919">
                    <a:tc>
                      <a:txBody>
                        <a:bodyPr/>
                        <a:lstStyle/>
                        <a:p>
                          <a:endParaRPr lang="en-US"/>
                        </a:p>
                      </a:txBody>
                      <a:tcPr marL="64008" marR="45720" marT="18288" marB="18288" anchor="ctr">
                        <a:blipFill>
                          <a:blip r:embed="rId2"/>
                          <a:stretch>
                            <a:fillRect l="-459" t="-314815" r="-291284" b="-307407"/>
                          </a:stretch>
                        </a:blipFill>
                      </a:tcPr>
                    </a:tc>
                    <a:tc>
                      <a:txBody>
                        <a:bodyPr/>
                        <a:lstStyle/>
                        <a:p>
                          <a:pPr algn="l">
                            <a:defRPr sz="1100" b="0">
                              <a:solidFill>
                                <a:srgbClr val="2C3932"/>
                              </a:solidFill>
                              <a:latin typeface="Neue Haas Grotesk Text Pro"/>
                            </a:defRPr>
                          </a:pPr>
                          <a:r>
                            <a:t>weight of the intervention loss (default 1.0)</a:t>
                          </a:r>
                        </a:p>
                      </a:txBody>
                      <a:tcPr marL="64008" marR="45720" marT="18288" marB="18288" anchor="ctr">
                        <a:solidFill>
                          <a:srgbClr val="ECF6F5"/>
                        </a:solidFill>
                      </a:tcPr>
                    </a:tc>
                    <a:extLst>
                      <a:ext uri="{0D108BD9-81ED-4DB2-BD59-A6C34878D82A}">
                        <a16:rowId xmlns:a16="http://schemas.microsoft.com/office/drawing/2014/main" val="10003"/>
                      </a:ext>
                    </a:extLst>
                  </a:tr>
                  <a:tr h="330919">
                    <a:tc>
                      <a:txBody>
                        <a:bodyPr/>
                        <a:lstStyle/>
                        <a:p>
                          <a:endParaRPr lang="en-US"/>
                        </a:p>
                      </a:txBody>
                      <a:tcPr marL="64008" marR="45720" marT="18288" marB="18288" anchor="ctr">
                        <a:blipFill>
                          <a:blip r:embed="rId2"/>
                          <a:stretch>
                            <a:fillRect l="-459" t="-414815" r="-291284" b="-207407"/>
                          </a:stretch>
                        </a:blipFill>
                      </a:tcPr>
                    </a:tc>
                    <a:tc>
                      <a:txBody>
                        <a:bodyPr/>
                        <a:lstStyle/>
                        <a:p>
                          <a:pPr algn="l">
                            <a:defRPr sz="1100" b="0">
                              <a:solidFill>
                                <a:srgbClr val="2C3932"/>
                              </a:solidFill>
                              <a:latin typeface="Neue Haas Grotesk Text Pro"/>
                            </a:defRPr>
                          </a:pPr>
                          <a:r>
                            <a:t>warm-up: 0.25 for the first 20 epochs, then 1.0</a:t>
                          </a:r>
                        </a:p>
                      </a:txBody>
                      <a:tcPr marL="64008" marR="45720" marT="18288" marB="18288" anchor="ctr">
                        <a:solidFill>
                          <a:srgbClr val="F7FBFB"/>
                        </a:solidFill>
                      </a:tcPr>
                    </a:tc>
                    <a:extLst>
                      <a:ext uri="{0D108BD9-81ED-4DB2-BD59-A6C34878D82A}">
                        <a16:rowId xmlns:a16="http://schemas.microsoft.com/office/drawing/2014/main" val="10004"/>
                      </a:ext>
                    </a:extLst>
                  </a:tr>
                  <a:tr h="330919">
                    <a:tc>
                      <a:txBody>
                        <a:bodyPr/>
                        <a:lstStyle/>
                        <a:p>
                          <a:endParaRPr lang="en-US"/>
                        </a:p>
                      </a:txBody>
                      <a:tcPr marL="64008" marR="45720" marT="18288" marB="18288" anchor="ctr">
                        <a:blipFill>
                          <a:blip r:embed="rId2"/>
                          <a:stretch>
                            <a:fillRect l="-459" t="-505455" r="-291284" b="-103636"/>
                          </a:stretch>
                        </a:blipFill>
                      </a:tcPr>
                    </a:tc>
                    <a:tc>
                      <a:txBody>
                        <a:bodyPr/>
                        <a:lstStyle/>
                        <a:p>
                          <a:pPr algn="l">
                            <a:defRPr sz="1100" b="0">
                              <a:solidFill>
                                <a:srgbClr val="2C3932"/>
                              </a:solidFill>
                              <a:latin typeface="Neue Haas Grotesk Text Pro"/>
                            </a:defRPr>
                          </a:pPr>
                          <a:r>
                            <a:t>L0 weight on the gate (default 0.01)</a:t>
                          </a:r>
                        </a:p>
                      </a:txBody>
                      <a:tcPr marL="64008" marR="45720" marT="18288" marB="18288" anchor="ctr">
                        <a:solidFill>
                          <a:srgbClr val="ECF6F5"/>
                        </a:solidFill>
                      </a:tcPr>
                    </a:tc>
                    <a:extLst>
                      <a:ext uri="{0D108BD9-81ED-4DB2-BD59-A6C34878D82A}">
                        <a16:rowId xmlns:a16="http://schemas.microsoft.com/office/drawing/2014/main" val="10005"/>
                      </a:ext>
                    </a:extLst>
                  </a:tr>
                  <a:tr h="330919">
                    <a:tc>
                      <a:txBody>
                        <a:bodyPr/>
                        <a:lstStyle/>
                        <a:p>
                          <a:endParaRPr lang="en-US"/>
                        </a:p>
                      </a:txBody>
                      <a:tcPr marL="64008" marR="45720" marT="18288" marB="18288" anchor="ctr">
                        <a:blipFill>
                          <a:blip r:embed="rId2"/>
                          <a:stretch>
                            <a:fillRect l="-459" t="-616667" r="-291284" b="-5556"/>
                          </a:stretch>
                        </a:blipFill>
                      </a:tcPr>
                    </a:tc>
                    <a:tc>
                      <a:txBody>
                        <a:bodyPr/>
                        <a:lstStyle/>
                        <a:p>
                          <a:pPr algn="l">
                            <a:defRPr sz="1100" b="0">
                              <a:solidFill>
                                <a:srgbClr val="2C3932"/>
                              </a:solidFill>
                              <a:latin typeface="Neue Haas Grotesk Text Pro"/>
                            </a:defRPr>
                          </a:pPr>
                          <a:r>
                            <a:rPr dirty="0"/>
                            <a:t>1e-6, guards the column-</a:t>
                          </a:r>
                          <a:r>
                            <a:rPr dirty="0" err="1"/>
                            <a:t>normalisation</a:t>
                          </a:r>
                          <a:r>
                            <a:rPr dirty="0"/>
                            <a:t> divide</a:t>
                          </a:r>
                        </a:p>
                      </a:txBody>
                      <a:tcPr marL="64008" marR="45720" marT="18288" marB="18288" anchor="ctr">
                        <a:solidFill>
                          <a:srgbClr val="F7FBFB"/>
                        </a:solid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770339547"/>
                  </p:ext>
                </p:extLst>
              </p:nvPr>
            </p:nvGraphicFramePr>
            <p:xfrm>
              <a:off x="5989320" y="1417319"/>
              <a:ext cx="4773168" cy="2350005"/>
            </p:xfrm>
            <a:graphic>
              <a:graphicData uri="http://schemas.openxmlformats.org/drawingml/2006/table">
                <a:tbl>
                  <a:tblPr firstRow="1">
                    <a:tableStyleId>{5C22544A-7EE6-4342-B048-85BDC9FD1C3A}</a:tableStyleId>
                  </a:tblPr>
                  <a:tblGrid>
                    <a:gridCol w="1463040">
                      <a:extLst>
                        <a:ext uri="{9D8B030D-6E8A-4147-A177-3AD203B41FA5}">
                          <a16:colId xmlns:a16="http://schemas.microsoft.com/office/drawing/2014/main" val="20000"/>
                        </a:ext>
                      </a:extLst>
                    </a:gridCol>
                    <a:gridCol w="3310128">
                      <a:extLst>
                        <a:ext uri="{9D8B030D-6E8A-4147-A177-3AD203B41FA5}">
                          <a16:colId xmlns:a16="http://schemas.microsoft.com/office/drawing/2014/main" val="20001"/>
                        </a:ext>
                      </a:extLst>
                    </a:gridCol>
                  </a:tblGrid>
                  <a:tr h="364491">
                    <a:tc>
                      <a:txBody>
                        <a:bodyPr/>
                        <a:lstStyle/>
                        <a:p>
                          <a:pPr>
                            <a:defRPr sz="1200" b="1">
                              <a:solidFill>
                                <a:srgbClr val="FFFFFF"/>
                              </a:solidFill>
                              <a:latin typeface="Neue Haas Grotesk Text Pro"/>
                            </a:defRPr>
                          </a:pPr>
                          <a:r>
                            <a:t>Metric</a:t>
                          </a:r>
                        </a:p>
                      </a:txBody>
                      <a:tcPr marL="64008" marR="45720" marT="18288" marB="18288" anchor="ctr">
                        <a:solidFill>
                          <a:srgbClr val="169C9A"/>
                        </a:solidFill>
                      </a:tcPr>
                    </a:tc>
                    <a:tc>
                      <a:txBody>
                        <a:bodyPr/>
                        <a:lstStyle/>
                        <a:p>
                          <a:pPr algn="l">
                            <a:defRPr sz="1200" b="1">
                              <a:solidFill>
                                <a:srgbClr val="FFFFFF"/>
                              </a:solidFill>
                              <a:latin typeface="Neue Haas Grotesk Text Pro"/>
                            </a:defRPr>
                          </a:pPr>
                          <a:r>
                            <a:t>What it measures</a:t>
                          </a:r>
                        </a:p>
                      </a:txBody>
                      <a:tcPr marL="64008" marR="45720" marT="18288" marB="18288" anchor="ctr">
                        <a:solidFill>
                          <a:srgbClr val="169C9A"/>
                        </a:solidFill>
                      </a:tcPr>
                    </a:tc>
                    <a:extLst>
                      <a:ext uri="{0D108BD9-81ED-4DB2-BD59-A6C34878D82A}">
                        <a16:rowId xmlns:a16="http://schemas.microsoft.com/office/drawing/2014/main" val="10000"/>
                      </a:ext>
                    </a:extLst>
                  </a:tr>
                  <a:tr h="330919">
                    <a:tc>
                      <a:txBody>
                        <a:bodyPr/>
                        <a:lstStyle/>
                        <a:p>
                          <a:pPr algn="ctr">
                            <a:defRPr sz="1100" b="0">
                              <a:solidFill>
                                <a:srgbClr val="2C3932"/>
                              </a:solidFill>
                              <a:latin typeface="Neue Haas Grotesk Text Pro"/>
                            </a:defRPr>
                          </a:pPr>
                          <a14:m>
                            <m:oMathPara xmlns:m="http://schemas.openxmlformats.org/officeDocument/2006/math">
                              <m:oMath>
                                <m:r>
                                  <a:rPr lang="en-US" i="1" dirty="0" smtClean="0">
                                    <a:latin typeface="Cambria Math" panose="02040503050406030204" pitchFamily="18" charset="0"/>
                                  </a:rPr>
                                  <m:t>√</m:t>
                                </m:r>
                                <m:r>
                                  <a:rPr lang="en-US" i="1" dirty="0" smtClean="0">
                                    <a:latin typeface="Cambria Math" panose="02040503050406030204" pitchFamily="18" charset="0"/>
                                  </a:rPr>
                                  <m:t>𝑃𝐸𝐻𝐸</m:t>
                                </m:r>
                              </m:oMath>
                            </m:oMathPara>
                          </a14:m>
                          <a:endParaRPr dirty="0"/>
                        </a:p>
                      </a:txBody>
                      <a:tcPr marL="64008" marR="45720" marT="18288" marB="18288" anchor="ctr">
                        <a:solidFill>
                          <a:srgbClr val="ECF6F5"/>
                        </a:solidFill>
                      </a:tcPr>
                    </a:tc>
                    <a:tc>
                      <a:txBody>
                        <a:bodyPr/>
                        <a:lstStyle/>
                        <a:p>
                          <a:pPr algn="l">
                            <a:defRPr sz="1100" b="0">
                              <a:solidFill>
                                <a:srgbClr val="2C3932"/>
                              </a:solidFill>
                              <a:latin typeface="Neue Haas Grotesk Text Pro"/>
                            </a:defRPr>
                          </a:pPr>
                          <a:r>
                            <a:t>individual effect error (Hill 2011)</a:t>
                          </a:r>
                        </a:p>
                      </a:txBody>
                      <a:tcPr marL="64008" marR="45720" marT="18288" marB="18288" anchor="ctr">
                        <a:solidFill>
                          <a:srgbClr val="ECF6F5"/>
                        </a:solidFill>
                      </a:tcPr>
                    </a:tc>
                    <a:extLst>
                      <a:ext uri="{0D108BD9-81ED-4DB2-BD59-A6C34878D82A}">
                        <a16:rowId xmlns:a16="http://schemas.microsoft.com/office/drawing/2014/main" val="10001"/>
                      </a:ext>
                    </a:extLst>
                  </a:tr>
                  <a:tr h="330919">
                    <a:tc>
                      <a:txBody>
                        <a:bodyPr/>
                        <a:lstStyle/>
                        <a:p>
                          <a:pPr algn="ctr">
                            <a:defRPr sz="1100" b="0">
                              <a:solidFill>
                                <a:srgbClr val="2C3932"/>
                              </a:solidFill>
                              <a:latin typeface="Neue Haas Grotesk Text Pro"/>
                            </a:defRPr>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𝜀</m:t>
                                    </m:r>
                                  </m:e>
                                  <m:sub>
                                    <m:r>
                                      <a:rPr lang="en-US" i="1" dirty="0" smtClean="0">
                                        <a:latin typeface="Cambria Math" panose="02040503050406030204" pitchFamily="18" charset="0"/>
                                      </a:rPr>
                                      <m:t>𝐴𝑇𝐸</m:t>
                                    </m:r>
                                  </m:sub>
                                </m:sSub>
                              </m:oMath>
                            </m:oMathPara>
                          </a14:m>
                          <a:endParaRPr dirty="0"/>
                        </a:p>
                      </a:txBody>
                      <a:tcPr marL="64008" marR="45720" marT="18288" marB="18288" anchor="ctr">
                        <a:solidFill>
                          <a:srgbClr val="F7FBFB"/>
                        </a:solidFill>
                      </a:tcPr>
                    </a:tc>
                    <a:tc>
                      <a:txBody>
                        <a:bodyPr/>
                        <a:lstStyle/>
                        <a:p>
                          <a:pPr algn="l">
                            <a:defRPr sz="1100" b="0">
                              <a:solidFill>
                                <a:srgbClr val="2C3932"/>
                              </a:solidFill>
                              <a:latin typeface="Neue Haas Grotesk Text Pro"/>
                            </a:defRPr>
                          </a:pPr>
                          <a:r>
                            <a:t>population-level effect bias</a:t>
                          </a:r>
                        </a:p>
                      </a:txBody>
                      <a:tcPr marL="64008" marR="45720" marT="18288" marB="18288" anchor="ctr">
                        <a:solidFill>
                          <a:srgbClr val="F7FBFB"/>
                        </a:solidFill>
                      </a:tcPr>
                    </a:tc>
                    <a:extLst>
                      <a:ext uri="{0D108BD9-81ED-4DB2-BD59-A6C34878D82A}">
                        <a16:rowId xmlns:a16="http://schemas.microsoft.com/office/drawing/2014/main" val="10002"/>
                      </a:ext>
                    </a:extLst>
                  </a:tr>
                  <a:tr h="330919">
                    <a:tc>
                      <a:txBody>
                        <a:bodyPr/>
                        <a:lstStyle/>
                        <a:p>
                          <a:pPr algn="ctr">
                            <a:defRPr sz="1100" b="0">
                              <a:solidFill>
                                <a:srgbClr val="2C3932"/>
                              </a:solidFill>
                              <a:latin typeface="Neue Haas Grotesk Text Pro"/>
                            </a:defRPr>
                          </a:pPr>
                          <a:r>
                            <a:t>spurious sens.</a:t>
                          </a:r>
                        </a:p>
                      </a:txBody>
                      <a:tcPr marL="64008" marR="45720" marT="18288" marB="18288" anchor="ctr">
                        <a:solidFill>
                          <a:srgbClr val="ECF6F5"/>
                        </a:solidFill>
                      </a:tcPr>
                    </a:tc>
                    <a:tc>
                      <a:txBody>
                        <a:bodyPr/>
                        <a:lstStyle/>
                        <a:p>
                          <a:pPr algn="l">
                            <a:defRPr sz="1100" b="0">
                              <a:solidFill>
                                <a:srgbClr val="2C3932"/>
                              </a:solidFill>
                              <a:latin typeface="Neue Haas Grotesk Text Pro"/>
                            </a:defRPr>
                          </a:pPr>
                          <a:r>
                            <a:t>|predicted effect| under do(decoy); truth is 0</a:t>
                          </a:r>
                        </a:p>
                      </a:txBody>
                      <a:tcPr marL="64008" marR="45720" marT="18288" marB="18288" anchor="ctr">
                        <a:solidFill>
                          <a:srgbClr val="ECF6F5"/>
                        </a:solidFill>
                      </a:tcPr>
                    </a:tc>
                    <a:extLst>
                      <a:ext uri="{0D108BD9-81ED-4DB2-BD59-A6C34878D82A}">
                        <a16:rowId xmlns:a16="http://schemas.microsoft.com/office/drawing/2014/main" val="10003"/>
                      </a:ext>
                    </a:extLst>
                  </a:tr>
                  <a:tr h="330919">
                    <a:tc>
                      <a:txBody>
                        <a:bodyPr/>
                        <a:lstStyle/>
                        <a:p>
                          <a:pPr algn="ctr">
                            <a:defRPr sz="1100" b="0">
                              <a:solidFill>
                                <a:srgbClr val="2C3932"/>
                              </a:solidFill>
                              <a:latin typeface="Neue Haas Grotesk Text Pro"/>
                            </a:defRPr>
                          </a:pPr>
                          <a:r>
                            <a:rPr dirty="0" err="1"/>
                            <a:t>ood_gap</a:t>
                          </a:r>
                          <a:endParaRPr dirty="0"/>
                        </a:p>
                      </a:txBody>
                      <a:tcPr marL="64008" marR="45720" marT="18288" marB="18288" anchor="ctr">
                        <a:solidFill>
                          <a:srgbClr val="F7FBFB"/>
                        </a:solidFill>
                      </a:tcPr>
                    </a:tc>
                    <a:tc>
                      <a:txBody>
                        <a:bodyPr/>
                        <a:lstStyle/>
                        <a:p>
                          <a:pPr algn="l">
                            <a:defRPr sz="1100" b="0">
                              <a:solidFill>
                                <a:srgbClr val="2C3932"/>
                              </a:solidFill>
                              <a:latin typeface="Neue Haas Grotesk Text Pro"/>
                            </a:defRPr>
                          </a:pPr>
                          <a:r>
                            <a:t>OOD RMSE ÷ in-distribution RMSE</a:t>
                          </a:r>
                        </a:p>
                      </a:txBody>
                      <a:tcPr marL="64008" marR="45720" marT="18288" marB="18288" anchor="ctr">
                        <a:solidFill>
                          <a:srgbClr val="F7FBFB"/>
                        </a:solidFill>
                      </a:tcPr>
                    </a:tc>
                    <a:extLst>
                      <a:ext uri="{0D108BD9-81ED-4DB2-BD59-A6C34878D82A}">
                        <a16:rowId xmlns:a16="http://schemas.microsoft.com/office/drawing/2014/main" val="10004"/>
                      </a:ext>
                    </a:extLst>
                  </a:tr>
                  <a:tr h="330919">
                    <a:tc>
                      <a:txBody>
                        <a:bodyPr/>
                        <a:lstStyle/>
                        <a:p>
                          <a:pPr algn="ctr">
                            <a:defRPr sz="1100" b="0">
                              <a:solidFill>
                                <a:srgbClr val="2C3932"/>
                              </a:solidFill>
                              <a:latin typeface="Neue Haas Grotesk Text Pro"/>
                            </a:defRPr>
                          </a:pPr>
                          <a:r>
                            <a:t>separation</a:t>
                          </a:r>
                        </a:p>
                      </a:txBody>
                      <a:tcPr marL="64008" marR="45720" marT="18288" marB="18288" anchor="ctr">
                        <a:solidFill>
                          <a:srgbClr val="ECF6F5"/>
                        </a:solidFill>
                      </a:tcPr>
                    </a:tc>
                    <a:tc>
                      <a:txBody>
                        <a:bodyPr/>
                        <a:lstStyle/>
                        <a:p>
                          <a:pPr algn="l">
                            <a:defRPr sz="1100" b="0">
                              <a:solidFill>
                                <a:srgbClr val="2C3932"/>
                              </a:solidFill>
                              <a:latin typeface="Neue Haas Grotesk Text Pro"/>
                            </a:defRPr>
                          </a:pPr>
                          <a:r>
                            <a:t>mean gate on true edges − on false edges</a:t>
                          </a:r>
                        </a:p>
                      </a:txBody>
                      <a:tcPr marL="64008" marR="45720" marT="18288" marB="18288" anchor="ctr">
                        <a:solidFill>
                          <a:srgbClr val="ECF6F5"/>
                        </a:solidFill>
                      </a:tcPr>
                    </a:tc>
                    <a:extLst>
                      <a:ext uri="{0D108BD9-81ED-4DB2-BD59-A6C34878D82A}">
                        <a16:rowId xmlns:a16="http://schemas.microsoft.com/office/drawing/2014/main" val="10005"/>
                      </a:ext>
                    </a:extLst>
                  </a:tr>
                  <a:tr h="330919">
                    <a:tc>
                      <a:txBody>
                        <a:bodyPr/>
                        <a:lstStyle/>
                        <a:p>
                          <a:pPr algn="ctr">
                            <a:defRPr sz="1100" b="0">
                              <a:solidFill>
                                <a:srgbClr val="2C3932"/>
                              </a:solidFill>
                              <a:latin typeface="Neue Haas Grotesk Text Pro"/>
                            </a:defRPr>
                          </a:pPr>
                          <a:r>
                            <a:rPr dirty="0" err="1"/>
                            <a:t>cond</a:t>
                          </a:r>
                          <a:r>
                            <a:rPr dirty="0"/>
                            <a:t> R² gain</a:t>
                          </a:r>
                        </a:p>
                      </a:txBody>
                      <a:tcPr marL="64008" marR="45720" marT="18288" marB="18288" anchor="ctr">
                        <a:solidFill>
                          <a:srgbClr val="F7FBFB"/>
                        </a:solidFill>
                      </a:tcPr>
                    </a:tc>
                    <a:tc>
                      <a:txBody>
                        <a:bodyPr/>
                        <a:lstStyle/>
                        <a:p>
                          <a:pPr algn="l">
                            <a:defRPr sz="1100" b="0">
                              <a:solidFill>
                                <a:srgbClr val="2C3932"/>
                              </a:solidFill>
                              <a:latin typeface="Neue Haas Grotesk Text Pro"/>
                            </a:defRPr>
                          </a:pPr>
                          <a:r>
                            <a:rPr dirty="0"/>
                            <a:t>variance explained on top of ALL true causes</a:t>
                          </a:r>
                        </a:p>
                      </a:txBody>
                      <a:tcPr marL="64008" marR="45720" marT="18288" marB="18288" anchor="ctr">
                        <a:solidFill>
                          <a:srgbClr val="F7FBFB"/>
                        </a:solidFill>
                      </a:tcPr>
                    </a:tc>
                    <a:extLst>
                      <a:ext uri="{0D108BD9-81ED-4DB2-BD59-A6C34878D82A}">
                        <a16:rowId xmlns:a16="http://schemas.microsoft.com/office/drawing/2014/main" val="10006"/>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770339547"/>
                  </p:ext>
                </p:extLst>
              </p:nvPr>
            </p:nvGraphicFramePr>
            <p:xfrm>
              <a:off x="5989320" y="1417319"/>
              <a:ext cx="4773168" cy="2350005"/>
            </p:xfrm>
            <a:graphic>
              <a:graphicData uri="http://schemas.openxmlformats.org/drawingml/2006/table">
                <a:tbl>
                  <a:tblPr firstRow="1">
                    <a:tableStyleId>{5C22544A-7EE6-4342-B048-85BDC9FD1C3A}</a:tableStyleId>
                  </a:tblPr>
                  <a:tblGrid>
                    <a:gridCol w="1463040">
                      <a:extLst>
                        <a:ext uri="{9D8B030D-6E8A-4147-A177-3AD203B41FA5}">
                          <a16:colId xmlns:a16="http://schemas.microsoft.com/office/drawing/2014/main" val="20000"/>
                        </a:ext>
                      </a:extLst>
                    </a:gridCol>
                    <a:gridCol w="3310128">
                      <a:extLst>
                        <a:ext uri="{9D8B030D-6E8A-4147-A177-3AD203B41FA5}">
                          <a16:colId xmlns:a16="http://schemas.microsoft.com/office/drawing/2014/main" val="20001"/>
                        </a:ext>
                      </a:extLst>
                    </a:gridCol>
                  </a:tblGrid>
                  <a:tr h="364491">
                    <a:tc>
                      <a:txBody>
                        <a:bodyPr/>
                        <a:lstStyle/>
                        <a:p>
                          <a:pPr>
                            <a:defRPr sz="1200" b="1">
                              <a:solidFill>
                                <a:srgbClr val="FFFFFF"/>
                              </a:solidFill>
                              <a:latin typeface="Neue Haas Grotesk Text Pro"/>
                            </a:defRPr>
                          </a:pPr>
                          <a:r>
                            <a:t>Metric</a:t>
                          </a:r>
                        </a:p>
                      </a:txBody>
                      <a:tcPr marL="64008" marR="45720" marT="18288" marB="18288" anchor="ctr">
                        <a:solidFill>
                          <a:srgbClr val="169C9A"/>
                        </a:solidFill>
                      </a:tcPr>
                    </a:tc>
                    <a:tc>
                      <a:txBody>
                        <a:bodyPr/>
                        <a:lstStyle/>
                        <a:p>
                          <a:pPr algn="l">
                            <a:defRPr sz="1200" b="1">
                              <a:solidFill>
                                <a:srgbClr val="FFFFFF"/>
                              </a:solidFill>
                              <a:latin typeface="Neue Haas Grotesk Text Pro"/>
                            </a:defRPr>
                          </a:pPr>
                          <a:r>
                            <a:t>What it measures</a:t>
                          </a:r>
                        </a:p>
                      </a:txBody>
                      <a:tcPr marL="64008" marR="45720" marT="18288" marB="18288" anchor="ctr">
                        <a:solidFill>
                          <a:srgbClr val="169C9A"/>
                        </a:solidFill>
                      </a:tcPr>
                    </a:tc>
                    <a:extLst>
                      <a:ext uri="{0D108BD9-81ED-4DB2-BD59-A6C34878D82A}">
                        <a16:rowId xmlns:a16="http://schemas.microsoft.com/office/drawing/2014/main" val="10000"/>
                      </a:ext>
                    </a:extLst>
                  </a:tr>
                  <a:tr h="330919">
                    <a:tc>
                      <a:txBody>
                        <a:bodyPr/>
                        <a:lstStyle/>
                        <a:p>
                          <a:endParaRPr lang="en-US"/>
                        </a:p>
                      </a:txBody>
                      <a:tcPr marL="64008" marR="45720" marT="18288" marB="18288" anchor="ctr">
                        <a:blipFill>
                          <a:blip r:embed="rId3"/>
                          <a:stretch>
                            <a:fillRect l="-417" t="-112963" r="-228333" b="-509259"/>
                          </a:stretch>
                        </a:blipFill>
                      </a:tcPr>
                    </a:tc>
                    <a:tc>
                      <a:txBody>
                        <a:bodyPr/>
                        <a:lstStyle/>
                        <a:p>
                          <a:pPr algn="l">
                            <a:defRPr sz="1100" b="0">
                              <a:solidFill>
                                <a:srgbClr val="2C3932"/>
                              </a:solidFill>
                              <a:latin typeface="Neue Haas Grotesk Text Pro"/>
                            </a:defRPr>
                          </a:pPr>
                          <a:r>
                            <a:t>individual effect error (Hill 2011)</a:t>
                          </a:r>
                        </a:p>
                      </a:txBody>
                      <a:tcPr marL="64008" marR="45720" marT="18288" marB="18288" anchor="ctr">
                        <a:solidFill>
                          <a:srgbClr val="ECF6F5"/>
                        </a:solidFill>
                      </a:tcPr>
                    </a:tc>
                    <a:extLst>
                      <a:ext uri="{0D108BD9-81ED-4DB2-BD59-A6C34878D82A}">
                        <a16:rowId xmlns:a16="http://schemas.microsoft.com/office/drawing/2014/main" val="10001"/>
                      </a:ext>
                    </a:extLst>
                  </a:tr>
                  <a:tr h="330919">
                    <a:tc>
                      <a:txBody>
                        <a:bodyPr/>
                        <a:lstStyle/>
                        <a:p>
                          <a:endParaRPr lang="en-US"/>
                        </a:p>
                      </a:txBody>
                      <a:tcPr marL="64008" marR="45720" marT="18288" marB="18288" anchor="ctr">
                        <a:blipFill>
                          <a:blip r:embed="rId3"/>
                          <a:stretch>
                            <a:fillRect l="-417" t="-209091" r="-228333" b="-400000"/>
                          </a:stretch>
                        </a:blipFill>
                      </a:tcPr>
                    </a:tc>
                    <a:tc>
                      <a:txBody>
                        <a:bodyPr/>
                        <a:lstStyle/>
                        <a:p>
                          <a:pPr algn="l">
                            <a:defRPr sz="1100" b="0">
                              <a:solidFill>
                                <a:srgbClr val="2C3932"/>
                              </a:solidFill>
                              <a:latin typeface="Neue Haas Grotesk Text Pro"/>
                            </a:defRPr>
                          </a:pPr>
                          <a:r>
                            <a:t>population-level effect bias</a:t>
                          </a:r>
                        </a:p>
                      </a:txBody>
                      <a:tcPr marL="64008" marR="45720" marT="18288" marB="18288" anchor="ctr">
                        <a:solidFill>
                          <a:srgbClr val="F7FBFB"/>
                        </a:solidFill>
                      </a:tcPr>
                    </a:tc>
                    <a:extLst>
                      <a:ext uri="{0D108BD9-81ED-4DB2-BD59-A6C34878D82A}">
                        <a16:rowId xmlns:a16="http://schemas.microsoft.com/office/drawing/2014/main" val="10002"/>
                      </a:ext>
                    </a:extLst>
                  </a:tr>
                  <a:tr h="330919">
                    <a:tc>
                      <a:txBody>
                        <a:bodyPr/>
                        <a:lstStyle/>
                        <a:p>
                          <a:pPr algn="ctr">
                            <a:defRPr sz="1100" b="0">
                              <a:solidFill>
                                <a:srgbClr val="2C3932"/>
                              </a:solidFill>
                              <a:latin typeface="Neue Haas Grotesk Text Pro"/>
                            </a:defRPr>
                          </a:pPr>
                          <a:r>
                            <a:t>spurious sens.</a:t>
                          </a:r>
                        </a:p>
                      </a:txBody>
                      <a:tcPr marL="64008" marR="45720" marT="18288" marB="18288" anchor="ctr">
                        <a:solidFill>
                          <a:srgbClr val="ECF6F5"/>
                        </a:solidFill>
                      </a:tcPr>
                    </a:tc>
                    <a:tc>
                      <a:txBody>
                        <a:bodyPr/>
                        <a:lstStyle/>
                        <a:p>
                          <a:pPr algn="l">
                            <a:defRPr sz="1100" b="0">
                              <a:solidFill>
                                <a:srgbClr val="2C3932"/>
                              </a:solidFill>
                              <a:latin typeface="Neue Haas Grotesk Text Pro"/>
                            </a:defRPr>
                          </a:pPr>
                          <a:r>
                            <a:t>|predicted effect| under do(decoy); truth is 0</a:t>
                          </a:r>
                        </a:p>
                      </a:txBody>
                      <a:tcPr marL="64008" marR="45720" marT="18288" marB="18288" anchor="ctr">
                        <a:solidFill>
                          <a:srgbClr val="ECF6F5"/>
                        </a:solidFill>
                      </a:tcPr>
                    </a:tc>
                    <a:extLst>
                      <a:ext uri="{0D108BD9-81ED-4DB2-BD59-A6C34878D82A}">
                        <a16:rowId xmlns:a16="http://schemas.microsoft.com/office/drawing/2014/main" val="10003"/>
                      </a:ext>
                    </a:extLst>
                  </a:tr>
                  <a:tr h="330919">
                    <a:tc>
                      <a:txBody>
                        <a:bodyPr/>
                        <a:lstStyle/>
                        <a:p>
                          <a:pPr algn="ctr">
                            <a:defRPr sz="1100" b="0">
                              <a:solidFill>
                                <a:srgbClr val="2C3932"/>
                              </a:solidFill>
                              <a:latin typeface="Neue Haas Grotesk Text Pro"/>
                            </a:defRPr>
                          </a:pPr>
                          <a:r>
                            <a:rPr dirty="0" err="1"/>
                            <a:t>ood_gap</a:t>
                          </a:r>
                          <a:endParaRPr dirty="0"/>
                        </a:p>
                      </a:txBody>
                      <a:tcPr marL="64008" marR="45720" marT="18288" marB="18288" anchor="ctr">
                        <a:solidFill>
                          <a:srgbClr val="F7FBFB"/>
                        </a:solidFill>
                      </a:tcPr>
                    </a:tc>
                    <a:tc>
                      <a:txBody>
                        <a:bodyPr/>
                        <a:lstStyle/>
                        <a:p>
                          <a:pPr algn="l">
                            <a:defRPr sz="1100" b="0">
                              <a:solidFill>
                                <a:srgbClr val="2C3932"/>
                              </a:solidFill>
                              <a:latin typeface="Neue Haas Grotesk Text Pro"/>
                            </a:defRPr>
                          </a:pPr>
                          <a:r>
                            <a:t>OOD RMSE ÷ in-distribution RMSE</a:t>
                          </a:r>
                        </a:p>
                      </a:txBody>
                      <a:tcPr marL="64008" marR="45720" marT="18288" marB="18288" anchor="ctr">
                        <a:solidFill>
                          <a:srgbClr val="F7FBFB"/>
                        </a:solidFill>
                      </a:tcPr>
                    </a:tc>
                    <a:extLst>
                      <a:ext uri="{0D108BD9-81ED-4DB2-BD59-A6C34878D82A}">
                        <a16:rowId xmlns:a16="http://schemas.microsoft.com/office/drawing/2014/main" val="10004"/>
                      </a:ext>
                    </a:extLst>
                  </a:tr>
                  <a:tr h="330919">
                    <a:tc>
                      <a:txBody>
                        <a:bodyPr/>
                        <a:lstStyle/>
                        <a:p>
                          <a:pPr algn="ctr">
                            <a:defRPr sz="1100" b="0">
                              <a:solidFill>
                                <a:srgbClr val="2C3932"/>
                              </a:solidFill>
                              <a:latin typeface="Neue Haas Grotesk Text Pro"/>
                            </a:defRPr>
                          </a:pPr>
                          <a:r>
                            <a:t>separation</a:t>
                          </a:r>
                        </a:p>
                      </a:txBody>
                      <a:tcPr marL="64008" marR="45720" marT="18288" marB="18288" anchor="ctr">
                        <a:solidFill>
                          <a:srgbClr val="ECF6F5"/>
                        </a:solidFill>
                      </a:tcPr>
                    </a:tc>
                    <a:tc>
                      <a:txBody>
                        <a:bodyPr/>
                        <a:lstStyle/>
                        <a:p>
                          <a:pPr algn="l">
                            <a:defRPr sz="1100" b="0">
                              <a:solidFill>
                                <a:srgbClr val="2C3932"/>
                              </a:solidFill>
                              <a:latin typeface="Neue Haas Grotesk Text Pro"/>
                            </a:defRPr>
                          </a:pPr>
                          <a:r>
                            <a:t>mean gate on true edges − on false edges</a:t>
                          </a:r>
                        </a:p>
                      </a:txBody>
                      <a:tcPr marL="64008" marR="45720" marT="18288" marB="18288" anchor="ctr">
                        <a:solidFill>
                          <a:srgbClr val="ECF6F5"/>
                        </a:solidFill>
                      </a:tcPr>
                    </a:tc>
                    <a:extLst>
                      <a:ext uri="{0D108BD9-81ED-4DB2-BD59-A6C34878D82A}">
                        <a16:rowId xmlns:a16="http://schemas.microsoft.com/office/drawing/2014/main" val="10005"/>
                      </a:ext>
                    </a:extLst>
                  </a:tr>
                  <a:tr h="330919">
                    <a:tc>
                      <a:txBody>
                        <a:bodyPr/>
                        <a:lstStyle/>
                        <a:p>
                          <a:pPr algn="ctr">
                            <a:defRPr sz="1100" b="0">
                              <a:solidFill>
                                <a:srgbClr val="2C3932"/>
                              </a:solidFill>
                              <a:latin typeface="Neue Haas Grotesk Text Pro"/>
                            </a:defRPr>
                          </a:pPr>
                          <a:r>
                            <a:rPr dirty="0" err="1"/>
                            <a:t>cond</a:t>
                          </a:r>
                          <a:r>
                            <a:rPr dirty="0"/>
                            <a:t> R² gain</a:t>
                          </a:r>
                        </a:p>
                      </a:txBody>
                      <a:tcPr marL="64008" marR="45720" marT="18288" marB="18288" anchor="ctr">
                        <a:solidFill>
                          <a:srgbClr val="F7FBFB"/>
                        </a:solidFill>
                      </a:tcPr>
                    </a:tc>
                    <a:tc>
                      <a:txBody>
                        <a:bodyPr/>
                        <a:lstStyle/>
                        <a:p>
                          <a:pPr algn="l">
                            <a:defRPr sz="1100" b="0">
                              <a:solidFill>
                                <a:srgbClr val="2C3932"/>
                              </a:solidFill>
                              <a:latin typeface="Neue Haas Grotesk Text Pro"/>
                            </a:defRPr>
                          </a:pPr>
                          <a:r>
                            <a:rPr dirty="0"/>
                            <a:t>variance explained on top of ALL true causes</a:t>
                          </a:r>
                        </a:p>
                      </a:txBody>
                      <a:tcPr marL="64008" marR="45720" marT="18288" marB="18288" anchor="ctr">
                        <a:solidFill>
                          <a:srgbClr val="F7FBFB"/>
                        </a:solidFill>
                      </a:tcPr>
                    </a:tc>
                    <a:extLst>
                      <a:ext uri="{0D108BD9-81ED-4DB2-BD59-A6C34878D82A}">
                        <a16:rowId xmlns:a16="http://schemas.microsoft.com/office/drawing/2014/main" val="10006"/>
                      </a:ext>
                    </a:extLst>
                  </a:tr>
                </a:tbl>
              </a:graphicData>
            </a:graphic>
          </p:graphicFrame>
        </mc:Fallback>
      </mc:AlternateContent>
      <p:sp>
        <p:nvSpPr>
          <p:cNvPr id="5" name="TextBox 4"/>
          <p:cNvSpPr txBox="1"/>
          <p:nvPr/>
        </p:nvSpPr>
        <p:spPr>
          <a:xfrm>
            <a:off x="612648" y="3913632"/>
            <a:ext cx="10881360" cy="274320"/>
          </a:xfrm>
          <a:prstGeom prst="rect">
            <a:avLst/>
          </a:prstGeom>
          <a:noFill/>
        </p:spPr>
        <p:txBody>
          <a:bodyPr wrap="square" lIns="0" tIns="0" rIns="0" bIns="0">
            <a:spAutoFit/>
          </a:bodyPr>
          <a:lstStyle/>
          <a:p>
            <a:pPr algn="l">
              <a:spcAft>
                <a:spcPts val="400"/>
              </a:spcAft>
              <a:defRPr sz="1300" b="1" i="0">
                <a:solidFill>
                  <a:srgbClr val="2C3932"/>
                </a:solidFill>
                <a:latin typeface="Neue Haas Grotesk Text Pro"/>
              </a:defRPr>
            </a:pPr>
            <a:r>
              <a:t>Effect-scale floor — why it exists and what it cost:</a:t>
            </a:r>
          </a:p>
        </p:txBody>
      </p:sp>
      <p:graphicFrame>
        <p:nvGraphicFramePr>
          <p:cNvPr id="6" name="Table 5"/>
          <p:cNvGraphicFramePr>
            <a:graphicFrameLocks noGrp="1"/>
          </p:cNvGraphicFramePr>
          <p:nvPr>
            <p:extLst>
              <p:ext uri="{D42A27DB-BD31-4B8C-83A1-F6EECF244321}">
                <p14:modId xmlns:p14="http://schemas.microsoft.com/office/powerpoint/2010/main" val="442963781"/>
              </p:ext>
            </p:extLst>
          </p:nvPr>
        </p:nvGraphicFramePr>
        <p:xfrm>
          <a:off x="612648" y="4297680"/>
          <a:ext cx="5806440" cy="1962326"/>
        </p:xfrm>
        <a:graphic>
          <a:graphicData uri="http://schemas.openxmlformats.org/drawingml/2006/table">
            <a:tbl>
              <a:tblPr firstRow="1">
                <a:tableStyleId>{5C22544A-7EE6-4342-B048-85BDC9FD1C3A}</a:tableStyleId>
              </a:tblPr>
              <a:tblGrid>
                <a:gridCol w="1965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85070">
                <a:tc>
                  <a:txBody>
                    <a:bodyPr/>
                    <a:lstStyle/>
                    <a:p>
                      <a:pPr>
                        <a:defRPr sz="1200" b="1">
                          <a:solidFill>
                            <a:srgbClr val="FFFFFF"/>
                          </a:solidFill>
                          <a:latin typeface="Neue Haas Grotesk Text Pro"/>
                        </a:defRPr>
                      </a:pPr>
                      <a:r>
                        <a:t>Intervened variable</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s raw</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s floored</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raw amp.</a:t>
                      </a:r>
                    </a:p>
                  </a:txBody>
                  <a:tcPr marL="64008" marR="45720" marT="18288" marB="18288" anchor="ctr">
                    <a:solidFill>
                      <a:srgbClr val="169C9A"/>
                    </a:solidFill>
                  </a:tcPr>
                </a:tc>
                <a:tc>
                  <a:txBody>
                    <a:bodyPr/>
                    <a:lstStyle/>
                    <a:p>
                      <a:pPr algn="ctr">
                        <a:defRPr sz="1200" b="1">
                          <a:solidFill>
                            <a:srgbClr val="FFFFFF"/>
                          </a:solidFill>
                          <a:latin typeface="Neue Haas Grotesk Text Pro"/>
                        </a:defRPr>
                      </a:pPr>
                      <a:r>
                        <a:t>floored amp.</a:t>
                      </a:r>
                    </a:p>
                  </a:txBody>
                  <a:tcPr marL="64008" marR="45720" marT="18288" marB="18288" anchor="ctr">
                    <a:solidFill>
                      <a:srgbClr val="169C9A"/>
                    </a:solidFill>
                  </a:tcPr>
                </a:tc>
                <a:extLst>
                  <a:ext uri="{0D108BD9-81ED-4DB2-BD59-A6C34878D82A}">
                    <a16:rowId xmlns:a16="http://schemas.microsoft.com/office/drawing/2014/main" val="10000"/>
                  </a:ext>
                </a:extLst>
              </a:tr>
              <a:tr h="369314">
                <a:tc>
                  <a:txBody>
                    <a:bodyPr/>
                    <a:lstStyle/>
                    <a:p>
                      <a:pPr algn="ctr">
                        <a:defRPr sz="1150" b="0">
                          <a:solidFill>
                            <a:srgbClr val="2C3932"/>
                          </a:solidFill>
                          <a:latin typeface="Neue Haas Grotesk Text Pro"/>
                        </a:defRPr>
                      </a:pPr>
                      <a:r>
                        <a:t>force</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1.088</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1.088</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0.8×</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0.8×</a:t>
                      </a:r>
                    </a:p>
                  </a:txBody>
                  <a:tcPr marL="64008" marR="45720" marT="18288" marB="18288" anchor="ctr">
                    <a:solidFill>
                      <a:srgbClr val="ECF6F5"/>
                    </a:solidFill>
                  </a:tcPr>
                </a:tc>
                <a:extLst>
                  <a:ext uri="{0D108BD9-81ED-4DB2-BD59-A6C34878D82A}">
                    <a16:rowId xmlns:a16="http://schemas.microsoft.com/office/drawing/2014/main" val="10001"/>
                  </a:ext>
                </a:extLst>
              </a:tr>
              <a:tr h="369314">
                <a:tc>
                  <a:txBody>
                    <a:bodyPr/>
                    <a:lstStyle/>
                    <a:p>
                      <a:pPr algn="ctr">
                        <a:defRPr sz="1150" b="0">
                          <a:solidFill>
                            <a:srgbClr val="2C3932"/>
                          </a:solidFill>
                          <a:latin typeface="Neue Haas Grotesk Text Pro"/>
                        </a:defRPr>
                      </a:pPr>
                      <a:r>
                        <a:t>mass</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0.289</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0.289</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12×</a:t>
                      </a:r>
                    </a:p>
                  </a:txBody>
                  <a:tcPr marL="64008" marR="45720" marT="18288" marB="18288" anchor="ctr">
                    <a:solidFill>
                      <a:srgbClr val="F7FBFB"/>
                    </a:solidFill>
                  </a:tcPr>
                </a:tc>
                <a:tc>
                  <a:txBody>
                    <a:bodyPr/>
                    <a:lstStyle/>
                    <a:p>
                      <a:pPr algn="ctr">
                        <a:defRPr sz="1150" b="0">
                          <a:solidFill>
                            <a:srgbClr val="2C3932"/>
                          </a:solidFill>
                          <a:latin typeface="Neue Haas Grotesk Text Pro"/>
                        </a:defRPr>
                      </a:pPr>
                      <a:r>
                        <a:t>12×</a:t>
                      </a:r>
                    </a:p>
                  </a:txBody>
                  <a:tcPr marL="64008" marR="45720" marT="18288" marB="18288" anchor="ctr">
                    <a:solidFill>
                      <a:srgbClr val="F7FBFB"/>
                    </a:solidFill>
                  </a:tcPr>
                </a:tc>
                <a:extLst>
                  <a:ext uri="{0D108BD9-81ED-4DB2-BD59-A6C34878D82A}">
                    <a16:rowId xmlns:a16="http://schemas.microsoft.com/office/drawing/2014/main" val="10002"/>
                  </a:ext>
                </a:extLst>
              </a:tr>
              <a:tr h="369314">
                <a:tc>
                  <a:txBody>
                    <a:bodyPr/>
                    <a:lstStyle/>
                    <a:p>
                      <a:pPr algn="ctr">
                        <a:defRPr sz="1150" b="0">
                          <a:solidFill>
                            <a:srgbClr val="2C3932"/>
                          </a:solidFill>
                          <a:latin typeface="Neue Haas Grotesk Text Pro"/>
                        </a:defRPr>
                      </a:pPr>
                      <a:r>
                        <a:rPr dirty="0"/>
                        <a:t>friction</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0.207</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0.207</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23×</a:t>
                      </a:r>
                    </a:p>
                  </a:txBody>
                  <a:tcPr marL="64008" marR="45720" marT="18288" marB="18288" anchor="ctr">
                    <a:solidFill>
                      <a:srgbClr val="ECF6F5"/>
                    </a:solidFill>
                  </a:tcPr>
                </a:tc>
                <a:tc>
                  <a:txBody>
                    <a:bodyPr/>
                    <a:lstStyle/>
                    <a:p>
                      <a:pPr algn="ctr">
                        <a:defRPr sz="1150" b="0">
                          <a:solidFill>
                            <a:srgbClr val="2C3932"/>
                          </a:solidFill>
                          <a:latin typeface="Neue Haas Grotesk Text Pro"/>
                        </a:defRPr>
                      </a:pPr>
                      <a:r>
                        <a:t>23×</a:t>
                      </a:r>
                    </a:p>
                  </a:txBody>
                  <a:tcPr marL="64008" marR="45720" marT="18288" marB="18288" anchor="ctr">
                    <a:solidFill>
                      <a:srgbClr val="ECF6F5"/>
                    </a:solidFill>
                  </a:tcPr>
                </a:tc>
                <a:extLst>
                  <a:ext uri="{0D108BD9-81ED-4DB2-BD59-A6C34878D82A}">
                    <a16:rowId xmlns:a16="http://schemas.microsoft.com/office/drawing/2014/main" val="10003"/>
                  </a:ext>
                </a:extLst>
              </a:tr>
              <a:tr h="369314">
                <a:tc>
                  <a:txBody>
                    <a:bodyPr/>
                    <a:lstStyle/>
                    <a:p>
                      <a:pPr algn="ctr">
                        <a:defRPr sz="1150" b="1">
                          <a:solidFill>
                            <a:srgbClr val="2C3932"/>
                          </a:solidFill>
                          <a:latin typeface="Neue Haas Grotesk Text Pro"/>
                        </a:defRPr>
                      </a:pPr>
                      <a:r>
                        <a:rPr dirty="0" err="1"/>
                        <a:t>acceleration_t</a:t>
                      </a:r>
                      <a:endParaRPr dirty="0"/>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0.040</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rPr dirty="0"/>
                        <a:t>0.058</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t>634×</a:t>
                      </a:r>
                    </a:p>
                  </a:txBody>
                  <a:tcPr marL="64008" marR="45720" marT="18288" marB="18288" anchor="ctr">
                    <a:solidFill>
                      <a:srgbClr val="FFECE5"/>
                    </a:solidFill>
                  </a:tcPr>
                </a:tc>
                <a:tc>
                  <a:txBody>
                    <a:bodyPr/>
                    <a:lstStyle/>
                    <a:p>
                      <a:pPr algn="ctr">
                        <a:defRPr sz="1150" b="1">
                          <a:solidFill>
                            <a:srgbClr val="2C3932"/>
                          </a:solidFill>
                          <a:latin typeface="Neue Haas Grotesk Text Pro"/>
                        </a:defRPr>
                      </a:pPr>
                      <a:r>
                        <a:rPr dirty="0"/>
                        <a:t>299×</a:t>
                      </a:r>
                    </a:p>
                  </a:txBody>
                  <a:tcPr marL="64008" marR="45720" marT="18288" marB="18288" anchor="ctr">
                    <a:solidFill>
                      <a:srgbClr val="FFECE5"/>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629400" y="4187952"/>
            <a:ext cx="4949952" cy="2057400"/>
          </a:xfrm>
          <a:prstGeom prst="roundRect">
            <a:avLst/>
          </a:prstGeom>
          <a:solidFill>
            <a:srgbClr val="F7FBFB"/>
          </a:solidFill>
          <a:ln w="15875">
            <a:solidFill>
              <a:srgbClr val="169C9A"/>
            </a:solidFill>
          </a:ln>
          <a:effectLst/>
        </p:spPr>
        <p:style>
          <a:lnRef idx="1">
            <a:schemeClr val="accent1"/>
          </a:lnRef>
          <a:fillRef idx="3">
            <a:schemeClr val="accent1"/>
          </a:fillRef>
          <a:effectRef idx="2">
            <a:schemeClr val="accent1"/>
          </a:effectRef>
          <a:fontRef idx="minor">
            <a:schemeClr val="lt1"/>
          </a:fontRef>
        </p:style>
        <p:txBody>
          <a:bodyPr wrap="square" lIns="118872" tIns="73152" rIns="100584" rtlCol="0" anchor="t"/>
          <a:lstStyle/>
          <a:p>
            <a:pPr algn="ctr">
              <a:spcAft>
                <a:spcPts val="400"/>
              </a:spcAft>
              <a:defRPr sz="1200" b="1">
                <a:solidFill>
                  <a:srgbClr val="2C3932"/>
                </a:solidFill>
                <a:latin typeface="Neue Haas Grotesk Text Pro"/>
              </a:defRPr>
            </a:pPr>
            <a:r>
              <a:rPr sz="1200" dirty="0"/>
              <a:t>The trade-off</a:t>
            </a:r>
          </a:p>
          <a:p>
            <a:pPr algn="ctr">
              <a:spcAft>
                <a:spcPts val="100"/>
              </a:spcAft>
              <a:defRPr sz="1000">
                <a:solidFill>
                  <a:srgbClr val="666E6A"/>
                </a:solidFill>
                <a:latin typeface="Neue Haas Grotesk Text Pro"/>
              </a:defRPr>
            </a:pPr>
            <a:r>
              <a:rPr sz="1200" dirty="0"/>
              <a:t>Without </a:t>
            </a:r>
            <a:r>
              <a:rPr sz="1200" dirty="0" err="1"/>
              <a:t>normalisation</a:t>
            </a:r>
            <a:r>
              <a:rPr sz="1200" dirty="0"/>
              <a:t>, a </a:t>
            </a:r>
            <a:r>
              <a:rPr sz="1200" dirty="0" err="1"/>
              <a:t>velocity_t</a:t>
            </a:r>
            <a:r>
              <a:rPr sz="1200" dirty="0"/>
              <a:t> pair contributes</a:t>
            </a:r>
          </a:p>
          <a:p>
            <a:pPr algn="ctr">
              <a:spcAft>
                <a:spcPts val="100"/>
              </a:spcAft>
              <a:defRPr sz="1000">
                <a:solidFill>
                  <a:srgbClr val="666E6A"/>
                </a:solidFill>
                <a:latin typeface="Neue Haas Grotesk Text Pro"/>
              </a:defRPr>
            </a:pPr>
            <a:r>
              <a:rPr sz="1200" dirty="0"/>
              <a:t>~10⁴× the squared error of an </a:t>
            </a:r>
            <a:r>
              <a:rPr sz="1200" dirty="0" err="1"/>
              <a:t>acceleration_t</a:t>
            </a:r>
            <a:r>
              <a:rPr sz="1200" dirty="0"/>
              <a:t> pair —</a:t>
            </a:r>
          </a:p>
          <a:p>
            <a:pPr algn="ctr">
              <a:spcAft>
                <a:spcPts val="100"/>
              </a:spcAft>
              <a:defRPr sz="1000">
                <a:solidFill>
                  <a:srgbClr val="666E6A"/>
                </a:solidFill>
                <a:latin typeface="Neue Haas Grotesk Text Pro"/>
              </a:defRPr>
            </a:pPr>
            <a:r>
              <a:rPr sz="1200" dirty="0"/>
              <a:t>and </a:t>
            </a:r>
            <a:r>
              <a:rPr sz="1200" dirty="0" err="1"/>
              <a:t>acceleration_t</a:t>
            </a:r>
            <a:r>
              <a:rPr sz="1200" dirty="0"/>
              <a:t> is a true parent of ALL three outputs.</a:t>
            </a:r>
          </a:p>
          <a:p>
            <a:pPr algn="ctr">
              <a:spcAft>
                <a:spcPts val="100"/>
              </a:spcAft>
              <a:defRPr sz="1000">
                <a:solidFill>
                  <a:srgbClr val="666E6A"/>
                </a:solidFill>
                <a:latin typeface="Neue Haas Grotesk Text Pro"/>
              </a:defRPr>
            </a:pPr>
            <a:endParaRPr sz="1200" dirty="0"/>
          </a:p>
          <a:p>
            <a:pPr algn="ctr">
              <a:spcAft>
                <a:spcPts val="100"/>
              </a:spcAft>
              <a:defRPr sz="1000">
                <a:solidFill>
                  <a:srgbClr val="666E6A"/>
                </a:solidFill>
                <a:latin typeface="Neue Haas Grotesk Text Pro"/>
              </a:defRPr>
            </a:pPr>
            <a:r>
              <a:rPr sz="1200" dirty="0"/>
              <a:t>But dividing by s = 0.040 amplifies 634×. The floor</a:t>
            </a:r>
          </a:p>
          <a:p>
            <a:pPr algn="ctr">
              <a:spcAft>
                <a:spcPts val="100"/>
              </a:spcAft>
              <a:defRPr sz="1000">
                <a:solidFill>
                  <a:srgbClr val="666E6A"/>
                </a:solidFill>
                <a:latin typeface="Neue Haas Grotesk Text Pro"/>
              </a:defRPr>
            </a:pPr>
            <a:r>
              <a:rPr sz="1200" dirty="0"/>
              <a:t>keeps the imbalance fixed without letting the smallest</a:t>
            </a:r>
          </a:p>
          <a:p>
            <a:pPr algn="ctr">
              <a:spcAft>
                <a:spcPts val="100"/>
              </a:spcAft>
              <a:defRPr sz="1000">
                <a:solidFill>
                  <a:srgbClr val="666E6A"/>
                </a:solidFill>
                <a:latin typeface="Neue Haas Grotesk Text Pro"/>
              </a:defRPr>
            </a:pPr>
            <a:r>
              <a:rPr sz="1200" dirty="0"/>
              <a:t>variable dominate — at the cost of a weaker pair</a:t>
            </a:r>
          </a:p>
          <a:p>
            <a:pPr algn="ctr">
              <a:spcAft>
                <a:spcPts val="100"/>
              </a:spcAft>
              <a:defRPr sz="1000">
                <a:solidFill>
                  <a:srgbClr val="666E6A"/>
                </a:solidFill>
                <a:latin typeface="Neue Haas Grotesk Text Pro"/>
              </a:defRPr>
            </a:pPr>
            <a:r>
              <a:rPr sz="1200" dirty="0"/>
              <a:t>gradient (ratio 0.45).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F0FC-308A-B8C5-058F-99459BB858E3}"/>
              </a:ext>
            </a:extLst>
          </p:cNvPr>
          <p:cNvSpPr>
            <a:spLocks noGrp="1"/>
          </p:cNvSpPr>
          <p:nvPr>
            <p:ph type="title"/>
          </p:nvPr>
        </p:nvSpPr>
        <p:spPr/>
        <p:txBody>
          <a:bodyPr/>
          <a:lstStyle/>
          <a:p>
            <a:r>
              <a:rPr lang="en-US" altLang="zh-CN" dirty="0"/>
              <a:t>Reference</a:t>
            </a:r>
            <a:endParaRPr lang="en-US" dirty="0"/>
          </a:p>
        </p:txBody>
      </p:sp>
      <p:sp>
        <p:nvSpPr>
          <p:cNvPr id="3" name="TextBox 2">
            <a:extLst>
              <a:ext uri="{FF2B5EF4-FFF2-40B4-BE49-F238E27FC236}">
                <a16:creationId xmlns:a16="http://schemas.microsoft.com/office/drawing/2014/main" id="{E7032F38-51BC-A858-7FD1-D62E1E7EE262}"/>
              </a:ext>
            </a:extLst>
          </p:cNvPr>
          <p:cNvSpPr txBox="1"/>
          <p:nvPr/>
        </p:nvSpPr>
        <p:spPr>
          <a:xfrm>
            <a:off x="726510" y="1357732"/>
            <a:ext cx="10539716" cy="1200329"/>
          </a:xfrm>
          <a:prstGeom prst="rect">
            <a:avLst/>
          </a:prstGeom>
          <a:noFill/>
        </p:spPr>
        <p:txBody>
          <a:bodyPr wrap="square" rtlCol="0">
            <a:spAutoFit/>
          </a:bodyPr>
          <a:lstStyle/>
          <a:p>
            <a:r>
              <a:rPr lang="en-US" dirty="0" err="1"/>
              <a:t>Louizos</a:t>
            </a:r>
            <a:r>
              <a:rPr lang="en-US" dirty="0"/>
              <a:t>, Welling &amp; Kingma, "Learning Sparse Neural Networks through L₀ Regularization", ICLR 2018.</a:t>
            </a:r>
          </a:p>
          <a:p>
            <a:endParaRPr lang="en-US" dirty="0"/>
          </a:p>
          <a:p>
            <a:r>
              <a:rPr lang="en-US" dirty="0"/>
              <a:t>Maddison et al. 2017；Jang et al. 2017</a:t>
            </a:r>
          </a:p>
        </p:txBody>
      </p:sp>
    </p:spTree>
    <p:extLst>
      <p:ext uri="{BB962C8B-B14F-4D97-AF65-F5344CB8AC3E}">
        <p14:creationId xmlns:p14="http://schemas.microsoft.com/office/powerpoint/2010/main" val="3934293787"/>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556</TotalTime>
  <Words>3524</Words>
  <Application>Microsoft Office PowerPoint</Application>
  <PresentationFormat>Widescreen</PresentationFormat>
  <Paragraphs>609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Cambria Math</vt:lpstr>
      <vt:lpstr>Neue Haas Grotesk Text Pro</vt:lpstr>
      <vt:lpstr>VanillaVTI</vt:lpstr>
      <vt:lpstr>Stage3 </vt:lpstr>
      <vt:lpstr>What changed from the previous version?</vt:lpstr>
      <vt:lpstr>Graph change with different seed</vt:lpstr>
      <vt:lpstr>Algorithm change 1: hard-concrete gate</vt:lpstr>
      <vt:lpstr>Algorithm change 1: hard-concrete gate</vt:lpstr>
      <vt:lpstr>Algorithm change 2: normalized intervention loss</vt:lpstr>
      <vt:lpstr>Algorithm change 2: normalized intervention loss</vt:lpstr>
      <vt:lpstr>Fixed the anti-causal issue with early stopping.</vt:lpstr>
      <vt:lpstr>Pipeline: from world to verdict</vt:lpstr>
      <vt:lpstr>Dataset: the world</vt:lpstr>
      <vt:lpstr>Dataset: 24 inputs, only 5–7 of them are causes</vt:lpstr>
      <vt:lpstr>Dataset: paired interventions</vt:lpstr>
      <vt:lpstr>The control that decides the claim: random_hc</vt:lpstr>
      <vt:lpstr>Results: the ceiling is real</vt:lpstr>
      <vt:lpstr>Results: the learned gate does not beat a wrong graph</vt:lpstr>
      <vt:lpstr>Results: gate direction fixed, magnitude not</vt:lpstr>
      <vt:lpstr>What this run does and does not establish</vt:lpstr>
      <vt:lpstr>Parameters(1/2) loss function, hard-concrete</vt:lpstr>
      <vt:lpstr>Parameters (2/2): loss, controls, metrics</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 Lin</dc:creator>
  <cp:lastModifiedBy>Chu Lin</cp:lastModifiedBy>
  <cp:revision>1</cp:revision>
  <dcterms:created xsi:type="dcterms:W3CDTF">2026-08-20T15:11:20Z</dcterms:created>
  <dcterms:modified xsi:type="dcterms:W3CDTF">2026-08-21T19:44:32Z</dcterms:modified>
</cp:coreProperties>
</file>