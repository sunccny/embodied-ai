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9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75" r:id="rId10"/>
    <p:sldId id="276" r:id="rId11"/>
    <p:sldId id="266" r:id="rId12"/>
    <p:sldId id="270" r:id="rId13"/>
    <p:sldId id="272" r:id="rId14"/>
    <p:sldId id="273" r:id="rId15"/>
    <p:sldId id="274" r:id="rId16"/>
    <p:sldId id="277" r:id="rId17"/>
    <p:sldId id="2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57" autoAdjust="0"/>
    <p:restoredTop sz="94954" autoAdjust="0"/>
  </p:normalViewPr>
  <p:slideViewPr>
    <p:cSldViewPr snapToGrid="0">
      <p:cViewPr varScale="1">
        <p:scale>
          <a:sx n="104" d="100"/>
          <a:sy n="104" d="100"/>
        </p:scale>
        <p:origin x="44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 Lin" userId="a9d5f5a05d2946b6" providerId="LiveId" clId="{A624DEA4-834B-44D9-BB5B-23A5D14AA4FA}"/>
    <pc:docChg chg="undo custSel addSld modSld addMainMaster delMainMaster">
      <pc:chgData name="Chu Lin" userId="a9d5f5a05d2946b6" providerId="LiveId" clId="{A624DEA4-834B-44D9-BB5B-23A5D14AA4FA}" dt="2026-10-01T23:05:37.543" v="1181" actId="1076"/>
      <pc:docMkLst>
        <pc:docMk/>
      </pc:docMkLst>
      <pc:sldChg chg="addSp modSp new mod setBg modClrScheme addAnim setClrOvrMap chgLayout">
        <pc:chgData name="Chu Lin" userId="a9d5f5a05d2946b6" providerId="LiveId" clId="{A624DEA4-834B-44D9-BB5B-23A5D14AA4FA}" dt="2026-09-17T00:01:38.955" v="16"/>
        <pc:sldMkLst>
          <pc:docMk/>
          <pc:sldMk cId="3296793622" sldId="256"/>
        </pc:sldMkLst>
        <pc:spChg chg="mod">
          <ac:chgData name="Chu Lin" userId="a9d5f5a05d2946b6" providerId="LiveId" clId="{A624DEA4-834B-44D9-BB5B-23A5D14AA4FA}" dt="2026-09-17T00:01:38.948" v="14" actId="26606"/>
          <ac:spMkLst>
            <pc:docMk/>
            <pc:sldMk cId="3296793622" sldId="256"/>
            <ac:spMk id="2" creationId="{24CA4163-5BD5-1494-37A3-0088ED841019}"/>
          </ac:spMkLst>
        </pc:spChg>
        <pc:spChg chg="mod">
          <ac:chgData name="Chu Lin" userId="a9d5f5a05d2946b6" providerId="LiveId" clId="{A624DEA4-834B-44D9-BB5B-23A5D14AA4FA}" dt="2026-09-17T00:01:38.948" v="14" actId="26606"/>
          <ac:spMkLst>
            <pc:docMk/>
            <pc:sldMk cId="3296793622" sldId="256"/>
            <ac:spMk id="3" creationId="{79091FCA-7AF0-4DE3-87A5-7107189784FB}"/>
          </ac:spMkLst>
        </pc:spChg>
        <pc:picChg chg="add">
          <ac:chgData name="Chu Lin" userId="a9d5f5a05d2946b6" providerId="LiveId" clId="{A624DEA4-834B-44D9-BB5B-23A5D14AA4FA}" dt="2026-09-17T00:01:38.948" v="14" actId="26606"/>
          <ac:picMkLst>
            <pc:docMk/>
            <pc:sldMk cId="3296793622" sldId="256"/>
            <ac:picMk id="4" creationId="{46529A70-3D97-5FDA-A1C9-9A64C040AB78}"/>
          </ac:picMkLst>
        </pc:picChg>
      </pc:sldChg>
      <pc:sldChg chg="modSp mod">
        <pc:chgData name="Chu Lin" userId="a9d5f5a05d2946b6" providerId="LiveId" clId="{A624DEA4-834B-44D9-BB5B-23A5D14AA4FA}" dt="2026-10-01T15:02:17.146" v="1154" actId="255"/>
        <pc:sldMkLst>
          <pc:docMk/>
          <pc:sldMk cId="0" sldId="261"/>
        </pc:sldMkLst>
        <pc:spChg chg="mod">
          <ac:chgData name="Chu Lin" userId="a9d5f5a05d2946b6" providerId="LiveId" clId="{A624DEA4-834B-44D9-BB5B-23A5D14AA4FA}" dt="2026-10-01T15:02:17.146" v="1154" actId="255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">
        <pc:chgData name="Chu Lin" userId="a9d5f5a05d2946b6" providerId="LiveId" clId="{A624DEA4-834B-44D9-BB5B-23A5D14AA4FA}" dt="2026-10-01T15:03:55.712" v="1163"/>
        <pc:sldMkLst>
          <pc:docMk/>
          <pc:sldMk cId="0" sldId="262"/>
        </pc:sldMkLst>
        <pc:spChg chg="mod">
          <ac:chgData name="Chu Lin" userId="a9d5f5a05d2946b6" providerId="LiveId" clId="{A624DEA4-834B-44D9-BB5B-23A5D14AA4FA}" dt="2026-10-01T15:03:54.407" v="1161" actId="255"/>
          <ac:spMkLst>
            <pc:docMk/>
            <pc:sldMk cId="0" sldId="262"/>
            <ac:spMk id="3" creationId="{00000000-0000-0000-0000-000000000000}"/>
          </ac:spMkLst>
        </pc:spChg>
        <pc:spChg chg="add del mod">
          <ac:chgData name="Chu Lin" userId="a9d5f5a05d2946b6" providerId="LiveId" clId="{A624DEA4-834B-44D9-BB5B-23A5D14AA4FA}" dt="2026-10-01T15:03:55.712" v="1163"/>
          <ac:spMkLst>
            <pc:docMk/>
            <pc:sldMk cId="0" sldId="262"/>
            <ac:spMk id="6" creationId="{32BF1043-2FEC-CC7A-C568-836E57558222}"/>
          </ac:spMkLst>
        </pc:spChg>
      </pc:sldChg>
      <pc:sldChg chg="modSp mod">
        <pc:chgData name="Chu Lin" userId="a9d5f5a05d2946b6" providerId="LiveId" clId="{A624DEA4-834B-44D9-BB5B-23A5D14AA4FA}" dt="2026-10-01T15:04:06.637" v="1165" actId="255"/>
        <pc:sldMkLst>
          <pc:docMk/>
          <pc:sldMk cId="0" sldId="263"/>
        </pc:sldMkLst>
        <pc:spChg chg="mod">
          <ac:chgData name="Chu Lin" userId="a9d5f5a05d2946b6" providerId="LiveId" clId="{A624DEA4-834B-44D9-BB5B-23A5D14AA4FA}" dt="2026-10-01T15:04:06.637" v="1165" actId="255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Chu Lin" userId="a9d5f5a05d2946b6" providerId="LiveId" clId="{A624DEA4-834B-44D9-BB5B-23A5D14AA4FA}" dt="2026-10-01T15:04:19.908" v="1167" actId="255"/>
        <pc:sldMkLst>
          <pc:docMk/>
          <pc:sldMk cId="0" sldId="265"/>
        </pc:sldMkLst>
        <pc:spChg chg="mod">
          <ac:chgData name="Chu Lin" userId="a9d5f5a05d2946b6" providerId="LiveId" clId="{A624DEA4-834B-44D9-BB5B-23A5D14AA4FA}" dt="2026-10-01T15:04:19.908" v="1167" actId="255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Chu Lin" userId="a9d5f5a05d2946b6" providerId="LiveId" clId="{A624DEA4-834B-44D9-BB5B-23A5D14AA4FA}" dt="2026-10-01T15:04:29.684" v="1169" actId="255"/>
        <pc:sldMkLst>
          <pc:docMk/>
          <pc:sldMk cId="0" sldId="266"/>
        </pc:sldMkLst>
        <pc:spChg chg="mod">
          <ac:chgData name="Chu Lin" userId="a9d5f5a05d2946b6" providerId="LiveId" clId="{A624DEA4-834B-44D9-BB5B-23A5D14AA4FA}" dt="2026-10-01T15:04:29.684" v="1169" actId="255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Chu Lin" userId="a9d5f5a05d2946b6" providerId="LiveId" clId="{A624DEA4-834B-44D9-BB5B-23A5D14AA4FA}" dt="2026-10-01T23:04:48.523" v="1171" actId="1076"/>
        <pc:sldMkLst>
          <pc:docMk/>
          <pc:sldMk cId="0" sldId="269"/>
        </pc:sldMkLst>
        <pc:spChg chg="mod">
          <ac:chgData name="Chu Lin" userId="a9d5f5a05d2946b6" providerId="LiveId" clId="{A624DEA4-834B-44D9-BB5B-23A5D14AA4FA}" dt="2026-10-01T23:04:48.523" v="1171" actId="1076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Chu Lin" userId="a9d5f5a05d2946b6" providerId="LiveId" clId="{A624DEA4-834B-44D9-BB5B-23A5D14AA4FA}" dt="2026-10-01T23:05:07.847" v="1175" actId="1076"/>
        <pc:sldMkLst>
          <pc:docMk/>
          <pc:sldMk cId="0" sldId="270"/>
        </pc:sldMkLst>
        <pc:spChg chg="mod">
          <ac:chgData name="Chu Lin" userId="a9d5f5a05d2946b6" providerId="LiveId" clId="{A624DEA4-834B-44D9-BB5B-23A5D14AA4FA}" dt="2026-10-01T23:05:07.847" v="1175" actId="1076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Chu Lin" userId="a9d5f5a05d2946b6" providerId="LiveId" clId="{A624DEA4-834B-44D9-BB5B-23A5D14AA4FA}" dt="2026-10-01T23:05:20.907" v="1177" actId="1076"/>
        <pc:sldMkLst>
          <pc:docMk/>
          <pc:sldMk cId="0" sldId="271"/>
        </pc:sldMkLst>
        <pc:spChg chg="mod">
          <ac:chgData name="Chu Lin" userId="a9d5f5a05d2946b6" providerId="LiveId" clId="{A624DEA4-834B-44D9-BB5B-23A5D14AA4FA}" dt="2026-10-01T23:05:20.907" v="1177" actId="1076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Chu Lin" userId="a9d5f5a05d2946b6" providerId="LiveId" clId="{A624DEA4-834B-44D9-BB5B-23A5D14AA4FA}" dt="2026-10-01T23:05:28.280" v="1179" actId="1076"/>
        <pc:sldMkLst>
          <pc:docMk/>
          <pc:sldMk cId="0" sldId="273"/>
        </pc:sldMkLst>
        <pc:spChg chg="mod">
          <ac:chgData name="Chu Lin" userId="a9d5f5a05d2946b6" providerId="LiveId" clId="{A624DEA4-834B-44D9-BB5B-23A5D14AA4FA}" dt="2026-10-01T23:05:28.280" v="1179" actId="1076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Chu Lin" userId="a9d5f5a05d2946b6" providerId="LiveId" clId="{A624DEA4-834B-44D9-BB5B-23A5D14AA4FA}" dt="2026-10-01T23:05:37.543" v="1181" actId="1076"/>
        <pc:sldMkLst>
          <pc:docMk/>
          <pc:sldMk cId="0" sldId="274"/>
        </pc:sldMkLst>
        <pc:spChg chg="mod">
          <ac:chgData name="Chu Lin" userId="a9d5f5a05d2946b6" providerId="LiveId" clId="{A624DEA4-834B-44D9-BB5B-23A5D14AA4FA}" dt="2026-10-01T23:05:37.543" v="1181" actId="1076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Chu Lin" userId="a9d5f5a05d2946b6" providerId="LiveId" clId="{A624DEA4-834B-44D9-BB5B-23A5D14AA4FA}" dt="2026-10-01T23:04:59.493" v="1173" actId="1076"/>
        <pc:sldMkLst>
          <pc:docMk/>
          <pc:sldMk cId="0" sldId="276"/>
        </pc:sldMkLst>
        <pc:spChg chg="mod">
          <ac:chgData name="Chu Lin" userId="a9d5f5a05d2946b6" providerId="LiveId" clId="{A624DEA4-834B-44D9-BB5B-23A5D14AA4FA}" dt="2026-10-01T23:04:59.493" v="1173" actId="1076"/>
          <ac:spMkLst>
            <pc:docMk/>
            <pc:sldMk cId="0" sldId="276"/>
            <ac:spMk id="3" creationId="{00000000-0000-0000-0000-000000000000}"/>
          </ac:spMkLst>
        </pc:spChg>
      </pc:sldChg>
      <pc:sldMasterChg chg="add addSldLayout">
        <pc:chgData name="Chu Lin" userId="a9d5f5a05d2946b6" providerId="LiveId" clId="{A624DEA4-834B-44D9-BB5B-23A5D14AA4FA}" dt="2026-09-17T00:01:38.948" v="14" actId="26606"/>
        <pc:sldMasterMkLst>
          <pc:docMk/>
          <pc:sldMasterMk cId="493697747" sldId="2147483673"/>
        </pc:sldMasterMkLst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1048010609" sldId="2147483662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2684917049" sldId="2147483663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3271315337" sldId="2147483664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2235062487" sldId="2147483665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168122371" sldId="2147483666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3452461211" sldId="2147483667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2864294466" sldId="2147483668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8350770" sldId="2147483669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4276114791" sldId="2147483670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1971713887" sldId="2147483671"/>
          </pc:sldLayoutMkLst>
        </pc:sldLayoutChg>
        <pc:sldLayoutChg chg="add">
          <pc:chgData name="Chu Lin" userId="a9d5f5a05d2946b6" providerId="LiveId" clId="{A624DEA4-834B-44D9-BB5B-23A5D14AA4FA}" dt="2026-09-17T00:01:38.948" v="14" actId="26606"/>
          <pc:sldLayoutMkLst>
            <pc:docMk/>
            <pc:sldMasterMk cId="493697747" sldId="2147483673"/>
            <pc:sldLayoutMk cId="1613026941" sldId="2147483672"/>
          </pc:sldLayoutMkLst>
        </pc:sldLayoutChg>
      </pc:sldMasterChg>
    </pc:docChg>
  </pc:docChgLst>
  <pc:docChgLst>
    <pc:chgData name="Chu Lin" userId="a9d5f5a05d2946b6" providerId="LiveId" clId="{D0B525D6-471A-4AEC-9E0A-4D9E31AAD555}"/>
    <pc:docChg chg="undo custSel delSld modSld">
      <pc:chgData name="Chu Lin" userId="a9d5f5a05d2946b6" providerId="LiveId" clId="{D0B525D6-471A-4AEC-9E0A-4D9E31AAD555}" dt="2026-10-02T19:13:51.898" v="3" actId="26606"/>
      <pc:docMkLst>
        <pc:docMk/>
      </pc:docMkLst>
      <pc:sldChg chg="addSp delSp modSp mod">
        <pc:chgData name="Chu Lin" userId="a9d5f5a05d2946b6" providerId="LiveId" clId="{D0B525D6-471A-4AEC-9E0A-4D9E31AAD555}" dt="2026-10-02T19:13:51.898" v="3" actId="26606"/>
        <pc:sldMkLst>
          <pc:docMk/>
          <pc:sldMk cId="3296793622" sldId="256"/>
        </pc:sldMkLst>
        <pc:spChg chg="mod">
          <ac:chgData name="Chu Lin" userId="a9d5f5a05d2946b6" providerId="LiveId" clId="{D0B525D6-471A-4AEC-9E0A-4D9E31AAD555}" dt="2026-10-02T19:13:51.898" v="3" actId="26606"/>
          <ac:spMkLst>
            <pc:docMk/>
            <pc:sldMk cId="3296793622" sldId="256"/>
            <ac:spMk id="2" creationId="{24CA4163-5BD5-1494-37A3-0088ED841019}"/>
          </ac:spMkLst>
        </pc:spChg>
        <pc:spChg chg="mod">
          <ac:chgData name="Chu Lin" userId="a9d5f5a05d2946b6" providerId="LiveId" clId="{D0B525D6-471A-4AEC-9E0A-4D9E31AAD555}" dt="2026-10-02T19:13:51.898" v="3" actId="26606"/>
          <ac:spMkLst>
            <pc:docMk/>
            <pc:sldMk cId="3296793622" sldId="256"/>
            <ac:spMk id="3" creationId="{79091FCA-7AF0-4DE3-87A5-7107189784FB}"/>
          </ac:spMkLst>
        </pc:spChg>
        <pc:spChg chg="del">
          <ac:chgData name="Chu Lin" userId="a9d5f5a05d2946b6" providerId="LiveId" clId="{D0B525D6-471A-4AEC-9E0A-4D9E31AAD555}" dt="2026-10-02T19:13:51.898" v="3" actId="26606"/>
          <ac:spMkLst>
            <pc:docMk/>
            <pc:sldMk cId="3296793622" sldId="256"/>
            <ac:spMk id="9" creationId="{33E93247-6229-44AB-A550-739E971E690B}"/>
          </ac:spMkLst>
        </pc:spChg>
        <pc:spChg chg="del">
          <ac:chgData name="Chu Lin" userId="a9d5f5a05d2946b6" providerId="LiveId" clId="{D0B525D6-471A-4AEC-9E0A-4D9E31AAD555}" dt="2026-10-02T19:13:51.898" v="3" actId="26606"/>
          <ac:spMkLst>
            <pc:docMk/>
            <pc:sldMk cId="3296793622" sldId="256"/>
            <ac:spMk id="11" creationId="{912025B4-7337-735E-4DC9-E634D2011984}"/>
          </ac:spMkLst>
        </pc:spChg>
        <pc:spChg chg="del">
          <ac:chgData name="Chu Lin" userId="a9d5f5a05d2946b6" providerId="LiveId" clId="{D0B525D6-471A-4AEC-9E0A-4D9E31AAD555}" dt="2026-10-02T19:13:51.898" v="3" actId="26606"/>
          <ac:spMkLst>
            <pc:docMk/>
            <pc:sldMk cId="3296793622" sldId="256"/>
            <ac:spMk id="13" creationId="{150CDACD-D191-E642-F686-FCB54B7E5F67}"/>
          </ac:spMkLst>
        </pc:spChg>
        <pc:spChg chg="add">
          <ac:chgData name="Chu Lin" userId="a9d5f5a05d2946b6" providerId="LiveId" clId="{D0B525D6-471A-4AEC-9E0A-4D9E31AAD555}" dt="2026-10-02T19:13:51.898" v="3" actId="26606"/>
          <ac:spMkLst>
            <pc:docMk/>
            <pc:sldMk cId="3296793622" sldId="256"/>
            <ac:spMk id="18" creationId="{E20BB609-EF92-42DB-836C-0699A590B5CF}"/>
          </ac:spMkLst>
        </pc:spChg>
        <pc:spChg chg="add">
          <ac:chgData name="Chu Lin" userId="a9d5f5a05d2946b6" providerId="LiveId" clId="{D0B525D6-471A-4AEC-9E0A-4D9E31AAD555}" dt="2026-10-02T19:13:51.898" v="3" actId="26606"/>
          <ac:spMkLst>
            <pc:docMk/>
            <pc:sldMk cId="3296793622" sldId="256"/>
            <ac:spMk id="20" creationId="{ECF0998E-D577-43EA-A7B8-E3EC67F75955}"/>
          </ac:spMkLst>
        </pc:spChg>
        <pc:spChg chg="add">
          <ac:chgData name="Chu Lin" userId="a9d5f5a05d2946b6" providerId="LiveId" clId="{D0B525D6-471A-4AEC-9E0A-4D9E31AAD555}" dt="2026-10-02T19:13:51.898" v="3" actId="26606"/>
          <ac:spMkLst>
            <pc:docMk/>
            <pc:sldMk cId="3296793622" sldId="256"/>
            <ac:spMk id="22" creationId="{B2C335F7-F61C-4EB4-80F2-4B1438FE66BB}"/>
          </ac:spMkLst>
        </pc:spChg>
        <pc:spChg chg="add">
          <ac:chgData name="Chu Lin" userId="a9d5f5a05d2946b6" providerId="LiveId" clId="{D0B525D6-471A-4AEC-9E0A-4D9E31AAD555}" dt="2026-10-02T19:13:51.898" v="3" actId="26606"/>
          <ac:spMkLst>
            <pc:docMk/>
            <pc:sldMk cId="3296793622" sldId="256"/>
            <ac:spMk id="24" creationId="{E7DC364D-882B-4786-89FB-1703C1A5CFF0}"/>
          </ac:spMkLst>
        </pc:spChg>
        <pc:spChg chg="add">
          <ac:chgData name="Chu Lin" userId="a9d5f5a05d2946b6" providerId="LiveId" clId="{D0B525D6-471A-4AEC-9E0A-4D9E31AAD555}" dt="2026-10-02T19:13:51.898" v="3" actId="26606"/>
          <ac:spMkLst>
            <pc:docMk/>
            <pc:sldMk cId="3296793622" sldId="256"/>
            <ac:spMk id="26" creationId="{F1189494-2B67-46D2-93D6-A122A09BF6B2}"/>
          </ac:spMkLst>
        </pc:spChg>
      </pc:sldChg>
      <pc:sldChg chg="del">
        <pc:chgData name="Chu Lin" userId="a9d5f5a05d2946b6" providerId="LiveId" clId="{D0B525D6-471A-4AEC-9E0A-4D9E31AAD555}" dt="2026-10-02T14:34:25.614" v="0" actId="47"/>
        <pc:sldMkLst>
          <pc:docMk/>
          <pc:sldMk cId="0" sldId="271"/>
        </pc:sldMkLst>
      </pc:sldChg>
      <pc:sldChg chg="modSp mod">
        <pc:chgData name="Chu Lin" userId="a9d5f5a05d2946b6" providerId="LiveId" clId="{D0B525D6-471A-4AEC-9E0A-4D9E31AAD555}" dt="2026-10-02T15:41:43.437" v="2" actId="1076"/>
        <pc:sldMkLst>
          <pc:docMk/>
          <pc:sldMk cId="0" sldId="272"/>
        </pc:sldMkLst>
        <pc:spChg chg="mod">
          <ac:chgData name="Chu Lin" userId="a9d5f5a05d2946b6" providerId="LiveId" clId="{D0B525D6-471A-4AEC-9E0A-4D9E31AAD555}" dt="2026-10-02T15:41:43.437" v="2" actId="1076"/>
          <ac:spMkLst>
            <pc:docMk/>
            <pc:sldMk cId="0" sldId="272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episodes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5B9B-479D-9759-AB148D5003D1}"/>
              </c:ext>
            </c:extLst>
          </c:dPt>
          <c:dPt>
            <c:idx val="1"/>
            <c:bubble3D val="0"/>
            <c:spPr>
              <a:solidFill>
                <a:srgbClr val="5B8FC7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5B9B-479D-9759-AB148D5003D1}"/>
              </c:ext>
            </c:extLst>
          </c:dPt>
          <c:dPt>
            <c:idx val="2"/>
            <c:bubble3D val="0"/>
            <c:spPr>
              <a:solidFill>
                <a:srgbClr val="A9C6E8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5B9B-479D-9759-AB148D5003D1}"/>
              </c:ext>
            </c:extLst>
          </c:dPt>
          <c:dPt>
            <c:idx val="3"/>
            <c:bubble3D val="0"/>
            <c:spPr>
              <a:solidFill>
                <a:srgbClr val="C0504D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5B9B-479D-9759-AB148D5003D1}"/>
              </c:ext>
            </c:extLst>
          </c:dPt>
          <c:dPt>
            <c:idx val="4"/>
            <c:bubble3D val="0"/>
            <c:spPr>
              <a:solidFill>
                <a:srgbClr val="EBB0AE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5B9B-479D-9759-AB148D5003D1}"/>
              </c:ext>
            </c:extLst>
          </c:dPt>
          <c:dPt>
            <c:idx val="5"/>
            <c:bubble3D val="0"/>
            <c:spPr>
              <a:solidFill>
                <a:srgbClr val="A6A6A6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5B9B-479D-9759-AB148D5003D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learn (light)</c:v>
                </c:pt>
                <c:pt idx="1">
                  <c:v>check (light)</c:v>
                </c:pt>
                <c:pt idx="2">
                  <c:v>test (light)</c:v>
                </c:pt>
                <c:pt idx="3">
                  <c:v>EXAM (heavy)</c:v>
                </c:pt>
                <c:pt idx="4">
                  <c:v>ceiling (heavy)</c:v>
                </c:pt>
                <c:pt idx="5">
                  <c:v>probes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864</c:v>
                </c:pt>
                <c:pt idx="1">
                  <c:v>96</c:v>
                </c:pt>
                <c:pt idx="2">
                  <c:v>240</c:v>
                </c:pt>
                <c:pt idx="3">
                  <c:v>300</c:v>
                </c:pt>
                <c:pt idx="4">
                  <c:v>1200</c:v>
                </c:pt>
                <c:pt idx="5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B9B-479D-9759-AB148D5003D1}"/>
            </c:ext>
          </c:extLst>
        </c:ser>
        <c:dLbls>
          <c:dLblPos val="outEnd"/>
          <c:showLegendKey val="0"/>
          <c:showVal val="1"/>
          <c:showCatName val="1"/>
          <c:showSerName val="0"/>
          <c:showPercent val="0"/>
          <c:showBubbleSize val="0"/>
          <c:separator>
</c:separator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F556-44BA-9236-11AF36AE8065}"/>
              </c:ext>
            </c:extLst>
          </c:dPt>
          <c:dPt>
            <c:idx val="1"/>
            <c:invertIfNegative val="1"/>
            <c:bubble3D val="0"/>
            <c:spPr>
              <a:solidFill>
                <a:srgbClr val="C0504D"/>
              </a:solidFill>
            </c:spPr>
            <c:extLst>
              <c:ext xmlns:c16="http://schemas.microsoft.com/office/drawing/2014/chart" uri="{C3380CC4-5D6E-409C-BE32-E72D297353CC}">
                <c16:uniqueId val="{00000003-F556-44BA-9236-11AF36AE8065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F556-44BA-9236-11AF36AE8065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F556-44BA-9236-11AF36AE8065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9-F556-44BA-9236-11AF36AE8065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one MLP
(no graph)</c:v>
                </c:pt>
                <c:pt idx="1">
                  <c:v>graph
+ MLP</c:v>
                </c:pt>
                <c:pt idx="2">
                  <c:v>graph,
mass removed</c:v>
                </c:pt>
                <c:pt idx="3">
                  <c:v>graph
+ formula</c:v>
                </c:pt>
                <c:pt idx="4">
                  <c:v>graph
+ rigid-body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-0.61</c:v>
                </c:pt>
                <c:pt idx="1">
                  <c:v>-0.27</c:v>
                </c:pt>
                <c:pt idx="2">
                  <c:v>0.39</c:v>
                </c:pt>
                <c:pt idx="3">
                  <c:v>0.41</c:v>
                </c:pt>
                <c:pt idx="4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556-44BA-9236-11AF36AE80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-0.8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1-AAF5-44C8-B1F5-79417518C2E4}"/>
              </c:ext>
            </c:extLst>
          </c:dPt>
          <c:dPt>
            <c:idx val="1"/>
            <c:invertIfNegative val="1"/>
            <c:bubble3D val="0"/>
            <c:spPr>
              <a:solidFill>
                <a:srgbClr val="7FA7CF"/>
              </a:solidFill>
            </c:spPr>
            <c:extLst>
              <c:ext xmlns:c16="http://schemas.microsoft.com/office/drawing/2014/chart" uri="{C3380CC4-5D6E-409C-BE32-E72D297353CC}">
                <c16:uniqueId val="{00000003-AAF5-44C8-B1F5-79417518C2E4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AAF5-44C8-B1F5-79417518C2E4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rigid-body
(with mass)</c:v>
                </c:pt>
                <c:pt idx="1">
                  <c:v>rigid-body
(mass frozen)</c:v>
                </c:pt>
                <c:pt idx="2">
                  <c:v>MLP,
mass removed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0.48599999999999999</c:v>
                </c:pt>
                <c:pt idx="1">
                  <c:v>0.49099999999999999</c:v>
                </c:pt>
                <c:pt idx="2">
                  <c:v>0.39400000000000002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AF5-44C8-B1F5-79417518C2E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6"/>
          <c:min val="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25 Hz (every 0.04 s)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MLP, mass removed</c:v>
                </c:pt>
                <c:pt idx="1">
                  <c:v>rigid-body (with mass)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2.9000000000000001E-2</c:v>
                </c:pt>
                <c:pt idx="1">
                  <c:v>6.9000000000000006E-2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8B-4000-840E-75D84CA817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250 Hz (every 0.004 s)</c:v>
                </c:pt>
              </c:strCache>
            </c:strRef>
          </c:tx>
          <c:spPr>
            <a:solidFill>
              <a:srgbClr val="1F4E79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MLP, mass removed</c:v>
                </c:pt>
                <c:pt idx="1">
                  <c:v>rigid-body (with mass)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0.72499999999999998</c:v>
                </c:pt>
                <c:pt idx="1">
                  <c:v>0.75600000000000001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8B-4000-840E-75D84CA817C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MLP (mass as an input)</c:v>
                </c:pt>
              </c:strCache>
            </c:strRef>
          </c:tx>
          <c:spPr>
            <a:solidFill>
              <a:srgbClr val="C0504D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new mass inside
training range</c:v>
                </c:pt>
                <c:pt idx="1">
                  <c:v>new mass outside
training range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0.19</c:v>
                </c:pt>
                <c:pt idx="1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7C-4152-A416-D08B1769AB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rigid-body layer (mass in the formula)</c:v>
                </c:pt>
              </c:strCache>
            </c:strRef>
          </c:tx>
          <c:spPr>
            <a:solidFill>
              <a:srgbClr val="1F4E79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new mass inside
training range</c:v>
                </c:pt>
                <c:pt idx="1">
                  <c:v>new mass outside
training range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0.77</c:v>
                </c:pt>
                <c:pt idx="1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7C-4152-A416-D08B1769AB0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-0.4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rigid-body (with mass)</c:v>
                </c:pt>
              </c:strCache>
            </c:strRef>
          </c:tx>
          <c:spPr>
            <a:ln w="31750">
              <a:solidFill>
                <a:srgbClr val="1F4E79"/>
              </a:solidFill>
            </a:ln>
          </c:spPr>
          <c:marker>
            <c:symbol val="circle"/>
            <c:size val="7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150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0.93600000000000005</c:v>
                </c:pt>
                <c:pt idx="1">
                  <c:v>0.86699999999999999</c:v>
                </c:pt>
                <c:pt idx="2">
                  <c:v>0.66400000000000003</c:v>
                </c:pt>
                <c:pt idx="3">
                  <c:v>0.28100000000000003</c:v>
                </c:pt>
                <c:pt idx="4">
                  <c:v>-4.2999999999999997E-2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31-4CB5-8132-2C87111F12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rigid-body (mass frozen)</c:v>
                </c:pt>
              </c:strCache>
            </c:strRef>
          </c:tx>
          <c:spPr>
            <a:ln w="31750">
              <a:solidFill>
                <a:srgbClr val="7FA7CF"/>
              </a:solidFill>
            </a:ln>
          </c:spPr>
          <c:marker>
            <c:symbol val="circle"/>
            <c:size val="7"/>
            <c:spPr>
              <a:solidFill>
                <a:srgbClr val="7FA7CF"/>
              </a:solidFill>
              <a:ln>
                <a:solidFill>
                  <a:srgbClr val="7FA7C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150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0.88700000000000001</c:v>
                </c:pt>
                <c:pt idx="1">
                  <c:v>0.80300000000000005</c:v>
                </c:pt>
                <c:pt idx="2">
                  <c:v>0.68300000000000005</c:v>
                </c:pt>
                <c:pt idx="3">
                  <c:v>0.48599999999999999</c:v>
                </c:pt>
                <c:pt idx="4">
                  <c:v>0.312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A31-4CB5-8132-2C87111F125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MLP, mass removed</c:v>
                </c:pt>
              </c:strCache>
            </c:strRef>
          </c:tx>
          <c:spPr>
            <a:ln w="31750">
              <a:solidFill>
                <a:srgbClr val="A6A6A6"/>
              </a:solidFill>
            </a:ln>
          </c:spPr>
          <c:marker>
            <c:symbol val="circle"/>
            <c:size val="7"/>
            <c:spPr>
              <a:solidFill>
                <a:srgbClr val="A6A6A6"/>
              </a:solidFill>
              <a:ln>
                <a:solidFill>
                  <a:srgbClr val="A6A6A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150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0.89200000000000002</c:v>
                </c:pt>
                <c:pt idx="1">
                  <c:v>0.82799999999999996</c:v>
                </c:pt>
                <c:pt idx="2">
                  <c:v>0.51400000000000001</c:v>
                </c:pt>
                <c:pt idx="3">
                  <c:v>0.151</c:v>
                </c:pt>
                <c:pt idx="4">
                  <c:v>-0.73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A31-4CB5-8132-2C87111F125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trained on heavy (ceiling)</c:v>
                </c:pt>
              </c:strCache>
            </c:strRef>
          </c:tx>
          <c:spPr>
            <a:ln w="31750">
              <a:solidFill>
                <a:srgbClr val="1A1A1A"/>
              </a:solidFill>
              <a:prstDash val="dash"/>
            </a:ln>
          </c:spPr>
          <c:marker>
            <c:symbol val="circle"/>
            <c:size val="7"/>
            <c:spPr>
              <a:solidFill>
                <a:srgbClr val="1A1A1A"/>
              </a:solidFill>
              <a:ln>
                <a:solidFill>
                  <a:srgbClr val="1A1A1A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150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0.94599999999999995</c:v>
                </c:pt>
                <c:pt idx="1">
                  <c:v>0.94499999999999995</c:v>
                </c:pt>
                <c:pt idx="2">
                  <c:v>0.83599999999999997</c:v>
                </c:pt>
                <c:pt idx="3">
                  <c:v>0.65300000000000002</c:v>
                </c:pt>
                <c:pt idx="4">
                  <c:v>0.52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A31-4CB5-8132-2C87111F12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11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-0.8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next-step training</c:v>
                </c:pt>
              </c:strCache>
            </c:strRef>
          </c:tx>
          <c:spPr>
            <a:solidFill>
              <a:srgbClr val="D9D9D9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learned torque,
WITH the mass</c:v>
                </c:pt>
                <c:pt idx="1">
                  <c:v>learned torque,
mass CUT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0.46</c:v>
                </c:pt>
                <c:pt idx="1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DF-485E-BB28-056C95D5F0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rollout training</c:v>
                </c:pt>
              </c:strCache>
            </c:strRef>
          </c:tx>
          <c:spPr>
            <a:solidFill>
              <a:srgbClr val="1F4E79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learned torque,
WITH the mass</c:v>
                </c:pt>
                <c:pt idx="1">
                  <c:v>learned torque,
mass CUT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0.73</c:v>
                </c:pt>
                <c:pt idx="1">
                  <c:v>0.73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DF-485E-BB28-056C95D5F01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B, WITH the mass</c:v>
                </c:pt>
              </c:strCache>
            </c:strRef>
          </c:tx>
          <c:spPr>
            <a:ln w="31750">
              <a:solidFill>
                <a:srgbClr val="1F4E79"/>
              </a:solidFill>
            </a:ln>
          </c:spPr>
          <c:marker>
            <c:symbol val="circle"/>
            <c:size val="7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75</c:v>
                </c:pt>
                <c:pt idx="5">
                  <c:v>100</c:v>
                </c:pt>
                <c:pt idx="6">
                  <c:v>125</c:v>
                </c:pt>
                <c:pt idx="7">
                  <c:v>150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0.97799999999999998</c:v>
                </c:pt>
                <c:pt idx="1">
                  <c:v>0.94799999999999995</c:v>
                </c:pt>
                <c:pt idx="2">
                  <c:v>0.88100000000000001</c:v>
                </c:pt>
                <c:pt idx="3">
                  <c:v>0.80400000000000005</c:v>
                </c:pt>
                <c:pt idx="4">
                  <c:v>0.72</c:v>
                </c:pt>
                <c:pt idx="5">
                  <c:v>0.64600000000000002</c:v>
                </c:pt>
                <c:pt idx="6">
                  <c:v>0.58099999999999996</c:v>
                </c:pt>
                <c:pt idx="7">
                  <c:v>0.51800000000000002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6F-4FE4-A364-89B546D451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B, mass CUT</c:v>
                </c:pt>
              </c:strCache>
            </c:strRef>
          </c:tx>
          <c:spPr>
            <a:ln w="31750">
              <a:solidFill>
                <a:srgbClr val="7FA7CF"/>
              </a:solidFill>
              <a:prstDash val="dash"/>
            </a:ln>
          </c:spPr>
          <c:marker>
            <c:symbol val="circle"/>
            <c:size val="7"/>
            <c:spPr>
              <a:solidFill>
                <a:srgbClr val="7FA7CF"/>
              </a:solidFill>
              <a:ln>
                <a:solidFill>
                  <a:srgbClr val="7FA7C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75</c:v>
                </c:pt>
                <c:pt idx="5">
                  <c:v>100</c:v>
                </c:pt>
                <c:pt idx="6">
                  <c:v>125</c:v>
                </c:pt>
                <c:pt idx="7">
                  <c:v>150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0.86799999999999999</c:v>
                </c:pt>
                <c:pt idx="1">
                  <c:v>0.86499999999999999</c:v>
                </c:pt>
                <c:pt idx="2">
                  <c:v>0.60899999999999999</c:v>
                </c:pt>
                <c:pt idx="3">
                  <c:v>0.63800000000000001</c:v>
                </c:pt>
                <c:pt idx="4">
                  <c:v>0.60499999999999998</c:v>
                </c:pt>
                <c:pt idx="5">
                  <c:v>0.54100000000000004</c:v>
                </c:pt>
                <c:pt idx="6">
                  <c:v>0.53</c:v>
                </c:pt>
                <c:pt idx="7">
                  <c:v>0.439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86F-4FE4-A364-89B546D451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11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.3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B, WITH the mass</c:v>
                </c:pt>
              </c:strCache>
            </c:strRef>
          </c:tx>
          <c:spPr>
            <a:ln w="31750">
              <a:solidFill>
                <a:srgbClr val="1F4E79"/>
              </a:solidFill>
            </a:ln>
          </c:spPr>
          <c:marker>
            <c:symbol val="circle"/>
            <c:size val="7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75</c:v>
                </c:pt>
                <c:pt idx="5">
                  <c:v>100</c:v>
                </c:pt>
                <c:pt idx="6">
                  <c:v>125</c:v>
                </c:pt>
                <c:pt idx="7">
                  <c:v>150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0.97799999999999998</c:v>
                </c:pt>
                <c:pt idx="1">
                  <c:v>0.94799999999999995</c:v>
                </c:pt>
                <c:pt idx="2">
                  <c:v>0.88100000000000001</c:v>
                </c:pt>
                <c:pt idx="3">
                  <c:v>0.80400000000000005</c:v>
                </c:pt>
                <c:pt idx="4">
                  <c:v>0.72</c:v>
                </c:pt>
                <c:pt idx="5">
                  <c:v>0.64600000000000002</c:v>
                </c:pt>
                <c:pt idx="6">
                  <c:v>0.58099999999999996</c:v>
                </c:pt>
                <c:pt idx="7">
                  <c:v>0.51800000000000002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2C-4D2C-9FD8-7DB01B29D2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old best: A, mass cut</c:v>
                </c:pt>
              </c:strCache>
            </c:strRef>
          </c:tx>
          <c:spPr>
            <a:ln w="31750">
              <a:solidFill>
                <a:srgbClr val="C0504D"/>
              </a:solidFill>
            </a:ln>
          </c:spPr>
          <c:marker>
            <c:symbol val="circle"/>
            <c:size val="7"/>
            <c:spPr>
              <a:solidFill>
                <a:srgbClr val="C0504D"/>
              </a:solidFill>
              <a:ln>
                <a:solidFill>
                  <a:srgbClr val="C0504D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75</c:v>
                </c:pt>
                <c:pt idx="5">
                  <c:v>100</c:v>
                </c:pt>
                <c:pt idx="6">
                  <c:v>125</c:v>
                </c:pt>
                <c:pt idx="7">
                  <c:v>150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0.877</c:v>
                </c:pt>
                <c:pt idx="1">
                  <c:v>0.84799999999999998</c:v>
                </c:pt>
                <c:pt idx="2">
                  <c:v>0.70199999999999996</c:v>
                </c:pt>
                <c:pt idx="3">
                  <c:v>0.81899999999999995</c:v>
                </c:pt>
                <c:pt idx="4">
                  <c:v>0.74399999999999999</c:v>
                </c:pt>
                <c:pt idx="5">
                  <c:v>0.74199999999999999</c:v>
                </c:pt>
                <c:pt idx="6">
                  <c:v>0.67700000000000005</c:v>
                </c:pt>
                <c:pt idx="7">
                  <c:v>0.65500000000000003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2C-4D2C-9FD8-7DB01B29D2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ceiling: B trained on heavy</c:v>
                </c:pt>
              </c:strCache>
            </c:strRef>
          </c:tx>
          <c:spPr>
            <a:ln w="31750">
              <a:solidFill>
                <a:srgbClr val="1A1A1A"/>
              </a:solidFill>
              <a:prstDash val="dash"/>
            </a:ln>
          </c:spPr>
          <c:marker>
            <c:symbol val="circle"/>
            <c:size val="7"/>
            <c:spPr>
              <a:solidFill>
                <a:srgbClr val="1A1A1A"/>
              </a:solidFill>
              <a:ln>
                <a:solidFill>
                  <a:srgbClr val="1A1A1A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75</c:v>
                </c:pt>
                <c:pt idx="5">
                  <c:v>100</c:v>
                </c:pt>
                <c:pt idx="6">
                  <c:v>125</c:v>
                </c:pt>
                <c:pt idx="7">
                  <c:v>150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0.97199999999999998</c:v>
                </c:pt>
                <c:pt idx="1">
                  <c:v>0.96599999999999997</c:v>
                </c:pt>
                <c:pt idx="2">
                  <c:v>0.90200000000000002</c:v>
                </c:pt>
                <c:pt idx="3">
                  <c:v>0.86399999999999999</c:v>
                </c:pt>
                <c:pt idx="4">
                  <c:v>0.81499999999999995</c:v>
                </c:pt>
                <c:pt idx="5">
                  <c:v>0.746</c:v>
                </c:pt>
                <c:pt idx="6">
                  <c:v>0.71099999999999997</c:v>
                </c:pt>
                <c:pt idx="7">
                  <c:v>0.65200000000000002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E2C-4D2C-9FD8-7DB01B29D2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11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.3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7734-E1E9-464F-9FBE-DF0BCCEF8FB6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3F6E5-D86F-4D45-835C-1689ACF90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02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3F6E5-D86F-4D45-835C-1689ACF907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36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94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1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1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026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10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91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15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62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6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97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529A70-3D97-5FDA-A1C9-9A64C040AB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69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CF0998E-D577-43EA-A7B8-E3EC67F7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DC364D-882B-4786-89FB-1703C1A5C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A4163-5BD5-1494-37A3-0088ED841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620670"/>
          </a:xfrm>
        </p:spPr>
        <p:txBody>
          <a:bodyPr anchor="t">
            <a:normAutofit/>
          </a:bodyPr>
          <a:lstStyle/>
          <a:p>
            <a:r>
              <a:rPr lang="en-US" altLang="zh-CN" sz="6000">
                <a:solidFill>
                  <a:srgbClr val="FFFFFF"/>
                </a:solidFill>
              </a:rPr>
              <a:t>Week 14</a:t>
            </a:r>
            <a:endParaRPr lang="en-US" sz="60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091FCA-7AF0-4DE3-87A5-710718978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108182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chu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89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93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kinds of shift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468880"/>
            <a:ext cx="5394960" cy="38404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49377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</a:rPr>
              <a:t>① A shortcut breaks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2468880"/>
            <a:ext cx="5394960" cy="38404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2560320"/>
            <a:ext cx="49377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</a:rPr>
              <a:t>② The true cause leaves its range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24612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25196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colour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3749039"/>
            <a:ext cx="173736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</a:rPr>
              <a:t>next state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3520440"/>
            <a:ext cx="1417320" cy="41148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23160" y="4160520"/>
            <a:ext cx="1417320" cy="365760"/>
          </a:xfrm>
          <a:prstGeom prst="line">
            <a:avLst/>
          </a:prstGeom>
          <a:ln w="22225">
            <a:solidFill>
              <a:srgbClr val="A6A6A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971800" y="4187952"/>
            <a:ext cx="310896" cy="310896"/>
          </a:xfrm>
          <a:prstGeom prst="line">
            <a:avLst/>
          </a:prstGeom>
          <a:ln w="3810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971800" y="4187952"/>
            <a:ext cx="310896" cy="310896"/>
          </a:xfrm>
          <a:prstGeom prst="line">
            <a:avLst/>
          </a:prstGeom>
          <a:ln w="3810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5074920"/>
            <a:ext cx="4846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>
                <a:solidFill>
                  <a:srgbClr val="595959"/>
                </a:solidFill>
              </a:rPr>
              <a:t>graph cuts the decoy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48463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</a:rPr>
              <a:t>−64% error</a:t>
            </a:r>
            <a:r>
              <a:rPr sz="1400">
                <a:solidFill>
                  <a:srgbClr val="1A1A1A"/>
                </a:solidFill>
              </a:rPr>
              <a:t> (our SCM, 50/50 seeds)</a:t>
            </a:r>
          </a:p>
          <a:p>
            <a:pPr algn="l"/>
            <a:r>
              <a:rPr sz="1400">
                <a:solidFill>
                  <a:srgbClr val="1A1A1A"/>
                </a:solidFill>
              </a:rPr>
              <a:t>CausalWorld: </a:t>
            </a:r>
            <a:r>
              <a:rPr sz="1400" b="1">
                <a:solidFill>
                  <a:srgbClr val="1A1A1A"/>
                </a:solidFill>
              </a:rPr>
              <a:t>0.74</a:t>
            </a:r>
            <a:r>
              <a:rPr sz="1400">
                <a:solidFill>
                  <a:srgbClr val="1A1A1A"/>
                </a:solidFill>
              </a:rPr>
              <a:t> vs −0.20 without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749039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46120"/>
            <a:ext cx="21031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i="1">
                <a:solidFill>
                  <a:srgbClr val="C0504D"/>
                </a:solidFill>
              </a:rPr>
              <a:t>heavier than ever seen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3749039"/>
            <a:ext cx="173736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</a:rPr>
              <a:t>next state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03920" y="4023360"/>
            <a:ext cx="105156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32520" y="3474720"/>
            <a:ext cx="6400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400" b="1">
                <a:solidFill>
                  <a:srgbClr val="C0504D"/>
                </a:solidFill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074920"/>
            <a:ext cx="4846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>
                <a:solidFill>
                  <a:srgbClr val="595959"/>
                </a:solidFill>
              </a:rPr>
              <a:t>nothing to cut: the mechanism must extrapolate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440680"/>
            <a:ext cx="48463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This week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Setup: heavier fingers at test</a:t>
            </a:r>
          </a:p>
        </p:txBody>
      </p:sp>
      <p:pic>
        <p:nvPicPr>
          <p:cNvPr id="3" name="Picture 2" descr="setup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0"/>
            <a:ext cx="4457700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44577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CausalWorld TriFinger (Ahmed et al., 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2514600"/>
            <a:ext cx="53949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Mass of each of the 9 moving links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3063240"/>
            <a:ext cx="215798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train: light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8193024" y="3063240"/>
            <a:ext cx="1078992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>
                <a:solidFill>
                  <a:srgbClr val="595959"/>
                </a:solidFill>
              </a:rPr>
              <a:t>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9272016" y="3063240"/>
            <a:ext cx="2157984" cy="566928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test: heavy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3657600"/>
            <a:ext cx="6400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>
                <a:solidFill>
                  <a:srgbClr val="595959"/>
                </a:solidFill>
              </a:rPr>
              <a:t>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2984" y="3657600"/>
            <a:ext cx="6400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>
                <a:solidFill>
                  <a:srgbClr val="595959"/>
                </a:solidFill>
              </a:rP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1976" y="3657600"/>
            <a:ext cx="6400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>
                <a:solidFill>
                  <a:srgbClr val="595959"/>
                </a:solidFill>
              </a:rP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3657600"/>
            <a:ext cx="6400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>
                <a:solidFill>
                  <a:srgbClr val="595959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931920"/>
            <a:ext cx="5394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of each link's allowed 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5262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DE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>
                <a:solidFill>
                  <a:srgbClr val="1A1A1A"/>
                </a:solidFill>
              </a:rPr>
              <a:t>masses, finger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4864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>
                <a:solidFill>
                  <a:srgbClr val="1A1A1A"/>
                </a:solidFill>
              </a:rPr>
              <a:t>joints, finger 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49440" y="4983480"/>
            <a:ext cx="0" cy="502920"/>
          </a:xfrm>
          <a:prstGeom prst="line">
            <a:avLst/>
          </a:prstGeom>
          <a:ln w="2222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01000" y="45262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DE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>
                <a:solidFill>
                  <a:srgbClr val="1A1A1A"/>
                </a:solidFill>
              </a:rPr>
              <a:t>masses, finger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54864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>
                <a:solidFill>
                  <a:srgbClr val="1A1A1A"/>
                </a:solidFill>
              </a:rPr>
              <a:t>joints, finger 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32520" y="4983480"/>
            <a:ext cx="0" cy="502920"/>
          </a:xfrm>
          <a:prstGeom prst="line">
            <a:avLst/>
          </a:prstGeom>
          <a:ln w="2222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84080" y="45262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DE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>
                <a:solidFill>
                  <a:srgbClr val="1A1A1A"/>
                </a:solidFill>
              </a:rPr>
              <a:t>masses, finger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54864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>
                <a:solidFill>
                  <a:srgbClr val="1A1A1A"/>
                </a:solidFill>
              </a:rPr>
              <a:t>joints, finger 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515600" y="4983480"/>
            <a:ext cx="0" cy="502920"/>
          </a:xfrm>
          <a:prstGeom prst="line">
            <a:avLst/>
          </a:prstGeom>
          <a:ln w="2222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35040" y="5989320"/>
            <a:ext cx="5394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a link mass acts only on its own finger (checked by intervention)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Data: what each run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331720"/>
            <a:ext cx="5394960" cy="0"/>
          </a:xfrm>
        </p:spPr>
        <p:txBody>
          <a:bodyPr>
            <a:noAutofit/>
          </a:bodyPr>
          <a:lstStyle/>
          <a:p>
            <a:r>
              <a:rPr sz="2000" b="1" dirty="0"/>
              <a:t>Learn</a:t>
            </a:r>
            <a:r>
              <a:rPr sz="2000" dirty="0"/>
              <a:t> on light fingers</a:t>
            </a:r>
          </a:p>
          <a:p>
            <a:pPr lvl="1"/>
            <a:r>
              <a:rPr sz="2000" dirty="0"/>
              <a:t>lower 40% of each link's mass range</a:t>
            </a:r>
          </a:p>
          <a:p>
            <a:r>
              <a:rPr sz="2000" b="1" dirty="0"/>
              <a:t>Exam</a:t>
            </a:r>
            <a:r>
              <a:rPr sz="2000" dirty="0"/>
              <a:t> on heavy fingers</a:t>
            </a:r>
          </a:p>
          <a:p>
            <a:pPr lvl="1"/>
            <a:r>
              <a:rPr sz="2000" dirty="0"/>
              <a:t>upper 40%: </a:t>
            </a:r>
            <a:r>
              <a:rPr sz="2000" b="1" dirty="0"/>
              <a:t>1.85×</a:t>
            </a:r>
            <a:r>
              <a:rPr sz="2000" dirty="0"/>
              <a:t> heavier, never seen</a:t>
            </a:r>
          </a:p>
          <a:p>
            <a:r>
              <a:rPr sz="2000" b="1" dirty="0"/>
              <a:t>Ceiling</a:t>
            </a:r>
            <a:r>
              <a:rPr sz="2000" dirty="0"/>
              <a:t>: trained on heavy, reference only</a:t>
            </a:r>
          </a:p>
          <a:p>
            <a:r>
              <a:rPr sz="2000" b="1" dirty="0"/>
              <a:t>Probe</a:t>
            </a:r>
            <a:r>
              <a:rPr sz="2000" dirty="0"/>
              <a:t>: change one mass, compare</a:t>
            </a:r>
          </a:p>
          <a:p>
            <a:r>
              <a:rPr sz="2000" b="1" dirty="0"/>
              <a:t>10 runs</a:t>
            </a:r>
            <a:r>
              <a:rPr sz="2000" dirty="0"/>
              <a:t>: 2 tasks × 5 seeds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35040" y="2331720"/>
          <a:ext cx="5669280" cy="3749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6053328"/>
            <a:ext cx="5669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episodes per run (0.6 s each); blue = light fingers, red = heavy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Idea: physics inside the MLP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514600"/>
            <a:ext cx="5120640" cy="33832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46634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</a:rPr>
              <a:t>Before: MLP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246120"/>
            <a:ext cx="44805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>
                <a:solidFill>
                  <a:srgbClr val="1A1A1A"/>
                </a:solidFill>
              </a:rPr>
              <a:t>joints, action, </a:t>
            </a:r>
            <a:r>
              <a:rPr sz="1500" b="1">
                <a:solidFill>
                  <a:srgbClr val="1A1A1A"/>
                </a:solidFill>
              </a:rPr>
              <a:t>mass</a:t>
            </a:r>
            <a:r>
              <a:rPr sz="1500">
                <a:solidFill>
                  <a:srgbClr val="1A1A1A"/>
                </a:solidFill>
              </a:rPr>
              <a:t>  →  MLP  →  acceleration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60520"/>
            <a:ext cx="4480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>
                <a:solidFill>
                  <a:srgbClr val="595959"/>
                </a:solidFill>
              </a:rPr>
              <a:t>how the mass acts: learned from</a:t>
            </a:r>
          </a:p>
          <a:p>
            <a:pPr algn="l"/>
            <a:r>
              <a:rPr sz="1500">
                <a:solidFill>
                  <a:srgbClr val="595959"/>
                </a:solidFill>
              </a:rPr>
              <a:t>light fingers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74920"/>
            <a:ext cx="448056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>
                <a:solidFill>
                  <a:srgbClr val="C0504D"/>
                </a:solidFill>
              </a:rPr>
              <a:t>heavy finger → </a:t>
            </a:r>
            <a:r>
              <a:rPr sz="1800" b="1">
                <a:solidFill>
                  <a:srgbClr val="C0504D"/>
                </a:solidFill>
              </a:rPr>
              <a:t>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06440" y="4206240"/>
            <a:ext cx="594360" cy="0"/>
          </a:xfrm>
          <a:prstGeom prst="line">
            <a:avLst/>
          </a:prstGeom>
          <a:ln w="381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92240" y="2514600"/>
            <a:ext cx="5166360" cy="3383280"/>
          </a:xfrm>
          <a:prstGeom prst="roundRect">
            <a:avLst>
              <a:gd name="adj" fmla="val 12000"/>
            </a:avLst>
          </a:prstGeom>
          <a:solidFill>
            <a:srgbClr val="DE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2606040"/>
            <a:ext cx="47548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Now: rigid-body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246120"/>
            <a:ext cx="45262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>
                <a:solidFill>
                  <a:srgbClr val="1A1A1A"/>
                </a:solidFill>
              </a:rPr>
              <a:t>inertia(</a:t>
            </a:r>
            <a:r>
              <a:rPr sz="1400" b="1">
                <a:solidFill>
                  <a:srgbClr val="1A1A1A"/>
                </a:solidFill>
              </a:rPr>
              <a:t>m</a:t>
            </a:r>
            <a:r>
              <a:rPr sz="1400">
                <a:solidFill>
                  <a:srgbClr val="1A1A1A"/>
                </a:solidFill>
              </a:rPr>
              <a:t>) × acceleration = torque − gravity(</a:t>
            </a:r>
            <a:r>
              <a:rPr sz="1400" b="1">
                <a:solidFill>
                  <a:srgbClr val="1A1A1A"/>
                </a:solidFill>
              </a:rPr>
              <a:t>m</a:t>
            </a:r>
            <a:r>
              <a:rPr sz="1400">
                <a:solidFill>
                  <a:srgbClr val="1A1A1A"/>
                </a:solidFill>
              </a:rPr>
              <a:t>) + 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160520"/>
            <a:ext cx="45262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>
                <a:solidFill>
                  <a:srgbClr val="1A1A1A"/>
                </a:solidFill>
              </a:rPr>
              <a:t>inertia, gravity: </a:t>
            </a:r>
            <a:r>
              <a:rPr sz="1500" b="1">
                <a:solidFill>
                  <a:srgbClr val="1A1A1A"/>
                </a:solidFill>
              </a:rPr>
              <a:t>linear in m</a:t>
            </a:r>
            <a:r>
              <a:rPr sz="1500">
                <a:solidFill>
                  <a:srgbClr val="1A1A1A"/>
                </a:solidFill>
              </a:rPr>
              <a:t> (fixed by physics)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4617720"/>
            <a:ext cx="45262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>
                <a:solidFill>
                  <a:srgbClr val="1A1A1A"/>
                </a:solidFill>
              </a:rPr>
              <a:t>networks learn only the </a:t>
            </a:r>
            <a:r>
              <a:rPr sz="1500" b="1">
                <a:solidFill>
                  <a:srgbClr val="1A1A1A"/>
                </a:solidFill>
              </a:rPr>
              <a:t>mass-free</a:t>
            </a:r>
            <a:r>
              <a:rPr sz="1500">
                <a:solidFill>
                  <a:srgbClr val="1A1A1A"/>
                </a:solidFill>
              </a:rPr>
              <a:t> parts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5074920"/>
            <a:ext cx="45262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>
                <a:solidFill>
                  <a:srgbClr val="2E7D32"/>
                </a:solidFill>
              </a:rPr>
              <a:t>heavy finger → the same law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35040"/>
            <a:ext cx="11109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i="1" dirty="0">
                <a:solidFill>
                  <a:srgbClr val="595959"/>
                </a:solidFill>
              </a:rPr>
              <a:t>robot dynamics are linear in the link masses (cf. </a:t>
            </a:r>
            <a:r>
              <a:rPr sz="1100" i="1" dirty="0" err="1">
                <a:solidFill>
                  <a:srgbClr val="595959"/>
                </a:solidFill>
              </a:rPr>
              <a:t>DeLaN</a:t>
            </a:r>
            <a:r>
              <a:rPr sz="1100" i="1" dirty="0">
                <a:solidFill>
                  <a:srgbClr val="595959"/>
                </a:solidFill>
              </a:rPr>
              <a:t>, Lutter et al., ICLR 2019)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1: physics layer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18" y="2514600"/>
            <a:ext cx="5394960" cy="0"/>
          </a:xfrm>
        </p:spPr>
        <p:txBody>
          <a:bodyPr>
            <a:noAutofit/>
          </a:bodyPr>
          <a:lstStyle/>
          <a:p>
            <a:r>
              <a:rPr sz="2000" b="1" dirty="0"/>
              <a:t>MLP + mass</a:t>
            </a:r>
            <a:r>
              <a:rPr sz="2000" dirty="0"/>
              <a:t> is worse than </a:t>
            </a:r>
            <a:r>
              <a:rPr sz="2000" b="1" dirty="0"/>
              <a:t>ignoring the mass</a:t>
            </a:r>
          </a:p>
          <a:p>
            <a:r>
              <a:rPr sz="2000" b="1" dirty="0"/>
              <a:t>Rigid-body layer</a:t>
            </a:r>
            <a:r>
              <a:rPr sz="2000" dirty="0"/>
              <a:t> is best</a:t>
            </a:r>
          </a:p>
          <a:p>
            <a:pPr lvl="1"/>
            <a:r>
              <a:rPr sz="2000" dirty="0"/>
              <a:t>beats 'mass removed' in </a:t>
            </a:r>
            <a:r>
              <a:rPr sz="2000" b="1" dirty="0"/>
              <a:t>9/10</a:t>
            </a:r>
            <a:r>
              <a:rPr sz="2000" dirty="0"/>
              <a:t> runs (p = 0.004)</a:t>
            </a:r>
          </a:p>
          <a:p>
            <a:r>
              <a:rPr sz="2000" dirty="0"/>
              <a:t>Formula search (EQL): unstable, dropped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0" y="2514600"/>
          <a:ext cx="57607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6053328"/>
            <a:ext cx="57607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joint R² on heavy fingers, mean over 50 steps, median of 10 runs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…but the win was not the mass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379" y="2694562"/>
            <a:ext cx="5394960" cy="0"/>
          </a:xfrm>
        </p:spPr>
        <p:txBody>
          <a:bodyPr>
            <a:noAutofit/>
          </a:bodyPr>
          <a:lstStyle/>
          <a:p>
            <a:r>
              <a:rPr sz="2000" dirty="0"/>
              <a:t>Same layer, </a:t>
            </a:r>
            <a:r>
              <a:rPr sz="2000" b="1" dirty="0"/>
              <a:t>mass frozen</a:t>
            </a:r>
            <a:r>
              <a:rPr sz="2000" dirty="0"/>
              <a:t> at the training average</a:t>
            </a:r>
          </a:p>
          <a:p>
            <a:pPr lvl="1"/>
            <a:r>
              <a:rPr sz="2000" b="1" dirty="0"/>
              <a:t>just as good</a:t>
            </a:r>
            <a:r>
              <a:rPr sz="2000" dirty="0"/>
              <a:t>: 4/10 runs, p = 0.70</a:t>
            </a:r>
          </a:p>
          <a:p>
            <a:r>
              <a:rPr sz="2000" dirty="0"/>
              <a:t>The win came from the layer's </a:t>
            </a:r>
            <a:r>
              <a:rPr sz="2000" b="1" dirty="0"/>
              <a:t>structure</a:t>
            </a:r>
          </a:p>
          <a:p>
            <a:r>
              <a:rPr sz="2000" dirty="0"/>
              <a:t>The mass was </a:t>
            </a:r>
            <a:r>
              <a:rPr sz="2000" b="1" dirty="0"/>
              <a:t>not learned</a:t>
            </a:r>
            <a:r>
              <a:rPr sz="2000" dirty="0"/>
              <a:t>, even in range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0" y="2514600"/>
          <a:ext cx="57607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6053328"/>
            <a:ext cx="57607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joint R² on heavy fingers, 25 Hz, median of 10 runs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Why: 25 Hz cannot see the mass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208" y="2723744"/>
            <a:ext cx="5394960" cy="0"/>
          </a:xfrm>
        </p:spPr>
        <p:txBody>
          <a:bodyPr>
            <a:noAutofit/>
          </a:bodyPr>
          <a:lstStyle/>
          <a:p>
            <a:r>
              <a:rPr sz="2400" dirty="0"/>
              <a:t>The mass acts through </a:t>
            </a:r>
            <a:r>
              <a:rPr sz="2400" b="1" dirty="0"/>
              <a:t>acceleration</a:t>
            </a:r>
          </a:p>
          <a:p>
            <a:r>
              <a:rPr sz="2400" dirty="0"/>
              <a:t>At 25 Hz the velocity change is </a:t>
            </a:r>
            <a:r>
              <a:rPr sz="2400" b="1" dirty="0"/>
              <a:t>unpredictable</a:t>
            </a:r>
          </a:p>
          <a:p>
            <a:r>
              <a:rPr sz="2400" dirty="0"/>
              <a:t>Record every physics step: </a:t>
            </a:r>
            <a:r>
              <a:rPr sz="2400" b="1" dirty="0"/>
              <a:t>250 Hz</a:t>
            </a:r>
          </a:p>
          <a:p>
            <a:pPr lvl="1"/>
            <a:r>
              <a:rPr sz="2400" dirty="0"/>
              <a:t>same system: 10 × 1/250 s = 1 × 0.04 s, </a:t>
            </a:r>
            <a:r>
              <a:rPr sz="2400" b="1" dirty="0"/>
              <a:t>identical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0" y="2514600"/>
          <a:ext cx="57607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6053328"/>
            <a:ext cx="57607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R² of the one-step velocity change, light fingers, median of 10 runs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 test: predict the change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97180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</a:rPr>
              <a:t>same state</a:t>
            </a:r>
          </a:p>
          <a:p>
            <a:pPr algn="ctr"/>
            <a:r>
              <a:rPr sz="1500" b="1">
                <a:solidFill>
                  <a:srgbClr val="1A1A1A"/>
                </a:solidFill>
              </a:rPr>
              <a:t>+ same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6120" y="251460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DE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>
                <a:solidFill>
                  <a:srgbClr val="1A1A1A"/>
                </a:solidFill>
              </a:rPr>
              <a:t>link mass = 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361188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F6E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>
                <a:solidFill>
                  <a:srgbClr val="1A1A1A"/>
                </a:solidFill>
              </a:rPr>
              <a:t>link mass = m′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651760" y="2834640"/>
            <a:ext cx="594360" cy="36576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51760" y="3566160"/>
            <a:ext cx="594360" cy="36576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035040" y="2514600"/>
            <a:ext cx="23774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>
                <a:solidFill>
                  <a:srgbClr val="1A1A1A"/>
                </a:solidFill>
              </a:rPr>
              <a:t>simulator, 1 step:</a:t>
            </a:r>
          </a:p>
          <a:p>
            <a:pPr algn="ctr"/>
            <a:r>
              <a:rPr sz="1400">
                <a:solidFill>
                  <a:srgbClr val="1A1A1A"/>
                </a:solidFill>
              </a:rPr>
              <a:t>speed </a:t>
            </a:r>
            <a:r>
              <a:rPr sz="1400" b="1">
                <a:solidFill>
                  <a:srgbClr val="1A1A1A"/>
                </a:solidFill>
              </a:rPr>
              <a:t>1.000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611880"/>
            <a:ext cx="23774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>
                <a:solidFill>
                  <a:srgbClr val="1A1A1A"/>
                </a:solidFill>
              </a:rPr>
              <a:t>simulator, 1 step:</a:t>
            </a:r>
          </a:p>
          <a:p>
            <a:pPr algn="ctr"/>
            <a:r>
              <a:rPr sz="1400">
                <a:solidFill>
                  <a:srgbClr val="1A1A1A"/>
                </a:solidFill>
              </a:rPr>
              <a:t>speed </a:t>
            </a:r>
            <a:r>
              <a:rPr sz="1400" b="1">
                <a:solidFill>
                  <a:srgbClr val="1A1A1A"/>
                </a:solidFill>
              </a:rPr>
              <a:t>0.980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40680" y="2834640"/>
            <a:ext cx="59436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40680" y="3931920"/>
            <a:ext cx="59436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06840" y="2971800"/>
            <a:ext cx="2651760" cy="82296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true change</a:t>
            </a:r>
          </a:p>
          <a:p>
            <a:pPr algn="ctr"/>
            <a:r>
              <a:rPr sz="1600">
                <a:solidFill>
                  <a:srgbClr val="FFFFFF"/>
                </a:solidFill>
              </a:rPr>
              <a:t>= </a:t>
            </a:r>
            <a:r>
              <a:rPr sz="1600" b="1">
                <a:solidFill>
                  <a:srgbClr val="FFFFFF"/>
                </a:solidFill>
              </a:rPr>
              <a:t>−0.020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0" y="2834640"/>
            <a:ext cx="594360" cy="36576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412480" y="3566160"/>
            <a:ext cx="594360" cy="36576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4434840"/>
          <a:ext cx="11109960" cy="1234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model, same two questions</a:t>
                      </a:r>
                    </a:p>
                  </a:txBody>
                  <a:tcPr marL="73152" marR="73152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1A1A"/>
                          </a:solidFill>
                        </a:rPr>
                        <a:t>speed, mass m</a:t>
                      </a:r>
                    </a:p>
                  </a:txBody>
                  <a:tcPr marL="73152" marR="73152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1A1A"/>
                          </a:solidFill>
                        </a:rPr>
                        <a:t>speed, mass m′</a:t>
                      </a:r>
                    </a:p>
                  </a:txBody>
                  <a:tcPr marL="73152" marR="73152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1A1A"/>
                          </a:solidFill>
                        </a:rPr>
                        <a:t>change</a:t>
                      </a:r>
                    </a:p>
                  </a:txBody>
                  <a:tcPr marL="73152" marR="73152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1A1A"/>
                          </a:solidFill>
                        </a:rPr>
                        <a:t>score</a:t>
                      </a:r>
                    </a:p>
                  </a:txBody>
                  <a:tcPr marL="73152" marR="73152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</a:rPr>
                        <a:t>MLP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0.998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0.996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C0504D"/>
                          </a:solidFill>
                        </a:rPr>
                        <a:t>−0.002</a:t>
                      </a:r>
                    </a:p>
                  </a:txBody>
                  <a:tcPr marL="73152" marR="73152" anchor="ctr">
                    <a:solidFill>
                      <a:srgbClr val="F6E0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504D"/>
                          </a:solidFill>
                        </a:rPr>
                        <a:t>0.19</a:t>
                      </a:r>
                    </a:p>
                  </a:txBody>
                  <a:tcPr marL="73152" marR="73152" anchor="ctr">
                    <a:solidFill>
                      <a:srgbClr val="F6E0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</a:rPr>
                        <a:t>rigid-body layer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1.001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</a:rPr>
                        <a:t>0.990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4E79"/>
                          </a:solidFill>
                        </a:rPr>
                        <a:t>−0.011</a:t>
                      </a:r>
                    </a:p>
                  </a:txBody>
                  <a:tcPr marL="73152" marR="73152" anchor="ctr">
                    <a:solidFill>
                      <a:srgbClr val="DEEA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4E79"/>
                          </a:solidFill>
                        </a:rPr>
                        <a:t>0.80</a:t>
                      </a:r>
                    </a:p>
                  </a:txBody>
                  <a:tcPr marL="73152" marR="73152" anchor="ctr">
                    <a:solidFill>
                      <a:srgbClr val="DE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5779008"/>
            <a:ext cx="11109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>
                <a:solidFill>
                  <a:srgbClr val="1A1A1A"/>
                </a:solidFill>
              </a:rPr>
              <a:t>score = 1 − (model change − true change)² ÷ (true change)²      </a:t>
            </a:r>
            <a:r>
              <a:rPr sz="1500" b="1">
                <a:solidFill>
                  <a:srgbClr val="1A1A1A"/>
                </a:solidFill>
              </a:rPr>
              <a:t>1</a:t>
            </a:r>
            <a:r>
              <a:rPr sz="1500">
                <a:solidFill>
                  <a:srgbClr val="1A1A1A"/>
                </a:solidFill>
              </a:rPr>
              <a:t> = exact change · </a:t>
            </a:r>
            <a:r>
              <a:rPr sz="1500" b="1">
                <a:solidFill>
                  <a:srgbClr val="1A1A1A"/>
                </a:solidFill>
              </a:rPr>
              <a:t>0</a:t>
            </a:r>
            <a:r>
              <a:rPr sz="1500">
                <a:solidFill>
                  <a:srgbClr val="1A1A1A"/>
                </a:solidFill>
              </a:rPr>
              <a:t> = predicts no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99632"/>
            <a:ext cx="11109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round numbers for illustration; the real score sums over every pair and all 18 joint values (angle and speed of 9 joints)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2: MLP misses the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69" y="2441448"/>
            <a:ext cx="5394960" cy="0"/>
          </a:xfrm>
        </p:spPr>
        <p:txBody>
          <a:bodyPr>
            <a:noAutofit/>
          </a:bodyPr>
          <a:lstStyle/>
          <a:p>
            <a:r>
              <a:rPr sz="2000" b="1" dirty="0"/>
              <a:t>Inside</a:t>
            </a:r>
            <a:r>
              <a:rPr sz="2000" dirty="0"/>
              <a:t> the training range</a:t>
            </a:r>
          </a:p>
          <a:p>
            <a:pPr lvl="1"/>
            <a:r>
              <a:rPr sz="2000" dirty="0"/>
              <a:t>MLP </a:t>
            </a:r>
            <a:r>
              <a:rPr sz="2000" b="1" dirty="0"/>
              <a:t>0.19</a:t>
            </a:r>
            <a:r>
              <a:rPr sz="2000" dirty="0"/>
              <a:t>, rigid-body </a:t>
            </a:r>
            <a:r>
              <a:rPr sz="2000" b="1" dirty="0"/>
              <a:t>0.77</a:t>
            </a:r>
          </a:p>
          <a:p>
            <a:r>
              <a:rPr sz="2000" b="1" dirty="0"/>
              <a:t>Outside</a:t>
            </a:r>
            <a:r>
              <a:rPr sz="2000" dirty="0"/>
              <a:t>: heavier than ever seen</a:t>
            </a:r>
          </a:p>
          <a:p>
            <a:pPr lvl="1"/>
            <a:r>
              <a:rPr sz="2000" dirty="0"/>
              <a:t>MLP </a:t>
            </a:r>
            <a:r>
              <a:rPr sz="2000" b="1" dirty="0"/>
              <a:t>−0.14</a:t>
            </a:r>
            <a:r>
              <a:rPr sz="2000" dirty="0"/>
              <a:t>: worse than 'no change'</a:t>
            </a:r>
          </a:p>
          <a:p>
            <a:pPr lvl="1"/>
            <a:r>
              <a:rPr sz="2000" dirty="0"/>
              <a:t>rigid-body </a:t>
            </a:r>
            <a:r>
              <a:rPr sz="2000" b="1" dirty="0"/>
              <a:t>0.81</a:t>
            </a:r>
            <a:r>
              <a:rPr sz="2000" dirty="0"/>
              <a:t>: no loss</a:t>
            </a:r>
          </a:p>
          <a:p>
            <a:pPr lvl="1"/>
            <a:r>
              <a:rPr sz="2000" dirty="0"/>
              <a:t>rigid ahead in </a:t>
            </a:r>
            <a:r>
              <a:rPr sz="2000" b="1" dirty="0"/>
              <a:t>10/10</a:t>
            </a:r>
            <a:r>
              <a:rPr sz="2000" dirty="0"/>
              <a:t> runs, p = 0.002</a:t>
            </a:r>
          </a:p>
          <a:p>
            <a:r>
              <a:rPr sz="2000" dirty="0"/>
              <a:t>Why MLP misses it: mass moves one step </a:t>
            </a:r>
            <a:r>
              <a:rPr sz="2000" b="1" dirty="0"/>
              <a:t>~2%</a:t>
            </a:r>
          </a:p>
          <a:p>
            <a:pPr lvl="1"/>
            <a:r>
              <a:rPr sz="2000" dirty="0"/>
              <a:t>ignoring it barely hurts ordinary accuracy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0" y="2514600"/>
          <a:ext cx="57607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6053328"/>
            <a:ext cx="57607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change score (previous slide), one step, median of 10 runs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3: not over 150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2597285"/>
            <a:ext cx="5394960" cy="0"/>
          </a:xfrm>
        </p:spPr>
        <p:txBody>
          <a:bodyPr>
            <a:noAutofit/>
          </a:bodyPr>
          <a:lstStyle/>
          <a:p>
            <a:r>
              <a:rPr sz="2000" dirty="0"/>
              <a:t>With the mass: better for </a:t>
            </a:r>
            <a:r>
              <a:rPr sz="2000" b="1" dirty="0"/>
              <a:t>~10 steps</a:t>
            </a:r>
          </a:p>
          <a:p>
            <a:pPr lvl="1"/>
            <a:r>
              <a:rPr sz="2000" dirty="0"/>
              <a:t>worse after </a:t>
            </a:r>
            <a:r>
              <a:rPr sz="2000" b="1" dirty="0"/>
              <a:t>50</a:t>
            </a:r>
          </a:p>
          <a:p>
            <a:r>
              <a:rPr sz="2000" dirty="0"/>
              <a:t>Trained on the </a:t>
            </a:r>
            <a:r>
              <a:rPr sz="2000" b="1" dirty="0"/>
              <a:t>next step only</a:t>
            </a:r>
          </a:p>
          <a:p>
            <a:pPr lvl="1"/>
            <a:r>
              <a:rPr sz="2000" dirty="0"/>
              <a:t>its errors are never fed back</a:t>
            </a:r>
          </a:p>
          <a:p>
            <a:r>
              <a:rPr sz="2000" dirty="0"/>
              <a:t>→ train on rollouts (</a:t>
            </a:r>
            <a:r>
              <a:rPr sz="2000" b="1" dirty="0"/>
              <a:t>05e</a:t>
            </a:r>
            <a:r>
              <a:rPr sz="2000" dirty="0"/>
              <a:t>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0" y="2514600"/>
          <a:ext cx="57607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6053328"/>
            <a:ext cx="57607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joint R² on heavy fingers at step k (250 Hz), median of 10 runs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Rollout training: still a 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208" y="2769704"/>
            <a:ext cx="5394960" cy="0"/>
          </a:xfrm>
        </p:spPr>
        <p:txBody>
          <a:bodyPr>
            <a:noAutofit/>
          </a:bodyPr>
          <a:lstStyle/>
          <a:p>
            <a:r>
              <a:rPr sz="2000" dirty="0"/>
              <a:t>Train on </a:t>
            </a:r>
            <a:r>
              <a:rPr sz="2000" b="1" dirty="0"/>
              <a:t>50-step rollouts</a:t>
            </a:r>
            <a:r>
              <a:rPr sz="2000" dirty="0"/>
              <a:t>, not one step</a:t>
            </a:r>
          </a:p>
          <a:p>
            <a:pPr lvl="1"/>
            <a:r>
              <a:rPr sz="2000" dirty="0"/>
              <a:t>both models: </a:t>
            </a:r>
            <a:r>
              <a:rPr sz="2000" b="1" dirty="0"/>
              <a:t>0.46–0.55 → 0.73</a:t>
            </a:r>
          </a:p>
          <a:p>
            <a:r>
              <a:rPr sz="2000" dirty="0"/>
              <a:t>With the mass vs mass cut: </a:t>
            </a:r>
            <a:r>
              <a:rPr sz="2000" b="1" dirty="0"/>
              <a:t>0.734 vs 0.733</a:t>
            </a:r>
          </a:p>
          <a:p>
            <a:pPr lvl="1"/>
            <a:r>
              <a:rPr sz="2000" dirty="0"/>
              <a:t>3/10 runs; 95% CI [−0.07, +0.01]</a:t>
            </a:r>
          </a:p>
          <a:p>
            <a:r>
              <a:rPr sz="2000" dirty="0"/>
              <a:t>The mass helps only the </a:t>
            </a:r>
            <a:r>
              <a:rPr sz="2000" b="1" dirty="0"/>
              <a:t>first ~10 steps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0" y="2514600"/>
          <a:ext cx="57607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6053328"/>
            <a:ext cx="57607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joint R² on heavy fingers, mean over 150 steps, median of 10 runs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Fix: write the motor rule 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514600"/>
            <a:ext cx="11109960" cy="9144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 dirty="0">
                <a:solidFill>
                  <a:srgbClr val="1A1A1A"/>
                </a:solidFill>
              </a:rPr>
              <a:t>acceleration  =  ( motor force  +  contact  −  gravity(</a:t>
            </a:r>
            <a:r>
              <a:rPr sz="2200" b="1" dirty="0">
                <a:solidFill>
                  <a:srgbClr val="1A1A1A"/>
                </a:solidFill>
              </a:rPr>
              <a:t>m</a:t>
            </a:r>
            <a:r>
              <a:rPr sz="2200" dirty="0">
                <a:solidFill>
                  <a:srgbClr val="1A1A1A"/>
                </a:solidFill>
              </a:rPr>
              <a:t>) )  ÷  inertia(</a:t>
            </a:r>
            <a:r>
              <a:rPr sz="2200" b="1" dirty="0">
                <a:solidFill>
                  <a:srgbClr val="1A1A1A"/>
                </a:solidFill>
              </a:rPr>
              <a:t>m</a:t>
            </a:r>
            <a:r>
              <a:rPr sz="2200" dirty="0">
                <a:solidFill>
                  <a:srgbClr val="1A1A1A"/>
                </a:solidFill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11109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>
                <a:solidFill>
                  <a:srgbClr val="595959"/>
                </a:solidFill>
              </a:rPr>
              <a:t>inertia and gravity grow </a:t>
            </a:r>
            <a:r>
              <a:rPr sz="1400" b="1">
                <a:solidFill>
                  <a:srgbClr val="595959"/>
                </a:solidFill>
              </a:rPr>
              <a:t>in proportion</a:t>
            </a:r>
            <a:r>
              <a:rPr sz="1400">
                <a:solidFill>
                  <a:srgbClr val="595959"/>
                </a:solidFill>
              </a:rPr>
              <a:t> to each link's mass: fixed by physics, never learned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60520"/>
            <a:ext cx="53492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5029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C0504D"/>
                </a:solidFill>
              </a:rPr>
              <a:t>A · motor force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5029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dirty="0">
                <a:solidFill>
                  <a:srgbClr val="1A1A1A"/>
                </a:solidFill>
              </a:rPr>
              <a:t>a network guesses it from</a:t>
            </a:r>
          </a:p>
          <a:p>
            <a:pPr algn="l"/>
            <a:r>
              <a:rPr sz="1500" dirty="0">
                <a:solidFill>
                  <a:srgbClr val="1A1A1A"/>
                </a:solidFill>
              </a:rPr>
              <a:t>target, angle, speed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160520"/>
            <a:ext cx="5349240" cy="1600200"/>
          </a:xfrm>
          <a:prstGeom prst="roundRect">
            <a:avLst>
              <a:gd name="adj" fmla="val 12000"/>
            </a:avLst>
          </a:prstGeom>
          <a:solidFill>
            <a:srgbClr val="DE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4251960"/>
            <a:ext cx="5029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B · CausalWorld's motor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709160"/>
            <a:ext cx="5029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dirty="0">
                <a:solidFill>
                  <a:srgbClr val="1A1A1A"/>
                </a:solidFill>
              </a:rPr>
              <a:t>10 × (target − angle) − damping × speed</a:t>
            </a:r>
          </a:p>
          <a:p>
            <a:pPr algn="l"/>
            <a:r>
              <a:rPr sz="1500" dirty="0">
                <a:solidFill>
                  <a:srgbClr val="1A1A1A"/>
                </a:solidFill>
              </a:rPr>
              <a:t>capped at </a:t>
            </a:r>
            <a:r>
              <a:rPr sz="1500" b="1" dirty="0">
                <a:solidFill>
                  <a:srgbClr val="1A1A1A"/>
                </a:solidFill>
              </a:rPr>
              <a:t>0.36 </a:t>
            </a:r>
            <a:r>
              <a:rPr sz="1500" b="1" dirty="0" err="1">
                <a:solidFill>
                  <a:srgbClr val="1A1A1A"/>
                </a:solidFill>
              </a:rPr>
              <a:t>N·m</a:t>
            </a:r>
            <a:r>
              <a:rPr sz="1500" dirty="0">
                <a:solidFill>
                  <a:srgbClr val="1A1A1A"/>
                </a:solidFill>
              </a:rPr>
              <a:t>: nothing learned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>
                <a:solidFill>
                  <a:srgbClr val="595959"/>
                </a:solidFill>
              </a:rPr>
              <a:t>each model also has a </a:t>
            </a:r>
            <a:r>
              <a:rPr sz="1400" b="1">
                <a:solidFill>
                  <a:srgbClr val="595959"/>
                </a:solidFill>
              </a:rPr>
              <a:t>mass-cut twin</a:t>
            </a:r>
            <a:r>
              <a:rPr sz="1400">
                <a:solidFill>
                  <a:srgbClr val="595959"/>
                </a:solidFill>
              </a:rPr>
              <a:t>: same model, always told the light average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4: now the mass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566" y="2594113"/>
            <a:ext cx="5394960" cy="0"/>
          </a:xfrm>
        </p:spPr>
        <p:txBody>
          <a:bodyPr>
            <a:noAutofit/>
          </a:bodyPr>
          <a:lstStyle/>
          <a:p>
            <a:r>
              <a:rPr sz="2000" dirty="0"/>
              <a:t>Motor rule written in (B)</a:t>
            </a:r>
          </a:p>
          <a:p>
            <a:pPr lvl="1"/>
            <a:r>
              <a:rPr sz="2000" dirty="0"/>
              <a:t>WITH the mass beats mass cut</a:t>
            </a:r>
          </a:p>
          <a:p>
            <a:pPr lvl="1"/>
            <a:r>
              <a:rPr sz="2000" b="1" dirty="0"/>
              <a:t>10/10</a:t>
            </a:r>
            <a:r>
              <a:rPr sz="2000" dirty="0"/>
              <a:t> runs at </a:t>
            </a:r>
            <a:r>
              <a:rPr sz="2000" b="1" dirty="0"/>
              <a:t>every</a:t>
            </a:r>
            <a:r>
              <a:rPr sz="2000" dirty="0"/>
              <a:t> step</a:t>
            </a:r>
          </a:p>
          <a:p>
            <a:r>
              <a:rPr sz="2000" dirty="0"/>
              <a:t>150-step mean </a:t>
            </a:r>
            <a:r>
              <a:rPr sz="2000" b="1" dirty="0"/>
              <a:t>0.73 vs 0.61</a:t>
            </a:r>
          </a:p>
          <a:p>
            <a:pPr lvl="1"/>
            <a:r>
              <a:rPr sz="2000" dirty="0"/>
              <a:t>95% CI [+0.10, +0.14]</a:t>
            </a:r>
          </a:p>
          <a:p>
            <a:r>
              <a:rPr sz="2000" dirty="0"/>
              <a:t>Light fingers: </a:t>
            </a:r>
            <a:r>
              <a:rPr sz="2000" b="1" dirty="0"/>
              <a:t>+0.01</a:t>
            </a:r>
            <a:r>
              <a:rPr sz="2000" dirty="0"/>
              <a:t> only</a:t>
            </a:r>
          </a:p>
          <a:p>
            <a:pPr lvl="1"/>
            <a:r>
              <a:rPr sz="2000" dirty="0"/>
              <a:t>the mass pays off </a:t>
            </a:r>
            <a:r>
              <a:rPr sz="2000" b="1" dirty="0"/>
              <a:t>out of range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0" y="2514600"/>
          <a:ext cx="57607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6053328"/>
            <a:ext cx="57607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joint R² on heavy fingers at step k, rollout-trained, median of 10 runs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5: best early, not 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208" y="2541104"/>
            <a:ext cx="5394960" cy="0"/>
          </a:xfrm>
        </p:spPr>
        <p:txBody>
          <a:bodyPr>
            <a:noAutofit/>
          </a:bodyPr>
          <a:lstStyle/>
          <a:p>
            <a:r>
              <a:rPr sz="2000" dirty="0"/>
              <a:t>First 25 steps: </a:t>
            </a:r>
            <a:r>
              <a:rPr sz="2000" b="1" dirty="0"/>
              <a:t>at the ceiling</a:t>
            </a:r>
          </a:p>
          <a:p>
            <a:pPr lvl="1"/>
            <a:r>
              <a:rPr sz="2000" dirty="0"/>
              <a:t>step 1: 0.98 vs 0.97</a:t>
            </a:r>
          </a:p>
          <a:p>
            <a:r>
              <a:rPr sz="2000" dirty="0"/>
              <a:t>After ~40 steps: </a:t>
            </a:r>
            <a:r>
              <a:rPr sz="2000" b="1" dirty="0"/>
              <a:t>old best ahead</a:t>
            </a:r>
          </a:p>
          <a:p>
            <a:pPr lvl="1"/>
            <a:r>
              <a:rPr sz="2000" dirty="0"/>
              <a:t>step 150: 0.52 vs 0.65</a:t>
            </a:r>
          </a:p>
          <a:p>
            <a:r>
              <a:rPr sz="2000" dirty="0"/>
              <a:t>150-step mean: </a:t>
            </a:r>
            <a:r>
              <a:rPr sz="2000" b="1" dirty="0"/>
              <a:t>0.73 vs 0.73</a:t>
            </a:r>
          </a:p>
          <a:p>
            <a:pPr lvl="1"/>
            <a:r>
              <a:rPr sz="2000" dirty="0"/>
              <a:t>not yet the most accurate model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0" y="2514600"/>
          <a:ext cx="57607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6053328"/>
            <a:ext cx="57607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joint R² on heavy fingers at step k, rollout-trained, median of 10 runs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holds, what does not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2514600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2496312"/>
            <a:ext cx="53949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250 Hz resolves the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2280" y="2496312"/>
            <a:ext cx="48463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>
                <a:solidFill>
                  <a:srgbClr val="595959"/>
                </a:solidFill>
              </a:rPr>
              <a:t>velocity R² 0.03 → 0.73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081528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063240"/>
            <a:ext cx="53949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Mass change predicted, also out of 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3063240"/>
            <a:ext cx="48463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>
                <a:solidFill>
                  <a:srgbClr val="595959"/>
                </a:solidFill>
              </a:rPr>
              <a:t>score 0.81 vs MLP −0.14; 10/10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648456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30168"/>
            <a:ext cx="53949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No leakage; MLP fails on the unseen mass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630168"/>
            <a:ext cx="48463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>
                <a:solidFill>
                  <a:srgbClr val="595959"/>
                </a:solidFill>
              </a:rPr>
              <a:t>audit: 10/10 runs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215383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197096"/>
            <a:ext cx="53949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Motor rule in → the mass matters out of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197096"/>
            <a:ext cx="48463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>
                <a:solidFill>
                  <a:srgbClr val="595959"/>
                </a:solidFill>
              </a:rPr>
              <a:t>+0.12, 10/10 at every step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82312"/>
            <a:ext cx="384048" cy="384048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764024"/>
            <a:ext cx="53949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Most accurate on heavy fingers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764024"/>
            <a:ext cx="48463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>
                <a:solidFill>
                  <a:srgbClr val="595959"/>
                </a:solidFill>
              </a:rPr>
              <a:t>best for 25 steps, behind after ~40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349240"/>
            <a:ext cx="384048" cy="384048"/>
          </a:xfrm>
          <a:prstGeom prst="ellipse">
            <a:avLst/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330952"/>
            <a:ext cx="53949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Base joint limited by the recorded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330952"/>
            <a:ext cx="48463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>
                <a:solidFill>
                  <a:srgbClr val="595959"/>
                </a:solidFill>
              </a:rPr>
              <a:t>best possible R² 0.58 (tip 0.98)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why it degrades late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60604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31546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①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37560"/>
            <a:ext cx="315468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>
                <a:solidFill>
                  <a:srgbClr val="1A1A1A"/>
                </a:solidFill>
              </a:rPr>
              <a:t>which part fails first;</a:t>
            </a:r>
          </a:p>
          <a:p>
            <a:pPr algn="l"/>
            <a:r>
              <a:rPr sz="1500">
                <a:solidFill>
                  <a:srgbClr val="1A1A1A"/>
                </a:solidFill>
              </a:rPr>
              <a:t>how much small errors grow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60604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DE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2743200"/>
            <a:ext cx="31546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② Whole episodes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3337560"/>
            <a:ext cx="315468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>
                <a:solidFill>
                  <a:srgbClr val="1A1A1A"/>
                </a:solidFill>
              </a:rPr>
              <a:t>train on 150-step rollouts:</a:t>
            </a:r>
          </a:p>
          <a:p>
            <a:pPr algn="l"/>
            <a:r>
              <a:rPr sz="1500">
                <a:solidFill>
                  <a:srgbClr val="1A1A1A"/>
                </a:solidFill>
              </a:rPr>
              <a:t>steps 51–150 never trained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60604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DE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2743200"/>
            <a:ext cx="31546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③ Learned correction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337560"/>
            <a:ext cx="315468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>
                <a:solidFill>
                  <a:srgbClr val="1A1A1A"/>
                </a:solidFill>
              </a:rPr>
              <a:t>small, added to the motor rule;</a:t>
            </a:r>
          </a:p>
          <a:p>
            <a:pPr algn="l"/>
            <a:r>
              <a:rPr sz="1500">
                <a:solidFill>
                  <a:srgbClr val="1A1A1A"/>
                </a:solidFill>
              </a:rPr>
              <a:t>never sees the mass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83480"/>
            <a:ext cx="111099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>
                <a:solidFill>
                  <a:srgbClr val="1A1A1A"/>
                </a:solidFill>
              </a:rPr>
              <a:t>every fix keeps its </a:t>
            </a:r>
            <a:r>
              <a:rPr sz="1600" b="1">
                <a:solidFill>
                  <a:srgbClr val="1A1A1A"/>
                </a:solidFill>
              </a:rPr>
              <a:t>mass-cut twin</a:t>
            </a:r>
            <a:r>
              <a:rPr sz="1600">
                <a:solidFill>
                  <a:srgbClr val="1A1A1A"/>
                </a:solidFill>
              </a:rPr>
              <a:t>: the mass must still matter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111099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>
                <a:solidFill>
                  <a:srgbClr val="595959"/>
                </a:solidFill>
              </a:rPr>
              <a:t>then: </a:t>
            </a:r>
            <a:r>
              <a:rPr sz="1600" b="1">
                <a:solidFill>
                  <a:srgbClr val="595959"/>
                </a:solidFill>
              </a:rPr>
              <a:t>robustness</a:t>
            </a:r>
            <a:r>
              <a:rPr sz="1600">
                <a:solidFill>
                  <a:srgbClr val="595959"/>
                </a:solidFill>
              </a:rPr>
              <a:t> — shift size, one heavy finger, more seeds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1188</Words>
  <Application>Microsoft Office PowerPoint</Application>
  <PresentationFormat>Widescreen</PresentationFormat>
  <Paragraphs>185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Bierstadt</vt:lpstr>
      <vt:lpstr>GestaltVTI</vt:lpstr>
      <vt:lpstr>Week 14</vt:lpstr>
      <vt:lpstr>Two kinds of shift</vt:lpstr>
      <vt:lpstr>Setup: heavier fingers at test</vt:lpstr>
      <vt:lpstr>Data: what each run uses</vt:lpstr>
      <vt:lpstr>Idea: physics inside the MLP</vt:lpstr>
      <vt:lpstr>Result 1: physics layer wins</vt:lpstr>
      <vt:lpstr>…but the win was not the mass</vt:lpstr>
      <vt:lpstr>Why: 25 Hz cannot see the mass</vt:lpstr>
      <vt:lpstr>Mass test: predict the change</vt:lpstr>
      <vt:lpstr>Result 2: MLP misses the change</vt:lpstr>
      <vt:lpstr>Result 3: not over 150 steps</vt:lpstr>
      <vt:lpstr>Rollout training: still a tie</vt:lpstr>
      <vt:lpstr>Fix: write the motor rule in</vt:lpstr>
      <vt:lpstr>Result 4: now the mass matters</vt:lpstr>
      <vt:lpstr>Result 5: best early, not late</vt:lpstr>
      <vt:lpstr>What holds, what does not</vt:lpstr>
      <vt:lpstr>Next: why it degrades 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 Lin</dc:creator>
  <cp:lastModifiedBy>Chu Lin</cp:lastModifiedBy>
  <cp:revision>2</cp:revision>
  <dcterms:created xsi:type="dcterms:W3CDTF">2026-09-17T00:01:16Z</dcterms:created>
  <dcterms:modified xsi:type="dcterms:W3CDTF">2026-10-02T20:03:40Z</dcterms:modified>
</cp:coreProperties>
</file>