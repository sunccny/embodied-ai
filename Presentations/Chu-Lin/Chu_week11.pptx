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7" r:id="rId2"/>
    <p:sldId id="258" r:id="rId3"/>
    <p:sldId id="259" r:id="rId4"/>
    <p:sldId id="256" r:id="rId5"/>
    <p:sldId id="260" r:id="rId6"/>
    <p:sldId id="261" r:id="rId7"/>
    <p:sldId id="263" r:id="rId8"/>
    <p:sldId id="264" r:id="rId9"/>
    <p:sldId id="265"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00F13D-724E-43A6-9590-92C97F8C8226}" v="29" dt="2026-09-11T18:48:43.845"/>
    <p1510:client id="{BB24CB2C-005B-496E-B766-D023E394EBF7}" v="13" dt="2026-09-11T03:43:54.4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90" y="6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u Lin" userId="a9d5f5a05d2946b6" providerId="LiveId" clId="{A624DEA4-834B-44D9-BB5B-23A5D14AA4FA}"/>
    <pc:docChg chg="undo custSel addSld delSld modSld sldOrd addMainMaster delMainMaster">
      <pc:chgData name="Chu Lin" userId="a9d5f5a05d2946b6" providerId="LiveId" clId="{A624DEA4-834B-44D9-BB5B-23A5D14AA4FA}" dt="2026-09-11T18:48:43.845" v="3629" actId="20577"/>
      <pc:docMkLst>
        <pc:docMk/>
      </pc:docMkLst>
      <pc:sldChg chg="modSp mod">
        <pc:chgData name="Chu Lin" userId="a9d5f5a05d2946b6" providerId="LiveId" clId="{A624DEA4-834B-44D9-BB5B-23A5D14AA4FA}" dt="2026-09-11T03:42:47.670" v="3588" actId="20577"/>
        <pc:sldMkLst>
          <pc:docMk/>
          <pc:sldMk cId="0" sldId="256"/>
        </pc:sldMkLst>
        <pc:spChg chg="mod">
          <ac:chgData name="Chu Lin" userId="a9d5f5a05d2946b6" providerId="LiveId" clId="{A624DEA4-834B-44D9-BB5B-23A5D14AA4FA}" dt="2026-09-11T03:42:47.670" v="3588" actId="20577"/>
          <ac:spMkLst>
            <pc:docMk/>
            <pc:sldMk cId="0" sldId="256"/>
            <ac:spMk id="3" creationId="{00000000-0000-0000-0000-000000000000}"/>
          </ac:spMkLst>
        </pc:spChg>
      </pc:sldChg>
      <pc:sldChg chg="modSp mod">
        <pc:chgData name="Chu Lin" userId="a9d5f5a05d2946b6" providerId="LiveId" clId="{A624DEA4-834B-44D9-BB5B-23A5D14AA4FA}" dt="2026-09-11T03:17:43.126" v="3573"/>
        <pc:sldMkLst>
          <pc:docMk/>
          <pc:sldMk cId="3292316481" sldId="258"/>
        </pc:sldMkLst>
        <pc:spChg chg="mod">
          <ac:chgData name="Chu Lin" userId="a9d5f5a05d2946b6" providerId="LiveId" clId="{A624DEA4-834B-44D9-BB5B-23A5D14AA4FA}" dt="2026-09-11T03:16:28.590" v="3570"/>
          <ac:spMkLst>
            <pc:docMk/>
            <pc:sldMk cId="3292316481" sldId="258"/>
            <ac:spMk id="2" creationId="{856F5696-41A6-2A0F-C3C8-132007048696}"/>
          </ac:spMkLst>
        </pc:spChg>
        <pc:spChg chg="mod">
          <ac:chgData name="Chu Lin" userId="a9d5f5a05d2946b6" providerId="LiveId" clId="{A624DEA4-834B-44D9-BB5B-23A5D14AA4FA}" dt="2026-09-11T03:17:43.126" v="3573"/>
          <ac:spMkLst>
            <pc:docMk/>
            <pc:sldMk cId="3292316481" sldId="258"/>
            <ac:spMk id="3" creationId="{7644346B-7A83-C360-01A7-D3355DE66383}"/>
          </ac:spMkLst>
        </pc:spChg>
      </pc:sldChg>
      <pc:sldChg chg="addSp delSp modSp mod">
        <pc:chgData name="Chu Lin" userId="a9d5f5a05d2946b6" providerId="LiveId" clId="{A624DEA4-834B-44D9-BB5B-23A5D14AA4FA}" dt="2026-09-11T03:21:58.904" v="3587" actId="20577"/>
        <pc:sldMkLst>
          <pc:docMk/>
          <pc:sldMk cId="3415638086" sldId="259"/>
        </pc:sldMkLst>
        <pc:spChg chg="mod">
          <ac:chgData name="Chu Lin" userId="a9d5f5a05d2946b6" providerId="LiveId" clId="{A624DEA4-834B-44D9-BB5B-23A5D14AA4FA}" dt="2026-09-11T03:18:02.728" v="3574"/>
          <ac:spMkLst>
            <pc:docMk/>
            <pc:sldMk cId="3415638086" sldId="259"/>
            <ac:spMk id="2" creationId="{7DEED258-C08E-10D2-C479-5F9F3FD9C59E}"/>
          </ac:spMkLst>
        </pc:spChg>
        <pc:spChg chg="mod">
          <ac:chgData name="Chu Lin" userId="a9d5f5a05d2946b6" providerId="LiveId" clId="{A624DEA4-834B-44D9-BB5B-23A5D14AA4FA}" dt="2026-09-11T03:21:58.904" v="3587" actId="20577"/>
          <ac:spMkLst>
            <pc:docMk/>
            <pc:sldMk cId="3415638086" sldId="259"/>
            <ac:spMk id="3" creationId="{3FF8D813-54E7-9AF1-B181-89624AF466A4}"/>
          </ac:spMkLst>
        </pc:spChg>
        <pc:graphicFrameChg chg="add mod modGraphic">
          <ac:chgData name="Chu Lin" userId="a9d5f5a05d2946b6" providerId="LiveId" clId="{A624DEA4-834B-44D9-BB5B-23A5D14AA4FA}" dt="2026-09-11T03:21:54.376" v="3586" actId="14100"/>
          <ac:graphicFrameMkLst>
            <pc:docMk/>
            <pc:sldMk cId="3415638086" sldId="259"/>
            <ac:graphicFrameMk id="4" creationId="{6080EF8F-DA6A-83A4-438E-75AE2E681329}"/>
          </ac:graphicFrameMkLst>
        </pc:graphicFrameChg>
        <pc:graphicFrameChg chg="del">
          <ac:chgData name="Chu Lin" userId="a9d5f5a05d2946b6" providerId="LiveId" clId="{A624DEA4-834B-44D9-BB5B-23A5D14AA4FA}" dt="2026-09-11T03:20:51.990" v="3575" actId="478"/>
          <ac:graphicFrameMkLst>
            <pc:docMk/>
            <pc:sldMk cId="3415638086" sldId="259"/>
            <ac:graphicFrameMk id="7" creationId="{62E93C5A-F411-DD26-69BF-08CD4C294757}"/>
          </ac:graphicFrameMkLst>
        </pc:graphicFrameChg>
      </pc:sldChg>
      <pc:sldChg chg="modSp mod">
        <pc:chgData name="Chu Lin" userId="a9d5f5a05d2946b6" providerId="LiveId" clId="{A624DEA4-834B-44D9-BB5B-23A5D14AA4FA}" dt="2026-09-11T18:48:43.845" v="3629" actId="20577"/>
        <pc:sldMkLst>
          <pc:docMk/>
          <pc:sldMk cId="3152754729" sldId="260"/>
        </pc:sldMkLst>
        <pc:spChg chg="mod">
          <ac:chgData name="Chu Lin" userId="a9d5f5a05d2946b6" providerId="LiveId" clId="{A624DEA4-834B-44D9-BB5B-23A5D14AA4FA}" dt="2026-09-11T18:25:08.180" v="3600" actId="1076"/>
          <ac:spMkLst>
            <pc:docMk/>
            <pc:sldMk cId="3152754729" sldId="260"/>
            <ac:spMk id="2" creationId="{6771C401-16B3-4639-D7FB-6A5E14208052}"/>
          </ac:spMkLst>
        </pc:spChg>
        <pc:spChg chg="mod">
          <ac:chgData name="Chu Lin" userId="a9d5f5a05d2946b6" providerId="LiveId" clId="{A624DEA4-834B-44D9-BB5B-23A5D14AA4FA}" dt="2026-09-11T18:48:43.845" v="3629" actId="20577"/>
          <ac:spMkLst>
            <pc:docMk/>
            <pc:sldMk cId="3152754729" sldId="260"/>
            <ac:spMk id="3" creationId="{F533C839-C0AA-0BF6-4861-3A170A3D77E8}"/>
          </ac:spMkLst>
        </pc:spChg>
      </pc:sldChg>
      <pc:sldChg chg="modSp mod">
        <pc:chgData name="Chu Lin" userId="a9d5f5a05d2946b6" providerId="LiveId" clId="{A624DEA4-834B-44D9-BB5B-23A5D14AA4FA}" dt="2026-09-11T16:53:39.246" v="3599" actId="113"/>
        <pc:sldMkLst>
          <pc:docMk/>
          <pc:sldMk cId="2992612906" sldId="261"/>
        </pc:sldMkLst>
        <pc:spChg chg="mod">
          <ac:chgData name="Chu Lin" userId="a9d5f5a05d2946b6" providerId="LiveId" clId="{A624DEA4-834B-44D9-BB5B-23A5D14AA4FA}" dt="2026-09-11T16:53:39.246" v="3599" actId="113"/>
          <ac:spMkLst>
            <pc:docMk/>
            <pc:sldMk cId="2992612906" sldId="261"/>
            <ac:spMk id="5" creationId="{2CC6B2E5-874B-0E63-3D96-E18701AEEC41}"/>
          </ac:spMkLst>
        </pc:spChg>
      </pc:sldChg>
      <pc:sldMasterChg chg="add addSldLayout">
        <pc:chgData name="Chu Lin" userId="a9d5f5a05d2946b6" providerId="LiveId" clId="{A624DEA4-834B-44D9-BB5B-23A5D14AA4FA}" dt="2026-08-20T15:11:36.866" v="12" actId="26606"/>
        <pc:sldMasterMkLst>
          <pc:docMk/>
          <pc:sldMasterMk cId="1318086908" sldId="2147483699"/>
        </pc:sldMasterMkLst>
        <pc:sldLayoutChg chg="add">
          <pc:chgData name="Chu Lin" userId="a9d5f5a05d2946b6" providerId="LiveId" clId="{A624DEA4-834B-44D9-BB5B-23A5D14AA4FA}" dt="2026-08-20T15:11:36.866" v="12" actId="26606"/>
          <pc:sldLayoutMkLst>
            <pc:docMk/>
            <pc:sldMasterMk cId="1318086908" sldId="2147483699"/>
            <pc:sldLayoutMk cId="4095239896" sldId="2147483688"/>
          </pc:sldLayoutMkLst>
        </pc:sldLayoutChg>
        <pc:sldLayoutChg chg="add">
          <pc:chgData name="Chu Lin" userId="a9d5f5a05d2946b6" providerId="LiveId" clId="{A624DEA4-834B-44D9-BB5B-23A5D14AA4FA}" dt="2026-08-20T15:11:36.866" v="12" actId="26606"/>
          <pc:sldLayoutMkLst>
            <pc:docMk/>
            <pc:sldMasterMk cId="1318086908" sldId="2147483699"/>
            <pc:sldLayoutMk cId="2886924057" sldId="2147483689"/>
          </pc:sldLayoutMkLst>
        </pc:sldLayoutChg>
        <pc:sldLayoutChg chg="add">
          <pc:chgData name="Chu Lin" userId="a9d5f5a05d2946b6" providerId="LiveId" clId="{A624DEA4-834B-44D9-BB5B-23A5D14AA4FA}" dt="2026-08-20T15:11:36.866" v="12" actId="26606"/>
          <pc:sldLayoutMkLst>
            <pc:docMk/>
            <pc:sldMasterMk cId="1318086908" sldId="2147483699"/>
            <pc:sldLayoutMk cId="500546338" sldId="2147483690"/>
          </pc:sldLayoutMkLst>
        </pc:sldLayoutChg>
        <pc:sldLayoutChg chg="add">
          <pc:chgData name="Chu Lin" userId="a9d5f5a05d2946b6" providerId="LiveId" clId="{A624DEA4-834B-44D9-BB5B-23A5D14AA4FA}" dt="2026-08-20T15:11:36.866" v="12" actId="26606"/>
          <pc:sldLayoutMkLst>
            <pc:docMk/>
            <pc:sldMasterMk cId="1318086908" sldId="2147483699"/>
            <pc:sldLayoutMk cId="197449387" sldId="2147483691"/>
          </pc:sldLayoutMkLst>
        </pc:sldLayoutChg>
        <pc:sldLayoutChg chg="add">
          <pc:chgData name="Chu Lin" userId="a9d5f5a05d2946b6" providerId="LiveId" clId="{A624DEA4-834B-44D9-BB5B-23A5D14AA4FA}" dt="2026-08-20T15:11:36.866" v="12" actId="26606"/>
          <pc:sldLayoutMkLst>
            <pc:docMk/>
            <pc:sldMasterMk cId="1318086908" sldId="2147483699"/>
            <pc:sldLayoutMk cId="3956605325" sldId="2147483692"/>
          </pc:sldLayoutMkLst>
        </pc:sldLayoutChg>
        <pc:sldLayoutChg chg="add">
          <pc:chgData name="Chu Lin" userId="a9d5f5a05d2946b6" providerId="LiveId" clId="{A624DEA4-834B-44D9-BB5B-23A5D14AA4FA}" dt="2026-08-20T15:11:36.866" v="12" actId="26606"/>
          <pc:sldLayoutMkLst>
            <pc:docMk/>
            <pc:sldMasterMk cId="1318086908" sldId="2147483699"/>
            <pc:sldLayoutMk cId="657253017" sldId="2147483693"/>
          </pc:sldLayoutMkLst>
        </pc:sldLayoutChg>
        <pc:sldLayoutChg chg="add">
          <pc:chgData name="Chu Lin" userId="a9d5f5a05d2946b6" providerId="LiveId" clId="{A624DEA4-834B-44D9-BB5B-23A5D14AA4FA}" dt="2026-08-20T15:11:36.866" v="12" actId="26606"/>
          <pc:sldLayoutMkLst>
            <pc:docMk/>
            <pc:sldMasterMk cId="1318086908" sldId="2147483699"/>
            <pc:sldLayoutMk cId="1466046552" sldId="2147483694"/>
          </pc:sldLayoutMkLst>
        </pc:sldLayoutChg>
        <pc:sldLayoutChg chg="add">
          <pc:chgData name="Chu Lin" userId="a9d5f5a05d2946b6" providerId="LiveId" clId="{A624DEA4-834B-44D9-BB5B-23A5D14AA4FA}" dt="2026-08-20T15:11:36.866" v="12" actId="26606"/>
          <pc:sldLayoutMkLst>
            <pc:docMk/>
            <pc:sldMasterMk cId="1318086908" sldId="2147483699"/>
            <pc:sldLayoutMk cId="4241948137" sldId="2147483695"/>
          </pc:sldLayoutMkLst>
        </pc:sldLayoutChg>
        <pc:sldLayoutChg chg="add">
          <pc:chgData name="Chu Lin" userId="a9d5f5a05d2946b6" providerId="LiveId" clId="{A624DEA4-834B-44D9-BB5B-23A5D14AA4FA}" dt="2026-08-20T15:11:36.866" v="12" actId="26606"/>
          <pc:sldLayoutMkLst>
            <pc:docMk/>
            <pc:sldMasterMk cId="1318086908" sldId="2147483699"/>
            <pc:sldLayoutMk cId="1735229713" sldId="2147483696"/>
          </pc:sldLayoutMkLst>
        </pc:sldLayoutChg>
        <pc:sldLayoutChg chg="add">
          <pc:chgData name="Chu Lin" userId="a9d5f5a05d2946b6" providerId="LiveId" clId="{A624DEA4-834B-44D9-BB5B-23A5D14AA4FA}" dt="2026-08-20T15:11:36.866" v="12" actId="26606"/>
          <pc:sldLayoutMkLst>
            <pc:docMk/>
            <pc:sldMasterMk cId="1318086908" sldId="2147483699"/>
            <pc:sldLayoutMk cId="3510718878" sldId="2147483697"/>
          </pc:sldLayoutMkLst>
        </pc:sldLayoutChg>
        <pc:sldLayoutChg chg="add">
          <pc:chgData name="Chu Lin" userId="a9d5f5a05d2946b6" providerId="LiveId" clId="{A624DEA4-834B-44D9-BB5B-23A5D14AA4FA}" dt="2026-08-20T15:11:36.866" v="12" actId="26606"/>
          <pc:sldLayoutMkLst>
            <pc:docMk/>
            <pc:sldMasterMk cId="1318086908" sldId="2147483699"/>
            <pc:sldLayoutMk cId="2963250622" sldId="2147483698"/>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9/11/2026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66046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9/11/2026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41948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9/11/2026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35229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9/11/2026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10718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9/11/2026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63250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9/11/2026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56605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9/11/2026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95239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9/11/2026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86924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9/11/2026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00546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9/11/2026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7449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9/11/2026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57253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9/11/2026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318086908"/>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1E0DC6F-DB0E-DBE1-8178-AE81BC6B96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8C52620-FFF6-2EA9-CD59-C744145333B1}"/>
              </a:ext>
            </a:extLst>
          </p:cNvPr>
          <p:cNvPicPr>
            <a:picLocks noChangeAspect="1"/>
          </p:cNvPicPr>
          <p:nvPr/>
        </p:nvPicPr>
        <p:blipFill>
          <a:blip r:embed="rId2"/>
          <a:srcRect t="11409" b="4321"/>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4D07BF5-D29E-918E-55FE-747AF2A0E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366726" cy="6858001"/>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493434-485F-9DAD-A1B1-63CF0D421F85}"/>
              </a:ext>
            </a:extLst>
          </p:cNvPr>
          <p:cNvSpPr>
            <a:spLocks noGrp="1"/>
          </p:cNvSpPr>
          <p:nvPr>
            <p:ph type="ctrTitle"/>
          </p:nvPr>
        </p:nvSpPr>
        <p:spPr>
          <a:xfrm>
            <a:off x="441035" y="1424475"/>
            <a:ext cx="3424383" cy="2543448"/>
          </a:xfrm>
        </p:spPr>
        <p:txBody>
          <a:bodyPr anchor="t">
            <a:normAutofit/>
          </a:bodyPr>
          <a:lstStyle/>
          <a:p>
            <a:pPr algn="l"/>
            <a:r>
              <a:rPr lang="en-US" sz="3200"/>
              <a:t>Benchmark on existing data</a:t>
            </a:r>
          </a:p>
        </p:txBody>
      </p:sp>
      <p:sp>
        <p:nvSpPr>
          <p:cNvPr id="3" name="Subtitle 2">
            <a:extLst>
              <a:ext uri="{FF2B5EF4-FFF2-40B4-BE49-F238E27FC236}">
                <a16:creationId xmlns:a16="http://schemas.microsoft.com/office/drawing/2014/main" id="{65F211E9-A0A7-58C7-413B-E56BCD037200}"/>
              </a:ext>
            </a:extLst>
          </p:cNvPr>
          <p:cNvSpPr>
            <a:spLocks noGrp="1"/>
          </p:cNvSpPr>
          <p:nvPr>
            <p:ph type="subTitle" idx="1"/>
          </p:nvPr>
        </p:nvSpPr>
        <p:spPr>
          <a:xfrm>
            <a:off x="441035" y="4007796"/>
            <a:ext cx="3424382" cy="2000041"/>
          </a:xfrm>
        </p:spPr>
        <p:txBody>
          <a:bodyPr anchor="b">
            <a:normAutofit/>
          </a:bodyPr>
          <a:lstStyle/>
          <a:p>
            <a:pPr algn="l"/>
            <a:r>
              <a:rPr lang="en-US" dirty="0"/>
              <a:t>chu</a:t>
            </a:r>
          </a:p>
        </p:txBody>
      </p:sp>
    </p:spTree>
    <p:extLst>
      <p:ext uri="{BB962C8B-B14F-4D97-AF65-F5344CB8AC3E}">
        <p14:creationId xmlns:p14="http://schemas.microsoft.com/office/powerpoint/2010/main" val="1831785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F5696-41A6-2A0F-C3C8-132007048696}"/>
              </a:ext>
            </a:extLst>
          </p:cNvPr>
          <p:cNvSpPr>
            <a:spLocks noGrp="1"/>
          </p:cNvSpPr>
          <p:nvPr>
            <p:ph type="title"/>
          </p:nvPr>
        </p:nvSpPr>
        <p:spPr/>
        <p:txBody>
          <a:bodyPr/>
          <a:lstStyle/>
          <a:p>
            <a:r>
              <a:rPr lang="en-US" dirty="0"/>
              <a:t>The goal—Enable the model to make accurate predictions even in unseen environments.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44346B-7A83-C360-01A7-D3355DE66383}"/>
                  </a:ext>
                </a:extLst>
              </p:cNvPr>
              <p:cNvSpPr>
                <a:spLocks noGrp="1"/>
              </p:cNvSpPr>
              <p:nvPr>
                <p:ph idx="1"/>
              </p:nvPr>
            </p:nvSpPr>
            <p:spPr/>
            <p:txBody>
              <a:bodyPr/>
              <a:lstStyle/>
              <a:p>
                <a:r>
                  <a:rPr lang="en-US" dirty="0"/>
                  <a:t>We have a terminal word in ML, which calls ‘shortcut’. This is the factor that highly correlated with the result but not the cause. Model extract them since they can reduce the ‘loss’. But if we change the surrounding, The causal mechanism remains stable, while spurious correlations may change across environments.</a:t>
                </a:r>
              </a:p>
              <a:p>
                <a:r>
                  <a:rPr lang="en-US" dirty="0"/>
                  <a:t>But:</a:t>
                </a:r>
              </a:p>
              <a:p>
                <a:pPr marL="0" indent="0">
                  <a:buNone/>
                </a:pPr>
                <a14:m>
                  <m:oMathPara xmlns:m="http://schemas.openxmlformats.org/officeDocument/2006/math">
                    <m:oMath>
                      <m:r>
                        <a:rPr lang="en-US" b="0" i="1" smtClean="0">
                          <a:latin typeface="Cambria Math" panose="02040503050406030204" pitchFamily="18" charset="0"/>
                        </a:rPr>
                        <m:t>𝑁𝑜𝑖𝑠𝑒</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𝑠ℎ𝑜𝑟𝑡𝑐𝑢𝑡</m:t>
                      </m:r>
                    </m:oMath>
                  </m:oMathPara>
                </a14:m>
                <a:endParaRPr lang="en-US" dirty="0"/>
              </a:p>
              <a:p>
                <a:r>
                  <a:rPr lang="en-US" dirty="0"/>
                  <a:t>Noise is uncertain but will affect the results, even in distribution can’t really make the result better. But</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𝑛𝑜𝑖𝑠𝑒</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𝑌</m:t>
                          </m:r>
                        </m:e>
                        <m:sub>
                          <m:r>
                            <a:rPr lang="en-US" b="0" i="1" smtClean="0">
                              <a:latin typeface="Cambria Math" panose="02040503050406030204" pitchFamily="18" charset="0"/>
                              <a:ea typeface="Cambria Math" panose="02040503050406030204" pitchFamily="18" charset="0"/>
                            </a:rPr>
                            <m:t>𝑠ℎ𝑜𝑟𝑡𝑐𝑢𝑡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𝑌</m:t>
                          </m:r>
                        </m:e>
                        <m:sub>
                          <m:r>
                            <a:rPr lang="en-US" b="0" i="1" smtClean="0">
                              <a:latin typeface="Cambria Math" panose="02040503050406030204" pitchFamily="18" charset="0"/>
                              <a:ea typeface="Cambria Math" panose="02040503050406030204" pitchFamily="18" charset="0"/>
                            </a:rPr>
                            <m:t>𝑡𝑟𝑢𝑒</m:t>
                          </m:r>
                        </m:sub>
                      </m:sSub>
                    </m:oMath>
                  </m:oMathPara>
                </a14:m>
                <a:endParaRPr lang="en-US" dirty="0"/>
              </a:p>
              <a:p>
                <a:pPr marL="0" indent="0">
                  <a:buNone/>
                </a:pPr>
                <a:r>
                  <a:rPr lang="en-US" dirty="0"/>
                  <a:t>We test whether restricting the predictor to intervention-supported dependencies improves OOD prediction.</a:t>
                </a:r>
              </a:p>
            </p:txBody>
          </p:sp>
        </mc:Choice>
        <mc:Fallback xmlns="">
          <p:sp>
            <p:nvSpPr>
              <p:cNvPr id="3" name="Content Placeholder 2">
                <a:extLst>
                  <a:ext uri="{FF2B5EF4-FFF2-40B4-BE49-F238E27FC236}">
                    <a16:creationId xmlns:a16="http://schemas.microsoft.com/office/drawing/2014/main" id="{7644346B-7A83-C360-01A7-D3355DE66383}"/>
                  </a:ext>
                </a:extLst>
              </p:cNvPr>
              <p:cNvSpPr>
                <a:spLocks noGrp="1" noRot="1" noChangeAspect="1" noMove="1" noResize="1" noEditPoints="1" noAdjustHandles="1" noChangeArrowheads="1" noChangeShapeType="1" noTextEdit="1"/>
              </p:cNvSpPr>
              <p:nvPr>
                <p:ph idx="1"/>
              </p:nvPr>
            </p:nvSpPr>
            <p:spPr>
              <a:blipFill>
                <a:blip r:embed="rId2"/>
                <a:stretch>
                  <a:fillRect l="-572" r="-686"/>
                </a:stretch>
              </a:blipFill>
            </p:spPr>
            <p:txBody>
              <a:bodyPr/>
              <a:lstStyle/>
              <a:p>
                <a:r>
                  <a:rPr lang="en-US">
                    <a:noFill/>
                  </a:rPr>
                  <a:t> </a:t>
                </a:r>
              </a:p>
            </p:txBody>
          </p:sp>
        </mc:Fallback>
      </mc:AlternateContent>
    </p:spTree>
    <p:extLst>
      <p:ext uri="{BB962C8B-B14F-4D97-AF65-F5344CB8AC3E}">
        <p14:creationId xmlns:p14="http://schemas.microsoft.com/office/powerpoint/2010/main" val="3292316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ED258-C08E-10D2-C479-5F9F3FD9C59E}"/>
              </a:ext>
            </a:extLst>
          </p:cNvPr>
          <p:cNvSpPr>
            <a:spLocks noGrp="1"/>
          </p:cNvSpPr>
          <p:nvPr>
            <p:ph type="title"/>
          </p:nvPr>
        </p:nvSpPr>
        <p:spPr/>
        <p:txBody>
          <a:bodyPr/>
          <a:lstStyle/>
          <a:p>
            <a:r>
              <a:rPr lang="en-US" dirty="0"/>
              <a:t>Benchmark selection</a:t>
            </a:r>
          </a:p>
        </p:txBody>
      </p:sp>
      <p:sp>
        <p:nvSpPr>
          <p:cNvPr id="3" name="Content Placeholder 2">
            <a:extLst>
              <a:ext uri="{FF2B5EF4-FFF2-40B4-BE49-F238E27FC236}">
                <a16:creationId xmlns:a16="http://schemas.microsoft.com/office/drawing/2014/main" id="{3FF8D813-54E7-9AF1-B181-89624AF466A4}"/>
              </a:ext>
            </a:extLst>
          </p:cNvPr>
          <p:cNvSpPr>
            <a:spLocks noGrp="1"/>
          </p:cNvSpPr>
          <p:nvPr>
            <p:ph idx="1"/>
          </p:nvPr>
        </p:nvSpPr>
        <p:spPr>
          <a:xfrm>
            <a:off x="612647" y="1715532"/>
            <a:ext cx="10404757" cy="4593828"/>
          </a:xfrm>
        </p:spPr>
        <p:txBody>
          <a:bodyPr/>
          <a:lstStyle/>
          <a:p>
            <a:r>
              <a:rPr lang="en-US" dirty="0"/>
              <a:t>Dataset: </a:t>
            </a:r>
          </a:p>
          <a:p>
            <a:pPr lvl="1"/>
            <a:r>
              <a:rPr lang="en-US" dirty="0"/>
              <a:t>We have to find a dataset which matches our goal. It should be: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I selected </a:t>
            </a:r>
            <a:r>
              <a:rPr lang="en-US" dirty="0" err="1"/>
              <a:t>CausalWorld</a:t>
            </a:r>
            <a:r>
              <a:rPr lang="en-US" dirty="0"/>
              <a:t> because it supports controlled interventions and configurable train–test distributions.</a:t>
            </a:r>
          </a:p>
          <a:p>
            <a:endParaRPr lang="en-US" dirty="0"/>
          </a:p>
        </p:txBody>
      </p:sp>
      <p:graphicFrame>
        <p:nvGraphicFramePr>
          <p:cNvPr id="4" name="Table 3">
            <a:extLst>
              <a:ext uri="{FF2B5EF4-FFF2-40B4-BE49-F238E27FC236}">
                <a16:creationId xmlns:a16="http://schemas.microsoft.com/office/drawing/2014/main" id="{6080EF8F-DA6A-83A4-438E-75AE2E681329}"/>
              </a:ext>
            </a:extLst>
          </p:cNvPr>
          <p:cNvGraphicFramePr>
            <a:graphicFrameLocks noGrp="1"/>
          </p:cNvGraphicFramePr>
          <p:nvPr>
            <p:extLst>
              <p:ext uri="{D42A27DB-BD31-4B8C-83A1-F6EECF244321}">
                <p14:modId xmlns:p14="http://schemas.microsoft.com/office/powerpoint/2010/main" val="4124167168"/>
              </p:ext>
            </p:extLst>
          </p:nvPr>
        </p:nvGraphicFramePr>
        <p:xfrm>
          <a:off x="1363047" y="2773345"/>
          <a:ext cx="8903956" cy="2039815"/>
        </p:xfrm>
        <a:graphic>
          <a:graphicData uri="http://schemas.openxmlformats.org/drawingml/2006/table">
            <a:tbl>
              <a:tblPr firstRow="1" bandRow="1">
                <a:tableStyleId>{5C22544A-7EE6-4342-B048-85BDC9FD1C3A}</a:tableStyleId>
              </a:tblPr>
              <a:tblGrid>
                <a:gridCol w="4451978">
                  <a:extLst>
                    <a:ext uri="{9D8B030D-6E8A-4147-A177-3AD203B41FA5}">
                      <a16:colId xmlns:a16="http://schemas.microsoft.com/office/drawing/2014/main" val="3635790581"/>
                    </a:ext>
                  </a:extLst>
                </a:gridCol>
                <a:gridCol w="4451978">
                  <a:extLst>
                    <a:ext uri="{9D8B030D-6E8A-4147-A177-3AD203B41FA5}">
                      <a16:colId xmlns:a16="http://schemas.microsoft.com/office/drawing/2014/main" val="1550460692"/>
                    </a:ext>
                  </a:extLst>
                </a:gridCol>
              </a:tblGrid>
              <a:tr h="404599">
                <a:tc>
                  <a:txBody>
                    <a:bodyPr/>
                    <a:lstStyle/>
                    <a:p>
                      <a:pPr>
                        <a:buNone/>
                      </a:pPr>
                      <a:r>
                        <a:rPr lang="en-US"/>
                        <a:t>Requirement</a:t>
                      </a:r>
                    </a:p>
                  </a:txBody>
                  <a:tcPr anchor="ctr"/>
                </a:tc>
                <a:tc>
                  <a:txBody>
                    <a:bodyPr/>
                    <a:lstStyle/>
                    <a:p>
                      <a:pPr>
                        <a:buNone/>
                      </a:pPr>
                      <a:r>
                        <a:rPr lang="en-US"/>
                        <a:t>Why it matters</a:t>
                      </a:r>
                    </a:p>
                  </a:txBody>
                  <a:tcPr anchor="ctr"/>
                </a:tc>
                <a:extLst>
                  <a:ext uri="{0D108BD9-81ED-4DB2-BD59-A6C34878D82A}">
                    <a16:rowId xmlns:a16="http://schemas.microsoft.com/office/drawing/2014/main" val="1255063155"/>
                  </a:ext>
                </a:extLst>
              </a:tr>
              <a:tr h="408804">
                <a:tc>
                  <a:txBody>
                    <a:bodyPr/>
                    <a:lstStyle/>
                    <a:p>
                      <a:pPr>
                        <a:buNone/>
                      </a:pPr>
                      <a:r>
                        <a:rPr lang="en-US"/>
                        <a:t>Controllable causal and decoy variables</a:t>
                      </a:r>
                    </a:p>
                  </a:txBody>
                  <a:tcPr anchor="ctr"/>
                </a:tc>
                <a:tc>
                  <a:txBody>
                    <a:bodyPr/>
                    <a:lstStyle/>
                    <a:p>
                      <a:pPr>
                        <a:buNone/>
                      </a:pPr>
                      <a:r>
                        <a:rPr lang="en-US"/>
                        <a:t>Tests shortcut removal</a:t>
                      </a:r>
                    </a:p>
                  </a:txBody>
                  <a:tcPr anchor="ctr"/>
                </a:tc>
                <a:extLst>
                  <a:ext uri="{0D108BD9-81ED-4DB2-BD59-A6C34878D82A}">
                    <a16:rowId xmlns:a16="http://schemas.microsoft.com/office/drawing/2014/main" val="853234666"/>
                  </a:ext>
                </a:extLst>
              </a:tr>
              <a:tr h="408804">
                <a:tc>
                  <a:txBody>
                    <a:bodyPr/>
                    <a:lstStyle/>
                    <a:p>
                      <a:pPr>
                        <a:buNone/>
                      </a:pPr>
                      <a:r>
                        <a:rPr lang="en-US"/>
                        <a:t>Defined train–test shift</a:t>
                      </a:r>
                    </a:p>
                  </a:txBody>
                  <a:tcPr anchor="ctr"/>
                </a:tc>
                <a:tc>
                  <a:txBody>
                    <a:bodyPr/>
                    <a:lstStyle/>
                    <a:p>
                      <a:pPr>
                        <a:buNone/>
                      </a:pPr>
                      <a:r>
                        <a:rPr lang="en-US"/>
                        <a:t>Measures OOD generalization</a:t>
                      </a:r>
                    </a:p>
                  </a:txBody>
                  <a:tcPr anchor="ctr"/>
                </a:tc>
                <a:extLst>
                  <a:ext uri="{0D108BD9-81ED-4DB2-BD59-A6C34878D82A}">
                    <a16:rowId xmlns:a16="http://schemas.microsoft.com/office/drawing/2014/main" val="2097563245"/>
                  </a:ext>
                </a:extLst>
              </a:tr>
              <a:tr h="408804">
                <a:tc>
                  <a:txBody>
                    <a:bodyPr/>
                    <a:lstStyle/>
                    <a:p>
                      <a:pPr>
                        <a:buNone/>
                      </a:pPr>
                      <a:r>
                        <a:rPr lang="en-US" dirty="0"/>
                        <a:t>Repeatable interventions</a:t>
                      </a:r>
                    </a:p>
                  </a:txBody>
                  <a:tcPr anchor="ctr"/>
                </a:tc>
                <a:tc>
                  <a:txBody>
                    <a:bodyPr/>
                    <a:lstStyle/>
                    <a:p>
                      <a:pPr>
                        <a:buNone/>
                      </a:pPr>
                      <a:r>
                        <a:rPr lang="en-US"/>
                        <a:t>Estimates causal influence</a:t>
                      </a:r>
                    </a:p>
                  </a:txBody>
                  <a:tcPr anchor="ctr"/>
                </a:tc>
                <a:extLst>
                  <a:ext uri="{0D108BD9-81ED-4DB2-BD59-A6C34878D82A}">
                    <a16:rowId xmlns:a16="http://schemas.microsoft.com/office/drawing/2014/main" val="1422801067"/>
                  </a:ext>
                </a:extLst>
              </a:tr>
              <a:tr h="408804">
                <a:tc>
                  <a:txBody>
                    <a:bodyPr/>
                    <a:lstStyle/>
                    <a:p>
                      <a:pPr>
                        <a:buNone/>
                      </a:pPr>
                      <a:r>
                        <a:rPr lang="en-US"/>
                        <a:t>Multiple tasks and seeds</a:t>
                      </a:r>
                    </a:p>
                  </a:txBody>
                  <a:tcPr anchor="ctr"/>
                </a:tc>
                <a:tc>
                  <a:txBody>
                    <a:bodyPr/>
                    <a:lstStyle/>
                    <a:p>
                      <a:pPr>
                        <a:buNone/>
                      </a:pPr>
                      <a:r>
                        <a:rPr lang="en-US" dirty="0"/>
                        <a:t>Tests robustness</a:t>
                      </a:r>
                    </a:p>
                  </a:txBody>
                  <a:tcPr anchor="ctr"/>
                </a:tc>
                <a:extLst>
                  <a:ext uri="{0D108BD9-81ED-4DB2-BD59-A6C34878D82A}">
                    <a16:rowId xmlns:a16="http://schemas.microsoft.com/office/drawing/2014/main" val="2722303604"/>
                  </a:ext>
                </a:extLst>
              </a:tr>
            </a:tbl>
          </a:graphicData>
        </a:graphic>
      </p:graphicFrame>
    </p:spTree>
    <p:extLst>
      <p:ext uri="{BB962C8B-B14F-4D97-AF65-F5344CB8AC3E}">
        <p14:creationId xmlns:p14="http://schemas.microsoft.com/office/powerpoint/2010/main" val="3415638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310896"/>
            <a:ext cx="10881360" cy="731520"/>
          </a:xfrm>
        </p:spPr>
        <p:txBody>
          <a:bodyPr/>
          <a:lstStyle/>
          <a:p>
            <a:pPr>
              <a:defRPr sz="2800" b="1">
                <a:solidFill>
                  <a:srgbClr val="000000"/>
                </a:solidFill>
                <a:latin typeface="Neue Haas Grotesk Text Pro"/>
              </a:defRPr>
            </a:pPr>
            <a:r>
              <a:rPr dirty="0"/>
              <a:t>The benchmark: </a:t>
            </a:r>
            <a:r>
              <a:rPr dirty="0" err="1"/>
              <a:t>CausalWorld</a:t>
            </a:r>
            <a:endParaRPr dirty="0"/>
          </a:p>
        </p:txBody>
      </p:sp>
      <p:sp>
        <p:nvSpPr>
          <p:cNvPr id="3" name="TextBox 2"/>
          <p:cNvSpPr txBox="1"/>
          <p:nvPr/>
        </p:nvSpPr>
        <p:spPr>
          <a:xfrm>
            <a:off x="612648" y="1005840"/>
            <a:ext cx="10881360" cy="176972"/>
          </a:xfrm>
          <a:prstGeom prst="rect">
            <a:avLst/>
          </a:prstGeom>
          <a:noFill/>
        </p:spPr>
        <p:txBody>
          <a:bodyPr wrap="square" lIns="0" tIns="0" rIns="0" bIns="0">
            <a:spAutoFit/>
          </a:bodyPr>
          <a:lstStyle/>
          <a:p>
            <a:pPr algn="l">
              <a:spcAft>
                <a:spcPts val="300"/>
              </a:spcAft>
              <a:defRPr sz="1150" b="0" i="1">
                <a:solidFill>
                  <a:srgbClr val="666E6A"/>
                </a:solidFill>
                <a:latin typeface="Neue Haas Grotesk Text Pro"/>
              </a:defRPr>
            </a:pPr>
            <a:r>
              <a:rPr dirty="0"/>
              <a:t>a robot-hand physics simulator built for causal research</a:t>
            </a:r>
          </a:p>
        </p:txBody>
      </p:sp>
      <p:sp>
        <p:nvSpPr>
          <p:cNvPr id="16" name="TextBox 15"/>
          <p:cNvSpPr txBox="1"/>
          <p:nvPr/>
        </p:nvSpPr>
        <p:spPr>
          <a:xfrm>
            <a:off x="612648" y="1261872"/>
            <a:ext cx="3017520" cy="237744"/>
          </a:xfrm>
          <a:prstGeom prst="rect">
            <a:avLst/>
          </a:prstGeom>
          <a:noFill/>
        </p:spPr>
        <p:txBody>
          <a:bodyPr wrap="square" lIns="0" tIns="0" rIns="0" bIns="0">
            <a:spAutoFit/>
          </a:bodyPr>
          <a:lstStyle/>
          <a:p>
            <a:pPr algn="l">
              <a:spcAft>
                <a:spcPts val="300"/>
              </a:spcAft>
              <a:defRPr sz="1050" b="1" i="0">
                <a:solidFill>
                  <a:srgbClr val="2C3932"/>
                </a:solidFill>
                <a:latin typeface="Neue Haas Grotesk Text Pro"/>
              </a:defRPr>
            </a:pPr>
            <a:r>
              <a:t>38 properties you can change:</a:t>
            </a:r>
          </a:p>
        </p:txBody>
      </p:sp>
      <p:sp>
        <p:nvSpPr>
          <p:cNvPr id="18" name="TextBox 17"/>
          <p:cNvSpPr txBox="1"/>
          <p:nvPr/>
        </p:nvSpPr>
        <p:spPr>
          <a:xfrm>
            <a:off x="704088" y="1609344"/>
            <a:ext cx="1280160" cy="1292662"/>
          </a:xfrm>
          <a:prstGeom prst="rect">
            <a:avLst/>
          </a:prstGeom>
          <a:noFill/>
        </p:spPr>
        <p:txBody>
          <a:bodyPr wrap="square" lIns="0" tIns="0" rIns="0" bIns="0">
            <a:spAutoFit/>
          </a:bodyPr>
          <a:lstStyle/>
          <a:p>
            <a:pPr algn="l">
              <a:spcAft>
                <a:spcPts val="0"/>
              </a:spcAft>
              <a:defRPr sz="1000" b="1" i="0">
                <a:solidFill>
                  <a:srgbClr val="3D9072"/>
                </a:solidFill>
                <a:latin typeface="Neue Haas Grotesk Text Pro"/>
              </a:defRPr>
            </a:pPr>
            <a:r>
              <a:rPr sz="1400" dirty="0"/>
              <a:t>affect physics</a:t>
            </a:r>
          </a:p>
          <a:p>
            <a:pPr algn="l">
              <a:spcAft>
                <a:spcPts val="0"/>
              </a:spcAft>
              <a:defRPr sz="900" b="0" i="0">
                <a:solidFill>
                  <a:srgbClr val="2C3932"/>
                </a:solidFill>
                <a:latin typeface="Neue Haas Grotesk Text Pro"/>
              </a:defRPr>
            </a:pPr>
            <a:endParaRPr lang="en-US" sz="1400" dirty="0"/>
          </a:p>
          <a:p>
            <a:pPr algn="l">
              <a:spcAft>
                <a:spcPts val="0"/>
              </a:spcAft>
              <a:defRPr sz="900" b="0" i="0">
                <a:solidFill>
                  <a:srgbClr val="2C3932"/>
                </a:solidFill>
                <a:latin typeface="Neue Haas Grotesk Text Pro"/>
              </a:defRPr>
            </a:pPr>
            <a:r>
              <a:rPr lang="en-US" sz="1400" dirty="0"/>
              <a:t>M</a:t>
            </a:r>
            <a:r>
              <a:rPr sz="1400" dirty="0"/>
              <a:t>ass</a:t>
            </a:r>
            <a:r>
              <a:rPr lang="en-US" sz="1400" dirty="0"/>
              <a:t>,</a:t>
            </a:r>
            <a:endParaRPr sz="1400" dirty="0"/>
          </a:p>
          <a:p>
            <a:pPr algn="l">
              <a:spcAft>
                <a:spcPts val="0"/>
              </a:spcAft>
              <a:defRPr sz="900" b="0" i="0">
                <a:solidFill>
                  <a:srgbClr val="2C3932"/>
                </a:solidFill>
                <a:latin typeface="Neue Haas Grotesk Text Pro"/>
              </a:defRPr>
            </a:pPr>
            <a:r>
              <a:rPr lang="en-US" sz="1400" dirty="0"/>
              <a:t>F</a:t>
            </a:r>
            <a:r>
              <a:rPr sz="1400" dirty="0"/>
              <a:t>riction</a:t>
            </a:r>
            <a:r>
              <a:rPr lang="en-US" sz="1400" dirty="0"/>
              <a:t>,</a:t>
            </a:r>
            <a:endParaRPr sz="1400" dirty="0"/>
          </a:p>
          <a:p>
            <a:pPr algn="l">
              <a:spcAft>
                <a:spcPts val="0"/>
              </a:spcAft>
              <a:defRPr sz="900" b="0" i="0">
                <a:solidFill>
                  <a:srgbClr val="2C3932"/>
                </a:solidFill>
                <a:latin typeface="Neue Haas Grotesk Text Pro"/>
              </a:defRPr>
            </a:pPr>
            <a:r>
              <a:rPr sz="1400" dirty="0"/>
              <a:t>size, position</a:t>
            </a:r>
            <a:r>
              <a:rPr lang="en-US" sz="1400" dirty="0"/>
              <a:t>,</a:t>
            </a:r>
            <a:endParaRPr sz="1400" dirty="0"/>
          </a:p>
          <a:p>
            <a:pPr algn="l">
              <a:spcAft>
                <a:spcPts val="0"/>
              </a:spcAft>
              <a:defRPr sz="900" b="0" i="0">
                <a:solidFill>
                  <a:srgbClr val="2C3932"/>
                </a:solidFill>
                <a:latin typeface="Neue Haas Grotesk Text Pro"/>
              </a:defRPr>
            </a:pPr>
            <a:r>
              <a:rPr sz="1400" dirty="0"/>
              <a:t>joint angles</a:t>
            </a:r>
          </a:p>
        </p:txBody>
      </p:sp>
      <p:sp>
        <p:nvSpPr>
          <p:cNvPr id="20" name="TextBox 19"/>
          <p:cNvSpPr txBox="1"/>
          <p:nvPr/>
        </p:nvSpPr>
        <p:spPr>
          <a:xfrm>
            <a:off x="2382011" y="1636776"/>
            <a:ext cx="1325880" cy="1508105"/>
          </a:xfrm>
          <a:prstGeom prst="rect">
            <a:avLst/>
          </a:prstGeom>
          <a:noFill/>
        </p:spPr>
        <p:txBody>
          <a:bodyPr wrap="square" lIns="0" tIns="0" rIns="0" bIns="0">
            <a:spAutoFit/>
          </a:bodyPr>
          <a:lstStyle/>
          <a:p>
            <a:pPr algn="l">
              <a:spcAft>
                <a:spcPts val="0"/>
              </a:spcAft>
              <a:defRPr sz="1000" b="1" i="0">
                <a:solidFill>
                  <a:srgbClr val="E15C3D"/>
                </a:solidFill>
                <a:latin typeface="Neue Haas Grotesk Text Pro"/>
              </a:defRPr>
            </a:pPr>
            <a:r>
              <a:rPr sz="1400" dirty="0"/>
              <a:t>affect nothing</a:t>
            </a:r>
          </a:p>
          <a:p>
            <a:pPr algn="l">
              <a:spcAft>
                <a:spcPts val="0"/>
              </a:spcAft>
              <a:defRPr sz="900" b="0" i="0">
                <a:solidFill>
                  <a:srgbClr val="2C3932"/>
                </a:solidFill>
                <a:latin typeface="Neue Haas Grotesk Text Pro"/>
              </a:defRPr>
            </a:pPr>
            <a:endParaRPr lang="en-US" sz="1400" dirty="0"/>
          </a:p>
          <a:p>
            <a:pPr algn="l">
              <a:spcAft>
                <a:spcPts val="0"/>
              </a:spcAft>
              <a:defRPr sz="900" b="0" i="0">
                <a:solidFill>
                  <a:srgbClr val="2C3932"/>
                </a:solidFill>
                <a:latin typeface="Neue Haas Grotesk Text Pro"/>
              </a:defRPr>
            </a:pPr>
            <a:r>
              <a:rPr sz="1400" dirty="0"/>
              <a:t>block </a:t>
            </a:r>
            <a:r>
              <a:rPr sz="1400" dirty="0" err="1"/>
              <a:t>colour</a:t>
            </a:r>
            <a:r>
              <a:rPr lang="en-US" sz="1400" dirty="0"/>
              <a:t>,</a:t>
            </a:r>
            <a:endParaRPr sz="1400" dirty="0"/>
          </a:p>
          <a:p>
            <a:pPr algn="l">
              <a:spcAft>
                <a:spcPts val="0"/>
              </a:spcAft>
              <a:defRPr sz="900" b="0" i="0">
                <a:solidFill>
                  <a:srgbClr val="2C3932"/>
                </a:solidFill>
                <a:latin typeface="Neue Haas Grotesk Text Pro"/>
              </a:defRPr>
            </a:pPr>
            <a:r>
              <a:rPr sz="1400" dirty="0"/>
              <a:t>floor </a:t>
            </a:r>
            <a:r>
              <a:rPr sz="1400" dirty="0" err="1"/>
              <a:t>colour</a:t>
            </a:r>
            <a:r>
              <a:rPr lang="en-US" sz="1400" dirty="0"/>
              <a:t>,</a:t>
            </a:r>
            <a:endParaRPr sz="1400" dirty="0"/>
          </a:p>
          <a:p>
            <a:pPr algn="l">
              <a:spcAft>
                <a:spcPts val="0"/>
              </a:spcAft>
              <a:defRPr sz="900" b="0" i="0">
                <a:solidFill>
                  <a:srgbClr val="2C3932"/>
                </a:solidFill>
                <a:latin typeface="Neue Haas Grotesk Text Pro"/>
              </a:defRPr>
            </a:pPr>
            <a:r>
              <a:rPr sz="1400" dirty="0"/>
              <a:t>12 finger</a:t>
            </a:r>
            <a:r>
              <a:rPr lang="en-US" sz="1400" dirty="0"/>
              <a:t>,</a:t>
            </a:r>
            <a:r>
              <a:rPr sz="1400" dirty="0"/>
              <a:t> </a:t>
            </a:r>
            <a:r>
              <a:rPr sz="1400" dirty="0" err="1"/>
              <a:t>colours</a:t>
            </a:r>
            <a:r>
              <a:rPr lang="en-US" sz="1400" dirty="0"/>
              <a:t>,</a:t>
            </a:r>
            <a:endParaRPr sz="1400" dirty="0"/>
          </a:p>
          <a:p>
            <a:pPr algn="l">
              <a:spcAft>
                <a:spcPts val="0"/>
              </a:spcAft>
              <a:defRPr sz="900" b="0" i="0">
                <a:solidFill>
                  <a:srgbClr val="2C3932"/>
                </a:solidFill>
                <a:latin typeface="Neue Haas Grotesk Text Pro"/>
              </a:defRPr>
            </a:pPr>
            <a:r>
              <a:rPr sz="1400" dirty="0"/>
              <a:t>≈ half of them</a:t>
            </a:r>
          </a:p>
        </p:txBody>
      </p:sp>
      <p:sp>
        <p:nvSpPr>
          <p:cNvPr id="22" name="TextBox 21"/>
          <p:cNvSpPr txBox="1"/>
          <p:nvPr/>
        </p:nvSpPr>
        <p:spPr>
          <a:xfrm>
            <a:off x="5316409" y="1225296"/>
            <a:ext cx="3200400" cy="256032"/>
          </a:xfrm>
          <a:prstGeom prst="rect">
            <a:avLst/>
          </a:prstGeom>
          <a:noFill/>
        </p:spPr>
        <p:txBody>
          <a:bodyPr wrap="square" lIns="0" tIns="0" rIns="0" bIns="0">
            <a:spAutoFit/>
          </a:bodyPr>
          <a:lstStyle/>
          <a:p>
            <a:pPr algn="l">
              <a:spcAft>
                <a:spcPts val="300"/>
              </a:spcAft>
              <a:defRPr sz="1300" b="1" i="0">
                <a:solidFill>
                  <a:srgbClr val="2C3932"/>
                </a:solidFill>
                <a:latin typeface="Neue Haas Grotesk Text Pro"/>
              </a:defRPr>
            </a:pPr>
            <a:r>
              <a:rPr dirty="0"/>
              <a:t>Their train / test split</a:t>
            </a:r>
          </a:p>
        </p:txBody>
      </p:sp>
      <p:sp>
        <p:nvSpPr>
          <p:cNvPr id="25" name="TextBox 24"/>
          <p:cNvSpPr txBox="1"/>
          <p:nvPr/>
        </p:nvSpPr>
        <p:spPr>
          <a:xfrm>
            <a:off x="5343842" y="1618488"/>
            <a:ext cx="1889062" cy="2159566"/>
          </a:xfrm>
          <a:prstGeom prst="rect">
            <a:avLst/>
          </a:prstGeom>
          <a:noFill/>
        </p:spPr>
        <p:txBody>
          <a:bodyPr wrap="square" lIns="0" tIns="0" rIns="0" bIns="0">
            <a:spAutoFit/>
          </a:bodyPr>
          <a:lstStyle/>
          <a:p>
            <a:pPr algn="l">
              <a:spcAft>
                <a:spcPts val="100"/>
              </a:spcAft>
              <a:defRPr sz="1100" b="1" i="0">
                <a:solidFill>
                  <a:srgbClr val="169C9A"/>
                </a:solidFill>
                <a:latin typeface="Neue Haas Grotesk Text Pro"/>
              </a:defRPr>
            </a:pPr>
            <a:r>
              <a:rPr dirty="0" err="1"/>
              <a:t>space_a</a:t>
            </a:r>
            <a:r>
              <a:rPr dirty="0"/>
              <a:t>   —   TRAIN</a:t>
            </a:r>
          </a:p>
          <a:p>
            <a:pPr algn="l">
              <a:spcAft>
                <a:spcPts val="100"/>
              </a:spcAft>
              <a:defRPr sz="950" b="0" i="0">
                <a:solidFill>
                  <a:srgbClr val="2C3932"/>
                </a:solidFill>
                <a:latin typeface="Neue Haas Grotesk Text Pro"/>
              </a:defRPr>
            </a:pPr>
            <a:r>
              <a:rPr sz="1200" dirty="0"/>
              <a:t>block </a:t>
            </a:r>
            <a:r>
              <a:rPr sz="1200" dirty="0" err="1"/>
              <a:t>colour</a:t>
            </a:r>
            <a:r>
              <a:rPr sz="1200" dirty="0"/>
              <a:t>  0.5 → 1.0     (light)</a:t>
            </a:r>
          </a:p>
          <a:p>
            <a:pPr algn="l">
              <a:spcAft>
                <a:spcPts val="100"/>
              </a:spcAft>
              <a:defRPr sz="950" b="0" i="0">
                <a:solidFill>
                  <a:srgbClr val="2C3932"/>
                </a:solidFill>
                <a:latin typeface="Neue Haas Grotesk Text Pro"/>
              </a:defRPr>
            </a:pPr>
            <a:r>
              <a:rPr sz="1200" dirty="0"/>
              <a:t>mass, friction:  one range</a:t>
            </a:r>
            <a:br>
              <a:rPr lang="en-US" dirty="0"/>
            </a:br>
            <a:endParaRPr lang="en-US" dirty="0"/>
          </a:p>
          <a:p>
            <a:pPr algn="l">
              <a:spcAft>
                <a:spcPts val="100"/>
              </a:spcAft>
              <a:defRPr sz="950" b="0" i="0">
                <a:solidFill>
                  <a:srgbClr val="2C3932"/>
                </a:solidFill>
                <a:latin typeface="Neue Haas Grotesk Text Pro"/>
              </a:defRPr>
            </a:pPr>
            <a:endParaRPr lang="en-US" dirty="0"/>
          </a:p>
          <a:p>
            <a:pPr>
              <a:spcAft>
                <a:spcPts val="100"/>
              </a:spcAft>
              <a:defRPr sz="1100" b="1" i="0">
                <a:solidFill>
                  <a:srgbClr val="E15C3D"/>
                </a:solidFill>
                <a:latin typeface="Neue Haas Grotesk Text Pro"/>
              </a:defRPr>
            </a:pPr>
            <a:r>
              <a:rPr lang="en-US" dirty="0" err="1"/>
              <a:t>space_b</a:t>
            </a:r>
            <a:r>
              <a:rPr lang="en-US" dirty="0"/>
              <a:t>   —   TEST</a:t>
            </a:r>
          </a:p>
          <a:p>
            <a:pPr>
              <a:spcAft>
                <a:spcPts val="100"/>
              </a:spcAft>
              <a:defRPr sz="950" b="0" i="0">
                <a:solidFill>
                  <a:srgbClr val="2C3932"/>
                </a:solidFill>
                <a:latin typeface="Neue Haas Grotesk Text Pro"/>
              </a:defRPr>
            </a:pPr>
            <a:r>
              <a:rPr lang="en-US" sz="1200" dirty="0"/>
              <a:t>block </a:t>
            </a:r>
            <a:r>
              <a:rPr lang="en-US" sz="1200" dirty="0" err="1"/>
              <a:t>colour</a:t>
            </a:r>
            <a:r>
              <a:rPr lang="en-US" sz="1200" dirty="0"/>
              <a:t>  0.0 → 0.5     (dark)</a:t>
            </a:r>
          </a:p>
          <a:p>
            <a:pPr>
              <a:spcAft>
                <a:spcPts val="100"/>
              </a:spcAft>
              <a:defRPr sz="950" b="0" i="0">
                <a:solidFill>
                  <a:srgbClr val="2C3932"/>
                </a:solidFill>
                <a:latin typeface="Neue Haas Grotesk Text Pro"/>
              </a:defRPr>
            </a:pPr>
            <a:r>
              <a:rPr lang="en-US" sz="1200" dirty="0"/>
              <a:t>mass, friction:  a different range</a:t>
            </a:r>
          </a:p>
          <a:p>
            <a:pPr algn="l">
              <a:spcAft>
                <a:spcPts val="100"/>
              </a:spcAft>
              <a:defRPr sz="950" b="0" i="0">
                <a:solidFill>
                  <a:srgbClr val="2C3932"/>
                </a:solidFill>
                <a:latin typeface="Neue Haas Grotesk Text Pro"/>
              </a:defRPr>
            </a:pPr>
            <a:endParaRPr dirty="0"/>
          </a:p>
        </p:txBody>
      </p:sp>
      <p:sp>
        <p:nvSpPr>
          <p:cNvPr id="30" name="Rounded Rectangle 29"/>
          <p:cNvSpPr/>
          <p:nvPr/>
        </p:nvSpPr>
        <p:spPr>
          <a:xfrm>
            <a:off x="5197848" y="4142233"/>
            <a:ext cx="2267954" cy="2048256"/>
          </a:xfrm>
          <a:prstGeom prst="roundRect">
            <a:avLst/>
          </a:prstGeom>
          <a:solidFill>
            <a:srgbClr val="F7FBFB"/>
          </a:solidFill>
          <a:ln w="15875">
            <a:solidFill>
              <a:srgbClr val="169C9A"/>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ctr"/>
          <a:lstStyle/>
          <a:p>
            <a:pPr algn="l">
              <a:spcAft>
                <a:spcPts val="300"/>
              </a:spcAft>
              <a:defRPr sz="1150" b="1">
                <a:solidFill>
                  <a:srgbClr val="2C3932"/>
                </a:solidFill>
                <a:latin typeface="Neue Haas Grotesk Text Pro"/>
              </a:defRPr>
            </a:pPr>
            <a:r>
              <a:rPr dirty="0"/>
              <a:t>Our task</a:t>
            </a:r>
          </a:p>
          <a:p>
            <a:pPr algn="l">
              <a:spcAft>
                <a:spcPts val="100"/>
              </a:spcAft>
              <a:defRPr sz="950">
                <a:solidFill>
                  <a:srgbClr val="666E6A"/>
                </a:solidFill>
                <a:latin typeface="Neue Haas Grotesk Text Pro"/>
              </a:defRPr>
            </a:pPr>
            <a:r>
              <a:rPr sz="1100" dirty="0"/>
              <a:t>input   90 numbers, </a:t>
            </a:r>
            <a:endParaRPr lang="en-US" sz="1100" dirty="0"/>
          </a:p>
          <a:p>
            <a:pPr algn="l">
              <a:spcAft>
                <a:spcPts val="100"/>
              </a:spcAft>
              <a:defRPr sz="950">
                <a:solidFill>
                  <a:srgbClr val="666E6A"/>
                </a:solidFill>
                <a:latin typeface="Neue Haas Grotesk Text Pro"/>
              </a:defRPr>
            </a:pPr>
            <a:r>
              <a:rPr sz="1100" dirty="0"/>
              <a:t>the current state</a:t>
            </a:r>
          </a:p>
          <a:p>
            <a:pPr algn="l">
              <a:spcAft>
                <a:spcPts val="100"/>
              </a:spcAft>
              <a:defRPr sz="950">
                <a:solidFill>
                  <a:srgbClr val="666E6A"/>
                </a:solidFill>
                <a:latin typeface="Neue Haas Grotesk Text Pro"/>
              </a:defRPr>
            </a:pPr>
            <a:r>
              <a:rPr sz="1100" dirty="0"/>
              <a:t>output  56 numbers, </a:t>
            </a:r>
            <a:endParaRPr lang="en-US" sz="1100" dirty="0"/>
          </a:p>
          <a:p>
            <a:pPr algn="l">
              <a:spcAft>
                <a:spcPts val="100"/>
              </a:spcAft>
              <a:defRPr sz="950">
                <a:solidFill>
                  <a:srgbClr val="666E6A"/>
                </a:solidFill>
                <a:latin typeface="Neue Haas Grotesk Text Pro"/>
              </a:defRPr>
            </a:pPr>
            <a:r>
              <a:rPr sz="1100" dirty="0"/>
              <a:t>the state after the</a:t>
            </a:r>
          </a:p>
          <a:p>
            <a:pPr algn="l">
              <a:spcAft>
                <a:spcPts val="100"/>
              </a:spcAft>
              <a:defRPr sz="950">
                <a:solidFill>
                  <a:srgbClr val="666E6A"/>
                </a:solidFill>
                <a:latin typeface="Neue Haas Grotesk Text Pro"/>
              </a:defRPr>
            </a:pPr>
            <a:r>
              <a:rPr sz="1100" dirty="0"/>
              <a:t>             </a:t>
            </a:r>
            <a:endParaRPr lang="en-US" sz="1100" dirty="0"/>
          </a:p>
          <a:p>
            <a:pPr algn="l">
              <a:spcAft>
                <a:spcPts val="100"/>
              </a:spcAft>
              <a:defRPr sz="950">
                <a:solidFill>
                  <a:srgbClr val="666E6A"/>
                </a:solidFill>
                <a:latin typeface="Neue Haas Grotesk Text Pro"/>
              </a:defRPr>
            </a:pPr>
            <a:r>
              <a:rPr sz="1100" dirty="0"/>
              <a:t>same action runs 50 steps</a:t>
            </a:r>
          </a:p>
        </p:txBody>
      </p:sp>
      <p:sp>
        <p:nvSpPr>
          <p:cNvPr id="31" name="TextBox 30"/>
          <p:cNvSpPr txBox="1"/>
          <p:nvPr/>
        </p:nvSpPr>
        <p:spPr>
          <a:xfrm>
            <a:off x="7866273" y="1252225"/>
            <a:ext cx="3108960" cy="256032"/>
          </a:xfrm>
          <a:prstGeom prst="rect">
            <a:avLst/>
          </a:prstGeom>
          <a:noFill/>
        </p:spPr>
        <p:txBody>
          <a:bodyPr wrap="square" lIns="0" tIns="0" rIns="0" bIns="0">
            <a:spAutoFit/>
          </a:bodyPr>
          <a:lstStyle/>
          <a:p>
            <a:pPr algn="l">
              <a:spcAft>
                <a:spcPts val="300"/>
              </a:spcAft>
              <a:defRPr sz="1300" b="1" i="0">
                <a:solidFill>
                  <a:srgbClr val="2C3932"/>
                </a:solidFill>
                <a:latin typeface="Neue Haas Grotesk Text Pro"/>
              </a:defRPr>
            </a:pPr>
            <a:r>
              <a:rPr dirty="0"/>
              <a:t>What we add: paired runs</a:t>
            </a:r>
          </a:p>
        </p:txBody>
      </p:sp>
      <p:sp>
        <p:nvSpPr>
          <p:cNvPr id="32" name="TextBox 31"/>
          <p:cNvSpPr txBox="1"/>
          <p:nvPr/>
        </p:nvSpPr>
        <p:spPr>
          <a:xfrm>
            <a:off x="7653527" y="1719072"/>
            <a:ext cx="3108960" cy="237744"/>
          </a:xfrm>
          <a:prstGeom prst="rect">
            <a:avLst/>
          </a:prstGeom>
          <a:noFill/>
        </p:spPr>
        <p:txBody>
          <a:bodyPr wrap="square" lIns="0" tIns="0" rIns="0" bIns="0">
            <a:spAutoFit/>
          </a:bodyPr>
          <a:lstStyle/>
          <a:p>
            <a:pPr algn="l">
              <a:spcAft>
                <a:spcPts val="300"/>
              </a:spcAft>
              <a:defRPr sz="1000" b="0" i="1">
                <a:solidFill>
                  <a:srgbClr val="666E6A"/>
                </a:solidFill>
                <a:latin typeface="Neue Haas Grotesk Text Pro"/>
              </a:defRPr>
            </a:pPr>
            <a:r>
              <a:t>the same start, twice</a:t>
            </a:r>
          </a:p>
        </p:txBody>
      </p:sp>
      <p:sp>
        <p:nvSpPr>
          <p:cNvPr id="33" name="Rounded Rectangle 32"/>
          <p:cNvSpPr/>
          <p:nvPr/>
        </p:nvSpPr>
        <p:spPr>
          <a:xfrm>
            <a:off x="7653526" y="1965574"/>
            <a:ext cx="3200399" cy="614040"/>
          </a:xfrm>
          <a:prstGeom prst="roundRect">
            <a:avLst/>
          </a:prstGeom>
          <a:solidFill>
            <a:srgbClr val="ECF6F5"/>
          </a:solidFill>
          <a:ln w="15875">
            <a:solidFill>
              <a:srgbClr val="169C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200"/>
          </a:p>
        </p:txBody>
      </p:sp>
      <p:sp>
        <p:nvSpPr>
          <p:cNvPr id="34" name="TextBox 33"/>
          <p:cNvSpPr txBox="1"/>
          <p:nvPr/>
        </p:nvSpPr>
        <p:spPr>
          <a:xfrm>
            <a:off x="7794719" y="2046695"/>
            <a:ext cx="2918011" cy="369332"/>
          </a:xfrm>
          <a:prstGeom prst="rect">
            <a:avLst/>
          </a:prstGeom>
          <a:noFill/>
        </p:spPr>
        <p:txBody>
          <a:bodyPr wrap="square" lIns="0" tIns="0" rIns="0" bIns="0">
            <a:spAutoFit/>
          </a:bodyPr>
          <a:lstStyle/>
          <a:p>
            <a:pPr algn="l">
              <a:spcAft>
                <a:spcPts val="0"/>
              </a:spcAft>
              <a:defRPr sz="1000" b="1" i="0">
                <a:solidFill>
                  <a:srgbClr val="169C9A"/>
                </a:solidFill>
                <a:latin typeface="Neue Haas Grotesk Text Pro"/>
              </a:defRPr>
            </a:pPr>
            <a:r>
              <a:rPr sz="1200" dirty="0"/>
              <a:t>run 1</a:t>
            </a:r>
          </a:p>
          <a:p>
            <a:pPr algn="l">
              <a:spcAft>
                <a:spcPts val="0"/>
              </a:spcAft>
              <a:defRPr sz="950" b="0" i="0">
                <a:solidFill>
                  <a:srgbClr val="2C3932"/>
                </a:solidFill>
                <a:latin typeface="Neue Haas Grotesk Text Pro"/>
              </a:defRPr>
            </a:pPr>
            <a:r>
              <a:rPr sz="1200" dirty="0"/>
              <a:t>reset → act → record  y₀</a:t>
            </a:r>
          </a:p>
        </p:txBody>
      </p:sp>
      <p:sp>
        <p:nvSpPr>
          <p:cNvPr id="35" name="Rounded Rectangle 34"/>
          <p:cNvSpPr/>
          <p:nvPr/>
        </p:nvSpPr>
        <p:spPr>
          <a:xfrm>
            <a:off x="7653526" y="2633471"/>
            <a:ext cx="3200399" cy="779359"/>
          </a:xfrm>
          <a:prstGeom prst="roundRect">
            <a:avLst/>
          </a:prstGeom>
          <a:solidFill>
            <a:srgbClr val="ECF6F5"/>
          </a:solidFill>
          <a:ln w="15875">
            <a:solidFill>
              <a:srgbClr val="169C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200"/>
          </a:p>
        </p:txBody>
      </p:sp>
      <p:sp>
        <p:nvSpPr>
          <p:cNvPr id="36" name="TextBox 35"/>
          <p:cNvSpPr txBox="1"/>
          <p:nvPr/>
        </p:nvSpPr>
        <p:spPr>
          <a:xfrm>
            <a:off x="7772399" y="2706623"/>
            <a:ext cx="2918011" cy="553998"/>
          </a:xfrm>
          <a:prstGeom prst="rect">
            <a:avLst/>
          </a:prstGeom>
          <a:noFill/>
        </p:spPr>
        <p:txBody>
          <a:bodyPr wrap="square" lIns="0" tIns="0" rIns="0" bIns="0">
            <a:spAutoFit/>
          </a:bodyPr>
          <a:lstStyle/>
          <a:p>
            <a:pPr algn="l">
              <a:spcAft>
                <a:spcPts val="0"/>
              </a:spcAft>
              <a:defRPr sz="1000" b="1" i="0">
                <a:solidFill>
                  <a:srgbClr val="169C9A"/>
                </a:solidFill>
                <a:latin typeface="Neue Haas Grotesk Text Pro"/>
              </a:defRPr>
            </a:pPr>
            <a:r>
              <a:rPr sz="1200"/>
              <a:t>run 2</a:t>
            </a:r>
          </a:p>
          <a:p>
            <a:pPr algn="l">
              <a:spcAft>
                <a:spcPts val="0"/>
              </a:spcAft>
              <a:defRPr sz="950" b="0" i="0">
                <a:solidFill>
                  <a:srgbClr val="2C3932"/>
                </a:solidFill>
                <a:latin typeface="Neue Haas Grotesk Text Pro"/>
              </a:defRPr>
            </a:pPr>
            <a:r>
              <a:rPr sz="1200"/>
              <a:t>reset to the SAME state</a:t>
            </a:r>
          </a:p>
          <a:p>
            <a:pPr algn="l">
              <a:spcAft>
                <a:spcPts val="0"/>
              </a:spcAft>
              <a:defRPr sz="950" b="0" i="0">
                <a:solidFill>
                  <a:srgbClr val="2C3932"/>
                </a:solidFill>
                <a:latin typeface="Neue Haas Grotesk Text Pro"/>
              </a:defRPr>
            </a:pPr>
            <a:r>
              <a:rPr sz="1200"/>
              <a:t>change ONE variable → act → y₁</a:t>
            </a:r>
          </a:p>
        </p:txBody>
      </p:sp>
      <p:sp>
        <p:nvSpPr>
          <p:cNvPr id="38" name="TextBox 37"/>
          <p:cNvSpPr txBox="1"/>
          <p:nvPr/>
        </p:nvSpPr>
        <p:spPr>
          <a:xfrm>
            <a:off x="7772400" y="4105657"/>
            <a:ext cx="3108960" cy="366767"/>
          </a:xfrm>
          <a:prstGeom prst="rect">
            <a:avLst/>
          </a:prstGeom>
          <a:noFill/>
        </p:spPr>
        <p:txBody>
          <a:bodyPr wrap="square" lIns="0" tIns="0" rIns="0" bIns="0">
            <a:spAutoFit/>
          </a:bodyPr>
          <a:lstStyle/>
          <a:p>
            <a:pPr algn="ctr">
              <a:spcAft>
                <a:spcPts val="100"/>
              </a:spcAft>
              <a:defRPr sz="1150" b="1" i="0">
                <a:solidFill>
                  <a:srgbClr val="2C3932"/>
                </a:solidFill>
                <a:latin typeface="Neue Haas Grotesk Text Pro"/>
              </a:defRPr>
            </a:pPr>
            <a:r>
              <a:rPr dirty="0"/>
              <a:t>y₁ − y₀  =  the pure effect</a:t>
            </a:r>
          </a:p>
          <a:p>
            <a:pPr algn="ctr">
              <a:spcAft>
                <a:spcPts val="100"/>
              </a:spcAft>
              <a:defRPr sz="1150" b="1" i="0">
                <a:solidFill>
                  <a:srgbClr val="2C3932"/>
                </a:solidFill>
                <a:latin typeface="Neue Haas Grotesk Text Pro"/>
              </a:defRPr>
            </a:pPr>
            <a:r>
              <a:rPr dirty="0"/>
              <a:t>of that one change</a:t>
            </a:r>
          </a:p>
        </p:txBody>
      </p:sp>
      <p:sp>
        <p:nvSpPr>
          <p:cNvPr id="39" name="TextBox 38"/>
          <p:cNvSpPr txBox="1"/>
          <p:nvPr/>
        </p:nvSpPr>
        <p:spPr>
          <a:xfrm>
            <a:off x="7772400" y="4544569"/>
            <a:ext cx="3108960" cy="138499"/>
          </a:xfrm>
          <a:prstGeom prst="rect">
            <a:avLst/>
          </a:prstGeom>
          <a:noFill/>
        </p:spPr>
        <p:txBody>
          <a:bodyPr wrap="square" lIns="0" tIns="0" rIns="0" bIns="0">
            <a:spAutoFit/>
          </a:bodyPr>
          <a:lstStyle/>
          <a:p>
            <a:pPr algn="ctr">
              <a:spcAft>
                <a:spcPts val="300"/>
              </a:spcAft>
              <a:defRPr sz="900" b="0" i="1">
                <a:solidFill>
                  <a:srgbClr val="666E6A"/>
                </a:solidFill>
                <a:latin typeface="Neue Haas Grotesk Text Pro"/>
              </a:defRPr>
            </a:pPr>
            <a:r>
              <a:t>the simulator is deterministic — nothing else differs</a:t>
            </a:r>
          </a:p>
        </p:txBody>
      </p:sp>
      <p:sp>
        <p:nvSpPr>
          <p:cNvPr id="40" name="TextBox 39"/>
          <p:cNvSpPr txBox="1"/>
          <p:nvPr/>
        </p:nvSpPr>
        <p:spPr>
          <a:xfrm>
            <a:off x="7891273" y="4910329"/>
            <a:ext cx="3108960" cy="153888"/>
          </a:xfrm>
          <a:prstGeom prst="rect">
            <a:avLst/>
          </a:prstGeom>
          <a:noFill/>
        </p:spPr>
        <p:txBody>
          <a:bodyPr wrap="square" lIns="0" tIns="0" rIns="0" bIns="0">
            <a:spAutoFit/>
          </a:bodyPr>
          <a:lstStyle/>
          <a:p>
            <a:pPr algn="l">
              <a:spcAft>
                <a:spcPts val="300"/>
              </a:spcAft>
              <a:defRPr sz="1000" b="1" i="0">
                <a:solidFill>
                  <a:srgbClr val="2C3932"/>
                </a:solidFill>
                <a:latin typeface="Neue Haas Grotesk Text Pro"/>
              </a:defRPr>
            </a:pPr>
            <a:r>
              <a:t>measured effect on the outcome:</a:t>
            </a:r>
          </a:p>
        </p:txBody>
      </p:sp>
      <p:sp>
        <p:nvSpPr>
          <p:cNvPr id="41" name="TextBox 40"/>
          <p:cNvSpPr txBox="1"/>
          <p:nvPr/>
        </p:nvSpPr>
        <p:spPr>
          <a:xfrm>
            <a:off x="7891273" y="5166361"/>
            <a:ext cx="777240" cy="146194"/>
          </a:xfrm>
          <a:prstGeom prst="rect">
            <a:avLst/>
          </a:prstGeom>
          <a:noFill/>
        </p:spPr>
        <p:txBody>
          <a:bodyPr wrap="square" lIns="0" tIns="0" rIns="0" bIns="0">
            <a:spAutoFit/>
          </a:bodyPr>
          <a:lstStyle/>
          <a:p>
            <a:pPr algn="l">
              <a:spcAft>
                <a:spcPts val="300"/>
              </a:spcAft>
              <a:defRPr sz="950" b="1" i="0">
                <a:solidFill>
                  <a:srgbClr val="2C3932"/>
                </a:solidFill>
                <a:latin typeface="Neue Haas Grotesk Text Pro"/>
              </a:defRPr>
            </a:pPr>
            <a:r>
              <a:t>colour</a:t>
            </a:r>
          </a:p>
        </p:txBody>
      </p:sp>
      <p:sp>
        <p:nvSpPr>
          <p:cNvPr id="42" name="TextBox 41"/>
          <p:cNvSpPr txBox="1"/>
          <p:nvPr/>
        </p:nvSpPr>
        <p:spPr>
          <a:xfrm>
            <a:off x="8723378" y="5166361"/>
            <a:ext cx="1417320" cy="138499"/>
          </a:xfrm>
          <a:prstGeom prst="rect">
            <a:avLst/>
          </a:prstGeom>
          <a:noFill/>
        </p:spPr>
        <p:txBody>
          <a:bodyPr wrap="square" lIns="0" tIns="0" rIns="0" bIns="0">
            <a:spAutoFit/>
          </a:bodyPr>
          <a:lstStyle/>
          <a:p>
            <a:pPr algn="l">
              <a:spcAft>
                <a:spcPts val="300"/>
              </a:spcAft>
              <a:defRPr sz="900" b="0" i="1">
                <a:solidFill>
                  <a:srgbClr val="E15C3D"/>
                </a:solidFill>
                <a:latin typeface="Neue Haas Grotesk Text Pro"/>
              </a:defRPr>
            </a:pPr>
            <a:r>
              <a:t>nothing</a:t>
            </a:r>
          </a:p>
        </p:txBody>
      </p:sp>
      <p:sp>
        <p:nvSpPr>
          <p:cNvPr id="43" name="TextBox 42"/>
          <p:cNvSpPr txBox="1"/>
          <p:nvPr/>
        </p:nvSpPr>
        <p:spPr>
          <a:xfrm>
            <a:off x="10250426" y="5166361"/>
            <a:ext cx="749808" cy="146194"/>
          </a:xfrm>
          <a:prstGeom prst="rect">
            <a:avLst/>
          </a:prstGeom>
          <a:noFill/>
        </p:spPr>
        <p:txBody>
          <a:bodyPr wrap="square" lIns="0" tIns="0" rIns="0" bIns="0">
            <a:spAutoFit/>
          </a:bodyPr>
          <a:lstStyle/>
          <a:p>
            <a:pPr algn="l">
              <a:spcAft>
                <a:spcPts val="300"/>
              </a:spcAft>
              <a:defRPr sz="950" b="1" i="0">
                <a:solidFill>
                  <a:srgbClr val="E15C3D"/>
                </a:solidFill>
                <a:latin typeface="Neue Haas Grotesk Text Pro"/>
              </a:defRPr>
            </a:pPr>
            <a:r>
              <a:t>0.0000</a:t>
            </a:r>
          </a:p>
        </p:txBody>
      </p:sp>
      <p:sp>
        <p:nvSpPr>
          <p:cNvPr id="44" name="TextBox 43"/>
          <p:cNvSpPr txBox="1"/>
          <p:nvPr/>
        </p:nvSpPr>
        <p:spPr>
          <a:xfrm>
            <a:off x="7891273" y="5422393"/>
            <a:ext cx="777240" cy="146194"/>
          </a:xfrm>
          <a:prstGeom prst="rect">
            <a:avLst/>
          </a:prstGeom>
          <a:noFill/>
        </p:spPr>
        <p:txBody>
          <a:bodyPr wrap="square" lIns="0" tIns="0" rIns="0" bIns="0">
            <a:spAutoFit/>
          </a:bodyPr>
          <a:lstStyle/>
          <a:p>
            <a:pPr algn="l">
              <a:spcAft>
                <a:spcPts val="300"/>
              </a:spcAft>
              <a:defRPr sz="950" b="0" i="0">
                <a:solidFill>
                  <a:srgbClr val="2C3932"/>
                </a:solidFill>
                <a:latin typeface="Neue Haas Grotesk Text Pro"/>
              </a:defRPr>
            </a:pPr>
            <a:r>
              <a:t>mass</a:t>
            </a:r>
          </a:p>
        </p:txBody>
      </p:sp>
      <p:sp>
        <p:nvSpPr>
          <p:cNvPr id="45" name="Rectangle 44"/>
          <p:cNvSpPr/>
          <p:nvPr/>
        </p:nvSpPr>
        <p:spPr>
          <a:xfrm>
            <a:off x="8723378" y="5468113"/>
            <a:ext cx="249319" cy="118872"/>
          </a:xfrm>
          <a:prstGeom prst="rect">
            <a:avLst/>
          </a:prstGeom>
          <a:solidFill>
            <a:srgbClr val="3D90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10250426" y="5422393"/>
            <a:ext cx="749808" cy="146194"/>
          </a:xfrm>
          <a:prstGeom prst="rect">
            <a:avLst/>
          </a:prstGeom>
          <a:noFill/>
        </p:spPr>
        <p:txBody>
          <a:bodyPr wrap="square" lIns="0" tIns="0" rIns="0" bIns="0">
            <a:spAutoFit/>
          </a:bodyPr>
          <a:lstStyle/>
          <a:p>
            <a:pPr algn="l">
              <a:spcAft>
                <a:spcPts val="300"/>
              </a:spcAft>
              <a:defRPr sz="950" b="0" i="0">
                <a:solidFill>
                  <a:srgbClr val="2C3932"/>
                </a:solidFill>
                <a:latin typeface="Neue Haas Grotesk Text Pro"/>
              </a:defRPr>
            </a:pPr>
            <a:r>
              <a:t>0.0387</a:t>
            </a:r>
          </a:p>
        </p:txBody>
      </p:sp>
      <p:sp>
        <p:nvSpPr>
          <p:cNvPr id="47" name="TextBox 46"/>
          <p:cNvSpPr txBox="1"/>
          <p:nvPr/>
        </p:nvSpPr>
        <p:spPr>
          <a:xfrm>
            <a:off x="7891273" y="5678425"/>
            <a:ext cx="777240" cy="146194"/>
          </a:xfrm>
          <a:prstGeom prst="rect">
            <a:avLst/>
          </a:prstGeom>
          <a:noFill/>
        </p:spPr>
        <p:txBody>
          <a:bodyPr wrap="square" lIns="0" tIns="0" rIns="0" bIns="0">
            <a:spAutoFit/>
          </a:bodyPr>
          <a:lstStyle/>
          <a:p>
            <a:pPr algn="l">
              <a:spcAft>
                <a:spcPts val="300"/>
              </a:spcAft>
              <a:defRPr sz="950" b="0" i="0">
                <a:solidFill>
                  <a:srgbClr val="2C3932"/>
                </a:solidFill>
                <a:latin typeface="Neue Haas Grotesk Text Pro"/>
              </a:defRPr>
            </a:pPr>
            <a:r>
              <a:t>friction</a:t>
            </a:r>
          </a:p>
        </p:txBody>
      </p:sp>
      <p:sp>
        <p:nvSpPr>
          <p:cNvPr id="48" name="Rectangle 47"/>
          <p:cNvSpPr/>
          <p:nvPr/>
        </p:nvSpPr>
        <p:spPr>
          <a:xfrm>
            <a:off x="8723378" y="5724145"/>
            <a:ext cx="340801" cy="118872"/>
          </a:xfrm>
          <a:prstGeom prst="rect">
            <a:avLst/>
          </a:prstGeom>
          <a:solidFill>
            <a:srgbClr val="3D90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10250426" y="5678425"/>
            <a:ext cx="749808" cy="146194"/>
          </a:xfrm>
          <a:prstGeom prst="rect">
            <a:avLst/>
          </a:prstGeom>
          <a:noFill/>
        </p:spPr>
        <p:txBody>
          <a:bodyPr wrap="square" lIns="0" tIns="0" rIns="0" bIns="0">
            <a:spAutoFit/>
          </a:bodyPr>
          <a:lstStyle/>
          <a:p>
            <a:pPr algn="l">
              <a:spcAft>
                <a:spcPts val="300"/>
              </a:spcAft>
              <a:defRPr sz="950" b="0" i="0">
                <a:solidFill>
                  <a:srgbClr val="2C3932"/>
                </a:solidFill>
                <a:latin typeface="Neue Haas Grotesk Text Pro"/>
              </a:defRPr>
            </a:pPr>
            <a:r>
              <a:t>0.0529</a:t>
            </a:r>
          </a:p>
        </p:txBody>
      </p:sp>
      <p:sp>
        <p:nvSpPr>
          <p:cNvPr id="50" name="TextBox 49"/>
          <p:cNvSpPr txBox="1"/>
          <p:nvPr/>
        </p:nvSpPr>
        <p:spPr>
          <a:xfrm>
            <a:off x="7891273" y="5934457"/>
            <a:ext cx="777240" cy="146194"/>
          </a:xfrm>
          <a:prstGeom prst="rect">
            <a:avLst/>
          </a:prstGeom>
          <a:noFill/>
        </p:spPr>
        <p:txBody>
          <a:bodyPr wrap="square" lIns="0" tIns="0" rIns="0" bIns="0">
            <a:spAutoFit/>
          </a:bodyPr>
          <a:lstStyle/>
          <a:p>
            <a:pPr algn="l">
              <a:spcAft>
                <a:spcPts val="300"/>
              </a:spcAft>
              <a:defRPr sz="950" b="0" i="0">
                <a:solidFill>
                  <a:srgbClr val="2C3932"/>
                </a:solidFill>
                <a:latin typeface="Neue Haas Grotesk Text Pro"/>
              </a:defRPr>
            </a:pPr>
            <a:r>
              <a:t>position</a:t>
            </a:r>
          </a:p>
        </p:txBody>
      </p:sp>
      <p:sp>
        <p:nvSpPr>
          <p:cNvPr id="51" name="Rectangle 50"/>
          <p:cNvSpPr/>
          <p:nvPr/>
        </p:nvSpPr>
        <p:spPr>
          <a:xfrm>
            <a:off x="8723378" y="5980177"/>
            <a:ext cx="1417320" cy="118872"/>
          </a:xfrm>
          <a:prstGeom prst="rect">
            <a:avLst/>
          </a:prstGeom>
          <a:solidFill>
            <a:srgbClr val="3D90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10250426" y="5934457"/>
            <a:ext cx="749808" cy="146194"/>
          </a:xfrm>
          <a:prstGeom prst="rect">
            <a:avLst/>
          </a:prstGeom>
          <a:noFill/>
        </p:spPr>
        <p:txBody>
          <a:bodyPr wrap="square" lIns="0" tIns="0" rIns="0" bIns="0">
            <a:spAutoFit/>
          </a:bodyPr>
          <a:lstStyle/>
          <a:p>
            <a:pPr algn="l">
              <a:spcAft>
                <a:spcPts val="300"/>
              </a:spcAft>
              <a:defRPr sz="950" b="0" i="0">
                <a:solidFill>
                  <a:srgbClr val="2C3932"/>
                </a:solidFill>
                <a:latin typeface="Neue Haas Grotesk Text Pro"/>
              </a:defRPr>
            </a:pPr>
            <a:r>
              <a:rPr dirty="0"/>
              <a:t>0.2200</a:t>
            </a:r>
          </a:p>
        </p:txBody>
      </p:sp>
      <p:pic>
        <p:nvPicPr>
          <p:cNvPr id="56" name="Picture 55" descr="generated-image.png">
            <a:extLst>
              <a:ext uri="{FF2B5EF4-FFF2-40B4-BE49-F238E27FC236}">
                <a16:creationId xmlns:a16="http://schemas.microsoft.com/office/drawing/2014/main" id="{A0BFEF1E-4D69-80BD-1B0A-EBAC7A043AE7}"/>
              </a:ext>
            </a:extLst>
          </p:cNvPr>
          <p:cNvPicPr>
            <a:picLocks noChangeAspect="1"/>
          </p:cNvPicPr>
          <p:nvPr/>
        </p:nvPicPr>
        <p:blipFill>
          <a:blip r:embed="rId2"/>
          <a:stretch>
            <a:fillRect/>
          </a:stretch>
        </p:blipFill>
        <p:spPr>
          <a:xfrm>
            <a:off x="100036" y="3695519"/>
            <a:ext cx="4910086" cy="274051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71C401-16B3-4639-D7FB-6A5E14208052}"/>
              </a:ext>
            </a:extLst>
          </p:cNvPr>
          <p:cNvSpPr>
            <a:spLocks noGrp="1"/>
          </p:cNvSpPr>
          <p:nvPr>
            <p:ph type="title"/>
          </p:nvPr>
        </p:nvSpPr>
        <p:spPr>
          <a:xfrm>
            <a:off x="612648" y="539186"/>
            <a:ext cx="4621553" cy="1360728"/>
          </a:xfrm>
        </p:spPr>
        <p:txBody>
          <a:bodyPr anchor="b">
            <a:normAutofit/>
          </a:bodyPr>
          <a:lstStyle/>
          <a:p>
            <a:r>
              <a:rPr lang="en-US" dirty="0"/>
              <a:t>The method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533C839-C0AA-0BF6-4861-3A170A3D77E8}"/>
                  </a:ext>
                </a:extLst>
              </p:cNvPr>
              <p:cNvSpPr>
                <a:spLocks noGrp="1"/>
              </p:cNvSpPr>
              <p:nvPr>
                <p:ph idx="1"/>
              </p:nvPr>
            </p:nvSpPr>
            <p:spPr>
              <a:xfrm>
                <a:off x="500138" y="2584058"/>
                <a:ext cx="4621553" cy="4201561"/>
              </a:xfrm>
            </p:spPr>
            <p:txBody>
              <a:bodyPr>
                <a:normAutofit fontScale="92500" lnSpcReduction="20000"/>
              </a:bodyPr>
              <a:lstStyle/>
              <a:p>
                <a:pPr>
                  <a:lnSpc>
                    <a:spcPct val="110000"/>
                  </a:lnSpc>
                </a:pPr>
                <a:r>
                  <a:rPr lang="en-US" sz="1500" dirty="0"/>
                  <a:t>Since we already got the equation from pearl casual paper:</a:t>
                </a:r>
              </a:p>
              <a:p>
                <a:pPr marL="0" indent="0">
                  <a:lnSpc>
                    <a:spcPct val="110000"/>
                  </a:lnSpc>
                  <a:buNone/>
                </a:pPr>
                <a14:m>
                  <m:oMathPara xmlns:m="http://schemas.openxmlformats.org/officeDocument/2006/math">
                    <m:oMath>
                      <m:sSub>
                        <m:sSubPr>
                          <m:ctrlPr>
                            <a:rPr lang="en-US" sz="1500" b="0" i="1">
                              <a:latin typeface="Cambria Math" panose="02040503050406030204" pitchFamily="18" charset="0"/>
                            </a:rPr>
                          </m:ctrlPr>
                        </m:sSubPr>
                        <m:e>
                          <m:r>
                            <a:rPr lang="en-US" sz="1500" b="0" i="1">
                              <a:latin typeface="Cambria Math" panose="02040503050406030204" pitchFamily="18" charset="0"/>
                            </a:rPr>
                            <m:t>𝐸</m:t>
                          </m:r>
                        </m:e>
                        <m:sub>
                          <m:r>
                            <a:rPr lang="en-US" sz="1500" b="0" i="1">
                              <a:latin typeface="Cambria Math" panose="02040503050406030204" pitchFamily="18" charset="0"/>
                            </a:rPr>
                            <m:t>𝑖𝑗</m:t>
                          </m:r>
                        </m:sub>
                      </m:sSub>
                      <m:r>
                        <a:rPr lang="en-US" sz="1500" b="0" i="1">
                          <a:latin typeface="Cambria Math" panose="02040503050406030204" pitchFamily="18" charset="0"/>
                        </a:rPr>
                        <m:t>=</m:t>
                      </m:r>
                      <m:r>
                        <a:rPr lang="en-US" sz="1500" b="0" i="1">
                          <a:latin typeface="Cambria Math" panose="02040503050406030204" pitchFamily="18" charset="0"/>
                        </a:rPr>
                        <m:t>𝐸</m:t>
                      </m:r>
                      <m:d>
                        <m:dPr>
                          <m:begChr m:val="["/>
                          <m:endChr m:val="]"/>
                          <m:ctrlPr>
                            <a:rPr lang="en-US" sz="1500" b="0" i="1">
                              <a:latin typeface="Cambria Math" panose="02040503050406030204" pitchFamily="18" charset="0"/>
                            </a:rPr>
                          </m:ctrlPr>
                        </m:dPr>
                        <m:e>
                          <m:d>
                            <m:dPr>
                              <m:begChr m:val="|"/>
                              <m:endChr m:val="|"/>
                              <m:ctrlPr>
                                <a:rPr lang="en-US" sz="1500" b="0" i="1">
                                  <a:latin typeface="Cambria Math" panose="02040503050406030204" pitchFamily="18" charset="0"/>
                                </a:rPr>
                              </m:ctrlPr>
                            </m:dPr>
                            <m:e>
                              <m:sSubSup>
                                <m:sSubSupPr>
                                  <m:ctrlPr>
                                    <a:rPr lang="en-US" sz="1500" b="0" i="1">
                                      <a:latin typeface="Cambria Math" panose="02040503050406030204" pitchFamily="18" charset="0"/>
                                    </a:rPr>
                                  </m:ctrlPr>
                                </m:sSubSupPr>
                                <m:e>
                                  <m:r>
                                    <a:rPr lang="en-US" sz="1500" b="0" i="1">
                                      <a:latin typeface="Cambria Math" panose="02040503050406030204" pitchFamily="18" charset="0"/>
                                    </a:rPr>
                                    <m:t>𝑌</m:t>
                                  </m:r>
                                </m:e>
                                <m:sub>
                                  <m:r>
                                    <a:rPr lang="en-US" sz="1500" b="0" i="1">
                                      <a:latin typeface="Cambria Math" panose="02040503050406030204" pitchFamily="18" charset="0"/>
                                    </a:rPr>
                                    <m:t>𝑗</m:t>
                                  </m:r>
                                </m:sub>
                                <m:sup>
                                  <m:r>
                                    <a:rPr lang="en-US" sz="1500" b="0" i="1">
                                      <a:latin typeface="Cambria Math" panose="02040503050406030204" pitchFamily="18" charset="0"/>
                                    </a:rPr>
                                    <m:t>𝑑𝑜</m:t>
                                  </m:r>
                                  <m:d>
                                    <m:dPr>
                                      <m:ctrlPr>
                                        <a:rPr lang="en-US" sz="1500" b="0" i="1">
                                          <a:latin typeface="Cambria Math" panose="02040503050406030204" pitchFamily="18" charset="0"/>
                                        </a:rPr>
                                      </m:ctrlPr>
                                    </m:dPr>
                                    <m:e>
                                      <m:sSub>
                                        <m:sSubPr>
                                          <m:ctrlPr>
                                            <a:rPr lang="en-US" sz="1500" b="0" i="1">
                                              <a:latin typeface="Cambria Math" panose="02040503050406030204" pitchFamily="18" charset="0"/>
                                            </a:rPr>
                                          </m:ctrlPr>
                                        </m:sSubPr>
                                        <m:e>
                                          <m:r>
                                            <a:rPr lang="en-US" sz="1500" b="0" i="1">
                                              <a:latin typeface="Cambria Math" panose="02040503050406030204" pitchFamily="18" charset="0"/>
                                            </a:rPr>
                                            <m:t>𝑋</m:t>
                                          </m:r>
                                        </m:e>
                                        <m:sub>
                                          <m:r>
                                            <a:rPr lang="en-US" sz="1500" b="0" i="1">
                                              <a:latin typeface="Cambria Math" panose="02040503050406030204" pitchFamily="18" charset="0"/>
                                            </a:rPr>
                                            <m:t>𝑖</m:t>
                                          </m:r>
                                        </m:sub>
                                      </m:sSub>
                                    </m:e>
                                  </m:d>
                                </m:sup>
                              </m:sSubSup>
                              <m:r>
                                <a:rPr lang="en-US" sz="1500" b="0" i="1">
                                  <a:latin typeface="Cambria Math" panose="02040503050406030204" pitchFamily="18" charset="0"/>
                                </a:rPr>
                                <m:t>−</m:t>
                              </m:r>
                              <m:sSub>
                                <m:sSubPr>
                                  <m:ctrlPr>
                                    <a:rPr lang="en-US" sz="1500" b="0" i="1">
                                      <a:latin typeface="Cambria Math" panose="02040503050406030204" pitchFamily="18" charset="0"/>
                                    </a:rPr>
                                  </m:ctrlPr>
                                </m:sSubPr>
                                <m:e>
                                  <m:r>
                                    <a:rPr lang="en-US" sz="1500" b="0" i="1">
                                      <a:latin typeface="Cambria Math" panose="02040503050406030204" pitchFamily="18" charset="0"/>
                                    </a:rPr>
                                    <m:t>𝑌</m:t>
                                  </m:r>
                                </m:e>
                                <m:sub>
                                  <m:r>
                                    <a:rPr lang="en-US" sz="1500" b="0" i="1">
                                      <a:latin typeface="Cambria Math" panose="02040503050406030204" pitchFamily="18" charset="0"/>
                                    </a:rPr>
                                    <m:t>𝑗</m:t>
                                  </m:r>
                                </m:sub>
                              </m:sSub>
                            </m:e>
                          </m:d>
                        </m:e>
                      </m:d>
                    </m:oMath>
                  </m:oMathPara>
                </a14:m>
                <a:endParaRPr lang="en-US" sz="1500" dirty="0"/>
              </a:p>
              <a:p>
                <a:pPr>
                  <a:lnSpc>
                    <a:spcPct val="110000"/>
                  </a:lnSpc>
                </a:pPr>
                <a:r>
                  <a:rPr lang="en-US" sz="1500" dirty="0"/>
                  <a:t>This is the equation we don’t have to use any MLP, directly calculate how Y change after we change the X. Then we have another MLP which used to train the graph:</a:t>
                </a:r>
              </a:p>
              <a:p>
                <a:pPr marL="0" indent="0">
                  <a:lnSpc>
                    <a:spcPct val="110000"/>
                  </a:lnSpc>
                  <a:buNone/>
                </a:pPr>
                <a14:m>
                  <m:oMathPara xmlns:m="http://schemas.openxmlformats.org/officeDocument/2006/math">
                    <m:oMath>
                      <m:sSub>
                        <m:sSubPr>
                          <m:ctrlPr>
                            <a:rPr lang="en-US" sz="1500" b="0" i="1">
                              <a:latin typeface="Cambria Math" panose="02040503050406030204" pitchFamily="18" charset="0"/>
                            </a:rPr>
                          </m:ctrlPr>
                        </m:sSubPr>
                        <m:e>
                          <m:r>
                            <a:rPr lang="en-US" sz="1500" b="0" i="1">
                              <a:latin typeface="Cambria Math" panose="02040503050406030204" pitchFamily="18" charset="0"/>
                            </a:rPr>
                            <m:t>𝑚</m:t>
                          </m:r>
                        </m:e>
                        <m:sub>
                          <m:r>
                            <a:rPr lang="en-US" sz="1500" b="0" i="1">
                              <a:latin typeface="Cambria Math" panose="02040503050406030204" pitchFamily="18" charset="0"/>
                            </a:rPr>
                            <m:t>𝑗</m:t>
                          </m:r>
                          <m:r>
                            <a:rPr lang="en-US" sz="1500" b="0" i="1">
                              <a:latin typeface="Cambria Math" panose="02040503050406030204" pitchFamily="18" charset="0"/>
                            </a:rPr>
                            <m:t>→</m:t>
                          </m:r>
                          <m:r>
                            <a:rPr lang="en-US" sz="1500" b="0" i="1">
                              <a:latin typeface="Cambria Math" panose="02040503050406030204" pitchFamily="18" charset="0"/>
                            </a:rPr>
                            <m:t>𝑖</m:t>
                          </m:r>
                        </m:sub>
                      </m:sSub>
                      <m:r>
                        <a:rPr lang="en-US" sz="1500" b="0" i="1">
                          <a:latin typeface="Cambria Math" panose="02040503050406030204" pitchFamily="18" charset="0"/>
                        </a:rPr>
                        <m:t>=</m:t>
                      </m:r>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𝐴</m:t>
                          </m:r>
                        </m:e>
                        <m:sub>
                          <m:r>
                            <a:rPr lang="en-US" sz="1500" b="0" i="1" smtClean="0">
                              <a:latin typeface="Cambria Math" panose="02040503050406030204" pitchFamily="18" charset="0"/>
                            </a:rPr>
                            <m:t>𝑗𝑖</m:t>
                          </m:r>
                        </m:sub>
                      </m:sSub>
                      <m:sSub>
                        <m:sSubPr>
                          <m:ctrlPr>
                            <a:rPr lang="en-US" sz="1500" b="0" i="1">
                              <a:latin typeface="Cambria Math" panose="02040503050406030204" pitchFamily="18" charset="0"/>
                            </a:rPr>
                          </m:ctrlPr>
                        </m:sSubPr>
                        <m:e>
                          <m:r>
                            <a:rPr lang="en-US" sz="1500" b="0" i="1">
                              <a:latin typeface="Cambria Math" panose="02040503050406030204" pitchFamily="18" charset="0"/>
                            </a:rPr>
                            <m:t>𝑊</m:t>
                          </m:r>
                        </m:e>
                        <m:sub>
                          <m:r>
                            <a:rPr lang="en-US" sz="1500" i="1">
                              <a:latin typeface="Cambria Math" panose="02040503050406030204" pitchFamily="18" charset="0"/>
                            </a:rPr>
                            <m:t>𝑗</m:t>
                          </m:r>
                          <m:r>
                            <a:rPr lang="en-US" sz="1500" i="1">
                              <a:latin typeface="Cambria Math" panose="02040503050406030204" pitchFamily="18" charset="0"/>
                            </a:rPr>
                            <m:t>→</m:t>
                          </m:r>
                          <m:r>
                            <a:rPr lang="en-US" sz="1500" i="1">
                              <a:latin typeface="Cambria Math" panose="02040503050406030204" pitchFamily="18" charset="0"/>
                            </a:rPr>
                            <m:t>𝑖</m:t>
                          </m:r>
                        </m:sub>
                      </m:sSub>
                      <m:r>
                        <a:rPr lang="en-US" sz="1500" b="0" i="1" smtClean="0">
                          <a:latin typeface="Cambria Math" panose="02040503050406030204" pitchFamily="18" charset="0"/>
                        </a:rPr>
                        <m:t>𝜙</m:t>
                      </m:r>
                      <m:d>
                        <m:dPr>
                          <m:ctrlPr>
                            <a:rPr lang="en-US" sz="1500" b="0" i="1">
                              <a:latin typeface="Cambria Math" panose="02040503050406030204" pitchFamily="18" charset="0"/>
                              <a:ea typeface="Cambria Math" panose="02040503050406030204" pitchFamily="18" charset="0"/>
                            </a:rPr>
                          </m:ctrlPr>
                        </m:dPr>
                        <m:e>
                          <m:sSub>
                            <m:sSubPr>
                              <m:ctrlPr>
                                <a:rPr lang="en-US" sz="1500" b="0" i="1">
                                  <a:latin typeface="Cambria Math" panose="02040503050406030204" pitchFamily="18" charset="0"/>
                                  <a:ea typeface="Cambria Math" panose="02040503050406030204" pitchFamily="18" charset="0"/>
                                </a:rPr>
                              </m:ctrlPr>
                            </m:sSubPr>
                            <m:e>
                              <m:r>
                                <a:rPr lang="en-US" sz="1500" b="0" i="1">
                                  <a:latin typeface="Cambria Math" panose="02040503050406030204" pitchFamily="18" charset="0"/>
                                  <a:ea typeface="Cambria Math" panose="02040503050406030204" pitchFamily="18" charset="0"/>
                                </a:rPr>
                                <m:t>𝑉</m:t>
                              </m:r>
                            </m:e>
                            <m:sub>
                              <m:r>
                                <a:rPr lang="en-US" sz="1500" b="0" i="1">
                                  <a:latin typeface="Cambria Math" panose="02040503050406030204" pitchFamily="18" charset="0"/>
                                  <a:ea typeface="Cambria Math" panose="02040503050406030204" pitchFamily="18" charset="0"/>
                                </a:rPr>
                                <m:t>𝑗</m:t>
                              </m:r>
                            </m:sub>
                          </m:sSub>
                        </m:e>
                      </m:d>
                      <m:r>
                        <a:rPr lang="en-US" sz="1500" b="0" i="1">
                          <a:latin typeface="Cambria Math" panose="02040503050406030204" pitchFamily="18" charset="0"/>
                          <a:ea typeface="Cambria Math" panose="02040503050406030204" pitchFamily="18" charset="0"/>
                        </a:rPr>
                        <m:t>,  </m:t>
                      </m:r>
                      <m:acc>
                        <m:accPr>
                          <m:chr m:val="̂"/>
                          <m:ctrlPr>
                            <a:rPr lang="en-US" sz="1500" b="0" i="1" smtClean="0">
                              <a:latin typeface="Cambria Math" panose="02040503050406030204" pitchFamily="18" charset="0"/>
                              <a:ea typeface="Cambria Math" panose="02040503050406030204" pitchFamily="18" charset="0"/>
                            </a:rPr>
                          </m:ctrlPr>
                        </m:accPr>
                        <m:e>
                          <m:r>
                            <a:rPr lang="en-US" sz="1500" b="0" i="1" smtClean="0">
                              <a:latin typeface="Cambria Math" panose="02040503050406030204" pitchFamily="18" charset="0"/>
                              <a:ea typeface="Cambria Math" panose="02040503050406030204" pitchFamily="18" charset="0"/>
                            </a:rPr>
                            <m:t>𝑌</m:t>
                          </m:r>
                        </m:e>
                      </m:acc>
                      <m:r>
                        <a:rPr lang="en-US" sz="1500" b="0" i="1">
                          <a:latin typeface="Cambria Math" panose="02040503050406030204" pitchFamily="18" charset="0"/>
                        </a:rPr>
                        <m:t>=</m:t>
                      </m:r>
                      <m:sSub>
                        <m:sSubPr>
                          <m:ctrlPr>
                            <a:rPr lang="en-US" sz="1500" b="0" i="1">
                              <a:latin typeface="Cambria Math" panose="02040503050406030204" pitchFamily="18" charset="0"/>
                            </a:rPr>
                          </m:ctrlPr>
                        </m:sSubPr>
                        <m:e>
                          <m:r>
                            <a:rPr lang="en-US" sz="1500" b="0" i="1">
                              <a:latin typeface="Cambria Math" panose="02040503050406030204" pitchFamily="18" charset="0"/>
                            </a:rPr>
                            <m:t>𝑔</m:t>
                          </m:r>
                        </m:e>
                        <m:sub>
                          <m:r>
                            <a:rPr lang="en-US" sz="1500" b="0" i="1">
                              <a:latin typeface="Cambria Math" panose="02040503050406030204" pitchFamily="18" charset="0"/>
                            </a:rPr>
                            <m:t>𝑖</m:t>
                          </m:r>
                        </m:sub>
                      </m:sSub>
                      <m:r>
                        <a:rPr lang="en-US" sz="1500" b="0" i="1">
                          <a:latin typeface="Cambria Math" panose="02040503050406030204" pitchFamily="18" charset="0"/>
                        </a:rPr>
                        <m:t>(</m:t>
                      </m:r>
                      <m:nary>
                        <m:naryPr>
                          <m:chr m:val="∑"/>
                          <m:supHide m:val="on"/>
                          <m:ctrlPr>
                            <a:rPr lang="en-US" sz="1500" b="0" i="1">
                              <a:latin typeface="Cambria Math" panose="02040503050406030204" pitchFamily="18" charset="0"/>
                            </a:rPr>
                          </m:ctrlPr>
                        </m:naryPr>
                        <m:sub>
                          <m:r>
                            <m:rPr>
                              <m:brk m:alnAt="7"/>
                            </m:rPr>
                            <a:rPr lang="en-US" sz="1500" b="0" i="1">
                              <a:latin typeface="Cambria Math" panose="02040503050406030204" pitchFamily="18" charset="0"/>
                            </a:rPr>
                            <m:t>𝑗</m:t>
                          </m:r>
                        </m:sub>
                        <m:sup/>
                        <m:e>
                          <m:sSub>
                            <m:sSubPr>
                              <m:ctrlPr>
                                <a:rPr lang="en-US" sz="1500" i="1">
                                  <a:latin typeface="Cambria Math" panose="02040503050406030204" pitchFamily="18" charset="0"/>
                                </a:rPr>
                              </m:ctrlPr>
                            </m:sSubPr>
                            <m:e>
                              <m:r>
                                <a:rPr lang="en-US" sz="1500" i="1">
                                  <a:latin typeface="Cambria Math" panose="02040503050406030204" pitchFamily="18" charset="0"/>
                                </a:rPr>
                                <m:t>𝑚</m:t>
                              </m:r>
                            </m:e>
                            <m:sub>
                              <m:r>
                                <a:rPr lang="en-US" sz="1500" i="1">
                                  <a:latin typeface="Cambria Math" panose="02040503050406030204" pitchFamily="18" charset="0"/>
                                </a:rPr>
                                <m:t>𝑗</m:t>
                              </m:r>
                              <m:r>
                                <a:rPr lang="en-US" sz="1500" i="1">
                                  <a:latin typeface="Cambria Math" panose="02040503050406030204" pitchFamily="18" charset="0"/>
                                </a:rPr>
                                <m:t>→</m:t>
                              </m:r>
                              <m:r>
                                <a:rPr lang="en-US" sz="1500" i="1">
                                  <a:latin typeface="Cambria Math" panose="02040503050406030204" pitchFamily="18" charset="0"/>
                                </a:rPr>
                                <m:t>𝑖</m:t>
                              </m:r>
                            </m:sub>
                          </m:sSub>
                        </m:e>
                      </m:nary>
                      <m:r>
                        <a:rPr lang="en-US" sz="1500" b="0" i="1">
                          <a:latin typeface="Cambria Math" panose="02040503050406030204" pitchFamily="18" charset="0"/>
                        </a:rPr>
                        <m:t>)</m:t>
                      </m:r>
                    </m:oMath>
                  </m:oMathPara>
                </a14:m>
                <a:endParaRPr lang="en-US" sz="1500" dirty="0"/>
              </a:p>
              <a:p>
                <a:pPr marL="0" indent="0">
                  <a:buNone/>
                </a:pPr>
                <a:r>
                  <a:rPr lang="en-US" sz="1600" dirty="0"/>
                  <a:t>The edge-wise parameterization is inspired by NOTEARS-MLP and DCDI. The contribution here is the controlled evaluation of the mask, not a new causal discovery architecture.</a:t>
                </a:r>
              </a:p>
              <a:p>
                <a:pPr marL="0" indent="0">
                  <a:buNone/>
                </a:pPr>
                <a14:m>
                  <m:oMath xmlns:m="http://schemas.openxmlformats.org/officeDocument/2006/math">
                    <m:r>
                      <a:rPr lang="en-US" sz="1500" b="0" i="1" smtClean="0">
                        <a:latin typeface="Cambria Math" panose="02040503050406030204" pitchFamily="18" charset="0"/>
                        <a:ea typeface="Cambria Math" panose="02040503050406030204" pitchFamily="18" charset="0"/>
                      </a:rPr>
                      <m:t>𝜙</m:t>
                    </m:r>
                  </m:oMath>
                </a14:m>
                <a:r>
                  <a:rPr lang="en-US" sz="1500" dirty="0"/>
                  <a:t> is a small MLP to change one number into 8 numbers. </a:t>
                </a:r>
                <a14:m>
                  <m:oMath xmlns:m="http://schemas.openxmlformats.org/officeDocument/2006/math">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𝑊</m:t>
                        </m:r>
                      </m:e>
                      <m:sub>
                        <m:r>
                          <a:rPr lang="en-US" sz="1500" b="0" i="1" smtClean="0">
                            <a:latin typeface="Cambria Math" panose="02040503050406030204" pitchFamily="18" charset="0"/>
                          </a:rPr>
                          <m:t>𝑖𝑗</m:t>
                        </m:r>
                      </m:sub>
                    </m:sSub>
                  </m:oMath>
                </a14:m>
                <a:r>
                  <a:rPr lang="en-US" sz="1500" dirty="0"/>
                  <a:t> means each edge has its own weight(message), totally 5040 edges.</a:t>
                </a:r>
              </a:p>
              <a:p>
                <a:pPr>
                  <a:lnSpc>
                    <a:spcPct val="110000"/>
                  </a:lnSpc>
                </a:pPr>
                <a:endParaRPr lang="en-US" sz="1500" dirty="0"/>
              </a:p>
              <a:p>
                <a:pPr>
                  <a:lnSpc>
                    <a:spcPct val="110000"/>
                  </a:lnSpc>
                </a:pPr>
                <a:endParaRPr lang="en-US" sz="1500" dirty="0"/>
              </a:p>
            </p:txBody>
          </p:sp>
        </mc:Choice>
        <mc:Fallback>
          <p:sp>
            <p:nvSpPr>
              <p:cNvPr id="3" name="Content Placeholder 2">
                <a:extLst>
                  <a:ext uri="{FF2B5EF4-FFF2-40B4-BE49-F238E27FC236}">
                    <a16:creationId xmlns:a16="http://schemas.microsoft.com/office/drawing/2014/main" id="{F533C839-C0AA-0BF6-4861-3A170A3D77E8}"/>
                  </a:ext>
                </a:extLst>
              </p:cNvPr>
              <p:cNvSpPr>
                <a:spLocks noGrp="1" noRot="1" noChangeAspect="1" noMove="1" noResize="1" noEditPoints="1" noAdjustHandles="1" noChangeArrowheads="1" noChangeShapeType="1" noTextEdit="1"/>
              </p:cNvSpPr>
              <p:nvPr>
                <p:ph idx="1"/>
              </p:nvPr>
            </p:nvSpPr>
            <p:spPr>
              <a:xfrm>
                <a:off x="500138" y="2584058"/>
                <a:ext cx="4621553" cy="4201561"/>
              </a:xfrm>
              <a:blipFill>
                <a:blip r:embed="rId2"/>
                <a:stretch>
                  <a:fillRect l="-528" t="-871" r="-1187"/>
                </a:stretch>
              </a:blipFill>
            </p:spPr>
            <p:txBody>
              <a:bodyPr/>
              <a:lstStyle/>
              <a:p>
                <a:r>
                  <a:rPr lang="en-US">
                    <a:noFill/>
                  </a:rPr>
                  <a:t> </a:t>
                </a:r>
              </a:p>
            </p:txBody>
          </p:sp>
        </mc:Fallback>
      </mc:AlternateContent>
      <p:pic>
        <p:nvPicPr>
          <p:cNvPr id="4" name="Picture 3" descr="generated-image.png">
            <a:extLst>
              <a:ext uri="{FF2B5EF4-FFF2-40B4-BE49-F238E27FC236}">
                <a16:creationId xmlns:a16="http://schemas.microsoft.com/office/drawing/2014/main" id="{41641FED-7C71-8C52-184C-6763E00CA247}"/>
              </a:ext>
            </a:extLst>
          </p:cNvPr>
          <p:cNvPicPr>
            <a:picLocks noChangeAspect="1"/>
          </p:cNvPicPr>
          <p:nvPr/>
        </p:nvPicPr>
        <p:blipFill>
          <a:blip r:embed="rId3"/>
          <a:stretch>
            <a:fillRect/>
          </a:stretch>
        </p:blipFill>
        <p:spPr>
          <a:xfrm>
            <a:off x="5121691" y="1972295"/>
            <a:ext cx="7032806" cy="3955952"/>
          </a:xfrm>
          <a:prstGeom prst="rect">
            <a:avLst/>
          </a:prstGeom>
        </p:spPr>
      </p:pic>
      <p:sp>
        <p:nvSpPr>
          <p:cNvPr id="5" name="TextBox 4">
            <a:extLst>
              <a:ext uri="{FF2B5EF4-FFF2-40B4-BE49-F238E27FC236}">
                <a16:creationId xmlns:a16="http://schemas.microsoft.com/office/drawing/2014/main" id="{EEB9D607-4F96-16DB-84D4-9CAA6C42849B}"/>
              </a:ext>
            </a:extLst>
          </p:cNvPr>
          <p:cNvSpPr txBox="1"/>
          <p:nvPr/>
        </p:nvSpPr>
        <p:spPr>
          <a:xfrm>
            <a:off x="5234201" y="5928247"/>
            <a:ext cx="5678309" cy="646331"/>
          </a:xfrm>
          <a:prstGeom prst="rect">
            <a:avLst/>
          </a:prstGeom>
          <a:noFill/>
        </p:spPr>
        <p:txBody>
          <a:bodyPr wrap="square" rtlCol="0">
            <a:spAutoFit/>
          </a:bodyPr>
          <a:lstStyle/>
          <a:p>
            <a:r>
              <a:rPr lang="en-US" dirty="0"/>
              <a:t>If the fatcor3 is not existed on our graph, the W3 is 0 then it means it will never be updated by MLP</a:t>
            </a:r>
          </a:p>
        </p:txBody>
      </p:sp>
    </p:spTree>
    <p:extLst>
      <p:ext uri="{BB962C8B-B14F-4D97-AF65-F5344CB8AC3E}">
        <p14:creationId xmlns:p14="http://schemas.microsoft.com/office/powerpoint/2010/main" val="3152754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B3CC1-4301-14C6-89FB-A2A952AC5B84}"/>
              </a:ext>
            </a:extLst>
          </p:cNvPr>
          <p:cNvSpPr>
            <a:spLocks noGrp="1"/>
          </p:cNvSpPr>
          <p:nvPr>
            <p:ph type="title"/>
          </p:nvPr>
        </p:nvSpPr>
        <p:spPr/>
        <p:txBody>
          <a:bodyPr/>
          <a:lstStyle/>
          <a:p>
            <a:r>
              <a:rPr lang="en-US" dirty="0"/>
              <a:t>Experiment</a:t>
            </a:r>
          </a:p>
        </p:txBody>
      </p:sp>
      <p:graphicFrame>
        <p:nvGraphicFramePr>
          <p:cNvPr id="4" name="Content Placeholder 3">
            <a:extLst>
              <a:ext uri="{FF2B5EF4-FFF2-40B4-BE49-F238E27FC236}">
                <a16:creationId xmlns:a16="http://schemas.microsoft.com/office/drawing/2014/main" id="{78772E4F-8F1E-11CA-9723-D9D07530FB16}"/>
              </a:ext>
            </a:extLst>
          </p:cNvPr>
          <p:cNvGraphicFramePr>
            <a:graphicFrameLocks noGrp="1"/>
          </p:cNvGraphicFramePr>
          <p:nvPr>
            <p:ph idx="1"/>
            <p:extLst>
              <p:ext uri="{D42A27DB-BD31-4B8C-83A1-F6EECF244321}">
                <p14:modId xmlns:p14="http://schemas.microsoft.com/office/powerpoint/2010/main" val="218996862"/>
              </p:ext>
            </p:extLst>
          </p:nvPr>
        </p:nvGraphicFramePr>
        <p:xfrm>
          <a:off x="612514" y="1484976"/>
          <a:ext cx="10966836" cy="3366480"/>
        </p:xfrm>
        <a:graphic>
          <a:graphicData uri="http://schemas.openxmlformats.org/drawingml/2006/table">
            <a:tbl>
              <a:tblPr firstRow="1" bandRow="1">
                <a:tableStyleId>{5C22544A-7EE6-4342-B048-85BDC9FD1C3A}</a:tableStyleId>
              </a:tblPr>
              <a:tblGrid>
                <a:gridCol w="2338120">
                  <a:extLst>
                    <a:ext uri="{9D8B030D-6E8A-4147-A177-3AD203B41FA5}">
                      <a16:colId xmlns:a16="http://schemas.microsoft.com/office/drawing/2014/main" val="3229623279"/>
                    </a:ext>
                  </a:extLst>
                </a:gridCol>
                <a:gridCol w="4973104">
                  <a:extLst>
                    <a:ext uri="{9D8B030D-6E8A-4147-A177-3AD203B41FA5}">
                      <a16:colId xmlns:a16="http://schemas.microsoft.com/office/drawing/2014/main" val="868027857"/>
                    </a:ext>
                  </a:extLst>
                </a:gridCol>
                <a:gridCol w="3655612">
                  <a:extLst>
                    <a:ext uri="{9D8B030D-6E8A-4147-A177-3AD203B41FA5}">
                      <a16:colId xmlns:a16="http://schemas.microsoft.com/office/drawing/2014/main" val="4178338037"/>
                    </a:ext>
                  </a:extLst>
                </a:gridCol>
              </a:tblGrid>
              <a:tr h="370840">
                <a:tc>
                  <a:txBody>
                    <a:bodyPr/>
                    <a:lstStyle/>
                    <a:p>
                      <a:r>
                        <a:rPr lang="en-US" dirty="0"/>
                        <a:t>arm</a:t>
                      </a:r>
                    </a:p>
                  </a:txBody>
                  <a:tcPr/>
                </a:tc>
                <a:tc>
                  <a:txBody>
                    <a:bodyPr/>
                    <a:lstStyle/>
                    <a:p>
                      <a:r>
                        <a:rPr lang="en-US" dirty="0"/>
                        <a:t>Mask</a:t>
                      </a:r>
                    </a:p>
                  </a:txBody>
                  <a:tcPr/>
                </a:tc>
                <a:tc>
                  <a:txBody>
                    <a:bodyPr/>
                    <a:lstStyle/>
                    <a:p>
                      <a:r>
                        <a:rPr lang="en-US" dirty="0"/>
                        <a:t>What is being ruled out?</a:t>
                      </a:r>
                    </a:p>
                  </a:txBody>
                  <a:tcPr/>
                </a:tc>
                <a:extLst>
                  <a:ext uri="{0D108BD9-81ED-4DB2-BD59-A6C34878D82A}">
                    <a16:rowId xmlns:a16="http://schemas.microsoft.com/office/drawing/2014/main" val="334407032"/>
                  </a:ext>
                </a:extLst>
              </a:tr>
              <a:tr h="370840">
                <a:tc>
                  <a:txBody>
                    <a:bodyPr/>
                    <a:lstStyle/>
                    <a:p>
                      <a:r>
                        <a:rPr lang="en-US" dirty="0" err="1"/>
                        <a:t>no_graph</a:t>
                      </a:r>
                      <a:endParaRPr lang="en-US" dirty="0"/>
                    </a:p>
                  </a:txBody>
                  <a:tcPr/>
                </a:tc>
                <a:tc>
                  <a:txBody>
                    <a:bodyPr/>
                    <a:lstStyle/>
                    <a:p>
                      <a:r>
                        <a:rPr lang="en-US" dirty="0"/>
                        <a:t>All 1</a:t>
                      </a:r>
                    </a:p>
                  </a:txBody>
                  <a:tcPr/>
                </a:tc>
                <a:tc>
                  <a:txBody>
                    <a:bodyPr/>
                    <a:lstStyle/>
                    <a:p>
                      <a:r>
                        <a:rPr lang="en-US" dirty="0"/>
                        <a:t>Baseline</a:t>
                      </a:r>
                    </a:p>
                  </a:txBody>
                  <a:tcPr/>
                </a:tc>
                <a:extLst>
                  <a:ext uri="{0D108BD9-81ED-4DB2-BD59-A6C34878D82A}">
                    <a16:rowId xmlns:a16="http://schemas.microsoft.com/office/drawing/2014/main" val="1351241044"/>
                  </a:ext>
                </a:extLst>
              </a:tr>
              <a:tr h="370840">
                <a:tc>
                  <a:txBody>
                    <a:bodyPr/>
                    <a:lstStyle/>
                    <a:p>
                      <a:r>
                        <a:rPr lang="en-US" dirty="0" err="1"/>
                        <a:t>random_graph</a:t>
                      </a:r>
                      <a:endParaRPr lang="en-US" dirty="0"/>
                    </a:p>
                  </a:txBody>
                  <a:tcPr/>
                </a:tc>
                <a:tc>
                  <a:txBody>
                    <a:bodyPr/>
                    <a:lstStyle/>
                    <a:p>
                      <a:r>
                        <a:rPr lang="en-US" dirty="0"/>
                        <a:t>Random but same edges</a:t>
                      </a:r>
                    </a:p>
                  </a:txBody>
                  <a:tcPr/>
                </a:tc>
                <a:tc>
                  <a:txBody>
                    <a:bodyPr/>
                    <a:lstStyle/>
                    <a:p>
                      <a:r>
                        <a:rPr lang="en-US" dirty="0"/>
                        <a:t>Only need to add mask</a:t>
                      </a:r>
                    </a:p>
                  </a:txBody>
                  <a:tcPr/>
                </a:tc>
                <a:extLst>
                  <a:ext uri="{0D108BD9-81ED-4DB2-BD59-A6C34878D82A}">
                    <a16:rowId xmlns:a16="http://schemas.microsoft.com/office/drawing/2014/main" val="3520600329"/>
                  </a:ext>
                </a:extLst>
              </a:tr>
              <a:tr h="370840">
                <a:tc>
                  <a:txBody>
                    <a:bodyPr/>
                    <a:lstStyle/>
                    <a:p>
                      <a:r>
                        <a:rPr lang="en-US" dirty="0" err="1"/>
                        <a:t>corr_graph</a:t>
                      </a:r>
                      <a:endParaRPr lang="en-US" dirty="0"/>
                    </a:p>
                  </a:txBody>
                  <a:tcPr/>
                </a:tc>
                <a:tc>
                  <a:txBody>
                    <a:bodyPr/>
                    <a:lstStyle/>
                    <a:p>
                      <a:r>
                        <a:rPr lang="en-US" dirty="0"/>
                        <a:t>Correlation parameters</a:t>
                      </a:r>
                    </a:p>
                  </a:txBody>
                  <a:tcPr/>
                </a:tc>
                <a:tc>
                  <a:txBody>
                    <a:bodyPr/>
                    <a:lstStyle/>
                    <a:p>
                      <a:r>
                        <a:rPr lang="en-US" dirty="0"/>
                        <a:t>Correlation parameter is enough</a:t>
                      </a:r>
                    </a:p>
                  </a:txBody>
                  <a:tcPr/>
                </a:tc>
                <a:extLst>
                  <a:ext uri="{0D108BD9-81ED-4DB2-BD59-A6C34878D82A}">
                    <a16:rowId xmlns:a16="http://schemas.microsoft.com/office/drawing/2014/main" val="3646678435"/>
                  </a:ext>
                </a:extLst>
              </a:tr>
              <a:tr h="370840">
                <a:tc>
                  <a:txBody>
                    <a:bodyPr/>
                    <a:lstStyle/>
                    <a:p>
                      <a:r>
                        <a:rPr lang="en-US" dirty="0" err="1"/>
                        <a:t>lasso_graph</a:t>
                      </a:r>
                      <a:endParaRPr lang="en-US" dirty="0"/>
                    </a:p>
                  </a:txBody>
                  <a:tcPr/>
                </a:tc>
                <a:tc>
                  <a:txBody>
                    <a:bodyPr/>
                    <a:lstStyle/>
                    <a:p>
                      <a:r>
                        <a:rPr lang="en-US" dirty="0"/>
                        <a:t>sparse regression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sparse regression is enough</a:t>
                      </a:r>
                    </a:p>
                  </a:txBody>
                  <a:tcPr/>
                </a:tc>
                <a:extLst>
                  <a:ext uri="{0D108BD9-81ED-4DB2-BD59-A6C34878D82A}">
                    <a16:rowId xmlns:a16="http://schemas.microsoft.com/office/drawing/2014/main" val="2409776491"/>
                  </a:ext>
                </a:extLst>
              </a:tr>
              <a:tr h="370840">
                <a:tc>
                  <a:txBody>
                    <a:bodyPr/>
                    <a:lstStyle/>
                    <a:p>
                      <a:r>
                        <a:rPr lang="en-US" dirty="0" err="1"/>
                        <a:t>notears_style</a:t>
                      </a:r>
                      <a:endParaRPr lang="en-US" dirty="0"/>
                    </a:p>
                  </a:txBody>
                  <a:tcPr/>
                </a:tc>
                <a:tc>
                  <a:txBody>
                    <a:bodyPr/>
                    <a:lstStyle/>
                    <a:p>
                      <a:r>
                        <a:rPr lang="en-US" dirty="0"/>
                        <a:t>Structure learning using only observations</a:t>
                      </a:r>
                    </a:p>
                  </a:txBody>
                  <a:tcPr/>
                </a:tc>
                <a:tc>
                  <a:txBody>
                    <a:bodyPr/>
                    <a:lstStyle/>
                    <a:p>
                      <a:r>
                        <a:rPr lang="en-US" dirty="0"/>
                        <a:t>Observations is enough</a:t>
                      </a:r>
                    </a:p>
                  </a:txBody>
                  <a:tcPr/>
                </a:tc>
                <a:extLst>
                  <a:ext uri="{0D108BD9-81ED-4DB2-BD59-A6C34878D82A}">
                    <a16:rowId xmlns:a16="http://schemas.microsoft.com/office/drawing/2014/main" val="718079052"/>
                  </a:ext>
                </a:extLst>
              </a:tr>
              <a:tr h="399760">
                <a:tc>
                  <a:txBody>
                    <a:bodyPr/>
                    <a:lstStyle/>
                    <a:p>
                      <a:r>
                        <a:rPr lang="en-US" dirty="0"/>
                        <a:t>PETS </a:t>
                      </a:r>
                    </a:p>
                  </a:txBody>
                  <a:tcPr/>
                </a:tc>
                <a:tc>
                  <a:txBody>
                    <a:bodyPr/>
                    <a:lstStyle/>
                    <a:p>
                      <a:r>
                        <a:rPr lang="en-US" dirty="0"/>
                        <a:t>Integrated; no diagrams provided.</a:t>
                      </a:r>
                    </a:p>
                  </a:txBody>
                  <a:tcPr/>
                </a:tc>
                <a:tc>
                  <a:txBody>
                    <a:bodyPr/>
                    <a:lstStyle/>
                    <a:p>
                      <a:r>
                        <a:rPr lang="en-US" dirty="0"/>
                        <a:t>Integrated is enough</a:t>
                      </a:r>
                    </a:p>
                  </a:txBody>
                  <a:tcPr/>
                </a:tc>
                <a:extLst>
                  <a:ext uri="{0D108BD9-81ED-4DB2-BD59-A6C34878D82A}">
                    <a16:rowId xmlns:a16="http://schemas.microsoft.com/office/drawing/2014/main" val="1170219626"/>
                  </a:ext>
                </a:extLst>
              </a:tr>
              <a:tr h="370840">
                <a:tc>
                  <a:txBody>
                    <a:bodyPr/>
                    <a:lstStyle/>
                    <a:p>
                      <a:r>
                        <a:rPr lang="en-US" dirty="0"/>
                        <a:t>PETS + our graph</a:t>
                      </a:r>
                    </a:p>
                  </a:txBody>
                  <a:tcPr/>
                </a:tc>
                <a:tc>
                  <a:txBody>
                    <a:bodyPr/>
                    <a:lstStyle/>
                    <a:p>
                      <a:r>
                        <a:rPr lang="en-US" dirty="0"/>
                        <a:t>Others model</a:t>
                      </a:r>
                    </a:p>
                  </a:txBody>
                  <a:tcPr/>
                </a:tc>
                <a:tc>
                  <a:txBody>
                    <a:bodyPr/>
                    <a:lstStyle/>
                    <a:p>
                      <a:r>
                        <a:rPr lang="en-US" dirty="0"/>
                        <a:t>PETS architecture works</a:t>
                      </a:r>
                    </a:p>
                  </a:txBody>
                  <a:tcPr/>
                </a:tc>
                <a:extLst>
                  <a:ext uri="{0D108BD9-81ED-4DB2-BD59-A6C34878D82A}">
                    <a16:rowId xmlns:a16="http://schemas.microsoft.com/office/drawing/2014/main" val="1321370837"/>
                  </a:ext>
                </a:extLst>
              </a:tr>
              <a:tr h="370840">
                <a:tc>
                  <a:txBody>
                    <a:bodyPr/>
                    <a:lstStyle/>
                    <a:p>
                      <a:r>
                        <a:rPr lang="en-US" dirty="0"/>
                        <a:t>ours</a:t>
                      </a:r>
                    </a:p>
                  </a:txBody>
                  <a:tcPr/>
                </a:tc>
                <a:tc>
                  <a:txBody>
                    <a:bodyPr/>
                    <a:lstStyle/>
                    <a:p>
                      <a:r>
                        <a:rPr lang="en-US" dirty="0"/>
                        <a:t>Effect matrix</a:t>
                      </a:r>
                    </a:p>
                  </a:txBody>
                  <a:tcPr/>
                </a:tc>
                <a:tc>
                  <a:txBody>
                    <a:bodyPr/>
                    <a:lstStyle/>
                    <a:p>
                      <a:r>
                        <a:rPr lang="en-US" dirty="0"/>
                        <a:t>--</a:t>
                      </a:r>
                    </a:p>
                  </a:txBody>
                  <a:tcPr/>
                </a:tc>
                <a:extLst>
                  <a:ext uri="{0D108BD9-81ED-4DB2-BD59-A6C34878D82A}">
                    <a16:rowId xmlns:a16="http://schemas.microsoft.com/office/drawing/2014/main" val="696731059"/>
                  </a:ext>
                </a:extLst>
              </a:tr>
            </a:tbl>
          </a:graphicData>
        </a:graphic>
      </p:graphicFrame>
      <p:sp>
        <p:nvSpPr>
          <p:cNvPr id="5" name="TextBox 4">
            <a:extLst>
              <a:ext uri="{FF2B5EF4-FFF2-40B4-BE49-F238E27FC236}">
                <a16:creationId xmlns:a16="http://schemas.microsoft.com/office/drawing/2014/main" id="{2CC6B2E5-874B-0E63-3D96-E18701AEEC41}"/>
              </a:ext>
            </a:extLst>
          </p:cNvPr>
          <p:cNvSpPr txBox="1"/>
          <p:nvPr/>
        </p:nvSpPr>
        <p:spPr>
          <a:xfrm>
            <a:off x="1921307" y="5187627"/>
            <a:ext cx="8510160" cy="1477328"/>
          </a:xfrm>
          <a:prstGeom prst="rect">
            <a:avLst/>
          </a:prstGeom>
          <a:noFill/>
        </p:spPr>
        <p:txBody>
          <a:bodyPr wrap="square" rtlCol="0">
            <a:spAutoFit/>
          </a:bodyPr>
          <a:lstStyle/>
          <a:p>
            <a:r>
              <a:rPr lang="en-US" b="1" dirty="0"/>
              <a:t>The six graph-comparison arms share the same predictor architecture, training data, loss, and prediction-training schedule. Only their masks differ.</a:t>
            </a:r>
          </a:p>
          <a:p>
            <a:r>
              <a:rPr lang="en-US" b="1" dirty="0"/>
              <a:t>Separately, we evaluate a PETS-style probabilistic ensemble with and without graph-derived input selection.</a:t>
            </a:r>
          </a:p>
        </p:txBody>
      </p:sp>
    </p:spTree>
    <p:extLst>
      <p:ext uri="{BB962C8B-B14F-4D97-AF65-F5344CB8AC3E}">
        <p14:creationId xmlns:p14="http://schemas.microsoft.com/office/powerpoint/2010/main" val="2992612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35A92A98-187D-1D81-86FD-8D40CC69B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B10D6A-0012-5882-784D-8C09EBAECF52}"/>
              </a:ext>
            </a:extLst>
          </p:cNvPr>
          <p:cNvSpPr>
            <a:spLocks noGrp="1"/>
          </p:cNvSpPr>
          <p:nvPr>
            <p:ph type="title"/>
          </p:nvPr>
        </p:nvSpPr>
        <p:spPr>
          <a:xfrm>
            <a:off x="492940" y="473829"/>
            <a:ext cx="11294162" cy="1170252"/>
          </a:xfrm>
        </p:spPr>
        <p:txBody>
          <a:bodyPr vert="horz" lIns="91440" tIns="45720" rIns="91440" bIns="45720" rtlCol="0" anchor="b">
            <a:normAutofit/>
          </a:bodyPr>
          <a:lstStyle/>
          <a:p>
            <a:r>
              <a:rPr lang="en-US" sz="4000" dirty="0"/>
              <a:t>The main result</a:t>
            </a:r>
          </a:p>
        </p:txBody>
      </p:sp>
      <p:pic>
        <p:nvPicPr>
          <p:cNvPr id="6" name="Picture 5" descr="Code generated image">
            <a:extLst>
              <a:ext uri="{FF2B5EF4-FFF2-40B4-BE49-F238E27FC236}">
                <a16:creationId xmlns:a16="http://schemas.microsoft.com/office/drawing/2014/main" id="{6D0FA5F1-6457-1476-5EDA-B7CE3F964588}"/>
              </a:ext>
            </a:extLst>
          </p:cNvPr>
          <p:cNvPicPr>
            <a:picLocks noChangeAspect="1"/>
          </p:cNvPicPr>
          <p:nvPr/>
        </p:nvPicPr>
        <p:blipFill>
          <a:blip r:embed="rId2"/>
          <a:stretch>
            <a:fillRect/>
          </a:stretch>
        </p:blipFill>
        <p:spPr>
          <a:xfrm>
            <a:off x="492940" y="2086624"/>
            <a:ext cx="5559552" cy="3224539"/>
          </a:xfrm>
          <a:prstGeom prst="rect">
            <a:avLst/>
          </a:prstGeom>
        </p:spPr>
      </p:pic>
      <p:pic>
        <p:nvPicPr>
          <p:cNvPr id="4" name="Picture 3" descr="图片">
            <a:extLst>
              <a:ext uri="{FF2B5EF4-FFF2-40B4-BE49-F238E27FC236}">
                <a16:creationId xmlns:a16="http://schemas.microsoft.com/office/drawing/2014/main" id="{3535CF94-C9D5-82BC-7D49-B106D35D713C}"/>
              </a:ext>
            </a:extLst>
          </p:cNvPr>
          <p:cNvPicPr>
            <a:picLocks noChangeAspect="1"/>
          </p:cNvPicPr>
          <p:nvPr/>
        </p:nvPicPr>
        <p:blipFill>
          <a:blip r:embed="rId3"/>
          <a:stretch>
            <a:fillRect/>
          </a:stretch>
        </p:blipFill>
        <p:spPr>
          <a:xfrm>
            <a:off x="6210925" y="2260360"/>
            <a:ext cx="5559552" cy="2877067"/>
          </a:xfrm>
          <a:prstGeom prst="rect">
            <a:avLst/>
          </a:prstGeom>
        </p:spPr>
      </p:pic>
      <p:sp>
        <p:nvSpPr>
          <p:cNvPr id="7" name="TextBox 6">
            <a:extLst>
              <a:ext uri="{FF2B5EF4-FFF2-40B4-BE49-F238E27FC236}">
                <a16:creationId xmlns:a16="http://schemas.microsoft.com/office/drawing/2014/main" id="{52DCF8C7-EEFA-17EC-4825-FFA382CD9408}"/>
              </a:ext>
            </a:extLst>
          </p:cNvPr>
          <p:cNvSpPr txBox="1"/>
          <p:nvPr/>
        </p:nvSpPr>
        <p:spPr>
          <a:xfrm>
            <a:off x="1008873" y="5536048"/>
            <a:ext cx="10404104" cy="923330"/>
          </a:xfrm>
          <a:prstGeom prst="rect">
            <a:avLst/>
          </a:prstGeom>
          <a:noFill/>
        </p:spPr>
        <p:txBody>
          <a:bodyPr wrap="square" rtlCol="0">
            <a:spAutoFit/>
          </a:bodyPr>
          <a:lstStyle/>
          <a:p>
            <a:r>
              <a:rPr lang="en-US"/>
              <a:t>Note that `</a:t>
            </a:r>
            <a:r>
              <a:rPr lang="en-US" dirty="0" err="1"/>
              <a:t>random_graph</a:t>
            </a:r>
            <a:r>
              <a:rPr lang="en-US" dirty="0"/>
              <a:t>` scores only 0.248, which is even lower than the 0.278 achieved by `</a:t>
            </a:r>
            <a:r>
              <a:rPr lang="en-US" dirty="0" err="1"/>
              <a:t>no_graph</a:t>
            </a:r>
            <a:r>
              <a:rPr lang="en-US" dirty="0"/>
              <a:t>`—this implies that providing an incorrect graph is worse than providing no graph at all; what matters is the accuracy of the graph, not merely the application of a mask.</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B2BC019-B779-14CA-39C7-3FB7E8D79A25}"/>
                  </a:ext>
                </a:extLst>
              </p:cNvPr>
              <p:cNvSpPr txBox="1"/>
              <p:nvPr/>
            </p:nvSpPr>
            <p:spPr>
              <a:xfrm>
                <a:off x="5798929" y="1789516"/>
                <a:ext cx="507126" cy="369332"/>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m:oMathPara>
                </a14:m>
                <a:endParaRPr lang="en-US" dirty="0"/>
              </a:p>
            </p:txBody>
          </p:sp>
        </mc:Choice>
        <mc:Fallback xmlns="">
          <p:sp>
            <p:nvSpPr>
              <p:cNvPr id="8" name="TextBox 7">
                <a:extLst>
                  <a:ext uri="{FF2B5EF4-FFF2-40B4-BE49-F238E27FC236}">
                    <a16:creationId xmlns:a16="http://schemas.microsoft.com/office/drawing/2014/main" id="{2B2BC019-B779-14CA-39C7-3FB7E8D79A25}"/>
                  </a:ext>
                </a:extLst>
              </p:cNvPr>
              <p:cNvSpPr txBox="1">
                <a:spLocks noRot="1" noChangeAspect="1" noMove="1" noResize="1" noEditPoints="1" noAdjustHandles="1" noChangeArrowheads="1" noChangeShapeType="1" noTextEdit="1"/>
              </p:cNvSpPr>
              <p:nvPr/>
            </p:nvSpPr>
            <p:spPr>
              <a:xfrm>
                <a:off x="5798929" y="1789516"/>
                <a:ext cx="507126" cy="36933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26622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09E03E-C2F4-6D0D-A5DC-B55B529A4A44}"/>
              </a:ext>
            </a:extLst>
          </p:cNvPr>
          <p:cNvSpPr>
            <a:spLocks noGrp="1"/>
          </p:cNvSpPr>
          <p:nvPr>
            <p:ph type="title"/>
          </p:nvPr>
        </p:nvSpPr>
        <p:spPr>
          <a:xfrm>
            <a:off x="614677" y="603504"/>
            <a:ext cx="10872216" cy="1527048"/>
          </a:xfrm>
        </p:spPr>
        <p:txBody>
          <a:bodyPr anchor="b">
            <a:normAutofit/>
          </a:bodyPr>
          <a:lstStyle/>
          <a:p>
            <a:r>
              <a:rPr lang="en-US" dirty="0"/>
              <a:t>The graph can be transferred to someone else's model.</a:t>
            </a:r>
          </a:p>
        </p:txBody>
      </p:sp>
      <p:pic>
        <p:nvPicPr>
          <p:cNvPr id="5" name="Picture 4" descr="graph_improvement_across_architectures.png">
            <a:extLst>
              <a:ext uri="{FF2B5EF4-FFF2-40B4-BE49-F238E27FC236}">
                <a16:creationId xmlns:a16="http://schemas.microsoft.com/office/drawing/2014/main" id="{FB741C1D-6685-DDF7-A93B-DEE30889FEBA}"/>
              </a:ext>
            </a:extLst>
          </p:cNvPr>
          <p:cNvPicPr>
            <a:picLocks noChangeAspect="1"/>
          </p:cNvPicPr>
          <p:nvPr/>
        </p:nvPicPr>
        <p:blipFill>
          <a:blip r:embed="rId2"/>
          <a:stretch>
            <a:fillRect/>
          </a:stretch>
        </p:blipFill>
        <p:spPr>
          <a:xfrm>
            <a:off x="425695" y="2441273"/>
            <a:ext cx="5625090" cy="2939109"/>
          </a:xfrm>
          <a:prstGeom prst="rect">
            <a:avLst/>
          </a:prstGeom>
        </p:spPr>
      </p:pic>
      <p:sp>
        <p:nvSpPr>
          <p:cNvPr id="3" name="Content Placeholder 2">
            <a:extLst>
              <a:ext uri="{FF2B5EF4-FFF2-40B4-BE49-F238E27FC236}">
                <a16:creationId xmlns:a16="http://schemas.microsoft.com/office/drawing/2014/main" id="{F431D609-9217-667E-483D-3875F0015ABF}"/>
              </a:ext>
            </a:extLst>
          </p:cNvPr>
          <p:cNvSpPr>
            <a:spLocks noGrp="1"/>
          </p:cNvSpPr>
          <p:nvPr>
            <p:ph idx="1"/>
          </p:nvPr>
        </p:nvSpPr>
        <p:spPr>
          <a:xfrm>
            <a:off x="6096000" y="2441273"/>
            <a:ext cx="5385816" cy="3817942"/>
          </a:xfrm>
        </p:spPr>
        <p:txBody>
          <a:bodyPr anchor="t">
            <a:normAutofit/>
          </a:bodyPr>
          <a:lstStyle/>
          <a:p>
            <a:r>
              <a:rPr lang="en-US" sz="1800" dirty="0"/>
              <a:t>What is PETS, why we compare it:</a:t>
            </a:r>
          </a:p>
          <a:p>
            <a:pPr lvl="1"/>
            <a:r>
              <a:rPr lang="en-US" dirty="0"/>
              <a:t>The architecture of PETS is similar to the architecture we are dealing with, namely:</a:t>
            </a:r>
          </a:p>
          <a:p>
            <a:pPr lvl="1"/>
            <a:r>
              <a:rPr lang="en-US" dirty="0"/>
              <a:t>Input 90 dimensions -&gt; Linear() + </a:t>
            </a:r>
            <a:r>
              <a:rPr lang="en-US" dirty="0" err="1"/>
              <a:t>SiLU</a:t>
            </a:r>
            <a:r>
              <a:rPr lang="en-US" dirty="0"/>
              <a:t>-&gt; Linear + </a:t>
            </a:r>
            <a:r>
              <a:rPr lang="en-US" dirty="0" err="1"/>
              <a:t>SiLU</a:t>
            </a:r>
            <a:r>
              <a:rPr lang="en-US" dirty="0"/>
              <a:t> -&gt; Linear(_, 112), 112 means 56 mean value and 56 std.</a:t>
            </a:r>
          </a:p>
          <a:p>
            <a:pPr lvl="1"/>
            <a:r>
              <a:rPr lang="en-US" dirty="0"/>
              <a:t>The point is: it also use 90 current state as input and predicts the same 56 dimensional future state as output.</a:t>
            </a:r>
          </a:p>
        </p:txBody>
      </p:sp>
      <p:sp>
        <p:nvSpPr>
          <p:cNvPr id="6" name="TextBox 5">
            <a:extLst>
              <a:ext uri="{FF2B5EF4-FFF2-40B4-BE49-F238E27FC236}">
                <a16:creationId xmlns:a16="http://schemas.microsoft.com/office/drawing/2014/main" id="{D063FC62-F32A-EE84-F562-4CDA29B8BAAE}"/>
              </a:ext>
            </a:extLst>
          </p:cNvPr>
          <p:cNvSpPr txBox="1"/>
          <p:nvPr/>
        </p:nvSpPr>
        <p:spPr>
          <a:xfrm>
            <a:off x="1755378" y="6069830"/>
            <a:ext cx="9028434" cy="369332"/>
          </a:xfrm>
          <a:prstGeom prst="rect">
            <a:avLst/>
          </a:prstGeom>
          <a:noFill/>
        </p:spPr>
        <p:txBody>
          <a:bodyPr wrap="none" rtlCol="0">
            <a:spAutoFit/>
          </a:bodyPr>
          <a:lstStyle/>
          <a:p>
            <a:r>
              <a:rPr lang="en-US" sz="1600" i="1" dirty="0">
                <a:solidFill>
                  <a:srgbClr val="C00000"/>
                </a:solidFill>
              </a:rPr>
              <a:t>The only different is: I did not put the action in, so PETS might be better on (state, action) area</a:t>
            </a:r>
            <a:r>
              <a:rPr lang="en-US" dirty="0"/>
              <a:t>.</a:t>
            </a:r>
          </a:p>
        </p:txBody>
      </p:sp>
    </p:spTree>
    <p:extLst>
      <p:ext uri="{BB962C8B-B14F-4D97-AF65-F5344CB8AC3E}">
        <p14:creationId xmlns:p14="http://schemas.microsoft.com/office/powerpoint/2010/main" val="376801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FE22C-8E83-E41B-4E7D-7099332AB0FE}"/>
              </a:ext>
            </a:extLst>
          </p:cNvPr>
          <p:cNvSpPr>
            <a:spLocks noGrp="1"/>
          </p:cNvSpPr>
          <p:nvPr>
            <p:ph type="title"/>
          </p:nvPr>
        </p:nvSpPr>
        <p:spPr/>
        <p:txBody>
          <a:bodyPr/>
          <a:lstStyle/>
          <a:p>
            <a:r>
              <a:rPr lang="en-US" dirty="0"/>
              <a:t>The overview</a:t>
            </a:r>
          </a:p>
        </p:txBody>
      </p:sp>
      <p:sp>
        <p:nvSpPr>
          <p:cNvPr id="3" name="Content Placeholder 2">
            <a:extLst>
              <a:ext uri="{FF2B5EF4-FFF2-40B4-BE49-F238E27FC236}">
                <a16:creationId xmlns:a16="http://schemas.microsoft.com/office/drawing/2014/main" id="{2F56EF54-506C-12EE-1803-9C2EF332DBCF}"/>
              </a:ext>
            </a:extLst>
          </p:cNvPr>
          <p:cNvSpPr>
            <a:spLocks noGrp="1"/>
          </p:cNvSpPr>
          <p:nvPr>
            <p:ph idx="1"/>
          </p:nvPr>
        </p:nvSpPr>
        <p:spPr/>
        <p:txBody>
          <a:bodyPr/>
          <a:lstStyle/>
          <a:p>
            <a:r>
              <a:rPr lang="en-US" dirty="0"/>
              <a:t>My idea and claim are similar to the paper CDL / CDL-A, for example </a:t>
            </a:r>
            <a:r>
              <a:rPr lang="en-US" b="1" dirty="0"/>
              <a:t>Wang, Z., Xiao, X., Xu, Z., Zhu, Y. and Stone, P. (2022). </a:t>
            </a:r>
            <a:r>
              <a:rPr lang="en-US" b="1" i="1" dirty="0"/>
              <a:t>Causal Dynamics Learning for Task-Independent State Abstraction</a:t>
            </a:r>
            <a:r>
              <a:rPr lang="en-US" b="1" dirty="0"/>
              <a:t>. ICML 2022./</a:t>
            </a:r>
            <a:r>
              <a:rPr lang="en-US" dirty="0"/>
              <a:t>Learning Causal Dynamics Models in Object-Oriented Environments. 2024 and so on. These are </a:t>
            </a:r>
            <a:r>
              <a:rPr lang="en-US" altLang="zh-CN" dirty="0"/>
              <a:t>all</a:t>
            </a:r>
            <a:r>
              <a:rPr lang="en-US" dirty="0"/>
              <a:t> aim the dynamics learning. </a:t>
            </a:r>
          </a:p>
          <a:p>
            <a:r>
              <a:rPr lang="en-US" dirty="0"/>
              <a:t>From their pipeline, they also used action as input, but we don’t, we only has state and depends on this state to predict next state, which means we have lots of progress to do on it. But they did not test if the graph can be transferred to another model, we tested and got the better result on PETS, also, CDL is not an innovation in methodology.</a:t>
            </a:r>
          </a:p>
        </p:txBody>
      </p:sp>
    </p:spTree>
    <p:extLst>
      <p:ext uri="{BB962C8B-B14F-4D97-AF65-F5344CB8AC3E}">
        <p14:creationId xmlns:p14="http://schemas.microsoft.com/office/powerpoint/2010/main" val="3103665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D103D-46A7-6BA4-FDD0-392780628A4B}"/>
              </a:ext>
            </a:extLst>
          </p:cNvPr>
          <p:cNvSpPr>
            <a:spLocks noGrp="1"/>
          </p:cNvSpPr>
          <p:nvPr>
            <p:ph type="title"/>
          </p:nvPr>
        </p:nvSpPr>
        <p:spPr/>
        <p:txBody>
          <a:bodyPr/>
          <a:lstStyle/>
          <a:p>
            <a:r>
              <a:rPr lang="en-US" dirty="0"/>
              <a:t>Reference</a:t>
            </a:r>
          </a:p>
        </p:txBody>
      </p:sp>
      <p:sp>
        <p:nvSpPr>
          <p:cNvPr id="3" name="Content Placeholder 2">
            <a:extLst>
              <a:ext uri="{FF2B5EF4-FFF2-40B4-BE49-F238E27FC236}">
                <a16:creationId xmlns:a16="http://schemas.microsoft.com/office/drawing/2014/main" id="{C0664A26-8270-05E3-036E-83CFD72A1F97}"/>
              </a:ext>
            </a:extLst>
          </p:cNvPr>
          <p:cNvSpPr>
            <a:spLocks noGrp="1"/>
          </p:cNvSpPr>
          <p:nvPr>
            <p:ph idx="1"/>
          </p:nvPr>
        </p:nvSpPr>
        <p:spPr>
          <a:xfrm>
            <a:off x="612647" y="1715532"/>
            <a:ext cx="11184118" cy="5142468"/>
          </a:xfrm>
        </p:spPr>
        <p:txBody>
          <a:bodyPr>
            <a:normAutofit fontScale="70000" lnSpcReduction="20000"/>
          </a:bodyPr>
          <a:lstStyle/>
          <a:p>
            <a:r>
              <a:rPr lang="en-US" dirty="0">
                <a:solidFill>
                  <a:srgbClr val="C00000"/>
                </a:solidFill>
              </a:rPr>
              <a:t>Zheng, X., Dan, C., Aragam, B., Ravikumar, P. and Xing, E.P. (2020) ‘Learning sparse nonparametric DAGs’, in </a:t>
            </a:r>
            <a:r>
              <a:rPr lang="en-US" i="1" dirty="0">
                <a:solidFill>
                  <a:srgbClr val="C00000"/>
                </a:solidFill>
              </a:rPr>
              <a:t>Proceedings of the 23rd International Conference on Artificial Intelligence and Statistics (AISTATS)</a:t>
            </a:r>
            <a:r>
              <a:rPr lang="en-US" dirty="0">
                <a:solidFill>
                  <a:srgbClr val="C00000"/>
                </a:solidFill>
              </a:rPr>
              <a:t>. Palermo, Italy: PMLR, pp. 3634–3644.</a:t>
            </a:r>
          </a:p>
          <a:p>
            <a:r>
              <a:rPr lang="en-US" dirty="0">
                <a:solidFill>
                  <a:srgbClr val="C00000"/>
                </a:solidFill>
              </a:rPr>
              <a:t>Brouillard, P., Lachapelle, S., Lacoste, A., Lacoste-Julien, S. and Drouin, A. (2020) ‘Differentiable causal discovery from interventional data’, in </a:t>
            </a:r>
            <a:r>
              <a:rPr lang="en-US" i="1" dirty="0">
                <a:solidFill>
                  <a:srgbClr val="C00000"/>
                </a:solidFill>
              </a:rPr>
              <a:t>Advances in Neural Information Processing Systems 34 (</a:t>
            </a:r>
            <a:r>
              <a:rPr lang="en-US" i="1" dirty="0" err="1">
                <a:solidFill>
                  <a:srgbClr val="C00000"/>
                </a:solidFill>
              </a:rPr>
              <a:t>NeurIPS</a:t>
            </a:r>
            <a:r>
              <a:rPr lang="en-US" i="1" dirty="0">
                <a:solidFill>
                  <a:srgbClr val="C00000"/>
                </a:solidFill>
              </a:rPr>
              <a:t> 2020)</a:t>
            </a:r>
            <a:r>
              <a:rPr lang="en-US" dirty="0">
                <a:solidFill>
                  <a:srgbClr val="C00000"/>
                </a:solidFill>
              </a:rPr>
              <a:t>. Vancouver, Canada: Curran Associates, Inc.</a:t>
            </a:r>
          </a:p>
          <a:p>
            <a:r>
              <a:rPr lang="en-US" dirty="0"/>
              <a:t>Zaheer, M., </a:t>
            </a:r>
            <a:r>
              <a:rPr lang="en-US" dirty="0" err="1"/>
              <a:t>Kottur</a:t>
            </a:r>
            <a:r>
              <a:rPr lang="en-US" dirty="0"/>
              <a:t>, S., </a:t>
            </a:r>
            <a:r>
              <a:rPr lang="en-US" dirty="0" err="1"/>
              <a:t>Ravanbakhsh</a:t>
            </a:r>
            <a:r>
              <a:rPr lang="en-US" dirty="0"/>
              <a:t>, S., </a:t>
            </a:r>
            <a:r>
              <a:rPr lang="en-US" dirty="0" err="1"/>
              <a:t>Póczos</a:t>
            </a:r>
            <a:r>
              <a:rPr lang="en-US" dirty="0"/>
              <a:t>, B., </a:t>
            </a:r>
            <a:r>
              <a:rPr lang="en-US" dirty="0" err="1"/>
              <a:t>Salakhutdinov</a:t>
            </a:r>
            <a:r>
              <a:rPr lang="en-US" dirty="0"/>
              <a:t>, R. and Smola, A. (2017) ‘Deep Sets’, in </a:t>
            </a:r>
            <a:r>
              <a:rPr lang="en-US" i="1" dirty="0"/>
              <a:t>Advances in Neural Information Processing Systems 30 (</a:t>
            </a:r>
            <a:r>
              <a:rPr lang="en-US" i="1" dirty="0" err="1"/>
              <a:t>NeurIPS</a:t>
            </a:r>
            <a:r>
              <a:rPr lang="en-US" i="1" dirty="0"/>
              <a:t> 2017)</a:t>
            </a:r>
            <a:r>
              <a:rPr lang="en-US" dirty="0"/>
              <a:t>. Long Beach, CA: Curran Associates, Inc., pp. 3391–3401.</a:t>
            </a:r>
          </a:p>
          <a:p>
            <a:r>
              <a:rPr lang="en-US" dirty="0"/>
              <a:t>Scarselli, F., Gori, M., Tsoi, A.C., </a:t>
            </a:r>
            <a:r>
              <a:rPr lang="en-US" dirty="0" err="1"/>
              <a:t>Hagenbuchner</a:t>
            </a:r>
            <a:r>
              <a:rPr lang="en-US" dirty="0"/>
              <a:t>, M. and Monfardini, G. (2009) ‘The graph neural network model’, </a:t>
            </a:r>
            <a:r>
              <a:rPr lang="en-US" i="1" dirty="0"/>
              <a:t>IEEE Transactions on Neural Networks</a:t>
            </a:r>
            <a:r>
              <a:rPr lang="en-US" dirty="0"/>
              <a:t>, 20(1), pp. 61–80. </a:t>
            </a:r>
            <a:r>
              <a:rPr lang="en-US" dirty="0" err="1"/>
              <a:t>doi</a:t>
            </a:r>
            <a:r>
              <a:rPr lang="en-US" dirty="0"/>
              <a:t>: 10.1109/TNN.2008.2005605.</a:t>
            </a:r>
          </a:p>
          <a:p>
            <a:r>
              <a:rPr lang="en-US" dirty="0"/>
              <a:t>Chua, K., Calandra, R., McAllister, R. and Levine, S. (2018) ‘Deep reinforcement learning in a handful of trials using probabilistic dynamics models’, in </a:t>
            </a:r>
            <a:r>
              <a:rPr lang="en-US" i="1" dirty="0"/>
              <a:t>Advances in Neural Information Processing Systems 31 (</a:t>
            </a:r>
            <a:r>
              <a:rPr lang="en-US" i="1" dirty="0" err="1"/>
              <a:t>NeurIPS</a:t>
            </a:r>
            <a:r>
              <a:rPr lang="en-US" i="1" dirty="0"/>
              <a:t> 2018)</a:t>
            </a:r>
            <a:r>
              <a:rPr lang="en-US" dirty="0"/>
              <a:t>. Montréal, Canada: Curran Associates, Inc., pp. 4759–4770.</a:t>
            </a:r>
          </a:p>
          <a:p>
            <a:r>
              <a:rPr lang="en-US" dirty="0">
                <a:solidFill>
                  <a:srgbClr val="C00000"/>
                </a:solidFill>
              </a:rPr>
              <a:t>Ahmed, O., </a:t>
            </a:r>
            <a:r>
              <a:rPr lang="en-US" dirty="0" err="1">
                <a:solidFill>
                  <a:srgbClr val="C00000"/>
                </a:solidFill>
              </a:rPr>
              <a:t>Träuble</a:t>
            </a:r>
            <a:r>
              <a:rPr lang="en-US" dirty="0">
                <a:solidFill>
                  <a:srgbClr val="C00000"/>
                </a:solidFill>
              </a:rPr>
              <a:t>, F., Goyal, A., Neitz, A., Wüthrich, M., Bengio, Y., </a:t>
            </a:r>
            <a:r>
              <a:rPr lang="en-US" dirty="0" err="1">
                <a:solidFill>
                  <a:srgbClr val="C00000"/>
                </a:solidFill>
              </a:rPr>
              <a:t>Schölkopf</a:t>
            </a:r>
            <a:r>
              <a:rPr lang="en-US" dirty="0">
                <a:solidFill>
                  <a:srgbClr val="C00000"/>
                </a:solidFill>
              </a:rPr>
              <a:t>, B. and Bauer, S. (2021) ‘</a:t>
            </a:r>
            <a:r>
              <a:rPr lang="en-US" dirty="0" err="1">
                <a:solidFill>
                  <a:srgbClr val="C00000"/>
                </a:solidFill>
              </a:rPr>
              <a:t>CausalWorld</a:t>
            </a:r>
            <a:r>
              <a:rPr lang="en-US" dirty="0">
                <a:solidFill>
                  <a:srgbClr val="C00000"/>
                </a:solidFill>
              </a:rPr>
              <a:t>: A robotic manipulation benchmark for causal structure and transfer learning’, in </a:t>
            </a:r>
            <a:r>
              <a:rPr lang="en-US" i="1" dirty="0">
                <a:solidFill>
                  <a:srgbClr val="C00000"/>
                </a:solidFill>
              </a:rPr>
              <a:t>International Conference on Learning Representations (ICLR 2021)</a:t>
            </a:r>
            <a:r>
              <a:rPr lang="en-US" dirty="0">
                <a:solidFill>
                  <a:srgbClr val="C00000"/>
                </a:solidFill>
              </a:rPr>
              <a:t>.</a:t>
            </a:r>
          </a:p>
          <a:p>
            <a:r>
              <a:rPr lang="en-US" dirty="0">
                <a:solidFill>
                  <a:srgbClr val="C00000"/>
                </a:solidFill>
              </a:rPr>
              <a:t>Wang, Z., Xiao, X., Xu, Z., Zhu, Y. and Stone, P., 2022. Causal dynamics learning for task-independent state abstraction. </a:t>
            </a:r>
            <a:r>
              <a:rPr lang="en-US" i="1" dirty="0" err="1">
                <a:solidFill>
                  <a:srgbClr val="C00000"/>
                </a:solidFill>
              </a:rPr>
              <a:t>arXiv</a:t>
            </a:r>
            <a:r>
              <a:rPr lang="en-US" i="1" dirty="0">
                <a:solidFill>
                  <a:srgbClr val="C00000"/>
                </a:solidFill>
              </a:rPr>
              <a:t> preprint arXiv:2206.13452</a:t>
            </a:r>
            <a:r>
              <a:rPr lang="en-US" dirty="0">
                <a:solidFill>
                  <a:srgbClr val="C00000"/>
                </a:solidFill>
              </a:rPr>
              <a:t>.</a:t>
            </a:r>
          </a:p>
          <a:p>
            <a:r>
              <a:rPr lang="en-US" dirty="0">
                <a:solidFill>
                  <a:srgbClr val="C00000"/>
                </a:solidFill>
              </a:rPr>
              <a:t>Yu, Z., Ruan, J. and Xing, D., 2024. Learning causal dynamics models in object-oriented environments. </a:t>
            </a:r>
            <a:r>
              <a:rPr lang="en-US" i="1" dirty="0" err="1">
                <a:solidFill>
                  <a:srgbClr val="C00000"/>
                </a:solidFill>
              </a:rPr>
              <a:t>arXiv</a:t>
            </a:r>
            <a:r>
              <a:rPr lang="en-US" i="1" dirty="0">
                <a:solidFill>
                  <a:srgbClr val="C00000"/>
                </a:solidFill>
              </a:rPr>
              <a:t> preprint arXiv:2405.12615</a:t>
            </a:r>
            <a:r>
              <a:rPr lang="en-US" dirty="0">
                <a:solidFill>
                  <a:srgbClr val="C00000"/>
                </a:solidFill>
              </a:rPr>
              <a:t>.</a:t>
            </a:r>
          </a:p>
        </p:txBody>
      </p:sp>
    </p:spTree>
    <p:extLst>
      <p:ext uri="{BB962C8B-B14F-4D97-AF65-F5344CB8AC3E}">
        <p14:creationId xmlns:p14="http://schemas.microsoft.com/office/powerpoint/2010/main" val="2414472487"/>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1475</TotalTime>
  <Words>1369</Words>
  <Application>Microsoft Office PowerPoint</Application>
  <PresentationFormat>Widescreen</PresentationFormat>
  <Paragraphs>139</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Cambria Math</vt:lpstr>
      <vt:lpstr>Neue Haas Grotesk Text Pro</vt:lpstr>
      <vt:lpstr>VanillaVTI</vt:lpstr>
      <vt:lpstr>Benchmark on existing data</vt:lpstr>
      <vt:lpstr>The goal—Enable the model to make accurate predictions even in unseen environments.</vt:lpstr>
      <vt:lpstr>Benchmark selection</vt:lpstr>
      <vt:lpstr>The benchmark: CausalWorld</vt:lpstr>
      <vt:lpstr>The method</vt:lpstr>
      <vt:lpstr>Experiment</vt:lpstr>
      <vt:lpstr>The main result</vt:lpstr>
      <vt:lpstr>The graph can be transferred to someone else's model.</vt:lpstr>
      <vt:lpstr>The overview</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 Lin</dc:creator>
  <cp:lastModifiedBy>Chu Lin</cp:lastModifiedBy>
  <cp:revision>29</cp:revision>
  <dcterms:created xsi:type="dcterms:W3CDTF">2026-08-20T15:11:20Z</dcterms:created>
  <dcterms:modified xsi:type="dcterms:W3CDTF">2026-09-11T18:48:44Z</dcterms:modified>
</cp:coreProperties>
</file>