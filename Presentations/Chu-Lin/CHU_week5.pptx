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8" d="100"/>
          <a:sy n="98" d="100"/>
        </p:scale>
        <p:origin x="341"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7/24/2026</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38660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7/24/2026</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258151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7/24/2026</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0171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7/24/2026</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47679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7/24/2026</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856286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7/24/2026</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111649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7/24/2026</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93717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7/24/2026</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108017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7/24/2026</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888699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7/24/2026</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176158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7/24/2026</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951340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7/24/2026</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8318844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4" name="Picture 3" descr="Complex math formulas on a blackboard">
            <a:extLst>
              <a:ext uri="{FF2B5EF4-FFF2-40B4-BE49-F238E27FC236}">
                <a16:creationId xmlns:a16="http://schemas.microsoft.com/office/drawing/2014/main" id="{581BF735-F559-9818-2F65-958540F6B63B}"/>
              </a:ext>
            </a:extLst>
          </p:cNvPr>
          <p:cNvPicPr>
            <a:picLocks noChangeAspect="1"/>
          </p:cNvPicPr>
          <p:nvPr/>
        </p:nvPicPr>
        <p:blipFill>
          <a:blip r:embed="rId2">
            <a:alphaModFix amt="40000"/>
          </a:blip>
          <a:srcRect t="18199" r="-1" b="4726"/>
          <a:stretch>
            <a:fillRect/>
          </a:stretch>
        </p:blipFill>
        <p:spPr>
          <a:xfrm>
            <a:off x="1525" y="10"/>
            <a:ext cx="12188951" cy="6857990"/>
          </a:xfrm>
          <a:prstGeom prst="rect">
            <a:avLst/>
          </a:prstGeom>
        </p:spPr>
      </p:pic>
      <p:grpSp>
        <p:nvGrpSpPr>
          <p:cNvPr id="13"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4" name="Oval 13">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6626179-E2D7-DECA-9474-95B6CA113D77}"/>
              </a:ext>
            </a:extLst>
          </p:cNvPr>
          <p:cNvSpPr>
            <a:spLocks noGrp="1"/>
          </p:cNvSpPr>
          <p:nvPr>
            <p:ph type="ctrTitle"/>
          </p:nvPr>
        </p:nvSpPr>
        <p:spPr>
          <a:xfrm>
            <a:off x="2562606" y="1122363"/>
            <a:ext cx="7063739" cy="2387600"/>
          </a:xfrm>
        </p:spPr>
        <p:txBody>
          <a:bodyPr>
            <a:normAutofit/>
          </a:bodyPr>
          <a:lstStyle/>
          <a:p>
            <a:r>
              <a:rPr lang="en-US" dirty="0">
                <a:solidFill>
                  <a:srgbClr val="FFFFFF"/>
                </a:solidFill>
              </a:rPr>
              <a:t>Causal Representation</a:t>
            </a:r>
          </a:p>
        </p:txBody>
      </p:sp>
      <p:sp>
        <p:nvSpPr>
          <p:cNvPr id="3" name="Subtitle 2">
            <a:extLst>
              <a:ext uri="{FF2B5EF4-FFF2-40B4-BE49-F238E27FC236}">
                <a16:creationId xmlns:a16="http://schemas.microsoft.com/office/drawing/2014/main" id="{1576A4C0-76B5-B2FB-BF4D-E78394072FD1}"/>
              </a:ext>
            </a:extLst>
          </p:cNvPr>
          <p:cNvSpPr>
            <a:spLocks noGrp="1"/>
          </p:cNvSpPr>
          <p:nvPr>
            <p:ph type="subTitle" idx="1"/>
          </p:nvPr>
        </p:nvSpPr>
        <p:spPr>
          <a:xfrm>
            <a:off x="2562606" y="3602038"/>
            <a:ext cx="7063739" cy="1655762"/>
          </a:xfrm>
        </p:spPr>
        <p:txBody>
          <a:bodyPr>
            <a:normAutofit/>
          </a:bodyPr>
          <a:lstStyle/>
          <a:p>
            <a:r>
              <a:rPr lang="en-US" dirty="0">
                <a:solidFill>
                  <a:srgbClr val="FFFFFF"/>
                </a:solidFill>
              </a:rPr>
              <a:t>chu</a:t>
            </a:r>
          </a:p>
        </p:txBody>
      </p:sp>
    </p:spTree>
    <p:extLst>
      <p:ext uri="{BB962C8B-B14F-4D97-AF65-F5344CB8AC3E}">
        <p14:creationId xmlns:p14="http://schemas.microsoft.com/office/powerpoint/2010/main" val="309880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245F-72E9-9BC1-6CB1-722151254347}"/>
              </a:ext>
            </a:extLst>
          </p:cNvPr>
          <p:cNvSpPr>
            <a:spLocks noGrp="1"/>
          </p:cNvSpPr>
          <p:nvPr>
            <p:ph type="title"/>
          </p:nvPr>
        </p:nvSpPr>
        <p:spPr/>
        <p:txBody>
          <a:bodyPr>
            <a:normAutofit fontScale="90000"/>
          </a:bodyPr>
          <a:lstStyle/>
          <a:p>
            <a:r>
              <a:rPr lang="en-US" dirty="0"/>
              <a:t>Causal Representation Learning for Out-of-Distribution Reinforcement Learning</a:t>
            </a:r>
          </a:p>
        </p:txBody>
      </p:sp>
      <p:sp>
        <p:nvSpPr>
          <p:cNvPr id="3" name="Content Placeholder 2">
            <a:extLst>
              <a:ext uri="{FF2B5EF4-FFF2-40B4-BE49-F238E27FC236}">
                <a16:creationId xmlns:a16="http://schemas.microsoft.com/office/drawing/2014/main" id="{A5C92983-7469-9D34-B72C-05B6377AE686}"/>
              </a:ext>
            </a:extLst>
          </p:cNvPr>
          <p:cNvSpPr>
            <a:spLocks noGrp="1"/>
          </p:cNvSpPr>
          <p:nvPr>
            <p:ph idx="1"/>
          </p:nvPr>
        </p:nvSpPr>
        <p:spPr/>
        <p:txBody>
          <a:bodyPr/>
          <a:lstStyle/>
          <a:p>
            <a:r>
              <a:rPr lang="en-US" dirty="0"/>
              <a:t>In normal RL, we know State → Policy</a:t>
            </a:r>
          </a:p>
          <a:p>
            <a:endParaRPr lang="en-US" dirty="0"/>
          </a:p>
          <a:p>
            <a:pPr lvl="1"/>
            <a:r>
              <a:rPr lang="en-US" dirty="0"/>
              <a:t>Just like the image on the right, the robot</a:t>
            </a:r>
          </a:p>
          <a:p>
            <a:pPr marL="457200" lvl="1" indent="0">
              <a:buNone/>
            </a:pPr>
            <a:r>
              <a:rPr lang="en-US" dirty="0"/>
              <a:t>Will fail since OOD problem.</a:t>
            </a:r>
          </a:p>
          <a:p>
            <a:endParaRPr lang="en-US" dirty="0"/>
          </a:p>
          <a:p>
            <a:endParaRPr lang="en-US" dirty="0"/>
          </a:p>
          <a:p>
            <a:endParaRPr lang="en-US" dirty="0"/>
          </a:p>
          <a:p>
            <a:r>
              <a:rPr lang="en-US" dirty="0"/>
              <a:t>The main idea on this paper is:</a:t>
            </a:r>
          </a:p>
          <a:p>
            <a:r>
              <a:rPr lang="en-US" dirty="0"/>
              <a:t>There are actually two types of factors in the environment:</a:t>
            </a:r>
          </a:p>
          <a:p>
            <a:pPr lvl="1"/>
            <a:r>
              <a:rPr lang="en-US" dirty="0"/>
              <a:t>Causal factors (stable): </a:t>
            </a:r>
            <a:r>
              <a:rPr lang="en-US" b="1" dirty="0"/>
              <a:t>items position, speed, and contact relationship</a:t>
            </a:r>
          </a:p>
          <a:p>
            <a:pPr lvl="1"/>
            <a:r>
              <a:rPr lang="en-US" dirty="0"/>
              <a:t>Spurious correlation factors (changes): </a:t>
            </a:r>
            <a:r>
              <a:rPr lang="en-US" b="1" dirty="0"/>
              <a:t>background color, lighting, camera angle</a:t>
            </a:r>
          </a:p>
          <a:p>
            <a:endParaRPr lang="en-US" dirty="0"/>
          </a:p>
        </p:txBody>
      </p:sp>
      <p:pic>
        <p:nvPicPr>
          <p:cNvPr id="1026" name="Picture 2" descr="Load Predefined Grid World Environments - MATLAB &amp; Simulink">
            <a:extLst>
              <a:ext uri="{FF2B5EF4-FFF2-40B4-BE49-F238E27FC236}">
                <a16:creationId xmlns:a16="http://schemas.microsoft.com/office/drawing/2014/main" id="{0BB0CF96-DC5F-800D-0012-9C8F021E93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577" b="15576"/>
          <a:stretch>
            <a:fillRect/>
          </a:stretch>
        </p:blipFill>
        <p:spPr bwMode="auto">
          <a:xfrm>
            <a:off x="5441950" y="1969294"/>
            <a:ext cx="3257550" cy="2032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CHNEIDER IT MANAGEMENT - Microsoft &amp; all Software">
            <a:extLst>
              <a:ext uri="{FF2B5EF4-FFF2-40B4-BE49-F238E27FC236}">
                <a16:creationId xmlns:a16="http://schemas.microsoft.com/office/drawing/2014/main" id="{71B77516-7807-8311-E3FE-E6A2D2BDA5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2514" y="1863376"/>
            <a:ext cx="2243836" cy="22438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2FF5D68-F264-9357-E310-151C33EF2071}"/>
              </a:ext>
            </a:extLst>
          </p:cNvPr>
          <p:cNvSpPr txBox="1"/>
          <p:nvPr/>
        </p:nvSpPr>
        <p:spPr>
          <a:xfrm>
            <a:off x="8632992" y="2722987"/>
            <a:ext cx="626030" cy="369332"/>
          </a:xfrm>
          <a:prstGeom prst="rect">
            <a:avLst/>
          </a:prstGeom>
          <a:noFill/>
        </p:spPr>
        <p:txBody>
          <a:bodyPr wrap="square" rtlCol="0">
            <a:spAutoFit/>
          </a:bodyPr>
          <a:lstStyle/>
          <a:p>
            <a:r>
              <a:rPr lang="en-US" dirty="0"/>
              <a:t>→</a:t>
            </a:r>
          </a:p>
        </p:txBody>
      </p:sp>
      <p:sp>
        <p:nvSpPr>
          <p:cNvPr id="5" name="TextBox 4">
            <a:extLst>
              <a:ext uri="{FF2B5EF4-FFF2-40B4-BE49-F238E27FC236}">
                <a16:creationId xmlns:a16="http://schemas.microsoft.com/office/drawing/2014/main" id="{398B6E7B-C9B8-76ED-E683-1E749BC7BE50}"/>
              </a:ext>
            </a:extLst>
          </p:cNvPr>
          <p:cNvSpPr txBox="1"/>
          <p:nvPr/>
        </p:nvSpPr>
        <p:spPr>
          <a:xfrm>
            <a:off x="6317107" y="4192367"/>
            <a:ext cx="5257800" cy="369332"/>
          </a:xfrm>
          <a:prstGeom prst="rect">
            <a:avLst/>
          </a:prstGeom>
          <a:noFill/>
        </p:spPr>
        <p:txBody>
          <a:bodyPr wrap="square" rtlCol="0">
            <a:spAutoFit/>
          </a:bodyPr>
          <a:lstStyle/>
          <a:p>
            <a:r>
              <a:rPr lang="en-US" dirty="0"/>
              <a:t>Target training		   outside of distribution</a:t>
            </a:r>
          </a:p>
        </p:txBody>
      </p:sp>
    </p:spTree>
    <p:extLst>
      <p:ext uri="{BB962C8B-B14F-4D97-AF65-F5344CB8AC3E}">
        <p14:creationId xmlns:p14="http://schemas.microsoft.com/office/powerpoint/2010/main" val="154513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BB4ECDFC-8958-4B83-B01F-58AEFB867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C1D68778-F94A-4C5B-9118-3B992BB97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sp>
        <p:nvSpPr>
          <p:cNvPr id="2" name="Title 1">
            <a:extLst>
              <a:ext uri="{FF2B5EF4-FFF2-40B4-BE49-F238E27FC236}">
                <a16:creationId xmlns:a16="http://schemas.microsoft.com/office/drawing/2014/main" id="{67E0CAB0-A102-8D57-7794-E1AC1E1B240C}"/>
              </a:ext>
            </a:extLst>
          </p:cNvPr>
          <p:cNvSpPr>
            <a:spLocks noGrp="1"/>
          </p:cNvSpPr>
          <p:nvPr>
            <p:ph type="title"/>
          </p:nvPr>
        </p:nvSpPr>
        <p:spPr>
          <a:xfrm>
            <a:off x="777240" y="500648"/>
            <a:ext cx="4606280" cy="961053"/>
          </a:xfrm>
        </p:spPr>
        <p:txBody>
          <a:bodyPr anchor="b">
            <a:normAutofit/>
          </a:bodyPr>
          <a:lstStyle/>
          <a:p>
            <a:r>
              <a:rPr lang="en-US" sz="4400" dirty="0"/>
              <a:t>Compare to CLIP</a:t>
            </a:r>
          </a:p>
        </p:txBody>
      </p:sp>
      <p:sp>
        <p:nvSpPr>
          <p:cNvPr id="3" name="Content Placeholder 2">
            <a:extLst>
              <a:ext uri="{FF2B5EF4-FFF2-40B4-BE49-F238E27FC236}">
                <a16:creationId xmlns:a16="http://schemas.microsoft.com/office/drawing/2014/main" id="{FA16634A-58D2-C752-96B5-02DCD293FE47}"/>
              </a:ext>
            </a:extLst>
          </p:cNvPr>
          <p:cNvSpPr>
            <a:spLocks noGrp="1"/>
          </p:cNvSpPr>
          <p:nvPr>
            <p:ph idx="1"/>
          </p:nvPr>
        </p:nvSpPr>
        <p:spPr>
          <a:xfrm>
            <a:off x="777240" y="1713297"/>
            <a:ext cx="4606280" cy="4463665"/>
          </a:xfrm>
        </p:spPr>
        <p:txBody>
          <a:bodyPr anchor="t">
            <a:normAutofit/>
          </a:bodyPr>
          <a:lstStyle/>
          <a:p>
            <a:r>
              <a:rPr lang="en-US" sz="1800" dirty="0"/>
              <a:t>CLIP model:</a:t>
            </a:r>
          </a:p>
          <a:p>
            <a:pPr lvl="1"/>
            <a:r>
              <a:rPr lang="en-US" sz="1600" dirty="0"/>
              <a:t>You can give the model some prompt words, and let the model to detect the item from the image. Let’s say, if we said the cup on the table, and CLIP will find the images which are close to what the words said.</a:t>
            </a:r>
          </a:p>
          <a:p>
            <a:pPr lvl="1"/>
            <a:endParaRPr lang="en-US" sz="1800" dirty="0"/>
          </a:p>
          <a:p>
            <a:r>
              <a:rPr lang="en-US" sz="1800" dirty="0"/>
              <a:t>Example:</a:t>
            </a:r>
          </a:p>
          <a:p>
            <a:pPr lvl="1"/>
            <a:r>
              <a:rPr lang="en-US" sz="1600" dirty="0"/>
              <a:t>If we look into the image, the main item should be the cup instead of background and lighting.</a:t>
            </a:r>
          </a:p>
          <a:p>
            <a:pPr lvl="1"/>
            <a:r>
              <a:rPr lang="en-US" sz="1600" dirty="0"/>
              <a:t>The main idea here is trying to learn an embedding vector that only contains the </a:t>
            </a:r>
            <a:r>
              <a:rPr lang="en-US" sz="1600" b="1" dirty="0"/>
              <a:t>“CUP”</a:t>
            </a:r>
          </a:p>
          <a:p>
            <a:pPr lvl="1"/>
            <a:endParaRPr lang="en-US" sz="1600" b="1" dirty="0"/>
          </a:p>
        </p:txBody>
      </p:sp>
      <p:grpSp>
        <p:nvGrpSpPr>
          <p:cNvPr id="2061" name="decorative circles">
            <a:extLst>
              <a:ext uri="{FF2B5EF4-FFF2-40B4-BE49-F238E27FC236}">
                <a16:creationId xmlns:a16="http://schemas.microsoft.com/office/drawing/2014/main" id="{B29252B9-8F48-4CC0-A640-09C8A8C24E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461374" cy="5966848"/>
            <a:chOff x="6008627" y="289695"/>
            <a:chExt cx="5461374" cy="5966848"/>
          </a:xfrm>
        </p:grpSpPr>
        <p:sp>
          <p:nvSpPr>
            <p:cNvPr id="2062" name="Oval 2061">
              <a:extLst>
                <a:ext uri="{FF2B5EF4-FFF2-40B4-BE49-F238E27FC236}">
                  <a16:creationId xmlns:a16="http://schemas.microsoft.com/office/drawing/2014/main" id="{28548D73-0AE2-434D-B75C-77D24F5ED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Oval 2062">
              <a:extLst>
                <a:ext uri="{FF2B5EF4-FFF2-40B4-BE49-F238E27FC236}">
                  <a16:creationId xmlns:a16="http://schemas.microsoft.com/office/drawing/2014/main" id="{9BC26AF4-B368-411A-BF70-74F07FA77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Oval 2063">
              <a:extLst>
                <a:ext uri="{FF2B5EF4-FFF2-40B4-BE49-F238E27FC236}">
                  <a16:creationId xmlns:a16="http://schemas.microsoft.com/office/drawing/2014/main" id="{6BE4EEE7-FD25-4B68-819D-487E4D78F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Oval 2064">
              <a:extLst>
                <a:ext uri="{FF2B5EF4-FFF2-40B4-BE49-F238E27FC236}">
                  <a16:creationId xmlns:a16="http://schemas.microsoft.com/office/drawing/2014/main" id="{6E52A4F8-9F27-4959-B733-FDA9FCA2E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654708"/>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Oval 2065">
              <a:extLst>
                <a:ext uri="{FF2B5EF4-FFF2-40B4-BE49-F238E27FC236}">
                  <a16:creationId xmlns:a16="http://schemas.microsoft.com/office/drawing/2014/main" id="{F13DA742-C9EF-49AA-ADEB-553344930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2" name="Picture 4" descr="24x24x24 Portable LED Photo lighting Studio Shooting Tent Kit All In O – PhotoVatika.com">
            <a:extLst>
              <a:ext uri="{FF2B5EF4-FFF2-40B4-BE49-F238E27FC236}">
                <a16:creationId xmlns:a16="http://schemas.microsoft.com/office/drawing/2014/main" id="{19A1CA39-AD69-F84A-BE40-7741CED5F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 b="-3"/>
          <a:stretch>
            <a:fillRect/>
          </a:stretch>
        </p:blipFill>
        <p:spPr bwMode="auto">
          <a:xfrm>
            <a:off x="6306574" y="552339"/>
            <a:ext cx="5728174" cy="5728174"/>
          </a:xfrm>
          <a:custGeom>
            <a:avLst/>
            <a:gdLst/>
            <a:ahLst/>
            <a:cxnLst/>
            <a:rect l="l" t="t" r="r" b="b"/>
            <a:pathLst>
              <a:path w="3111160" h="3111160">
                <a:moveTo>
                  <a:pt x="1555580" y="0"/>
                </a:moveTo>
                <a:cubicBezTo>
                  <a:pt x="2414703" y="0"/>
                  <a:pt x="3111160" y="696457"/>
                  <a:pt x="3111160" y="1555580"/>
                </a:cubicBezTo>
                <a:cubicBezTo>
                  <a:pt x="3111160" y="2414703"/>
                  <a:pt x="2414703" y="3111160"/>
                  <a:pt x="1555580" y="3111160"/>
                </a:cubicBezTo>
                <a:cubicBezTo>
                  <a:pt x="696457" y="3111160"/>
                  <a:pt x="0" y="2414703"/>
                  <a:pt x="0" y="1555580"/>
                </a:cubicBezTo>
                <a:cubicBezTo>
                  <a:pt x="0" y="696457"/>
                  <a:pt x="696457" y="0"/>
                  <a:pt x="1555580"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831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A7CD0-E813-1548-63A6-15A34CAF71F1}"/>
              </a:ext>
            </a:extLst>
          </p:cNvPr>
          <p:cNvSpPr>
            <a:spLocks noGrp="1"/>
          </p:cNvSpPr>
          <p:nvPr>
            <p:ph type="title"/>
          </p:nvPr>
        </p:nvSpPr>
        <p:spPr/>
        <p:txBody>
          <a:bodyPr/>
          <a:lstStyle/>
          <a:p>
            <a:r>
              <a:rPr lang="en-US" dirty="0"/>
              <a:t>How to make 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D51F79-B29D-D7FA-4352-6DA5A48EF2BD}"/>
                  </a:ext>
                </a:extLst>
              </p:cNvPr>
              <p:cNvSpPr>
                <a:spLocks noGrp="1"/>
              </p:cNvSpPr>
              <p:nvPr>
                <p:ph idx="1"/>
              </p:nvPr>
            </p:nvSpPr>
            <p:spPr/>
            <p:txBody>
              <a:bodyPr>
                <a:normAutofit/>
              </a:bodyPr>
              <a:lstStyle/>
              <a:p>
                <a:r>
                  <a:rPr lang="en-US" dirty="0"/>
                  <a:t>It used Environment Interventions, for example:</a:t>
                </a:r>
              </a:p>
              <a:p>
                <a:pPr lvl="1"/>
                <a:r>
                  <a:rPr lang="en-US" dirty="0"/>
                  <a:t>Env1: red background, Env2: blue background, Env3: green background</a:t>
                </a:r>
              </a:p>
              <a:p>
                <a:pPr lvl="1"/>
                <a:r>
                  <a:rPr lang="en-US" dirty="0"/>
                  <a:t>However:</a:t>
                </a:r>
              </a:p>
              <a:p>
                <a:pPr lvl="1"/>
                <a:r>
                  <a:rPr lang="en-US" dirty="0"/>
                  <a:t>Physical rules are same, missions are same as well</a:t>
                </a:r>
              </a:p>
              <a:p>
                <a:r>
                  <a:rPr lang="en-US" dirty="0"/>
                  <a:t>Thus:</a:t>
                </a:r>
              </a:p>
              <a:p>
                <a:pPr marL="457200" lvl="1"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𝑐</m:t>
                          </m:r>
                        </m:sub>
                      </m:sSub>
                      <m:r>
                        <a:rPr lang="en-US" b="0" i="1" smtClean="0">
                          <a:latin typeface="Cambria Math" panose="02040503050406030204" pitchFamily="18" charset="0"/>
                        </a:rPr>
                        <m:t>(</m:t>
                      </m:r>
                      <m:r>
                        <a:rPr lang="en-US" b="0" i="1" smtClean="0">
                          <a:latin typeface="Cambria Math" panose="02040503050406030204" pitchFamily="18" charset="0"/>
                        </a:rPr>
                        <m:t>𝐸𝑛𝑣</m:t>
                      </m:r>
                      <m:r>
                        <a:rPr lang="en-US" b="0" i="1" smtClean="0">
                          <a:latin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𝑧</m:t>
                          </m:r>
                        </m:e>
                        <m:sub>
                          <m:r>
                            <a:rPr lang="en-US" b="0" i="1" smtClean="0">
                              <a:latin typeface="Cambria Math" panose="02040503050406030204" pitchFamily="18" charset="0"/>
                              <a:ea typeface="Cambria Math" panose="02040503050406030204" pitchFamily="18" charset="0"/>
                            </a:rPr>
                            <m:t>𝑐</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𝐸𝑛𝑣</m:t>
                      </m:r>
                      <m:r>
                        <a:rPr lang="en-US" b="0" i="1" smtClean="0">
                          <a:latin typeface="Cambria Math" panose="02040503050406030204" pitchFamily="18" charset="0"/>
                          <a:ea typeface="Cambria Math" panose="02040503050406030204" pitchFamily="18" charset="0"/>
                        </a:rPr>
                        <m:t>2)≈</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𝑧</m:t>
                          </m:r>
                        </m:e>
                        <m:sub>
                          <m:r>
                            <a:rPr lang="en-US" b="0" i="1" smtClean="0">
                              <a:latin typeface="Cambria Math" panose="02040503050406030204" pitchFamily="18" charset="0"/>
                              <a:ea typeface="Cambria Math" panose="02040503050406030204" pitchFamily="18" charset="0"/>
                            </a:rPr>
                            <m:t>𝑐</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𝐸𝑛𝑣</m:t>
                      </m:r>
                      <m:r>
                        <a:rPr lang="en-US" b="0" i="1" smtClean="0">
                          <a:latin typeface="Cambria Math" panose="02040503050406030204" pitchFamily="18" charset="0"/>
                          <a:ea typeface="Cambria Math" panose="02040503050406030204" pitchFamily="18" charset="0"/>
                        </a:rPr>
                        <m:t>3)</m:t>
                      </m:r>
                    </m:oMath>
                  </m:oMathPara>
                </a14:m>
                <a:endParaRPr lang="en-US" dirty="0"/>
              </a:p>
              <a:p>
                <a:pPr marL="457200" lvl="1" indent="0">
                  <a:buNone/>
                </a:pP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𝑠</m:t>
                        </m:r>
                      </m:sub>
                    </m:sSub>
                  </m:oMath>
                </a14:m>
                <a:r>
                  <a:rPr lang="en-US" dirty="0"/>
                  <a:t> can change.</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𝑐</m:t>
                        </m:r>
                      </m:sub>
                    </m:sSub>
                  </m:oMath>
                </a14:m>
                <a:r>
                  <a:rPr lang="en-US" dirty="0"/>
                  <a:t>: The factors that truly determine the success of a mission (robot catch the cup)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𝑠</m:t>
                        </m:r>
                      </m:sub>
                    </m:sSub>
                  </m:oMath>
                </a14:m>
                <a:r>
                  <a:rPr lang="en-US" dirty="0"/>
                  <a:t>: Although it is related to the training data, it is not actually the cause. (color)</a:t>
                </a:r>
              </a:p>
              <a:p>
                <a:r>
                  <a:rPr lang="en-US" dirty="0"/>
                  <a:t>For BECAUSE:</a:t>
                </a:r>
              </a:p>
              <a:p>
                <a:pPr marL="457200" lvl="1" indent="0" algn="ctr">
                  <a:buNone/>
                </a:pPr>
                <a:r>
                  <a:rPr lang="el-GR" dirty="0"/>
                  <a:t>φ → </a:t>
                </a:r>
                <a:r>
                  <a:rPr lang="en-US" dirty="0"/>
                  <a:t>M → </a:t>
                </a:r>
                <a:r>
                  <a:rPr lang="el-GR" dirty="0"/>
                  <a:t>μ</a:t>
                </a:r>
                <a:endParaRPr lang="en-US" dirty="0"/>
              </a:p>
              <a:p>
                <a:r>
                  <a:rPr lang="en-US" dirty="0"/>
                  <a:t>Current method is trying to use this pipeline:</a:t>
                </a:r>
              </a:p>
              <a:p>
                <a:pPr marL="457200" lvl="1" indent="0" algn="ctr">
                  <a:buNone/>
                </a:pPr>
                <a:r>
                  <a:rPr lang="en-US" dirty="0"/>
                  <a:t>Image →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smtClean="0">
                            <a:latin typeface="Cambria Math" panose="02040503050406030204" pitchFamily="18" charset="0"/>
                          </a:rPr>
                          <m:t>𝑐</m:t>
                        </m:r>
                      </m:sub>
                    </m:sSub>
                    <m:r>
                      <a:rPr lang="en-US" i="1" dirty="0">
                        <a:latin typeface="Cambria Math" panose="02040503050406030204" pitchFamily="18" charset="0"/>
                      </a:rPr>
                      <m:t> </m:t>
                    </m:r>
                  </m:oMath>
                </a14:m>
                <a:r>
                  <a:rPr lang="en-US" dirty="0"/>
                  <a:t>→ action (more causality)</a:t>
                </a:r>
              </a:p>
              <a:p>
                <a:endParaRPr lang="en-US" dirty="0"/>
              </a:p>
            </p:txBody>
          </p:sp>
        </mc:Choice>
        <mc:Fallback xmlns="">
          <p:sp>
            <p:nvSpPr>
              <p:cNvPr id="3" name="Content Placeholder 2">
                <a:extLst>
                  <a:ext uri="{FF2B5EF4-FFF2-40B4-BE49-F238E27FC236}">
                    <a16:creationId xmlns:a16="http://schemas.microsoft.com/office/drawing/2014/main" id="{D1D51F79-B29D-D7FA-4352-6DA5A48EF2BD}"/>
                  </a:ext>
                </a:extLst>
              </p:cNvPr>
              <p:cNvSpPr>
                <a:spLocks noGrp="1" noRot="1" noChangeAspect="1" noMove="1" noResize="1" noEditPoints="1" noAdjustHandles="1" noChangeArrowheads="1" noChangeShapeType="1" noTextEdit="1"/>
              </p:cNvSpPr>
              <p:nvPr>
                <p:ph idx="1"/>
              </p:nvPr>
            </p:nvSpPr>
            <p:spPr>
              <a:blipFill>
                <a:blip r:embed="rId2"/>
                <a:stretch>
                  <a:fillRect l="-515" t="-1401" b="-1120"/>
                </a:stretch>
              </a:blipFill>
            </p:spPr>
            <p:txBody>
              <a:bodyPr/>
              <a:lstStyle/>
              <a:p>
                <a:r>
                  <a:rPr lang="en-US">
                    <a:noFill/>
                  </a:rPr>
                  <a:t> </a:t>
                </a:r>
              </a:p>
            </p:txBody>
          </p:sp>
        </mc:Fallback>
      </mc:AlternateContent>
    </p:spTree>
    <p:extLst>
      <p:ext uri="{BB962C8B-B14F-4D97-AF65-F5344CB8AC3E}">
        <p14:creationId xmlns:p14="http://schemas.microsoft.com/office/powerpoint/2010/main" val="4084806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1" name="Rectangle 3080">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3083"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3076" name="Oval 3075">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Oval 3076">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8" name="Oval 3077">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0" name="Oval 3079">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2" name="Oval 3081">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9" name="Oval 3098">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1" name="Oval 3100">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3" name="Oval 3102">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1" name="Oval 3110">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13" name="Oval 3112">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5" name="Freeform: Shape 3114">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3117" name="Freeform: Shape 3116">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3118" name="Freeform: Shape 3117">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3119" name="Oval 3118">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120" name="Freeform: Shape 3119">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3100" name="Rectangle 3099">
            <a:extLst>
              <a:ext uri="{FF2B5EF4-FFF2-40B4-BE49-F238E27FC236}">
                <a16:creationId xmlns:a16="http://schemas.microsoft.com/office/drawing/2014/main" id="{C15F290E-3EF8-4E00-9394-4376BC7E5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Rectangle 3101">
            <a:extLst>
              <a:ext uri="{FF2B5EF4-FFF2-40B4-BE49-F238E27FC236}">
                <a16:creationId xmlns:a16="http://schemas.microsoft.com/office/drawing/2014/main" id="{E302DD1E-3175-4198-A813-50E0A1A03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sp>
        <p:nvSpPr>
          <p:cNvPr id="2" name="Title 1">
            <a:extLst>
              <a:ext uri="{FF2B5EF4-FFF2-40B4-BE49-F238E27FC236}">
                <a16:creationId xmlns:a16="http://schemas.microsoft.com/office/drawing/2014/main" id="{A6B37B41-F5CA-1525-0BC6-54D098EA5553}"/>
              </a:ext>
            </a:extLst>
          </p:cNvPr>
          <p:cNvSpPr>
            <a:spLocks noGrp="1"/>
          </p:cNvSpPr>
          <p:nvPr>
            <p:ph type="title"/>
          </p:nvPr>
        </p:nvSpPr>
        <p:spPr>
          <a:xfrm>
            <a:off x="777239" y="265324"/>
            <a:ext cx="6424138" cy="1909763"/>
          </a:xfrm>
        </p:spPr>
        <p:txBody>
          <a:bodyPr vert="horz" lIns="91440" tIns="45720" rIns="91440" bIns="45720" rtlCol="0" anchor="b">
            <a:normAutofit/>
          </a:bodyPr>
          <a:lstStyle/>
          <a:p>
            <a:r>
              <a:rPr lang="en-US" dirty="0"/>
              <a:t>‘Change’ that reveals cause.</a:t>
            </a:r>
          </a:p>
        </p:txBody>
      </p:sp>
      <p:sp>
        <p:nvSpPr>
          <p:cNvPr id="3" name="Content Placeholder 2">
            <a:extLst>
              <a:ext uri="{FF2B5EF4-FFF2-40B4-BE49-F238E27FC236}">
                <a16:creationId xmlns:a16="http://schemas.microsoft.com/office/drawing/2014/main" id="{B56930A9-EE34-F3A2-70C3-293AAABF42CB}"/>
              </a:ext>
            </a:extLst>
          </p:cNvPr>
          <p:cNvSpPr>
            <a:spLocks noGrp="1"/>
          </p:cNvSpPr>
          <p:nvPr>
            <p:ph idx="1"/>
          </p:nvPr>
        </p:nvSpPr>
        <p:spPr>
          <a:xfrm>
            <a:off x="848873" y="2134200"/>
            <a:ext cx="6424138" cy="4427566"/>
          </a:xfrm>
        </p:spPr>
        <p:txBody>
          <a:bodyPr vert="horz" lIns="91440" tIns="45720" rIns="91440" bIns="45720" rtlCol="0">
            <a:normAutofit lnSpcReduction="10000"/>
          </a:bodyPr>
          <a:lstStyle/>
          <a:p>
            <a:pPr marL="0" indent="0">
              <a:buNone/>
            </a:pPr>
            <a:r>
              <a:rPr lang="en-US" sz="2400" dirty="0"/>
              <a:t>Afterward, as know from this method: background change, but the main item will not change, even change will be similar item. Let’s review the previous image first:</a:t>
            </a:r>
          </a:p>
          <a:p>
            <a:pPr marL="0" indent="0">
              <a:buNone/>
            </a:pPr>
            <a:endParaRPr lang="en-US" sz="2400" dirty="0"/>
          </a:p>
          <a:p>
            <a:pPr marL="0" indent="0">
              <a:buNone/>
            </a:pPr>
            <a:r>
              <a:rPr lang="en-US" sz="2400" dirty="0"/>
              <a:t>Doesn’t it seem like you change the situations and how the variables will be? Learning Causal Representations from Interventional Data.</a:t>
            </a:r>
          </a:p>
          <a:p>
            <a:pPr marL="0" indent="0">
              <a:buNone/>
            </a:pPr>
            <a:endParaRPr lang="en-US" sz="2400" dirty="0"/>
          </a:p>
          <a:p>
            <a:pPr marL="0" indent="0">
              <a:buNone/>
            </a:pPr>
            <a:r>
              <a:rPr lang="en-US" sz="2400" dirty="0"/>
              <a:t>“BECAUSE” method only use the offline dataset and try to build up the graph to guess the causality. That is why this method is more likely </a:t>
            </a:r>
            <a:r>
              <a:rPr lang="en-US" sz="2400"/>
              <a:t>causality than BECAUSE method.</a:t>
            </a:r>
            <a:endParaRPr lang="en-US" sz="2400" dirty="0"/>
          </a:p>
        </p:txBody>
      </p:sp>
      <p:grpSp>
        <p:nvGrpSpPr>
          <p:cNvPr id="3104" name="decorative circles">
            <a:extLst>
              <a:ext uri="{FF2B5EF4-FFF2-40B4-BE49-F238E27FC236}">
                <a16:creationId xmlns:a16="http://schemas.microsoft.com/office/drawing/2014/main" id="{94DBDAF8-EBDD-4C45-A706-9D9372776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93625" y="927887"/>
            <a:ext cx="3205279" cy="2727847"/>
            <a:chOff x="7893625" y="927887"/>
            <a:chExt cx="3205279" cy="2727847"/>
          </a:xfrm>
        </p:grpSpPr>
        <p:sp>
          <p:nvSpPr>
            <p:cNvPr id="3121" name="Oval 3120">
              <a:extLst>
                <a:ext uri="{FF2B5EF4-FFF2-40B4-BE49-F238E27FC236}">
                  <a16:creationId xmlns:a16="http://schemas.microsoft.com/office/drawing/2014/main" id="{F80F3152-BCDF-4457-A3B3-8249A20F3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93625" y="3428999"/>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2" name="Oval 3121">
              <a:extLst>
                <a:ext uri="{FF2B5EF4-FFF2-40B4-BE49-F238E27FC236}">
                  <a16:creationId xmlns:a16="http://schemas.microsoft.com/office/drawing/2014/main" id="{0B29FDCE-AB0C-412F-9DAB-710D32357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55295" y="2842228"/>
              <a:ext cx="466441" cy="466441"/>
            </a:xfrm>
            <a:prstGeom prst="ellipse">
              <a:avLst/>
            </a:prstGeom>
            <a:solidFill>
              <a:schemeClr val="tx2">
                <a:lumMod val="50000"/>
                <a:lumOff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3" name="Oval 3122">
              <a:extLst>
                <a:ext uri="{FF2B5EF4-FFF2-40B4-BE49-F238E27FC236}">
                  <a16:creationId xmlns:a16="http://schemas.microsoft.com/office/drawing/2014/main" id="{C37EE50C-3A28-4E1E-A049-3D9AE6701B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35619" y="296208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4" name="Oval 3123">
              <a:extLst>
                <a:ext uri="{FF2B5EF4-FFF2-40B4-BE49-F238E27FC236}">
                  <a16:creationId xmlns:a16="http://schemas.microsoft.com/office/drawing/2014/main" id="{DE17B132-BA9D-4965-A6DA-35AC92F01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4744" y="927887"/>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5" name="Oval 3124">
              <a:extLst>
                <a:ext uri="{FF2B5EF4-FFF2-40B4-BE49-F238E27FC236}">
                  <a16:creationId xmlns:a16="http://schemas.microsoft.com/office/drawing/2014/main" id="{318126EF-5D3C-4A33-B897-166896E48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7963" y="1870595"/>
              <a:ext cx="346588" cy="34658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0" name="Oval 3109">
              <a:extLst>
                <a:ext uri="{FF2B5EF4-FFF2-40B4-BE49-F238E27FC236}">
                  <a16:creationId xmlns:a16="http://schemas.microsoft.com/office/drawing/2014/main" id="{82896F34-2215-40B5-9F3E-EBFED91555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7963" y="2560850"/>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12" name="Oval 1">
            <a:extLst>
              <a:ext uri="{FF2B5EF4-FFF2-40B4-BE49-F238E27FC236}">
                <a16:creationId xmlns:a16="http://schemas.microsoft.com/office/drawing/2014/main" id="{4D89BF1D-E45E-44BB-9216-BFAE75030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42678" y="1"/>
            <a:ext cx="2661680" cy="2424023"/>
          </a:xfrm>
          <a:custGeom>
            <a:avLst/>
            <a:gdLst>
              <a:gd name="connsiteX0" fmla="*/ 572886 w 2661680"/>
              <a:gd name="connsiteY0" fmla="*/ 0 h 2424023"/>
              <a:gd name="connsiteX1" fmla="*/ 2088794 w 2661680"/>
              <a:gd name="connsiteY1" fmla="*/ 0 h 2424023"/>
              <a:gd name="connsiteX2" fmla="*/ 2177378 w 2661680"/>
              <a:gd name="connsiteY2" fmla="*/ 66242 h 2424023"/>
              <a:gd name="connsiteX3" fmla="*/ 2661680 w 2661680"/>
              <a:gd name="connsiteY3" fmla="*/ 1093183 h 2424023"/>
              <a:gd name="connsiteX4" fmla="*/ 1330840 w 2661680"/>
              <a:gd name="connsiteY4" fmla="*/ 2424023 h 2424023"/>
              <a:gd name="connsiteX5" fmla="*/ 0 w 2661680"/>
              <a:gd name="connsiteY5" fmla="*/ 1093183 h 2424023"/>
              <a:gd name="connsiteX6" fmla="*/ 484302 w 2661680"/>
              <a:gd name="connsiteY6" fmla="*/ 66242 h 2424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1680" h="2424023">
                <a:moveTo>
                  <a:pt x="572886" y="0"/>
                </a:moveTo>
                <a:lnTo>
                  <a:pt x="2088794" y="0"/>
                </a:lnTo>
                <a:lnTo>
                  <a:pt x="2177378" y="66242"/>
                </a:lnTo>
                <a:cubicBezTo>
                  <a:pt x="2473153" y="310338"/>
                  <a:pt x="2661680" y="679744"/>
                  <a:pt x="2661680" y="1093183"/>
                </a:cubicBezTo>
                <a:cubicBezTo>
                  <a:pt x="2661680" y="1828186"/>
                  <a:pt x="2065843" y="2424023"/>
                  <a:pt x="1330840" y="2424023"/>
                </a:cubicBezTo>
                <a:cubicBezTo>
                  <a:pt x="595837" y="2424023"/>
                  <a:pt x="0" y="1828186"/>
                  <a:pt x="0" y="1093183"/>
                </a:cubicBezTo>
                <a:cubicBezTo>
                  <a:pt x="0" y="679744"/>
                  <a:pt x="188527" y="310338"/>
                  <a:pt x="484302" y="66242"/>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14" name="Graphic 3113">
            <a:extLst>
              <a:ext uri="{FF2B5EF4-FFF2-40B4-BE49-F238E27FC236}">
                <a16:creationId xmlns:a16="http://schemas.microsoft.com/office/drawing/2014/main" id="{8AF1A097-A8ED-4501-AC9A-5837403995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duotone>
              <a:schemeClr val="accent1">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997280" y="16389"/>
            <a:ext cx="2407635" cy="2407635"/>
          </a:xfrm>
          <a:prstGeom prst="rect">
            <a:avLst/>
          </a:prstGeom>
        </p:spPr>
      </p:pic>
      <p:pic>
        <p:nvPicPr>
          <p:cNvPr id="3116" name="Graphic 3115">
            <a:extLst>
              <a:ext uri="{FF2B5EF4-FFF2-40B4-BE49-F238E27FC236}">
                <a16:creationId xmlns:a16="http://schemas.microsoft.com/office/drawing/2014/main" id="{DCDFF4F4-6536-42D5-8DCF-DAA715FC1C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3"/>
              </a:ext>
            </a:extLst>
          </a:blip>
          <a:srcRect l="18631" t="18963" r="52721" b="17441"/>
          <a:stretch/>
        </p:blipFill>
        <p:spPr>
          <a:xfrm>
            <a:off x="10854666" y="0"/>
            <a:ext cx="1334286" cy="2962082"/>
          </a:xfrm>
          <a:prstGeom prst="rect">
            <a:avLst/>
          </a:prstGeom>
        </p:spPr>
      </p:pic>
      <p:pic>
        <p:nvPicPr>
          <p:cNvPr id="3074" name="Picture 2" descr="Pearl's Ladder of Causation. The first rung, associations, only... | Download Scientific Diagram">
            <a:extLst>
              <a:ext uri="{FF2B5EF4-FFF2-40B4-BE49-F238E27FC236}">
                <a16:creationId xmlns:a16="http://schemas.microsoft.com/office/drawing/2014/main" id="{C67FF0CC-A992-DDE6-78EF-6052A3BBF2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 b="1538"/>
          <a:stretch>
            <a:fillRect/>
          </a:stretch>
        </p:blipFill>
        <p:spPr bwMode="auto">
          <a:xfrm>
            <a:off x="8120360" y="2848923"/>
            <a:ext cx="4071640" cy="4009077"/>
          </a:xfrm>
          <a:custGeom>
            <a:avLst/>
            <a:gdLst/>
            <a:ahLst/>
            <a:cxnLst/>
            <a:rect l="l" t="t" r="r" b="b"/>
            <a:pathLst>
              <a:path w="4012858" h="3951198">
                <a:moveTo>
                  <a:pt x="2361523" y="0"/>
                </a:moveTo>
                <a:cubicBezTo>
                  <a:pt x="2932125" y="0"/>
                  <a:pt x="3455460" y="202372"/>
                  <a:pt x="3863671" y="539257"/>
                </a:cubicBezTo>
                <a:lnTo>
                  <a:pt x="4012858" y="674848"/>
                </a:lnTo>
                <a:lnTo>
                  <a:pt x="4012858" y="3951198"/>
                </a:lnTo>
                <a:lnTo>
                  <a:pt x="618807" y="3951198"/>
                </a:lnTo>
                <a:lnTo>
                  <a:pt x="539257" y="3863671"/>
                </a:lnTo>
                <a:cubicBezTo>
                  <a:pt x="202372" y="3455461"/>
                  <a:pt x="0" y="2932125"/>
                  <a:pt x="0" y="2361523"/>
                </a:cubicBezTo>
                <a:cubicBezTo>
                  <a:pt x="0" y="1057290"/>
                  <a:pt x="1057290" y="0"/>
                  <a:pt x="2361523"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171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BB48C-E424-F379-9A27-D75FC932AA3F}"/>
              </a:ext>
            </a:extLst>
          </p:cNvPr>
          <p:cNvSpPr>
            <a:spLocks noGrp="1"/>
          </p:cNvSpPr>
          <p:nvPr>
            <p:ph type="title"/>
          </p:nvPr>
        </p:nvSpPr>
        <p:spPr/>
        <p:txBody>
          <a:bodyPr/>
          <a:lstStyle/>
          <a:p>
            <a:r>
              <a:rPr lang="en-US" dirty="0"/>
              <a:t>Current papers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0FBD5B-AB1B-7087-5FA2-9F704858E3BD}"/>
                  </a:ext>
                </a:extLst>
              </p:cNvPr>
              <p:cNvSpPr>
                <a:spLocks noGrp="1"/>
              </p:cNvSpPr>
              <p:nvPr>
                <p:ph idx="1"/>
              </p:nvPr>
            </p:nvSpPr>
            <p:spPr>
              <a:xfrm>
                <a:off x="777240" y="1825624"/>
                <a:ext cx="10659110" cy="4392295"/>
              </a:xfrm>
            </p:spPr>
            <p:txBody>
              <a:bodyPr>
                <a:normAutofit lnSpcReduction="10000"/>
              </a:bodyPr>
              <a:lstStyle/>
              <a:p>
                <a:r>
                  <a:rPr lang="en-US" dirty="0"/>
                  <a:t>Now, we know lots of papers are trying to do these ways:</a:t>
                </a:r>
              </a:p>
              <a:p>
                <a:pPr lvl="1"/>
                <a:r>
                  <a:rPr lang="en-US" dirty="0"/>
                  <a:t>latent representation (learn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𝑐</m:t>
                        </m:r>
                      </m:sub>
                    </m:sSub>
                  </m:oMath>
                </a14:m>
                <a:r>
                  <a:rPr lang="en-US" dirty="0"/>
                  <a:t>)</a:t>
                </a:r>
              </a:p>
              <a:p>
                <a:pPr lvl="1"/>
                <a:r>
                  <a:rPr lang="en-US" dirty="0"/>
                  <a:t>Graph structure (learn which factors will affect to which situations)</a:t>
                </a:r>
              </a:p>
              <a:p>
                <a:pPr lvl="1"/>
                <a:r>
                  <a:rPr lang="en-US" dirty="0"/>
                  <a:t>Policy (more stable decisions from RL)</a:t>
                </a:r>
              </a:p>
              <a:p>
                <a:r>
                  <a:rPr lang="en-US" dirty="0"/>
                  <a:t>For example: </a:t>
                </a:r>
              </a:p>
              <a:p>
                <a:pPr lvl="1"/>
                <a:r>
                  <a:rPr lang="en-US" dirty="0"/>
                  <a:t>Dreamer, RSSM and </a:t>
                </a:r>
                <a:r>
                  <a:rPr lang="en-US" dirty="0" err="1"/>
                  <a:t>PlaNet</a:t>
                </a:r>
                <a:r>
                  <a:rPr lang="en-US" dirty="0"/>
                  <a:t> is the first world model generation, they are using latent representation (only predict but no causality):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a:p>
                <a:pPr lvl="1"/>
                <a:r>
                  <a:rPr lang="en-US" dirty="0"/>
                  <a:t>Second generation is JEPA, it is trying to predict embedding instead of pixels (Diffusion models, VAE and so on). For now, it is trying to do </a:t>
                </a:r>
                <a:r>
                  <a:rPr lang="en-US" b="1" dirty="0"/>
                  <a:t>representation learning</a:t>
                </a:r>
                <a:r>
                  <a:rPr lang="en-US" dirty="0"/>
                  <a:t>, but no one know what happened in certain dimension. </a:t>
                </a:r>
                <a:r>
                  <a:rPr lang="en-US" b="1" dirty="0"/>
                  <a:t>Representation learning: </a:t>
                </a:r>
              </a:p>
              <a:p>
                <a:pPr marL="457200" lvl="1" indent="0">
                  <a:buNone/>
                </a:pPr>
                <a14:m>
                  <m:oMathPara xmlns:m="http://schemas.openxmlformats.org/officeDocument/2006/math">
                    <m:oMathParaPr>
                      <m:jc m:val="centerGroup"/>
                    </m:oMathParaPr>
                    <m:oMath xmlns:m="http://schemas.openxmlformats.org/officeDocument/2006/math">
                      <m:r>
                        <a:rPr lang="en-US" b="1" i="0"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𝒌𝒊𝒏𝒈</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𝒎𝒂𝒏</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𝒘𝒐𝒎𝒂𝒏</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𝑽</m:t>
                          </m:r>
                        </m:e>
                        <m:sub>
                          <m:r>
                            <a:rPr lang="en-US" b="1" i="1" smtClean="0">
                              <a:latin typeface="Cambria Math" panose="02040503050406030204" pitchFamily="18" charset="0"/>
                              <a:ea typeface="Cambria Math" panose="02040503050406030204" pitchFamily="18" charset="0"/>
                            </a:rPr>
                            <m:t>𝑸𝒖𝒆𝒆𝒏</m:t>
                          </m:r>
                        </m:sub>
                      </m:sSub>
                    </m:oMath>
                  </m:oMathPara>
                </a14:m>
                <a:endParaRPr lang="en-US" b="1" dirty="0">
                  <a:ea typeface="Cambria Math" panose="02040503050406030204" pitchFamily="18" charset="0"/>
                </a:endParaRPr>
              </a:p>
              <a:p>
                <a:pPr lvl="1"/>
                <a:r>
                  <a:rPr lang="en-US" dirty="0"/>
                  <a:t>Third generation is Object-Centric World Model, which is what we are trying to do right now. We don’t aim to embedding anymore, instead, we aim to the object1, object2….object. We are saying that, world model should predict the object instead of the features.</a:t>
                </a:r>
              </a:p>
              <a:p>
                <a:endParaRPr lang="en-US" dirty="0"/>
              </a:p>
            </p:txBody>
          </p:sp>
        </mc:Choice>
        <mc:Fallback xmlns="">
          <p:sp>
            <p:nvSpPr>
              <p:cNvPr id="3" name="Content Placeholder 2">
                <a:extLst>
                  <a:ext uri="{FF2B5EF4-FFF2-40B4-BE49-F238E27FC236}">
                    <a16:creationId xmlns:a16="http://schemas.microsoft.com/office/drawing/2014/main" id="{D00FBD5B-AB1B-7087-5FA2-9F704858E3BD}"/>
                  </a:ext>
                </a:extLst>
              </p:cNvPr>
              <p:cNvSpPr>
                <a:spLocks noGrp="1" noRot="1" noChangeAspect="1" noMove="1" noResize="1" noEditPoints="1" noAdjustHandles="1" noChangeArrowheads="1" noChangeShapeType="1" noTextEdit="1"/>
              </p:cNvSpPr>
              <p:nvPr>
                <p:ph idx="1"/>
              </p:nvPr>
            </p:nvSpPr>
            <p:spPr>
              <a:xfrm>
                <a:off x="777240" y="1825624"/>
                <a:ext cx="10659110" cy="4392295"/>
              </a:xfrm>
              <a:blipFill>
                <a:blip r:embed="rId2"/>
                <a:stretch>
                  <a:fillRect l="-515" t="-1942" r="-400"/>
                </a:stretch>
              </a:blipFill>
            </p:spPr>
            <p:txBody>
              <a:bodyPr/>
              <a:lstStyle/>
              <a:p>
                <a:r>
                  <a:rPr lang="en-US">
                    <a:noFill/>
                  </a:rPr>
                  <a:t> </a:t>
                </a:r>
              </a:p>
            </p:txBody>
          </p:sp>
        </mc:Fallback>
      </mc:AlternateContent>
    </p:spTree>
    <p:extLst>
      <p:ext uri="{BB962C8B-B14F-4D97-AF65-F5344CB8AC3E}">
        <p14:creationId xmlns:p14="http://schemas.microsoft.com/office/powerpoint/2010/main" val="4263529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0132F-9211-E57A-7F8C-0347A208D72D}"/>
              </a:ext>
            </a:extLst>
          </p:cNvPr>
          <p:cNvSpPr>
            <a:spLocks noGrp="1"/>
          </p:cNvSpPr>
          <p:nvPr>
            <p:ph type="title"/>
          </p:nvPr>
        </p:nvSpPr>
        <p:spPr/>
        <p:txBody>
          <a:bodyPr/>
          <a:lstStyle/>
          <a:p>
            <a:r>
              <a:rPr lang="en-US" dirty="0"/>
              <a:t>Causal-JEPA</a:t>
            </a:r>
          </a:p>
        </p:txBody>
      </p:sp>
      <p:sp>
        <p:nvSpPr>
          <p:cNvPr id="3" name="Content Placeholder 2">
            <a:extLst>
              <a:ext uri="{FF2B5EF4-FFF2-40B4-BE49-F238E27FC236}">
                <a16:creationId xmlns:a16="http://schemas.microsoft.com/office/drawing/2014/main" id="{13EAD819-C573-C19A-C2EF-147B98CB0BB2}"/>
              </a:ext>
            </a:extLst>
          </p:cNvPr>
          <p:cNvSpPr>
            <a:spLocks noGrp="1"/>
          </p:cNvSpPr>
          <p:nvPr>
            <p:ph idx="1"/>
          </p:nvPr>
        </p:nvSpPr>
        <p:spPr/>
        <p:txBody>
          <a:bodyPr>
            <a:normAutofit fontScale="92500" lnSpcReduction="10000"/>
          </a:bodyPr>
          <a:lstStyle/>
          <a:p>
            <a:r>
              <a:rPr lang="en-US" dirty="0"/>
              <a:t>Now a day, the papers are all learning representation, like z -&gt; z`, but they don’t know why.</a:t>
            </a:r>
          </a:p>
          <a:p>
            <a:r>
              <a:rPr lang="en-US" dirty="0"/>
              <a:t>So right now, LeCun already had a paper named: ‘Causal-JEPA’</a:t>
            </a:r>
          </a:p>
          <a:p>
            <a:endParaRPr lang="en-US" dirty="0"/>
          </a:p>
          <a:p>
            <a:r>
              <a:rPr lang="en-US" dirty="0"/>
              <a:t>How does it work? We previously discussed V-JEPA. While V-JEPA employs "patch"-based masking, Causal-JEPA aims to use entire objects as masks to drive the model's learning. However, since the model itself has no inherent concept of an "object," a robot is required to push the cup. </a:t>
            </a:r>
            <a:r>
              <a:rPr lang="en-US" b="1" dirty="0"/>
              <a:t>It is just like the causality!</a:t>
            </a:r>
          </a:p>
          <a:p>
            <a:endParaRPr lang="en-US" b="1" dirty="0"/>
          </a:p>
          <a:p>
            <a:r>
              <a:rPr lang="en-US" dirty="0"/>
              <a:t>Furthermore, in paper: ’Interaction-Aware JEPA’, which is talking about why JPEA is not enough, so they aim the interaction, not like the object mask, they mask the action, for example: when the robot touch the cup, we mask.</a:t>
            </a:r>
          </a:p>
          <a:p>
            <a:endParaRPr lang="en-US" dirty="0"/>
          </a:p>
          <a:p>
            <a:r>
              <a:rPr lang="en-US" dirty="0"/>
              <a:t>But they are not enough, since they are all based on the object and transfer it to embedding vectors, they did not do Object -&gt; mechanism</a:t>
            </a:r>
          </a:p>
        </p:txBody>
      </p:sp>
    </p:spTree>
    <p:extLst>
      <p:ext uri="{BB962C8B-B14F-4D97-AF65-F5344CB8AC3E}">
        <p14:creationId xmlns:p14="http://schemas.microsoft.com/office/powerpoint/2010/main" val="2166007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6A8F4-DAD7-021B-C594-3A36BB4EB702}"/>
              </a:ext>
            </a:extLst>
          </p:cNvPr>
          <p:cNvSpPr>
            <a:spLocks noGrp="1"/>
          </p:cNvSpPr>
          <p:nvPr>
            <p:ph type="title"/>
          </p:nvPr>
        </p:nvSpPr>
        <p:spPr/>
        <p:txBody>
          <a:bodyPr>
            <a:normAutofit/>
          </a:bodyPr>
          <a:lstStyle/>
          <a:p>
            <a:r>
              <a:rPr lang="en-US" dirty="0"/>
              <a:t>Mechanism Model based on causality</a:t>
            </a:r>
          </a:p>
        </p:txBody>
      </p:sp>
      <p:sp>
        <p:nvSpPr>
          <p:cNvPr id="3" name="Content Placeholder 2">
            <a:extLst>
              <a:ext uri="{FF2B5EF4-FFF2-40B4-BE49-F238E27FC236}">
                <a16:creationId xmlns:a16="http://schemas.microsoft.com/office/drawing/2014/main" id="{C6963935-A213-6195-7CC9-A83794288E46}"/>
              </a:ext>
            </a:extLst>
          </p:cNvPr>
          <p:cNvSpPr>
            <a:spLocks noGrp="1"/>
          </p:cNvSpPr>
          <p:nvPr>
            <p:ph idx="1"/>
          </p:nvPr>
        </p:nvSpPr>
        <p:spPr>
          <a:xfrm>
            <a:off x="777240" y="1825624"/>
            <a:ext cx="10659110" cy="5032376"/>
          </a:xfrm>
        </p:spPr>
        <p:txBody>
          <a:bodyPr>
            <a:normAutofit/>
          </a:bodyPr>
          <a:lstStyle/>
          <a:p>
            <a:r>
              <a:rPr lang="en-US" dirty="0"/>
              <a:t>Traditional way:</a:t>
            </a:r>
          </a:p>
          <a:p>
            <a:pPr lvl="1"/>
            <a:r>
              <a:rPr lang="en-US" dirty="0"/>
              <a:t>Image -&gt; Encoder -&gt; Latent -&gt; Future Latent</a:t>
            </a:r>
          </a:p>
          <a:p>
            <a:r>
              <a:rPr lang="en-US" dirty="0"/>
              <a:t>JEPA:</a:t>
            </a:r>
          </a:p>
          <a:p>
            <a:pPr lvl="1"/>
            <a:r>
              <a:rPr lang="en-US" dirty="0"/>
              <a:t>Image -&gt; Embedding -&gt; future Latent</a:t>
            </a:r>
          </a:p>
          <a:p>
            <a:r>
              <a:rPr lang="en-US" dirty="0"/>
              <a:t>Object World Model:</a:t>
            </a:r>
          </a:p>
          <a:p>
            <a:pPr lvl="1"/>
            <a:r>
              <a:rPr lang="en-US" dirty="0"/>
              <a:t>Image -&gt; Object -&gt; Graph -&gt; Future Objects</a:t>
            </a:r>
          </a:p>
          <a:p>
            <a:r>
              <a:rPr lang="en-US" dirty="0"/>
              <a:t>But there is a new method that saying prediction is not equal to Explanation, for example:</a:t>
            </a:r>
          </a:p>
          <a:p>
            <a:pPr lvl="1"/>
            <a:r>
              <a:rPr lang="en-US" dirty="0"/>
              <a:t>Traditional way is relying on dataset, lets say we have 1M data and model can learn current state to next state. Position -&gt; Position`, but the network doesn’t know what happened, it only know: x -&gt; y</a:t>
            </a:r>
          </a:p>
          <a:p>
            <a:pPr lvl="1"/>
            <a:endParaRPr lang="en-US" dirty="0"/>
          </a:p>
          <a:p>
            <a:pPr lvl="1"/>
            <a:r>
              <a:rPr lang="en-US" dirty="0"/>
              <a:t>Mechanism way is trying to explain why x can become y. Lets say we have a robot to push the cup, and physics tells us: robot -&gt; contact -&gt; force -&gt; acceleration -&gt; velocity -&gt; position. It doesn’t have position as input here, only has ‘force, acceleration, and velocity’ which we call it the parameters that affect the final position. Compare to traditional way, if we change the cup to heavier item, the model doesn’t know how to predict the position. But in mechanism, it will understand the item is heavier than before, and based on the new item to predict the new position. </a:t>
            </a:r>
          </a:p>
          <a:p>
            <a:endParaRPr lang="en-US" dirty="0"/>
          </a:p>
          <a:p>
            <a:endParaRPr lang="en-US" dirty="0"/>
          </a:p>
        </p:txBody>
      </p:sp>
    </p:spTree>
    <p:extLst>
      <p:ext uri="{BB962C8B-B14F-4D97-AF65-F5344CB8AC3E}">
        <p14:creationId xmlns:p14="http://schemas.microsoft.com/office/powerpoint/2010/main" val="3347927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84696-4891-49FB-34CC-2F37C1F18974}"/>
              </a:ext>
            </a:extLst>
          </p:cNvPr>
          <p:cNvSpPr>
            <a:spLocks noGrp="1"/>
          </p:cNvSpPr>
          <p:nvPr>
            <p:ph type="title"/>
          </p:nvPr>
        </p:nvSpPr>
        <p:spPr/>
        <p:txBody>
          <a:bodyPr>
            <a:normAutofit fontScale="90000"/>
          </a:bodyPr>
          <a:lstStyle/>
          <a:p>
            <a:r>
              <a:rPr lang="en-US" dirty="0"/>
              <a:t>Physics-informed Neural Networks and Mechanistic World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9539F2-28D1-72B7-7B57-EFF3A2EE6652}"/>
                  </a:ext>
                </a:extLst>
              </p:cNvPr>
              <p:cNvSpPr>
                <a:spLocks noGrp="1"/>
              </p:cNvSpPr>
              <p:nvPr>
                <p:ph idx="1"/>
              </p:nvPr>
            </p:nvSpPr>
            <p:spPr/>
            <p:txBody>
              <a:bodyPr/>
              <a:lstStyle/>
              <a:p>
                <a:r>
                  <a:rPr lang="en-US" dirty="0"/>
                  <a:t>Similar to SMLM’s parameters prediction, we were trying to predict the parameters and put the parameters in the equations, that we call Physics-informed Neural Networks. But mechanistic way is assuming that we even don’t know the equations.</a:t>
                </a:r>
              </a:p>
              <a:p>
                <a:pPr lvl="1"/>
                <a:r>
                  <a:rPr lang="en-US" dirty="0"/>
                  <a:t>The method: Variables -&gt; Mechanisms -&gt; structure</a:t>
                </a:r>
              </a:p>
              <a:p>
                <a:r>
                  <a:rPr lang="en-US" dirty="0"/>
                  <a:t>The Variables for example: Velocity, force, and joint angle.</a:t>
                </a:r>
              </a:p>
              <a:p>
                <a:r>
                  <a:rPr lang="en-US" dirty="0"/>
                  <a:t>More easy way to understand is: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𝑚𝑎</m:t>
                    </m:r>
                  </m:oMath>
                </a14:m>
                <a:r>
                  <a:rPr lang="en-US" dirty="0"/>
                  <a:t>, we all knew it is Newton's second law, it is actually force -&gt; acceleration transformation.</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3D9539F2-28D1-72B7-7B57-EFF3A2EE6652}"/>
                  </a:ext>
                </a:extLst>
              </p:cNvPr>
              <p:cNvSpPr>
                <a:spLocks noGrp="1" noRot="1" noChangeAspect="1" noMove="1" noResize="1" noEditPoints="1" noAdjustHandles="1" noChangeArrowheads="1" noChangeShapeType="1" noTextEdit="1"/>
              </p:cNvSpPr>
              <p:nvPr>
                <p:ph idx="1"/>
              </p:nvPr>
            </p:nvSpPr>
            <p:spPr>
              <a:blipFill>
                <a:blip r:embed="rId2"/>
                <a:stretch>
                  <a:fillRect l="-515" t="-140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90AB08C1-D7B5-3C54-93CD-F0387011DF18}"/>
              </a:ext>
            </a:extLst>
          </p:cNvPr>
          <p:cNvPicPr>
            <a:picLocks noChangeAspect="1"/>
          </p:cNvPicPr>
          <p:nvPr/>
        </p:nvPicPr>
        <p:blipFill>
          <a:blip r:embed="rId3"/>
          <a:stretch>
            <a:fillRect/>
          </a:stretch>
        </p:blipFill>
        <p:spPr>
          <a:xfrm>
            <a:off x="2101933" y="4303586"/>
            <a:ext cx="8166141" cy="2554414"/>
          </a:xfrm>
          <a:prstGeom prst="rect">
            <a:avLst/>
          </a:prstGeom>
        </p:spPr>
      </p:pic>
    </p:spTree>
    <p:extLst>
      <p:ext uri="{BB962C8B-B14F-4D97-AF65-F5344CB8AC3E}">
        <p14:creationId xmlns:p14="http://schemas.microsoft.com/office/powerpoint/2010/main" val="2911042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FD47E-3843-FEBB-EBDB-7B4F8C09F3E0}"/>
              </a:ext>
            </a:extLst>
          </p:cNvPr>
          <p:cNvSpPr>
            <a:spLocks noGrp="1"/>
          </p:cNvSpPr>
          <p:nvPr>
            <p:ph type="title"/>
          </p:nvPr>
        </p:nvSpPr>
        <p:spPr/>
        <p:txBody>
          <a:bodyPr/>
          <a:lstStyle/>
          <a:p>
            <a:r>
              <a:rPr lang="en-US" dirty="0"/>
              <a:t>Pipeline</a:t>
            </a:r>
          </a:p>
        </p:txBody>
      </p:sp>
      <p:sp>
        <p:nvSpPr>
          <p:cNvPr id="3" name="Content Placeholder 2">
            <a:extLst>
              <a:ext uri="{FF2B5EF4-FFF2-40B4-BE49-F238E27FC236}">
                <a16:creationId xmlns:a16="http://schemas.microsoft.com/office/drawing/2014/main" id="{0FE484A7-A727-BED2-62C3-E3B622304404}"/>
              </a:ext>
            </a:extLst>
          </p:cNvPr>
          <p:cNvSpPr>
            <a:spLocks noGrp="1"/>
          </p:cNvSpPr>
          <p:nvPr>
            <p:ph idx="1"/>
          </p:nvPr>
        </p:nvSpPr>
        <p:spPr/>
        <p:txBody>
          <a:bodyPr/>
          <a:lstStyle/>
          <a:p>
            <a:r>
              <a:rPr lang="en-US" dirty="0"/>
              <a:t>Traditional: black box (lots of different dimension matrix)</a:t>
            </a:r>
          </a:p>
          <a:p>
            <a:r>
              <a:rPr lang="en-US" dirty="0"/>
              <a:t>Mechanistic World Model (but doesn’t have model so far):</a:t>
            </a:r>
          </a:p>
          <a:p>
            <a:pPr lvl="1"/>
            <a:r>
              <a:rPr lang="en-US" dirty="0"/>
              <a:t> it is thinking encoder should generate(output): parameters (mass, radius) and state (position, velocity)</a:t>
            </a:r>
          </a:p>
          <a:p>
            <a:pPr lvl="1"/>
            <a:r>
              <a:rPr lang="en-US" dirty="0"/>
              <a:t>And it has four components: Contact, Friction, Collision, and Gravity (or even add one more Constraint). Each of them is presenting a small module, instead of a huge dynamics network.</a:t>
            </a:r>
          </a:p>
        </p:txBody>
      </p:sp>
      <p:pic>
        <p:nvPicPr>
          <p:cNvPr id="7" name="Picture 6">
            <a:extLst>
              <a:ext uri="{FF2B5EF4-FFF2-40B4-BE49-F238E27FC236}">
                <a16:creationId xmlns:a16="http://schemas.microsoft.com/office/drawing/2014/main" id="{A8A26355-0613-1E3D-6C1F-306E4BC43FC1}"/>
              </a:ext>
            </a:extLst>
          </p:cNvPr>
          <p:cNvPicPr>
            <a:picLocks noChangeAspect="1"/>
          </p:cNvPicPr>
          <p:nvPr/>
        </p:nvPicPr>
        <p:blipFill>
          <a:blip r:embed="rId2"/>
          <a:stretch>
            <a:fillRect/>
          </a:stretch>
        </p:blipFill>
        <p:spPr>
          <a:xfrm>
            <a:off x="1228045" y="3684305"/>
            <a:ext cx="9735909" cy="3057952"/>
          </a:xfrm>
          <a:prstGeom prst="rect">
            <a:avLst/>
          </a:prstGeom>
        </p:spPr>
      </p:pic>
    </p:spTree>
    <p:extLst>
      <p:ext uri="{BB962C8B-B14F-4D97-AF65-F5344CB8AC3E}">
        <p14:creationId xmlns:p14="http://schemas.microsoft.com/office/powerpoint/2010/main" val="2278856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34284-4856-5A7B-4A36-59875DCE7888}"/>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FE13486D-019F-3A4F-1FF9-B8DD0578B77A}"/>
              </a:ext>
            </a:extLst>
          </p:cNvPr>
          <p:cNvSpPr>
            <a:spLocks noGrp="1"/>
          </p:cNvSpPr>
          <p:nvPr>
            <p:ph idx="1"/>
          </p:nvPr>
        </p:nvSpPr>
        <p:spPr/>
        <p:txBody>
          <a:bodyPr/>
          <a:lstStyle/>
          <a:p>
            <a:r>
              <a:rPr lang="en-US" dirty="0"/>
              <a:t>Can we develop a new pipeline that:</a:t>
            </a:r>
          </a:p>
          <a:p>
            <a:pPr lvl="1"/>
            <a:r>
              <a:rPr lang="en-US" dirty="0"/>
              <a:t>Predicting Mechanisms is better than Predicting States.</a:t>
            </a:r>
          </a:p>
          <a:p>
            <a:endParaRPr lang="en-US" dirty="0"/>
          </a:p>
          <a:p>
            <a:r>
              <a:rPr lang="en-US" dirty="0"/>
              <a:t>Traditional world model: </a:t>
            </a:r>
          </a:p>
          <a:p>
            <a:pPr lvl="1"/>
            <a:r>
              <a:rPr lang="en-US" dirty="0"/>
              <a:t>(s, a) -&gt; neural network -&gt; s`</a:t>
            </a:r>
          </a:p>
          <a:p>
            <a:pPr lvl="1"/>
            <a:r>
              <a:rPr lang="en-US" dirty="0"/>
              <a:t>Input: x=3, v=2, action=</a:t>
            </a:r>
            <a:r>
              <a:rPr lang="en-US" dirty="0" err="1"/>
              <a:t>push_right</a:t>
            </a:r>
            <a:r>
              <a:rPr lang="en-US" dirty="0"/>
              <a:t>  -&gt; output: x`=5, v=4, we know what is the future from network</a:t>
            </a:r>
          </a:p>
          <a:p>
            <a:pPr lvl="1"/>
            <a:endParaRPr lang="en-US" dirty="0"/>
          </a:p>
          <a:p>
            <a:r>
              <a:rPr lang="en-US" dirty="0"/>
              <a:t>My idea:</a:t>
            </a:r>
          </a:p>
          <a:p>
            <a:pPr lvl="1"/>
            <a:r>
              <a:rPr lang="en-US" dirty="0"/>
              <a:t>(s, a) -&gt; Mechanism Predictor -&gt; Mechanisms -&gt; Physics Solver -&gt; s`</a:t>
            </a:r>
          </a:p>
          <a:p>
            <a:pPr lvl="1"/>
            <a:r>
              <a:rPr lang="en-US" dirty="0"/>
              <a:t>We only know: What mechanisms are at work in the world? From network</a:t>
            </a:r>
          </a:p>
        </p:txBody>
      </p:sp>
    </p:spTree>
    <p:extLst>
      <p:ext uri="{BB962C8B-B14F-4D97-AF65-F5344CB8AC3E}">
        <p14:creationId xmlns:p14="http://schemas.microsoft.com/office/powerpoint/2010/main" val="1611797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1EDB5-F8E2-2D6C-55CD-B1DA40DA4910}"/>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CADE24BE-B7CF-A246-5D22-03A0ACDA45DA}"/>
              </a:ext>
            </a:extLst>
          </p:cNvPr>
          <p:cNvSpPr>
            <a:spLocks noGrp="1"/>
          </p:cNvSpPr>
          <p:nvPr>
            <p:ph idx="1"/>
          </p:nvPr>
        </p:nvSpPr>
        <p:spPr/>
        <p:txBody>
          <a:bodyPr/>
          <a:lstStyle/>
          <a:p>
            <a:r>
              <a:rPr lang="en-US" dirty="0" err="1"/>
              <a:t>Ceriscioli</a:t>
            </a:r>
            <a:r>
              <a:rPr lang="en-US" dirty="0"/>
              <a:t>, M. and Mohan, K., 2026. Agents robust to distribution shifts learn causal world models even under mediation. </a:t>
            </a:r>
            <a:r>
              <a:rPr lang="en-US" i="1" dirty="0"/>
              <a:t>Advances in Neural Information Processing Systems</a:t>
            </a:r>
            <a:r>
              <a:rPr lang="en-US" dirty="0"/>
              <a:t>, </a:t>
            </a:r>
            <a:r>
              <a:rPr lang="en-US" i="1" dirty="0"/>
              <a:t>38</a:t>
            </a:r>
            <a:r>
              <a:rPr lang="en-US" dirty="0"/>
              <a:t>, pp.77585-77619.</a:t>
            </a:r>
          </a:p>
          <a:p>
            <a:r>
              <a:rPr lang="en-US" dirty="0"/>
              <a:t>Nam, H., </a:t>
            </a:r>
            <a:r>
              <a:rPr lang="en-US" dirty="0" err="1"/>
              <a:t>Lidec</a:t>
            </a:r>
            <a:r>
              <a:rPr lang="en-US" dirty="0"/>
              <a:t>, Q.L., Maes, L., LeCun, Y. and </a:t>
            </a:r>
            <a:r>
              <a:rPr lang="en-US" dirty="0" err="1"/>
              <a:t>Balestriero</a:t>
            </a:r>
            <a:r>
              <a:rPr lang="en-US" dirty="0"/>
              <a:t>, R., 2026. Causal-JEPA: Learning World Models through Object-Level Latent Masking. </a:t>
            </a:r>
            <a:r>
              <a:rPr lang="en-US" i="1" dirty="0" err="1"/>
              <a:t>arXiv</a:t>
            </a:r>
            <a:r>
              <a:rPr lang="en-US" i="1" dirty="0"/>
              <a:t> preprint arXiv:2602.11389</a:t>
            </a:r>
            <a:r>
              <a:rPr lang="en-US" dirty="0"/>
              <a:t>.</a:t>
            </a:r>
          </a:p>
          <a:p>
            <a:r>
              <a:rPr lang="en-US" dirty="0"/>
              <a:t>Paidi, S.K., 2026. Entity-Centric World Models: Interaction-Aware Masking for Causal Video Prediction. </a:t>
            </a:r>
            <a:r>
              <a:rPr lang="en-US" i="1" dirty="0" err="1"/>
              <a:t>arXiv</a:t>
            </a:r>
            <a:r>
              <a:rPr lang="en-US" i="1" dirty="0"/>
              <a:t> preprint arXiv:2605.15466</a:t>
            </a:r>
            <a:r>
              <a:rPr lang="en-US" dirty="0"/>
              <a:t>.</a:t>
            </a:r>
          </a:p>
          <a:p>
            <a:r>
              <a:rPr lang="en-US" dirty="0"/>
              <a:t>Posner, I., Lei, A. and </a:t>
            </a:r>
            <a:r>
              <a:rPr lang="en-US" dirty="0" err="1"/>
              <a:t>Schölkopf</a:t>
            </a:r>
            <a:r>
              <a:rPr lang="en-US" dirty="0"/>
              <a:t>, B., 2026. From Observation to Insight: Mechanistic World Models and the Quest for Autonomous Discovery. </a:t>
            </a:r>
            <a:r>
              <a:rPr lang="en-US" i="1" dirty="0" err="1"/>
              <a:t>arXiv</a:t>
            </a:r>
            <a:r>
              <a:rPr lang="en-US" i="1" dirty="0"/>
              <a:t> preprint arXiv:2607.12474</a:t>
            </a:r>
            <a:r>
              <a:rPr lang="en-US" dirty="0"/>
              <a:t>.</a:t>
            </a:r>
          </a:p>
          <a:p>
            <a:endParaRPr lang="en-US" dirty="0"/>
          </a:p>
        </p:txBody>
      </p:sp>
    </p:spTree>
    <p:extLst>
      <p:ext uri="{BB962C8B-B14F-4D97-AF65-F5344CB8AC3E}">
        <p14:creationId xmlns:p14="http://schemas.microsoft.com/office/powerpoint/2010/main" val="1043747919"/>
      </p:ext>
    </p:extLst>
  </p:cSld>
  <p:clrMapOvr>
    <a:masterClrMapping/>
  </p:clrMapOvr>
</p:sld>
</file>

<file path=ppt/theme/theme1.xml><?xml version="1.0" encoding="utf-8"?>
<a:theme xmlns:a="http://schemas.openxmlformats.org/drawingml/2006/main" name="Confetti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docProps/app.xml><?xml version="1.0" encoding="utf-8"?>
<Properties xmlns="http://schemas.openxmlformats.org/officeDocument/2006/extended-properties" xmlns:vt="http://schemas.openxmlformats.org/officeDocument/2006/docPropsVTypes">
  <TotalTime>1063</TotalTime>
  <Words>1407</Words>
  <Application>Microsoft Office PowerPoint</Application>
  <PresentationFormat>Widescreen</PresentationFormat>
  <Paragraphs>100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 Math</vt:lpstr>
      <vt:lpstr>Gill Sans Nova</vt:lpstr>
      <vt:lpstr>ConfettiVTI</vt:lpstr>
      <vt:lpstr>Causal Representation</vt:lpstr>
      <vt:lpstr>Causal Representation Learning for Out-of-Distribution Reinforcement Learning</vt:lpstr>
      <vt:lpstr>Compare to CLIP</vt:lpstr>
      <vt:lpstr>How to make it?</vt:lpstr>
      <vt:lpstr>‘Change’ that reveals cause.</vt:lpstr>
      <vt:lpstr>Current papers</vt:lpstr>
      <vt:lpstr>Causal-JEPA</vt:lpstr>
      <vt:lpstr>Mechanism Model based on causality</vt:lpstr>
      <vt:lpstr>Physics-informed Neural Networks and Mechanistic World Models</vt:lpstr>
      <vt:lpstr>Pipeline</vt:lpstr>
      <vt:lpstr>Hypothesis</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 Chu</dc:creator>
  <cp:lastModifiedBy>Chu Lin</cp:lastModifiedBy>
  <cp:revision>15</cp:revision>
  <dcterms:created xsi:type="dcterms:W3CDTF">2026-07-22T13:14:44Z</dcterms:created>
  <dcterms:modified xsi:type="dcterms:W3CDTF">2026-07-24T19:13:44Z</dcterms:modified>
</cp:coreProperties>
</file>