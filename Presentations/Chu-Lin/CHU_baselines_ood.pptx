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6062" autoAdjust="0"/>
  </p:normalViewPr>
  <p:slideViewPr>
    <p:cSldViewPr snapToGrid="0">
      <p:cViewPr>
        <p:scale>
          <a:sx n="79" d="100"/>
          <a:sy n="79" d="100"/>
        </p:scale>
        <p:origin x="202" y="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u Lin" userId="a9d5f5a05d2946b6" providerId="LiveId" clId="{A624DEA4-834B-44D9-BB5B-23A5D14AA4FA}"/>
    <pc:docChg chg="undo custSel addSld modSld addMainMaster delMainMaster">
      <pc:chgData name="Chu Lin" userId="a9d5f5a05d2946b6" providerId="LiveId" clId="{A624DEA4-834B-44D9-BB5B-23A5D14AA4FA}" dt="2026-09-18T00:42:41.822" v="1151" actId="5793"/>
      <pc:docMkLst>
        <pc:docMk/>
      </pc:docMkLst>
      <pc:sldChg chg="addSp modSp new mod setBg modClrScheme addAnim setClrOvrMap chgLayout">
        <pc:chgData name="Chu Lin" userId="a9d5f5a05d2946b6" providerId="LiveId" clId="{A624DEA4-834B-44D9-BB5B-23A5D14AA4FA}" dt="2026-09-17T00:01:38.955" v="16"/>
        <pc:sldMkLst>
          <pc:docMk/>
          <pc:sldMk cId="3296793622" sldId="256"/>
        </pc:sldMkLst>
        <pc:spChg chg="mod">
          <ac:chgData name="Chu Lin" userId="a9d5f5a05d2946b6" providerId="LiveId" clId="{A624DEA4-834B-44D9-BB5B-23A5D14AA4FA}" dt="2026-09-17T00:01:38.948" v="14" actId="26606"/>
          <ac:spMkLst>
            <pc:docMk/>
            <pc:sldMk cId="3296793622" sldId="256"/>
            <ac:spMk id="2" creationId="{24CA4163-5BD5-1494-37A3-0088ED841019}"/>
          </ac:spMkLst>
        </pc:spChg>
        <pc:spChg chg="mod">
          <ac:chgData name="Chu Lin" userId="a9d5f5a05d2946b6" providerId="LiveId" clId="{A624DEA4-834B-44D9-BB5B-23A5D14AA4FA}" dt="2026-09-17T00:01:38.948" v="14" actId="26606"/>
          <ac:spMkLst>
            <pc:docMk/>
            <pc:sldMk cId="3296793622" sldId="256"/>
            <ac:spMk id="3" creationId="{79091FCA-7AF0-4DE3-87A5-7107189784FB}"/>
          </ac:spMkLst>
        </pc:spChg>
        <pc:picChg chg="add">
          <ac:chgData name="Chu Lin" userId="a9d5f5a05d2946b6" providerId="LiveId" clId="{A624DEA4-834B-44D9-BB5B-23A5D14AA4FA}" dt="2026-09-17T00:01:38.948" v="14" actId="26606"/>
          <ac:picMkLst>
            <pc:docMk/>
            <pc:sldMk cId="3296793622" sldId="256"/>
            <ac:picMk id="4" creationId="{46529A70-3D97-5FDA-A1C9-9A64C040AB78}"/>
          </ac:picMkLst>
        </pc:picChg>
      </pc:sldChg>
      <pc:sldMasterChg chg="add addSldLayout">
        <pc:chgData name="Chu Lin" userId="a9d5f5a05d2946b6" providerId="LiveId" clId="{A624DEA4-834B-44D9-BB5B-23A5D14AA4FA}" dt="2026-09-17T00:01:38.948" v="14" actId="26606"/>
        <pc:sldMasterMkLst>
          <pc:docMk/>
          <pc:sldMasterMk cId="493697747" sldId="2147483673"/>
        </pc:sldMasterMkLst>
        <pc:sldLayoutChg chg="add">
          <pc:chgData name="Chu Lin" userId="a9d5f5a05d2946b6" providerId="LiveId" clId="{A624DEA4-834B-44D9-BB5B-23A5D14AA4FA}" dt="2026-09-17T00:01:38.948" v="14" actId="26606"/>
          <pc:sldLayoutMkLst>
            <pc:docMk/>
            <pc:sldMasterMk cId="493697747" sldId="2147483673"/>
            <pc:sldLayoutMk cId="1048010609" sldId="2147483662"/>
          </pc:sldLayoutMkLst>
        </pc:sldLayoutChg>
        <pc:sldLayoutChg chg="add">
          <pc:chgData name="Chu Lin" userId="a9d5f5a05d2946b6" providerId="LiveId" clId="{A624DEA4-834B-44D9-BB5B-23A5D14AA4FA}" dt="2026-09-17T00:01:38.948" v="14" actId="26606"/>
          <pc:sldLayoutMkLst>
            <pc:docMk/>
            <pc:sldMasterMk cId="493697747" sldId="2147483673"/>
            <pc:sldLayoutMk cId="2684917049" sldId="2147483663"/>
          </pc:sldLayoutMkLst>
        </pc:sldLayoutChg>
        <pc:sldLayoutChg chg="add">
          <pc:chgData name="Chu Lin" userId="a9d5f5a05d2946b6" providerId="LiveId" clId="{A624DEA4-834B-44D9-BB5B-23A5D14AA4FA}" dt="2026-09-17T00:01:38.948" v="14" actId="26606"/>
          <pc:sldLayoutMkLst>
            <pc:docMk/>
            <pc:sldMasterMk cId="493697747" sldId="2147483673"/>
            <pc:sldLayoutMk cId="3271315337" sldId="2147483664"/>
          </pc:sldLayoutMkLst>
        </pc:sldLayoutChg>
        <pc:sldLayoutChg chg="add">
          <pc:chgData name="Chu Lin" userId="a9d5f5a05d2946b6" providerId="LiveId" clId="{A624DEA4-834B-44D9-BB5B-23A5D14AA4FA}" dt="2026-09-17T00:01:38.948" v="14" actId="26606"/>
          <pc:sldLayoutMkLst>
            <pc:docMk/>
            <pc:sldMasterMk cId="493697747" sldId="2147483673"/>
            <pc:sldLayoutMk cId="2235062487" sldId="2147483665"/>
          </pc:sldLayoutMkLst>
        </pc:sldLayoutChg>
        <pc:sldLayoutChg chg="add">
          <pc:chgData name="Chu Lin" userId="a9d5f5a05d2946b6" providerId="LiveId" clId="{A624DEA4-834B-44D9-BB5B-23A5D14AA4FA}" dt="2026-09-17T00:01:38.948" v="14" actId="26606"/>
          <pc:sldLayoutMkLst>
            <pc:docMk/>
            <pc:sldMasterMk cId="493697747" sldId="2147483673"/>
            <pc:sldLayoutMk cId="168122371" sldId="2147483666"/>
          </pc:sldLayoutMkLst>
        </pc:sldLayoutChg>
        <pc:sldLayoutChg chg="add">
          <pc:chgData name="Chu Lin" userId="a9d5f5a05d2946b6" providerId="LiveId" clId="{A624DEA4-834B-44D9-BB5B-23A5D14AA4FA}" dt="2026-09-17T00:01:38.948" v="14" actId="26606"/>
          <pc:sldLayoutMkLst>
            <pc:docMk/>
            <pc:sldMasterMk cId="493697747" sldId="2147483673"/>
            <pc:sldLayoutMk cId="3452461211" sldId="2147483667"/>
          </pc:sldLayoutMkLst>
        </pc:sldLayoutChg>
        <pc:sldLayoutChg chg="add">
          <pc:chgData name="Chu Lin" userId="a9d5f5a05d2946b6" providerId="LiveId" clId="{A624DEA4-834B-44D9-BB5B-23A5D14AA4FA}" dt="2026-09-17T00:01:38.948" v="14" actId="26606"/>
          <pc:sldLayoutMkLst>
            <pc:docMk/>
            <pc:sldMasterMk cId="493697747" sldId="2147483673"/>
            <pc:sldLayoutMk cId="2864294466" sldId="2147483668"/>
          </pc:sldLayoutMkLst>
        </pc:sldLayoutChg>
        <pc:sldLayoutChg chg="add">
          <pc:chgData name="Chu Lin" userId="a9d5f5a05d2946b6" providerId="LiveId" clId="{A624DEA4-834B-44D9-BB5B-23A5D14AA4FA}" dt="2026-09-17T00:01:38.948" v="14" actId="26606"/>
          <pc:sldLayoutMkLst>
            <pc:docMk/>
            <pc:sldMasterMk cId="493697747" sldId="2147483673"/>
            <pc:sldLayoutMk cId="8350770" sldId="2147483669"/>
          </pc:sldLayoutMkLst>
        </pc:sldLayoutChg>
        <pc:sldLayoutChg chg="add">
          <pc:chgData name="Chu Lin" userId="a9d5f5a05d2946b6" providerId="LiveId" clId="{A624DEA4-834B-44D9-BB5B-23A5D14AA4FA}" dt="2026-09-17T00:01:38.948" v="14" actId="26606"/>
          <pc:sldLayoutMkLst>
            <pc:docMk/>
            <pc:sldMasterMk cId="493697747" sldId="2147483673"/>
            <pc:sldLayoutMk cId="4276114791" sldId="2147483670"/>
          </pc:sldLayoutMkLst>
        </pc:sldLayoutChg>
        <pc:sldLayoutChg chg="add">
          <pc:chgData name="Chu Lin" userId="a9d5f5a05d2946b6" providerId="LiveId" clId="{A624DEA4-834B-44D9-BB5B-23A5D14AA4FA}" dt="2026-09-17T00:01:38.948" v="14" actId="26606"/>
          <pc:sldLayoutMkLst>
            <pc:docMk/>
            <pc:sldMasterMk cId="493697747" sldId="2147483673"/>
            <pc:sldLayoutMk cId="1971713887" sldId="2147483671"/>
          </pc:sldLayoutMkLst>
        </pc:sldLayoutChg>
        <pc:sldLayoutChg chg="add">
          <pc:chgData name="Chu Lin" userId="a9d5f5a05d2946b6" providerId="LiveId" clId="{A624DEA4-834B-44D9-BB5B-23A5D14AA4FA}" dt="2026-09-17T00:01:38.948" v="14" actId="26606"/>
          <pc:sldLayoutMkLst>
            <pc:docMk/>
            <pc:sldMasterMk cId="493697747" sldId="2147483673"/>
            <pc:sldLayoutMk cId="1613026941" sldId="2147483672"/>
          </pc:sldLayoutMkLst>
        </pc:sldLayoutChg>
      </pc:sldMasterChg>
    </pc:docChg>
  </pc:docChgLst>
  <pc:docChgLst>
    <pc:chgData name="Chu Lin" userId="a9d5f5a05d2946b6" providerId="LiveId" clId="{D0B525D6-471A-4AEC-9E0A-4D9E31AAD555}"/>
    <pc:docChg chg="custSel modSld">
      <pc:chgData name="Chu Lin" userId="a9d5f5a05d2946b6" providerId="LiveId" clId="{D0B525D6-471A-4AEC-9E0A-4D9E31AAD555}" dt="2026-10-17T14:38:02.014" v="0" actId="26606"/>
      <pc:docMkLst>
        <pc:docMk/>
      </pc:docMkLst>
      <pc:sldChg chg="addSp delSp modSp mod">
        <pc:chgData name="Chu Lin" userId="a9d5f5a05d2946b6" providerId="LiveId" clId="{D0B525D6-471A-4AEC-9E0A-4D9E31AAD555}" dt="2026-10-17T14:38:02.014" v="0" actId="26606"/>
        <pc:sldMkLst>
          <pc:docMk/>
          <pc:sldMk cId="3296793622" sldId="256"/>
        </pc:sldMkLst>
        <pc:spChg chg="mod">
          <ac:chgData name="Chu Lin" userId="a9d5f5a05d2946b6" providerId="LiveId" clId="{D0B525D6-471A-4AEC-9E0A-4D9E31AAD555}" dt="2026-10-17T14:38:02.014" v="0" actId="26606"/>
          <ac:spMkLst>
            <pc:docMk/>
            <pc:sldMk cId="3296793622" sldId="256"/>
            <ac:spMk id="2" creationId="{24CA4163-5BD5-1494-37A3-0088ED841019}"/>
          </ac:spMkLst>
        </pc:spChg>
        <pc:spChg chg="mod">
          <ac:chgData name="Chu Lin" userId="a9d5f5a05d2946b6" providerId="LiveId" clId="{D0B525D6-471A-4AEC-9E0A-4D9E31AAD555}" dt="2026-10-17T14:38:02.014" v="0" actId="26606"/>
          <ac:spMkLst>
            <pc:docMk/>
            <pc:sldMk cId="3296793622" sldId="256"/>
            <ac:spMk id="3" creationId="{79091FCA-7AF0-4DE3-87A5-7107189784FB}"/>
          </ac:spMkLst>
        </pc:spChg>
        <pc:spChg chg="del">
          <ac:chgData name="Chu Lin" userId="a9d5f5a05d2946b6" providerId="LiveId" clId="{D0B525D6-471A-4AEC-9E0A-4D9E31AAD555}" dt="2026-10-17T14:38:02.014" v="0" actId="26606"/>
          <ac:spMkLst>
            <pc:docMk/>
            <pc:sldMk cId="3296793622" sldId="256"/>
            <ac:spMk id="9" creationId="{33E93247-6229-44AB-A550-739E971E690B}"/>
          </ac:spMkLst>
        </pc:spChg>
        <pc:spChg chg="del">
          <ac:chgData name="Chu Lin" userId="a9d5f5a05d2946b6" providerId="LiveId" clId="{D0B525D6-471A-4AEC-9E0A-4D9E31AAD555}" dt="2026-10-17T14:38:02.014" v="0" actId="26606"/>
          <ac:spMkLst>
            <pc:docMk/>
            <pc:sldMk cId="3296793622" sldId="256"/>
            <ac:spMk id="11" creationId="{912025B4-7337-735E-4DC9-E634D2011984}"/>
          </ac:spMkLst>
        </pc:spChg>
        <pc:spChg chg="del">
          <ac:chgData name="Chu Lin" userId="a9d5f5a05d2946b6" providerId="LiveId" clId="{D0B525D6-471A-4AEC-9E0A-4D9E31AAD555}" dt="2026-10-17T14:38:02.014" v="0" actId="26606"/>
          <ac:spMkLst>
            <pc:docMk/>
            <pc:sldMk cId="3296793622" sldId="256"/>
            <ac:spMk id="13" creationId="{150CDACD-D191-E642-F686-FCB54B7E5F67}"/>
          </ac:spMkLst>
        </pc:spChg>
        <pc:spChg chg="add">
          <ac:chgData name="Chu Lin" userId="a9d5f5a05d2946b6" providerId="LiveId" clId="{D0B525D6-471A-4AEC-9E0A-4D9E31AAD555}" dt="2026-10-17T14:38:02.014" v="0" actId="26606"/>
          <ac:spMkLst>
            <pc:docMk/>
            <pc:sldMk cId="3296793622" sldId="256"/>
            <ac:spMk id="18" creationId="{8BEC44CD-E290-4D60-A056-5BA05B182AC3}"/>
          </ac:spMkLst>
        </pc:spChg>
        <pc:spChg chg="add">
          <ac:chgData name="Chu Lin" userId="a9d5f5a05d2946b6" providerId="LiveId" clId="{D0B525D6-471A-4AEC-9E0A-4D9E31AAD555}" dt="2026-10-17T14:38:02.014" v="0" actId="26606"/>
          <ac:spMkLst>
            <pc:docMk/>
            <pc:sldMk cId="3296793622" sldId="256"/>
            <ac:spMk id="20" creationId="{B2C335F7-F61C-4EB4-80F2-4B1438FE66BB}"/>
          </ac:spMkLst>
        </pc:spChg>
        <pc:spChg chg="add">
          <ac:chgData name="Chu Lin" userId="a9d5f5a05d2946b6" providerId="LiveId" clId="{D0B525D6-471A-4AEC-9E0A-4D9E31AAD555}" dt="2026-10-17T14:38:02.014" v="0" actId="26606"/>
          <ac:spMkLst>
            <pc:docMk/>
            <pc:sldMk cId="3296793622" sldId="256"/>
            <ac:spMk id="22" creationId="{F1189494-2B67-46D2-93D6-A122A09BF6B2}"/>
          </ac:spMkLst>
        </pc:spChg>
        <pc:picChg chg="mod">
          <ac:chgData name="Chu Lin" userId="a9d5f5a05d2946b6" providerId="LiveId" clId="{D0B525D6-471A-4AEC-9E0A-4D9E31AAD555}" dt="2026-10-17T14:38:02.014" v="0" actId="26606"/>
          <ac:picMkLst>
            <pc:docMk/>
            <pc:sldMk cId="3296793622" sldId="256"/>
            <ac:picMk id="4" creationId="{46529A70-3D97-5FDA-A1C9-9A64C040AB78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gain</c:v>
                </c:pt>
              </c:strCache>
            </c:strRef>
          </c:tx>
          <c:spPr>
            <a:solidFill>
              <a:srgbClr val="A6A6A6"/>
            </a:solidFill>
          </c:spPr>
          <c:invertIfNegative val="0"/>
          <c:dPt>
            <c:idx val="0"/>
            <c:invertIfNegative val="1"/>
            <c:bubble3D val="0"/>
            <c:spPr>
              <a:solidFill>
                <a:srgbClr val="C0504D"/>
              </a:solidFill>
            </c:spPr>
            <c:extLst>
              <c:ext xmlns:c16="http://schemas.microsoft.com/office/drawing/2014/chart" uri="{C3380CC4-5D6E-409C-BE32-E72D297353CC}">
                <c16:uniqueId val="{00000001-C7A9-418C-B2E8-65D127B9E821}"/>
              </c:ext>
            </c:extLst>
          </c:dPt>
          <c:dPt>
            <c:idx val="1"/>
            <c:invertIfNegative val="1"/>
            <c:bubble3D val="0"/>
            <c:spPr>
              <a:solidFill>
                <a:srgbClr val="C0504D"/>
              </a:solidFill>
            </c:spPr>
            <c:extLst>
              <c:ext xmlns:c16="http://schemas.microsoft.com/office/drawing/2014/chart" uri="{C3380CC4-5D6E-409C-BE32-E72D297353CC}">
                <c16:uniqueId val="{00000003-C7A9-418C-B2E8-65D127B9E821}"/>
              </c:ext>
            </c:extLst>
          </c:dPt>
          <c:dPt>
            <c:idx val="2"/>
            <c:invertIfNegative val="1"/>
            <c:bubble3D val="0"/>
            <c:spPr>
              <a:solidFill>
                <a:srgbClr val="C0504D"/>
              </a:solidFill>
            </c:spPr>
            <c:extLst>
              <c:ext xmlns:c16="http://schemas.microsoft.com/office/drawing/2014/chart" uri="{C3380CC4-5D6E-409C-BE32-E72D297353CC}">
                <c16:uniqueId val="{00000005-C7A9-418C-B2E8-65D127B9E821}"/>
              </c:ext>
            </c:extLst>
          </c:dPt>
          <c:dPt>
            <c:idx val="3"/>
            <c:invertIfNegative val="1"/>
            <c:bubble3D val="0"/>
            <c:spPr>
              <a:solidFill>
                <a:srgbClr val="C0504D"/>
              </a:solidFill>
            </c:spPr>
            <c:extLst>
              <c:ext xmlns:c16="http://schemas.microsoft.com/office/drawing/2014/chart" uri="{C3380CC4-5D6E-409C-BE32-E72D297353CC}">
                <c16:uniqueId val="{00000007-C7A9-418C-B2E8-65D127B9E821}"/>
              </c:ext>
            </c:extLst>
          </c:dPt>
          <c:dPt>
            <c:idx val="4"/>
            <c:invertIfNegative val="1"/>
            <c:bubble3D val="0"/>
            <c:spPr>
              <a:solidFill>
                <a:srgbClr val="7FA7CF"/>
              </a:solidFill>
            </c:spPr>
            <c:extLst>
              <c:ext xmlns:c16="http://schemas.microsoft.com/office/drawing/2014/chart" uri="{C3380CC4-5D6E-409C-BE32-E72D297353CC}">
                <c16:uniqueId val="{00000009-C7A9-418C-B2E8-65D127B9E821}"/>
              </c:ext>
            </c:extLst>
          </c:dPt>
          <c:dPt>
            <c:idx val="5"/>
            <c:invertIfNegative val="1"/>
            <c:bubble3D val="0"/>
            <c:spPr>
              <a:solidFill>
                <a:srgbClr val="1F4E79"/>
              </a:solidFill>
            </c:spPr>
            <c:extLst>
              <c:ext xmlns:c16="http://schemas.microsoft.com/office/drawing/2014/chart" uri="{C3380CC4-5D6E-409C-BE32-E72D297353CC}">
                <c16:uniqueId val="{0000000B-C7A9-418C-B2E8-65D127B9E821}"/>
              </c:ext>
            </c:extLst>
          </c:dPt>
          <c:dLbls>
            <c:numFmt formatCode="\+0.00;\-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RWM</c:v>
                </c:pt>
                <c:pt idx="1">
                  <c:v>Graph
MLP</c:v>
                </c:pt>
                <c:pt idx="2">
                  <c:v>PETS</c:v>
                </c:pt>
                <c:pt idx="3">
                  <c:v>QWM-
style</c:v>
                </c:pt>
                <c:pt idx="4">
                  <c:v>DeLaN-
style</c:v>
                </c:pt>
                <c:pt idx="5">
                  <c:v>Ours
(B)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-1.37</c:v>
                </c:pt>
                <c:pt idx="1">
                  <c:v>-1.1200000000000001</c:v>
                </c:pt>
                <c:pt idx="2">
                  <c:v>-0.67</c:v>
                </c:pt>
                <c:pt idx="3">
                  <c:v>-0.35</c:v>
                </c:pt>
                <c:pt idx="4">
                  <c:v>0.09</c:v>
                </c:pt>
                <c:pt idx="5">
                  <c:v>7.0000000000000007E-2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C7A9-418C-B2E8-65D127B9E82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A6A6A6"/>
            </a:solidFill>
          </a:ln>
        </c:spPr>
        <c:txPr>
          <a:bodyPr/>
          <a:lstStyle/>
          <a:p>
            <a:pPr>
              <a:defRPr sz="12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0.4"/>
          <c:min val="-1.6"/>
        </c:scaling>
        <c:delete val="0"/>
        <c:axPos val="l"/>
        <c:majorGridlines>
          <c:spPr>
            <a:ln>
              <a:solidFill>
                <a:srgbClr val="D9D9D9"/>
              </a:solidFill>
            </a:ln>
          </c:spPr>
        </c:majorGridlines>
        <c:numFmt formatCode="\+0.00;\-0.0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R2</c:v>
                </c:pt>
              </c:strCache>
            </c:strRef>
          </c:tx>
          <c:spPr>
            <a:solidFill>
              <a:srgbClr val="A6A6A6"/>
            </a:solidFill>
          </c:spPr>
          <c:invertIfNegative val="0"/>
          <c:dPt>
            <c:idx val="0"/>
            <c:invertIfNegative val="1"/>
            <c:bubble3D val="0"/>
            <c:spPr>
              <a:solidFill>
                <a:srgbClr val="A6A6A6"/>
              </a:solidFill>
            </c:spPr>
            <c:extLst>
              <c:ext xmlns:c16="http://schemas.microsoft.com/office/drawing/2014/chart" uri="{C3380CC4-5D6E-409C-BE32-E72D297353CC}">
                <c16:uniqueId val="{00000001-6F99-43AC-855D-BB087BD818B2}"/>
              </c:ext>
            </c:extLst>
          </c:dPt>
          <c:dPt>
            <c:idx val="1"/>
            <c:invertIfNegative val="1"/>
            <c:bubble3D val="0"/>
            <c:spPr>
              <a:solidFill>
                <a:srgbClr val="A6A6A6"/>
              </a:solidFill>
            </c:spPr>
            <c:extLst>
              <c:ext xmlns:c16="http://schemas.microsoft.com/office/drawing/2014/chart" uri="{C3380CC4-5D6E-409C-BE32-E72D297353CC}">
                <c16:uniqueId val="{00000003-6F99-43AC-855D-BB087BD818B2}"/>
              </c:ext>
            </c:extLst>
          </c:dPt>
          <c:dPt>
            <c:idx val="2"/>
            <c:invertIfNegative val="1"/>
            <c:bubble3D val="0"/>
            <c:spPr>
              <a:solidFill>
                <a:srgbClr val="1F4E79"/>
              </a:solidFill>
            </c:spPr>
            <c:extLst>
              <c:ext xmlns:c16="http://schemas.microsoft.com/office/drawing/2014/chart" uri="{C3380CC4-5D6E-409C-BE32-E72D297353CC}">
                <c16:uniqueId val="{00000005-6F99-43AC-855D-BB087BD818B2}"/>
              </c:ext>
            </c:extLst>
          </c:dPt>
          <c:dPt>
            <c:idx val="3"/>
            <c:invertIfNegative val="1"/>
            <c:bubble3D val="0"/>
            <c:spPr>
              <a:solidFill>
                <a:srgbClr val="A6A6A6"/>
              </a:solidFill>
            </c:spPr>
            <c:extLst>
              <c:ext xmlns:c16="http://schemas.microsoft.com/office/drawing/2014/chart" uri="{C3380CC4-5D6E-409C-BE32-E72D297353CC}">
                <c16:uniqueId val="{00000007-6F99-43AC-855D-BB087BD818B2}"/>
              </c:ext>
            </c:extLst>
          </c:dPt>
          <c:dPt>
            <c:idx val="4"/>
            <c:invertIfNegative val="1"/>
            <c:bubble3D val="0"/>
            <c:spPr>
              <a:solidFill>
                <a:srgbClr val="A6A6A6"/>
              </a:solidFill>
            </c:spPr>
            <c:extLst>
              <c:ext xmlns:c16="http://schemas.microsoft.com/office/drawing/2014/chart" uri="{C3380CC4-5D6E-409C-BE32-E72D297353CC}">
                <c16:uniqueId val="{00000009-6F99-43AC-855D-BB087BD818B2}"/>
              </c:ext>
            </c:extLst>
          </c:dPt>
          <c:dPt>
            <c:idx val="5"/>
            <c:invertIfNegative val="1"/>
            <c:bubble3D val="0"/>
            <c:spPr>
              <a:solidFill>
                <a:srgbClr val="7FA7CF"/>
              </a:solidFill>
            </c:spPr>
            <c:extLst>
              <c:ext xmlns:c16="http://schemas.microsoft.com/office/drawing/2014/chart" uri="{C3380CC4-5D6E-409C-BE32-E72D297353CC}">
                <c16:uniqueId val="{0000000B-6F99-43AC-855D-BB087BD818B2}"/>
              </c:ext>
            </c:extLst>
          </c:dPt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PETS</c:v>
                </c:pt>
                <c:pt idx="1">
                  <c:v>QWM-
style</c:v>
                </c:pt>
                <c:pt idx="2">
                  <c:v>Ours
(B)</c:v>
                </c:pt>
                <c:pt idx="3">
                  <c:v>Graph
MLP</c:v>
                </c:pt>
                <c:pt idx="4">
                  <c:v>RWM-50</c:v>
                </c:pt>
                <c:pt idx="5">
                  <c:v>DeLaN-
style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0.503</c:v>
                </c:pt>
                <c:pt idx="1">
                  <c:v>0.72499999999999998</c:v>
                </c:pt>
                <c:pt idx="2">
                  <c:v>0.746</c:v>
                </c:pt>
                <c:pt idx="3">
                  <c:v>0.747</c:v>
                </c:pt>
                <c:pt idx="4">
                  <c:v>0.752</c:v>
                </c:pt>
                <c:pt idx="5">
                  <c:v>0.754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6F99-43AC-855D-BB087BD818B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A6A6A6"/>
            </a:solidFill>
          </a:ln>
        </c:spPr>
        <c:txPr>
          <a:bodyPr/>
          <a:lstStyle/>
          <a:p>
            <a:pPr>
              <a:defRPr sz="12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"/>
          <c:min val="0"/>
        </c:scaling>
        <c:delete val="0"/>
        <c:axPos val="l"/>
        <c:majorGridlines>
          <c:spPr>
            <a:ln>
              <a:solidFill>
                <a:srgbClr val="D9D9D9"/>
              </a:solidFill>
            </a:ln>
          </c:spPr>
        </c:majorGridlines>
        <c:numFmt formatCode="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4D016C-ECDF-46DE-91F2-0243AE75E057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24184B-A2B8-4334-AEDC-B3E866DEE5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1741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这次汇报的目的有两个，对应这两周做的两个</a:t>
            </a:r>
            <a:r>
              <a:rPr dirty="0"/>
              <a:t> notebook。</a:t>
            </a:r>
          </a:p>
          <a:p>
            <a:endParaRPr dirty="0"/>
          </a:p>
          <a:p>
            <a:r>
              <a:rPr dirty="0"/>
              <a:t>① 补充对比实验（v3）。</a:t>
            </a:r>
            <a:r>
              <a:rPr dirty="0" err="1"/>
              <a:t>之前我们只和</a:t>
            </a:r>
            <a:r>
              <a:rPr dirty="0"/>
              <a:t> RWM、PETS </a:t>
            </a:r>
            <a:r>
              <a:rPr dirty="0" err="1"/>
              <a:t>比，PETS</a:t>
            </a:r>
            <a:r>
              <a:rPr dirty="0"/>
              <a:t> 是 2018 </a:t>
            </a:r>
            <a:r>
              <a:rPr dirty="0" err="1"/>
              <a:t>年的，太老；教授也指出对比不够突出。所以</a:t>
            </a:r>
            <a:r>
              <a:rPr dirty="0"/>
              <a:t> v3 加入了更新的方法：QWM-style（2026，按机器人参数条件化的世界模型；作者没公开代码，我们把它的参数输入方式装在 RWM </a:t>
            </a:r>
            <a:r>
              <a:rPr dirty="0" err="1"/>
              <a:t>主干上，所以叫</a:t>
            </a:r>
            <a:r>
              <a:rPr dirty="0"/>
              <a:t> QWM-style）、</a:t>
            </a:r>
            <a:r>
              <a:rPr dirty="0" err="1"/>
              <a:t>DeLaN-style（Context-aware</a:t>
            </a:r>
            <a:r>
              <a:rPr dirty="0"/>
              <a:t> </a:t>
            </a:r>
            <a:r>
              <a:rPr dirty="0" err="1"/>
              <a:t>DeLaN</a:t>
            </a:r>
            <a:r>
              <a:rPr dirty="0"/>
              <a:t> 2025 </a:t>
            </a:r>
            <a:r>
              <a:rPr dirty="0" err="1"/>
              <a:t>的做法，能量结构</a:t>
            </a:r>
            <a:r>
              <a:rPr dirty="0"/>
              <a:t> + </a:t>
            </a:r>
            <a:r>
              <a:rPr dirty="0" err="1"/>
              <a:t>已知</a:t>
            </a:r>
            <a:r>
              <a:rPr dirty="0"/>
              <a:t> PD </a:t>
            </a:r>
            <a:r>
              <a:rPr dirty="0" err="1"/>
              <a:t>控制器</a:t>
            </a:r>
            <a:r>
              <a:rPr dirty="0"/>
              <a:t>），</a:t>
            </a:r>
            <a:r>
              <a:rPr dirty="0" err="1"/>
              <a:t>以及</a:t>
            </a:r>
            <a:r>
              <a:rPr dirty="0"/>
              <a:t> Graph </a:t>
            </a:r>
            <a:r>
              <a:rPr dirty="0" err="1"/>
              <a:t>MLP。每个模型都有'给真实质量'和'不给质量'两个版本，数据、预测窗口、评分方式完全相同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② </a:t>
            </a:r>
            <a:r>
              <a:rPr dirty="0" err="1"/>
              <a:t>把更好的算法用在</a:t>
            </a:r>
            <a:r>
              <a:rPr dirty="0"/>
              <a:t> OOD 问题上（v4）。v3 </a:t>
            </a:r>
            <a:r>
              <a:rPr dirty="0" err="1"/>
              <a:t>显示我们的</a:t>
            </a:r>
            <a:r>
              <a:rPr dirty="0"/>
              <a:t> B </a:t>
            </a:r>
            <a:r>
              <a:rPr dirty="0" err="1"/>
              <a:t>还不是最好的，所以</a:t>
            </a:r>
            <a:r>
              <a:rPr dirty="0"/>
              <a:t> v4 </a:t>
            </a:r>
            <a:r>
              <a:rPr dirty="0" err="1"/>
              <a:t>不再只加基线，而是做受控比较，找出到底是哪个设计让模型能外推，再在此基础上提出新模型</a:t>
            </a:r>
            <a:r>
              <a:rPr dirty="0"/>
              <a:t> MFL。</a:t>
            </a:r>
          </a:p>
          <a:p>
            <a:endParaRPr dirty="0"/>
          </a:p>
          <a:p>
            <a:r>
              <a:rPr dirty="0" err="1"/>
              <a:t>设定和之前一样：CausalWorld</a:t>
            </a:r>
            <a:r>
              <a:rPr dirty="0"/>
              <a:t> TriFinger，9 </a:t>
            </a:r>
            <a:r>
              <a:rPr dirty="0" err="1"/>
              <a:t>个活动连杆的质量训练时取轻的一段，测试时取重的一段，中间留空档，测试质量平均约为训练的</a:t>
            </a:r>
            <a:r>
              <a:rPr dirty="0"/>
              <a:t> 1.85 </a:t>
            </a:r>
            <a:r>
              <a:rPr dirty="0" err="1"/>
              <a:t>倍。所有模型从第</a:t>
            </a:r>
            <a:r>
              <a:rPr dirty="0"/>
              <a:t> 32 </a:t>
            </a:r>
            <a:r>
              <a:rPr dirty="0" err="1"/>
              <a:t>步的真实状态出发，用记录的动作往后预测</a:t>
            </a:r>
            <a:r>
              <a:rPr dirty="0"/>
              <a:t> 100 步（250 Hz，0.4 秒），只反馈自己的预测。2 </a:t>
            </a:r>
            <a:r>
              <a:rPr dirty="0" err="1"/>
              <a:t>个任务</a:t>
            </a:r>
            <a:r>
              <a:rPr dirty="0"/>
              <a:t> × 5 个 seed = 10 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左图：每个模型'给真实质量'减去'不给质量'的</a:t>
            </a:r>
            <a:r>
              <a:rPr dirty="0"/>
              <a:t> OOD R²（重手指，100 步平均，10 </a:t>
            </a:r>
            <a:r>
              <a:rPr dirty="0" err="1"/>
              <a:t>组的中位数</a:t>
            </a:r>
            <a:r>
              <a:rPr dirty="0"/>
              <a:t>）。</a:t>
            </a:r>
            <a:r>
              <a:rPr dirty="0" err="1"/>
              <a:t>正数表示真实质量有帮助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黑盒模型（RWM、PETS、Graph</a:t>
            </a:r>
            <a:r>
              <a:rPr dirty="0"/>
              <a:t> MLP、QWM-style）拿到比训练更重的质量反而变差，10 </a:t>
            </a:r>
            <a:r>
              <a:rPr dirty="0" err="1"/>
              <a:t>组里</a:t>
            </a:r>
            <a:r>
              <a:rPr dirty="0"/>
              <a:t> 0 </a:t>
            </a:r>
            <a:r>
              <a:rPr dirty="0" err="1"/>
              <a:t>组变好。RWM</a:t>
            </a:r>
            <a:r>
              <a:rPr dirty="0"/>
              <a:t> 从 0.72 </a:t>
            </a:r>
            <a:r>
              <a:rPr dirty="0" err="1"/>
              <a:t>掉到</a:t>
            </a:r>
            <a:r>
              <a:rPr dirty="0"/>
              <a:t> −0.65。原因是网络只在轻质量上学过'质量怎么起作用'，超出范围后外推方向是错的。QWM-style </a:t>
            </a:r>
            <a:r>
              <a:rPr dirty="0" err="1"/>
              <a:t>掉得最少</a:t>
            </a:r>
            <a:r>
              <a:rPr dirty="0"/>
              <a:t>（−0.35），</a:t>
            </a:r>
            <a:r>
              <a:rPr dirty="0" err="1"/>
              <a:t>但也是</a:t>
            </a:r>
            <a:r>
              <a:rPr dirty="0"/>
              <a:t> 0/10。</a:t>
            </a:r>
          </a:p>
          <a:p>
            <a:endParaRPr dirty="0"/>
          </a:p>
          <a:p>
            <a:r>
              <a:rPr dirty="0" err="1"/>
              <a:t>带物理结构的模型（DeLaN-style</a:t>
            </a:r>
            <a:r>
              <a:rPr dirty="0"/>
              <a:t> </a:t>
            </a:r>
            <a:r>
              <a:rPr dirty="0" err="1"/>
              <a:t>和我们的</a:t>
            </a:r>
            <a:r>
              <a:rPr dirty="0"/>
              <a:t> B）拿到真实质量后变好，10/10：DeLaN-style +0.094，B +0.071。</a:t>
            </a:r>
          </a:p>
          <a:p>
            <a:endParaRPr dirty="0"/>
          </a:p>
          <a:p>
            <a:r>
              <a:rPr dirty="0" err="1"/>
              <a:t>成对干预测试（两条仿真从同一状态、同一组动作出发，只改一个连杆质量）也一致：越界时第</a:t>
            </a:r>
            <a:r>
              <a:rPr dirty="0"/>
              <a:t> 1 </a:t>
            </a:r>
            <a:r>
              <a:rPr dirty="0" err="1"/>
              <a:t>步的效应分数</a:t>
            </a:r>
            <a:r>
              <a:rPr dirty="0"/>
              <a:t> </a:t>
            </a:r>
            <a:r>
              <a:rPr dirty="0" err="1"/>
              <a:t>DeLaN</a:t>
            </a:r>
            <a:r>
              <a:rPr dirty="0"/>
              <a:t>-style 0.89、B 0.85，而 Graph MLP −0.21、PETS −0.18（符号都反了）。</a:t>
            </a:r>
            <a:r>
              <a:rPr dirty="0" err="1"/>
              <a:t>但到第</a:t>
            </a:r>
            <a:r>
              <a:rPr dirty="0"/>
              <a:t> 25 </a:t>
            </a:r>
            <a:r>
              <a:rPr dirty="0" err="1"/>
              <a:t>步，所有模型都接近</a:t>
            </a:r>
            <a:r>
              <a:rPr dirty="0"/>
              <a:t> 0，多步效应仍然是难点。</a:t>
            </a:r>
          </a:p>
          <a:p>
            <a:endParaRPr dirty="0"/>
          </a:p>
          <a:p>
            <a:r>
              <a:rPr dirty="0" err="1"/>
              <a:t>右图：每个家族最好版本的</a:t>
            </a:r>
            <a:r>
              <a:rPr dirty="0"/>
              <a:t> OOD R²。最好的几个都在 0.75 </a:t>
            </a:r>
            <a:r>
              <a:rPr dirty="0" err="1"/>
              <a:t>左右：DeLaN-style</a:t>
            </a:r>
            <a:r>
              <a:rPr dirty="0"/>
              <a:t> 0.754、RWM-50（不给质量）0.752、B 0.746、Graph MLP（不给质量）0.747。所以结论是：物理结构让真实质量变成有用的信息，但还没有模型在准确率上明显领先。B 对 </a:t>
            </a:r>
            <a:r>
              <a:rPr dirty="0" err="1"/>
              <a:t>DeLaN</a:t>
            </a:r>
            <a:r>
              <a:rPr dirty="0"/>
              <a:t>-style </a:t>
            </a:r>
            <a:r>
              <a:rPr dirty="0" err="1"/>
              <a:t>只赢</a:t>
            </a:r>
            <a:r>
              <a:rPr dirty="0"/>
              <a:t> 3/10。这就是 v4 </a:t>
            </a:r>
            <a:r>
              <a:rPr dirty="0" err="1"/>
              <a:t>要改进的地方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v4 回答'收益到底来自哪里'。我们把模型拆成两个因素，各取两种做法，组成 2×2：</a:t>
            </a:r>
          </a:p>
          <a:p>
            <a:r>
              <a:t>列：质量怎么进入模型——当成网络输入（网络自己学质量的作用），或者当成物理系数（惯性 = Σ 质量 × 学到的形状，质量翻倍惯性就翻倍）。</a:t>
            </a:r>
          </a:p>
          <a:p>
            <a:r>
              <a:t>行：力从哪里来——网络自由输出科氏力和重力，或者由同一个动能和势能推导出来（拉格朗日结构）。</a:t>
            </a:r>
          </a:p>
          <a:p>
            <a:endParaRPr/>
          </a:p>
          <a:p>
            <a:r>
              <a:t>四格分别对应：参数条件化网络、我们现在的 B、DeLaN-style（直接复用 v3 的模型）、以及融合版 B。</a:t>
            </a:r>
          </a:p>
          <a:p>
            <a:endParaRPr/>
          </a:p>
          <a:p>
            <a:r>
              <a:t>公平性：四格用同一个已知 PD 控制器、同一个不读质量的残差、同一积分器、同一数据和训练配方；每一格都另外训练一个固定质量的对照，所以'给质量的收益'在每一格里都能单独算。</a:t>
            </a:r>
          </a:p>
          <a:p>
            <a:endParaRPr/>
          </a:p>
          <a:p>
            <a:r>
              <a:t>在融合版 B 基础上，我们提出 MFL，加三条规则：P，所有和质量有关的惯性和势能都乘以已知质量（没有不随质量变的部分）；K，每节连杆只受带动它的关节影响（运动链结构，FeLaN 也用类似结构，我们会引用）；S，三根手指共享连杆模块。每条规则都有去掉它的消融。</a:t>
            </a:r>
          </a:p>
          <a:p>
            <a:endParaRPr/>
          </a:p>
          <a:p>
            <a:r>
              <a:t>评价：OOD 预测误差、按越界程度分层的误差、成对仿真的干预响应，以及模型内部惯性是否随质量正比变化。</a:t>
            </a:r>
          </a:p>
          <a:p>
            <a:endParaRPr/>
          </a:p>
          <a:p>
            <a:r>
              <a:t>状态：notebook 已经做好并在合成数据上测试通过，正在跑真实数据。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294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07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1147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713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0269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223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010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917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315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0624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461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697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8BEC44CD-E290-4D60-A056-5BA05B182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529A70-3D97-5FDA-A1C9-9A64C040AB7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12791"/>
          <a:stretch>
            <a:fillRect/>
          </a:stretch>
        </p:blipFill>
        <p:spPr>
          <a:xfrm>
            <a:off x="-2" y="-4"/>
            <a:ext cx="12192001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CA4163-5BD5-1494-37A3-0088ED8410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8"/>
            <a:ext cx="5021182" cy="2450592"/>
          </a:xfrm>
        </p:spPr>
        <p:txBody>
          <a:bodyPr anchor="t">
            <a:normAutofit/>
          </a:bodyPr>
          <a:lstStyle/>
          <a:p>
            <a:r>
              <a:rPr lang="en-US" altLang="zh-CN" sz="6000">
                <a:solidFill>
                  <a:srgbClr val="FFFFFF"/>
                </a:solidFill>
              </a:rPr>
              <a:t>Baselines &amp; OOD</a:t>
            </a:r>
            <a:endParaRPr lang="en-US" sz="600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091FCA-7AF0-4DE3-87A5-7107189784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52366" y="4017818"/>
            <a:ext cx="5040785" cy="1828799"/>
          </a:xfrm>
        </p:spPr>
        <p:txBody>
          <a:bodyPr anchor="b">
            <a:normAutofit/>
          </a:bodyPr>
          <a:lstStyle/>
          <a:p>
            <a:r>
              <a:rPr lang="en-US" sz="2400">
                <a:solidFill>
                  <a:srgbClr val="FFFFFF"/>
                </a:solidFill>
              </a:rPr>
              <a:t>chu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1189494-2B67-46D2-93D6-A122A09BF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6209925"/>
            <a:ext cx="5021183" cy="45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7936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Goal: comparison + better OOD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2514600"/>
            <a:ext cx="5394960" cy="2651760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606040"/>
            <a:ext cx="493776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</a:rPr>
              <a:t>① Add newer baselines (v3)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2514600"/>
            <a:ext cx="5394960" cy="2651760"/>
          </a:xfrm>
          <a:prstGeom prst="roundRect">
            <a:avLst>
              <a:gd name="adj" fmla="val 12000"/>
            </a:avLst>
          </a:prstGeom>
          <a:solidFill>
            <a:srgbClr val="DE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92240" y="2606040"/>
            <a:ext cx="493776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000" b="1">
                <a:solidFill>
                  <a:srgbClr val="1F4E79"/>
                </a:solidFill>
              </a:rPr>
              <a:t>② Better OOD model (v4)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154680"/>
            <a:ext cx="155448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</a:rPr>
              <a:t>RWM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3154680"/>
            <a:ext cx="6858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>
                <a:solidFill>
                  <a:srgbClr val="595959"/>
                </a:solidFill>
              </a:rPr>
              <a:t>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3154680"/>
            <a:ext cx="283464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>
                <a:solidFill>
                  <a:srgbClr val="595959"/>
                </a:solidFill>
              </a:rPr>
              <a:t>history world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520440"/>
            <a:ext cx="155448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</a:rPr>
              <a:t>QWM-style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3520440"/>
            <a:ext cx="6858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>
                <a:solidFill>
                  <a:srgbClr val="595959"/>
                </a:solidFill>
              </a:rPr>
              <a:t>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3520440"/>
            <a:ext cx="283464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>
                <a:solidFill>
                  <a:srgbClr val="595959"/>
                </a:solidFill>
              </a:rPr>
              <a:t>conditioned on robot parameters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886200"/>
            <a:ext cx="155448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</a:rPr>
              <a:t>DeLaN-style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3886200"/>
            <a:ext cx="6858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>
                <a:solidFill>
                  <a:srgbClr val="595959"/>
                </a:solidFill>
              </a:rPr>
              <a:t>2025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3886200"/>
            <a:ext cx="283464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>
                <a:solidFill>
                  <a:srgbClr val="595959"/>
                </a:solidFill>
              </a:rPr>
              <a:t>energy structure + known PD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251960"/>
            <a:ext cx="155448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</a:rPr>
              <a:t>PETS-style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4251960"/>
            <a:ext cx="6858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>
                <a:solidFill>
                  <a:srgbClr val="595959"/>
                </a:solidFill>
              </a:rPr>
              <a:t>2018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4251960"/>
            <a:ext cx="283464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>
                <a:solidFill>
                  <a:srgbClr val="595959"/>
                </a:solidFill>
              </a:rPr>
              <a:t>probabilistic ensemble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617720"/>
            <a:ext cx="155448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</a:rPr>
              <a:t>Graph MLP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31720" y="4617720"/>
            <a:ext cx="6858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>
                <a:solidFill>
                  <a:srgbClr val="595959"/>
                </a:solidFill>
              </a:rPr>
              <a:t>ours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4617720"/>
            <a:ext cx="283464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>
                <a:solidFill>
                  <a:srgbClr val="595959"/>
                </a:solidFill>
              </a:rPr>
              <a:t>per-finger graph, MLP mechanism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154680"/>
            <a:ext cx="4937760" cy="18288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500">
                <a:solidFill>
                  <a:srgbClr val="1A1A1A"/>
                </a:solidFill>
              </a:rPr>
              <a:t>Which design makes the mass </a:t>
            </a:r>
            <a:r>
              <a:rPr sz="1500" b="1">
                <a:solidFill>
                  <a:srgbClr val="1A1A1A"/>
                </a:solidFill>
              </a:rPr>
              <a:t>extrapolate</a:t>
            </a:r>
            <a:r>
              <a:rPr sz="1500">
                <a:solidFill>
                  <a:srgbClr val="1A1A1A"/>
                </a:solidFill>
              </a:rPr>
              <a:t>?</a:t>
            </a:r>
          </a:p>
          <a:p>
            <a:pPr algn="l"/>
            <a:endParaRPr sz="1500">
              <a:solidFill>
                <a:srgbClr val="1A1A1A"/>
              </a:solidFill>
            </a:endParaRPr>
          </a:p>
          <a:p>
            <a:pPr algn="l"/>
            <a:r>
              <a:rPr sz="1500" b="1">
                <a:solidFill>
                  <a:srgbClr val="1A1A1A"/>
                </a:solidFill>
              </a:rPr>
              <a:t>2×2 test</a:t>
            </a:r>
            <a:r>
              <a:rPr sz="1500">
                <a:solidFill>
                  <a:srgbClr val="1A1A1A"/>
                </a:solidFill>
              </a:rPr>
              <a:t>: how the mass enters × where forces come from</a:t>
            </a:r>
          </a:p>
          <a:p>
            <a:pPr algn="l"/>
            <a:endParaRPr sz="1500">
              <a:solidFill>
                <a:srgbClr val="1A1A1A"/>
              </a:solidFill>
            </a:endParaRPr>
          </a:p>
          <a:p>
            <a:pPr algn="l"/>
            <a:r>
              <a:rPr sz="1500">
                <a:solidFill>
                  <a:srgbClr val="1A1A1A"/>
                </a:solidFill>
              </a:rPr>
              <a:t>→ new model: </a:t>
            </a:r>
            <a:r>
              <a:rPr sz="1500" b="1">
                <a:solidFill>
                  <a:srgbClr val="1A1A1A"/>
                </a:solidFill>
              </a:rPr>
              <a:t>mass-factorized Lagrangian (MFL)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623560"/>
            <a:ext cx="2304288" cy="4572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train: light links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52928" y="5623560"/>
            <a:ext cx="1152144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>
                <a:solidFill>
                  <a:srgbClr val="595959"/>
                </a:solidFill>
              </a:rPr>
              <a:t>gap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005072" y="5623560"/>
            <a:ext cx="2304288" cy="4572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test: heavy (≈1.85×)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5605272"/>
            <a:ext cx="512064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>
                <a:solidFill>
                  <a:srgbClr val="595959"/>
                </a:solidFill>
              </a:rPr>
              <a:t>CausalWorld TriFinger · 100-step forecast from s₃₂ (250 Hz)</a:t>
            </a:r>
          </a:p>
          <a:p>
            <a:pPr algn="l"/>
            <a:r>
              <a:rPr sz="1300">
                <a:solidFill>
                  <a:srgbClr val="595959"/>
                </a:solidFill>
              </a:rPr>
              <a:t>same data and scoring for every model · 10 runs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v3: masses help only physics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2514600"/>
          <a:ext cx="566928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852160"/>
            <a:ext cx="566928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i="1">
                <a:solidFill>
                  <a:srgbClr val="595959"/>
                </a:solidFill>
              </a:rPr>
              <a:t>OOD R² with true masses − without · runs improved: 0/10 (red), 10/10 (blue)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0" y="2514600"/>
          <a:ext cx="530352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0" y="5852160"/>
            <a:ext cx="530352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i="1">
                <a:solidFill>
                  <a:srgbClr val="595959"/>
                </a:solidFill>
              </a:rPr>
              <a:t>best version of each model, OOD R² (median of 10 runs)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217920"/>
            <a:ext cx="1115568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500" b="1">
                <a:solidFill>
                  <a:srgbClr val="1A1A1A"/>
                </a:solidFill>
              </a:rPr>
              <a:t>Physics structure turns the true mass into a gain — but no model is clearly most accurate yet.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v4: which design extrapolates?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40280" y="2423160"/>
            <a:ext cx="233172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400">
                <a:solidFill>
                  <a:srgbClr val="1A1A1A"/>
                </a:solidFill>
              </a:rPr>
              <a:t>mass as </a:t>
            </a:r>
            <a:r>
              <a:rPr sz="1400" b="1">
                <a:solidFill>
                  <a:srgbClr val="1A1A1A"/>
                </a:solidFill>
              </a:rPr>
              <a:t>network input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09160" y="2423160"/>
            <a:ext cx="233172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400">
                <a:solidFill>
                  <a:srgbClr val="1A1A1A"/>
                </a:solidFill>
              </a:rPr>
              <a:t>mass as </a:t>
            </a:r>
            <a:r>
              <a:rPr sz="1400" b="1">
                <a:solidFill>
                  <a:srgbClr val="1A1A1A"/>
                </a:solidFill>
              </a:rPr>
              <a:t>coefficient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154679"/>
            <a:ext cx="160020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400">
                <a:solidFill>
                  <a:srgbClr val="1A1A1A"/>
                </a:solidFill>
              </a:rPr>
              <a:t>forces:</a:t>
            </a:r>
          </a:p>
          <a:p>
            <a:pPr algn="r"/>
            <a:r>
              <a:rPr sz="1400" b="1">
                <a:solidFill>
                  <a:srgbClr val="1A1A1A"/>
                </a:solidFill>
              </a:rPr>
              <a:t>free network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43400"/>
            <a:ext cx="160020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400">
                <a:solidFill>
                  <a:srgbClr val="1A1A1A"/>
                </a:solidFill>
              </a:rPr>
              <a:t>forces:</a:t>
            </a:r>
          </a:p>
          <a:p>
            <a:pPr algn="r"/>
            <a:r>
              <a:rPr sz="1400" b="1">
                <a:solidFill>
                  <a:srgbClr val="1A1A1A"/>
                </a:solidFill>
              </a:rPr>
              <a:t>from energy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40280" y="2880360"/>
            <a:ext cx="233172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500" b="1">
                <a:solidFill>
                  <a:srgbClr val="1A1A1A"/>
                </a:solidFill>
              </a:rPr>
              <a:t>conditioned net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09160" y="2880360"/>
            <a:ext cx="233172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500" b="1">
                <a:solidFill>
                  <a:srgbClr val="1F4E79"/>
                </a:solidFill>
              </a:rPr>
              <a:t>current 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40280" y="4069079"/>
            <a:ext cx="233172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500" b="1">
                <a:solidFill>
                  <a:srgbClr val="1A1A1A"/>
                </a:solidFill>
              </a:rPr>
              <a:t>DeLaN-style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09160" y="4069079"/>
            <a:ext cx="2331720" cy="1051560"/>
          </a:xfrm>
          <a:prstGeom prst="roundRect">
            <a:avLst>
              <a:gd name="adj" fmla="val 12000"/>
            </a:avLst>
          </a:prstGeom>
          <a:solidFill>
            <a:srgbClr val="DEEAF4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500" b="1">
                <a:solidFill>
                  <a:srgbClr val="1F4E79"/>
                </a:solidFill>
              </a:rPr>
              <a:t>fused B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086600" y="4752594"/>
            <a:ext cx="411479" cy="0"/>
          </a:xfrm>
          <a:prstGeom prst="line">
            <a:avLst/>
          </a:prstGeom>
          <a:ln w="38100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589520" y="2286000"/>
            <a:ext cx="4069080" cy="3017520"/>
          </a:xfrm>
          <a:prstGeom prst="roundRect">
            <a:avLst>
              <a:gd name="adj" fmla="val 12000"/>
            </a:avLst>
          </a:prstGeom>
          <a:solidFill>
            <a:srgbClr val="DE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0" y="2377440"/>
            <a:ext cx="3749039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000" b="1">
                <a:solidFill>
                  <a:srgbClr val="1F4E79"/>
                </a:solidFill>
              </a:rPr>
              <a:t>Proposed: MFL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2880360"/>
            <a:ext cx="3749039" cy="23774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</a:rPr>
              <a:t>fused B + three rules</a:t>
            </a:r>
          </a:p>
          <a:p>
            <a:pPr algn="l"/>
            <a:endParaRPr sz="1400">
              <a:solidFill>
                <a:srgbClr val="1A1A1A"/>
              </a:solidFill>
            </a:endParaRPr>
          </a:p>
          <a:p>
            <a:pPr algn="l"/>
            <a:r>
              <a:rPr sz="1400" b="1">
                <a:solidFill>
                  <a:srgbClr val="1A1A1A"/>
                </a:solidFill>
              </a:rPr>
              <a:t>P</a:t>
            </a:r>
            <a:r>
              <a:rPr sz="1400">
                <a:solidFill>
                  <a:srgbClr val="1A1A1A"/>
                </a:solidFill>
              </a:rPr>
              <a:t> all inertia and potential ∝ known mass</a:t>
            </a:r>
          </a:p>
          <a:p>
            <a:pPr algn="l"/>
            <a:r>
              <a:rPr sz="1400" b="1">
                <a:solidFill>
                  <a:srgbClr val="1A1A1A"/>
                </a:solidFill>
              </a:rPr>
              <a:t>K</a:t>
            </a:r>
            <a:r>
              <a:rPr sz="1400">
                <a:solidFill>
                  <a:srgbClr val="1A1A1A"/>
                </a:solidFill>
              </a:rPr>
              <a:t> a link reads only its moving joints</a:t>
            </a:r>
          </a:p>
          <a:p>
            <a:pPr algn="l"/>
            <a:r>
              <a:rPr sz="1400" b="1">
                <a:solidFill>
                  <a:srgbClr val="1A1A1A"/>
                </a:solidFill>
              </a:rPr>
              <a:t>S</a:t>
            </a:r>
            <a:r>
              <a:rPr sz="1400">
                <a:solidFill>
                  <a:srgbClr val="1A1A1A"/>
                </a:solidFill>
              </a:rPr>
              <a:t> the three fingers share link modules</a:t>
            </a:r>
          </a:p>
          <a:p>
            <a:pPr algn="l"/>
            <a:endParaRPr sz="1400">
              <a:solidFill>
                <a:srgbClr val="1A1A1A"/>
              </a:solidFill>
            </a:endParaRPr>
          </a:p>
          <a:p>
            <a:pPr algn="l"/>
            <a:r>
              <a:rPr sz="1400">
                <a:solidFill>
                  <a:srgbClr val="1A1A1A"/>
                </a:solidFill>
              </a:rPr>
              <a:t>each rule removed once (ablation)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440680"/>
            <a:ext cx="11109960" cy="868680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5486400"/>
            <a:ext cx="10789920" cy="8229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</a:rPr>
              <a:t>Fair</a:t>
            </a:r>
            <a:r>
              <a:rPr sz="1400">
                <a:solidFill>
                  <a:srgbClr val="1A1A1A"/>
                </a:solidFill>
              </a:rPr>
              <a:t>: same known PD controller, residual, integrator, data and training · every cell has a fixed-mass control</a:t>
            </a:r>
          </a:p>
          <a:p>
            <a:pPr algn="l"/>
            <a:r>
              <a:rPr sz="1400" b="1">
                <a:solidFill>
                  <a:srgbClr val="1A1A1A"/>
                </a:solidFill>
              </a:rPr>
              <a:t>Measured</a:t>
            </a:r>
            <a:r>
              <a:rPr sz="1400">
                <a:solidFill>
                  <a:srgbClr val="1A1A1A"/>
                </a:solidFill>
              </a:rPr>
              <a:t>: OOD error vs distance beyond the training range · paired-simulation intervention response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711</Words>
  <Application>Microsoft Office PowerPoint</Application>
  <PresentationFormat>Widescreen</PresentationFormat>
  <Paragraphs>84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Arial</vt:lpstr>
      <vt:lpstr>Bierstadt</vt:lpstr>
      <vt:lpstr>GestaltVTI</vt:lpstr>
      <vt:lpstr>Baselines &amp; OOD</vt:lpstr>
      <vt:lpstr>Goal: comparison + better OOD</vt:lpstr>
      <vt:lpstr>v3: masses help only physics</vt:lpstr>
      <vt:lpstr>v4: which design extrapolates?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Chu Lin</dc:creator>
  <cp:lastModifiedBy>Chu Lin</cp:lastModifiedBy>
  <cp:revision>1</cp:revision>
  <dcterms:created xsi:type="dcterms:W3CDTF">2026-09-17T00:01:16Z</dcterms:created>
  <dcterms:modified xsi:type="dcterms:W3CDTF">2026-10-17T14:38:11Z</dcterms:modified>
</cp:coreProperties>
</file>