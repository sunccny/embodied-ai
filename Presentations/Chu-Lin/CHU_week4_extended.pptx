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320" r:id="rId12"/>
    <p:sldId id="321" r:id="rId13"/>
    <p:sldId id="319" r:id="rId14"/>
    <p:sldId id="322" r:id="rId15"/>
    <p:sldId id="323" r:id="rId16"/>
  </p:sldIdLst>
  <p:sldSz cx="12192000" cy="6858000"/>
  <p:notesSz cx="6858000" cy="9144000"/>
  <p:embeddedFontLst>
    <p:embeddedFont>
      <p:font typeface="Cambria Math" panose="02040503050406030204" pitchFamily="18" charset="0"/>
      <p:regular r:id="rId18"/>
    </p:embeddedFont>
    <p:embeddedFont>
      <p:font typeface="Play" panose="020B060402020202020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15Ke7m4L9ZPdD2HGkNsaI+yWt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E2B72D-91DF-4F61-9E2C-E208EC50A312}" v="242" dt="2026-07-17T19:46:43.3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31" y="5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 Lin" userId="a9d5f5a05d2946b6" providerId="LiveId" clId="{D0B525D6-471A-4AEC-9E0A-4D9E31AAD555}"/>
    <pc:docChg chg="undo custSel addSld delSld modSld">
      <pc:chgData name="Chu Lin" userId="a9d5f5a05d2946b6" providerId="LiveId" clId="{D0B525D6-471A-4AEC-9E0A-4D9E31AAD555}" dt="2026-07-17T19:46:51.123" v="1027" actId="26606"/>
      <pc:docMkLst>
        <pc:docMk/>
      </pc:docMkLst>
      <pc:sldChg chg="addSp delSp modSp mod modNotes">
        <pc:chgData name="Chu Lin" userId="a9d5f5a05d2946b6" providerId="LiveId" clId="{D0B525D6-471A-4AEC-9E0A-4D9E31AAD555}" dt="2026-07-16T18:29:29.706" v="2" actId="478"/>
        <pc:sldMkLst>
          <pc:docMk/>
          <pc:sldMk cId="0" sldId="256"/>
        </pc:sldMkLst>
        <pc:graphicFrameChg chg="add del mod">
          <ac:chgData name="Chu Lin" userId="a9d5f5a05d2946b6" providerId="LiveId" clId="{D0B525D6-471A-4AEC-9E0A-4D9E31AAD555}" dt="2026-07-16T18:29:29.706" v="2" actId="478"/>
          <ac:graphicFrameMkLst>
            <pc:docMk/>
            <pc:sldMk cId="0" sldId="256"/>
            <ac:graphicFrameMk id="2" creationId="{208ABEDE-0827-6112-608F-9CC0BC6C96A2}"/>
          </ac:graphicFrameMkLst>
        </pc:graphicFrameChg>
      </pc:sldChg>
      <pc:sldChg chg="modSp mod">
        <pc:chgData name="Chu Lin" userId="a9d5f5a05d2946b6" providerId="LiveId" clId="{D0B525D6-471A-4AEC-9E0A-4D9E31AAD555}" dt="2026-07-16T22:34:02.676" v="817"/>
        <pc:sldMkLst>
          <pc:docMk/>
          <pc:sldMk cId="0" sldId="259"/>
        </pc:sldMkLst>
        <pc:spChg chg="mod">
          <ac:chgData name="Chu Lin" userId="a9d5f5a05d2946b6" providerId="LiveId" clId="{D0B525D6-471A-4AEC-9E0A-4D9E31AAD555}" dt="2026-07-16T22:34:02.676" v="817"/>
          <ac:spMkLst>
            <pc:docMk/>
            <pc:sldMk cId="0" sldId="259"/>
            <ac:spMk id="138" creationId="{00000000-0000-0000-0000-000000000000}"/>
          </ac:spMkLst>
        </pc:spChg>
      </pc:sldChg>
      <pc:sldChg chg="addSp delSp mod">
        <pc:chgData name="Chu Lin" userId="a9d5f5a05d2946b6" providerId="LiveId" clId="{D0B525D6-471A-4AEC-9E0A-4D9E31AAD555}" dt="2026-07-17T19:46:38.040" v="1026" actId="478"/>
        <pc:sldMkLst>
          <pc:docMk/>
          <pc:sldMk cId="0" sldId="262"/>
        </pc:sldMkLst>
        <pc:spChg chg="add del">
          <ac:chgData name="Chu Lin" userId="a9d5f5a05d2946b6" providerId="LiveId" clId="{D0B525D6-471A-4AEC-9E0A-4D9E31AAD555}" dt="2026-07-17T19:46:37.665" v="1025" actId="478"/>
          <ac:spMkLst>
            <pc:docMk/>
            <pc:sldMk cId="0" sldId="262"/>
            <ac:spMk id="171" creationId="{00000000-0000-0000-0000-000000000000}"/>
          </ac:spMkLst>
        </pc:spChg>
        <pc:spChg chg="add del">
          <ac:chgData name="Chu Lin" userId="a9d5f5a05d2946b6" providerId="LiveId" clId="{D0B525D6-471A-4AEC-9E0A-4D9E31AAD555}" dt="2026-07-17T19:46:38.040" v="1026" actId="478"/>
          <ac:spMkLst>
            <pc:docMk/>
            <pc:sldMk cId="0" sldId="262"/>
            <ac:spMk id="175" creationId="{00000000-0000-0000-0000-000000000000}"/>
          </ac:spMkLst>
        </pc:spChg>
      </pc:sldChg>
      <pc:sldChg chg="del">
        <pc:chgData name="Chu Lin" userId="a9d5f5a05d2946b6" providerId="LiveId" clId="{D0B525D6-471A-4AEC-9E0A-4D9E31AAD555}" dt="2026-07-16T22:10:00.831" v="347" actId="47"/>
        <pc:sldMkLst>
          <pc:docMk/>
          <pc:sldMk cId="0" sldId="310"/>
        </pc:sldMkLst>
      </pc:sldChg>
      <pc:sldChg chg="del">
        <pc:chgData name="Chu Lin" userId="a9d5f5a05d2946b6" providerId="LiveId" clId="{D0B525D6-471A-4AEC-9E0A-4D9E31AAD555}" dt="2026-07-16T22:09:36.118" v="343" actId="47"/>
        <pc:sldMkLst>
          <pc:docMk/>
          <pc:sldMk cId="0" sldId="311"/>
        </pc:sldMkLst>
      </pc:sldChg>
      <pc:sldChg chg="del">
        <pc:chgData name="Chu Lin" userId="a9d5f5a05d2946b6" providerId="LiveId" clId="{D0B525D6-471A-4AEC-9E0A-4D9E31AAD555}" dt="2026-07-16T22:09:38.096" v="344" actId="47"/>
        <pc:sldMkLst>
          <pc:docMk/>
          <pc:sldMk cId="0" sldId="312"/>
        </pc:sldMkLst>
      </pc:sldChg>
      <pc:sldChg chg="del">
        <pc:chgData name="Chu Lin" userId="a9d5f5a05d2946b6" providerId="LiveId" clId="{D0B525D6-471A-4AEC-9E0A-4D9E31AAD555}" dt="2026-07-16T22:09:39.760" v="345" actId="47"/>
        <pc:sldMkLst>
          <pc:docMk/>
          <pc:sldMk cId="0" sldId="313"/>
        </pc:sldMkLst>
      </pc:sldChg>
      <pc:sldChg chg="del">
        <pc:chgData name="Chu Lin" userId="a9d5f5a05d2946b6" providerId="LiveId" clId="{D0B525D6-471A-4AEC-9E0A-4D9E31AAD555}" dt="2026-07-16T22:09:40.863" v="346" actId="47"/>
        <pc:sldMkLst>
          <pc:docMk/>
          <pc:sldMk cId="0" sldId="314"/>
        </pc:sldMkLst>
      </pc:sldChg>
      <pc:sldChg chg="del">
        <pc:chgData name="Chu Lin" userId="a9d5f5a05d2946b6" providerId="LiveId" clId="{D0B525D6-471A-4AEC-9E0A-4D9E31AAD555}" dt="2026-07-16T22:30:46.480" v="812" actId="47"/>
        <pc:sldMkLst>
          <pc:docMk/>
          <pc:sldMk cId="0" sldId="315"/>
        </pc:sldMkLst>
      </pc:sldChg>
      <pc:sldChg chg="del">
        <pc:chgData name="Chu Lin" userId="a9d5f5a05d2946b6" providerId="LiveId" clId="{D0B525D6-471A-4AEC-9E0A-4D9E31AAD555}" dt="2026-07-16T22:10:11.535" v="348" actId="47"/>
        <pc:sldMkLst>
          <pc:docMk/>
          <pc:sldMk cId="0" sldId="316"/>
        </pc:sldMkLst>
      </pc:sldChg>
      <pc:sldChg chg="del">
        <pc:chgData name="Chu Lin" userId="a9d5f5a05d2946b6" providerId="LiveId" clId="{D0B525D6-471A-4AEC-9E0A-4D9E31AAD555}" dt="2026-07-16T22:28:06.365" v="780" actId="47"/>
        <pc:sldMkLst>
          <pc:docMk/>
          <pc:sldMk cId="0" sldId="317"/>
        </pc:sldMkLst>
      </pc:sldChg>
      <pc:sldChg chg="del">
        <pc:chgData name="Chu Lin" userId="a9d5f5a05d2946b6" providerId="LiveId" clId="{D0B525D6-471A-4AEC-9E0A-4D9E31AAD555}" dt="2026-07-16T22:30:32.033" v="811" actId="47"/>
        <pc:sldMkLst>
          <pc:docMk/>
          <pc:sldMk cId="0" sldId="318"/>
        </pc:sldMkLst>
      </pc:sldChg>
      <pc:sldChg chg="addSp delSp modSp mod setBg">
        <pc:chgData name="Chu Lin" userId="a9d5f5a05d2946b6" providerId="LiveId" clId="{D0B525D6-471A-4AEC-9E0A-4D9E31AAD555}" dt="2026-07-17T00:06:36.753" v="837" actId="20577"/>
        <pc:sldMkLst>
          <pc:docMk/>
          <pc:sldMk cId="0" sldId="319"/>
        </pc:sldMkLst>
        <pc:spChg chg="del mod">
          <ac:chgData name="Chu Lin" userId="a9d5f5a05d2946b6" providerId="LiveId" clId="{D0B525D6-471A-4AEC-9E0A-4D9E31AAD555}" dt="2026-07-16T22:11:37.145" v="359" actId="478"/>
          <ac:spMkLst>
            <pc:docMk/>
            <pc:sldMk cId="0" sldId="319"/>
            <ac:spMk id="191" creationId="{00000000-0000-0000-0000-000000000000}"/>
          </ac:spMkLst>
        </pc:spChg>
        <pc:spChg chg="mod">
          <ac:chgData name="Chu Lin" userId="a9d5f5a05d2946b6" providerId="LiveId" clId="{D0B525D6-471A-4AEC-9E0A-4D9E31AAD555}" dt="2026-07-16T22:11:40.280" v="360" actId="1076"/>
          <ac:spMkLst>
            <pc:docMk/>
            <pc:sldMk cId="0" sldId="319"/>
            <ac:spMk id="192" creationId="{00000000-0000-0000-0000-000000000000}"/>
          </ac:spMkLst>
        </pc:spChg>
        <pc:spChg chg="mod">
          <ac:chgData name="Chu Lin" userId="a9d5f5a05d2946b6" providerId="LiveId" clId="{D0B525D6-471A-4AEC-9E0A-4D9E31AAD555}" dt="2026-07-16T22:11:43.218" v="361" actId="1076"/>
          <ac:spMkLst>
            <pc:docMk/>
            <pc:sldMk cId="0" sldId="319"/>
            <ac:spMk id="193" creationId="{00000000-0000-0000-0000-000000000000}"/>
          </ac:spMkLst>
        </pc:spChg>
        <pc:spChg chg="mod ord">
          <ac:chgData name="Chu Lin" userId="a9d5f5a05d2946b6" providerId="LiveId" clId="{D0B525D6-471A-4AEC-9E0A-4D9E31AAD555}" dt="2026-07-16T22:25:13.143" v="744" actId="20577"/>
          <ac:spMkLst>
            <pc:docMk/>
            <pc:sldMk cId="0" sldId="319"/>
            <ac:spMk id="194" creationId="{00000000-0000-0000-0000-000000000000}"/>
          </ac:spMkLst>
        </pc:spChg>
        <pc:spChg chg="mod">
          <ac:chgData name="Chu Lin" userId="a9d5f5a05d2946b6" providerId="LiveId" clId="{D0B525D6-471A-4AEC-9E0A-4D9E31AAD555}" dt="2026-07-17T00:06:36.753" v="837" actId="20577"/>
          <ac:spMkLst>
            <pc:docMk/>
            <pc:sldMk cId="0" sldId="319"/>
            <ac:spMk id="195" creationId="{00000000-0000-0000-0000-000000000000}"/>
          </ac:spMkLst>
        </pc:spChg>
        <pc:spChg chg="mod">
          <ac:chgData name="Chu Lin" userId="a9d5f5a05d2946b6" providerId="LiveId" clId="{D0B525D6-471A-4AEC-9E0A-4D9E31AAD555}" dt="2026-07-16T22:28:54.392" v="781" actId="14100"/>
          <ac:spMkLst>
            <pc:docMk/>
            <pc:sldMk cId="0" sldId="319"/>
            <ac:spMk id="196" creationId="{00000000-0000-0000-0000-000000000000}"/>
          </ac:spMkLst>
        </pc:spChg>
        <pc:spChg chg="add del">
          <ac:chgData name="Chu Lin" userId="a9d5f5a05d2946b6" providerId="LiveId" clId="{D0B525D6-471A-4AEC-9E0A-4D9E31AAD555}" dt="2026-07-16T22:11:22.268" v="356" actId="26606"/>
          <ac:spMkLst>
            <pc:docMk/>
            <pc:sldMk cId="0" sldId="319"/>
            <ac:spMk id="201" creationId="{002577D6-4808-4C1C-95AE-77B22FB42497}"/>
          </ac:spMkLst>
        </pc:spChg>
        <pc:spChg chg="add del">
          <ac:chgData name="Chu Lin" userId="a9d5f5a05d2946b6" providerId="LiveId" clId="{D0B525D6-471A-4AEC-9E0A-4D9E31AAD555}" dt="2026-07-16T22:11:22.268" v="356" actId="26606"/>
          <ac:spMkLst>
            <pc:docMk/>
            <pc:sldMk cId="0" sldId="319"/>
            <ac:spMk id="203" creationId="{3904FD9E-E2D8-49EE-807F-30306010922A}"/>
          </ac:spMkLst>
        </pc:spChg>
        <pc:spChg chg="add del">
          <ac:chgData name="Chu Lin" userId="a9d5f5a05d2946b6" providerId="LiveId" clId="{D0B525D6-471A-4AEC-9E0A-4D9E31AAD555}" dt="2026-07-16T22:11:21.515" v="355" actId="26606"/>
          <ac:spMkLst>
            <pc:docMk/>
            <pc:sldMk cId="0" sldId="319"/>
            <ac:spMk id="208" creationId="{75BDD038-F345-433A-B715-30DEEC15292F}"/>
          </ac:spMkLst>
        </pc:spChg>
        <pc:spChg chg="add del">
          <ac:chgData name="Chu Lin" userId="a9d5f5a05d2946b6" providerId="LiveId" clId="{D0B525D6-471A-4AEC-9E0A-4D9E31AAD555}" dt="2026-07-16T22:11:21.515" v="355" actId="26606"/>
          <ac:spMkLst>
            <pc:docMk/>
            <pc:sldMk cId="0" sldId="319"/>
            <ac:spMk id="210" creationId="{0B89AF2A-4ED1-4E6B-907C-ED98F10E750C}"/>
          </ac:spMkLst>
        </pc:spChg>
        <pc:picChg chg="add">
          <ac:chgData name="Chu Lin" userId="a9d5f5a05d2946b6" providerId="LiveId" clId="{D0B525D6-471A-4AEC-9E0A-4D9E31AAD555}" dt="2026-07-16T22:11:29.363" v="357" actId="26606"/>
          <ac:picMkLst>
            <pc:docMk/>
            <pc:sldMk cId="0" sldId="319"/>
            <ac:picMk id="200" creationId="{6F98555F-7D0B-1C29-7F82-0A305DF83E6E}"/>
          </ac:picMkLst>
        </pc:picChg>
        <pc:cxnChg chg="add">
          <ac:chgData name="Chu Lin" userId="a9d5f5a05d2946b6" providerId="LiveId" clId="{D0B525D6-471A-4AEC-9E0A-4D9E31AAD555}" dt="2026-07-16T22:11:29.363" v="357" actId="26606"/>
          <ac:cxnSpMkLst>
            <pc:docMk/>
            <pc:sldMk cId="0" sldId="319"/>
            <ac:cxnSpMk id="198" creationId="{192712F8-36FA-35DF-0CE8-4098D93322A3}"/>
          </ac:cxnSpMkLst>
        </pc:cxnChg>
        <pc:cxnChg chg="add">
          <ac:chgData name="Chu Lin" userId="a9d5f5a05d2946b6" providerId="LiveId" clId="{D0B525D6-471A-4AEC-9E0A-4D9E31AAD555}" dt="2026-07-16T22:11:29.363" v="357" actId="26606"/>
          <ac:cxnSpMkLst>
            <pc:docMk/>
            <pc:sldMk cId="0" sldId="319"/>
            <ac:cxnSpMk id="205" creationId="{AF9469B9-6468-5B6A-E832-8D4590388432}"/>
          </ac:cxnSpMkLst>
        </pc:cxnChg>
      </pc:sldChg>
      <pc:sldChg chg="addSp delSp modSp mod">
        <pc:chgData name="Chu Lin" userId="a9d5f5a05d2946b6" providerId="LiveId" clId="{D0B525D6-471A-4AEC-9E0A-4D9E31AAD555}" dt="2026-07-16T21:50:18.254" v="342" actId="1076"/>
        <pc:sldMkLst>
          <pc:docMk/>
          <pc:sldMk cId="308962561" sldId="320"/>
        </pc:sldMkLst>
        <pc:spChg chg="mod">
          <ac:chgData name="Chu Lin" userId="a9d5f5a05d2946b6" providerId="LiveId" clId="{D0B525D6-471A-4AEC-9E0A-4D9E31AAD555}" dt="2026-07-16T21:50:13.254" v="341" actId="1076"/>
          <ac:spMkLst>
            <pc:docMk/>
            <pc:sldMk cId="308962561" sldId="320"/>
            <ac:spMk id="3" creationId="{E12F43A5-C9B5-29B1-AC35-FC7A57D7C9AE}"/>
          </ac:spMkLst>
        </pc:spChg>
        <pc:spChg chg="mod">
          <ac:chgData name="Chu Lin" userId="a9d5f5a05d2946b6" providerId="LiveId" clId="{D0B525D6-471A-4AEC-9E0A-4D9E31AAD555}" dt="2026-07-16T21:50:18.254" v="342" actId="1076"/>
          <ac:spMkLst>
            <pc:docMk/>
            <pc:sldMk cId="308962561" sldId="320"/>
            <ac:spMk id="5" creationId="{D6AF9A46-F1AD-923C-CE85-C8F1DF5448BE}"/>
          </ac:spMkLst>
        </pc:spChg>
        <pc:spChg chg="add mod">
          <ac:chgData name="Chu Lin" userId="a9d5f5a05d2946b6" providerId="LiveId" clId="{D0B525D6-471A-4AEC-9E0A-4D9E31AAD555}" dt="2026-07-16T21:50:18.254" v="342" actId="1076"/>
          <ac:spMkLst>
            <pc:docMk/>
            <pc:sldMk cId="308962561" sldId="320"/>
            <ac:spMk id="7" creationId="{B2E9DE2F-3533-0547-16ED-4787B3EA2E54}"/>
          </ac:spMkLst>
        </pc:spChg>
        <pc:graphicFrameChg chg="add mod modGraphic">
          <ac:chgData name="Chu Lin" userId="a9d5f5a05d2946b6" providerId="LiveId" clId="{D0B525D6-471A-4AEC-9E0A-4D9E31AAD555}" dt="2026-07-16T21:50:18.254" v="342" actId="1076"/>
          <ac:graphicFrameMkLst>
            <pc:docMk/>
            <pc:sldMk cId="308962561" sldId="320"/>
            <ac:graphicFrameMk id="4" creationId="{3DA78AFA-9E81-3408-C0DC-0A44AED68DC7}"/>
          </ac:graphicFrameMkLst>
        </pc:graphicFrameChg>
        <pc:graphicFrameChg chg="del modGraphic">
          <ac:chgData name="Chu Lin" userId="a9d5f5a05d2946b6" providerId="LiveId" clId="{D0B525D6-471A-4AEC-9E0A-4D9E31AAD555}" dt="2026-07-16T18:31:37.980" v="4" actId="478"/>
          <ac:graphicFrameMkLst>
            <pc:docMk/>
            <pc:sldMk cId="308962561" sldId="320"/>
            <ac:graphicFrameMk id="6" creationId="{C2E8676C-E163-61AD-45AC-5DBF913BA10B}"/>
          </ac:graphicFrameMkLst>
        </pc:graphicFrameChg>
      </pc:sldChg>
      <pc:sldChg chg="modSp new del mod">
        <pc:chgData name="Chu Lin" userId="a9d5f5a05d2946b6" providerId="LiveId" clId="{D0B525D6-471A-4AEC-9E0A-4D9E31AAD555}" dt="2026-07-16T22:12:43.419" v="363" actId="47"/>
        <pc:sldMkLst>
          <pc:docMk/>
          <pc:sldMk cId="1826361798" sldId="321"/>
        </pc:sldMkLst>
        <pc:spChg chg="mod">
          <ac:chgData name="Chu Lin" userId="a9d5f5a05d2946b6" providerId="LiveId" clId="{D0B525D6-471A-4AEC-9E0A-4D9E31AAD555}" dt="2026-07-16T18:35:23.968" v="265" actId="20577"/>
          <ac:spMkLst>
            <pc:docMk/>
            <pc:sldMk cId="1826361798" sldId="321"/>
            <ac:spMk id="2" creationId="{07D48D9E-2247-762A-9109-6D18D90E72EC}"/>
          </ac:spMkLst>
        </pc:spChg>
        <pc:spChg chg="mod">
          <ac:chgData name="Chu Lin" userId="a9d5f5a05d2946b6" providerId="LiveId" clId="{D0B525D6-471A-4AEC-9E0A-4D9E31AAD555}" dt="2026-07-16T20:46:06.452" v="335" actId="20577"/>
          <ac:spMkLst>
            <pc:docMk/>
            <pc:sldMk cId="1826361798" sldId="321"/>
            <ac:spMk id="3" creationId="{64A6FC3E-83A4-9ED0-D8A4-1EBCCD35D2E7}"/>
          </ac:spMkLst>
        </pc:spChg>
      </pc:sldChg>
      <pc:sldChg chg="addSp delSp modSp new mod setBg">
        <pc:chgData name="Chu Lin" userId="a9d5f5a05d2946b6" providerId="LiveId" clId="{D0B525D6-471A-4AEC-9E0A-4D9E31AAD555}" dt="2026-07-16T22:19:49.794" v="734" actId="255"/>
        <pc:sldMkLst>
          <pc:docMk/>
          <pc:sldMk cId="1864066861" sldId="321"/>
        </pc:sldMkLst>
        <pc:spChg chg="mod">
          <ac:chgData name="Chu Lin" userId="a9d5f5a05d2946b6" providerId="LiveId" clId="{D0B525D6-471A-4AEC-9E0A-4D9E31AAD555}" dt="2026-07-16T22:18:34.477" v="635" actId="26606"/>
          <ac:spMkLst>
            <pc:docMk/>
            <pc:sldMk cId="1864066861" sldId="321"/>
            <ac:spMk id="2" creationId="{B183EE6B-8BAF-D456-3A1E-DFD4CC7150D8}"/>
          </ac:spMkLst>
        </pc:spChg>
        <pc:spChg chg="mod">
          <ac:chgData name="Chu Lin" userId="a9d5f5a05d2946b6" providerId="LiveId" clId="{D0B525D6-471A-4AEC-9E0A-4D9E31AAD555}" dt="2026-07-16T22:19:49.794" v="734" actId="255"/>
          <ac:spMkLst>
            <pc:docMk/>
            <pc:sldMk cId="1864066861" sldId="321"/>
            <ac:spMk id="3" creationId="{70738A28-1B5D-BE49-DEDC-4BEF440E4802}"/>
          </ac:spMkLst>
        </pc:spChg>
        <pc:spChg chg="del">
          <ac:chgData name="Chu Lin" userId="a9d5f5a05d2946b6" providerId="LiveId" clId="{D0B525D6-471A-4AEC-9E0A-4D9E31AAD555}" dt="2026-07-16T22:13:10.357" v="366" actId="478"/>
          <ac:spMkLst>
            <pc:docMk/>
            <pc:sldMk cId="1864066861" sldId="321"/>
            <ac:spMk id="4" creationId="{28536787-1520-A1D3-6593-5E23BFE0A8FF}"/>
          </ac:spMkLst>
        </pc:spChg>
        <pc:spChg chg="add del">
          <ac:chgData name="Chu Lin" userId="a9d5f5a05d2946b6" providerId="LiveId" clId="{D0B525D6-471A-4AEC-9E0A-4D9E31AAD555}" dt="2026-07-16T22:18:34.477" v="635" actId="26606"/>
          <ac:spMkLst>
            <pc:docMk/>
            <pc:sldMk cId="1864066861" sldId="321"/>
            <ac:spMk id="8" creationId="{4C608BEB-860E-4094-8511-78603564A75E}"/>
          </ac:spMkLst>
        </pc:spChg>
        <pc:spChg chg="add">
          <ac:chgData name="Chu Lin" userId="a9d5f5a05d2946b6" providerId="LiveId" clId="{D0B525D6-471A-4AEC-9E0A-4D9E31AAD555}" dt="2026-07-16T22:18:34.477" v="635" actId="26606"/>
          <ac:spMkLst>
            <pc:docMk/>
            <pc:sldMk cId="1864066861" sldId="321"/>
            <ac:spMk id="15" creationId="{E35A04CF-97D4-4FF7-B359-C546B1F62E54}"/>
          </ac:spMkLst>
        </pc:spChg>
        <pc:spChg chg="add">
          <ac:chgData name="Chu Lin" userId="a9d5f5a05d2946b6" providerId="LiveId" clId="{D0B525D6-471A-4AEC-9E0A-4D9E31AAD555}" dt="2026-07-16T22:18:34.477" v="635" actId="26606"/>
          <ac:spMkLst>
            <pc:docMk/>
            <pc:sldMk cId="1864066861" sldId="321"/>
            <ac:spMk id="17" creationId="{1DE7243B-5109-444B-8FAF-7437C66BC0E9}"/>
          </ac:spMkLst>
        </pc:spChg>
        <pc:spChg chg="add">
          <ac:chgData name="Chu Lin" userId="a9d5f5a05d2946b6" providerId="LiveId" clId="{D0B525D6-471A-4AEC-9E0A-4D9E31AAD555}" dt="2026-07-16T22:18:34.477" v="635" actId="26606"/>
          <ac:spMkLst>
            <pc:docMk/>
            <pc:sldMk cId="1864066861" sldId="321"/>
            <ac:spMk id="19" creationId="{4C5D6221-DA7B-4611-AA26-7D8E349FDE96}"/>
          </ac:spMkLst>
        </pc:spChg>
        <pc:cxnChg chg="add del">
          <ac:chgData name="Chu Lin" userId="a9d5f5a05d2946b6" providerId="LiveId" clId="{D0B525D6-471A-4AEC-9E0A-4D9E31AAD555}" dt="2026-07-16T22:18:34.477" v="635" actId="26606"/>
          <ac:cxnSpMkLst>
            <pc:docMk/>
            <pc:sldMk cId="1864066861" sldId="321"/>
            <ac:cxnSpMk id="10" creationId="{1F16A8D4-FE87-4604-88B2-394B5D1EB437}"/>
          </ac:cxnSpMkLst>
        </pc:cxnChg>
      </pc:sldChg>
      <pc:sldChg chg="delSp modSp new mod">
        <pc:chgData name="Chu Lin" userId="a9d5f5a05d2946b6" providerId="LiveId" clId="{D0B525D6-471A-4AEC-9E0A-4D9E31AAD555}" dt="2026-07-17T19:23:01.493" v="1003"/>
        <pc:sldMkLst>
          <pc:docMk/>
          <pc:sldMk cId="3582244198" sldId="322"/>
        </pc:sldMkLst>
        <pc:spChg chg="mod">
          <ac:chgData name="Chu Lin" userId="a9d5f5a05d2946b6" providerId="LiveId" clId="{D0B525D6-471A-4AEC-9E0A-4D9E31AAD555}" dt="2026-07-17T19:21:28.068" v="841" actId="20577"/>
          <ac:spMkLst>
            <pc:docMk/>
            <pc:sldMk cId="3582244198" sldId="322"/>
            <ac:spMk id="2" creationId="{D3E6D007-E141-45BF-D500-0A01090F373B}"/>
          </ac:spMkLst>
        </pc:spChg>
        <pc:spChg chg="mod">
          <ac:chgData name="Chu Lin" userId="a9d5f5a05d2946b6" providerId="LiveId" clId="{D0B525D6-471A-4AEC-9E0A-4D9E31AAD555}" dt="2026-07-17T19:23:01.493" v="1003"/>
          <ac:spMkLst>
            <pc:docMk/>
            <pc:sldMk cId="3582244198" sldId="322"/>
            <ac:spMk id="3" creationId="{F6034804-77C8-932A-8A80-1075659423D8}"/>
          </ac:spMkLst>
        </pc:spChg>
        <pc:spChg chg="del">
          <ac:chgData name="Chu Lin" userId="a9d5f5a05d2946b6" providerId="LiveId" clId="{D0B525D6-471A-4AEC-9E0A-4D9E31AAD555}" dt="2026-07-17T19:22:18.067" v="960" actId="478"/>
          <ac:spMkLst>
            <pc:docMk/>
            <pc:sldMk cId="3582244198" sldId="322"/>
            <ac:spMk id="4" creationId="{8A962598-CF4B-8FF0-6605-4BD659950004}"/>
          </ac:spMkLst>
        </pc:spChg>
      </pc:sldChg>
      <pc:sldChg chg="addSp delSp modSp new mod setBg">
        <pc:chgData name="Chu Lin" userId="a9d5f5a05d2946b6" providerId="LiveId" clId="{D0B525D6-471A-4AEC-9E0A-4D9E31AAD555}" dt="2026-07-17T19:46:51.123" v="1027" actId="26606"/>
        <pc:sldMkLst>
          <pc:docMk/>
          <pc:sldMk cId="2297171217" sldId="323"/>
        </pc:sldMkLst>
        <pc:spChg chg="mod">
          <ac:chgData name="Chu Lin" userId="a9d5f5a05d2946b6" providerId="LiveId" clId="{D0B525D6-471A-4AEC-9E0A-4D9E31AAD555}" dt="2026-07-17T19:46:51.123" v="1027" actId="26606"/>
          <ac:spMkLst>
            <pc:docMk/>
            <pc:sldMk cId="2297171217" sldId="323"/>
            <ac:spMk id="2" creationId="{56B3E5AC-57C3-3A40-3DAA-6B6B5AE2895E}"/>
          </ac:spMkLst>
        </pc:spChg>
        <pc:spChg chg="mod">
          <ac:chgData name="Chu Lin" userId="a9d5f5a05d2946b6" providerId="LiveId" clId="{D0B525D6-471A-4AEC-9E0A-4D9E31AAD555}" dt="2026-07-17T19:46:51.123" v="1027" actId="26606"/>
          <ac:spMkLst>
            <pc:docMk/>
            <pc:sldMk cId="2297171217" sldId="323"/>
            <ac:spMk id="3" creationId="{32D8E949-76BF-E1F2-E040-B439819A9273}"/>
          </ac:spMkLst>
        </pc:spChg>
        <pc:spChg chg="del">
          <ac:chgData name="Chu Lin" userId="a9d5f5a05d2946b6" providerId="LiveId" clId="{D0B525D6-471A-4AEC-9E0A-4D9E31AAD555}" dt="2026-07-17T19:23:47.177" v="1018" actId="478"/>
          <ac:spMkLst>
            <pc:docMk/>
            <pc:sldMk cId="2297171217" sldId="323"/>
            <ac:spMk id="4" creationId="{90C245B0-A7DD-F32E-6FE0-DEDBB3A1EE8B}"/>
          </ac:spMkLst>
        </pc:spChg>
        <pc:spChg chg="add">
          <ac:chgData name="Chu Lin" userId="a9d5f5a05d2946b6" providerId="LiveId" clId="{D0B525D6-471A-4AEC-9E0A-4D9E31AAD555}" dt="2026-07-17T19:46:51.123" v="1027" actId="26606"/>
          <ac:spMkLst>
            <pc:docMk/>
            <pc:sldMk cId="2297171217" sldId="323"/>
            <ac:spMk id="8" creationId="{907EF6B7-1338-4443-8C46-6A318D952DFD}"/>
          </ac:spMkLst>
        </pc:spChg>
        <pc:spChg chg="add">
          <ac:chgData name="Chu Lin" userId="a9d5f5a05d2946b6" providerId="LiveId" clId="{D0B525D6-471A-4AEC-9E0A-4D9E31AAD555}" dt="2026-07-17T19:46:51.123" v="1027" actId="26606"/>
          <ac:spMkLst>
            <pc:docMk/>
            <pc:sldMk cId="2297171217" sldId="323"/>
            <ac:spMk id="10" creationId="{DAAE4CDD-124C-4DCF-9584-B6033B545DD5}"/>
          </ac:spMkLst>
        </pc:spChg>
        <pc:spChg chg="add">
          <ac:chgData name="Chu Lin" userId="a9d5f5a05d2946b6" providerId="LiveId" clId="{D0B525D6-471A-4AEC-9E0A-4D9E31AAD555}" dt="2026-07-17T19:46:51.123" v="1027" actId="26606"/>
          <ac:spMkLst>
            <pc:docMk/>
            <pc:sldMk cId="2297171217" sldId="323"/>
            <ac:spMk id="12" creationId="{081E4A58-353D-44AE-B2FC-2A74E2E400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4" name="Google Shape;1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9" name="Google Shape;69;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1"/>
          <p:cNvSpPr>
            <a:spLocks noGrp="1"/>
          </p:cNvSpPr>
          <p:nvPr>
            <p:ph type="pic" idx="2"/>
          </p:nvPr>
        </p:nvSpPr>
        <p:spPr>
          <a:xfrm>
            <a:off x="5183188" y="987425"/>
            <a:ext cx="6172200" cy="4873625"/>
          </a:xfrm>
          <a:prstGeom prst="rect">
            <a:avLst/>
          </a:prstGeom>
          <a:noFill/>
          <a:ln>
            <a:noFill/>
          </a:ln>
        </p:spPr>
      </p:sp>
      <p:sp>
        <p:nvSpPr>
          <p:cNvPr id="76" name="Google Shape;76;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6"/>
        <p:cNvGrpSpPr/>
        <p:nvPr/>
      </p:nvGrpSpPr>
      <p:grpSpPr>
        <a:xfrm>
          <a:off x="0" y="0"/>
          <a:ext cx="0" cy="0"/>
          <a:chOff x="0" y="0"/>
          <a:chExt cx="0" cy="0"/>
        </a:xfrm>
      </p:grpSpPr>
      <p:sp>
        <p:nvSpPr>
          <p:cNvPr id="87" name="Google Shape;87;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Play"/>
              <a:buNone/>
              <a:defRPr sz="4400" b="0" i="0" u="none" strike="noStrike" cap="non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8" name="Google Shape;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9" name="Google Shape;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0" name="Google Shape;1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Arial"/>
                <a:ea typeface="Arial"/>
                <a:cs typeface="Arial"/>
                <a:sym typeface="Arial"/>
              </a:defRPr>
            </a:lvl1pPr>
            <a:lvl2pPr marL="0" marR="0" lvl="1" indent="0" algn="r" rtl="0">
              <a:spcBef>
                <a:spcPts val="0"/>
              </a:spcBef>
              <a:buNone/>
              <a:defRPr sz="1200" b="0" i="0" u="none" strike="noStrike" cap="none">
                <a:solidFill>
                  <a:schemeClr val="lt1"/>
                </a:solidFill>
                <a:latin typeface="Arial"/>
                <a:ea typeface="Arial"/>
                <a:cs typeface="Arial"/>
                <a:sym typeface="Arial"/>
              </a:defRPr>
            </a:lvl2pPr>
            <a:lvl3pPr marL="0" marR="0" lvl="2" indent="0" algn="r" rtl="0">
              <a:spcBef>
                <a:spcPts val="0"/>
              </a:spcBef>
              <a:buNone/>
              <a:defRPr sz="1200" b="0" i="0" u="none" strike="noStrike" cap="none">
                <a:solidFill>
                  <a:schemeClr val="lt1"/>
                </a:solidFill>
                <a:latin typeface="Arial"/>
                <a:ea typeface="Arial"/>
                <a:cs typeface="Arial"/>
                <a:sym typeface="Arial"/>
              </a:defRPr>
            </a:lvl3pPr>
            <a:lvl4pPr marL="0" marR="0" lvl="3" indent="0" algn="r" rtl="0">
              <a:spcBef>
                <a:spcPts val="0"/>
              </a:spcBef>
              <a:buNone/>
              <a:defRPr sz="1200" b="0" i="0" u="none" strike="noStrike" cap="none">
                <a:solidFill>
                  <a:schemeClr val="lt1"/>
                </a:solidFill>
                <a:latin typeface="Arial"/>
                <a:ea typeface="Arial"/>
                <a:cs typeface="Arial"/>
                <a:sym typeface="Arial"/>
              </a:defRPr>
            </a:lvl4pPr>
            <a:lvl5pPr marL="0" marR="0" lvl="4" indent="0" algn="r" rtl="0">
              <a:spcBef>
                <a:spcPts val="0"/>
              </a:spcBef>
              <a:buNone/>
              <a:defRPr sz="1200" b="0" i="0" u="none" strike="noStrike" cap="none">
                <a:solidFill>
                  <a:schemeClr val="lt1"/>
                </a:solidFill>
                <a:latin typeface="Arial"/>
                <a:ea typeface="Arial"/>
                <a:cs typeface="Arial"/>
                <a:sym typeface="Arial"/>
              </a:defRPr>
            </a:lvl5pPr>
            <a:lvl6pPr marL="0" marR="0" lvl="5" indent="0" algn="r" rtl="0">
              <a:spcBef>
                <a:spcPts val="0"/>
              </a:spcBef>
              <a:buNone/>
              <a:defRPr sz="1200" b="0" i="0" u="none" strike="noStrike" cap="none">
                <a:solidFill>
                  <a:schemeClr val="lt1"/>
                </a:solidFill>
                <a:latin typeface="Arial"/>
                <a:ea typeface="Arial"/>
                <a:cs typeface="Arial"/>
                <a:sym typeface="Arial"/>
              </a:defRPr>
            </a:lvl6pPr>
            <a:lvl7pPr marL="0" marR="0" lvl="6" indent="0" algn="r" rtl="0">
              <a:spcBef>
                <a:spcPts val="0"/>
              </a:spcBef>
              <a:buNone/>
              <a:defRPr sz="1200" b="0" i="0" u="none" strike="noStrike" cap="none">
                <a:solidFill>
                  <a:schemeClr val="lt1"/>
                </a:solidFill>
                <a:latin typeface="Arial"/>
                <a:ea typeface="Arial"/>
                <a:cs typeface="Arial"/>
                <a:sym typeface="Arial"/>
              </a:defRPr>
            </a:lvl7pPr>
            <a:lvl8pPr marL="0" marR="0" lvl="7" indent="0" algn="r" rtl="0">
              <a:spcBef>
                <a:spcPts val="0"/>
              </a:spcBef>
              <a:buNone/>
              <a:defRPr sz="1200" b="0" i="0" u="none" strike="noStrike" cap="none">
                <a:solidFill>
                  <a:schemeClr val="lt1"/>
                </a:solidFill>
                <a:latin typeface="Arial"/>
                <a:ea typeface="Arial"/>
                <a:cs typeface="Arial"/>
                <a:sym typeface="Arial"/>
              </a:defRPr>
            </a:lvl8pPr>
            <a:lvl9pPr marL="0" marR="0" lvl="8" indent="0" algn="r" rtl="0">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0" name="Google Shape;2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 name="Google Shape;2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2" name="Google Shape;2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5"/>
        <p:cNvGrpSpPr/>
        <p:nvPr/>
      </p:nvGrpSpPr>
      <p:grpSpPr>
        <a:xfrm>
          <a:off x="0" y="0"/>
          <a:ext cx="0" cy="0"/>
          <a:chOff x="0" y="0"/>
          <a:chExt cx="0" cy="0"/>
        </a:xfrm>
      </p:grpSpPr>
      <p:sp>
        <p:nvSpPr>
          <p:cNvPr id="96" name="Google Shape;96;p1"/>
          <p:cNvSpPr/>
          <p:nvPr/>
        </p:nvSpPr>
        <p:spPr>
          <a:xfrm>
            <a:off x="0" y="0"/>
            <a:ext cx="12192000" cy="6857999"/>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97" name="Google Shape;97;p1" descr="Person walking up a stairs"/>
          <p:cNvPicPr preferRelativeResize="0"/>
          <p:nvPr/>
        </p:nvPicPr>
        <p:blipFill rotWithShape="1">
          <a:blip r:embed="rId3">
            <a:alphaModFix amt="50000"/>
          </a:blip>
          <a:srcRect t="4365" b="11365"/>
          <a:stretch/>
        </p:blipFill>
        <p:spPr>
          <a:xfrm>
            <a:off x="20" y="1"/>
            <a:ext cx="12191980" cy="6857999"/>
          </a:xfrm>
          <a:prstGeom prst="rect">
            <a:avLst/>
          </a:prstGeom>
          <a:noFill/>
          <a:ln>
            <a:noFill/>
          </a:ln>
        </p:spPr>
      </p:pic>
      <p:sp>
        <p:nvSpPr>
          <p:cNvPr id="98" name="Google Shape;98;p1"/>
          <p:cNvSpPr txBox="1">
            <a:spLocks noGrp="1"/>
          </p:cNvSpPr>
          <p:nvPr>
            <p:ph type="ctrTitle"/>
          </p:nvPr>
        </p:nvSpPr>
        <p:spPr>
          <a:xfrm>
            <a:off x="1524000" y="1122362"/>
            <a:ext cx="9144000" cy="2900518"/>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6000"/>
              <a:buFont typeface="Play"/>
              <a:buNone/>
            </a:pPr>
            <a:r>
              <a:rPr lang="en-US">
                <a:solidFill>
                  <a:srgbClr val="FFFFFF"/>
                </a:solidFill>
              </a:rPr>
              <a:t>BECAUSE</a:t>
            </a:r>
            <a:endParaRPr/>
          </a:p>
        </p:txBody>
      </p:sp>
      <p:sp>
        <p:nvSpPr>
          <p:cNvPr id="99" name="Google Shape;99;p1"/>
          <p:cNvSpPr txBox="1">
            <a:spLocks noGrp="1"/>
          </p:cNvSpPr>
          <p:nvPr>
            <p:ph type="subTitle" idx="1"/>
          </p:nvPr>
        </p:nvSpPr>
        <p:spPr>
          <a:xfrm>
            <a:off x="1524000" y="4159404"/>
            <a:ext cx="9144000" cy="109839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2400"/>
              <a:buNone/>
            </a:pPr>
            <a:r>
              <a:rPr lang="en-US">
                <a:solidFill>
                  <a:srgbClr val="FFFFFF"/>
                </a:solidFill>
              </a:rPr>
              <a:t>Chu</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400"/>
                                        <p:tgtEl>
                                          <p:spTgt spid="98"/>
                                        </p:tgtEl>
                                      </p:cBhvr>
                                    </p:animEffect>
                                  </p:childTnLst>
                                </p:cTn>
                              </p:par>
                              <p:par>
                                <p:cTn id="8" presetID="10" presetClass="entr" presetSubtype="0" fill="hold" nodeType="withEffect">
                                  <p:stCondLst>
                                    <p:cond delay="2000"/>
                                  </p:stCondLst>
                                  <p:childTnLst>
                                    <p:set>
                                      <p:cBhvr>
                                        <p:cTn id="9" dur="1" fill="hold">
                                          <p:stCondLst>
                                            <p:cond delay="0"/>
                                          </p:stCondLst>
                                        </p:cTn>
                                        <p:tgtEl>
                                          <p:spTgt spid="99">
                                            <p:txEl>
                                              <p:pRg st="0" end="0"/>
                                            </p:txEl>
                                          </p:spTgt>
                                        </p:tgtEl>
                                        <p:attrNameLst>
                                          <p:attrName>style.visibility</p:attrName>
                                        </p:attrNameLst>
                                      </p:cBhvr>
                                      <p:to>
                                        <p:strVal val="visible"/>
                                      </p:to>
                                    </p:set>
                                    <p:animEffect transition="in" filter="fade">
                                      <p:cBhvr>
                                        <p:cTn id="10" dur="400"/>
                                        <p:tgtEl>
                                          <p:spTgt spid="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Review </a:t>
            </a:r>
            <a:endParaRPr/>
          </a:p>
        </p:txBody>
      </p:sp>
      <p:grpSp>
        <p:nvGrpSpPr>
          <p:cNvPr id="105" name="Google Shape;105;p2"/>
          <p:cNvGrpSpPr/>
          <p:nvPr/>
        </p:nvGrpSpPr>
        <p:grpSpPr>
          <a:xfrm>
            <a:off x="1050535" y="2436598"/>
            <a:ext cx="10090929" cy="1335915"/>
            <a:chOff x="212335" y="1408692"/>
            <a:chExt cx="10090929" cy="1335915"/>
          </a:xfrm>
        </p:grpSpPr>
        <p:sp>
          <p:nvSpPr>
            <p:cNvPr id="106" name="Google Shape;106;p2"/>
            <p:cNvSpPr/>
            <p:nvPr/>
          </p:nvSpPr>
          <p:spPr>
            <a:xfrm>
              <a:off x="212335" y="1408692"/>
              <a:ext cx="1335915" cy="1335915"/>
            </a:xfrm>
            <a:prstGeom prst="ellipse">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492877" y="1689234"/>
              <a:ext cx="774830" cy="774830"/>
            </a:xfrm>
            <a:prstGeom prst="rect">
              <a:avLst/>
            </a:prstGeom>
            <a:noFill/>
            <a:ln w="1905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834517" y="1408692"/>
              <a:ext cx="3148942" cy="13359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txBox="1"/>
            <p:nvPr/>
          </p:nvSpPr>
          <p:spPr>
            <a:xfrm>
              <a:off x="1834517" y="1408692"/>
              <a:ext cx="3148942" cy="133591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0" i="0" u="none" strike="noStrike" cap="none">
                  <a:solidFill>
                    <a:schemeClr val="dk1"/>
                  </a:solidFill>
                  <a:latin typeface="Arial"/>
                  <a:ea typeface="Arial"/>
                  <a:cs typeface="Arial"/>
                  <a:sym typeface="Arial"/>
                </a:rPr>
                <a:t>Last week, we went thought what is causality and the next process on casual model. And we know: robustness = causal model</a:t>
              </a:r>
              <a:endParaRPr/>
            </a:p>
          </p:txBody>
        </p:sp>
        <p:sp>
          <p:nvSpPr>
            <p:cNvPr id="110" name="Google Shape;110;p2"/>
            <p:cNvSpPr/>
            <p:nvPr/>
          </p:nvSpPr>
          <p:spPr>
            <a:xfrm>
              <a:off x="5532139" y="1408692"/>
              <a:ext cx="1335915" cy="1335915"/>
            </a:xfrm>
            <a:prstGeom prst="ellipse">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5812681" y="1689234"/>
              <a:ext cx="774830" cy="774830"/>
            </a:xfrm>
            <a:prstGeom prst="rect">
              <a:avLst/>
            </a:prstGeom>
            <a:noFill/>
            <a:ln w="1905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7154322" y="1408692"/>
              <a:ext cx="3148942" cy="13359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txBox="1"/>
            <p:nvPr/>
          </p:nvSpPr>
          <p:spPr>
            <a:xfrm>
              <a:off x="7154322" y="1408692"/>
              <a:ext cx="3148942" cy="133591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0" i="0" u="none" strike="noStrike" cap="none">
                  <a:solidFill>
                    <a:schemeClr val="dk1"/>
                  </a:solidFill>
                  <a:latin typeface="Arial"/>
                  <a:ea typeface="Arial"/>
                  <a:cs typeface="Arial"/>
                  <a:sym typeface="Arial"/>
                </a:rPr>
                <a:t>Then we have:</a:t>
              </a:r>
              <a:endParaRPr/>
            </a:p>
          </p:txBody>
        </p:sp>
      </p:grpSp>
      <p:sp>
        <p:nvSpPr>
          <p:cNvPr id="114" name="Google Shape;114;p2"/>
          <p:cNvSpPr/>
          <p:nvPr/>
        </p:nvSpPr>
        <p:spPr>
          <a:xfrm>
            <a:off x="7722723" y="3593706"/>
            <a:ext cx="3373550" cy="1587500"/>
          </a:xfrm>
          <a:prstGeom prst="roundRect">
            <a:avLst>
              <a:gd name="adj" fmla="val 16667"/>
            </a:avLst>
          </a:prstGeom>
          <a:solidFill>
            <a:schemeClr val="lt1"/>
          </a:solidFill>
          <a:ln w="19050" cap="flat" cmpd="sng">
            <a:solidFill>
              <a:schemeClr val="dk1"/>
            </a:solidFill>
            <a:prstDash val="solid"/>
            <a:miter lim="8000"/>
            <a:headEnd type="none" w="sm" len="sm"/>
            <a:tailEnd type="none" w="sm" len="sm"/>
          </a:ln>
        </p:spPr>
        <p:txBody>
          <a:bodyPr spcFirstLastPara="1" wrap="square" lIns="27400" tIns="18300" rIns="27400" bIns="18300" anchor="ctr" anchorCtr="0">
            <a:normAutofit/>
          </a:bodyPr>
          <a:lstStyle/>
          <a:p>
            <a:pPr marL="0" marR="0" lvl="0" indent="0" algn="ctr" rtl="0">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THE PARTS</a:t>
            </a:r>
            <a:endParaRPr/>
          </a:p>
          <a:p>
            <a:pPr marL="0" marR="0" lvl="0" indent="0" algn="ctr" rtl="0">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V · G · f · U</a:t>
            </a:r>
            <a:endParaRPr/>
          </a:p>
        </p:txBody>
      </p:sp>
      <p:sp>
        <p:nvSpPr>
          <p:cNvPr id="115" name="Google Shape;115;p2"/>
          <p:cNvSpPr txBox="1"/>
          <p:nvPr/>
        </p:nvSpPr>
        <p:spPr>
          <a:xfrm>
            <a:off x="2820202" y="5645428"/>
            <a:ext cx="609760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V: variables, G: graphic, F: mechanism, U: noise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
        <p:cNvGrpSpPr/>
        <p:nvPr/>
      </p:nvGrpSpPr>
      <p:grpSpPr>
        <a:xfrm>
          <a:off x="0" y="0"/>
          <a:ext cx="0" cy="0"/>
          <a:chOff x="0" y="0"/>
          <a:chExt cx="0" cy="0"/>
        </a:xfrm>
      </p:grpSpPr>
      <p:sp>
        <p:nvSpPr>
          <p:cNvPr id="120" name="Google Shape;120;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1" name="Google Shape;121;p3"/>
          <p:cNvSpPr txBox="1">
            <a:spLocks noGrp="1"/>
          </p:cNvSpPr>
          <p:nvPr>
            <p:ph type="title"/>
          </p:nvPr>
        </p:nvSpPr>
        <p:spPr>
          <a:xfrm>
            <a:off x="630936" y="640080"/>
            <a:ext cx="4818888" cy="1481328"/>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ts val="4600"/>
              <a:buFont typeface="Play"/>
              <a:buNone/>
            </a:pPr>
            <a:r>
              <a:rPr lang="en-US" sz="4600"/>
              <a:t>How about the Reinforce Learning</a:t>
            </a:r>
            <a:endParaRPr/>
          </a:p>
        </p:txBody>
      </p:sp>
      <p:sp>
        <p:nvSpPr>
          <p:cNvPr id="122" name="Google Shape;122;p3"/>
          <p:cNvSpPr/>
          <p:nvPr/>
        </p:nvSpPr>
        <p:spPr>
          <a:xfrm>
            <a:off x="643278" y="2372868"/>
            <a:ext cx="3255095" cy="18288"/>
          </a:xfrm>
          <a:custGeom>
            <a:avLst/>
            <a:gdLst/>
            <a:ahLst/>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3" name="Google Shape;123;p3"/>
          <p:cNvSpPr txBox="1">
            <a:spLocks noGrp="1"/>
          </p:cNvSpPr>
          <p:nvPr>
            <p:ph type="body" idx="1"/>
          </p:nvPr>
        </p:nvSpPr>
        <p:spPr>
          <a:xfrm>
            <a:off x="630936" y="2660904"/>
            <a:ext cx="4818888" cy="35478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sz="2200"/>
              <a:t>Reinforce Learning, a method that learning to make decisions through trial and error.</a:t>
            </a:r>
            <a:endParaRPr/>
          </a:p>
          <a:p>
            <a:pPr marL="228600" lvl="0" indent="-88900" algn="l" rtl="0">
              <a:lnSpc>
                <a:spcPct val="90000"/>
              </a:lnSpc>
              <a:spcBef>
                <a:spcPts val="1000"/>
              </a:spcBef>
              <a:spcAft>
                <a:spcPts val="0"/>
              </a:spcAft>
              <a:buClr>
                <a:schemeClr val="dk1"/>
              </a:buClr>
              <a:buSzPts val="2200"/>
              <a:buNone/>
            </a:pPr>
            <a:endParaRPr sz="2200"/>
          </a:p>
          <a:p>
            <a:pPr marL="228600" lvl="0" indent="-228600" algn="l" rtl="0">
              <a:lnSpc>
                <a:spcPct val="90000"/>
              </a:lnSpc>
              <a:spcBef>
                <a:spcPts val="1000"/>
              </a:spcBef>
              <a:spcAft>
                <a:spcPts val="0"/>
              </a:spcAft>
              <a:buClr>
                <a:schemeClr val="dk1"/>
              </a:buClr>
              <a:buSzPts val="2200"/>
              <a:buChar char="•"/>
            </a:pPr>
            <a:r>
              <a:rPr lang="en-US" sz="2200"/>
              <a:t>And it has two different ways: Online RL and Offline RL</a:t>
            </a:r>
            <a:endParaRPr/>
          </a:p>
          <a:p>
            <a:pPr marL="228600" lvl="0" indent="-88900" algn="l" rtl="0">
              <a:lnSpc>
                <a:spcPct val="90000"/>
              </a:lnSpc>
              <a:spcBef>
                <a:spcPts val="1000"/>
              </a:spcBef>
              <a:spcAft>
                <a:spcPts val="0"/>
              </a:spcAft>
              <a:buClr>
                <a:schemeClr val="dk1"/>
              </a:buClr>
              <a:buSzPts val="2200"/>
              <a:buNone/>
            </a:pPr>
            <a:endParaRPr sz="2200"/>
          </a:p>
        </p:txBody>
      </p:sp>
      <p:pic>
        <p:nvPicPr>
          <p:cNvPr id="124" name="Google Shape;124;p3" descr="Reinforcement Learning with Large Datasets: Robotics, Image Generation, and  LLMs"/>
          <p:cNvPicPr preferRelativeResize="0"/>
          <p:nvPr/>
        </p:nvPicPr>
        <p:blipFill rotWithShape="1">
          <a:blip r:embed="rId3">
            <a:alphaModFix/>
          </a:blip>
          <a:srcRect/>
          <a:stretch/>
        </p:blipFill>
        <p:spPr>
          <a:xfrm>
            <a:off x="6099048" y="1893665"/>
            <a:ext cx="5458968" cy="30706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8"/>
        <p:cNvGrpSpPr/>
        <p:nvPr/>
      </p:nvGrpSpPr>
      <p:grpSpPr>
        <a:xfrm>
          <a:off x="0" y="0"/>
          <a:ext cx="0" cy="0"/>
          <a:chOff x="0" y="0"/>
          <a:chExt cx="0" cy="0"/>
        </a:xfrm>
      </p:grpSpPr>
      <p:pic>
        <p:nvPicPr>
          <p:cNvPr id="129" name="Google Shape;129;p4"/>
          <p:cNvPicPr preferRelativeResize="0"/>
          <p:nvPr/>
        </p:nvPicPr>
        <p:blipFill rotWithShape="1">
          <a:blip r:embed="rId3">
            <a:alphaModFix/>
          </a:blip>
          <a:srcRect t="21754" r="9091" b="1349"/>
          <a:stretch/>
        </p:blipFill>
        <p:spPr>
          <a:xfrm>
            <a:off x="20" y="10"/>
            <a:ext cx="12191980" cy="6857990"/>
          </a:xfrm>
          <a:prstGeom prst="rect">
            <a:avLst/>
          </a:prstGeom>
          <a:noFill/>
          <a:ln>
            <a:noFill/>
          </a:ln>
        </p:spPr>
      </p:pic>
      <p:sp>
        <p:nvSpPr>
          <p:cNvPr id="130" name="Google Shape;130;p4"/>
          <p:cNvSpPr/>
          <p:nvPr/>
        </p:nvSpPr>
        <p:spPr>
          <a:xfrm>
            <a:off x="0" y="0"/>
            <a:ext cx="12196802" cy="6858000"/>
          </a:xfrm>
          <a:prstGeom prst="rect">
            <a:avLst/>
          </a:prstGeom>
          <a:gradFill>
            <a:gsLst>
              <a:gs pos="0">
                <a:srgbClr val="E8E8E8">
                  <a:alpha val="83921"/>
                </a:srgbClr>
              </a:gs>
              <a:gs pos="28000">
                <a:srgbClr val="E8E8E8">
                  <a:alpha val="83921"/>
                </a:srgbClr>
              </a:gs>
              <a:gs pos="74000">
                <a:schemeClr val="lt1"/>
              </a:gs>
              <a:gs pos="100000">
                <a:schemeClr val="lt1"/>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1" name="Google Shape;131;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However</a:t>
            </a:r>
            <a:endParaRPr/>
          </a:p>
        </p:txBody>
      </p:sp>
      <p:grpSp>
        <p:nvGrpSpPr>
          <p:cNvPr id="132" name="Google Shape;132;p4"/>
          <p:cNvGrpSpPr/>
          <p:nvPr/>
        </p:nvGrpSpPr>
        <p:grpSpPr>
          <a:xfrm>
            <a:off x="838200" y="1827749"/>
            <a:ext cx="10515600" cy="4347088"/>
            <a:chOff x="0" y="2124"/>
            <a:chExt cx="10515600" cy="4347088"/>
          </a:xfrm>
        </p:grpSpPr>
        <p:cxnSp>
          <p:nvCxnSpPr>
            <p:cNvPr id="133" name="Google Shape;133;p4"/>
            <p:cNvCxnSpPr/>
            <p:nvPr/>
          </p:nvCxnSpPr>
          <p:spPr>
            <a:xfrm>
              <a:off x="0" y="2124"/>
              <a:ext cx="10515600" cy="0"/>
            </a:xfrm>
            <a:prstGeom prst="straightConnector1">
              <a:avLst/>
            </a:prstGeom>
            <a:solidFill>
              <a:srgbClr val="E77132"/>
            </a:solidFill>
            <a:ln w="19050" cap="flat" cmpd="sng">
              <a:solidFill>
                <a:srgbClr val="E77132"/>
              </a:solidFill>
              <a:prstDash val="solid"/>
              <a:miter lim="8000"/>
              <a:headEnd type="none" w="sm" len="sm"/>
              <a:tailEnd type="none" w="sm" len="sm"/>
            </a:ln>
          </p:spPr>
        </p:cxnSp>
        <p:sp>
          <p:nvSpPr>
            <p:cNvPr id="134" name="Google Shape;134;p4"/>
            <p:cNvSpPr/>
            <p:nvPr/>
          </p:nvSpPr>
          <p:spPr>
            <a:xfrm>
              <a:off x="0" y="2124"/>
              <a:ext cx="10515600" cy="144902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txBox="1"/>
            <p:nvPr/>
          </p:nvSpPr>
          <p:spPr>
            <a:xfrm>
              <a:off x="0" y="2124"/>
              <a:ext cx="10515600" cy="1449029"/>
            </a:xfrm>
            <a:prstGeom prst="rect">
              <a:avLst/>
            </a:prstGeom>
            <a:noFill/>
            <a:ln>
              <a:noFill/>
            </a:ln>
          </p:spPr>
          <p:txBody>
            <a:bodyPr spcFirstLastPara="1" wrap="square" lIns="102850" tIns="102850" rIns="102850" bIns="102850" anchor="t" anchorCtr="0">
              <a:noAutofit/>
            </a:bodyPr>
            <a:lstStyle/>
            <a:p>
              <a:pPr marL="0" marR="0" lvl="0" indent="0" algn="l" rtl="0">
                <a:lnSpc>
                  <a:spcPct val="90000"/>
                </a:lnSpc>
                <a:spcBef>
                  <a:spcPts val="0"/>
                </a:spcBef>
                <a:spcAft>
                  <a:spcPts val="0"/>
                </a:spcAft>
                <a:buClr>
                  <a:schemeClr val="dk1"/>
                </a:buClr>
                <a:buSzPts val="2700"/>
                <a:buFont typeface="Arial"/>
                <a:buNone/>
              </a:pPr>
              <a:r>
                <a:rPr lang="en-US" sz="2700" b="0" i="0" u="none" strike="noStrike" cap="none">
                  <a:solidFill>
                    <a:schemeClr val="dk1"/>
                  </a:solidFill>
                  <a:latin typeface="Arial"/>
                  <a:ea typeface="Arial"/>
                  <a:cs typeface="Arial"/>
                  <a:sym typeface="Arial"/>
                </a:rPr>
                <a:t>Offline RL really rely on correlation on the distribution, but the model will shut down if we change to another distribution, and Online RL is really expensive on testing.</a:t>
              </a:r>
              <a:endParaRPr/>
            </a:p>
          </p:txBody>
        </p:sp>
        <p:cxnSp>
          <p:nvCxnSpPr>
            <p:cNvPr id="136" name="Google Shape;136;p4"/>
            <p:cNvCxnSpPr/>
            <p:nvPr/>
          </p:nvCxnSpPr>
          <p:spPr>
            <a:xfrm>
              <a:off x="0" y="1451154"/>
              <a:ext cx="10515600" cy="0"/>
            </a:xfrm>
            <a:prstGeom prst="straightConnector1">
              <a:avLst/>
            </a:prstGeom>
            <a:solidFill>
              <a:srgbClr val="8CAE1E"/>
            </a:solidFill>
            <a:ln w="19050" cap="flat" cmpd="sng">
              <a:solidFill>
                <a:srgbClr val="8CAE1E"/>
              </a:solidFill>
              <a:prstDash val="solid"/>
              <a:miter lim="8000"/>
              <a:headEnd type="none" w="sm" len="sm"/>
              <a:tailEnd type="none" w="sm" len="sm"/>
            </a:ln>
          </p:spPr>
        </p:cxnSp>
        <p:sp>
          <p:nvSpPr>
            <p:cNvPr id="137" name="Google Shape;137;p4"/>
            <p:cNvSpPr/>
            <p:nvPr/>
          </p:nvSpPr>
          <p:spPr>
            <a:xfrm>
              <a:off x="0" y="1451154"/>
              <a:ext cx="10515600" cy="144902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txBox="1"/>
            <p:nvPr/>
          </p:nvSpPr>
          <p:spPr>
            <a:xfrm>
              <a:off x="0" y="1451154"/>
              <a:ext cx="10515600" cy="1449029"/>
            </a:xfrm>
            <a:prstGeom prst="rect">
              <a:avLst/>
            </a:prstGeom>
            <a:noFill/>
            <a:ln>
              <a:noFill/>
            </a:ln>
          </p:spPr>
          <p:txBody>
            <a:bodyPr spcFirstLastPara="1" wrap="square" lIns="102850" tIns="102850" rIns="102850" bIns="102850" anchor="t" anchorCtr="0">
              <a:noAutofit/>
            </a:bodyPr>
            <a:lstStyle/>
            <a:p>
              <a:pPr lvl="0">
                <a:lnSpc>
                  <a:spcPct val="90000"/>
                </a:lnSpc>
                <a:buClr>
                  <a:schemeClr val="dk1"/>
                </a:buClr>
                <a:buSzPts val="2700"/>
              </a:pPr>
              <a:r>
                <a:rPr lang="en-US" sz="2700" b="0" i="0" u="none" strike="noStrike" cap="none" dirty="0">
                  <a:solidFill>
                    <a:schemeClr val="dk1"/>
                  </a:solidFill>
                  <a:latin typeface="Arial"/>
                  <a:ea typeface="Arial"/>
                  <a:cs typeface="Arial"/>
                  <a:sym typeface="Arial"/>
                </a:rPr>
                <a:t>Back to what we knew: </a:t>
              </a:r>
              <a:r>
                <a:rPr lang="en-US" sz="2800" dirty="0"/>
                <a:t>variables</a:t>
              </a:r>
              <a:r>
                <a:rPr lang="en-US" sz="2700" b="0" i="0" u="none" strike="noStrike" cap="none" dirty="0">
                  <a:solidFill>
                    <a:schemeClr val="dk1"/>
                  </a:solidFill>
                  <a:latin typeface="Arial"/>
                  <a:ea typeface="Arial"/>
                  <a:cs typeface="Arial"/>
                  <a:sym typeface="Arial"/>
                </a:rPr>
                <a:t>(V), </a:t>
              </a:r>
              <a:r>
                <a:rPr lang="en-US" sz="2800" dirty="0"/>
                <a:t>graph</a:t>
              </a:r>
              <a:r>
                <a:rPr lang="en-US" sz="2700" b="0" i="0" u="none" strike="noStrike" cap="none" dirty="0">
                  <a:solidFill>
                    <a:schemeClr val="dk1"/>
                  </a:solidFill>
                  <a:latin typeface="Arial"/>
                  <a:ea typeface="Arial"/>
                  <a:cs typeface="Arial"/>
                  <a:sym typeface="Arial"/>
                </a:rPr>
                <a:t>(G), </a:t>
              </a:r>
              <a:r>
                <a:rPr lang="en-US" sz="2800" dirty="0"/>
                <a:t>noise</a:t>
              </a:r>
              <a:r>
                <a:rPr lang="en-US" sz="2700" b="0" i="0" u="none" strike="noStrike" cap="none" dirty="0">
                  <a:solidFill>
                    <a:schemeClr val="dk1"/>
                  </a:solidFill>
                  <a:latin typeface="Arial"/>
                  <a:ea typeface="Arial"/>
                  <a:cs typeface="Arial"/>
                  <a:sym typeface="Arial"/>
                </a:rPr>
                <a:t>(U), </a:t>
              </a:r>
              <a:r>
                <a:rPr lang="en-US" sz="2800" dirty="0"/>
                <a:t>mechanisms</a:t>
              </a:r>
              <a:r>
                <a:rPr lang="en-US" sz="2700" b="0" i="0" u="none" strike="noStrike" cap="none" dirty="0">
                  <a:solidFill>
                    <a:schemeClr val="dk1"/>
                  </a:solidFill>
                  <a:latin typeface="Arial"/>
                  <a:ea typeface="Arial"/>
                  <a:cs typeface="Arial"/>
                  <a:sym typeface="Arial"/>
                </a:rPr>
                <a:t>(f). Lots of researchers found a method to fix this problem, which is using Causality(For example, intervention.) to fix.</a:t>
              </a:r>
              <a:endParaRPr dirty="0"/>
            </a:p>
          </p:txBody>
        </p:sp>
        <p:cxnSp>
          <p:nvCxnSpPr>
            <p:cNvPr id="139" name="Google Shape;139;p4"/>
            <p:cNvCxnSpPr/>
            <p:nvPr/>
          </p:nvCxnSpPr>
          <p:spPr>
            <a:xfrm>
              <a:off x="0" y="2900183"/>
              <a:ext cx="10515600" cy="0"/>
            </a:xfrm>
            <a:prstGeom prst="straightConnector1">
              <a:avLst/>
            </a:prstGeom>
            <a:solidFill>
              <a:srgbClr val="196823"/>
            </a:solidFill>
            <a:ln w="19050" cap="flat" cmpd="sng">
              <a:solidFill>
                <a:srgbClr val="196823"/>
              </a:solidFill>
              <a:prstDash val="solid"/>
              <a:miter lim="8000"/>
              <a:headEnd type="none" w="sm" len="sm"/>
              <a:tailEnd type="none" w="sm" len="sm"/>
            </a:ln>
          </p:spPr>
        </p:cxnSp>
        <p:sp>
          <p:nvSpPr>
            <p:cNvPr id="140" name="Google Shape;140;p4"/>
            <p:cNvSpPr/>
            <p:nvPr/>
          </p:nvSpPr>
          <p:spPr>
            <a:xfrm>
              <a:off x="0" y="2900183"/>
              <a:ext cx="10515600" cy="144902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txBox="1"/>
            <p:nvPr/>
          </p:nvSpPr>
          <p:spPr>
            <a:xfrm>
              <a:off x="0" y="2900183"/>
              <a:ext cx="10515600" cy="1449029"/>
            </a:xfrm>
            <a:prstGeom prst="rect">
              <a:avLst/>
            </a:prstGeom>
            <a:noFill/>
            <a:ln>
              <a:noFill/>
            </a:ln>
          </p:spPr>
          <p:txBody>
            <a:bodyPr spcFirstLastPara="1" wrap="square" lIns="102850" tIns="102850" rIns="102850" bIns="102850" anchor="t" anchorCtr="0">
              <a:noAutofit/>
            </a:bodyPr>
            <a:lstStyle/>
            <a:p>
              <a:pPr marL="0" marR="0" lvl="0" indent="0" algn="l" rtl="0">
                <a:lnSpc>
                  <a:spcPct val="90000"/>
                </a:lnSpc>
                <a:spcBef>
                  <a:spcPts val="0"/>
                </a:spcBef>
                <a:spcAft>
                  <a:spcPts val="0"/>
                </a:spcAft>
                <a:buClr>
                  <a:schemeClr val="dk1"/>
                </a:buClr>
                <a:buSzPts val="2700"/>
                <a:buFont typeface="Arial"/>
                <a:buNone/>
              </a:pPr>
              <a:r>
                <a:rPr lang="en-US" sz="2700" b="0" i="0" u="none" strike="noStrike" cap="none" dirty="0">
                  <a:solidFill>
                    <a:schemeClr val="dk1"/>
                  </a:solidFill>
                  <a:latin typeface="Arial"/>
                  <a:ea typeface="Arial"/>
                  <a:cs typeface="Arial"/>
                  <a:sym typeface="Arial"/>
                </a:rPr>
                <a:t>If we can find a way to accomplish these components, we can fix the problem what offline RL right now. But how?</a:t>
              </a:r>
              <a:endParaRPr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5"/>
        <p:cNvGrpSpPr/>
        <p:nvPr/>
      </p:nvGrpSpPr>
      <p:grpSpPr>
        <a:xfrm>
          <a:off x="0" y="0"/>
          <a:ext cx="0" cy="0"/>
          <a:chOff x="0" y="0"/>
          <a:chExt cx="0" cy="0"/>
        </a:xfrm>
      </p:grpSpPr>
      <p:pic>
        <p:nvPicPr>
          <p:cNvPr id="146" name="Google Shape;146;p5"/>
          <p:cNvPicPr preferRelativeResize="0"/>
          <p:nvPr/>
        </p:nvPicPr>
        <p:blipFill rotWithShape="1">
          <a:blip r:embed="rId3">
            <a:alphaModFix/>
          </a:blip>
          <a:srcRect b="15730"/>
          <a:stretch/>
        </p:blipFill>
        <p:spPr>
          <a:xfrm>
            <a:off x="20" y="10"/>
            <a:ext cx="12191980" cy="6857990"/>
          </a:xfrm>
          <a:prstGeom prst="rect">
            <a:avLst/>
          </a:prstGeom>
          <a:noFill/>
          <a:ln>
            <a:noFill/>
          </a:ln>
        </p:spPr>
      </p:pic>
      <p:sp>
        <p:nvSpPr>
          <p:cNvPr id="147" name="Google Shape;147;p5"/>
          <p:cNvSpPr/>
          <p:nvPr/>
        </p:nvSpPr>
        <p:spPr>
          <a:xfrm>
            <a:off x="0" y="0"/>
            <a:ext cx="12196802" cy="6858000"/>
          </a:xfrm>
          <a:prstGeom prst="rect">
            <a:avLst/>
          </a:prstGeom>
          <a:gradFill>
            <a:gsLst>
              <a:gs pos="0">
                <a:srgbClr val="E8E8E8">
                  <a:alpha val="83921"/>
                </a:srgbClr>
              </a:gs>
              <a:gs pos="28000">
                <a:srgbClr val="E8E8E8">
                  <a:alpha val="83921"/>
                </a:srgbClr>
              </a:gs>
              <a:gs pos="74000">
                <a:schemeClr val="lt1"/>
              </a:gs>
              <a:gs pos="100000">
                <a:schemeClr val="lt1"/>
              </a:gs>
            </a:gsLst>
            <a:path path="circle">
              <a:fillToRect l="100000" t="100000"/>
            </a:path>
            <a:tileRect r="-100000" b="-10000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8" name="Google Shape;148;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Abstract</a:t>
            </a:r>
            <a:endParaRPr/>
          </a:p>
        </p:txBody>
      </p:sp>
      <p:sp>
        <p:nvSpPr>
          <p:cNvPr id="149" name="Google Shape;149;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t>Since we know the Online RL is expensive, even there is a method which GPT is doing: use offline data to train the model and put it into real-world to do the online RL, but it still really expensive.</a:t>
            </a:r>
            <a:endParaRPr dirty="0"/>
          </a:p>
          <a:p>
            <a:pPr marL="228600" lvl="0" indent="-228600" algn="l" rtl="0">
              <a:lnSpc>
                <a:spcPct val="90000"/>
              </a:lnSpc>
              <a:spcBef>
                <a:spcPts val="1000"/>
              </a:spcBef>
              <a:spcAft>
                <a:spcPts val="0"/>
              </a:spcAft>
              <a:buClr>
                <a:schemeClr val="dk1"/>
              </a:buClr>
              <a:buSzPts val="2800"/>
              <a:buChar char="•"/>
            </a:pPr>
            <a:r>
              <a:rPr lang="en-US" dirty="0"/>
              <a:t>So, here comes with two questions:</a:t>
            </a:r>
            <a:endParaRPr dirty="0"/>
          </a:p>
          <a:p>
            <a:pPr marL="685800" lvl="1" indent="-228600" algn="l" rtl="0">
              <a:lnSpc>
                <a:spcPct val="90000"/>
              </a:lnSpc>
              <a:spcBef>
                <a:spcPts val="500"/>
              </a:spcBef>
              <a:spcAft>
                <a:spcPts val="0"/>
              </a:spcAft>
              <a:buClr>
                <a:schemeClr val="dk1"/>
              </a:buClr>
              <a:buSzPts val="2400"/>
              <a:buChar char="•"/>
            </a:pPr>
            <a:r>
              <a:rPr lang="en-US" dirty="0"/>
              <a:t>1. can we only use offline(historical data)?</a:t>
            </a:r>
            <a:endParaRPr dirty="0"/>
          </a:p>
          <a:p>
            <a:pPr marL="685800" lvl="1" indent="-228600" algn="l" rtl="0">
              <a:lnSpc>
                <a:spcPct val="90000"/>
              </a:lnSpc>
              <a:spcBef>
                <a:spcPts val="500"/>
              </a:spcBef>
              <a:spcAft>
                <a:spcPts val="0"/>
              </a:spcAft>
              <a:buClr>
                <a:schemeClr val="dk1"/>
              </a:buClr>
              <a:buSzPts val="2400"/>
              <a:buChar char="•"/>
            </a:pPr>
            <a:r>
              <a:rPr lang="en-US" dirty="0"/>
              <a:t>2. how to improve the success rate instead of only decrease the loss rate</a:t>
            </a:r>
            <a:endParaRPr dirty="0"/>
          </a:p>
          <a:p>
            <a:pPr marL="228600" lvl="0" indent="-228600" algn="l" rtl="0">
              <a:lnSpc>
                <a:spcPct val="90000"/>
              </a:lnSpc>
              <a:spcBef>
                <a:spcPts val="1000"/>
              </a:spcBef>
              <a:spcAft>
                <a:spcPts val="0"/>
              </a:spcAft>
              <a:buClr>
                <a:schemeClr val="dk1"/>
              </a:buClr>
              <a:buSzPts val="2800"/>
              <a:buChar char="•"/>
            </a:pPr>
            <a:r>
              <a:rPr lang="en-US" dirty="0"/>
              <a:t>There are lots of researcher tried to fix the problem, but BECAUSE want to find the problem at.</a:t>
            </a:r>
            <a:endParaRPr dirty="0"/>
          </a:p>
          <a:p>
            <a:pPr marL="228600" lvl="0" indent="-228600" algn="l" rtl="0">
              <a:lnSpc>
                <a:spcPct val="90000"/>
              </a:lnSpc>
              <a:spcBef>
                <a:spcPts val="1000"/>
              </a:spcBef>
              <a:spcAft>
                <a:spcPts val="0"/>
              </a:spcAft>
              <a:buClr>
                <a:schemeClr val="dk1"/>
              </a:buClr>
              <a:buSzPts val="2800"/>
              <a:buChar char="•"/>
            </a:pPr>
            <a:r>
              <a:rPr lang="en-US" dirty="0"/>
              <a:t>It assumed status and actions are considered as causality.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3"/>
        <p:cNvGrpSpPr/>
        <p:nvPr/>
      </p:nvGrpSpPr>
      <p:grpSpPr>
        <a:xfrm>
          <a:off x="0" y="0"/>
          <a:ext cx="0" cy="0"/>
          <a:chOff x="0" y="0"/>
          <a:chExt cx="0" cy="0"/>
        </a:xfrm>
      </p:grpSpPr>
      <p:sp>
        <p:nvSpPr>
          <p:cNvPr id="154" name="Google Shape;154;p6"/>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5" name="Google Shape;155;p6"/>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800"/>
              <a:buFont typeface="Play"/>
              <a:buNone/>
            </a:pPr>
            <a:r>
              <a:rPr lang="en-US" sz="4800"/>
              <a:t>The whole guidline</a:t>
            </a:r>
            <a:endParaRPr/>
          </a:p>
        </p:txBody>
      </p:sp>
      <p:sp>
        <p:nvSpPr>
          <p:cNvPr id="156" name="Google Shape;156;p6"/>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7" name="Google Shape;157;p6"/>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8" name="Google Shape;158;p6"/>
          <p:cNvSpPr txBox="1">
            <a:spLocks noGrp="1"/>
          </p:cNvSpPr>
          <p:nvPr>
            <p:ph type="body" idx="1"/>
          </p:nvPr>
        </p:nvSpPr>
        <p:spPr>
          <a:xfrm>
            <a:off x="793661" y="2599509"/>
            <a:ext cx="4530898" cy="3639450"/>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1700"/>
              <a:buChar char="•"/>
            </a:pPr>
            <a:r>
              <a:rPr lang="en-US" sz="1700"/>
              <a:t>For now, we have a clearly pipeline which is we are trying to fix the problem what offline RL had right now, which we will base on causal components to make it better.</a:t>
            </a:r>
            <a:endParaRPr/>
          </a:p>
          <a:p>
            <a:pPr marL="228600" lvl="0" indent="-228600" algn="l" rtl="0">
              <a:lnSpc>
                <a:spcPct val="90000"/>
              </a:lnSpc>
              <a:spcBef>
                <a:spcPts val="1000"/>
              </a:spcBef>
              <a:spcAft>
                <a:spcPts val="0"/>
              </a:spcAft>
              <a:buClr>
                <a:schemeClr val="dk1"/>
              </a:buClr>
              <a:buSzPts val="1700"/>
              <a:buChar char="•"/>
            </a:pPr>
            <a:r>
              <a:rPr lang="en-US" sz="1700"/>
              <a:t>In a nutshell: formulate the world model as a "matrix sandwiched between two encoders" (bilinear), reinterpret the central matrix as a causal graph and prune it via independence tests, apply a reweighting formula to eliminate the demonstrator's preference-based biases, and finally pair it with a pessimistic planner that avoids trusting unfamiliar scenarios.</a:t>
            </a:r>
            <a:endParaRPr/>
          </a:p>
        </p:txBody>
      </p:sp>
      <p:pic>
        <p:nvPicPr>
          <p:cNvPr id="159" name="Google Shape;159;p6"/>
          <p:cNvPicPr preferRelativeResize="0"/>
          <p:nvPr/>
        </p:nvPicPr>
        <p:blipFill rotWithShape="1">
          <a:blip r:embed="rId3">
            <a:alphaModFix/>
          </a:blip>
          <a:srcRect/>
          <a:stretch/>
        </p:blipFill>
        <p:spPr>
          <a:xfrm>
            <a:off x="5826723" y="3064170"/>
            <a:ext cx="5150277" cy="2545808"/>
          </a:xfrm>
          <a:prstGeom prst="rect">
            <a:avLst/>
          </a:prstGeom>
          <a:noFill/>
          <a:ln>
            <a:noFill/>
          </a:ln>
        </p:spPr>
      </p:pic>
      <p:sp>
        <p:nvSpPr>
          <p:cNvPr id="160" name="Google Shape;160;p6"/>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p:cNvGrpSpPr/>
        <p:nvPr/>
      </p:nvGrpSpPr>
      <p:grpSpPr>
        <a:xfrm>
          <a:off x="0" y="0"/>
          <a:ext cx="0" cy="0"/>
          <a:chOff x="0" y="0"/>
          <a:chExt cx="0" cy="0"/>
        </a:xfrm>
      </p:grpSpPr>
      <p:sp>
        <p:nvSpPr>
          <p:cNvPr id="165" name="Google Shape;165;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6" name="Google Shape;166;p7"/>
          <p:cNvSpPr/>
          <p:nvPr/>
        </p:nvSpPr>
        <p:spPr>
          <a:xfrm flipH="1">
            <a:off x="2" y="0"/>
            <a:ext cx="12191998" cy="1575955"/>
          </a:xfrm>
          <a:prstGeom prst="rect">
            <a:avLst/>
          </a:prstGeom>
          <a:gradFill>
            <a:gsLst>
              <a:gs pos="0">
                <a:srgbClr val="000000">
                  <a:alpha val="96078"/>
                </a:srgbClr>
              </a:gs>
              <a:gs pos="100000">
                <a:srgbClr val="0F4761"/>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7" name="Google Shape;167;p7"/>
          <p:cNvSpPr/>
          <p:nvPr/>
        </p:nvSpPr>
        <p:spPr>
          <a:xfrm rot="10800000" flipH="1">
            <a:off x="8128857" y="0"/>
            <a:ext cx="4063143" cy="1576412"/>
          </a:xfrm>
          <a:prstGeom prst="rect">
            <a:avLst/>
          </a:prstGeom>
          <a:gradFill>
            <a:gsLst>
              <a:gs pos="0">
                <a:srgbClr val="0A2F41">
                  <a:alpha val="67843"/>
                </a:srgbClr>
              </a:gs>
              <a:gs pos="19000">
                <a:srgbClr val="0A2F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8" name="Google Shape;168;p7"/>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9" name="Google Shape;169;p7"/>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Play"/>
              <a:buNone/>
            </a:pPr>
            <a:r>
              <a:rPr lang="en-US" sz="4000">
                <a:solidFill>
                  <a:srgbClr val="FFFFFF"/>
                </a:solidFill>
              </a:rPr>
              <a:t>Methodology Pipeline</a:t>
            </a:r>
            <a:endParaRPr/>
          </a:p>
        </p:txBody>
      </p:sp>
      <p:grpSp>
        <p:nvGrpSpPr>
          <p:cNvPr id="170" name="Google Shape;170;p7"/>
          <p:cNvGrpSpPr/>
          <p:nvPr/>
        </p:nvGrpSpPr>
        <p:grpSpPr>
          <a:xfrm>
            <a:off x="2192970" y="2408981"/>
            <a:ext cx="7830000" cy="3600000"/>
            <a:chOff x="1548914" y="296402"/>
            <a:chExt cx="7830000" cy="3600000"/>
          </a:xfrm>
        </p:grpSpPr>
        <p:sp>
          <p:nvSpPr>
            <p:cNvPr id="171" name="Google Shape;171;p7"/>
            <p:cNvSpPr/>
            <p:nvPr/>
          </p:nvSpPr>
          <p:spPr>
            <a:xfrm>
              <a:off x="2250914" y="296402"/>
              <a:ext cx="2196000" cy="2196000"/>
            </a:xfrm>
            <a:prstGeom prst="ellipse">
              <a:avLst/>
            </a:prstGeom>
            <a:solidFill>
              <a:srgbClr val="E77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 name="Google Shape;172;p7"/>
            <p:cNvSpPr/>
            <p:nvPr/>
          </p:nvSpPr>
          <p:spPr>
            <a:xfrm>
              <a:off x="2718914" y="764402"/>
              <a:ext cx="1260000" cy="1260000"/>
            </a:xfrm>
            <a:prstGeom prst="rect">
              <a:avLst/>
            </a:prstGeom>
            <a:noFill/>
            <a:ln w="19050" cap="flat" cmpd="sng">
              <a:solidFill>
                <a:schemeClr val="lt1">
                  <a:alpha val="0"/>
                </a:scheme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a:off x="1548914" y="3176402"/>
              <a:ext cx="360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7"/>
            <p:cNvSpPr txBox="1"/>
            <p:nvPr/>
          </p:nvSpPr>
          <p:spPr>
            <a:xfrm>
              <a:off x="1548914" y="3176402"/>
              <a:ext cx="360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DATA ↓ LEARN WORLD MODEL ↓ LEARN POLICY ↓ DEPLOY </a:t>
              </a:r>
              <a:endParaRPr/>
            </a:p>
          </p:txBody>
        </p:sp>
        <p:sp>
          <p:nvSpPr>
            <p:cNvPr id="175" name="Google Shape;175;p7"/>
            <p:cNvSpPr/>
            <p:nvPr/>
          </p:nvSpPr>
          <p:spPr>
            <a:xfrm>
              <a:off x="6480914" y="296402"/>
              <a:ext cx="2196000" cy="2196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a:off x="6948914" y="764402"/>
              <a:ext cx="1260000" cy="1260000"/>
            </a:xfrm>
            <a:prstGeom prst="rect">
              <a:avLst/>
            </a:prstGeom>
            <a:noFill/>
            <a:ln w="19050" cap="flat" cmpd="sng">
              <a:solidFill>
                <a:schemeClr val="lt1">
                  <a:alpha val="0"/>
                </a:scheme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7"/>
            <p:cNvSpPr/>
            <p:nvPr/>
          </p:nvSpPr>
          <p:spPr>
            <a:xfrm>
              <a:off x="5778914" y="3176402"/>
              <a:ext cx="360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7"/>
            <p:cNvSpPr txBox="1"/>
            <p:nvPr/>
          </p:nvSpPr>
          <p:spPr>
            <a:xfrm>
              <a:off x="5778914" y="3176402"/>
              <a:ext cx="360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DATA ↓ DISCOVER CAUSAL VARIABLES ↓ LEARN CAUSAL WORLD MODEL ↓ USE CAUSAL MODEL TO LEARN POLICY ↓ DEPLOY</a:t>
              </a:r>
              <a:endParaRPr/>
            </a:p>
          </p:txBody>
        </p:sp>
      </p:grpSp>
      <p:sp>
        <p:nvSpPr>
          <p:cNvPr id="179" name="Google Shape;179;p7"/>
          <p:cNvSpPr txBox="1"/>
          <p:nvPr/>
        </p:nvSpPr>
        <p:spPr>
          <a:xfrm>
            <a:off x="7620000" y="4749800"/>
            <a:ext cx="20193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BECAUSE</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p7"/>
          <p:cNvSpPr txBox="1"/>
          <p:nvPr/>
        </p:nvSpPr>
        <p:spPr>
          <a:xfrm>
            <a:off x="3276600" y="4749799"/>
            <a:ext cx="20193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TRADITIONAL</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4"/>
        <p:cNvGrpSpPr/>
        <p:nvPr/>
      </p:nvGrpSpPr>
      <p:grpSpPr>
        <a:xfrm>
          <a:off x="0" y="0"/>
          <a:ext cx="0" cy="0"/>
          <a:chOff x="0" y="0"/>
          <a:chExt cx="0" cy="0"/>
        </a:xfrm>
      </p:grpSpPr>
      <p:sp>
        <p:nvSpPr>
          <p:cNvPr id="185" name="Google Shape;185;p8"/>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86" name="Google Shape;186;p8"/>
          <p:cNvGrpSpPr/>
          <p:nvPr/>
        </p:nvGrpSpPr>
        <p:grpSpPr>
          <a:xfrm>
            <a:off x="4" y="1216597"/>
            <a:ext cx="731521" cy="673460"/>
            <a:chOff x="3940602" y="308034"/>
            <a:chExt cx="2116791" cy="3428999"/>
          </a:xfrm>
        </p:grpSpPr>
        <p:sp>
          <p:nvSpPr>
            <p:cNvPr id="187" name="Google Shape;187;p8"/>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8"/>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8"/>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90" name="Google Shape;190;p8"/>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8"/>
          <p:cNvSpPr txBox="1">
            <a:spLocks noGrp="1"/>
          </p:cNvSpPr>
          <p:nvPr>
            <p:ph type="title"/>
          </p:nvPr>
        </p:nvSpPr>
        <p:spPr>
          <a:xfrm>
            <a:off x="1043631" y="809898"/>
            <a:ext cx="9942716" cy="15544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Play"/>
              <a:buNone/>
            </a:pPr>
            <a:r>
              <a:rPr lang="en-US" sz="4800"/>
              <a:t>Baseline</a:t>
            </a:r>
            <a:endParaRPr/>
          </a:p>
        </p:txBody>
      </p:sp>
      <p:sp>
        <p:nvSpPr>
          <p:cNvPr id="192" name="Google Shape;192;p8"/>
          <p:cNvSpPr txBox="1">
            <a:spLocks noGrp="1"/>
          </p:cNvSpPr>
          <p:nvPr>
            <p:ph type="body" idx="1"/>
          </p:nvPr>
        </p:nvSpPr>
        <p:spPr>
          <a:xfrm>
            <a:off x="1045028" y="3017522"/>
            <a:ext cx="9941319" cy="3124658"/>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400"/>
              <a:buChar char="•"/>
            </a:pPr>
            <a:r>
              <a:rPr lang="en-US" sz="2400"/>
              <a:t>We knew, traditional method, with a world model doesn't discriminate; as long as it can reduce prediction error, it will learn that correlation too. In the report at least it looks really great. </a:t>
            </a:r>
            <a:endParaRPr/>
          </a:p>
          <a:p>
            <a:pPr marL="228600" lvl="0" indent="-76200" algn="l" rtl="0">
              <a:lnSpc>
                <a:spcPct val="90000"/>
              </a:lnSpc>
              <a:spcBef>
                <a:spcPts val="1000"/>
              </a:spcBef>
              <a:spcAft>
                <a:spcPts val="0"/>
              </a:spcAft>
              <a:buClr>
                <a:schemeClr val="dk1"/>
              </a:buClr>
              <a:buSzPts val="2400"/>
              <a:buNone/>
            </a:pPr>
            <a:endParaRPr sz="2400"/>
          </a:p>
          <a:p>
            <a:pPr marL="228600" lvl="0" indent="-228600" algn="l" rtl="0">
              <a:lnSpc>
                <a:spcPct val="90000"/>
              </a:lnSpc>
              <a:spcBef>
                <a:spcPts val="1000"/>
              </a:spcBef>
              <a:spcAft>
                <a:spcPts val="0"/>
              </a:spcAft>
              <a:buClr>
                <a:schemeClr val="dk1"/>
              </a:buClr>
              <a:buSzPts val="2400"/>
              <a:buChar char="•"/>
            </a:pPr>
            <a:r>
              <a:rPr lang="en-US" sz="2400"/>
              <a:t>This is the "baseline problem." Traditional methods offer no solution because their loss functions are designed solely to prioritize prediction accuracy, making them unable to distinguish between genuine underlying patterns and coincidental correlations.</a:t>
            </a:r>
            <a:endParaRPr/>
          </a:p>
        </p:txBody>
      </p:sp>
      <p:cxnSp>
        <p:nvCxnSpPr>
          <p:cNvPr id="193" name="Google Shape;193;p8"/>
          <p:cNvCxnSpPr/>
          <p:nvPr/>
        </p:nvCxnSpPr>
        <p:spPr>
          <a:xfrm rot="10800000">
            <a:off x="838200" y="6485313"/>
            <a:ext cx="10515600" cy="0"/>
          </a:xfrm>
          <a:prstGeom prst="straightConnector1">
            <a:avLst/>
          </a:prstGeom>
          <a:noFill/>
          <a:ln w="57150" cap="flat" cmpd="sng">
            <a:solidFill>
              <a:schemeClr val="accent4"/>
            </a:solidFill>
            <a:prstDash val="solid"/>
            <a:miter lim="8000"/>
            <a:headEnd type="none" w="sm" len="sm"/>
            <a:tailEnd type="none"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7"/>
        <p:cNvGrpSpPr/>
        <p:nvPr/>
      </p:nvGrpSpPr>
      <p:grpSpPr>
        <a:xfrm>
          <a:off x="0" y="0"/>
          <a:ext cx="0" cy="0"/>
          <a:chOff x="0" y="0"/>
          <a:chExt cx="0" cy="0"/>
        </a:xfrm>
      </p:grpSpPr>
      <p:sp useBgFill="1">
        <p:nvSpPr>
          <p:cNvPr id="205" name="Rectangle 204">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9" name="Picture 208">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11" name="Rectangle 210">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3" name="Rectangle 212">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98" name="Google Shape;198;p9"/>
          <p:cNvSpPr txBox="1">
            <a:spLocks noGrp="1"/>
          </p:cNvSpPr>
          <p:nvPr>
            <p:ph type="title"/>
          </p:nvPr>
        </p:nvSpPr>
        <p:spPr>
          <a:xfrm>
            <a:off x="6597016" y="905011"/>
            <a:ext cx="4589328" cy="1889135"/>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4400"/>
              <a:buFont typeface="Play"/>
              <a:buNone/>
            </a:pPr>
            <a:r>
              <a:rPr lang="en-US" sz="4800"/>
              <a:t>The “Because”</a:t>
            </a:r>
          </a:p>
        </p:txBody>
      </p:sp>
      <p:pic>
        <p:nvPicPr>
          <p:cNvPr id="200" name="Google Shape;200;p9"/>
          <p:cNvPicPr preferRelativeResize="0"/>
          <p:nvPr/>
        </p:nvPicPr>
        <p:blipFill>
          <a:blip r:embed="rId4"/>
          <a:stretch>
            <a:fillRect/>
          </a:stretch>
        </p:blipFill>
        <p:spPr>
          <a:xfrm>
            <a:off x="720807" y="1859306"/>
            <a:ext cx="5468347" cy="3130627"/>
          </a:xfrm>
          <a:prstGeom prst="rect">
            <a:avLst/>
          </a:prstGeom>
          <a:noFill/>
        </p:spPr>
      </p:pic>
      <p:sp>
        <p:nvSpPr>
          <p:cNvPr id="199" name="Google Shape;199;p9"/>
          <p:cNvSpPr txBox="1">
            <a:spLocks noGrp="1"/>
          </p:cNvSpPr>
          <p:nvPr>
            <p:ph type="body" idx="1"/>
          </p:nvPr>
        </p:nvSpPr>
        <p:spPr>
          <a:xfrm>
            <a:off x="6597016" y="2965592"/>
            <a:ext cx="4589328" cy="2987397"/>
          </a:xfrm>
          <a:prstGeom prst="rect">
            <a:avLst/>
          </a:prstGeom>
        </p:spPr>
        <p:txBody>
          <a:bodyPr spcFirstLastPara="1" lIns="91425" tIns="45700" rIns="91425" bIns="45700" anchorCtr="0">
            <a:normAutofit/>
          </a:bodyPr>
          <a:lstStyle/>
          <a:p>
            <a:pPr marL="228600" lvl="0" indent="-228600" rtl="0">
              <a:spcBef>
                <a:spcPts val="0"/>
              </a:spcBef>
              <a:spcAft>
                <a:spcPts val="0"/>
              </a:spcAft>
              <a:buClr>
                <a:schemeClr val="dk1"/>
              </a:buClr>
              <a:buSzPts val="2800"/>
              <a:buChar char="•"/>
            </a:pPr>
            <a:r>
              <a:rPr lang="en-US" sz="1800" dirty="0"/>
              <a:t>An additional rule is added regarding the "BECAUSE" loss: predictions must be accurate, and—crucially—every piece of information used must pass a test proving it is a genuine cause rather than a mere coincidence.</a:t>
            </a:r>
          </a:p>
          <a:p>
            <a:pPr marL="228600" lvl="0" indent="-228600" rtl="0">
              <a:spcBef>
                <a:spcPts val="1000"/>
              </a:spcBef>
              <a:spcAft>
                <a:spcPts val="0"/>
              </a:spcAft>
              <a:buClr>
                <a:schemeClr val="dk1"/>
              </a:buClr>
              <a:buSzPts val="2800"/>
              <a:buChar char="•"/>
            </a:pPr>
            <a:r>
              <a:rPr lang="en-US" sz="1800" dirty="0"/>
              <a:t>This is the new path of: ‘Discover Causal Variables + Graph’</a:t>
            </a:r>
          </a:p>
          <a:p>
            <a:pPr marL="228600" lvl="0" indent="-228600" rtl="0">
              <a:spcBef>
                <a:spcPts val="1000"/>
              </a:spcBef>
              <a:spcAft>
                <a:spcPts val="0"/>
              </a:spcAft>
              <a:buClr>
                <a:schemeClr val="dk1"/>
              </a:buClr>
              <a:buSzPts val="2800"/>
              <a:buChar char="•"/>
            </a:pPr>
            <a:r>
              <a:rPr lang="en-US" sz="1800" dirty="0"/>
              <a:t>Example: </a:t>
            </a:r>
            <a:r>
              <a:rPr lang="en-US" sz="1800" dirty="0" err="1"/>
              <a:t>action_t</a:t>
            </a:r>
            <a:r>
              <a:rPr lang="en-US" sz="1800" dirty="0"/>
              <a:t> -&gt; position_{t+1}, but </a:t>
            </a:r>
            <a:r>
              <a:rPr lang="en-US" sz="1800" dirty="0" err="1"/>
              <a:t>wall_color</a:t>
            </a:r>
            <a:r>
              <a:rPr lang="en-US" sz="1800" dirty="0"/>
              <a:t> </a:t>
            </a:r>
            <a:r>
              <a:rPr lang="en-US" sz="1800"/>
              <a:t>-&gt; nothing</a:t>
            </a:r>
            <a:endParaRPr lang="en-US" sz="1800" dirty="0"/>
          </a:p>
          <a:p>
            <a:pPr marL="228600" lvl="0" indent="0" rtl="0">
              <a:spcBef>
                <a:spcPts val="1000"/>
              </a:spcBef>
              <a:spcAft>
                <a:spcPts val="0"/>
              </a:spcAft>
              <a:buNone/>
            </a:pP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AAA91-C55D-6ABF-EF74-6E054583184B}"/>
              </a:ext>
            </a:extLst>
          </p:cNvPr>
          <p:cNvSpPr>
            <a:spLocks noGrp="1"/>
          </p:cNvSpPr>
          <p:nvPr>
            <p:ph type="title"/>
          </p:nvPr>
        </p:nvSpPr>
        <p:spPr/>
        <p:txBody>
          <a:bodyPr/>
          <a:lstStyle/>
          <a:p>
            <a:r>
              <a:rPr lang="en-US" dirty="0"/>
              <a:t>Causal Matrix</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12F43A5-C9B5-29B1-AC35-FC7A57D7C9AE}"/>
                  </a:ext>
                </a:extLst>
              </p:cNvPr>
              <p:cNvSpPr>
                <a:spLocks noGrp="1"/>
              </p:cNvSpPr>
              <p:nvPr>
                <p:ph type="body" idx="1"/>
              </p:nvPr>
            </p:nvSpPr>
            <p:spPr>
              <a:xfrm>
                <a:off x="262173" y="1833441"/>
                <a:ext cx="7281985" cy="4351338"/>
              </a:xfrm>
            </p:spPr>
            <p:txBody>
              <a:bodyPr/>
              <a:lstStyle/>
              <a:p>
                <a:r>
                  <a:rPr lang="en-US" dirty="0"/>
                  <a:t>How to apply the Graph to change this situation?</a:t>
                </a:r>
              </a:p>
              <a:p>
                <a:r>
                  <a:rPr lang="en-US" dirty="0"/>
                  <a:t>Traditional way: </a:t>
                </a:r>
              </a:p>
              <a:p>
                <a:pPr marL="114300" indent="0">
                  <a:buNone/>
                </a:pPr>
                <a14:m>
                  <m:oMathPara xmlns:m="http://schemas.openxmlformats.org/officeDocument/2006/math">
                    <m:oMathParaPr>
                      <m:jc m:val="center"/>
                    </m:oMathParaPr>
                    <m:oMath xmlns:m="http://schemas.openxmlformats.org/officeDocument/2006/math">
                      <m:r>
                        <a:rPr lang="en-US" i="1" smtClean="0">
                          <a:latin typeface="Cambria Math" panose="02040503050406030204" pitchFamily="18" charset="0"/>
                          <a:ea typeface="Cambria Math" panose="02040503050406030204" pitchFamily="18" charset="0"/>
                        </a:rPr>
                        <m:t>𝜙</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m:oMathPara>
                </a14:m>
                <a:endParaRPr lang="en-US" dirty="0"/>
              </a:p>
              <a:p>
                <a:r>
                  <a:rPr lang="en-US" dirty="0"/>
                  <a:t>In this paper:</a:t>
                </a:r>
              </a:p>
              <a:p>
                <a:pPr marL="11430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𝜙</m:t>
                      </m:r>
                      <m:sSup>
                        <m:sSupPr>
                          <m:ctrlPr>
                            <a:rPr lang="en-US" b="0"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m:oMathPara>
                </a14:m>
                <a:endParaRPr lang="en-US" dirty="0"/>
              </a:p>
              <a:p>
                <a:pPr marL="114300" indent="0">
                  <a:buNone/>
                </a:pPr>
                <a:r>
                  <a:rPr lang="en-US" dirty="0"/>
                  <a:t>it adds a M, between these two states.</a:t>
                </a:r>
              </a:p>
              <a:p>
                <a:pPr marL="114300" indent="0">
                  <a:buNone/>
                </a:pPr>
                <a:r>
                  <a:rPr lang="en-US" dirty="0"/>
                  <a:t>It presents: not each feature will affect to every output features.</a:t>
                </a:r>
              </a:p>
              <a:p>
                <a:endParaRPr lang="en-US" dirty="0"/>
              </a:p>
            </p:txBody>
          </p:sp>
        </mc:Choice>
        <mc:Fallback xmlns="">
          <p:sp>
            <p:nvSpPr>
              <p:cNvPr id="3" name="Text Placeholder 2">
                <a:extLst>
                  <a:ext uri="{FF2B5EF4-FFF2-40B4-BE49-F238E27FC236}">
                    <a16:creationId xmlns:a16="http://schemas.microsoft.com/office/drawing/2014/main" id="{E12F43A5-C9B5-29B1-AC35-FC7A57D7C9AE}"/>
                  </a:ext>
                </a:extLst>
              </p:cNvPr>
              <p:cNvSpPr>
                <a:spLocks noGrp="1" noRot="1" noChangeAspect="1" noMove="1" noResize="1" noEditPoints="1" noAdjustHandles="1" noChangeArrowheads="1" noChangeShapeType="1" noTextEdit="1"/>
              </p:cNvSpPr>
              <p:nvPr>
                <p:ph type="body" idx="1"/>
              </p:nvPr>
            </p:nvSpPr>
            <p:spPr>
              <a:xfrm>
                <a:off x="262173" y="1833441"/>
                <a:ext cx="7281985" cy="4351338"/>
              </a:xfrm>
              <a:blipFill>
                <a:blip r:embed="rId2"/>
                <a:stretch>
                  <a:fillRect l="-84"/>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6AF9A46-F1AD-923C-CE85-C8F1DF5448BE}"/>
              </a:ext>
            </a:extLst>
          </p:cNvPr>
          <p:cNvSpPr txBox="1"/>
          <p:nvPr/>
        </p:nvSpPr>
        <p:spPr>
          <a:xfrm>
            <a:off x="7377722" y="2199536"/>
            <a:ext cx="3602892" cy="307777"/>
          </a:xfrm>
          <a:prstGeom prst="rect">
            <a:avLst/>
          </a:prstGeom>
          <a:noFill/>
        </p:spPr>
        <p:txBody>
          <a:bodyPr wrap="square" rtlCol="0">
            <a:spAutoFit/>
          </a:bodyPr>
          <a:lstStyle/>
          <a:p>
            <a:r>
              <a:rPr lang="en-US" dirty="0"/>
              <a:t>Then the matrix is:</a:t>
            </a:r>
          </a:p>
        </p:txBody>
      </p:sp>
      <p:graphicFrame>
        <p:nvGraphicFramePr>
          <p:cNvPr id="4" name="Table 3">
            <a:extLst>
              <a:ext uri="{FF2B5EF4-FFF2-40B4-BE49-F238E27FC236}">
                <a16:creationId xmlns:a16="http://schemas.microsoft.com/office/drawing/2014/main" id="{3DA78AFA-9E81-3408-C0DC-0A44AED68DC7}"/>
              </a:ext>
            </a:extLst>
          </p:cNvPr>
          <p:cNvGraphicFramePr>
            <a:graphicFrameLocks noGrp="1"/>
          </p:cNvGraphicFramePr>
          <p:nvPr>
            <p:extLst>
              <p:ext uri="{D42A27DB-BD31-4B8C-83A1-F6EECF244321}">
                <p14:modId xmlns:p14="http://schemas.microsoft.com/office/powerpoint/2010/main" val="3312504613"/>
              </p:ext>
            </p:extLst>
          </p:nvPr>
        </p:nvGraphicFramePr>
        <p:xfrm>
          <a:off x="7294065" y="2642250"/>
          <a:ext cx="4525110" cy="1854200"/>
        </p:xfrm>
        <a:graphic>
          <a:graphicData uri="http://schemas.openxmlformats.org/drawingml/2006/table">
            <a:tbl>
              <a:tblPr firstRow="1" bandRow="1">
                <a:tableStyleId>{5C22544A-7EE6-4342-B048-85BDC9FD1C3A}</a:tableStyleId>
              </a:tblPr>
              <a:tblGrid>
                <a:gridCol w="905022">
                  <a:extLst>
                    <a:ext uri="{9D8B030D-6E8A-4147-A177-3AD203B41FA5}">
                      <a16:colId xmlns:a16="http://schemas.microsoft.com/office/drawing/2014/main" val="2018681683"/>
                    </a:ext>
                  </a:extLst>
                </a:gridCol>
                <a:gridCol w="905022">
                  <a:extLst>
                    <a:ext uri="{9D8B030D-6E8A-4147-A177-3AD203B41FA5}">
                      <a16:colId xmlns:a16="http://schemas.microsoft.com/office/drawing/2014/main" val="438925449"/>
                    </a:ext>
                  </a:extLst>
                </a:gridCol>
                <a:gridCol w="905022">
                  <a:extLst>
                    <a:ext uri="{9D8B030D-6E8A-4147-A177-3AD203B41FA5}">
                      <a16:colId xmlns:a16="http://schemas.microsoft.com/office/drawing/2014/main" val="1051325008"/>
                    </a:ext>
                  </a:extLst>
                </a:gridCol>
                <a:gridCol w="905022">
                  <a:extLst>
                    <a:ext uri="{9D8B030D-6E8A-4147-A177-3AD203B41FA5}">
                      <a16:colId xmlns:a16="http://schemas.microsoft.com/office/drawing/2014/main" val="2142916691"/>
                    </a:ext>
                  </a:extLst>
                </a:gridCol>
                <a:gridCol w="905022">
                  <a:extLst>
                    <a:ext uri="{9D8B030D-6E8A-4147-A177-3AD203B41FA5}">
                      <a16:colId xmlns:a16="http://schemas.microsoft.com/office/drawing/2014/main" val="1452864637"/>
                    </a:ext>
                  </a:extLst>
                </a:gridCol>
              </a:tblGrid>
              <a:tr h="370840">
                <a:tc>
                  <a:txBody>
                    <a:bodyPr/>
                    <a:lstStyle/>
                    <a:p>
                      <a:pPr algn="ctr"/>
                      <a:endParaRPr lang="en-US" dirty="0"/>
                    </a:p>
                  </a:txBody>
                  <a:tcPr/>
                </a:tc>
                <a:tc>
                  <a:txBody>
                    <a:bodyPr/>
                    <a:lstStyle/>
                    <a:p>
                      <a:pPr algn="ctr"/>
                      <a:r>
                        <a:rPr lang="en-US" dirty="0"/>
                        <a:t>position</a:t>
                      </a:r>
                    </a:p>
                  </a:txBody>
                  <a:tcPr/>
                </a:tc>
                <a:tc>
                  <a:txBody>
                    <a:bodyPr/>
                    <a:lstStyle/>
                    <a:p>
                      <a:pPr algn="ctr"/>
                      <a:r>
                        <a:rPr lang="en-US" dirty="0"/>
                        <a:t>speed</a:t>
                      </a:r>
                    </a:p>
                  </a:txBody>
                  <a:tcPr/>
                </a:tc>
                <a:tc>
                  <a:txBody>
                    <a:bodyPr/>
                    <a:lstStyle/>
                    <a:p>
                      <a:pPr algn="ctr"/>
                      <a:r>
                        <a:rPr lang="en-US" dirty="0"/>
                        <a:t>cup</a:t>
                      </a:r>
                    </a:p>
                  </a:txBody>
                  <a:tcPr/>
                </a:tc>
                <a:tc>
                  <a:txBody>
                    <a:bodyPr/>
                    <a:lstStyle/>
                    <a:p>
                      <a:pPr algn="ctr"/>
                      <a:r>
                        <a:rPr lang="en-US" dirty="0"/>
                        <a:t>weather</a:t>
                      </a:r>
                    </a:p>
                  </a:txBody>
                  <a:tcPr/>
                </a:tc>
                <a:extLst>
                  <a:ext uri="{0D108BD9-81ED-4DB2-BD59-A6C34878D82A}">
                    <a16:rowId xmlns:a16="http://schemas.microsoft.com/office/drawing/2014/main" val="1040332241"/>
                  </a:ext>
                </a:extLst>
              </a:tr>
              <a:tr h="370840">
                <a:tc>
                  <a:txBody>
                    <a:bodyPr/>
                    <a:lstStyle/>
                    <a:p>
                      <a:pPr algn="ctr"/>
                      <a:r>
                        <a:rPr lang="en-US" dirty="0"/>
                        <a:t>position</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869580781"/>
                  </a:ext>
                </a:extLst>
              </a:tr>
              <a:tr h="370840">
                <a:tc>
                  <a:txBody>
                    <a:bodyPr/>
                    <a:lstStyle/>
                    <a:p>
                      <a:pPr algn="ctr"/>
                      <a:r>
                        <a:rPr lang="en-US" dirty="0"/>
                        <a:t>speed</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876914793"/>
                  </a:ext>
                </a:extLst>
              </a:tr>
              <a:tr h="370840">
                <a:tc>
                  <a:txBody>
                    <a:bodyPr/>
                    <a:lstStyle/>
                    <a:p>
                      <a:pPr algn="ctr"/>
                      <a:r>
                        <a:rPr lang="en-US" dirty="0"/>
                        <a:t>cup</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675753130"/>
                  </a:ext>
                </a:extLst>
              </a:tr>
              <a:tr h="370840">
                <a:tc>
                  <a:txBody>
                    <a:bodyPr/>
                    <a:lstStyle/>
                    <a:p>
                      <a:pPr algn="ctr"/>
                      <a:r>
                        <a:rPr lang="en-US" dirty="0"/>
                        <a:t>weather</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276111299"/>
                  </a:ext>
                </a:extLst>
              </a:tr>
            </a:tbl>
          </a:graphicData>
        </a:graphic>
      </p:graphicFrame>
      <p:sp>
        <p:nvSpPr>
          <p:cNvPr id="7" name="TextBox 6">
            <a:extLst>
              <a:ext uri="{FF2B5EF4-FFF2-40B4-BE49-F238E27FC236}">
                <a16:creationId xmlns:a16="http://schemas.microsoft.com/office/drawing/2014/main" id="{B2E9DE2F-3533-0547-16ED-4787B3EA2E54}"/>
              </a:ext>
            </a:extLst>
          </p:cNvPr>
          <p:cNvSpPr txBox="1"/>
          <p:nvPr/>
        </p:nvSpPr>
        <p:spPr>
          <a:xfrm>
            <a:off x="7294066" y="4693298"/>
            <a:ext cx="4525110" cy="1169551"/>
          </a:xfrm>
          <a:prstGeom prst="rect">
            <a:avLst/>
          </a:prstGeom>
          <a:noFill/>
        </p:spPr>
        <p:txBody>
          <a:bodyPr wrap="square" rtlCol="0">
            <a:spAutoFit/>
          </a:bodyPr>
          <a:lstStyle/>
          <a:p>
            <a:r>
              <a:rPr lang="en-US" dirty="0"/>
              <a:t>Which means different factors point to different factors, which is the Graph(G)</a:t>
            </a:r>
          </a:p>
          <a:p>
            <a:endParaRPr lang="en-US" dirty="0"/>
          </a:p>
          <a:p>
            <a:r>
              <a:rPr lang="en-US" dirty="0"/>
              <a:t>M(position, position`) = 1, which means position will affect the next position state</a:t>
            </a:r>
          </a:p>
        </p:txBody>
      </p:sp>
    </p:spTree>
    <p:extLst>
      <p:ext uri="{BB962C8B-B14F-4D97-AF65-F5344CB8AC3E}">
        <p14:creationId xmlns:p14="http://schemas.microsoft.com/office/powerpoint/2010/main" val="308962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183EE6B-8BAF-D456-3A1E-DFD4CC7150D8}"/>
              </a:ext>
            </a:extLst>
          </p:cNvPr>
          <p:cNvSpPr>
            <a:spLocks noGrp="1"/>
          </p:cNvSpPr>
          <p:nvPr>
            <p:ph type="title"/>
          </p:nvPr>
        </p:nvSpPr>
        <p:spPr>
          <a:xfrm>
            <a:off x="804672" y="1412489"/>
            <a:ext cx="2871095" cy="2156621"/>
          </a:xfrm>
        </p:spPr>
        <p:txBody>
          <a:bodyPr anchor="t">
            <a:normAutofit/>
          </a:bodyPr>
          <a:lstStyle/>
          <a:p>
            <a:r>
              <a:rPr lang="en-US" sz="3300">
                <a:solidFill>
                  <a:srgbClr val="FFFFFF"/>
                </a:solidFill>
              </a:rPr>
              <a:t>Bilinear Representation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0738A28-1B5D-BE49-DEDC-4BEF440E4802}"/>
                  </a:ext>
                </a:extLst>
              </p:cNvPr>
              <p:cNvSpPr>
                <a:spLocks noGrp="1"/>
              </p:cNvSpPr>
              <p:nvPr>
                <p:ph type="body" idx="1"/>
              </p:nvPr>
            </p:nvSpPr>
            <p:spPr>
              <a:xfrm>
                <a:off x="5198993" y="1412489"/>
                <a:ext cx="6641554" cy="4667880"/>
              </a:xfrm>
            </p:spPr>
            <p:txBody>
              <a:bodyPr>
                <a:normAutofit/>
              </a:bodyPr>
              <a:lstStyle/>
              <a:p>
                <a:r>
                  <a:rPr lang="en-US" sz="1600" dirty="0"/>
                  <a:t>If </a:t>
                </a:r>
                <a14:m>
                  <m:oMath xmlns:m="http://schemas.openxmlformats.org/officeDocument/2006/math">
                    <m:r>
                      <a:rPr lang="en-US" sz="1600" i="1">
                        <a:latin typeface="Cambria Math" panose="02040503050406030204" pitchFamily="18" charset="0"/>
                      </a:rPr>
                      <m:t>𝜑</m:t>
                    </m:r>
                    <m:r>
                      <a:rPr lang="en-US" sz="1600" i="1">
                        <a:latin typeface="Cambria Math" panose="02040503050406030204" pitchFamily="18" charset="0"/>
                      </a:rPr>
                      <m:t> = [</m:t>
                    </m:r>
                    <m:r>
                      <a:rPr lang="en-US" sz="1600" i="1">
                        <a:latin typeface="Cambria Math" panose="02040503050406030204" pitchFamily="18" charset="0"/>
                      </a:rPr>
                      <m:t>𝑓</m:t>
                    </m:r>
                    <m:r>
                      <a:rPr lang="en-US" sz="1600" i="1">
                        <a:latin typeface="Cambria Math" panose="02040503050406030204" pitchFamily="18" charset="0"/>
                      </a:rPr>
                      <m:t>₁,</m:t>
                    </m:r>
                    <m:r>
                      <a:rPr lang="en-US" sz="1600" i="1">
                        <a:latin typeface="Cambria Math" panose="02040503050406030204" pitchFamily="18" charset="0"/>
                      </a:rPr>
                      <m:t>𝑓</m:t>
                    </m:r>
                    <m:r>
                      <a:rPr lang="en-US" sz="1600" i="1">
                        <a:latin typeface="Cambria Math" panose="02040503050406030204" pitchFamily="18" charset="0"/>
                      </a:rPr>
                      <m:t>₂,</m:t>
                    </m:r>
                    <m:r>
                      <a:rPr lang="en-US" sz="1600" i="1">
                        <a:latin typeface="Cambria Math" panose="02040503050406030204" pitchFamily="18" charset="0"/>
                      </a:rPr>
                      <m:t>𝑓</m:t>
                    </m:r>
                    <m:r>
                      <a:rPr lang="en-US" sz="1600" i="1">
                        <a:latin typeface="Cambria Math" panose="02040503050406030204" pitchFamily="18" charset="0"/>
                      </a:rPr>
                      <m:t>₃] </m:t>
                    </m:r>
                  </m:oMath>
                </a14:m>
                <a:r>
                  <a:rPr lang="en-US" sz="1600" dirty="0"/>
                  <a:t>and </a:t>
                </a:r>
                <a14:m>
                  <m:oMath xmlns:m="http://schemas.openxmlformats.org/officeDocument/2006/math">
                    <m:r>
                      <a:rPr lang="en-US" sz="1600" i="1">
                        <a:latin typeface="Cambria Math" panose="02040503050406030204" pitchFamily="18" charset="0"/>
                      </a:rPr>
                      <m:t>𝜇</m:t>
                    </m:r>
                    <m:r>
                      <a:rPr lang="en-US" sz="1600" i="1">
                        <a:latin typeface="Cambria Math" panose="02040503050406030204" pitchFamily="18" charset="0"/>
                      </a:rPr>
                      <m:t> = [</m:t>
                    </m:r>
                    <m:r>
                      <a:rPr lang="en-US" sz="1600" i="1">
                        <a:latin typeface="Cambria Math" panose="02040503050406030204" pitchFamily="18" charset="0"/>
                      </a:rPr>
                      <m:t>𝑔</m:t>
                    </m:r>
                    <m:r>
                      <a:rPr lang="en-US" sz="1600" i="1">
                        <a:latin typeface="Cambria Math" panose="02040503050406030204" pitchFamily="18" charset="0"/>
                      </a:rPr>
                      <m:t>₁,</m:t>
                    </m:r>
                    <m:r>
                      <a:rPr lang="en-US" sz="1600" i="1">
                        <a:latin typeface="Cambria Math" panose="02040503050406030204" pitchFamily="18" charset="0"/>
                      </a:rPr>
                      <m:t>𝑔</m:t>
                    </m:r>
                    <m:r>
                      <a:rPr lang="en-US" sz="1600" i="1">
                        <a:latin typeface="Cambria Math" panose="02040503050406030204" pitchFamily="18" charset="0"/>
                      </a:rPr>
                      <m:t>₂,</m:t>
                    </m:r>
                    <m:r>
                      <a:rPr lang="en-US" sz="1600" i="1">
                        <a:latin typeface="Cambria Math" panose="02040503050406030204" pitchFamily="18" charset="0"/>
                      </a:rPr>
                      <m:t>𝑔</m:t>
                    </m:r>
                    <m:r>
                      <a:rPr lang="en-US" sz="1600" i="1">
                        <a:latin typeface="Cambria Math" panose="02040503050406030204" pitchFamily="18" charset="0"/>
                      </a:rPr>
                      <m:t>₃]</m:t>
                    </m:r>
                  </m:oMath>
                </a14:m>
                <a:endParaRPr lang="en-US" sz="1600" dirty="0"/>
              </a:p>
              <a:p>
                <a:endParaRPr lang="en-US" sz="1600" dirty="0"/>
              </a:p>
              <a:p>
                <a:pPr lvl="1"/>
                <a:r>
                  <a:rPr lang="en-US" sz="1600" dirty="0"/>
                  <a:t>Traditional: </a:t>
                </a:r>
              </a:p>
              <a:p>
                <a:pPr marL="1028700" lvl="2" indent="0">
                  <a:buNone/>
                </a:pPr>
                <a14:m>
                  <m:oMathPara xmlns:m="http://schemas.openxmlformats.org/officeDocument/2006/math">
                    <m:oMathParaPr>
                      <m:jc m:val="centerGroup"/>
                    </m:oMathParaPr>
                    <m:oMath xmlns:m="http://schemas.openxmlformats.org/officeDocument/2006/math">
                      <m:sSub>
                        <m:sSubPr>
                          <m:ctrlPr>
                            <a:rPr lang="en-US" sz="1600" b="0" i="1">
                              <a:latin typeface="Cambria Math" panose="02040503050406030204" pitchFamily="18" charset="0"/>
                            </a:rPr>
                          </m:ctrlPr>
                        </m:sSubPr>
                        <m:e>
                          <m:r>
                            <a:rPr lang="en-US" sz="1600" b="0" i="1">
                              <a:latin typeface="Cambria Math" panose="02040503050406030204" pitchFamily="18" charset="0"/>
                            </a:rPr>
                            <m:t>𝑓</m:t>
                          </m:r>
                        </m:e>
                        <m:sub>
                          <m:r>
                            <a:rPr lang="en-US" sz="1600" b="0" i="1">
                              <a:latin typeface="Cambria Math" panose="02040503050406030204" pitchFamily="18" charset="0"/>
                            </a:rPr>
                            <m:t>1</m:t>
                          </m:r>
                        </m:sub>
                      </m:sSub>
                      <m:sSub>
                        <m:sSubPr>
                          <m:ctrlPr>
                            <a:rPr lang="en-US" sz="1600" b="0" i="1">
                              <a:latin typeface="Cambria Math" panose="02040503050406030204" pitchFamily="18" charset="0"/>
                            </a:rPr>
                          </m:ctrlPr>
                        </m:sSubPr>
                        <m:e>
                          <m:r>
                            <a:rPr lang="en-US" sz="1600" b="0" i="1">
                              <a:latin typeface="Cambria Math" panose="02040503050406030204" pitchFamily="18" charset="0"/>
                            </a:rPr>
                            <m:t>𝑔</m:t>
                          </m:r>
                        </m:e>
                        <m:sub>
                          <m:r>
                            <a:rPr lang="en-US" sz="1600" b="0" i="1">
                              <a:latin typeface="Cambria Math" panose="02040503050406030204" pitchFamily="18" charset="0"/>
                            </a:rPr>
                            <m:t>1</m:t>
                          </m:r>
                        </m:sub>
                      </m:sSub>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𝑓</m:t>
                          </m:r>
                        </m:e>
                        <m:sub>
                          <m:r>
                            <a:rPr lang="en-US" sz="1600" b="0" i="1">
                              <a:latin typeface="Cambria Math" panose="02040503050406030204" pitchFamily="18" charset="0"/>
                            </a:rPr>
                            <m:t>2</m:t>
                          </m:r>
                        </m:sub>
                      </m:sSub>
                      <m:sSub>
                        <m:sSubPr>
                          <m:ctrlPr>
                            <a:rPr lang="en-US" sz="1600" b="0" i="1">
                              <a:latin typeface="Cambria Math" panose="02040503050406030204" pitchFamily="18" charset="0"/>
                            </a:rPr>
                          </m:ctrlPr>
                        </m:sSubPr>
                        <m:e>
                          <m:r>
                            <a:rPr lang="en-US" sz="1600" b="0" i="1">
                              <a:latin typeface="Cambria Math" panose="02040503050406030204" pitchFamily="18" charset="0"/>
                            </a:rPr>
                            <m:t>𝑔</m:t>
                          </m:r>
                        </m:e>
                        <m:sub>
                          <m:r>
                            <a:rPr lang="en-US" sz="1600" b="0" i="1">
                              <a:latin typeface="Cambria Math" panose="02040503050406030204" pitchFamily="18" charset="0"/>
                            </a:rPr>
                            <m:t>2</m:t>
                          </m:r>
                        </m:sub>
                      </m:sSub>
                      <m:r>
                        <a:rPr lang="en-US" sz="1600" b="0" i="1">
                          <a:latin typeface="Cambria Math" panose="02040503050406030204" pitchFamily="18" charset="0"/>
                        </a:rPr>
                        <m:t>+</m:t>
                      </m:r>
                      <m:sSub>
                        <m:sSubPr>
                          <m:ctrlPr>
                            <a:rPr lang="en-US" sz="1600" b="0" i="1">
                              <a:latin typeface="Cambria Math" panose="02040503050406030204" pitchFamily="18" charset="0"/>
                            </a:rPr>
                          </m:ctrlPr>
                        </m:sSubPr>
                        <m:e>
                          <m:r>
                            <a:rPr lang="en-US" sz="1600" b="0" i="1">
                              <a:latin typeface="Cambria Math" panose="02040503050406030204" pitchFamily="18" charset="0"/>
                            </a:rPr>
                            <m:t>𝑓</m:t>
                          </m:r>
                        </m:e>
                        <m:sub>
                          <m:r>
                            <a:rPr lang="en-US" sz="1600" b="0" i="1">
                              <a:latin typeface="Cambria Math" panose="02040503050406030204" pitchFamily="18" charset="0"/>
                            </a:rPr>
                            <m:t>3</m:t>
                          </m:r>
                        </m:sub>
                      </m:sSub>
                      <m:sSub>
                        <m:sSubPr>
                          <m:ctrlPr>
                            <a:rPr lang="en-US" sz="1600" b="0" i="1">
                              <a:latin typeface="Cambria Math" panose="02040503050406030204" pitchFamily="18" charset="0"/>
                            </a:rPr>
                          </m:ctrlPr>
                        </m:sSubPr>
                        <m:e>
                          <m:r>
                            <a:rPr lang="en-US" sz="1600" b="0" i="1">
                              <a:latin typeface="Cambria Math" panose="02040503050406030204" pitchFamily="18" charset="0"/>
                            </a:rPr>
                            <m:t>𝑔</m:t>
                          </m:r>
                        </m:e>
                        <m:sub>
                          <m:r>
                            <a:rPr lang="en-US" sz="1600" b="0" i="1">
                              <a:latin typeface="Cambria Math" panose="02040503050406030204" pitchFamily="18" charset="0"/>
                            </a:rPr>
                            <m:t>3</m:t>
                          </m:r>
                        </m:sub>
                      </m:sSub>
                    </m:oMath>
                  </m:oMathPara>
                </a14:m>
                <a:endParaRPr lang="en-US" sz="1600" dirty="0"/>
              </a:p>
              <a:p>
                <a:pPr lvl="2"/>
                <a:r>
                  <a:rPr lang="en-US" sz="1600" dirty="0"/>
                  <a:t>It is only affecting to one dimension</a:t>
                </a:r>
              </a:p>
              <a:p>
                <a:pPr lvl="2"/>
                <a:endParaRPr lang="en-US" sz="1600" dirty="0"/>
              </a:p>
              <a:p>
                <a:pPr lvl="2"/>
                <a:endParaRPr lang="en-US" sz="1600" dirty="0"/>
              </a:p>
              <a:p>
                <a:pPr lvl="1"/>
                <a:r>
                  <a:rPr lang="en-US" sz="1600" dirty="0"/>
                  <a:t>‘New Method’:</a:t>
                </a:r>
              </a:p>
              <a:p>
                <a:pPr lvl="2"/>
                <a:r>
                  <a:rPr lang="en-US" sz="1600" dirty="0"/>
                  <a:t>if M= </a:t>
                </a:r>
                <a14:m>
                  <m:oMath xmlns:m="http://schemas.openxmlformats.org/officeDocument/2006/math">
                    <m:r>
                      <a:rPr lang="en-US" sz="1600" b="0" i="0">
                        <a:latin typeface="Cambria Math" panose="02040503050406030204" pitchFamily="18" charset="0"/>
                      </a:rPr>
                      <m:t>[</m:t>
                    </m:r>
                    <m:m>
                      <m:mPr>
                        <m:mcs>
                          <m:mc>
                            <m:mcPr>
                              <m:count m:val="3"/>
                              <m:mcJc m:val="center"/>
                            </m:mcPr>
                          </m:mc>
                        </m:mcs>
                        <m:ctrlPr>
                          <a:rPr lang="en-US" sz="1600" i="1">
                            <a:latin typeface="Cambria Math" panose="02040503050406030204" pitchFamily="18" charset="0"/>
                          </a:rPr>
                        </m:ctrlPr>
                      </m:mPr>
                      <m:mr>
                        <m:e>
                          <m:r>
                            <m:rPr>
                              <m:brk m:alnAt="7"/>
                            </m:rPr>
                            <a:rPr lang="en-US" sz="1600" b="0" i="1">
                              <a:latin typeface="Cambria Math" panose="02040503050406030204" pitchFamily="18" charset="0"/>
                            </a:rPr>
                            <m:t>1</m:t>
                          </m:r>
                        </m:e>
                        <m:e>
                          <m:r>
                            <a:rPr lang="en-US" sz="1600" b="0" i="1">
                              <a:latin typeface="Cambria Math" panose="02040503050406030204" pitchFamily="18" charset="0"/>
                            </a:rPr>
                            <m:t>0</m:t>
                          </m:r>
                        </m:e>
                        <m:e>
                          <m:r>
                            <a:rPr lang="en-US" sz="1600" b="0" i="1">
                              <a:latin typeface="Cambria Math" panose="02040503050406030204" pitchFamily="18" charset="0"/>
                            </a:rPr>
                            <m:t>2</m:t>
                          </m:r>
                        </m:e>
                      </m:mr>
                      <m:mr>
                        <m:e>
                          <m:r>
                            <a:rPr lang="en-US" sz="1600" b="0" i="1">
                              <a:latin typeface="Cambria Math" panose="02040503050406030204" pitchFamily="18" charset="0"/>
                            </a:rPr>
                            <m:t>0</m:t>
                          </m:r>
                        </m:e>
                        <m:e>
                          <m:r>
                            <a:rPr lang="en-US" sz="1600" b="0" i="1">
                              <a:latin typeface="Cambria Math" panose="02040503050406030204" pitchFamily="18" charset="0"/>
                            </a:rPr>
                            <m:t>1</m:t>
                          </m:r>
                        </m:e>
                        <m:e>
                          <m:r>
                            <a:rPr lang="en-US" sz="1600" b="0" i="1">
                              <a:latin typeface="Cambria Math" panose="02040503050406030204" pitchFamily="18" charset="0"/>
                            </a:rPr>
                            <m:t>0</m:t>
                          </m:r>
                        </m:e>
                      </m:mr>
                      <m:mr>
                        <m:e>
                          <m:r>
                            <a:rPr lang="en-US" sz="1600" b="0" i="1">
                              <a:latin typeface="Cambria Math" panose="02040503050406030204" pitchFamily="18" charset="0"/>
                            </a:rPr>
                            <m:t>3</m:t>
                          </m:r>
                        </m:e>
                        <m:e>
                          <m:r>
                            <a:rPr lang="en-US" sz="1600" b="0" i="1">
                              <a:latin typeface="Cambria Math" panose="02040503050406030204" pitchFamily="18" charset="0"/>
                            </a:rPr>
                            <m:t>0</m:t>
                          </m:r>
                        </m:e>
                        <m:e>
                          <m:r>
                            <a:rPr lang="en-US" sz="1600" b="0" i="1">
                              <a:latin typeface="Cambria Math" panose="02040503050406030204" pitchFamily="18" charset="0"/>
                            </a:rPr>
                            <m:t>1</m:t>
                          </m:r>
                        </m:e>
                      </m:mr>
                    </m:m>
                    <m:r>
                      <a:rPr lang="en-US" sz="1600" b="0" i="1">
                        <a:latin typeface="Cambria Math" panose="02040503050406030204" pitchFamily="18" charset="0"/>
                      </a:rPr>
                      <m:t>]</m:t>
                    </m:r>
                  </m:oMath>
                </a14:m>
                <a:endParaRPr lang="en-US" sz="1600" dirty="0"/>
              </a:p>
              <a:p>
                <a:pPr lvl="2"/>
                <a:endParaRPr lang="en-US" sz="1600" dirty="0"/>
              </a:p>
              <a:p>
                <a:pPr lvl="2"/>
                <a:r>
                  <a:rPr lang="en-US" sz="1600" dirty="0"/>
                  <a:t>It has:</a:t>
                </a:r>
              </a:p>
              <a:p>
                <a:pPr marL="571500" lvl="1" indent="0">
                  <a:buNone/>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1</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1</m:t>
                          </m:r>
                        </m:sub>
                      </m:sSub>
                      <m:r>
                        <a:rPr lang="en-US" sz="1600" i="1">
                          <a:latin typeface="Cambria Math" panose="02040503050406030204" pitchFamily="18" charset="0"/>
                        </a:rPr>
                        <m:t>+</m:t>
                      </m:r>
                      <m:r>
                        <a:rPr lang="en-US" sz="1600" b="0" i="1">
                          <a:latin typeface="Cambria Math" panose="02040503050406030204" pitchFamily="18" charset="0"/>
                        </a:rPr>
                        <m:t>2</m:t>
                      </m:r>
                      <m:sSub>
                        <m:sSubPr>
                          <m:ctrlPr>
                            <a:rPr lang="en-US" sz="1600" b="0" i="1">
                              <a:latin typeface="Cambria Math" panose="02040503050406030204" pitchFamily="18" charset="0"/>
                            </a:rPr>
                          </m:ctrlPr>
                        </m:sSubPr>
                        <m:e>
                          <m:r>
                            <a:rPr lang="en-US" sz="1600" b="0" i="1">
                              <a:latin typeface="Cambria Math" panose="02040503050406030204" pitchFamily="18" charset="0"/>
                            </a:rPr>
                            <m:t>𝑓</m:t>
                          </m:r>
                        </m:e>
                        <m:sub>
                          <m:r>
                            <a:rPr lang="en-US" sz="1600" b="0" i="1">
                              <a:latin typeface="Cambria Math" panose="02040503050406030204" pitchFamily="18" charset="0"/>
                            </a:rPr>
                            <m:t>1</m:t>
                          </m:r>
                        </m:sub>
                      </m:sSub>
                      <m:sSub>
                        <m:sSubPr>
                          <m:ctrlPr>
                            <a:rPr lang="en-US" sz="1600" b="0" i="1">
                              <a:latin typeface="Cambria Math" panose="02040503050406030204" pitchFamily="18" charset="0"/>
                            </a:rPr>
                          </m:ctrlPr>
                        </m:sSubPr>
                        <m:e>
                          <m:r>
                            <a:rPr lang="en-US" sz="1600" b="0" i="1">
                              <a:latin typeface="Cambria Math" panose="02040503050406030204" pitchFamily="18" charset="0"/>
                            </a:rPr>
                            <m:t>𝑔</m:t>
                          </m:r>
                        </m:e>
                        <m:sub>
                          <m:r>
                            <a:rPr lang="en-US" sz="1600" b="0" i="1">
                              <a:latin typeface="Cambria Math" panose="02040503050406030204" pitchFamily="18" charset="0"/>
                            </a:rPr>
                            <m:t>3</m:t>
                          </m:r>
                        </m:sub>
                      </m:sSub>
                      <m:r>
                        <a:rPr lang="en-US" sz="1600" b="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2</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2</m:t>
                          </m:r>
                        </m:sub>
                      </m:sSub>
                      <m:r>
                        <a:rPr lang="en-US" sz="1600" i="1">
                          <a:latin typeface="Cambria Math" panose="02040503050406030204" pitchFamily="18" charset="0"/>
                        </a:rPr>
                        <m:t>+</m:t>
                      </m:r>
                      <m:r>
                        <a:rPr lang="en-US" sz="1600" b="0" i="1">
                          <a:latin typeface="Cambria Math" panose="02040503050406030204" pitchFamily="18" charset="0"/>
                        </a:rPr>
                        <m:t>3</m:t>
                      </m:r>
                      <m:sSub>
                        <m:sSubPr>
                          <m:ctrlPr>
                            <a:rPr lang="en-US" sz="1600" b="0" i="1">
                              <a:latin typeface="Cambria Math" panose="02040503050406030204" pitchFamily="18" charset="0"/>
                            </a:rPr>
                          </m:ctrlPr>
                        </m:sSubPr>
                        <m:e>
                          <m:r>
                            <a:rPr lang="en-US" sz="1600" b="0" i="1">
                              <a:latin typeface="Cambria Math" panose="02040503050406030204" pitchFamily="18" charset="0"/>
                            </a:rPr>
                            <m:t>𝑓</m:t>
                          </m:r>
                        </m:e>
                        <m:sub>
                          <m:r>
                            <a:rPr lang="en-US" sz="1600" b="0" i="1">
                              <a:latin typeface="Cambria Math" panose="02040503050406030204" pitchFamily="18" charset="0"/>
                            </a:rPr>
                            <m:t>3</m:t>
                          </m:r>
                        </m:sub>
                      </m:sSub>
                      <m:sSub>
                        <m:sSubPr>
                          <m:ctrlPr>
                            <a:rPr lang="en-US" sz="1600" b="0" i="1">
                              <a:latin typeface="Cambria Math" panose="02040503050406030204" pitchFamily="18" charset="0"/>
                            </a:rPr>
                          </m:ctrlPr>
                        </m:sSubPr>
                        <m:e>
                          <m:r>
                            <a:rPr lang="en-US" sz="1600" b="0" i="1">
                              <a:latin typeface="Cambria Math" panose="02040503050406030204" pitchFamily="18" charset="0"/>
                            </a:rPr>
                            <m:t>𝑔</m:t>
                          </m:r>
                        </m:e>
                        <m:sub>
                          <m:r>
                            <a:rPr lang="en-US" sz="1600" b="0" i="1">
                              <a:latin typeface="Cambria Math" panose="02040503050406030204" pitchFamily="18" charset="0"/>
                            </a:rPr>
                            <m:t>1</m:t>
                          </m:r>
                        </m:sub>
                      </m:sSub>
                      <m:r>
                        <a:rPr lang="en-US" sz="1600" b="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3</m:t>
                          </m:r>
                        </m:sub>
                      </m:sSub>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3</m:t>
                          </m:r>
                        </m:sub>
                      </m:sSub>
                    </m:oMath>
                  </m:oMathPara>
                </a14:m>
                <a:endParaRPr lang="en-US" sz="1600" dirty="0"/>
              </a:p>
              <a:p>
                <a:pPr marL="571500" lvl="1" indent="0">
                  <a:buNone/>
                </a:pPr>
                <a:endParaRPr lang="en-US" sz="1600" dirty="0"/>
              </a:p>
              <a:p>
                <a:pPr marL="571500" lvl="1" indent="0">
                  <a:buNone/>
                </a:pPr>
                <a:r>
                  <a:rPr lang="en-US" sz="1600" dirty="0"/>
                  <a:t>Which shows the </a:t>
                </a:r>
                <a14:m>
                  <m:oMath xmlns:m="http://schemas.openxmlformats.org/officeDocument/2006/math">
                    <m:r>
                      <a:rPr lang="en-US" sz="1600" i="1">
                        <a:latin typeface="Cambria Math" panose="02040503050406030204" pitchFamily="18" charset="0"/>
                        <a:ea typeface="Cambria Math" panose="02040503050406030204" pitchFamily="18" charset="0"/>
                      </a:rPr>
                      <m:t>𝜙</m:t>
                    </m:r>
                    <m:sSup>
                      <m:sSupPr>
                        <m:ctrlPr>
                          <a:rPr lang="en-US" sz="1600" i="1">
                            <a:latin typeface="Cambria Math" panose="02040503050406030204" pitchFamily="18" charset="0"/>
                            <a:ea typeface="Cambria Math" panose="02040503050406030204" pitchFamily="18" charset="0"/>
                          </a:rPr>
                        </m:ctrlPr>
                      </m:sSup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𝑠</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𝑎</m:t>
                            </m:r>
                          </m:e>
                        </m:d>
                      </m:e>
                      <m:sup>
                        <m:r>
                          <a:rPr lang="en-US" sz="1600" i="1">
                            <a:latin typeface="Cambria Math" panose="02040503050406030204" pitchFamily="18" charset="0"/>
                            <a:ea typeface="Cambria Math" panose="02040503050406030204" pitchFamily="18" charset="0"/>
                          </a:rPr>
                          <m:t>𝑇</m:t>
                        </m:r>
                      </m:sup>
                    </m:sSup>
                    <m:r>
                      <a:rPr lang="en-US" sz="1600" i="1">
                        <a:latin typeface="Cambria Math" panose="02040503050406030204" pitchFamily="18" charset="0"/>
                        <a:ea typeface="Cambria Math" panose="02040503050406030204" pitchFamily="18" charset="0"/>
                      </a:rPr>
                      <m:t>𝑀</m:t>
                    </m:r>
                    <m:r>
                      <a:rPr lang="en-US" sz="1600" i="1">
                        <a:latin typeface="Cambria Math" panose="02040503050406030204" pitchFamily="18" charset="0"/>
                        <a:ea typeface="Cambria Math" panose="02040503050406030204" pitchFamily="18" charset="0"/>
                      </a:rPr>
                      <m:t>𝜇</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𝑠</m:t>
                    </m:r>
                    <m:r>
                      <a:rPr lang="en-US" sz="1600" i="1">
                        <a:latin typeface="Cambria Math" panose="02040503050406030204" pitchFamily="18" charset="0"/>
                        <a:ea typeface="Cambria Math" panose="02040503050406030204" pitchFamily="18" charset="0"/>
                      </a:rPr>
                      <m:t>`)</m:t>
                    </m:r>
                  </m:oMath>
                </a14:m>
                <a:r>
                  <a:rPr lang="en-US" sz="1600" dirty="0"/>
                  <a:t> can let different dimension learn each others</a:t>
                </a:r>
              </a:p>
              <a:p>
                <a:pPr marL="571500" lvl="1" indent="0">
                  <a:buNone/>
                </a:pPr>
                <a:endParaRPr lang="en-US" sz="1600" dirty="0"/>
              </a:p>
            </p:txBody>
          </p:sp>
        </mc:Choice>
        <mc:Fallback xmlns="">
          <p:sp>
            <p:nvSpPr>
              <p:cNvPr id="3" name="Text Placeholder 2">
                <a:extLst>
                  <a:ext uri="{FF2B5EF4-FFF2-40B4-BE49-F238E27FC236}">
                    <a16:creationId xmlns:a16="http://schemas.microsoft.com/office/drawing/2014/main" id="{70738A28-1B5D-BE49-DEDC-4BEF440E4802}"/>
                  </a:ext>
                </a:extLst>
              </p:cNvPr>
              <p:cNvSpPr>
                <a:spLocks noGrp="1" noRot="1" noChangeAspect="1" noMove="1" noResize="1" noEditPoints="1" noAdjustHandles="1" noChangeArrowheads="1" noChangeShapeType="1" noTextEdit="1"/>
              </p:cNvSpPr>
              <p:nvPr>
                <p:ph type="body" idx="1"/>
              </p:nvPr>
            </p:nvSpPr>
            <p:spPr>
              <a:xfrm>
                <a:off x="5198993" y="1412489"/>
                <a:ext cx="6641554" cy="4667880"/>
              </a:xfrm>
              <a:blipFill>
                <a:blip r:embed="rId2"/>
                <a:stretch>
                  <a:fillRect r="-735" b="-1046"/>
                </a:stretch>
              </a:blipFill>
            </p:spPr>
            <p:txBody>
              <a:bodyPr/>
              <a:lstStyle/>
              <a:p>
                <a:r>
                  <a:rPr lang="en-US">
                    <a:noFill/>
                  </a:rPr>
                  <a:t> </a:t>
                </a:r>
              </a:p>
            </p:txBody>
          </p:sp>
        </mc:Fallback>
      </mc:AlternateContent>
    </p:spTree>
    <p:extLst>
      <p:ext uri="{BB962C8B-B14F-4D97-AF65-F5344CB8AC3E}">
        <p14:creationId xmlns:p14="http://schemas.microsoft.com/office/powerpoint/2010/main" val="1864066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p:cNvGrpSpPr/>
        <p:nvPr/>
      </p:nvGrpSpPr>
      <p:grpSpPr>
        <a:xfrm>
          <a:off x="0" y="0"/>
          <a:ext cx="0" cy="0"/>
          <a:chOff x="0" y="0"/>
          <a:chExt cx="0" cy="0"/>
        </a:xfrm>
      </p:grpSpPr>
      <p:sp>
        <p:nvSpPr>
          <p:cNvPr id="196" name="tb"/>
          <p:cNvSpPr txBox="1"/>
          <p:nvPr/>
        </p:nvSpPr>
        <p:spPr>
          <a:xfrm>
            <a:off x="761999" y="1141712"/>
            <a:ext cx="9593386" cy="1129537"/>
          </a:xfrm>
          <a:prstGeom prst="rect">
            <a:avLst/>
          </a:prstGeom>
        </p:spPr>
        <p:txBody>
          <a:bodyPr vert="horz" lIns="91440" tIns="45720" rIns="91440" bIns="45720" rtlCol="0" anchor="t">
            <a:normAutofit/>
          </a:bodyPr>
          <a:lstStyle/>
          <a:p>
            <a:pPr marL="0" lvl="0" indent="0">
              <a:lnSpc>
                <a:spcPct val="90000"/>
              </a:lnSpc>
              <a:spcBef>
                <a:spcPct val="0"/>
              </a:spcBef>
              <a:spcAft>
                <a:spcPts val="600"/>
              </a:spcAft>
            </a:pPr>
            <a:r>
              <a:rPr lang="en-US" sz="3700" b="1" kern="1200" dirty="0">
                <a:solidFill>
                  <a:schemeClr val="tx1"/>
                </a:solidFill>
                <a:latin typeface="+mj-lt"/>
                <a:ea typeface="+mj-ea"/>
                <a:cs typeface="+mj-cs"/>
              </a:rPr>
              <a:t>Does it work? — and the honest scorecard</a:t>
            </a:r>
          </a:p>
        </p:txBody>
      </p:sp>
      <p:sp>
        <p:nvSpPr>
          <p:cNvPr id="194" name="tb"/>
          <p:cNvSpPr txBox="1"/>
          <p:nvPr/>
        </p:nvSpPr>
        <p:spPr>
          <a:xfrm>
            <a:off x="784608" y="5497592"/>
            <a:ext cx="10637772" cy="683095"/>
          </a:xfrm>
          <a:prstGeom prst="rect">
            <a:avLst/>
          </a:prstGeom>
        </p:spPr>
        <p:txBody>
          <a:bodyPr vert="horz" lIns="91440" tIns="45720" rIns="91440" bIns="45720" rtlCol="0" anchor="t">
            <a:normAutofit/>
          </a:bodyPr>
          <a:lstStyle/>
          <a:p>
            <a:pPr lvl="0">
              <a:lnSpc>
                <a:spcPct val="90000"/>
              </a:lnSpc>
              <a:spcBef>
                <a:spcPts val="1000"/>
              </a:spcBef>
            </a:pPr>
            <a:endParaRPr lang="en-US" sz="1800" kern="1200" dirty="0">
              <a:solidFill>
                <a:schemeClr val="tx1"/>
              </a:solidFill>
              <a:latin typeface="+mn-lt"/>
              <a:ea typeface="+mn-ea"/>
              <a:cs typeface="+mn-cs"/>
            </a:endParaRPr>
          </a:p>
        </p:txBody>
      </p:sp>
      <p:cxnSp>
        <p:nvCxnSpPr>
          <p:cNvPr id="198" name="Straight Connector 197">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92" name="shape"/>
          <p:cNvSpPr/>
          <p:nvPr/>
        </p:nvSpPr>
        <p:spPr>
          <a:xfrm>
            <a:off x="1192000" y="2644092"/>
            <a:ext cx="4600000" cy="1300000"/>
          </a:xfrm>
          <a:prstGeom prst="roundRect">
            <a:avLst/>
          </a:prstGeom>
          <a:noFill/>
          <a:ln w="19050">
            <a:solidFill>
              <a:srgbClr val="93C47D"/>
            </a:solidFill>
          </a:ln>
        </p:spPr>
        <p:txBody>
          <a:bodyPr wrap="square" lIns="27400" tIns="18300" rIns="27400" bIns="18300" anchor="ctr">
            <a:normAutofit/>
          </a:bodyPr>
          <a:lstStyle/>
          <a:p>
            <a:pPr algn="ctr">
              <a:spcAft>
                <a:spcPts val="600"/>
              </a:spcAft>
              <a:buNone/>
            </a:pPr>
            <a:r>
              <a:rPr lang="en" sz="1500" b="1">
                <a:solidFill>
                  <a:srgbClr val="38761D"/>
                </a:solidFill>
              </a:rPr>
              <a:t>In-Distribution</a:t>
            </a:r>
          </a:p>
          <a:p>
            <a:pPr algn="ctr">
              <a:spcAft>
                <a:spcPts val="600"/>
              </a:spcAft>
              <a:buNone/>
            </a:pPr>
            <a:r>
              <a:rPr lang="en" sz="1500" b="1">
                <a:solidFill>
                  <a:srgbClr val="38761D"/>
                </a:solidFill>
              </a:rPr>
              <a:t>BECAUSE 73.3   vs   best baseline 53.4</a:t>
            </a:r>
          </a:p>
        </p:txBody>
      </p:sp>
      <p:sp>
        <p:nvSpPr>
          <p:cNvPr id="193" name="shape"/>
          <p:cNvSpPr/>
          <p:nvPr/>
        </p:nvSpPr>
        <p:spPr>
          <a:xfrm>
            <a:off x="6385814" y="2644092"/>
            <a:ext cx="4600000" cy="1300000"/>
          </a:xfrm>
          <a:prstGeom prst="roundRect">
            <a:avLst/>
          </a:prstGeom>
          <a:noFill/>
          <a:ln w="19050">
            <a:solidFill>
              <a:srgbClr val="E06666"/>
            </a:solidFill>
          </a:ln>
        </p:spPr>
        <p:txBody>
          <a:bodyPr wrap="square" lIns="27400" tIns="18300" rIns="27400" bIns="18300" anchor="ctr">
            <a:normAutofit/>
          </a:bodyPr>
          <a:lstStyle/>
          <a:p>
            <a:pPr algn="ctr">
              <a:spcAft>
                <a:spcPts val="600"/>
              </a:spcAft>
              <a:buNone/>
            </a:pPr>
            <a:r>
              <a:rPr lang="en" sz="1500" b="1">
                <a:solidFill>
                  <a:srgbClr val="CC4125"/>
                </a:solidFill>
              </a:rPr>
              <a:t>OOD (coupling swapped)</a:t>
            </a:r>
          </a:p>
          <a:p>
            <a:pPr algn="ctr">
              <a:spcAft>
                <a:spcPts val="600"/>
              </a:spcAft>
              <a:buNone/>
            </a:pPr>
            <a:r>
              <a:rPr lang="en" sz="1500" b="1">
                <a:solidFill>
                  <a:srgbClr val="CC4125"/>
                </a:solidFill>
              </a:rPr>
              <a:t>BECAUSE 43.0   vs   best baseline 28.1</a:t>
            </a:r>
          </a:p>
        </p:txBody>
      </p:sp>
      <p:sp>
        <p:nvSpPr>
          <p:cNvPr id="195" name="tb"/>
          <p:cNvSpPr txBox="1"/>
          <p:nvPr/>
        </p:nvSpPr>
        <p:spPr>
          <a:xfrm>
            <a:off x="992000" y="4516442"/>
            <a:ext cx="11200000" cy="1664245"/>
          </a:xfrm>
          <a:prstGeom prst="rect">
            <a:avLst/>
          </a:prstGeom>
          <a:noFill/>
        </p:spPr>
        <p:txBody>
          <a:bodyPr wrap="square" lIns="45700" tIns="45700" rIns="45700" bIns="45700" anchor="t">
            <a:normAutofit/>
          </a:bodyPr>
          <a:lstStyle/>
          <a:p>
            <a:pPr marL="0" lvl="0" indent="0" algn="l" rtl="0">
              <a:spcBef>
                <a:spcPts val="0"/>
              </a:spcBef>
              <a:buNone/>
            </a:pPr>
            <a:r>
              <a:rPr lang="en" sz="1500" b="1" dirty="0">
                <a:solidFill>
                  <a:srgbClr val="262626"/>
                </a:solidFill>
              </a:rPr>
              <a:t>Scorecard on our parts list: </a:t>
            </a:r>
          </a:p>
          <a:p>
            <a:pPr lvl="0"/>
            <a:r>
              <a:rPr lang="en" sz="1500" b="1">
                <a:solidFill>
                  <a:srgbClr val="1155CC"/>
                </a:solidFill>
              </a:rPr>
              <a:t>V</a:t>
            </a:r>
            <a:r>
              <a:rPr lang="en" sz="1500">
                <a:solidFill>
                  <a:srgbClr val="262626"/>
                </a:solidFill>
              </a:rPr>
              <a:t> (latent) </a:t>
            </a:r>
            <a:r>
              <a:rPr lang="en" sz="1500" dirty="0">
                <a:solidFill>
                  <a:srgbClr val="262626"/>
                </a:solidFill>
              </a:rPr>
              <a:t>·  </a:t>
            </a:r>
            <a:r>
              <a:rPr lang="en" sz="1500" b="1" dirty="0">
                <a:solidFill>
                  <a:srgbClr val="38761D"/>
                </a:solidFill>
              </a:rPr>
              <a:t>G</a:t>
            </a:r>
            <a:r>
              <a:rPr lang="en" sz="1500" dirty="0">
                <a:solidFill>
                  <a:srgbClr val="262626"/>
                </a:solidFill>
              </a:rPr>
              <a:t> yes (the matrix)  ·  </a:t>
            </a:r>
            <a:r>
              <a:rPr lang="en" sz="1500" b="1" dirty="0">
                <a:solidFill>
                  <a:srgbClr val="B45F06"/>
                </a:solidFill>
              </a:rPr>
              <a:t>f</a:t>
            </a:r>
            <a:r>
              <a:rPr lang="en" sz="1500" dirty="0">
                <a:solidFill>
                  <a:srgbClr val="262626"/>
                </a:solidFill>
              </a:rPr>
              <a:t> yes (</a:t>
            </a:r>
            <a:r>
              <a:rPr lang="en-US" sz="1500" dirty="0">
                <a:solidFill>
                  <a:srgbClr val="262626"/>
                </a:solidFill>
              </a:rPr>
              <a:t>not sure, Dynamics Model</a:t>
            </a:r>
            <a:r>
              <a:rPr lang="en" sz="1500" dirty="0">
                <a:solidFill>
                  <a:srgbClr val="262626"/>
                </a:solidFill>
              </a:rPr>
              <a:t>)  ·  </a:t>
            </a:r>
            <a:r>
              <a:rPr lang="en" sz="1500" b="1" dirty="0">
                <a:solidFill>
                  <a:srgbClr val="CC4125"/>
                </a:solidFill>
              </a:rPr>
              <a:t>U</a:t>
            </a:r>
            <a:r>
              <a:rPr lang="en" sz="1500" dirty="0">
                <a:solidFill>
                  <a:srgbClr val="262626"/>
                </a:solidFill>
              </a:rPr>
              <a:t> no.(‘</a:t>
            </a:r>
            <a:r>
              <a:rPr lang="en-US" sz="1600" dirty="0"/>
              <a:t>Hidden confounders remain’</a:t>
            </a:r>
            <a:r>
              <a:rPr lang="en" sz="1500" dirty="0">
                <a:solidFill>
                  <a:srgbClr val="262626"/>
                </a:solidFill>
              </a:rPr>
              <a:t>)</a:t>
            </a:r>
          </a:p>
          <a:p>
            <a:pPr marL="0" lvl="0" indent="0" algn="l" rtl="0">
              <a:spcBef>
                <a:spcPts val="0"/>
              </a:spcBef>
              <a:buNone/>
            </a:pPr>
            <a:endParaRPr lang="en" sz="1500" dirty="0">
              <a:solidFill>
                <a:srgbClr val="262626"/>
              </a:solidFill>
            </a:endParaRPr>
          </a:p>
          <a:p>
            <a:pPr lvl="0"/>
            <a:r>
              <a:rPr lang="en-US" sz="1600" dirty="0"/>
              <a:t>BECAUSE does not recover semantic variables. It learns latent variables instead.</a:t>
            </a:r>
          </a:p>
          <a:p>
            <a:pPr lvl="0"/>
            <a:endParaRPr lang="en-US" sz="1600" dirty="0">
              <a:solidFill>
                <a:srgbClr val="262626"/>
              </a:solidFill>
            </a:endParaRPr>
          </a:p>
          <a:p>
            <a:pPr lvl="0"/>
            <a:r>
              <a:rPr lang="en-US" sz="1600" dirty="0"/>
              <a:t>Offline Dataset Behavior Policy -&gt; Data Buffer -&gt; World Model -&gt; New Policy -&gt; Planning</a:t>
            </a:r>
            <a:endParaRPr lang="en" sz="1500" dirty="0">
              <a:solidFill>
                <a:srgbClr val="262626"/>
              </a:solidFill>
            </a:endParaRPr>
          </a:p>
        </p:txBody>
      </p:sp>
      <p:pic>
        <p:nvPicPr>
          <p:cNvPr id="200" name="Graphic 199" descr="Office Worker">
            <a:extLst>
              <a:ext uri="{FF2B5EF4-FFF2-40B4-BE49-F238E27FC236}">
                <a16:creationId xmlns:a16="http://schemas.microsoft.com/office/drawing/2014/main" id="{6F98555F-7D0B-1C29-7F82-0A305DF83E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914400" cy="914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6D007-E141-45BF-D500-0A01090F373B}"/>
              </a:ext>
            </a:extLst>
          </p:cNvPr>
          <p:cNvSpPr>
            <a:spLocks noGrp="1"/>
          </p:cNvSpPr>
          <p:nvPr>
            <p:ph type="title"/>
          </p:nvPr>
        </p:nvSpPr>
        <p:spPr/>
        <p:txBody>
          <a:bodyPr/>
          <a:lstStyle/>
          <a:p>
            <a:r>
              <a:rPr lang="en-US" dirty="0"/>
              <a:t>End</a:t>
            </a:r>
          </a:p>
        </p:txBody>
      </p:sp>
      <p:sp>
        <p:nvSpPr>
          <p:cNvPr id="3" name="Text Placeholder 2">
            <a:extLst>
              <a:ext uri="{FF2B5EF4-FFF2-40B4-BE49-F238E27FC236}">
                <a16:creationId xmlns:a16="http://schemas.microsoft.com/office/drawing/2014/main" id="{F6034804-77C8-932A-8A80-1075659423D8}"/>
              </a:ext>
            </a:extLst>
          </p:cNvPr>
          <p:cNvSpPr>
            <a:spLocks noGrp="1"/>
          </p:cNvSpPr>
          <p:nvPr>
            <p:ph type="body" idx="1"/>
          </p:nvPr>
        </p:nvSpPr>
        <p:spPr>
          <a:xfrm>
            <a:off x="838200" y="1825625"/>
            <a:ext cx="9276210" cy="4351338"/>
          </a:xfrm>
        </p:spPr>
        <p:txBody>
          <a:bodyPr/>
          <a:lstStyle/>
          <a:p>
            <a:r>
              <a:rPr lang="en-US" dirty="0"/>
              <a:t>Not only causality is important, but also we have to consider Dynamics, Physics and Objects</a:t>
            </a:r>
          </a:p>
          <a:p>
            <a:endParaRPr lang="en-US" dirty="0"/>
          </a:p>
          <a:p>
            <a:r>
              <a:rPr lang="en-US" dirty="0"/>
              <a:t>The future might like:</a:t>
            </a:r>
          </a:p>
          <a:p>
            <a:r>
              <a:rPr lang="en-US" dirty="0"/>
              <a:t>Correlation -&gt; Representation -&gt; Objects -&gt; Dynamics  -&gt; Physics  -&gt; Causal Mechanisms -&gt; Planning &amp; Decision Making</a:t>
            </a:r>
          </a:p>
        </p:txBody>
      </p:sp>
    </p:spTree>
    <p:extLst>
      <p:ext uri="{BB962C8B-B14F-4D97-AF65-F5344CB8AC3E}">
        <p14:creationId xmlns:p14="http://schemas.microsoft.com/office/powerpoint/2010/main" val="3582244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B3E5AC-57C3-3A40-3DAA-6B6B5AE2895E}"/>
              </a:ext>
            </a:extLst>
          </p:cNvPr>
          <p:cNvSpPr>
            <a:spLocks noGrp="1"/>
          </p:cNvSpPr>
          <p:nvPr>
            <p:ph type="title"/>
          </p:nvPr>
        </p:nvSpPr>
        <p:spPr>
          <a:xfrm>
            <a:off x="686834" y="1153572"/>
            <a:ext cx="3200400" cy="4461163"/>
          </a:xfrm>
        </p:spPr>
        <p:txBody>
          <a:bodyPr vert="horz" lIns="91440" tIns="45720" rIns="91440" bIns="45720" rtlCol="0" anchor="ctr">
            <a:normAutofit/>
          </a:bodyPr>
          <a:lstStyle/>
          <a:p>
            <a:pPr>
              <a:spcBef>
                <a:spcPct val="0"/>
              </a:spcBef>
            </a:pPr>
            <a:r>
              <a:rPr lang="en-US" kern="1200">
                <a:solidFill>
                  <a:srgbClr val="FFFFFF"/>
                </a:solidFill>
                <a:latin typeface="+mj-lt"/>
                <a:ea typeface="+mj-ea"/>
                <a:cs typeface="+mj-cs"/>
              </a:rPr>
              <a:t>Reference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32D8E949-76BF-E1F2-E040-B439819A9273}"/>
              </a:ext>
            </a:extLst>
          </p:cNvPr>
          <p:cNvSpPr>
            <a:spLocks noGrp="1"/>
          </p:cNvSpPr>
          <p:nvPr>
            <p:ph type="body" idx="1"/>
          </p:nvPr>
        </p:nvSpPr>
        <p:spPr>
          <a:xfrm>
            <a:off x="4447308" y="591344"/>
            <a:ext cx="6906491" cy="5585619"/>
          </a:xfrm>
        </p:spPr>
        <p:txBody>
          <a:bodyPr vert="horz" lIns="91440" tIns="45720" rIns="91440" bIns="45720" rtlCol="0" anchor="ctr">
            <a:normAutofit/>
          </a:bodyPr>
          <a:lstStyle/>
          <a:p>
            <a:pPr indent="-228600">
              <a:buFont typeface="Arial" panose="020B0604020202020204" pitchFamily="34" charset="0"/>
              <a:buChar char="•"/>
            </a:pPr>
            <a:r>
              <a:rPr lang="en-US" kern="1200">
                <a:solidFill>
                  <a:schemeClr val="tx1"/>
                </a:solidFill>
                <a:latin typeface="+mn-lt"/>
                <a:ea typeface="+mn-ea"/>
                <a:cs typeface="+mn-cs"/>
              </a:rPr>
              <a:t>Lin, H., Ding, W., Chen, J., Shi, L., Zhu, J., Li, B. and Zhao, D., 2024. Because: Bilinear causal representation for generalizable offline model-based reinforcement learning. </a:t>
            </a:r>
            <a:r>
              <a:rPr lang="en-US" i="1" kern="1200">
                <a:solidFill>
                  <a:schemeClr val="tx1"/>
                </a:solidFill>
                <a:latin typeface="+mn-lt"/>
                <a:ea typeface="+mn-ea"/>
                <a:cs typeface="+mn-cs"/>
              </a:rPr>
              <a:t>Advances in Neural Information Processing Systems</a:t>
            </a:r>
            <a:r>
              <a:rPr lang="en-US" kern="1200">
                <a:solidFill>
                  <a:schemeClr val="tx1"/>
                </a:solidFill>
                <a:latin typeface="+mn-lt"/>
                <a:ea typeface="+mn-ea"/>
                <a:cs typeface="+mn-cs"/>
              </a:rPr>
              <a:t>, </a:t>
            </a:r>
            <a:r>
              <a:rPr lang="en-US" i="1" kern="1200">
                <a:solidFill>
                  <a:schemeClr val="tx1"/>
                </a:solidFill>
                <a:latin typeface="+mn-lt"/>
                <a:ea typeface="+mn-ea"/>
                <a:cs typeface="+mn-cs"/>
              </a:rPr>
              <a:t>37</a:t>
            </a:r>
            <a:r>
              <a:rPr lang="en-US" kern="1200">
                <a:solidFill>
                  <a:schemeClr val="tx1"/>
                </a:solidFill>
                <a:latin typeface="+mn-lt"/>
                <a:ea typeface="+mn-ea"/>
                <a:cs typeface="+mn-cs"/>
              </a:rPr>
              <a:t>, pp.114510-114552.</a:t>
            </a:r>
          </a:p>
          <a:p>
            <a:pPr indent="-228600">
              <a:buFont typeface="Arial" panose="020B0604020202020204" pitchFamily="34" charset="0"/>
              <a:buChar char="•"/>
            </a:pPr>
            <a:r>
              <a:rPr lang="en-US" kern="1200">
                <a:solidFill>
                  <a:schemeClr val="tx1"/>
                </a:solidFill>
                <a:latin typeface="+mn-lt"/>
                <a:ea typeface="+mn-ea"/>
                <a:cs typeface="+mn-cs"/>
              </a:rPr>
              <a:t>Richens, J., Everitt, T. and Abel, D., 2025, June. General agents need world models. In </a:t>
            </a:r>
            <a:r>
              <a:rPr lang="en-US" i="1" kern="1200">
                <a:solidFill>
                  <a:schemeClr val="tx1"/>
                </a:solidFill>
                <a:latin typeface="+mn-lt"/>
                <a:ea typeface="+mn-ea"/>
                <a:cs typeface="+mn-cs"/>
              </a:rPr>
              <a:t>Forty-second International Conference on Machine Learning</a:t>
            </a:r>
            <a:r>
              <a:rPr lang="en-US" kern="1200">
                <a:solidFill>
                  <a:schemeClr val="tx1"/>
                </a:solidFill>
                <a:latin typeface="+mn-lt"/>
                <a:ea typeface="+mn-ea"/>
                <a:cs typeface="+mn-cs"/>
              </a:rPr>
              <a:t>.</a:t>
            </a:r>
          </a:p>
        </p:txBody>
      </p:sp>
    </p:spTree>
    <p:extLst>
      <p:ext uri="{BB962C8B-B14F-4D97-AF65-F5344CB8AC3E}">
        <p14:creationId xmlns:p14="http://schemas.microsoft.com/office/powerpoint/2010/main" val="229717121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525</TotalTime>
  <Words>1013</Words>
  <Application>Microsoft Office PowerPoint</Application>
  <PresentationFormat>Widescreen</PresentationFormat>
  <Paragraphs>109</Paragraphs>
  <Slides>14</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Cambria Math</vt:lpstr>
      <vt:lpstr>Arial</vt:lpstr>
      <vt:lpstr>Play</vt:lpstr>
      <vt:lpstr>Calibri</vt:lpstr>
      <vt:lpstr>Office Theme</vt:lpstr>
      <vt:lpstr>Office Theme</vt:lpstr>
      <vt:lpstr>BECAUSE</vt:lpstr>
      <vt:lpstr>Review </vt:lpstr>
      <vt:lpstr>How about the Reinforce Learning</vt:lpstr>
      <vt:lpstr>However</vt:lpstr>
      <vt:lpstr>Abstract</vt:lpstr>
      <vt:lpstr>The whole guidline</vt:lpstr>
      <vt:lpstr>Methodology Pipeline</vt:lpstr>
      <vt:lpstr>Baseline</vt:lpstr>
      <vt:lpstr>The “Because”</vt:lpstr>
      <vt:lpstr>Causal Matrix</vt:lpstr>
      <vt:lpstr>Bilinear Representation</vt:lpstr>
      <vt:lpstr>PowerPoint Presentation</vt:lpstr>
      <vt:lpstr>End</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Lin, Chu</dc:creator>
  <cp:lastModifiedBy>Chu Lin</cp:lastModifiedBy>
  <cp:revision>3</cp:revision>
  <dcterms:created xsi:type="dcterms:W3CDTF">2026-07-13T17:49:35Z</dcterms:created>
  <dcterms:modified xsi:type="dcterms:W3CDTF">2026-07-17T19:46:51Z</dcterms:modified>
</cp:coreProperties>
</file>