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8" d="100"/>
          <a:sy n="78" d="100"/>
        </p:scale>
        <p:origin x="-8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785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show one idea: if a robot becomes heavier than anything it saw in training, its world model can still predict it well, as long as the mass enters the model in the right place. I will first show the problem, then our model B+, why it extrapolates, how we tested it,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model is the robot’s internal simulator: given where the fingers are now and the next action, it predicts the next 0.4 seconds. In use, robots get heavier: they pick things up, or parts are replaced. We train only on light fingers, 15 to 27 grams per link, and test on fingers 1.86, 2.75 and 3.75 times heavier. The two heaviest settings are in CausalWorld’s space B, the range the benchmark sets aside for generalization. The natural idea is to tell the model the new mass. For black-box world models this backfires. RWM, a 2025 robotic world model, run with its official code, drops from an R² of 0.74 to minus 12.7 when given the true mass at 3.75 times. R² of 1 is perfect, 0 is no better than predicting the average. So the question is not whether to give the model the mass, but how the mass should enter the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Newton’s law for each finger: inertia times acceleration equals the applied torque, plus the forces the model cannot explain, minus gravity and similar forces. Each term has one job. M and f come from the same learned energy. The energy has a part that does not depend on mass, plus one part per link that is multiplied by that link’s known mass. This matters because a real finger is not strictly proportional: in the simulator about a third of the effective inertia does not change when the links get heavier. Think of a shopping cart: load the basket and it gets harder to push, but the wheels and handle stay the same. Tau is the PD controller the robot actually runs. Engineers wrote it, so we copy it exactly instead of learning it. r is a small network for contact and friction, and it is not allowed to see the mass. Each link’s energy depends only on the joints between that link and the base, which is how a real kinematic chain works. The three fingers are identical, so they share these modules. Compared with our earlier model B, the new parts are the energy-consistent gravity and Coriolis terms, the chain structure and the sharing. The ensemble version only changes r, computing it with five networks instead of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B+ still works at masses it never saw. How to read it: the horizontal axis is how many times heavier the links are than in training. The vertical axis is how much harder the finger becomes to accelerate with the same torque. A value of 3 means the same push gives one third of the acceleration. The thick gray band is the truth, measured directly in the simulator. At four times the mass, the finger is only 2.93 times harder to push, because about a third of the inertia does not depend on these link masses. The blue line is B+ and the green line is ModLaNet with our affine-inertia component. Both stay on the gray band: 3.15 and 2.96. The dotted line is the old strictly proportional assumption: four times the mass, four times the inertia. That is too heavy, so the predicted finger moves too slowly. The orange line feeds the mass into a neural network, as DeLaN-style models do. It bends upward the further it extrapolates and reaches 5.2. The dashed vertical lines are our three test masses. The further right, the more the lines separate, so the heavier the robot, the larger B+’s advantage should be. The next two slides test exactly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we made the comparison fair. Protocol. During training the model only sees light fingers, 15 to 27 grams per link. At test time we swap in fingers 1.86, 2.75 and 3.75 times heavier, which the model has never seen. The model then predicts 100 steps, 0.4 seconds, on its own, without being corrected by the real state along the way. That is harder than one-step prediction, because errors add up. Nine baselines, in three groups. Black-box world models: RWM from 2025, run with the authors’ official code at two training lengths, and parameter concatenation, which simply appends the mass to the input. Physics-structured models: DeLaN, ModLaNet, LNN, and our own models A and B from the first version of this work. And one model that infers the mass from history: context-aware DeLaN from 2025, which looks at the last 32 steps instead of being told the mass. Three questions. First, is the prediction accurate? We use R²: 1 is perfect, 0 is no better than always predicting the average. Second, does telling the model the true mass help? For the same model, we subtract its score without the mass from its score with the mass; positive means the mass helps. Third, the counterfactual: we replay the same actions with heavier links and check whether the model predicts the right change. Statistics. Each setting has 10 runs: 5 random seeds times two tasks, pushing and picking. The two tasks of one seed share randomness, so we test at the seed level and correct for multiple comparisons with Holm’s method.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table. Each row is a method. The three middle columns are accuracy, R², at the three test masses; closer to 1 is better. The last column says what happens when we give the model the true mass: does it get better or worse? The shaded rows are ours. First, accuracy. The best score at all three mass levels is in the last row, B+ with the ensemble residual: 0.801, 0.784 and 0.753. ModLaNet with our affine-inertia component is significantly better than all nine baselines at 1.86 and 2.75 times. Second, the last column, which is the clearest difference. Black-box models collapse when given the true mass: RWM drops by 13.4. Our earlier models A and B also get worse at the heaviest level. All three of our models get better, by 0.10 to 0.14. On the right, three numbers. 41 of 81: three of our models against nine baselines at three mass levels gives 81 paired comparisons. 41 are significantly better after Holm correction, and none is significantly worse. 35 of 36: in the first 0.1 seconds, steps 10 and 25, our three models are significantly more accurate than the two strongest baselines, RWM and our earlier model A, in 35 of 36 tests. Short-horizon accuracy is what fast robot control relies on most. 0.33 to 0.82: the counterfactual question, what would have happened if all nine links had been heavier. With our force-space abduction, B+ reproduces 82 percent of the true change, up from 33 percent. In one sentence: B+ puts the mass where physics puts it, so the heavier the robot gets, the better it uses that information.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08926"/>
          </a:xfrm>
          <a:prstGeom prst="rect">
            <a:avLst/>
          </a:prstGeom>
          <a:noFill/>
          <a:ln/>
        </p:spPr>
        <p:txBody>
          <a:bodyPr wrap="square" lIns="0" tIns="0" rIns="0" bIns="0" rtlCol="0" anchor="t"/>
          <a:lstStyle>
            <a:lvl1pPr marL="0" indent="0" algn="l">
              <a:lnSpc>
                <a:spcPct val="115000"/>
              </a:lnSpc>
              <a:buNone/>
              <a:defRPr lang="en-US" sz="2800" dirty="0">
                <a:solidFill>
                  <a:srgbClr val="1E242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latin typeface="Source Serif 4" charset="0"/>
              <a:ea typeface="Source Serif 4" charset="0"/>
              <a:cs typeface="Source Serif 4" charset="0"/>
            </a:endParaRPr>
          </a:p>
        </p:txBody>
      </p:sp>
      <p:sp>
        <p:nvSpPr>
          <p:cNvPr id="3" name="Text Placeholder 2"/>
          <p:cNvSpPr>
            <a:spLocks noGrp="1"/>
          </p:cNvSpPr>
          <p:nvPr>
            <p:ph type="body" idx="101"/>
          </p:nvPr>
        </p:nvSpPr>
        <p:spPr>
          <a:xfrm>
            <a:off x="812800" y="1526526"/>
            <a:ext cx="10566400" cy="4518674"/>
          </a:xfrm>
          <a:prstGeom prst="rect">
            <a:avLst/>
          </a:prstGeom>
          <a:noFill/>
          <a:ln/>
        </p:spPr>
        <p:txBody>
          <a:bodyPr wrap="square" lIns="0" tIns="0" rIns="0" bIns="0" rtlCol="0" anchor="t"/>
          <a:lstStyle>
            <a:lvl1pPr marL="0" indent="0" algn="l">
              <a:lnSpc>
                <a:spcPct val="140000"/>
              </a:lnSpc>
              <a:buNone/>
              <a:defRPr lang="en-US" sz="1600" dirty="0">
                <a:solidFill>
                  <a:srgbClr val="2E3540"/>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latin typeface="Source Sans 3" charset="0"/>
              <a:ea typeface="Source Sans 3" charset="0"/>
              <a:cs typeface="Source Sans 3"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08926"/>
          </a:xfrm>
          <a:prstGeom prst="rect">
            <a:avLst/>
          </a:prstGeom>
          <a:noFill/>
          <a:ln/>
        </p:spPr>
        <p:txBody>
          <a:bodyPr wrap="square" lIns="0" tIns="0" rIns="0" bIns="0" rtlCol="0" anchor="t"/>
          <a:lstStyle>
            <a:lvl1pPr marL="0" indent="0" algn="l">
              <a:lnSpc>
                <a:spcPct val="115000"/>
              </a:lnSpc>
              <a:buNone/>
              <a:defRPr lang="en-US" sz="2800" dirty="0">
                <a:solidFill>
                  <a:srgbClr val="1E242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latin typeface="Source Serif 4" charset="0"/>
              <a:ea typeface="Source Serif 4" charset="0"/>
              <a:cs typeface="Source Serif 4" charset="0"/>
            </a:endParaRPr>
          </a:p>
        </p:txBody>
      </p:sp>
      <p:sp>
        <p:nvSpPr>
          <p:cNvPr id="3" name="Text Placeholder 2"/>
          <p:cNvSpPr>
            <a:spLocks noGrp="1"/>
          </p:cNvSpPr>
          <p:nvPr>
            <p:ph type="body" idx="101"/>
          </p:nvPr>
        </p:nvSpPr>
        <p:spPr>
          <a:xfrm>
            <a:off x="812800" y="1526526"/>
            <a:ext cx="10566400" cy="4518674"/>
          </a:xfrm>
          <a:prstGeom prst="rect">
            <a:avLst/>
          </a:prstGeom>
          <a:noFill/>
          <a:ln/>
        </p:spPr>
        <p:txBody>
          <a:bodyPr wrap="square" lIns="0" tIns="0" rIns="0" bIns="0" rtlCol="0" anchor="t"/>
          <a:lstStyle>
            <a:lvl1pPr marL="0" indent="0" algn="l">
              <a:lnSpc>
                <a:spcPct val="140000"/>
              </a:lnSpc>
              <a:buNone/>
              <a:defRPr lang="en-US" sz="1600" dirty="0">
                <a:solidFill>
                  <a:srgbClr val="2E3540"/>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latin typeface="Source Sans 3" charset="0"/>
              <a:ea typeface="Source Sans 3" charset="0"/>
              <a:cs typeface="Source Sans 3"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394672"/>
            <a:ext cx="10883392" cy="594302"/>
          </a:xfrm>
          <a:prstGeom prst="rect">
            <a:avLst/>
          </a:prstGeom>
          <a:noFill/>
          <a:ln/>
        </p:spPr>
        <p:txBody>
          <a:bodyPr wrap="square" lIns="0" tIns="0" rIns="0" bIns="0" rtlCol="0" anchor="t">
            <a:normAutofit/>
          </a:bodyPr>
          <a:lstStyle/>
          <a:p>
            <a:pPr marL="0" indent="0" algn="l">
              <a:lnSpc>
                <a:spcPts val="4480"/>
              </a:lnSpc>
              <a:buNone/>
            </a:pPr>
            <a:r>
              <a:rPr lang="en-US" sz="4000" b="1" i="0" dirty="0">
                <a:solidFill>
                  <a:srgbClr val="1E242C"/>
                </a:solidFill>
                <a:latin typeface="Source Serif 4" pitchFamily="18" charset="0"/>
                <a:ea typeface="Source Serif 4" pitchFamily="18" charset="-122"/>
                <a:cs typeface="Source Serif 4" pitchFamily="18" charset="-120"/>
              </a:rPr>
              <a:t>Making world models use mass correctly</a:t>
            </a:r>
            <a:endParaRPr lang="en-US" sz="4000" dirty="0">
              <a:latin typeface="Source Serif 4" charset="0"/>
              <a:ea typeface="Source Serif 4" charset="0"/>
              <a:cs typeface="Source Serif 4" charset="0"/>
            </a:endParaRPr>
          </a:p>
        </p:txBody>
      </p:sp>
      <p:sp>
        <p:nvSpPr>
          <p:cNvPr id="3" name="Text 1"/>
          <p:cNvSpPr/>
          <p:nvPr/>
        </p:nvSpPr>
        <p:spPr>
          <a:xfrm>
            <a:off x="812800" y="3166774"/>
            <a:ext cx="10883392" cy="629805"/>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25E"/>
                </a:solidFill>
                <a:latin typeface="Source Sans 3" pitchFamily="34" charset="0"/>
                <a:ea typeface="Source Sans 3" pitchFamily="34" charset="-122"/>
                <a:cs typeface="Source Sans 3" pitchFamily="34" charset="-120"/>
              </a:rPr>
              <a:t>B+: an energy-consistent, mass-affine world model for robot fingers that become heavier than anything seen in training</a:t>
            </a:r>
            <a:endParaRPr lang="en-US" sz="1700" dirty="0">
              <a:latin typeface="Source Sans 3" charset="0"/>
              <a:ea typeface="Source Sans 3" charset="0"/>
              <a:cs typeface="Source Sans 3" charset="0"/>
            </a:endParaRPr>
          </a:p>
        </p:txBody>
      </p:sp>
      <p:pic>
        <p:nvPicPr>
          <p:cNvPr id="4" name="Image 0" descr="line"/>
          <p:cNvPicPr>
            <a:picLocks noChangeAspect="1"/>
          </p:cNvPicPr>
          <p:nvPr/>
        </p:nvPicPr>
        <p:blipFill>
          <a:blip r:embed="rId3"/>
          <a:srcRect/>
          <a:stretch/>
        </p:blipFill>
        <p:spPr>
          <a:xfrm>
            <a:off x="812800" y="3974378"/>
            <a:ext cx="1016000" cy="19050"/>
          </a:xfrm>
          <a:prstGeom prst="rect">
            <a:avLst/>
          </a:prstGeom>
        </p:spPr>
      </p:pic>
      <p:sp>
        <p:nvSpPr>
          <p:cNvPr id="5" name="Text 2"/>
          <p:cNvSpPr/>
          <p:nvPr/>
        </p:nvSpPr>
        <p:spPr>
          <a:xfrm>
            <a:off x="812800" y="419662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242C"/>
                </a:solidFill>
                <a:latin typeface="Source Sans 3" pitchFamily="34" charset="0"/>
                <a:ea typeface="Source Sans 3" pitchFamily="34" charset="-122"/>
                <a:cs typeface="Source Sans 3" pitchFamily="34" charset="-120"/>
              </a:rPr>
              <a:t>Chu Lin</a:t>
            </a:r>
            <a:endParaRPr lang="en-US" sz="1500" dirty="0">
              <a:latin typeface="Source Sans 3" charset="0"/>
              <a:ea typeface="Source Sans 3" charset="0"/>
              <a:cs typeface="Source Sans 3"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26"/>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E242C"/>
                </a:solidFill>
                <a:latin typeface="Source Serif 4" pitchFamily="18" charset="0"/>
                <a:ea typeface="Source Serif 4" pitchFamily="18" charset="-122"/>
                <a:cs typeface="Source Serif 4" pitchFamily="18" charset="-120"/>
              </a:rPr>
              <a:t>The robot gets heavier than anything in training</a:t>
            </a:r>
            <a:endParaRPr lang="en-US" sz="2800" dirty="0">
              <a:latin typeface="Source Serif 4" charset="0"/>
              <a:ea typeface="Source Serif 4" charset="0"/>
              <a:cs typeface="Source Serif 4" charset="0"/>
            </a:endParaRPr>
          </a:p>
        </p:txBody>
      </p:sp>
      <mc:AlternateContent xmlns:mc="http://schemas.openxmlformats.org/markup-compatibility/2006">
        <mc:Choice xmlns:a14="http://schemas.microsoft.com/office/drawing/2010/main" Requires="a14">
          <p:sp>
            <p:nvSpPr>
              <p:cNvPr id="3" name="Text 1"/>
              <p:cNvSpPr/>
              <p:nvPr/>
            </p:nvSpPr>
            <p:spPr>
              <a:xfrm>
                <a:off x="883920" y="1475725"/>
                <a:ext cx="10804652" cy="2039143"/>
              </a:xfrm>
              <a:prstGeom prst="rect">
                <a:avLst/>
              </a:prstGeom>
              <a:noFill/>
              <a:ln/>
            </p:spPr>
            <p:txBody>
              <a:bodyPr wrap="square" lIns="0" tIns="0" rIns="0" bIns="0" rtlCol="0" anchor="t">
                <a:noAutofit/>
              </a:bodyPr>
              <a:lstStyle/>
              <a:p>
                <a:pPr marL="182880" indent="-182880" algn="l">
                  <a:lnSpc>
                    <a:spcPts val="2175"/>
                  </a:lnSpc>
                  <a:buSzPct val="100000"/>
                  <a:buChar char="•"/>
                </a:pPr>
                <a:r>
                  <a:rPr lang="en-US" dirty="0">
                    <a:solidFill>
                      <a:srgbClr val="2E3540"/>
                    </a:solidFill>
                    <a:latin typeface="Abadi" panose="020B0604020104020204" pitchFamily="34" charset="0"/>
                    <a:ea typeface="Source Sans 3" pitchFamily="34" charset="-122"/>
                    <a:cs typeface="Source Sans 3" pitchFamily="34" charset="-120"/>
                  </a:rPr>
                  <a:t>A world model predicts where the robot will be next, from its current state and the action it takes.</a:t>
                </a:r>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dirty="0">
                    <a:solidFill>
                      <a:srgbClr val="2E3540"/>
                    </a:solidFill>
                    <a:latin typeface="Abadi" panose="020B0604020104020204" pitchFamily="34" charset="0"/>
                    <a:ea typeface="Source Sans 3" pitchFamily="34" charset="-122"/>
                    <a:cs typeface="Source Sans 3" pitchFamily="34" charset="-120"/>
                  </a:rPr>
                  <a:t>We train on light fingers and test on fingers </a:t>
                </a:r>
                <a14:m>
                  <m:oMath xmlns:m="http://schemas.openxmlformats.org/officeDocument/2006/math">
                    <m:r>
                      <a:rPr lang="en-US" i="1" dirty="0" smtClean="0">
                        <a:solidFill>
                          <a:srgbClr val="2E3540"/>
                        </a:solidFill>
                        <a:latin typeface="Cambria Math" panose="02040503050406030204" pitchFamily="18" charset="0"/>
                        <a:ea typeface="Source Sans 3" pitchFamily="34" charset="-122"/>
                        <a:cs typeface="Source Sans 3" pitchFamily="34" charset="-120"/>
                      </a:rPr>
                      <m:t>1.86×, 2.75× </m:t>
                    </m:r>
                    <m:r>
                      <a:rPr lang="en-US" i="1" dirty="0" smtClean="0">
                        <a:solidFill>
                          <a:srgbClr val="2E3540"/>
                        </a:solidFill>
                        <a:latin typeface="Cambria Math" panose="02040503050406030204" pitchFamily="18" charset="0"/>
                        <a:ea typeface="Source Sans 3" pitchFamily="34" charset="-122"/>
                        <a:cs typeface="Source Sans 3" pitchFamily="34" charset="-120"/>
                      </a:rPr>
                      <m:t>𝑎𝑛𝑑</m:t>
                    </m:r>
                    <m:r>
                      <a:rPr lang="en-US" i="1" dirty="0" smtClean="0">
                        <a:solidFill>
                          <a:srgbClr val="2E3540"/>
                        </a:solidFill>
                        <a:latin typeface="Cambria Math" panose="02040503050406030204" pitchFamily="18" charset="0"/>
                        <a:ea typeface="Source Sans 3" pitchFamily="34" charset="-122"/>
                        <a:cs typeface="Source Sans 3" pitchFamily="34" charset="-120"/>
                      </a:rPr>
                      <m:t> 3.75×</m:t>
                    </m:r>
                  </m:oMath>
                </a14:m>
                <a:r>
                  <a:rPr lang="en-US" dirty="0">
                    <a:solidFill>
                      <a:srgbClr val="2E3540"/>
                    </a:solidFill>
                    <a:latin typeface="Abadi" panose="020B0604020104020204" pitchFamily="34" charset="0"/>
                    <a:ea typeface="Source Sans 3" pitchFamily="34" charset="-122"/>
                    <a:cs typeface="Source Sans 3" pitchFamily="34" charset="-120"/>
                  </a:rPr>
                  <a:t> heavier: masses never seen in training.</a:t>
                </a:r>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dirty="0">
                    <a:solidFill>
                      <a:srgbClr val="2E3540"/>
                    </a:solidFill>
                    <a:latin typeface="Abadi" panose="020B0604020104020204" pitchFamily="34" charset="0"/>
                    <a:ea typeface="Source Sans 3" pitchFamily="34" charset="-122"/>
                    <a:cs typeface="Source Sans 3" pitchFamily="34" charset="-120"/>
                  </a:rPr>
                  <a:t>The obvious fix, telling the model the new mass, backfires for black-box models: RWM (2025) falls from R² </a:t>
                </a:r>
                <a14:m>
                  <m:oMath xmlns:m="http://schemas.openxmlformats.org/officeDocument/2006/math">
                    <m:r>
                      <a:rPr lang="en-US" i="1" dirty="0" smtClean="0">
                        <a:solidFill>
                          <a:srgbClr val="2E3540"/>
                        </a:solidFill>
                        <a:latin typeface="Cambria Math" panose="02040503050406030204" pitchFamily="18" charset="0"/>
                        <a:ea typeface="Source Sans 3" pitchFamily="34" charset="-122"/>
                        <a:cs typeface="Source Sans 3" pitchFamily="34" charset="-120"/>
                      </a:rPr>
                      <m:t>0.74</m:t>
                    </m:r>
                  </m:oMath>
                </a14:m>
                <a:r>
                  <a:rPr lang="en-US" dirty="0">
                    <a:solidFill>
                      <a:srgbClr val="2E3540"/>
                    </a:solidFill>
                    <a:latin typeface="Abadi" panose="020B0604020104020204" pitchFamily="34" charset="0"/>
                    <a:ea typeface="Source Sans 3" pitchFamily="34" charset="-122"/>
                    <a:cs typeface="Source Sans 3" pitchFamily="34" charset="-120"/>
                  </a:rPr>
                  <a:t> to </a:t>
                </a:r>
                <a14:m>
                  <m:oMath xmlns:m="http://schemas.openxmlformats.org/officeDocument/2006/math">
                    <m:r>
                      <a:rPr lang="en-US" i="1" dirty="0" smtClean="0">
                        <a:solidFill>
                          <a:srgbClr val="2E3540"/>
                        </a:solidFill>
                        <a:latin typeface="Cambria Math" panose="02040503050406030204" pitchFamily="18" charset="0"/>
                        <a:ea typeface="Source Sans 3" pitchFamily="34" charset="-122"/>
                        <a:cs typeface="Source Sans 3" pitchFamily="34" charset="-120"/>
                      </a:rPr>
                      <m:t>−12.7 </m:t>
                    </m:r>
                  </m:oMath>
                </a14:m>
                <a:r>
                  <a:rPr lang="en-US" dirty="0">
                    <a:solidFill>
                      <a:srgbClr val="2E3540"/>
                    </a:solidFill>
                    <a:latin typeface="Abadi" panose="020B0604020104020204" pitchFamily="34" charset="0"/>
                    <a:ea typeface="Source Sans 3" pitchFamily="34" charset="-122"/>
                    <a:cs typeface="Source Sans 3" pitchFamily="34" charset="-120"/>
                  </a:rPr>
                  <a:t>at </a:t>
                </a:r>
                <a14:m>
                  <m:oMath xmlns:m="http://schemas.openxmlformats.org/officeDocument/2006/math">
                    <m:r>
                      <a:rPr lang="en-US" i="1" dirty="0" smtClean="0">
                        <a:solidFill>
                          <a:srgbClr val="2E3540"/>
                        </a:solidFill>
                        <a:latin typeface="Cambria Math" panose="02040503050406030204" pitchFamily="18" charset="0"/>
                        <a:ea typeface="Source Sans 3" pitchFamily="34" charset="-122"/>
                        <a:cs typeface="Source Sans 3" pitchFamily="34" charset="-120"/>
                      </a:rPr>
                      <m:t>3.75×.</m:t>
                    </m:r>
                  </m:oMath>
                </a14:m>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dirty="0">
                    <a:solidFill>
                      <a:srgbClr val="2E3540"/>
                    </a:solidFill>
                    <a:latin typeface="Abadi" panose="020B0604020104020204" pitchFamily="34" charset="0"/>
                    <a:ea typeface="Source Sans 3" pitchFamily="34" charset="-122"/>
                    <a:cs typeface="Source Sans 3" pitchFamily="34" charset="-120"/>
                  </a:rPr>
                  <a:t>Our question: </a:t>
                </a:r>
                <a:r>
                  <a:rPr lang="en-US" b="1" dirty="0">
                    <a:solidFill>
                      <a:srgbClr val="2E3540"/>
                    </a:solidFill>
                    <a:latin typeface="Abadi" panose="020B0604020104020204" pitchFamily="34" charset="0"/>
                    <a:ea typeface="Source Sans 3" pitchFamily="34" charset="-122"/>
                    <a:cs typeface="Source Sans 3" pitchFamily="34" charset="-120"/>
                  </a:rPr>
                  <a:t>how should mass enter a world model, so that knowing it helps?</a:t>
                </a:r>
                <a:endParaRPr lang="en-US" dirty="0">
                  <a:latin typeface="Abadi" panose="020B0604020104020204" pitchFamily="34" charset="0"/>
                  <a:ea typeface="Source Sans 3" charset="0"/>
                  <a:cs typeface="Source Sans 3" charset="0"/>
                </a:endParaRPr>
              </a:p>
            </p:txBody>
          </p:sp>
        </mc:Choice>
        <mc:Fallback>
          <p:sp>
            <p:nvSpPr>
              <p:cNvPr id="3" name="Text 1"/>
              <p:cNvSpPr>
                <a:spLocks noRot="1" noChangeAspect="1" noMove="1" noResize="1" noEditPoints="1" noAdjustHandles="1" noChangeArrowheads="1" noChangeShapeType="1" noTextEdit="1"/>
              </p:cNvSpPr>
              <p:nvPr/>
            </p:nvSpPr>
            <p:spPr>
              <a:xfrm>
                <a:off x="883920" y="1475725"/>
                <a:ext cx="10804652" cy="2039143"/>
              </a:xfrm>
              <a:prstGeom prst="rect">
                <a:avLst/>
              </a:prstGeom>
              <a:blipFill>
                <a:blip r:embed="rId3"/>
                <a:stretch>
                  <a:fillRect l="-1185" t="-4179" r="-395"/>
                </a:stretch>
              </a:blipFill>
              <a:ln/>
            </p:spPr>
            <p:txBody>
              <a:bodyPr/>
              <a:lstStyle/>
              <a:p>
                <a:r>
                  <a:rPr lang="en-US">
                    <a:noFill/>
                  </a:rPr>
                  <a:t> </a:t>
                </a:r>
              </a:p>
            </p:txBody>
          </p:sp>
        </mc:Fallback>
      </mc:AlternateContent>
      <p:pic>
        <p:nvPicPr>
          <p:cNvPr id="4" name="Image 0" descr="Mass per link: training 15 to 27 grams; tests at 33 to 45, 52.5 to 63 and 73.5 to 84 grams; the two heaviest lie in CausalWorld space B, above 45 grams"/>
          <p:cNvPicPr>
            <a:picLocks noChangeAspect="1"/>
          </p:cNvPicPr>
          <p:nvPr/>
        </p:nvPicPr>
        <p:blipFill>
          <a:blip r:embed="rId4"/>
          <a:srcRect/>
          <a:stretch/>
        </p:blipFill>
        <p:spPr>
          <a:xfrm>
            <a:off x="753327" y="4035064"/>
            <a:ext cx="10566400" cy="825500"/>
          </a:xfrm>
          <a:prstGeom prst="rect">
            <a:avLst/>
          </a:prstGeom>
        </p:spPr>
      </p:pic>
      <p:sp>
        <p:nvSpPr>
          <p:cNvPr id="5" name="Text 2"/>
          <p:cNvSpPr/>
          <p:nvPr/>
        </p:nvSpPr>
        <p:spPr>
          <a:xfrm>
            <a:off x="1184492" y="4098564"/>
            <a:ext cx="222377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1F4E8C"/>
                </a:solidFill>
                <a:latin typeface="Source Sans 3" pitchFamily="34" charset="0"/>
                <a:ea typeface="Source Sans 3" pitchFamily="34" charset="-122"/>
                <a:cs typeface="Source Sans 3" pitchFamily="34" charset="-120"/>
              </a:rPr>
              <a:t>training: 15–27 g per link</a:t>
            </a:r>
            <a:endParaRPr lang="en-US" sz="1200" dirty="0">
              <a:latin typeface="Source Sans 3" charset="0"/>
              <a:ea typeface="Source Sans 3" charset="0"/>
              <a:cs typeface="Source Sans 3" charset="0"/>
            </a:endParaRPr>
          </a:p>
        </p:txBody>
      </p:sp>
      <p:sp>
        <p:nvSpPr>
          <p:cNvPr id="6" name="Text 3"/>
          <p:cNvSpPr/>
          <p:nvPr/>
        </p:nvSpPr>
        <p:spPr>
          <a:xfrm>
            <a:off x="3960077" y="4098564"/>
            <a:ext cx="1320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B04A1A"/>
                </a:solidFill>
                <a:latin typeface="Source Sans 3" pitchFamily="34" charset="0"/>
                <a:ea typeface="Source Sans 3" pitchFamily="34" charset="-122"/>
                <a:cs typeface="Source Sans 3" pitchFamily="34" charset="-120"/>
              </a:rPr>
              <a:t>test 1.86×</a:t>
            </a:r>
            <a:endParaRPr lang="en-US" sz="1200" dirty="0">
              <a:latin typeface="Source Sans 3" charset="0"/>
              <a:ea typeface="Source Sans 3" charset="0"/>
              <a:cs typeface="Source Sans 3" charset="0"/>
            </a:endParaRPr>
          </a:p>
        </p:txBody>
      </p:sp>
      <p:sp>
        <p:nvSpPr>
          <p:cNvPr id="7" name="Text 4"/>
          <p:cNvSpPr/>
          <p:nvPr/>
        </p:nvSpPr>
        <p:spPr>
          <a:xfrm>
            <a:off x="6373077" y="4098564"/>
            <a:ext cx="1320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B04A1A"/>
                </a:solidFill>
                <a:latin typeface="Source Sans 3" pitchFamily="34" charset="0"/>
                <a:ea typeface="Source Sans 3" pitchFamily="34" charset="-122"/>
                <a:cs typeface="Source Sans 3" pitchFamily="34" charset="-120"/>
              </a:rPr>
              <a:t>test 2.75×</a:t>
            </a:r>
            <a:endParaRPr lang="en-US" sz="1200" dirty="0">
              <a:latin typeface="Source Sans 3" charset="0"/>
              <a:ea typeface="Source Sans 3" charset="0"/>
              <a:cs typeface="Source Sans 3" charset="0"/>
            </a:endParaRPr>
          </a:p>
        </p:txBody>
      </p:sp>
      <p:sp>
        <p:nvSpPr>
          <p:cNvPr id="8" name="Text 5"/>
          <p:cNvSpPr/>
          <p:nvPr/>
        </p:nvSpPr>
        <p:spPr>
          <a:xfrm>
            <a:off x="9084527" y="4098564"/>
            <a:ext cx="1320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B04A1A"/>
                </a:solidFill>
                <a:latin typeface="Source Sans 3" pitchFamily="34" charset="0"/>
                <a:ea typeface="Source Sans 3" pitchFamily="34" charset="-122"/>
                <a:cs typeface="Source Sans 3" pitchFamily="34" charset="-120"/>
              </a:rPr>
              <a:t>test 3.75×</a:t>
            </a:r>
            <a:endParaRPr lang="en-US" sz="1200" dirty="0">
              <a:latin typeface="Source Sans 3" charset="0"/>
              <a:ea typeface="Source Sans 3" charset="0"/>
              <a:cs typeface="Source Sans 3" charset="0"/>
            </a:endParaRPr>
          </a:p>
        </p:txBody>
      </p:sp>
      <p:sp>
        <p:nvSpPr>
          <p:cNvPr id="9" name="Text 6"/>
          <p:cNvSpPr/>
          <p:nvPr/>
        </p:nvSpPr>
        <p:spPr>
          <a:xfrm>
            <a:off x="1826477" y="4924064"/>
            <a:ext cx="26162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6B7280"/>
                </a:solidFill>
                <a:latin typeface="Source Sans 3" pitchFamily="34" charset="0"/>
                <a:ea typeface="Source Sans 3" pitchFamily="34" charset="-122"/>
                <a:cs typeface="Source Sans 3" pitchFamily="34" charset="-120"/>
              </a:rPr>
              <a:t>CausalWorld space A</a:t>
            </a:r>
            <a:endParaRPr lang="en-US" sz="1200" dirty="0">
              <a:latin typeface="Source Sans 3" charset="0"/>
              <a:ea typeface="Source Sans 3" charset="0"/>
              <a:cs typeface="Source Sans 3" charset="0"/>
            </a:endParaRPr>
          </a:p>
        </p:txBody>
      </p:sp>
      <p:sp>
        <p:nvSpPr>
          <p:cNvPr id="10" name="Text 7"/>
          <p:cNvSpPr/>
          <p:nvPr/>
        </p:nvSpPr>
        <p:spPr>
          <a:xfrm>
            <a:off x="6982677" y="4924064"/>
            <a:ext cx="2616200" cy="458210"/>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6B7280"/>
                </a:solidFill>
                <a:latin typeface="Source Sans 3" pitchFamily="34" charset="0"/>
                <a:ea typeface="Source Sans 3" pitchFamily="34" charset="-122"/>
                <a:cs typeface="Source Sans 3" pitchFamily="34" charset="-120"/>
              </a:rPr>
              <a:t>CausalWorld space B (held out for generalization)</a:t>
            </a:r>
            <a:endParaRPr lang="en-US" sz="1200" dirty="0">
              <a:latin typeface="Source Sans 3" charset="0"/>
              <a:ea typeface="Source Sans 3" charset="0"/>
              <a:cs typeface="Source Sans 3" charset="0"/>
            </a:endParaRPr>
          </a:p>
        </p:txBody>
      </p:sp>
      <p:sp>
        <p:nvSpPr>
          <p:cNvPr id="11" name="Text 8"/>
          <p:cNvSpPr/>
          <p:nvPr/>
        </p:nvSpPr>
        <p:spPr>
          <a:xfrm>
            <a:off x="10058400" y="6238298"/>
            <a:ext cx="1320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26"/>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E242C"/>
                </a:solidFill>
                <a:latin typeface="Source Serif 4" pitchFamily="18" charset="0"/>
                <a:ea typeface="Source Serif 4" pitchFamily="18" charset="-122"/>
                <a:cs typeface="Source Serif 4" pitchFamily="18" charset="-120"/>
              </a:rPr>
              <a:t>B+ puts mass where physics puts it</a:t>
            </a:r>
            <a:endParaRPr lang="en-US" sz="2800" dirty="0">
              <a:latin typeface="Source Serif 4" charset="0"/>
              <a:ea typeface="Source Serif 4" charset="0"/>
              <a:cs typeface="Source Serif 4" charset="0"/>
            </a:endParaRPr>
          </a:p>
        </p:txBody>
      </p:sp>
      <p:sp>
        <p:nvSpPr>
          <p:cNvPr id="3" name="Text 1"/>
          <p:cNvSpPr/>
          <p:nvPr/>
        </p:nvSpPr>
        <p:spPr>
          <a:xfrm>
            <a:off x="812800" y="1450325"/>
            <a:ext cx="10883392" cy="421626"/>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1E242C"/>
                </a:solidFill>
                <a:latin typeface="Source Serif 4" pitchFamily="18" charset="0"/>
                <a:ea typeface="Source Serif 4" pitchFamily="18" charset="-122"/>
                <a:cs typeface="Source Serif 4" pitchFamily="18" charset="-120"/>
              </a:rPr>
              <a:t>M(q; m) q̈ = τ + r − f(q, q̇; m)</a:t>
            </a:r>
            <a:endParaRPr lang="en-US" sz="2400" dirty="0">
              <a:latin typeface="Source Serif 4" charset="0"/>
              <a:ea typeface="Source Serif 4" charset="0"/>
              <a:cs typeface="Source Serif 4" charset="0"/>
            </a:endParaRPr>
          </a:p>
        </p:txBody>
      </p:sp>
      <p:sp>
        <p:nvSpPr>
          <p:cNvPr id="4" name="Text 2"/>
          <p:cNvSpPr/>
          <p:nvPr/>
        </p:nvSpPr>
        <p:spPr>
          <a:xfrm>
            <a:off x="923290" y="2335669"/>
            <a:ext cx="10804652" cy="1997149"/>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b="1" dirty="0">
                <a:solidFill>
                  <a:srgbClr val="2E3540"/>
                </a:solidFill>
                <a:latin typeface="Abadi" panose="020B0604020104020204" pitchFamily="34" charset="0"/>
                <a:ea typeface="Source Sans 3" pitchFamily="34" charset="-122"/>
                <a:cs typeface="Source Sans 3" pitchFamily="34" charset="-120"/>
              </a:rPr>
              <a:t>M</a:t>
            </a:r>
            <a:r>
              <a:rPr lang="en-US" dirty="0">
                <a:solidFill>
                  <a:srgbClr val="2E3540"/>
                </a:solidFill>
                <a:latin typeface="Abadi" panose="020B0604020104020204" pitchFamily="34" charset="0"/>
                <a:ea typeface="Source Sans 3" pitchFamily="34" charset="-122"/>
                <a:cs typeface="Source Sans 3" pitchFamily="34" charset="-120"/>
              </a:rPr>
              <a:t> is the inertia and </a:t>
            </a:r>
            <a:r>
              <a:rPr lang="en-US" b="1" dirty="0">
                <a:solidFill>
                  <a:srgbClr val="2E3540"/>
                </a:solidFill>
                <a:latin typeface="Abadi" panose="020B0604020104020204" pitchFamily="34" charset="0"/>
                <a:ea typeface="Source Sans 3" pitchFamily="34" charset="-122"/>
                <a:cs typeface="Source Sans 3" pitchFamily="34" charset="-120"/>
              </a:rPr>
              <a:t>f</a:t>
            </a:r>
            <a:r>
              <a:rPr lang="en-US" dirty="0">
                <a:solidFill>
                  <a:srgbClr val="2E3540"/>
                </a:solidFill>
                <a:latin typeface="Abadi" panose="020B0604020104020204" pitchFamily="34" charset="0"/>
                <a:ea typeface="Source Sans 3" pitchFamily="34" charset="-122"/>
                <a:cs typeface="Source Sans 3" pitchFamily="34" charset="-120"/>
              </a:rPr>
              <a:t> the gravity and Coriolis forces. Both come from one learned energy, E = E₀ + Σₗ mₗ Eₗ: a mass-independent part plus one part per link, multiplied by that link’s mass.</a:t>
            </a:r>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b="1" dirty="0">
                <a:solidFill>
                  <a:srgbClr val="2E3540"/>
                </a:solidFill>
                <a:latin typeface="Abadi" panose="020B0604020104020204" pitchFamily="34" charset="0"/>
                <a:ea typeface="Source Sans 3" pitchFamily="34" charset="-122"/>
                <a:cs typeface="Source Sans 3" pitchFamily="34" charset="-120"/>
              </a:rPr>
              <a:t>τ</a:t>
            </a:r>
            <a:r>
              <a:rPr lang="en-US" dirty="0">
                <a:solidFill>
                  <a:srgbClr val="2E3540"/>
                </a:solidFill>
                <a:latin typeface="Abadi" panose="020B0604020104020204" pitchFamily="34" charset="0"/>
                <a:ea typeface="Source Sans 3" pitchFamily="34" charset="-122"/>
                <a:cs typeface="Source Sans 3" pitchFamily="34" charset="-120"/>
              </a:rPr>
              <a:t> is the torque from the robot’s own PD controller, written in exactly as the engineers implemented it.</a:t>
            </a:r>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b="1" dirty="0">
                <a:solidFill>
                  <a:srgbClr val="2E3540"/>
                </a:solidFill>
                <a:latin typeface="Abadi" panose="020B0604020104020204" pitchFamily="34" charset="0"/>
                <a:ea typeface="Source Sans 3" pitchFamily="34" charset="-122"/>
                <a:cs typeface="Source Sans 3" pitchFamily="34" charset="-120"/>
              </a:rPr>
              <a:t>r</a:t>
            </a:r>
            <a:r>
              <a:rPr lang="en-US" dirty="0">
                <a:solidFill>
                  <a:srgbClr val="2E3540"/>
                </a:solidFill>
                <a:latin typeface="Abadi" panose="020B0604020104020204" pitchFamily="34" charset="0"/>
                <a:ea typeface="Source Sans 3" pitchFamily="34" charset="-122"/>
                <a:cs typeface="Source Sans 3" pitchFamily="34" charset="-120"/>
              </a:rPr>
              <a:t> is a residual network for contact and friction. It never sees the mass.</a:t>
            </a:r>
            <a:endParaRPr lang="en-US" dirty="0">
              <a:latin typeface="Abadi" panose="020B0604020104020204" pitchFamily="34" charset="0"/>
              <a:ea typeface="Source Sans 3" charset="0"/>
              <a:cs typeface="Source Sans 3" charset="0"/>
            </a:endParaRPr>
          </a:p>
          <a:p>
            <a:pPr marL="182880" indent="-182880" algn="l">
              <a:lnSpc>
                <a:spcPts val="2175"/>
              </a:lnSpc>
              <a:buSzPct val="100000"/>
              <a:buChar char="•"/>
            </a:pPr>
            <a:r>
              <a:rPr lang="en-US" dirty="0">
                <a:solidFill>
                  <a:srgbClr val="2E3540"/>
                </a:solidFill>
                <a:latin typeface="Abadi" panose="020B0604020104020204" pitchFamily="34" charset="0"/>
                <a:ea typeface="Source Sans 3" pitchFamily="34" charset="-122"/>
                <a:cs typeface="Source Sans 3" pitchFamily="34" charset="-120"/>
              </a:rPr>
              <a:t>Each link’s energy depends only on the joints between it and the base, and the three identical fingers share these modules.</a:t>
            </a:r>
            <a:endParaRPr lang="en-US" dirty="0">
              <a:latin typeface="Abadi" panose="020B0604020104020204" pitchFamily="34" charset="0"/>
              <a:ea typeface="Source Sans 3" charset="0"/>
              <a:cs typeface="Source Sans 3" charset="0"/>
            </a:endParaRPr>
          </a:p>
        </p:txBody>
      </p:sp>
      <p:sp>
        <p:nvSpPr>
          <p:cNvPr id="5" name="Text 3"/>
          <p:cNvSpPr/>
          <p:nvPr/>
        </p:nvSpPr>
        <p:spPr>
          <a:xfrm>
            <a:off x="883920" y="4697125"/>
            <a:ext cx="10883392" cy="577850"/>
          </a:xfrm>
          <a:prstGeom prst="rect">
            <a:avLst/>
          </a:prstGeom>
          <a:noFill/>
          <a:ln/>
        </p:spPr>
        <p:txBody>
          <a:bodyPr wrap="square" lIns="0" tIns="0" rIns="0" bIns="0" rtlCol="0" anchor="t">
            <a:normAutofit/>
          </a:bodyPr>
          <a:lstStyle/>
          <a:p>
            <a:r>
              <a:rPr lang="en-US" sz="1600"/>
              <a:t>The mass is only ever a multiplier. A network asked about an unseen mass has to guess; a multiplication does not. A variant, B+ (ensemble residual), computes r with an ensemble of five networks.</a:t>
            </a:r>
            <a:endParaRPr lang="en-US" sz="1500" dirty="0">
              <a:latin typeface="Source Sans 3" charset="0"/>
              <a:ea typeface="Source Sans 3" charset="0"/>
              <a:cs typeface="Source Sans 3" charset="0"/>
            </a:endParaRPr>
          </a:p>
        </p:txBody>
      </p:sp>
      <p:sp>
        <p:nvSpPr>
          <p:cNvPr id="6" name="Text 4"/>
          <p:cNvSpPr/>
          <p:nvPr/>
        </p:nvSpPr>
        <p:spPr>
          <a:xfrm>
            <a:off x="10058400" y="6238298"/>
            <a:ext cx="1320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26"/>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E242C"/>
                </a:solidFill>
                <a:latin typeface="Source Serif 4" pitchFamily="18" charset="0"/>
                <a:ea typeface="Source Serif 4" pitchFamily="18" charset="-122"/>
                <a:cs typeface="Source Serif 4" pitchFamily="18" charset="-120"/>
              </a:rPr>
              <a:t>Our models get the inertia right at unseen masses</a:t>
            </a:r>
            <a:endParaRPr lang="en-US" sz="2800" dirty="0">
              <a:latin typeface="Source Serif 4" charset="0"/>
              <a:ea typeface="Source Serif 4" charset="0"/>
              <a:cs typeface="Source Serif 4" charset="0"/>
            </a:endParaRPr>
          </a:p>
        </p:txBody>
      </p:sp>
      <p:pic>
        <p:nvPicPr>
          <p:cNvPr id="3" name="Image 0" descr="Inertia scaling: at four times the link mass, the simulator's inertia grows 2.93 times; ModLaNet with affine inertia 2.96, B+ 3.15; strictly proportional 4.0; mass as a network input 5.2"/>
          <p:cNvPicPr>
            <a:picLocks noChangeAspect="1"/>
          </p:cNvPicPr>
          <p:nvPr/>
        </p:nvPicPr>
        <p:blipFill>
          <a:blip r:embed="rId3"/>
          <a:srcRect/>
          <a:stretch/>
        </p:blipFill>
        <p:spPr>
          <a:xfrm>
            <a:off x="812800" y="1475727"/>
            <a:ext cx="6350000" cy="3810000"/>
          </a:xfrm>
          <a:prstGeom prst="rect">
            <a:avLst/>
          </a:prstGeom>
        </p:spPr>
      </p:pic>
      <p:sp>
        <p:nvSpPr>
          <p:cNvPr id="4" name="Text 1"/>
          <p:cNvSpPr/>
          <p:nvPr/>
        </p:nvSpPr>
        <p:spPr>
          <a:xfrm>
            <a:off x="1447800" y="1488427"/>
            <a:ext cx="3401060" cy="241805"/>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5C6470"/>
                </a:solidFill>
                <a:latin typeface="Source Sans 3" pitchFamily="34" charset="0"/>
                <a:ea typeface="Source Sans 3" pitchFamily="34" charset="-122"/>
                <a:cs typeface="Source Sans 3" pitchFamily="34" charset="-120"/>
              </a:rPr>
              <a:t>How much harder to accelerate (×)</a:t>
            </a:r>
            <a:endParaRPr lang="en-US" sz="1200" dirty="0">
              <a:latin typeface="Source Sans 3" charset="0"/>
              <a:ea typeface="Source Sans 3" charset="0"/>
              <a:cs typeface="Source Sans 3" charset="0"/>
            </a:endParaRPr>
          </a:p>
        </p:txBody>
      </p:sp>
      <p:sp>
        <p:nvSpPr>
          <p:cNvPr id="5" name="Text 2"/>
          <p:cNvSpPr/>
          <p:nvPr/>
        </p:nvSpPr>
        <p:spPr>
          <a:xfrm>
            <a:off x="889000" y="4796777"/>
            <a:ext cx="431800" cy="241805"/>
          </a:xfrm>
          <a:prstGeom prst="rect">
            <a:avLst/>
          </a:prstGeom>
          <a:noFill/>
          <a:ln/>
        </p:spPr>
        <p:txBody>
          <a:bodyPr wrap="square" lIns="0" tIns="0" rIns="0" bIns="0" rtlCol="0" anchor="t">
            <a:normAutofit/>
          </a:bodyPr>
          <a:lstStyle/>
          <a:p>
            <a:pPr marL="0" indent="0" algn="r">
              <a:lnSpc>
                <a:spcPts val="1704"/>
              </a:lnSpc>
              <a:buNone/>
            </a:pPr>
            <a:r>
              <a:rPr lang="en-US" sz="1200" dirty="0">
                <a:solidFill>
                  <a:srgbClr val="5C6470"/>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p:txBody>
      </p:sp>
      <p:sp>
        <p:nvSpPr>
          <p:cNvPr id="6" name="Text 3"/>
          <p:cNvSpPr/>
          <p:nvPr/>
        </p:nvSpPr>
        <p:spPr>
          <a:xfrm>
            <a:off x="889000" y="4091927"/>
            <a:ext cx="431800" cy="241805"/>
          </a:xfrm>
          <a:prstGeom prst="rect">
            <a:avLst/>
          </a:prstGeom>
          <a:noFill/>
          <a:ln/>
        </p:spPr>
        <p:txBody>
          <a:bodyPr wrap="square" lIns="0" tIns="0" rIns="0" bIns="0" rtlCol="0" anchor="t">
            <a:normAutofit/>
          </a:bodyPr>
          <a:lstStyle/>
          <a:p>
            <a:pPr marL="0" indent="0" algn="r">
              <a:lnSpc>
                <a:spcPts val="1704"/>
              </a:lnSpc>
              <a:buNone/>
            </a:pPr>
            <a:r>
              <a:rPr lang="en-US" sz="1200" dirty="0">
                <a:solidFill>
                  <a:srgbClr val="5C6470"/>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p:txBody>
      </p:sp>
      <p:sp>
        <p:nvSpPr>
          <p:cNvPr id="7" name="Text 4"/>
          <p:cNvSpPr/>
          <p:nvPr/>
        </p:nvSpPr>
        <p:spPr>
          <a:xfrm>
            <a:off x="889000" y="3387077"/>
            <a:ext cx="431800" cy="241805"/>
          </a:xfrm>
          <a:prstGeom prst="rect">
            <a:avLst/>
          </a:prstGeom>
          <a:noFill/>
          <a:ln/>
        </p:spPr>
        <p:txBody>
          <a:bodyPr wrap="square" lIns="0" tIns="0" rIns="0" bIns="0" rtlCol="0" anchor="t">
            <a:normAutofit/>
          </a:bodyPr>
          <a:lstStyle/>
          <a:p>
            <a:pPr marL="0" indent="0" algn="r">
              <a:lnSpc>
                <a:spcPts val="1704"/>
              </a:lnSpc>
              <a:buNone/>
            </a:pPr>
            <a:r>
              <a:rPr lang="en-US" sz="1200" dirty="0">
                <a:solidFill>
                  <a:srgbClr val="5C6470"/>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p:txBody>
      </p:sp>
      <p:sp>
        <p:nvSpPr>
          <p:cNvPr id="8" name="Text 5"/>
          <p:cNvSpPr/>
          <p:nvPr/>
        </p:nvSpPr>
        <p:spPr>
          <a:xfrm>
            <a:off x="889000" y="2682227"/>
            <a:ext cx="431800" cy="241805"/>
          </a:xfrm>
          <a:prstGeom prst="rect">
            <a:avLst/>
          </a:prstGeom>
          <a:noFill/>
          <a:ln/>
        </p:spPr>
        <p:txBody>
          <a:bodyPr wrap="square" lIns="0" tIns="0" rIns="0" bIns="0" rtlCol="0" anchor="t">
            <a:normAutofit/>
          </a:bodyPr>
          <a:lstStyle/>
          <a:p>
            <a:pPr marL="0" indent="0" algn="r">
              <a:lnSpc>
                <a:spcPts val="1704"/>
              </a:lnSpc>
              <a:buNone/>
            </a:pPr>
            <a:r>
              <a:rPr lang="en-US" sz="1200" dirty="0">
                <a:solidFill>
                  <a:srgbClr val="5C6470"/>
                </a:solidFill>
                <a:latin typeface="Source Sans 3" pitchFamily="34" charset="0"/>
                <a:ea typeface="Source Sans 3" pitchFamily="34" charset="-122"/>
                <a:cs typeface="Source Sans 3" pitchFamily="34" charset="-120"/>
              </a:rPr>
              <a:t>4</a:t>
            </a:r>
            <a:endParaRPr lang="en-US" sz="1200" dirty="0">
              <a:latin typeface="Source Sans 3" charset="0"/>
              <a:ea typeface="Source Sans 3" charset="0"/>
              <a:cs typeface="Source Sans 3" charset="0"/>
            </a:endParaRPr>
          </a:p>
        </p:txBody>
      </p:sp>
      <p:sp>
        <p:nvSpPr>
          <p:cNvPr id="9" name="Text 6"/>
          <p:cNvSpPr/>
          <p:nvPr/>
        </p:nvSpPr>
        <p:spPr>
          <a:xfrm>
            <a:off x="889000" y="1977377"/>
            <a:ext cx="431800" cy="241805"/>
          </a:xfrm>
          <a:prstGeom prst="rect">
            <a:avLst/>
          </a:prstGeom>
          <a:noFill/>
          <a:ln/>
        </p:spPr>
        <p:txBody>
          <a:bodyPr wrap="square" lIns="0" tIns="0" rIns="0" bIns="0" rtlCol="0" anchor="t">
            <a:normAutofit/>
          </a:bodyPr>
          <a:lstStyle/>
          <a:p>
            <a:pPr marL="0" indent="0" algn="r">
              <a:lnSpc>
                <a:spcPts val="1704"/>
              </a:lnSpc>
              <a:buNone/>
            </a:pPr>
            <a:r>
              <a:rPr lang="en-US" sz="1200" dirty="0">
                <a:solidFill>
                  <a:srgbClr val="5C6470"/>
                </a:solidFill>
                <a:latin typeface="Source Sans 3" pitchFamily="34" charset="0"/>
                <a:ea typeface="Source Sans 3" pitchFamily="34" charset="-122"/>
                <a:cs typeface="Source Sans 3" pitchFamily="34" charset="-120"/>
              </a:rPr>
              <a:t>5</a:t>
            </a:r>
            <a:endParaRPr lang="en-US" sz="1200" dirty="0">
              <a:latin typeface="Source Sans 3" charset="0"/>
              <a:ea typeface="Source Sans 3" charset="0"/>
              <a:cs typeface="Source Sans 3" charset="0"/>
            </a:endParaRPr>
          </a:p>
        </p:txBody>
      </p:sp>
      <p:sp>
        <p:nvSpPr>
          <p:cNvPr id="10" name="Text 7"/>
          <p:cNvSpPr/>
          <p:nvPr/>
        </p:nvSpPr>
        <p:spPr>
          <a:xfrm>
            <a:off x="1168400" y="4980927"/>
            <a:ext cx="431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1</a:t>
            </a:r>
            <a:endParaRPr lang="en-US" sz="1200" dirty="0">
              <a:latin typeface="Source Sans 3" charset="0"/>
              <a:ea typeface="Source Sans 3" charset="0"/>
              <a:cs typeface="Source Sans 3" charset="0"/>
            </a:endParaRPr>
          </a:p>
        </p:txBody>
      </p:sp>
      <p:sp>
        <p:nvSpPr>
          <p:cNvPr id="11" name="Text 8"/>
          <p:cNvSpPr/>
          <p:nvPr/>
        </p:nvSpPr>
        <p:spPr>
          <a:xfrm>
            <a:off x="2584450" y="4980927"/>
            <a:ext cx="431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2</a:t>
            </a:r>
            <a:endParaRPr lang="en-US" sz="1200" dirty="0">
              <a:latin typeface="Source Sans 3" charset="0"/>
              <a:ea typeface="Source Sans 3" charset="0"/>
              <a:cs typeface="Source Sans 3" charset="0"/>
            </a:endParaRPr>
          </a:p>
        </p:txBody>
      </p:sp>
      <p:sp>
        <p:nvSpPr>
          <p:cNvPr id="12" name="Text 9"/>
          <p:cNvSpPr/>
          <p:nvPr/>
        </p:nvSpPr>
        <p:spPr>
          <a:xfrm>
            <a:off x="4006850" y="4980927"/>
            <a:ext cx="431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3</a:t>
            </a:r>
            <a:endParaRPr lang="en-US" sz="1200" dirty="0">
              <a:latin typeface="Source Sans 3" charset="0"/>
              <a:ea typeface="Source Sans 3" charset="0"/>
              <a:cs typeface="Source Sans 3" charset="0"/>
            </a:endParaRPr>
          </a:p>
        </p:txBody>
      </p:sp>
      <p:sp>
        <p:nvSpPr>
          <p:cNvPr id="13" name="Text 10"/>
          <p:cNvSpPr/>
          <p:nvPr/>
        </p:nvSpPr>
        <p:spPr>
          <a:xfrm>
            <a:off x="5422900" y="4980927"/>
            <a:ext cx="4318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4</a:t>
            </a:r>
            <a:endParaRPr lang="en-US" sz="1200" dirty="0">
              <a:latin typeface="Source Sans 3" charset="0"/>
              <a:ea typeface="Source Sans 3" charset="0"/>
              <a:cs typeface="Source Sans 3" charset="0"/>
            </a:endParaRPr>
          </a:p>
        </p:txBody>
      </p:sp>
      <p:sp>
        <p:nvSpPr>
          <p:cNvPr id="14" name="Text 11"/>
          <p:cNvSpPr/>
          <p:nvPr/>
        </p:nvSpPr>
        <p:spPr>
          <a:xfrm>
            <a:off x="1320483" y="5247627"/>
            <a:ext cx="4382135"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4A525E"/>
                </a:solidFill>
                <a:latin typeface="Source Sans 3" pitchFamily="34" charset="0"/>
                <a:ea typeface="Source Sans 3" pitchFamily="34" charset="-122"/>
                <a:cs typeface="Source Sans 3" pitchFamily="34" charset="-120"/>
              </a:rPr>
              <a:t>Link mass relative to training (dashed: test levels)</a:t>
            </a:r>
            <a:endParaRPr lang="en-US" sz="1200" dirty="0">
              <a:latin typeface="Source Sans 3" charset="0"/>
              <a:ea typeface="Source Sans 3" charset="0"/>
              <a:cs typeface="Source Sans 3" charset="0"/>
            </a:endParaRPr>
          </a:p>
        </p:txBody>
      </p:sp>
      <p:sp>
        <p:nvSpPr>
          <p:cNvPr id="15" name="Text 12"/>
          <p:cNvSpPr/>
          <p:nvPr/>
        </p:nvSpPr>
        <p:spPr>
          <a:xfrm>
            <a:off x="2292350" y="1767827"/>
            <a:ext cx="6223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1.86×</a:t>
            </a:r>
            <a:endParaRPr lang="en-US" sz="1200" dirty="0">
              <a:latin typeface="Source Sans 3" charset="0"/>
              <a:ea typeface="Source Sans 3" charset="0"/>
              <a:cs typeface="Source Sans 3" charset="0"/>
            </a:endParaRPr>
          </a:p>
        </p:txBody>
      </p:sp>
      <p:sp>
        <p:nvSpPr>
          <p:cNvPr id="16" name="Text 13"/>
          <p:cNvSpPr/>
          <p:nvPr/>
        </p:nvSpPr>
        <p:spPr>
          <a:xfrm>
            <a:off x="3556000" y="1767827"/>
            <a:ext cx="6223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2.75×</a:t>
            </a:r>
            <a:endParaRPr lang="en-US" sz="1200" dirty="0">
              <a:latin typeface="Source Sans 3" charset="0"/>
              <a:ea typeface="Source Sans 3" charset="0"/>
              <a:cs typeface="Source Sans 3" charset="0"/>
            </a:endParaRPr>
          </a:p>
        </p:txBody>
      </p:sp>
      <p:sp>
        <p:nvSpPr>
          <p:cNvPr id="17" name="Text 14"/>
          <p:cNvSpPr/>
          <p:nvPr/>
        </p:nvSpPr>
        <p:spPr>
          <a:xfrm>
            <a:off x="4972050" y="1767827"/>
            <a:ext cx="622300" cy="241805"/>
          </a:xfrm>
          <a:prstGeom prst="rect">
            <a:avLst/>
          </a:prstGeom>
          <a:noFill/>
          <a:ln/>
        </p:spPr>
        <p:txBody>
          <a:bodyPr wrap="square" lIns="0" tIns="0" rIns="0" bIns="0" rtlCol="0" anchor="t">
            <a:normAutofit/>
          </a:bodyPr>
          <a:lstStyle/>
          <a:p>
            <a:pPr marL="0" indent="0" algn="ctr">
              <a:lnSpc>
                <a:spcPts val="1704"/>
              </a:lnSpc>
              <a:buNone/>
            </a:pPr>
            <a:r>
              <a:rPr lang="en-US" sz="1200" dirty="0">
                <a:solidFill>
                  <a:srgbClr val="5C6470"/>
                </a:solidFill>
                <a:latin typeface="Source Sans 3" pitchFamily="34" charset="0"/>
                <a:ea typeface="Source Sans 3" pitchFamily="34" charset="-122"/>
                <a:cs typeface="Source Sans 3" pitchFamily="34" charset="-120"/>
              </a:rPr>
              <a:t>3.75×</a:t>
            </a:r>
            <a:endParaRPr lang="en-US" sz="1200" dirty="0">
              <a:latin typeface="Source Sans 3" charset="0"/>
              <a:ea typeface="Source Sans 3" charset="0"/>
              <a:cs typeface="Source Sans 3" charset="0"/>
            </a:endParaRPr>
          </a:p>
        </p:txBody>
      </p:sp>
      <p:sp>
        <p:nvSpPr>
          <p:cNvPr id="18" name="Text 15"/>
          <p:cNvSpPr/>
          <p:nvPr/>
        </p:nvSpPr>
        <p:spPr>
          <a:xfrm>
            <a:off x="5740400" y="1850377"/>
            <a:ext cx="1962150" cy="241805"/>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B04A1A"/>
                </a:solidFill>
                <a:latin typeface="Source Sans 3" pitchFamily="34" charset="0"/>
                <a:ea typeface="Source Sans 3" pitchFamily="34" charset="-122"/>
                <a:cs typeface="Source Sans 3" pitchFamily="34" charset="-120"/>
              </a:rPr>
              <a:t>Mass as input ×5.2</a:t>
            </a:r>
            <a:endParaRPr lang="en-US" sz="1200" dirty="0">
              <a:latin typeface="Source Sans 3" charset="0"/>
              <a:ea typeface="Source Sans 3" charset="0"/>
              <a:cs typeface="Source Sans 3" charset="0"/>
            </a:endParaRPr>
          </a:p>
        </p:txBody>
      </p:sp>
      <p:sp>
        <p:nvSpPr>
          <p:cNvPr id="19" name="Text 16"/>
          <p:cNvSpPr/>
          <p:nvPr/>
        </p:nvSpPr>
        <p:spPr>
          <a:xfrm>
            <a:off x="5740400" y="2682227"/>
            <a:ext cx="1962150" cy="241805"/>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5C6470"/>
                </a:solidFill>
                <a:latin typeface="Source Sans 3" pitchFamily="34" charset="0"/>
                <a:ea typeface="Source Sans 3" pitchFamily="34" charset="-122"/>
                <a:cs typeface="Source Sans 3" pitchFamily="34" charset="-120"/>
              </a:rPr>
              <a:t>Proportional ×4.0</a:t>
            </a:r>
            <a:endParaRPr lang="en-US" sz="1200" dirty="0">
              <a:latin typeface="Source Sans 3" charset="0"/>
              <a:ea typeface="Source Sans 3" charset="0"/>
              <a:cs typeface="Source Sans 3" charset="0"/>
            </a:endParaRPr>
          </a:p>
        </p:txBody>
      </p:sp>
      <p:sp>
        <p:nvSpPr>
          <p:cNvPr id="20" name="Text 17"/>
          <p:cNvSpPr/>
          <p:nvPr/>
        </p:nvSpPr>
        <p:spPr>
          <a:xfrm>
            <a:off x="5740400" y="3164827"/>
            <a:ext cx="1962150" cy="241805"/>
          </a:xfrm>
          <a:prstGeom prst="rect">
            <a:avLst/>
          </a:prstGeom>
          <a:noFill/>
          <a:ln/>
        </p:spPr>
        <p:txBody>
          <a:bodyPr wrap="square" lIns="0" tIns="0" rIns="0" bIns="0" rtlCol="0" anchor="t">
            <a:normAutofit/>
          </a:bodyPr>
          <a:lstStyle/>
          <a:p>
            <a:r>
              <a:rPr lang="en-US" sz="1200"/>
              <a:t>B+ ×3.15</a:t>
            </a:r>
            <a:endParaRPr lang="en-US" sz="1200" dirty="0">
              <a:latin typeface="Source Sans 3" charset="0"/>
              <a:ea typeface="Source Sans 3" charset="0"/>
              <a:cs typeface="Source Sans 3" charset="0"/>
            </a:endParaRPr>
          </a:p>
        </p:txBody>
      </p:sp>
      <p:sp>
        <p:nvSpPr>
          <p:cNvPr id="21" name="Text 18"/>
          <p:cNvSpPr/>
          <p:nvPr/>
        </p:nvSpPr>
        <p:spPr>
          <a:xfrm>
            <a:off x="5740400" y="3444227"/>
            <a:ext cx="1962150" cy="241805"/>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1F7A52"/>
                </a:solidFill>
                <a:latin typeface="Source Sans 3" pitchFamily="34" charset="0"/>
                <a:ea typeface="Source Sans 3" pitchFamily="34" charset="-122"/>
                <a:cs typeface="Source Sans 3" pitchFamily="34" charset="-120"/>
              </a:rPr>
              <a:t>ModLaNet + affine ×2.96</a:t>
            </a:r>
            <a:endParaRPr lang="en-US" sz="1200" dirty="0">
              <a:latin typeface="Source Sans 3" charset="0"/>
              <a:ea typeface="Source Sans 3" charset="0"/>
              <a:cs typeface="Source Sans 3" charset="0"/>
            </a:endParaRPr>
          </a:p>
        </p:txBody>
      </p:sp>
      <p:sp>
        <p:nvSpPr>
          <p:cNvPr id="22" name="Text 19"/>
          <p:cNvSpPr/>
          <p:nvPr/>
        </p:nvSpPr>
        <p:spPr>
          <a:xfrm>
            <a:off x="4368800" y="4091927"/>
            <a:ext cx="2092960" cy="241805"/>
          </a:xfrm>
          <a:prstGeom prst="rect">
            <a:avLst/>
          </a:prstGeom>
          <a:noFill/>
          <a:ln/>
        </p:spPr>
        <p:txBody>
          <a:bodyPr wrap="square" lIns="0" tIns="0" rIns="0" bIns="0" rtlCol="0" anchor="t">
            <a:normAutofit/>
          </a:bodyPr>
          <a:lstStyle/>
          <a:p>
            <a:pPr marL="0" indent="0" algn="l">
              <a:lnSpc>
                <a:spcPts val="1704"/>
              </a:lnSpc>
              <a:buNone/>
            </a:pPr>
            <a:r>
              <a:rPr lang="en-US" sz="1200" dirty="0">
                <a:solidFill>
                  <a:srgbClr val="5C6470"/>
                </a:solidFill>
                <a:latin typeface="Source Sans 3" pitchFamily="34" charset="0"/>
                <a:ea typeface="Source Sans 3" pitchFamily="34" charset="-122"/>
                <a:cs typeface="Source Sans 3" pitchFamily="34" charset="-120"/>
              </a:rPr>
              <a:t>Simulator (truth) ×2.93</a:t>
            </a:r>
            <a:endParaRPr lang="en-US" sz="1200" dirty="0">
              <a:latin typeface="Source Sans 3" charset="0"/>
              <a:ea typeface="Source Sans 3" charset="0"/>
              <a:cs typeface="Source Sans 3" charset="0"/>
            </a:endParaRPr>
          </a:p>
        </p:txBody>
      </p:sp>
      <p:sp>
        <p:nvSpPr>
          <p:cNvPr id="23" name="Text 20"/>
          <p:cNvSpPr/>
          <p:nvPr/>
        </p:nvSpPr>
        <p:spPr>
          <a:xfrm>
            <a:off x="7975600" y="1475727"/>
            <a:ext cx="3505708" cy="452005"/>
          </a:xfrm>
          <a:prstGeom prst="rect">
            <a:avLst/>
          </a:prstGeom>
          <a:noFill/>
          <a:ln/>
        </p:spPr>
        <p:txBody>
          <a:bodyPr wrap="square" lIns="0" tIns="0" rIns="0" bIns="0" rtlCol="0" anchor="t">
            <a:normAutofit/>
          </a:bodyPr>
          <a:lstStyle/>
          <a:p>
            <a:r>
              <a:rPr lang="en-US" sz="1200">
                <a:latin typeface="Abadi" panose="020B0604020104020204" pitchFamily="34" charset="0"/>
              </a:rPr>
              <a:t>The gray band is the simulator, the true answer. Each line is a model’s inertia as the links get heavier.</a:t>
            </a:r>
            <a:endParaRPr lang="en-US" sz="1200" dirty="0">
              <a:latin typeface="Abadi" panose="020B0604020104020204" pitchFamily="34" charset="0"/>
              <a:ea typeface="Source Sans 3" charset="0"/>
              <a:cs typeface="Source Sans 3" charset="0"/>
            </a:endParaRPr>
          </a:p>
        </p:txBody>
      </p:sp>
      <p:sp>
        <p:nvSpPr>
          <p:cNvPr id="24" name="Text 21"/>
          <p:cNvSpPr/>
          <p:nvPr/>
        </p:nvSpPr>
        <p:spPr>
          <a:xfrm>
            <a:off x="7975600" y="2105530"/>
            <a:ext cx="3505708" cy="854075"/>
          </a:xfrm>
          <a:prstGeom prst="rect">
            <a:avLst/>
          </a:prstGeom>
          <a:noFill/>
          <a:ln/>
        </p:spPr>
        <p:txBody>
          <a:bodyPr wrap="square" lIns="0" tIns="0" rIns="0" bIns="0" rtlCol="0" anchor="t">
            <a:normAutofit fontScale="92500"/>
          </a:bodyPr>
          <a:lstStyle/>
          <a:p>
            <a:r>
              <a:rPr lang="en-US" sz="1600">
                <a:latin typeface="Abadi" panose="020B0604020104020204" pitchFamily="34" charset="0"/>
              </a:rPr>
              <a:t>Ours follow the truth. At 4× the mass the simulator gives 2.93×; ModLaNet with our affine inertia gives 2.96×, B+ 3.15×.</a:t>
            </a:r>
            <a:endParaRPr lang="en-US" sz="1500" dirty="0">
              <a:latin typeface="Abadi" panose="020B0604020104020204" pitchFamily="34" charset="0"/>
              <a:ea typeface="Source Sans 3" charset="0"/>
              <a:cs typeface="Source Sans 3" charset="0"/>
            </a:endParaRPr>
          </a:p>
        </p:txBody>
      </p:sp>
      <p:sp>
        <p:nvSpPr>
          <p:cNvPr id="25" name="Text 22"/>
          <p:cNvSpPr/>
          <p:nvPr/>
        </p:nvSpPr>
        <p:spPr>
          <a:xfrm>
            <a:off x="7975600" y="3137405"/>
            <a:ext cx="3505708" cy="1130300"/>
          </a:xfrm>
          <a:prstGeom prst="rect">
            <a:avLst/>
          </a:prstGeom>
          <a:noFill/>
          <a:ln/>
        </p:spPr>
        <p:txBody>
          <a:bodyPr wrap="square" lIns="0" tIns="0" rIns="0" bIns="0" rtlCol="0" anchor="t">
            <a:normAutofit/>
          </a:bodyPr>
          <a:lstStyle/>
          <a:p>
            <a:r>
              <a:rPr lang="en-US" sz="1600" dirty="0">
                <a:latin typeface="Abadi" panose="020F0502020204030204" pitchFamily="34" charset="0"/>
              </a:rPr>
              <a:t>Older designs drift. Strict proportionality says 4.0×. Feeding mass into a network reaches 5.2×, and the gap grows the further right we go.</a:t>
            </a:r>
            <a:endParaRPr lang="en-US" sz="1500" dirty="0">
              <a:latin typeface="Abadi" panose="020F0502020204030204" pitchFamily="34" charset="0"/>
              <a:ea typeface="Source Sans 3" charset="0"/>
              <a:cs typeface="Source Sans 3" charset="0"/>
            </a:endParaRPr>
          </a:p>
        </p:txBody>
      </p:sp>
      <p:sp>
        <p:nvSpPr>
          <p:cNvPr id="26" name="Text 23"/>
          <p:cNvSpPr/>
          <p:nvPr/>
        </p:nvSpPr>
        <p:spPr>
          <a:xfrm>
            <a:off x="10058400" y="6238298"/>
            <a:ext cx="1320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4</a:t>
            </a:r>
            <a:endParaRPr lang="en-US" sz="1200" dirty="0">
              <a:latin typeface="Source Sans 3" charset="0"/>
              <a:ea typeface="Source Sans 3" charset="0"/>
              <a:cs typeface="Source Sans 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26"/>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E242C"/>
                </a:solidFill>
                <a:latin typeface="Source Serif 4" pitchFamily="18" charset="0"/>
                <a:ea typeface="Source Serif 4" pitchFamily="18" charset="-122"/>
                <a:cs typeface="Source Serif 4" pitchFamily="18" charset="-120"/>
              </a:rPr>
              <a:t>We test against nine baselines at three mass levels</a:t>
            </a:r>
            <a:endParaRPr lang="en-US" sz="2800" dirty="0">
              <a:latin typeface="Source Serif 4" charset="0"/>
              <a:ea typeface="Source Serif 4" charset="0"/>
              <a:cs typeface="Source Serif 4" charset="0"/>
            </a:endParaRPr>
          </a:p>
        </p:txBody>
      </p:sp>
      <p:sp>
        <p:nvSpPr>
          <p:cNvPr id="3" name="Shape 1"/>
          <p:cNvSpPr/>
          <p:nvPr/>
        </p:nvSpPr>
        <p:spPr>
          <a:xfrm>
            <a:off x="812800" y="1586852"/>
            <a:ext cx="3251200" cy="0"/>
          </a:xfrm>
          <a:prstGeom prst="line">
            <a:avLst/>
          </a:prstGeom>
          <a:noFill/>
          <a:ln w="19050">
            <a:solidFill>
              <a:srgbClr val="1F4E8C"/>
            </a:solidFill>
            <a:prstDash val="solid"/>
          </a:ln>
        </p:spPr>
        <p:txBody>
          <a:bodyPr/>
          <a:lstStyle/>
          <a:p>
            <a:endParaRPr lang="en-US"/>
          </a:p>
        </p:txBody>
      </p:sp>
      <p:sp>
        <p:nvSpPr>
          <p:cNvPr id="4" name="Text 2"/>
          <p:cNvSpPr/>
          <p:nvPr/>
        </p:nvSpPr>
        <p:spPr>
          <a:xfrm>
            <a:off x="812800" y="1748200"/>
            <a:ext cx="3348736" cy="254000"/>
          </a:xfrm>
          <a:prstGeom prst="rect">
            <a:avLst/>
          </a:prstGeom>
          <a:noFill/>
          <a:ln/>
        </p:spPr>
        <p:txBody>
          <a:bodyPr wrap="square" lIns="0" tIns="0" rIns="0" bIns="0" rtlCol="0" anchor="t">
            <a:normAutofit/>
          </a:bodyPr>
          <a:lstStyle/>
          <a:p>
            <a:r>
              <a:rPr lang="en-US" sz="1600"/>
              <a:t>Protocol</a:t>
            </a:r>
            <a:endParaRPr lang="en-US" sz="1500" dirty="0">
              <a:latin typeface="Source Sans 3" charset="0"/>
              <a:ea typeface="Source Sans 3" charset="0"/>
              <a:cs typeface="Source Sans 3" charset="0"/>
            </a:endParaRPr>
          </a:p>
        </p:txBody>
      </p:sp>
      <p:sp>
        <p:nvSpPr>
          <p:cNvPr id="6" name="Shape 4"/>
          <p:cNvSpPr/>
          <p:nvPr/>
        </p:nvSpPr>
        <p:spPr>
          <a:xfrm>
            <a:off x="4470400" y="1586852"/>
            <a:ext cx="3251200" cy="0"/>
          </a:xfrm>
          <a:prstGeom prst="line">
            <a:avLst/>
          </a:prstGeom>
          <a:noFill/>
          <a:ln w="19050">
            <a:solidFill>
              <a:srgbClr val="1F4E8C"/>
            </a:solidFill>
            <a:prstDash val="solid"/>
          </a:ln>
        </p:spPr>
        <p:txBody>
          <a:bodyPr/>
          <a:lstStyle/>
          <a:p>
            <a:endParaRPr lang="en-US"/>
          </a:p>
        </p:txBody>
      </p:sp>
      <p:sp>
        <p:nvSpPr>
          <p:cNvPr id="7" name="Text 5"/>
          <p:cNvSpPr/>
          <p:nvPr/>
        </p:nvSpPr>
        <p:spPr>
          <a:xfrm>
            <a:off x="4470400" y="1748200"/>
            <a:ext cx="3348736" cy="254000"/>
          </a:xfrm>
          <a:prstGeom prst="rect">
            <a:avLst/>
          </a:prstGeom>
          <a:noFill/>
          <a:ln/>
        </p:spPr>
        <p:txBody>
          <a:bodyPr wrap="square" lIns="0" tIns="0" rIns="0" bIns="0" rtlCol="0" anchor="t">
            <a:normAutofit/>
          </a:bodyPr>
          <a:lstStyle/>
          <a:p>
            <a:r>
              <a:rPr lang="en-US" sz="1600"/>
              <a:t>Nine baselines</a:t>
            </a:r>
            <a:endParaRPr lang="en-US" sz="1500" dirty="0">
              <a:latin typeface="Source Sans 3" charset="0"/>
              <a:ea typeface="Source Sans 3" charset="0"/>
              <a:cs typeface="Source Sans 3" charset="0"/>
            </a:endParaRPr>
          </a:p>
        </p:txBody>
      </p:sp>
      <p:sp>
        <p:nvSpPr>
          <p:cNvPr id="8" name="Text 6"/>
          <p:cNvSpPr/>
          <p:nvPr/>
        </p:nvSpPr>
        <p:spPr>
          <a:xfrm>
            <a:off x="4470400" y="2103800"/>
            <a:ext cx="3348736" cy="854075"/>
          </a:xfrm>
          <a:prstGeom prst="rect">
            <a:avLst/>
          </a:prstGeom>
          <a:noFill/>
          <a:ln/>
        </p:spPr>
        <p:txBody>
          <a:bodyPr wrap="square" lIns="0" tIns="0" rIns="0" bIns="0" rtlCol="0" anchor="t">
            <a:normAutofit/>
          </a:bodyPr>
          <a:lstStyle/>
          <a:p>
            <a:r>
              <a:rPr lang="en-US" sz="1600"/>
              <a:t>Black box: RWM (2025, official code) at two training lengths; parameter concatenation (QWM-style).</a:t>
            </a:r>
            <a:endParaRPr lang="en-US" sz="1500" dirty="0">
              <a:latin typeface="Source Sans 3" charset="0"/>
              <a:ea typeface="Source Sans 3" charset="0"/>
              <a:cs typeface="Source Sans 3" charset="0"/>
            </a:endParaRPr>
          </a:p>
        </p:txBody>
      </p:sp>
      <p:sp>
        <p:nvSpPr>
          <p:cNvPr id="9" name="Text 7"/>
          <p:cNvSpPr/>
          <p:nvPr/>
        </p:nvSpPr>
        <p:spPr>
          <a:xfrm>
            <a:off x="4470400" y="3059475"/>
            <a:ext cx="3348736" cy="577850"/>
          </a:xfrm>
          <a:prstGeom prst="rect">
            <a:avLst/>
          </a:prstGeom>
          <a:noFill/>
          <a:ln/>
        </p:spPr>
        <p:txBody>
          <a:bodyPr wrap="square" lIns="0" tIns="0" rIns="0" bIns="0" rtlCol="0" anchor="t">
            <a:normAutofit/>
          </a:bodyPr>
          <a:lstStyle/>
          <a:p>
            <a:r>
              <a:rPr lang="en-US" sz="1600"/>
              <a:t>Physics-structured: DeLaN, ModLaNet, LNN, and our earlier models A and B.</a:t>
            </a:r>
            <a:endParaRPr lang="en-US" sz="1500" dirty="0">
              <a:latin typeface="Source Sans 3" charset="0"/>
              <a:ea typeface="Source Sans 3" charset="0"/>
              <a:cs typeface="Source Sans 3" charset="0"/>
            </a:endParaRPr>
          </a:p>
        </p:txBody>
      </p:sp>
      <p:sp>
        <p:nvSpPr>
          <p:cNvPr id="10" name="Text 8"/>
          <p:cNvSpPr/>
          <p:nvPr/>
        </p:nvSpPr>
        <p:spPr>
          <a:xfrm>
            <a:off x="4470400" y="3738925"/>
            <a:ext cx="3348736" cy="577850"/>
          </a:xfrm>
          <a:prstGeom prst="rect">
            <a:avLst/>
          </a:prstGeom>
          <a:noFill/>
          <a:ln/>
        </p:spPr>
        <p:txBody>
          <a:bodyPr wrap="square" lIns="0" tIns="0" rIns="0" bIns="0" rtlCol="0" anchor="t">
            <a:normAutofit/>
          </a:bodyPr>
          <a:lstStyle/>
          <a:p>
            <a:r>
              <a:rPr lang="en-US" sz="1600"/>
              <a:t>Mass from history: context-aware DeLaN (2025).</a:t>
            </a:r>
            <a:endParaRPr lang="en-US" sz="1500" dirty="0">
              <a:latin typeface="Source Sans 3" charset="0"/>
              <a:ea typeface="Source Sans 3" charset="0"/>
              <a:cs typeface="Source Sans 3" charset="0"/>
            </a:endParaRPr>
          </a:p>
        </p:txBody>
      </p:sp>
      <p:sp>
        <p:nvSpPr>
          <p:cNvPr id="11" name="Shape 9"/>
          <p:cNvSpPr/>
          <p:nvPr/>
        </p:nvSpPr>
        <p:spPr>
          <a:xfrm>
            <a:off x="8128000" y="1586852"/>
            <a:ext cx="3251200" cy="0"/>
          </a:xfrm>
          <a:prstGeom prst="line">
            <a:avLst/>
          </a:prstGeom>
          <a:noFill/>
          <a:ln w="19050">
            <a:solidFill>
              <a:srgbClr val="1F4E8C"/>
            </a:solidFill>
            <a:prstDash val="solid"/>
          </a:ln>
        </p:spPr>
        <p:txBody>
          <a:bodyPr/>
          <a:lstStyle/>
          <a:p>
            <a:endParaRPr lang="en-US"/>
          </a:p>
        </p:txBody>
      </p:sp>
      <p:sp>
        <p:nvSpPr>
          <p:cNvPr id="12" name="Text 10"/>
          <p:cNvSpPr/>
          <p:nvPr/>
        </p:nvSpPr>
        <p:spPr>
          <a:xfrm>
            <a:off x="8128000" y="1748200"/>
            <a:ext cx="3348736" cy="254000"/>
          </a:xfrm>
          <a:prstGeom prst="rect">
            <a:avLst/>
          </a:prstGeom>
          <a:noFill/>
          <a:ln/>
        </p:spPr>
        <p:txBody>
          <a:bodyPr wrap="square" lIns="0" tIns="0" rIns="0" bIns="0" rtlCol="0" anchor="t">
            <a:normAutofit/>
          </a:bodyPr>
          <a:lstStyle/>
          <a:p>
            <a:r>
              <a:rPr lang="en-US" sz="1600"/>
              <a:t>Three questions</a:t>
            </a:r>
            <a:endParaRPr lang="en-US" sz="1500" dirty="0">
              <a:latin typeface="Source Sans 3" charset="0"/>
              <a:ea typeface="Source Sans 3" charset="0"/>
              <a:cs typeface="Source Sans 3" charset="0"/>
            </a:endParaRPr>
          </a:p>
        </p:txBody>
      </p:sp>
      <p:sp>
        <p:nvSpPr>
          <p:cNvPr id="13" name="Text 11"/>
          <p:cNvSpPr/>
          <p:nvPr/>
        </p:nvSpPr>
        <p:spPr>
          <a:xfrm>
            <a:off x="8128000" y="2103800"/>
            <a:ext cx="3348736" cy="577850"/>
          </a:xfrm>
          <a:prstGeom prst="rect">
            <a:avLst/>
          </a:prstGeom>
          <a:noFill/>
          <a:ln/>
        </p:spPr>
        <p:txBody>
          <a:bodyPr wrap="square" lIns="0" tIns="0" rIns="0" bIns="0" rtlCol="0" anchor="t">
            <a:normAutofit/>
          </a:bodyPr>
          <a:lstStyle/>
          <a:p>
            <a:r>
              <a:rPr lang="en-US" sz="1600"/>
              <a:t>Is it accurate? R²: 1 is perfect, 0 is no better than the mean.</a:t>
            </a:r>
            <a:endParaRPr lang="en-US" sz="1500" dirty="0">
              <a:latin typeface="Source Sans 3" charset="0"/>
              <a:ea typeface="Source Sans 3" charset="0"/>
              <a:cs typeface="Source Sans 3" charset="0"/>
            </a:endParaRPr>
          </a:p>
        </p:txBody>
      </p:sp>
      <p:sp>
        <p:nvSpPr>
          <p:cNvPr id="14" name="Text 12"/>
          <p:cNvSpPr/>
          <p:nvPr/>
        </p:nvSpPr>
        <p:spPr>
          <a:xfrm>
            <a:off x="8128000" y="2783250"/>
            <a:ext cx="3348736" cy="577850"/>
          </a:xfrm>
          <a:prstGeom prst="rect">
            <a:avLst/>
          </a:prstGeom>
          <a:noFill/>
          <a:ln/>
        </p:spPr>
        <p:txBody>
          <a:bodyPr wrap="square" lIns="0" tIns="0" rIns="0" bIns="0" rtlCol="0" anchor="t">
            <a:normAutofit/>
          </a:bodyPr>
          <a:lstStyle/>
          <a:p>
            <a:r>
              <a:rPr lang="en-US" sz="1600"/>
              <a:t>Does knowing the mass help? R² with the true mass minus R² without.</a:t>
            </a:r>
            <a:endParaRPr lang="en-US" sz="1500" dirty="0">
              <a:latin typeface="Source Sans 3" charset="0"/>
              <a:ea typeface="Source Sans 3" charset="0"/>
              <a:cs typeface="Source Sans 3" charset="0"/>
            </a:endParaRPr>
          </a:p>
        </p:txBody>
      </p:sp>
      <p:sp>
        <p:nvSpPr>
          <p:cNvPr id="15" name="Text 13"/>
          <p:cNvSpPr/>
          <p:nvPr/>
        </p:nvSpPr>
        <p:spPr>
          <a:xfrm>
            <a:off x="8128000" y="3462700"/>
            <a:ext cx="3348736" cy="854075"/>
          </a:xfrm>
          <a:prstGeom prst="rect">
            <a:avLst/>
          </a:prstGeom>
          <a:noFill/>
          <a:ln/>
        </p:spPr>
        <p:txBody>
          <a:bodyPr wrap="square" lIns="0" tIns="0" rIns="0" bIns="0" rtlCol="0" anchor="t">
            <a:normAutofit/>
          </a:bodyPr>
          <a:lstStyle/>
          <a:p>
            <a:r>
              <a:rPr lang="en-US" sz="1600"/>
              <a:t>What if it were heavier? Same actions, heavier links: is the predicted change right?</a:t>
            </a:r>
            <a:endParaRPr lang="en-US" sz="1500" dirty="0">
              <a:latin typeface="Source Sans 3" charset="0"/>
              <a:ea typeface="Source Sans 3" charset="0"/>
              <a:cs typeface="Source Sans 3" charset="0"/>
            </a:endParaRPr>
          </a:p>
        </p:txBody>
      </p:sp>
      <p:sp>
        <p:nvSpPr>
          <p:cNvPr id="16" name="Text 14"/>
          <p:cNvSpPr/>
          <p:nvPr/>
        </p:nvSpPr>
        <p:spPr>
          <a:xfrm>
            <a:off x="10058400" y="6238298"/>
            <a:ext cx="1320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5</a:t>
            </a:r>
            <a:endParaRPr lang="en-US" sz="1200" dirty="0">
              <a:latin typeface="Source Sans 3" charset="0"/>
              <a:ea typeface="Source Sans 3" charset="0"/>
              <a:cs typeface="Source Sans 3"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8A9196E-1853-0657-22DA-B63414FC0A67}"/>
                  </a:ext>
                </a:extLst>
              </p:cNvPr>
              <p:cNvSpPr txBox="1"/>
              <p:nvPr/>
            </p:nvSpPr>
            <p:spPr>
              <a:xfrm>
                <a:off x="812800" y="2002200"/>
                <a:ext cx="3251200" cy="2031325"/>
              </a:xfrm>
              <a:prstGeom prst="rect">
                <a:avLst/>
              </a:prstGeom>
              <a:noFill/>
            </p:spPr>
            <p:txBody>
              <a:bodyPr wrap="square" rtlCol="0">
                <a:spAutoFit/>
              </a:bodyPr>
              <a:lstStyle/>
              <a:p>
                <a:pPr marL="342900" indent="-342900">
                  <a:buAutoNum type="arabicPeriod"/>
                </a:pPr>
                <a:r>
                  <a:rPr lang="en-US" dirty="0"/>
                  <a:t>Train on light fingers only: 15-27 g per link.</a:t>
                </a:r>
              </a:p>
              <a:p>
                <a:pPr marL="342900" indent="-342900">
                  <a:buAutoNum type="arabicPeriod"/>
                </a:pPr>
                <a:r>
                  <a:rPr lang="en-US" dirty="0"/>
                  <a:t>Test on fingers 1.86</a:t>
                </a:r>
                <a14:m>
                  <m:oMath xmlns:m="http://schemas.openxmlformats.org/officeDocument/2006/math">
                    <m:r>
                      <a:rPr lang="en-US" b="0" i="1" smtClean="0">
                        <a:latin typeface="Cambria Math" panose="02040503050406030204" pitchFamily="18" charset="0"/>
                      </a:rPr>
                      <m:t>×</m:t>
                    </m:r>
                  </m:oMath>
                </a14:m>
                <a:r>
                  <a:rPr lang="en-US" dirty="0"/>
                  <a:t>, 2.75</a:t>
                </a:r>
                <a14:m>
                  <m:oMath xmlns:m="http://schemas.openxmlformats.org/officeDocument/2006/math">
                    <m:r>
                      <a:rPr lang="en-US" b="0" i="1" dirty="0" smtClean="0">
                        <a:latin typeface="Cambria Math" panose="02040503050406030204" pitchFamily="18" charset="0"/>
                      </a:rPr>
                      <m:t>×</m:t>
                    </m:r>
                  </m:oMath>
                </a14:m>
                <a:r>
                  <a:rPr lang="en-US" dirty="0"/>
                  <a:t>and 3.75</a:t>
                </a:r>
                <a14:m>
                  <m:oMath xmlns:m="http://schemas.openxmlformats.org/officeDocument/2006/math">
                    <m:r>
                      <a:rPr lang="en-US" b="0" i="1" smtClean="0">
                        <a:latin typeface="Cambria Math" panose="02040503050406030204" pitchFamily="18" charset="0"/>
                      </a:rPr>
                      <m:t>×</m:t>
                    </m:r>
                  </m:oMath>
                </a14:m>
                <a:r>
                  <a:rPr lang="en-US" dirty="0"/>
                  <a:t>heavier.</a:t>
                </a:r>
              </a:p>
              <a:p>
                <a:pPr marL="342900" indent="-342900">
                  <a:buAutoNum type="arabicPeriod"/>
                </a:pPr>
                <a:r>
                  <a:rPr lang="en-US" dirty="0"/>
                  <a:t>Predict 100 steps (0.4s) ahead, never seeing the true state on the way.</a:t>
                </a:r>
              </a:p>
            </p:txBody>
          </p:sp>
        </mc:Choice>
        <mc:Fallback>
          <p:sp>
            <p:nvSpPr>
              <p:cNvPr id="19" name="TextBox 18">
                <a:extLst>
                  <a:ext uri="{FF2B5EF4-FFF2-40B4-BE49-F238E27FC236}">
                    <a16:creationId xmlns:a16="http://schemas.microsoft.com/office/drawing/2014/main" id="{F8A9196E-1853-0657-22DA-B63414FC0A67}"/>
                  </a:ext>
                </a:extLst>
              </p:cNvPr>
              <p:cNvSpPr txBox="1">
                <a:spLocks noRot="1" noChangeAspect="1" noMove="1" noResize="1" noEditPoints="1" noAdjustHandles="1" noChangeArrowheads="1" noChangeShapeType="1" noTextEdit="1"/>
              </p:cNvSpPr>
              <p:nvPr/>
            </p:nvSpPr>
            <p:spPr>
              <a:xfrm>
                <a:off x="812800" y="2002200"/>
                <a:ext cx="3251200" cy="2031325"/>
              </a:xfrm>
              <a:prstGeom prst="rect">
                <a:avLst/>
              </a:prstGeom>
              <a:blipFill>
                <a:blip r:embed="rId3"/>
                <a:stretch>
                  <a:fillRect l="-1685" t="-2096" b="-3892"/>
                </a:stretch>
              </a:blipFill>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28336"/>
          </a:xfrm>
          <a:prstGeom prst="rect">
            <a:avLst/>
          </a:prstGeom>
          <a:noFill/>
          <a:ln/>
        </p:spPr>
        <p:txBody>
          <a:bodyPr wrap="square" lIns="0" tIns="0" rIns="0" bIns="0" rtlCol="0" anchor="t">
            <a:normAutofit/>
          </a:bodyPr>
          <a:lstStyle/>
          <a:p>
            <a:pPr marL="0" indent="0" algn="l">
              <a:lnSpc>
                <a:spcPts val="3170"/>
              </a:lnSpc>
              <a:buNone/>
            </a:pPr>
            <a:r>
              <a:rPr lang="en-US" sz="2756" b="1" i="0" dirty="0">
                <a:solidFill>
                  <a:srgbClr val="1E242C"/>
                </a:solidFill>
                <a:latin typeface="Source Serif 4" pitchFamily="18" charset="0"/>
                <a:ea typeface="Source Serif 4" pitchFamily="18" charset="-122"/>
                <a:cs typeface="Source Serif 4" pitchFamily="18" charset="-120"/>
              </a:rPr>
              <a:t>The best score at every mass level is ours</a:t>
            </a:r>
            <a:endParaRPr lang="en-US" sz="2756" dirty="0">
              <a:latin typeface="Source Serif 4" charset="0"/>
              <a:ea typeface="Source Serif 4" charset="0"/>
              <a:cs typeface="Source Serif 4" charset="0"/>
            </a:endParaRPr>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036" y="1428173"/>
          <a:ext cx="7166263" cy="3950280"/>
        </p:xfrm>
        <a:graphic>
          <a:graphicData uri="http://schemas.openxmlformats.org/drawingml/2006/table">
            <a:tbl>
              <a:tblPr/>
              <a:tblGrid>
                <a:gridCol w="2436530">
                  <a:extLst>
                    <a:ext uri="{9D8B030D-6E8A-4147-A177-3AD203B41FA5}">
                      <a16:colId xmlns:a16="http://schemas.microsoft.com/office/drawing/2014/main" val="20000"/>
                    </a:ext>
                  </a:extLst>
                </a:gridCol>
                <a:gridCol w="859952">
                  <a:extLst>
                    <a:ext uri="{9D8B030D-6E8A-4147-A177-3AD203B41FA5}">
                      <a16:colId xmlns:a16="http://schemas.microsoft.com/office/drawing/2014/main" val="20001"/>
                    </a:ext>
                  </a:extLst>
                </a:gridCol>
                <a:gridCol w="716626">
                  <a:extLst>
                    <a:ext uri="{9D8B030D-6E8A-4147-A177-3AD203B41FA5}">
                      <a16:colId xmlns:a16="http://schemas.microsoft.com/office/drawing/2014/main" val="20002"/>
                    </a:ext>
                  </a:extLst>
                </a:gridCol>
                <a:gridCol w="716626">
                  <a:extLst>
                    <a:ext uri="{9D8B030D-6E8A-4147-A177-3AD203B41FA5}">
                      <a16:colId xmlns:a16="http://schemas.microsoft.com/office/drawing/2014/main" val="20003"/>
                    </a:ext>
                  </a:extLst>
                </a:gridCol>
                <a:gridCol w="716626">
                  <a:extLst>
                    <a:ext uri="{9D8B030D-6E8A-4147-A177-3AD203B41FA5}">
                      <a16:colId xmlns:a16="http://schemas.microsoft.com/office/drawing/2014/main" val="20004"/>
                    </a:ext>
                  </a:extLst>
                </a:gridCol>
                <a:gridCol w="1719903">
                  <a:extLst>
                    <a:ext uri="{9D8B030D-6E8A-4147-A177-3AD203B41FA5}">
                      <a16:colId xmlns:a16="http://schemas.microsoft.com/office/drawing/2014/main" val="20005"/>
                    </a:ext>
                  </a:extLst>
                </a:gridCol>
              </a:tblGrid>
              <a:tr h="329190">
                <a:tc>
                  <a:txBody>
                    <a:bodyPr/>
                    <a:lstStyle/>
                    <a:p>
                      <a:pPr marL="0" indent="0">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Model</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marL="0" indent="0">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Mass</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marL="0" indent="0" algn="r">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1.86×</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marL="0" indent="0" algn="r">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2.75×</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marL="0" indent="0" algn="r">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3.75×</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marL="0" indent="0" algn="r">
                        <a:lnSpc>
                          <a:spcPts val="1680"/>
                        </a:lnSpc>
                        <a:buNone/>
                      </a:pPr>
                      <a:r>
                        <a:rPr lang="en-US" sz="1200" b="1" dirty="0">
                          <a:solidFill>
                            <a:srgbClr val="1E242C"/>
                          </a:solidFill>
                          <a:latin typeface="Source Sans 3" pitchFamily="34" charset="0"/>
                          <a:ea typeface="Source Sans 3" pitchFamily="34" charset="-122"/>
                          <a:cs typeface="Source Sans 3" pitchFamily="34" charset="-120"/>
                        </a:rPr>
                        <a:t>Given mass, 3.75×</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extLst>
                  <a:ext uri="{0D108BD9-81ED-4DB2-BD59-A6C34878D82A}">
                    <a16:rowId xmlns:a16="http://schemas.microsoft.com/office/drawing/2014/main" val="10000"/>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RWM (2025, official code)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none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0.752</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0.754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0.736</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B04A1A"/>
                          </a:solidFill>
                          <a:latin typeface="Source Sans 3" pitchFamily="34" charset="0"/>
                          <a:ea typeface="Source Sans 3" pitchFamily="34" charset="-122"/>
                          <a:cs typeface="Source Sans 3" pitchFamily="34" charset="-120"/>
                        </a:rPr>
                        <a:t>collapses, −13.4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Parameter concat (QWM-style)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none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0.725</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0.721</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0.711</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B04A1A"/>
                          </a:solidFill>
                          <a:latin typeface="Source Sans 3" pitchFamily="34" charset="0"/>
                          <a:ea typeface="Source Sans 3" pitchFamily="34" charset="-122"/>
                          <a:cs typeface="Source Sans 3" pitchFamily="34" charset="-120"/>
                        </a:rPr>
                        <a:t>collapses, −9.4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Context-aware DeLaN (2025)</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inferred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0.718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0.724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0.702</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n/a</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DeLaN</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0.754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0.731</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0.678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+0.05</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ModLaNet</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0.769</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0.728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0.677</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+0.03</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5"/>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LNN (stabilized)</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0.748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0.597</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0.274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6"/>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v1 model A (learned torque)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none</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0.768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0.761</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0.748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B04A1A"/>
                          </a:solidFill>
                          <a:latin typeface="Source Sans 3" pitchFamily="34" charset="0"/>
                          <a:ea typeface="Source Sans 3" pitchFamily="34" charset="-122"/>
                          <a:cs typeface="Source Sans 3" pitchFamily="34" charset="-120"/>
                        </a:rPr>
                        <a:t>worse, −0.23</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7"/>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v1 model B (known PD)</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0.746</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0.676</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0.498</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gn="r">
                        <a:lnSpc>
                          <a:spcPts val="1680"/>
                        </a:lnSpc>
                        <a:buNone/>
                      </a:pPr>
                      <a:r>
                        <a:rPr lang="en-US" sz="1200" dirty="0">
                          <a:solidFill>
                            <a:srgbClr val="B04A1A"/>
                          </a:solidFill>
                          <a:latin typeface="Source Sans 3" pitchFamily="34" charset="0"/>
                          <a:ea typeface="Source Sans 3" pitchFamily="34" charset="-122"/>
                          <a:cs typeface="Source Sans 3" pitchFamily="34" charset="-120"/>
                        </a:rPr>
                        <a:t>worse, −0.14</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8"/>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B+ (ours)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0.773</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0.779</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0.750</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F4E8C"/>
                          </a:solidFill>
                          <a:latin typeface="Source Sans 3" pitchFamily="34" charset="0"/>
                          <a:ea typeface="Source Sans 3" pitchFamily="34" charset="-122"/>
                          <a:cs typeface="Source Sans 3" pitchFamily="34" charset="-120"/>
                        </a:rPr>
                        <a:t>better, +0.10</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extLst>
                  <a:ext uri="{0D108BD9-81ED-4DB2-BD59-A6C34878D82A}">
                    <a16:rowId xmlns:a16="http://schemas.microsoft.com/office/drawing/2014/main" val="10009"/>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ModLaNet + affine (ours)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0.786</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0.775</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0.744</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F4E8C"/>
                          </a:solidFill>
                          <a:latin typeface="Source Sans 3" pitchFamily="34" charset="0"/>
                          <a:ea typeface="Source Sans 3" pitchFamily="34" charset="-122"/>
                          <a:cs typeface="Source Sans 3" pitchFamily="34" charset="-120"/>
                        </a:rPr>
                        <a:t>better, +0.10</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extLst>
                  <a:ext uri="{0D108BD9-81ED-4DB2-BD59-A6C34878D82A}">
                    <a16:rowId xmlns:a16="http://schemas.microsoft.com/office/drawing/2014/main" val="10010"/>
                  </a:ext>
                </a:extLst>
              </a:tr>
              <a:tr h="329190">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B+ ensemble residual (ours)</a:t>
                      </a:r>
                      <a:endParaRPr lang="en-US" sz="1200" dirty="0">
                        <a:latin typeface="Source Sans 3" charset="0"/>
                        <a:ea typeface="Source Sans 3" charset="0"/>
                        <a:cs typeface="Source Sans 3" charset="0"/>
                      </a:endParaRPr>
                    </a:p>
                  </a:txBody>
                  <a:tcPr marL="53340" marR="53340" marT="53340" marB="53340">
                    <a:lnL w="12700" cap="flat" cmpd="sng" algn="ctr">
                      <a:solidFill>
                        <a:srgbClr val="C7C7C5"/>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nSpc>
                          <a:spcPts val="1680"/>
                        </a:lnSpc>
                        <a:buNone/>
                      </a:pPr>
                      <a:r>
                        <a:rPr lang="en-US" sz="1200" dirty="0">
                          <a:solidFill>
                            <a:srgbClr val="1E242C"/>
                          </a:solidFill>
                          <a:latin typeface="Source Sans 3" pitchFamily="34" charset="0"/>
                          <a:ea typeface="Source Sans 3" pitchFamily="34" charset="-122"/>
                          <a:cs typeface="Source Sans 3" pitchFamily="34" charset="-120"/>
                        </a:rPr>
                        <a:t>given</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0.801</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0.784</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E242C"/>
                          </a:solidFill>
                          <a:latin typeface="Source Sans 3" pitchFamily="34" charset="0"/>
                          <a:ea typeface="Source Sans 3" pitchFamily="34" charset="-122"/>
                          <a:cs typeface="Source Sans 3" pitchFamily="34" charset="-120"/>
                        </a:rPr>
                        <a:t>0.753</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tc>
                  <a:txBody>
                    <a:bodyPr/>
                    <a:lstStyle/>
                    <a:p>
                      <a:pPr marL="0" indent="0" algn="r">
                        <a:lnSpc>
                          <a:spcPts val="1680"/>
                        </a:lnSpc>
                        <a:buNone/>
                      </a:pPr>
                      <a:r>
                        <a:rPr lang="en-US" sz="1200" dirty="0">
                          <a:solidFill>
                            <a:srgbClr val="1F4E8C"/>
                          </a:solidFill>
                          <a:latin typeface="Source Sans 3" pitchFamily="34" charset="0"/>
                          <a:ea typeface="Source Sans 3" pitchFamily="34" charset="-122"/>
                          <a:cs typeface="Source Sans 3" pitchFamily="34" charset="-120"/>
                        </a:rPr>
                        <a:t>better, +0.14</a:t>
                      </a:r>
                      <a:endParaRPr lang="en-US" sz="1200" dirty="0">
                        <a:latin typeface="Source Sans 3" charset="0"/>
                        <a:ea typeface="Source Sans 3" charset="0"/>
                        <a:cs typeface="Source Sans 3" charset="0"/>
                      </a:endParaRPr>
                    </a:p>
                  </a:txBody>
                  <a:tcPr marL="53340" marR="53340" marT="53340" marB="53340">
                    <a:lnL w="12700" cap="flat" cmpd="sng" algn="ctr">
                      <a:solidFill>
                        <a:srgbClr val="B9BDC3"/>
                      </a:solidFill>
                      <a:prstDash val="solid"/>
                      <a:round/>
                      <a:headEnd type="none" w="med" len="med"/>
                      <a:tailEnd type="none" w="med" len="med"/>
                    </a:lnL>
                    <a:lnR w="12700" cap="flat" cmpd="sng" algn="ctr">
                      <a:solidFill>
                        <a:srgbClr val="B9BDC3"/>
                      </a:solidFill>
                      <a:prstDash val="solid"/>
                      <a:round/>
                      <a:headEnd type="none" w="med" len="med"/>
                      <a:tailEnd type="none" w="med" len="med"/>
                    </a:lnR>
                    <a:lnT w="12700" cap="flat" cmpd="sng" algn="ctr">
                      <a:solidFill>
                        <a:srgbClr val="B9BDC3"/>
                      </a:solidFill>
                      <a:prstDash val="solid"/>
                      <a:round/>
                      <a:headEnd type="none" w="med" len="med"/>
                      <a:tailEnd type="none" w="med" len="med"/>
                    </a:lnT>
                    <a:lnB w="12700" cap="flat" cmpd="sng" algn="ctr">
                      <a:solidFill>
                        <a:srgbClr val="B9BDC3"/>
                      </a:solidFill>
                      <a:prstDash val="solid"/>
                      <a:round/>
                      <a:headEnd type="none" w="med" len="med"/>
                      <a:tailEnd type="none" w="med" len="med"/>
                    </a:lnB>
                    <a:solidFill>
                      <a:srgbClr val="E7EDF5"/>
                    </a:solidFill>
                  </a:tcPr>
                </a:tc>
                <a:extLst>
                  <a:ext uri="{0D108BD9-81ED-4DB2-BD59-A6C34878D82A}">
                    <a16:rowId xmlns:a16="http://schemas.microsoft.com/office/drawing/2014/main" val="10011"/>
                  </a:ext>
                </a:extLst>
              </a:tr>
            </a:tbl>
          </a:graphicData>
        </a:graphic>
      </p:graphicFrame>
      <p:sp>
        <p:nvSpPr>
          <p:cNvPr id="4" name="Text 1"/>
          <p:cNvSpPr/>
          <p:nvPr/>
        </p:nvSpPr>
        <p:spPr>
          <a:xfrm>
            <a:off x="812800" y="5480050"/>
            <a:ext cx="7390765" cy="45200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470"/>
                </a:solidFill>
                <a:latin typeface="Abadi" panose="020B0604020104020204" pitchFamily="34" charset="0"/>
                <a:ea typeface="Source Sans 3" pitchFamily="34" charset="-122"/>
                <a:cs typeface="Source Sans 3" pitchFamily="34" charset="-120"/>
              </a:rPr>
              <a:t>R², median of 10 runs (1 = perfect, 0 = predicting the mean). Models marked “none” are shown without mass, their better setting; the last column is what giving them the true mass does.</a:t>
            </a:r>
            <a:endParaRPr lang="en-US" sz="1200" dirty="0">
              <a:latin typeface="Abadi" panose="020B0604020104020204" pitchFamily="34" charset="0"/>
              <a:ea typeface="Source Sans 3" charset="0"/>
              <a:cs typeface="Source Sans 3" charset="0"/>
            </a:endParaRPr>
          </a:p>
        </p:txBody>
      </p:sp>
      <p:sp>
        <p:nvSpPr>
          <p:cNvPr id="5" name="Text 2"/>
          <p:cNvSpPr/>
          <p:nvPr/>
        </p:nvSpPr>
        <p:spPr>
          <a:xfrm>
            <a:off x="8343900" y="1418937"/>
            <a:ext cx="3126359"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4E8C"/>
                </a:solidFill>
                <a:latin typeface="Abadi" panose="020B0604020104020204" pitchFamily="34" charset="0"/>
                <a:ea typeface="Source Serif 4" pitchFamily="18" charset="-122"/>
                <a:cs typeface="Source Serif 4" pitchFamily="18" charset="-120"/>
              </a:rPr>
              <a:t>41 of 81</a:t>
            </a:r>
            <a:endParaRPr lang="en-US" sz="2800" dirty="0">
              <a:latin typeface="Abadi" panose="020B0604020104020204" pitchFamily="34" charset="0"/>
              <a:ea typeface="Source Serif 4" charset="0"/>
              <a:cs typeface="Source Serif 4" charset="0"/>
            </a:endParaRPr>
          </a:p>
        </p:txBody>
      </p:sp>
      <p:sp>
        <p:nvSpPr>
          <p:cNvPr id="6" name="Text 3"/>
          <p:cNvSpPr/>
          <p:nvPr/>
        </p:nvSpPr>
        <p:spPr>
          <a:xfrm>
            <a:off x="8343900" y="1860838"/>
            <a:ext cx="3126359" cy="45200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5E"/>
                </a:solidFill>
                <a:latin typeface="Abadi" panose="020B0604020104020204" pitchFamily="34" charset="0"/>
                <a:ea typeface="Source Sans 3" pitchFamily="34" charset="-122"/>
                <a:cs typeface="Source Sans 3" pitchFamily="34" charset="-120"/>
              </a:rPr>
              <a:t>pairwise comparisons significantly better, none significantly worse</a:t>
            </a:r>
            <a:endParaRPr lang="en-US" sz="1200" dirty="0">
              <a:latin typeface="Abadi" panose="020B0604020104020204" pitchFamily="34" charset="0"/>
              <a:ea typeface="Source Sans 3" charset="0"/>
              <a:cs typeface="Source Sans 3" charset="0"/>
            </a:endParaRPr>
          </a:p>
        </p:txBody>
      </p:sp>
      <p:sp>
        <p:nvSpPr>
          <p:cNvPr id="7" name="Text 4"/>
          <p:cNvSpPr/>
          <p:nvPr/>
        </p:nvSpPr>
        <p:spPr>
          <a:xfrm>
            <a:off x="8343900" y="2516045"/>
            <a:ext cx="3126359"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4E8C"/>
                </a:solidFill>
                <a:latin typeface="Abadi" panose="020B0604020104020204" pitchFamily="34" charset="0"/>
                <a:ea typeface="Source Serif 4" pitchFamily="18" charset="-122"/>
                <a:cs typeface="Source Serif 4" pitchFamily="18" charset="-120"/>
              </a:rPr>
              <a:t>35 of 36</a:t>
            </a:r>
            <a:endParaRPr lang="en-US" sz="2800" dirty="0">
              <a:latin typeface="Abadi" panose="020B0604020104020204" pitchFamily="34" charset="0"/>
              <a:ea typeface="Source Serif 4" charset="0"/>
              <a:cs typeface="Source Serif 4" charset="0"/>
            </a:endParaRPr>
          </a:p>
        </p:txBody>
      </p:sp>
      <p:sp>
        <p:nvSpPr>
          <p:cNvPr id="8" name="Text 5"/>
          <p:cNvSpPr/>
          <p:nvPr/>
        </p:nvSpPr>
        <p:spPr>
          <a:xfrm>
            <a:off x="8343900" y="2957947"/>
            <a:ext cx="3126359" cy="45200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5E"/>
                </a:solidFill>
                <a:latin typeface="Abadi" panose="020B0604020104020204" pitchFamily="34" charset="0"/>
                <a:ea typeface="Source Sans 3" pitchFamily="34" charset="-122"/>
                <a:cs typeface="Source Sans 3" pitchFamily="34" charset="-120"/>
              </a:rPr>
              <a:t>tests significantly better than RWM and model A within the first 0.1 s</a:t>
            </a:r>
            <a:endParaRPr lang="en-US" sz="1200" dirty="0">
              <a:latin typeface="Abadi" panose="020B0604020104020204" pitchFamily="34" charset="0"/>
              <a:ea typeface="Source Sans 3" charset="0"/>
              <a:cs typeface="Source Sans 3" charset="0"/>
            </a:endParaRPr>
          </a:p>
        </p:txBody>
      </p:sp>
      <p:sp>
        <p:nvSpPr>
          <p:cNvPr id="9" name="Text 6"/>
          <p:cNvSpPr/>
          <p:nvPr/>
        </p:nvSpPr>
        <p:spPr>
          <a:xfrm>
            <a:off x="8343900" y="3613150"/>
            <a:ext cx="3126359"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4E8C"/>
                </a:solidFill>
                <a:latin typeface="Abadi" panose="020B0604020104020204" pitchFamily="34" charset="0"/>
                <a:ea typeface="Source Serif 4" pitchFamily="18" charset="-122"/>
                <a:cs typeface="Source Serif 4" pitchFamily="18" charset="-120"/>
              </a:rPr>
              <a:t>0.33 → 0.82</a:t>
            </a:r>
            <a:endParaRPr lang="en-US" sz="2800" dirty="0">
              <a:latin typeface="Abadi" panose="020B0604020104020204" pitchFamily="34" charset="0"/>
              <a:ea typeface="Source Serif 4" charset="0"/>
              <a:cs typeface="Source Serif 4" charset="0"/>
            </a:endParaRPr>
          </a:p>
        </p:txBody>
      </p:sp>
      <p:sp>
        <p:nvSpPr>
          <p:cNvPr id="10" name="Text 7"/>
          <p:cNvSpPr/>
          <p:nvPr/>
        </p:nvSpPr>
        <p:spPr>
          <a:xfrm>
            <a:off x="8343900" y="4055055"/>
            <a:ext cx="3126359" cy="45200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5E"/>
                </a:solidFill>
                <a:latin typeface="Abadi" panose="020B0604020104020204" pitchFamily="34" charset="0"/>
                <a:ea typeface="Source Sans 3" pitchFamily="34" charset="-122"/>
                <a:cs typeface="Source Sans 3" pitchFamily="34" charset="-120"/>
              </a:rPr>
              <a:t>counterfactual score of B+ with force abduction, all nine links heavier (1 = exact)</a:t>
            </a:r>
            <a:endParaRPr lang="en-US" sz="1200" dirty="0">
              <a:latin typeface="Abadi" panose="020B0604020104020204" pitchFamily="34" charset="0"/>
              <a:ea typeface="Source Sans 3" charset="0"/>
              <a:cs typeface="Source Sans 3" charset="0"/>
            </a:endParaRPr>
          </a:p>
        </p:txBody>
      </p:sp>
      <p:sp>
        <p:nvSpPr>
          <p:cNvPr id="11" name="Text 8"/>
          <p:cNvSpPr/>
          <p:nvPr/>
        </p:nvSpPr>
        <p:spPr>
          <a:xfrm>
            <a:off x="10058400" y="6238298"/>
            <a:ext cx="1320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Source Sans 3" pitchFamily="34" charset="0"/>
                <a:ea typeface="Source Sans 3" pitchFamily="34" charset="-122"/>
                <a:cs typeface="Source Sans 3" pitchFamily="34" charset="-120"/>
              </a:rPr>
              <a:t>6</a:t>
            </a:r>
            <a:endParaRPr lang="en-US" sz="1200" dirty="0">
              <a:latin typeface="Source Sans 3" charset="0"/>
              <a:ea typeface="Source Sans 3" charset="0"/>
              <a:cs typeface="Source Sans 3" charset="0"/>
            </a:endParaRPr>
          </a:p>
        </p:txBody>
      </p:sp>
    </p:spTree>
  </p:cSld>
  <p:clrMapOvr>
    <a:masterClrMapping/>
  </p:clrMapOvr>
</p:sld>
</file>

<file path=ppt/theme/theme1.xml><?xml version="1.0" encoding="utf-8"?>
<a:theme xmlns:a="http://schemas.openxmlformats.org/drawingml/2006/main" name="Making World Models Use Mass Correctly">
  <a:themeElements>
    <a:clrScheme name="Making World Models Use Mass Correctly">
      <a:dk1>
        <a:srgbClr val="2E3540"/>
      </a:dk1>
      <a:lt1>
        <a:srgbClr val="FAFAF7"/>
      </a:lt1>
      <a:dk2>
        <a:srgbClr val="61666E"/>
      </a:dk2>
      <a:lt2>
        <a:srgbClr val="E6E6E5"/>
      </a:lt2>
      <a:accent1>
        <a:srgbClr val="1F4E8C"/>
      </a:accent1>
      <a:accent2>
        <a:srgbClr val="B04A1A"/>
      </a:accent2>
      <a:accent3>
        <a:srgbClr val="1F7A52"/>
      </a:accent3>
      <a:accent4>
        <a:srgbClr val="5C6470"/>
      </a:accent4>
      <a:accent5>
        <a:srgbClr val="6B7280"/>
      </a:accent5>
      <a:accent6>
        <a:srgbClr val="4A525E"/>
      </a:accent6>
      <a:hlink>
        <a:srgbClr val="0563C1"/>
      </a:hlink>
      <a:folHlink>
        <a:srgbClr val="954F72"/>
      </a:folHlink>
    </a:clrScheme>
    <a:fontScheme name="Making World Models Use Mass Correctly">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2251</Words>
  <Application>Microsoft Office PowerPoint</Application>
  <PresentationFormat>Widescreen</PresentationFormat>
  <Paragraphs>154</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Source Sans 3</vt:lpstr>
      <vt:lpstr>Source Serif 4</vt:lpstr>
      <vt:lpstr>Abadi</vt:lpstr>
      <vt:lpstr>Arial</vt:lpstr>
      <vt:lpstr>Cambria Math</vt:lpstr>
      <vt:lpstr>Making World Models Use Mass Correctly</vt:lpstr>
      <vt:lpstr>Making world models use mass correctly</vt:lpstr>
      <vt:lpstr>The robot gets heavier than anything in training</vt:lpstr>
      <vt:lpstr>B+ puts mass where physics puts it</vt:lpstr>
      <vt:lpstr>Our models get the inertia right at unseen masses</vt:lpstr>
      <vt:lpstr>We test against nine baselines at three mass levels</vt:lpstr>
      <vt:lpstr>The best score at every mass level is ours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World Models Use Mass Correctly</dc:title>
  <dc:subject/>
  <dc:creator/>
  <cp:lastModifiedBy>Chu Lin</cp:lastModifiedBy>
  <cp:revision>17</cp:revision>
  <dcterms:created xsi:type="dcterms:W3CDTF">2026-10-31T13:50:56Z</dcterms:created>
  <dcterms:modified xsi:type="dcterms:W3CDTF">2026-10-31T14:10:54Z</dcterms:modified>
</cp:coreProperties>
</file>