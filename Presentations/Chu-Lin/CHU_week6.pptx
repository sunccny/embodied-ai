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F108D2-D19B-42FD-B543-8D9889380B10}" v="621" dt="2026-07-31T14:40:33.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5" autoAdjust="0"/>
    <p:restoredTop sz="94660"/>
  </p:normalViewPr>
  <p:slideViewPr>
    <p:cSldViewPr snapToGrid="0">
      <p:cViewPr varScale="1">
        <p:scale>
          <a:sx n="91" d="100"/>
          <a:sy n="91" d="100"/>
        </p:scale>
        <p:origin x="11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Lin" userId="a9d5f5a05d2946b6" providerId="LiveId" clId="{A624DEA4-834B-44D9-BB5B-23A5D14AA4FA}"/>
    <pc:docChg chg="undo custSel addSld modSld addMainMaster delMainMaster">
      <pc:chgData name="Chu Lin" userId="a9d5f5a05d2946b6" providerId="LiveId" clId="{A624DEA4-834B-44D9-BB5B-23A5D14AA4FA}" dt="2026-07-31T14:40:33.879" v="2407" actId="27636"/>
      <pc:docMkLst>
        <pc:docMk/>
      </pc:docMkLst>
      <pc:sldChg chg="addSp delSp modSp new mod setBg modClrScheme setClrOvrMap chgLayout">
        <pc:chgData name="Chu Lin" userId="a9d5f5a05d2946b6" providerId="LiveId" clId="{A624DEA4-834B-44D9-BB5B-23A5D14AA4FA}" dt="2026-07-31T14:40:33.879" v="2407" actId="27636"/>
        <pc:sldMkLst>
          <pc:docMk/>
          <pc:sldMk cId="587267323" sldId="256"/>
        </pc:sldMkLst>
        <pc:spChg chg="mod">
          <ac:chgData name="Chu Lin" userId="a9d5f5a05d2946b6" providerId="LiveId" clId="{A624DEA4-834B-44D9-BB5B-23A5D14AA4FA}" dt="2026-07-31T14:40:33.879" v="2407" actId="27636"/>
          <ac:spMkLst>
            <pc:docMk/>
            <pc:sldMk cId="587267323" sldId="256"/>
            <ac:spMk id="2" creationId="{42DF4A85-75ED-1BE5-0D62-02641E30F8DD}"/>
          </ac:spMkLst>
        </pc:spChg>
        <pc:spChg chg="mod">
          <ac:chgData name="Chu Lin" userId="a9d5f5a05d2946b6" providerId="LiveId" clId="{A624DEA4-834B-44D9-BB5B-23A5D14AA4FA}" dt="2026-07-28T15:56:05.757" v="37" actId="20577"/>
          <ac:spMkLst>
            <pc:docMk/>
            <pc:sldMk cId="587267323" sldId="256"/>
            <ac:spMk id="3" creationId="{91D21AF5-E4DD-D33F-6A76-78D6AC849366}"/>
          </ac:spMkLst>
        </pc:spChg>
        <pc:spChg chg="add">
          <ac:chgData name="Chu Lin" userId="a9d5f5a05d2946b6" providerId="LiveId" clId="{A624DEA4-834B-44D9-BB5B-23A5D14AA4FA}" dt="2026-07-28T15:55:51.189" v="3" actId="26606"/>
          <ac:spMkLst>
            <pc:docMk/>
            <pc:sldMk cId="587267323" sldId="256"/>
            <ac:spMk id="15" creationId="{33E93247-6229-44AB-A550-739E971E690B}"/>
          </ac:spMkLst>
        </pc:spChg>
        <pc:picChg chg="add">
          <ac:chgData name="Chu Lin" userId="a9d5f5a05d2946b6" providerId="LiveId" clId="{A624DEA4-834B-44D9-BB5B-23A5D14AA4FA}" dt="2026-07-28T15:55:51.189" v="3" actId="26606"/>
          <ac:picMkLst>
            <pc:docMk/>
            <pc:sldMk cId="587267323" sldId="256"/>
            <ac:picMk id="17" creationId="{7DB366AC-3230-8436-C5A5-50F595F2E770}"/>
          </ac:picMkLst>
        </pc:picChg>
        <pc:cxnChg chg="add">
          <ac:chgData name="Chu Lin" userId="a9d5f5a05d2946b6" providerId="LiveId" clId="{A624DEA4-834B-44D9-BB5B-23A5D14AA4FA}" dt="2026-07-28T15:55:51.189" v="3" actId="26606"/>
          <ac:cxnSpMkLst>
            <pc:docMk/>
            <pc:sldMk cId="587267323" sldId="256"/>
            <ac:cxnSpMk id="16" creationId="{EE2E603F-4A95-4FE8-BB06-211DFD75DBEF}"/>
          </ac:cxnSpMkLst>
        </pc:cxnChg>
      </pc:sldChg>
      <pc:sldChg chg="addSp modSp new mod setBg">
        <pc:chgData name="Chu Lin" userId="a9d5f5a05d2946b6" providerId="LiveId" clId="{A624DEA4-834B-44D9-BB5B-23A5D14AA4FA}" dt="2026-07-28T16:46:07.807" v="820" actId="14100"/>
        <pc:sldMkLst>
          <pc:docMk/>
          <pc:sldMk cId="1794515836" sldId="257"/>
        </pc:sldMkLst>
        <pc:spChg chg="mod">
          <ac:chgData name="Chu Lin" userId="a9d5f5a05d2946b6" providerId="LiveId" clId="{A624DEA4-834B-44D9-BB5B-23A5D14AA4FA}" dt="2026-07-28T16:29:12.713" v="816" actId="26606"/>
          <ac:spMkLst>
            <pc:docMk/>
            <pc:sldMk cId="1794515836" sldId="257"/>
            <ac:spMk id="2" creationId="{A185CA93-9840-3AEE-358A-4F5C1223A4C9}"/>
          </ac:spMkLst>
        </pc:spChg>
        <pc:spChg chg="mod">
          <ac:chgData name="Chu Lin" userId="a9d5f5a05d2946b6" providerId="LiveId" clId="{A624DEA4-834B-44D9-BB5B-23A5D14AA4FA}" dt="2026-07-28T16:46:07.807" v="820" actId="14100"/>
          <ac:spMkLst>
            <pc:docMk/>
            <pc:sldMk cId="1794515836" sldId="257"/>
            <ac:spMk id="3" creationId="{BB1AF080-7011-21E1-1EB7-0A49F706B79A}"/>
          </ac:spMkLst>
        </pc:spChg>
        <pc:spChg chg="add">
          <ac:chgData name="Chu Lin" userId="a9d5f5a05d2946b6" providerId="LiveId" clId="{A624DEA4-834B-44D9-BB5B-23A5D14AA4FA}" dt="2026-07-28T16:29:12.713" v="816" actId="26606"/>
          <ac:spMkLst>
            <pc:docMk/>
            <pc:sldMk cId="1794515836" sldId="257"/>
            <ac:spMk id="9" creationId="{660EB578-C970-4186-B93C-45851BBC6E34}"/>
          </ac:spMkLst>
        </pc:spChg>
        <pc:picChg chg="add">
          <ac:chgData name="Chu Lin" userId="a9d5f5a05d2946b6" providerId="LiveId" clId="{A624DEA4-834B-44D9-BB5B-23A5D14AA4FA}" dt="2026-07-28T16:29:12.713" v="816" actId="26606"/>
          <ac:picMkLst>
            <pc:docMk/>
            <pc:sldMk cId="1794515836" sldId="257"/>
            <ac:picMk id="5" creationId="{F4FD8933-0CA9-15E9-A038-A44493418014}"/>
          </ac:picMkLst>
        </pc:picChg>
        <pc:cxnChg chg="add">
          <ac:chgData name="Chu Lin" userId="a9d5f5a05d2946b6" providerId="LiveId" clId="{A624DEA4-834B-44D9-BB5B-23A5D14AA4FA}" dt="2026-07-28T16:29:12.713" v="816" actId="26606"/>
          <ac:cxnSpMkLst>
            <pc:docMk/>
            <pc:sldMk cId="1794515836" sldId="257"/>
            <ac:cxnSpMk id="11" creationId="{CDF57B02-07BB-407B-BB36-06D9C64A673E}"/>
          </ac:cxnSpMkLst>
        </pc:cxnChg>
        <pc:cxnChg chg="add">
          <ac:chgData name="Chu Lin" userId="a9d5f5a05d2946b6" providerId="LiveId" clId="{A624DEA4-834B-44D9-BB5B-23A5D14AA4FA}" dt="2026-07-28T16:29:12.713" v="816" actId="26606"/>
          <ac:cxnSpMkLst>
            <pc:docMk/>
            <pc:sldMk cId="1794515836" sldId="257"/>
            <ac:cxnSpMk id="13" creationId="{C6855964-C920-48EB-8804-74291211C8A9}"/>
          </ac:cxnSpMkLst>
        </pc:cxnChg>
      </pc:sldChg>
      <pc:sldChg chg="modSp new mod">
        <pc:chgData name="Chu Lin" userId="a9d5f5a05d2946b6" providerId="LiveId" clId="{A624DEA4-834B-44D9-BB5B-23A5D14AA4FA}" dt="2026-07-28T16:56:47.593" v="1199" actId="122"/>
        <pc:sldMkLst>
          <pc:docMk/>
          <pc:sldMk cId="1834914381" sldId="258"/>
        </pc:sldMkLst>
        <pc:spChg chg="mod">
          <ac:chgData name="Chu Lin" userId="a9d5f5a05d2946b6" providerId="LiveId" clId="{A624DEA4-834B-44D9-BB5B-23A5D14AA4FA}" dt="2026-07-28T16:46:36.106" v="837" actId="20577"/>
          <ac:spMkLst>
            <pc:docMk/>
            <pc:sldMk cId="1834914381" sldId="258"/>
            <ac:spMk id="2" creationId="{A430AB34-92BC-C984-BAA1-71F9E88D5F14}"/>
          </ac:spMkLst>
        </pc:spChg>
        <pc:spChg chg="mod">
          <ac:chgData name="Chu Lin" userId="a9d5f5a05d2946b6" providerId="LiveId" clId="{A624DEA4-834B-44D9-BB5B-23A5D14AA4FA}" dt="2026-07-28T16:56:47.593" v="1199" actId="122"/>
          <ac:spMkLst>
            <pc:docMk/>
            <pc:sldMk cId="1834914381" sldId="258"/>
            <ac:spMk id="3" creationId="{CA630A06-EE5D-4AFE-D8D3-9F4B27C440D5}"/>
          </ac:spMkLst>
        </pc:spChg>
      </pc:sldChg>
      <pc:sldChg chg="modSp new mod">
        <pc:chgData name="Chu Lin" userId="a9d5f5a05d2946b6" providerId="LiveId" clId="{A624DEA4-834B-44D9-BB5B-23A5D14AA4FA}" dt="2026-07-28T17:09:10.473" v="1783" actId="27636"/>
        <pc:sldMkLst>
          <pc:docMk/>
          <pc:sldMk cId="308415808" sldId="259"/>
        </pc:sldMkLst>
        <pc:spChg chg="mod">
          <ac:chgData name="Chu Lin" userId="a9d5f5a05d2946b6" providerId="LiveId" clId="{A624DEA4-834B-44D9-BB5B-23A5D14AA4FA}" dt="2026-07-28T16:58:15.834" v="1209" actId="20577"/>
          <ac:spMkLst>
            <pc:docMk/>
            <pc:sldMk cId="308415808" sldId="259"/>
            <ac:spMk id="2" creationId="{2F7E0243-07A4-B5B2-5852-E61B552D8CBC}"/>
          </ac:spMkLst>
        </pc:spChg>
        <pc:spChg chg="mod">
          <ac:chgData name="Chu Lin" userId="a9d5f5a05d2946b6" providerId="LiveId" clId="{A624DEA4-834B-44D9-BB5B-23A5D14AA4FA}" dt="2026-07-28T17:09:10.473" v="1783" actId="27636"/>
          <ac:spMkLst>
            <pc:docMk/>
            <pc:sldMk cId="308415808" sldId="259"/>
            <ac:spMk id="3" creationId="{A10EF83C-D423-48A2-B33A-FF477CA2D7ED}"/>
          </ac:spMkLst>
        </pc:spChg>
      </pc:sldChg>
      <pc:sldChg chg="modSp new mod">
        <pc:chgData name="Chu Lin" userId="a9d5f5a05d2946b6" providerId="LiveId" clId="{A624DEA4-834B-44D9-BB5B-23A5D14AA4FA}" dt="2026-07-28T17:17:46.619" v="2405" actId="20577"/>
        <pc:sldMkLst>
          <pc:docMk/>
          <pc:sldMk cId="2008255817" sldId="260"/>
        </pc:sldMkLst>
        <pc:spChg chg="mod">
          <ac:chgData name="Chu Lin" userId="a9d5f5a05d2946b6" providerId="LiveId" clId="{A624DEA4-834B-44D9-BB5B-23A5D14AA4FA}" dt="2026-07-28T17:10:01.273" v="1842" actId="20577"/>
          <ac:spMkLst>
            <pc:docMk/>
            <pc:sldMk cId="2008255817" sldId="260"/>
            <ac:spMk id="2" creationId="{E3DCD45F-1DD2-85AF-A4CC-B615755C1F28}"/>
          </ac:spMkLst>
        </pc:spChg>
        <pc:spChg chg="mod">
          <ac:chgData name="Chu Lin" userId="a9d5f5a05d2946b6" providerId="LiveId" clId="{A624DEA4-834B-44D9-BB5B-23A5D14AA4FA}" dt="2026-07-28T17:17:46.619" v="2405" actId="20577"/>
          <ac:spMkLst>
            <pc:docMk/>
            <pc:sldMk cId="2008255817" sldId="260"/>
            <ac:spMk id="3" creationId="{2C777A30-489D-E084-58E9-4B8912F7B4FC}"/>
          </ac:spMkLst>
        </pc:spChg>
      </pc:sldChg>
      <pc:sldMasterChg chg="add addSldLayout">
        <pc:chgData name="Chu Lin" userId="a9d5f5a05d2946b6" providerId="LiveId" clId="{A624DEA4-834B-44D9-BB5B-23A5D14AA4FA}" dt="2026-07-28T15:55:51.189" v="3" actId="26606"/>
        <pc:sldMasterMkLst>
          <pc:docMk/>
          <pc:sldMasterMk cId="2527336704" sldId="2147483699"/>
        </pc:sldMasterMkLst>
        <pc:sldLayoutChg chg="add">
          <pc:chgData name="Chu Lin" userId="a9d5f5a05d2946b6" providerId="LiveId" clId="{A624DEA4-834B-44D9-BB5B-23A5D14AA4FA}" dt="2026-07-28T15:55:51.189" v="3" actId="26606"/>
          <pc:sldLayoutMkLst>
            <pc:docMk/>
            <pc:sldMasterMk cId="2527336704" sldId="2147483699"/>
            <pc:sldLayoutMk cId="1626234580" sldId="2147483688"/>
          </pc:sldLayoutMkLst>
        </pc:sldLayoutChg>
        <pc:sldLayoutChg chg="add">
          <pc:chgData name="Chu Lin" userId="a9d5f5a05d2946b6" providerId="LiveId" clId="{A624DEA4-834B-44D9-BB5B-23A5D14AA4FA}" dt="2026-07-28T15:55:51.189" v="3" actId="26606"/>
          <pc:sldLayoutMkLst>
            <pc:docMk/>
            <pc:sldMasterMk cId="2527336704" sldId="2147483699"/>
            <pc:sldLayoutMk cId="246242940" sldId="2147483689"/>
          </pc:sldLayoutMkLst>
        </pc:sldLayoutChg>
        <pc:sldLayoutChg chg="add">
          <pc:chgData name="Chu Lin" userId="a9d5f5a05d2946b6" providerId="LiveId" clId="{A624DEA4-834B-44D9-BB5B-23A5D14AA4FA}" dt="2026-07-28T15:55:51.189" v="3" actId="26606"/>
          <pc:sldLayoutMkLst>
            <pc:docMk/>
            <pc:sldMasterMk cId="2527336704" sldId="2147483699"/>
            <pc:sldLayoutMk cId="2819239046" sldId="2147483690"/>
          </pc:sldLayoutMkLst>
        </pc:sldLayoutChg>
        <pc:sldLayoutChg chg="add">
          <pc:chgData name="Chu Lin" userId="a9d5f5a05d2946b6" providerId="LiveId" clId="{A624DEA4-834B-44D9-BB5B-23A5D14AA4FA}" dt="2026-07-28T15:55:51.189" v="3" actId="26606"/>
          <pc:sldLayoutMkLst>
            <pc:docMk/>
            <pc:sldMasterMk cId="2527336704" sldId="2147483699"/>
            <pc:sldLayoutMk cId="889695167" sldId="2147483691"/>
          </pc:sldLayoutMkLst>
        </pc:sldLayoutChg>
        <pc:sldLayoutChg chg="add">
          <pc:chgData name="Chu Lin" userId="a9d5f5a05d2946b6" providerId="LiveId" clId="{A624DEA4-834B-44D9-BB5B-23A5D14AA4FA}" dt="2026-07-28T15:55:51.189" v="3" actId="26606"/>
          <pc:sldLayoutMkLst>
            <pc:docMk/>
            <pc:sldMasterMk cId="2527336704" sldId="2147483699"/>
            <pc:sldLayoutMk cId="3692133190" sldId="2147483692"/>
          </pc:sldLayoutMkLst>
        </pc:sldLayoutChg>
        <pc:sldLayoutChg chg="add">
          <pc:chgData name="Chu Lin" userId="a9d5f5a05d2946b6" providerId="LiveId" clId="{A624DEA4-834B-44D9-BB5B-23A5D14AA4FA}" dt="2026-07-28T15:55:51.189" v="3" actId="26606"/>
          <pc:sldLayoutMkLst>
            <pc:docMk/>
            <pc:sldMasterMk cId="2527336704" sldId="2147483699"/>
            <pc:sldLayoutMk cId="3443152721" sldId="2147483693"/>
          </pc:sldLayoutMkLst>
        </pc:sldLayoutChg>
        <pc:sldLayoutChg chg="add">
          <pc:chgData name="Chu Lin" userId="a9d5f5a05d2946b6" providerId="LiveId" clId="{A624DEA4-834B-44D9-BB5B-23A5D14AA4FA}" dt="2026-07-28T15:55:51.189" v="3" actId="26606"/>
          <pc:sldLayoutMkLst>
            <pc:docMk/>
            <pc:sldMasterMk cId="2527336704" sldId="2147483699"/>
            <pc:sldLayoutMk cId="3120545322" sldId="2147483694"/>
          </pc:sldLayoutMkLst>
        </pc:sldLayoutChg>
        <pc:sldLayoutChg chg="add">
          <pc:chgData name="Chu Lin" userId="a9d5f5a05d2946b6" providerId="LiveId" clId="{A624DEA4-834B-44D9-BB5B-23A5D14AA4FA}" dt="2026-07-28T15:55:51.189" v="3" actId="26606"/>
          <pc:sldLayoutMkLst>
            <pc:docMk/>
            <pc:sldMasterMk cId="2527336704" sldId="2147483699"/>
            <pc:sldLayoutMk cId="2345374442" sldId="2147483695"/>
          </pc:sldLayoutMkLst>
        </pc:sldLayoutChg>
        <pc:sldLayoutChg chg="add">
          <pc:chgData name="Chu Lin" userId="a9d5f5a05d2946b6" providerId="LiveId" clId="{A624DEA4-834B-44D9-BB5B-23A5D14AA4FA}" dt="2026-07-28T15:55:51.189" v="3" actId="26606"/>
          <pc:sldLayoutMkLst>
            <pc:docMk/>
            <pc:sldMasterMk cId="2527336704" sldId="2147483699"/>
            <pc:sldLayoutMk cId="3376525443" sldId="2147483696"/>
          </pc:sldLayoutMkLst>
        </pc:sldLayoutChg>
        <pc:sldLayoutChg chg="add">
          <pc:chgData name="Chu Lin" userId="a9d5f5a05d2946b6" providerId="LiveId" clId="{A624DEA4-834B-44D9-BB5B-23A5D14AA4FA}" dt="2026-07-28T15:55:51.189" v="3" actId="26606"/>
          <pc:sldLayoutMkLst>
            <pc:docMk/>
            <pc:sldMasterMk cId="2527336704" sldId="2147483699"/>
            <pc:sldLayoutMk cId="1682572733" sldId="2147483697"/>
          </pc:sldLayoutMkLst>
        </pc:sldLayoutChg>
        <pc:sldLayoutChg chg="add">
          <pc:chgData name="Chu Lin" userId="a9d5f5a05d2946b6" providerId="LiveId" clId="{A624DEA4-834B-44D9-BB5B-23A5D14AA4FA}" dt="2026-07-28T15:55:51.189" v="3" actId="26606"/>
          <pc:sldLayoutMkLst>
            <pc:docMk/>
            <pc:sldMasterMk cId="2527336704" sldId="2147483699"/>
            <pc:sldLayoutMk cId="1074215669"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7/31/2026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20545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7/31/2026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45374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7/31/2026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6525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7/31/2026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2572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7/31/2026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4215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7/31/2026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92133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7/31/2026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26234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7/31/2026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6242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7/31/2026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19239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7/31/2026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89695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7/31/2026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43152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7/31/2026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33670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DF4A85-75ED-1BE5-0D62-02641E30F8DD}"/>
              </a:ext>
            </a:extLst>
          </p:cNvPr>
          <p:cNvSpPr>
            <a:spLocks noGrp="1"/>
          </p:cNvSpPr>
          <p:nvPr>
            <p:ph type="ctrTitle"/>
          </p:nvPr>
        </p:nvSpPr>
        <p:spPr>
          <a:xfrm>
            <a:off x="703400" y="908651"/>
            <a:ext cx="4937004" cy="4058682"/>
          </a:xfrm>
        </p:spPr>
        <p:txBody>
          <a:bodyPr anchor="t">
            <a:normAutofit fontScale="90000"/>
          </a:bodyPr>
          <a:lstStyle/>
          <a:p>
            <a:r>
              <a:rPr lang="en-US" sz="6500" dirty="0"/>
              <a:t>Structured and amenable to intervention</a:t>
            </a:r>
            <a:br>
              <a:rPr lang="en-US" sz="6500" dirty="0"/>
            </a:br>
            <a:endParaRPr lang="en-US" sz="6500" dirty="0"/>
          </a:p>
        </p:txBody>
      </p:sp>
      <p:sp>
        <p:nvSpPr>
          <p:cNvPr id="3" name="Subtitle 2">
            <a:extLst>
              <a:ext uri="{FF2B5EF4-FFF2-40B4-BE49-F238E27FC236}">
                <a16:creationId xmlns:a16="http://schemas.microsoft.com/office/drawing/2014/main" id="{91D21AF5-E4DD-D33F-6A76-78D6AC849366}"/>
              </a:ext>
            </a:extLst>
          </p:cNvPr>
          <p:cNvSpPr>
            <a:spLocks noGrp="1"/>
          </p:cNvSpPr>
          <p:nvPr>
            <p:ph type="subTitle" idx="1"/>
          </p:nvPr>
        </p:nvSpPr>
        <p:spPr>
          <a:xfrm>
            <a:off x="703400" y="5103862"/>
            <a:ext cx="4172757" cy="845487"/>
          </a:xfrm>
        </p:spPr>
        <p:txBody>
          <a:bodyPr anchor="b">
            <a:normAutofit/>
          </a:bodyPr>
          <a:lstStyle/>
          <a:p>
            <a:r>
              <a:rPr lang="en-US" dirty="0"/>
              <a:t>Chu</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7DB366AC-3230-8436-C5A5-50F595F2E770}"/>
              </a:ext>
            </a:extLst>
          </p:cNvPr>
          <p:cNvPicPr>
            <a:picLocks noChangeAspect="1"/>
          </p:cNvPicPr>
          <p:nvPr/>
        </p:nvPicPr>
        <p:blipFill>
          <a:blip r:embed="rId2"/>
          <a:srcRect l="45907" r="850"/>
          <a:stretch>
            <a:fillRect/>
          </a:stretch>
        </p:blipFill>
        <p:spPr>
          <a:xfrm>
            <a:off x="6326272" y="10"/>
            <a:ext cx="5865727" cy="6857990"/>
          </a:xfrm>
          <a:prstGeom prst="rect">
            <a:avLst/>
          </a:prstGeom>
        </p:spPr>
      </p:pic>
    </p:spTree>
    <p:extLst>
      <p:ext uri="{BB962C8B-B14F-4D97-AF65-F5344CB8AC3E}">
        <p14:creationId xmlns:p14="http://schemas.microsoft.com/office/powerpoint/2010/main" val="58726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5CA93-9840-3AEE-358A-4F5C1223A4C9}"/>
              </a:ext>
            </a:extLst>
          </p:cNvPr>
          <p:cNvSpPr>
            <a:spLocks noGrp="1"/>
          </p:cNvSpPr>
          <p:nvPr>
            <p:ph type="title"/>
          </p:nvPr>
        </p:nvSpPr>
        <p:spPr>
          <a:xfrm>
            <a:off x="4866968" y="914400"/>
            <a:ext cx="6627924" cy="1307592"/>
          </a:xfrm>
        </p:spPr>
        <p:txBody>
          <a:bodyPr>
            <a:normAutofit/>
          </a:bodyPr>
          <a:lstStyle/>
          <a:p>
            <a:r>
              <a:rPr lang="en-US" dirty="0"/>
              <a:t>Env setting</a:t>
            </a:r>
          </a:p>
        </p:txBody>
      </p:sp>
      <p:pic>
        <p:nvPicPr>
          <p:cNvPr id="5" name="Picture 4" descr="Gear with compass turning gears without">
            <a:extLst>
              <a:ext uri="{FF2B5EF4-FFF2-40B4-BE49-F238E27FC236}">
                <a16:creationId xmlns:a16="http://schemas.microsoft.com/office/drawing/2014/main" id="{F4FD8933-0CA9-15E9-A038-A44493418014}"/>
              </a:ext>
            </a:extLst>
          </p:cNvPr>
          <p:cNvPicPr>
            <a:picLocks noChangeAspect="1"/>
          </p:cNvPicPr>
          <p:nvPr/>
        </p:nvPicPr>
        <p:blipFill>
          <a:blip r:embed="rId2"/>
          <a:srcRect l="34463" r="24705" b="2"/>
          <a:stretch>
            <a:fillRect/>
          </a:stretch>
        </p:blipFill>
        <p:spPr>
          <a:xfrm>
            <a:off x="20" y="-17929"/>
            <a:ext cx="4206220" cy="6875929"/>
          </a:xfrm>
          <a:prstGeom prst="rect">
            <a:avLst/>
          </a:prstGeom>
        </p:spPr>
      </p:pic>
      <p:cxnSp>
        <p:nvCxnSpPr>
          <p:cNvPr id="11" name="Straight Connector 10">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1AF080-7011-21E1-1EB7-0A49F706B79A}"/>
                  </a:ext>
                </a:extLst>
              </p:cNvPr>
              <p:cNvSpPr>
                <a:spLocks noGrp="1"/>
              </p:cNvSpPr>
              <p:nvPr>
                <p:ph idx="1"/>
              </p:nvPr>
            </p:nvSpPr>
            <p:spPr>
              <a:xfrm>
                <a:off x="4866968" y="2221991"/>
                <a:ext cx="6627924" cy="3922778"/>
              </a:xfrm>
            </p:spPr>
            <p:txBody>
              <a:bodyPr>
                <a:normAutofit/>
              </a:bodyPr>
              <a:lstStyle/>
              <a:p>
                <a:pPr>
                  <a:lnSpc>
                    <a:spcPct val="100000"/>
                  </a:lnSpc>
                </a:pPr>
                <a:r>
                  <a:rPr lang="en-US" sz="1600" dirty="0"/>
                  <a:t>The first idea is based on the simple environment. Let’s say there is a two balls, and their states are: (position and velocity), then we have:</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𝑠</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2</m:t>
                          </m:r>
                        </m:sub>
                      </m:sSub>
                      <m:r>
                        <a:rPr lang="en-US" sz="1600" b="0" i="1" smtClean="0">
                          <a:latin typeface="Cambria Math" panose="02040503050406030204" pitchFamily="18" charset="0"/>
                        </a:rPr>
                        <m:t>)</m:t>
                      </m:r>
                    </m:oMath>
                  </m:oMathPara>
                </a14:m>
                <a:endParaRPr lang="en-US" sz="1600" dirty="0"/>
              </a:p>
              <a:p>
                <a:pPr>
                  <a:lnSpc>
                    <a:spcPct val="100000"/>
                  </a:lnSpc>
                </a:pPr>
                <a:r>
                  <a:rPr lang="en-US" sz="1600" dirty="0"/>
                  <a:t>And the action: Push right or action = +1N, in the future, I want it be the joint velocity or torque. But now we only consider the simplest case: left and right.</a:t>
                </a:r>
              </a:p>
              <a:p>
                <a:pPr>
                  <a:lnSpc>
                    <a:spcPct val="100000"/>
                  </a:lnSpc>
                </a:pPr>
                <a:endParaRPr lang="en-US" sz="1600" dirty="0"/>
              </a:p>
              <a:p>
                <a:pPr>
                  <a:lnSpc>
                    <a:spcPct val="100000"/>
                  </a:lnSpc>
                </a:pPr>
                <a:r>
                  <a:rPr lang="en-US" sz="1600" dirty="0"/>
                  <a:t>Dynamics setting: if we don’t have interaction, how will position updates? Here I used simple case by physics method:</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r>
                        <a:rPr lang="en-US" sz="1600" b="0" i="1" smtClean="0">
                          <a:latin typeface="Cambria Math" panose="02040503050406030204" pitchFamily="18" charset="0"/>
                        </a:rPr>
                        <m:t>𝑎</m:t>
                      </m:r>
                      <m:r>
                        <m:rPr>
                          <m:sty m:val="p"/>
                        </m:rPr>
                        <a:rPr lang="en-US" sz="1600" b="0" i="0" smtClean="0">
                          <a:latin typeface="Cambria Math" panose="02040503050406030204" pitchFamily="18" charset="0"/>
                        </a:rPr>
                        <m:t>Δ</m:t>
                      </m:r>
                      <m:r>
                        <a:rPr lang="en-US" sz="1600" b="0" i="1" smtClean="0">
                          <a:latin typeface="Cambria Math" panose="02040503050406030204" pitchFamily="18" charset="0"/>
                        </a:rPr>
                        <m:t>𝑡</m:t>
                      </m:r>
                    </m:oMath>
                  </m:oMathPara>
                </a14:m>
                <a:endParaRPr lang="en-US" sz="1600" dirty="0"/>
              </a:p>
              <a:p>
                <a:pPr marL="0" indent="0">
                  <a:lnSpc>
                    <a:spcPct val="100000"/>
                  </a:lnSpc>
                  <a:buNone/>
                </a:pPr>
                <a:r>
                  <a:rPr lang="en-US" sz="1600" dirty="0"/>
                  <a:t>And update the position by:</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𝑥</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m:rPr>
                          <m:sty m:val="p"/>
                        </m:rPr>
                        <a:rPr lang="en-US" sz="1600" b="0" i="0" smtClean="0">
                          <a:latin typeface="Cambria Math" panose="02040503050406030204" pitchFamily="18" charset="0"/>
                        </a:rPr>
                        <m:t>Δ</m:t>
                      </m:r>
                      <m:r>
                        <a:rPr lang="en-US" sz="1600" b="0" i="1" smtClean="0">
                          <a:latin typeface="Cambria Math" panose="02040503050406030204" pitchFamily="18" charset="0"/>
                        </a:rPr>
                        <m:t>𝑡</m:t>
                      </m:r>
                    </m:oMath>
                  </m:oMathPara>
                </a14:m>
                <a:endParaRPr lang="en-US" sz="1600" dirty="0"/>
              </a:p>
            </p:txBody>
          </p:sp>
        </mc:Choice>
        <mc:Fallback xmlns="">
          <p:sp>
            <p:nvSpPr>
              <p:cNvPr id="3" name="Content Placeholder 2">
                <a:extLst>
                  <a:ext uri="{FF2B5EF4-FFF2-40B4-BE49-F238E27FC236}">
                    <a16:creationId xmlns:a16="http://schemas.microsoft.com/office/drawing/2014/main" id="{BB1AF080-7011-21E1-1EB7-0A49F706B79A}"/>
                  </a:ext>
                </a:extLst>
              </p:cNvPr>
              <p:cNvSpPr>
                <a:spLocks noGrp="1" noRot="1" noChangeAspect="1" noMove="1" noResize="1" noEditPoints="1" noAdjustHandles="1" noChangeArrowheads="1" noChangeShapeType="1" noTextEdit="1"/>
              </p:cNvSpPr>
              <p:nvPr>
                <p:ph idx="1"/>
              </p:nvPr>
            </p:nvSpPr>
            <p:spPr>
              <a:xfrm>
                <a:off x="4866968" y="2221991"/>
                <a:ext cx="6627924" cy="3922778"/>
              </a:xfrm>
              <a:blipFill>
                <a:blip r:embed="rId3"/>
                <a:stretch>
                  <a:fillRect l="-460" t="-311"/>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4515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430AB34-92BC-C984-BAA1-71F9E88D5F14}"/>
              </a:ext>
            </a:extLst>
          </p:cNvPr>
          <p:cNvSpPr>
            <a:spLocks noGrp="1"/>
          </p:cNvSpPr>
          <p:nvPr>
            <p:ph type="title"/>
          </p:nvPr>
        </p:nvSpPr>
        <p:spPr>
          <a:xfrm>
            <a:off x="954823" y="1705460"/>
            <a:ext cx="4265763" cy="1593185"/>
          </a:xfrm>
        </p:spPr>
        <p:txBody>
          <a:bodyPr anchor="t">
            <a:normAutofit/>
          </a:bodyPr>
          <a:lstStyle/>
          <a:p>
            <a:r>
              <a:rPr lang="en-US" sz="4200"/>
              <a:t>The agent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630A06-EE5D-4AFE-D8D3-9F4B27C440D5}"/>
                  </a:ext>
                </a:extLst>
              </p:cNvPr>
              <p:cNvSpPr>
                <a:spLocks noGrp="1"/>
              </p:cNvSpPr>
              <p:nvPr>
                <p:ph idx="1"/>
              </p:nvPr>
            </p:nvSpPr>
            <p:spPr>
              <a:xfrm>
                <a:off x="5871353" y="1796458"/>
                <a:ext cx="5483190" cy="4457453"/>
              </a:xfrm>
            </p:spPr>
            <p:txBody>
              <a:bodyPr>
                <a:normAutofit/>
              </a:bodyPr>
              <a:lstStyle/>
              <a:p>
                <a:r>
                  <a:rPr lang="en-US" dirty="0"/>
                  <a:t>The agent: Push Right, and the push is the ‘force’ concept. Based on Newton's second law:</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oMath>
                  </m:oMathPara>
                </a14:m>
                <a:endParaRPr lang="en-US" dirty="0"/>
              </a:p>
              <a:p>
                <a:pPr marL="0" indent="0">
                  <a:buNone/>
                </a:pPr>
                <a:r>
                  <a:rPr lang="en-US" dirty="0"/>
                  <a:t>We got: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𝑚</m:t>
                          </m:r>
                        </m:den>
                      </m:f>
                    </m:oMath>
                  </m:oMathPara>
                </a14:m>
                <a:endParaRPr lang="en-US" dirty="0"/>
              </a:p>
              <a:p>
                <a:pPr marL="0" indent="0">
                  <a:buNone/>
                </a:pPr>
                <a:r>
                  <a:rPr lang="en-US" dirty="0"/>
                  <a:t>If force = 4N, mass = 2kg, then Acceleration=</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oMath>
                </a14:m>
                <a:r>
                  <a:rPr lang="en-US" dirty="0"/>
                  <a:t>. Which means Action will not change the position, instead:</a:t>
                </a:r>
              </a:p>
              <a:p>
                <a:pPr marL="0" indent="0">
                  <a:buNone/>
                </a:pPr>
                <a:r>
                  <a:rPr lang="en-US" dirty="0"/>
                  <a:t>Action -&gt; force -&gt; acceleration -&gt; velocity -&gt; position</a:t>
                </a:r>
                <a:endParaRPr lang="en-US"/>
              </a:p>
              <a:p>
                <a:pPr marL="0" indent="0">
                  <a:buNone/>
                </a:pPr>
                <a:endParaRPr lang="en-US" dirty="0"/>
              </a:p>
            </p:txBody>
          </p:sp>
        </mc:Choice>
        <mc:Fallback xmlns="">
          <p:sp>
            <p:nvSpPr>
              <p:cNvPr id="3" name="Content Placeholder 2">
                <a:extLst>
                  <a:ext uri="{FF2B5EF4-FFF2-40B4-BE49-F238E27FC236}">
                    <a16:creationId xmlns:a16="http://schemas.microsoft.com/office/drawing/2014/main" id="{CA630A06-EE5D-4AFE-D8D3-9F4B27C440D5}"/>
                  </a:ext>
                </a:extLst>
              </p:cNvPr>
              <p:cNvSpPr>
                <a:spLocks noGrp="1" noRot="1" noChangeAspect="1" noMove="1" noResize="1" noEditPoints="1" noAdjustHandles="1" noChangeArrowheads="1" noChangeShapeType="1" noTextEdit="1"/>
              </p:cNvSpPr>
              <p:nvPr>
                <p:ph idx="1"/>
              </p:nvPr>
            </p:nvSpPr>
            <p:spPr>
              <a:xfrm>
                <a:off x="5871353" y="1796458"/>
                <a:ext cx="5483190" cy="4457453"/>
              </a:xfrm>
              <a:blipFill>
                <a:blip r:embed="rId2"/>
                <a:stretch>
                  <a:fillRect l="-1111" t="-684" b="-1915"/>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F6DB4BEA-22D1-9BE0-1F06-BAFE567B5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3435170"/>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491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0243-07A4-B5B2-5852-E61B552D8CBC}"/>
              </a:ext>
            </a:extLst>
          </p:cNvPr>
          <p:cNvSpPr>
            <a:spLocks noGrp="1"/>
          </p:cNvSpPr>
          <p:nvPr>
            <p:ph type="title"/>
          </p:nvPr>
        </p:nvSpPr>
        <p:spPr/>
        <p:txBody>
          <a:bodyPr/>
          <a:lstStyle/>
          <a:p>
            <a:r>
              <a:rPr lang="en-US" dirty="0"/>
              <a:t>Collision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0EF83C-D423-48A2-B33A-FF477CA2D7ED}"/>
                  </a:ext>
                </a:extLst>
              </p:cNvPr>
              <p:cNvSpPr>
                <a:spLocks noGrp="1"/>
              </p:cNvSpPr>
              <p:nvPr>
                <p:ph idx="1"/>
              </p:nvPr>
            </p:nvSpPr>
            <p:spPr>
              <a:xfrm>
                <a:off x="700635" y="2221991"/>
                <a:ext cx="10691265" cy="3953725"/>
              </a:xfrm>
            </p:spPr>
            <p:txBody>
              <a:bodyPr>
                <a:normAutofit fontScale="92500" lnSpcReduction="20000"/>
              </a:bodyPr>
              <a:lstStyle/>
              <a:p>
                <a:r>
                  <a:rPr lang="en-US" dirty="0"/>
                  <a:t>How do we know when the balls will occur collision?</a:t>
                </a:r>
              </a:p>
              <a:p>
                <a:r>
                  <a:rPr lang="en-US" dirty="0"/>
                  <a:t>Fellow the easy distance equation: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p>
                <a:pPr marL="0" indent="0">
                  <a:buNone/>
                </a:pPr>
                <a:r>
                  <a:rPr lang="en-US" dirty="0"/>
                  <a:t>So assuming that if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oMath>
                </a14:m>
                <a:r>
                  <a:rPr lang="en-US" dirty="0"/>
                  <a:t>, which means two balls will occur collision.</a:t>
                </a:r>
              </a:p>
              <a:p>
                <a:r>
                  <a:rPr lang="en-US" dirty="0"/>
                  <a:t>How about after the collision?</a:t>
                </a:r>
              </a:p>
              <a:p>
                <a:r>
                  <a:rPr lang="en-US" dirty="0"/>
                  <a:t>Also based on the physical theory:</a:t>
                </a:r>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m:oMathPara>
                </a14:m>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den>
                      </m:f>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2</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1</m:t>
                              </m:r>
                            </m:sub>
                          </m:sSub>
                        </m:num>
                        <m:den>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den>
                      </m:f>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p>
                <a:pPr marL="0" indent="0">
                  <a:buNone/>
                </a:pPr>
                <a:r>
                  <a:rPr lang="en-US" dirty="0"/>
                  <a:t>From these equations we can directly calculate the environment without the network</a:t>
                </a:r>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A10EF83C-D423-48A2-B33A-FF477CA2D7ED}"/>
                  </a:ext>
                </a:extLst>
              </p:cNvPr>
              <p:cNvSpPr>
                <a:spLocks noGrp="1" noRot="1" noChangeAspect="1" noMove="1" noResize="1" noEditPoints="1" noAdjustHandles="1" noChangeArrowheads="1" noChangeShapeType="1" noTextEdit="1"/>
              </p:cNvSpPr>
              <p:nvPr>
                <p:ph idx="1"/>
              </p:nvPr>
            </p:nvSpPr>
            <p:spPr>
              <a:xfrm>
                <a:off x="700635" y="2221991"/>
                <a:ext cx="10691265" cy="3953725"/>
              </a:xfrm>
              <a:blipFill>
                <a:blip r:embed="rId2"/>
                <a:stretch>
                  <a:fillRect l="-570" t="-1541" b="-1387"/>
                </a:stretch>
              </a:blipFill>
            </p:spPr>
            <p:txBody>
              <a:bodyPr/>
              <a:lstStyle/>
              <a:p>
                <a:r>
                  <a:rPr lang="en-US">
                    <a:noFill/>
                  </a:rPr>
                  <a:t> </a:t>
                </a:r>
              </a:p>
            </p:txBody>
          </p:sp>
        </mc:Fallback>
      </mc:AlternateContent>
    </p:spTree>
    <p:extLst>
      <p:ext uri="{BB962C8B-B14F-4D97-AF65-F5344CB8AC3E}">
        <p14:creationId xmlns:p14="http://schemas.microsoft.com/office/powerpoint/2010/main" val="308415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CD45F-1DD2-85AF-A4CC-B615755C1F28}"/>
              </a:ext>
            </a:extLst>
          </p:cNvPr>
          <p:cNvSpPr>
            <a:spLocks noGrp="1"/>
          </p:cNvSpPr>
          <p:nvPr>
            <p:ph type="title"/>
          </p:nvPr>
        </p:nvSpPr>
        <p:spPr>
          <a:xfrm>
            <a:off x="704088" y="914400"/>
            <a:ext cx="6239599" cy="1307590"/>
          </a:xfrm>
        </p:spPr>
        <p:txBody>
          <a:bodyPr>
            <a:normAutofit/>
          </a:bodyPr>
          <a:lstStyle/>
          <a:p>
            <a:pPr>
              <a:lnSpc>
                <a:spcPct val="90000"/>
              </a:lnSpc>
            </a:pPr>
            <a:r>
              <a:rPr lang="en-US" dirty="0"/>
              <a:t>surrounding setting (wall, friction)</a:t>
            </a:r>
            <a:endParaRPr lang="en-US"/>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77A30-489D-E084-58E9-4B8912F7B4FC}"/>
                  </a:ext>
                </a:extLst>
              </p:cNvPr>
              <p:cNvSpPr>
                <a:spLocks noGrp="1"/>
              </p:cNvSpPr>
              <p:nvPr>
                <p:ph idx="1"/>
              </p:nvPr>
            </p:nvSpPr>
            <p:spPr>
              <a:xfrm>
                <a:off x="704088" y="2221992"/>
                <a:ext cx="6239599" cy="3941064"/>
              </a:xfrm>
            </p:spPr>
            <p:txBody>
              <a:bodyPr>
                <a:normAutofit/>
              </a:bodyPr>
              <a:lstStyle/>
              <a:p>
                <a:pPr>
                  <a:lnSpc>
                    <a:spcPct val="100000"/>
                  </a:lnSpc>
                </a:pPr>
                <a:r>
                  <a:rPr lang="en-US" sz="1900"/>
                  <a:t>If the balls hit the wall what will </a:t>
                </a:r>
                <a:r>
                  <a:rPr lang="en-US" sz="1900" err="1"/>
                  <a:t>happend</a:t>
                </a:r>
                <a:r>
                  <a:rPr lang="en-US" sz="1900"/>
                  <a:t>?</a:t>
                </a:r>
              </a:p>
              <a:p>
                <a:pPr>
                  <a:lnSpc>
                    <a:spcPct val="100000"/>
                  </a:lnSpc>
                </a:pPr>
                <a:r>
                  <a:rPr lang="en-US" sz="1900"/>
                  <a:t>We call it Coefficient of Restitution:</a:t>
                </a:r>
              </a:p>
              <a:p>
                <a:pPr marL="0" indent="0">
                  <a:lnSpc>
                    <a:spcPct val="100000"/>
                  </a:lnSpc>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𝑣</m:t>
                      </m:r>
                      <m:r>
                        <a:rPr lang="en-US" sz="1900" b="0" i="1" smtClean="0">
                          <a:latin typeface="Cambria Math" panose="02040503050406030204" pitchFamily="18" charset="0"/>
                        </a:rPr>
                        <m:t>`=−</m:t>
                      </m:r>
                      <m:r>
                        <a:rPr lang="en-US" sz="1900" b="0" i="1" smtClean="0">
                          <a:latin typeface="Cambria Math" panose="02040503050406030204" pitchFamily="18" charset="0"/>
                        </a:rPr>
                        <m:t>𝑒𝑣</m:t>
                      </m:r>
                    </m:oMath>
                  </m:oMathPara>
                </a14:m>
                <a:endParaRPr lang="en-US" sz="1900"/>
              </a:p>
              <a:p>
                <a:pPr>
                  <a:lnSpc>
                    <a:spcPct val="100000"/>
                  </a:lnSpc>
                </a:pPr>
                <a:r>
                  <a:rPr lang="en-US" sz="1900"/>
                  <a:t>With the friction:</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𝐹</m:t>
                          </m:r>
                        </m:e>
                        <m:sub>
                          <m:r>
                            <a:rPr lang="en-US" sz="1900" b="0" i="1" smtClean="0">
                              <a:latin typeface="Cambria Math" panose="02040503050406030204" pitchFamily="18" charset="0"/>
                            </a:rPr>
                            <m:t>𝑓</m:t>
                          </m:r>
                        </m:sub>
                      </m:sSub>
                      <m:r>
                        <a:rPr lang="en-US" sz="1900" b="0" i="1" smtClean="0">
                          <a:latin typeface="Cambria Math" panose="02040503050406030204" pitchFamily="18" charset="0"/>
                        </a:rPr>
                        <m:t>=</m:t>
                      </m:r>
                      <m:r>
                        <a:rPr lang="en-US" sz="1900" b="0" i="1" smtClean="0">
                          <a:latin typeface="Cambria Math" panose="02040503050406030204" pitchFamily="18" charset="0"/>
                        </a:rPr>
                        <m:t>𝜇</m:t>
                      </m:r>
                      <m:r>
                        <a:rPr lang="en-US" sz="1900" b="0" i="1" smtClean="0">
                          <a:latin typeface="Cambria Math" panose="02040503050406030204" pitchFamily="18" charset="0"/>
                        </a:rPr>
                        <m:t>𝑁</m:t>
                      </m:r>
                    </m:oMath>
                  </m:oMathPara>
                </a14:m>
                <a:endParaRPr lang="en-US" sz="1900"/>
              </a:p>
              <a:p>
                <a:pPr>
                  <a:lnSpc>
                    <a:spcPct val="100000"/>
                  </a:lnSpc>
                </a:pPr>
                <a:r>
                  <a:rPr lang="en-US" sz="1900"/>
                  <a:t>Acceleration will be:</a:t>
                </a:r>
              </a:p>
              <a:p>
                <a:pPr marL="0" indent="0">
                  <a:lnSpc>
                    <a:spcPct val="100000"/>
                  </a:lnSpc>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𝑎</m:t>
                      </m:r>
                      <m:r>
                        <a:rPr lang="en-US" sz="1900" b="0" i="1" smtClean="0">
                          <a:latin typeface="Cambria Math" panose="02040503050406030204" pitchFamily="18" charset="0"/>
                        </a:rPr>
                        <m:t>=−</m:t>
                      </m:r>
                      <m:r>
                        <a:rPr lang="en-US" sz="1900" b="0" i="1" smtClean="0">
                          <a:latin typeface="Cambria Math" panose="02040503050406030204" pitchFamily="18" charset="0"/>
                        </a:rPr>
                        <m:t>𝜇</m:t>
                      </m:r>
                      <m:r>
                        <a:rPr lang="en-US" sz="1900" b="0" i="1" smtClean="0">
                          <a:latin typeface="Cambria Math" panose="02040503050406030204" pitchFamily="18" charset="0"/>
                        </a:rPr>
                        <m:t>𝑔</m:t>
                      </m:r>
                    </m:oMath>
                  </m:oMathPara>
                </a14:m>
                <a:endParaRPr lang="en-US" sz="1900"/>
              </a:p>
              <a:p>
                <a:pPr>
                  <a:lnSpc>
                    <a:spcPct val="100000"/>
                  </a:lnSpc>
                </a:pPr>
                <a:r>
                  <a:rPr lang="en-US" sz="1900"/>
                  <a:t>The acceleration will decrease. But we haven’t considered about the noise exist, let’s say the gaussian noise: </a:t>
                </a:r>
                <a14:m>
                  <m:oMath xmlns:m="http://schemas.openxmlformats.org/officeDocument/2006/math">
                    <m:r>
                      <a:rPr lang="en-US" sz="1900" b="0" i="1" smtClean="0">
                        <a:latin typeface="Cambria Math" panose="02040503050406030204" pitchFamily="18" charset="0"/>
                      </a:rPr>
                      <m:t>𝑥</m:t>
                    </m:r>
                    <m:r>
                      <a:rPr lang="en-US" sz="1900" b="0" i="1" smtClean="0">
                        <a:latin typeface="Cambria Math" panose="02040503050406030204" pitchFamily="18" charset="0"/>
                      </a:rPr>
                      <m:t>=</m:t>
                    </m:r>
                    <m:r>
                      <a:rPr lang="en-US" sz="1900" b="0" i="1" smtClean="0">
                        <a:latin typeface="Cambria Math" panose="02040503050406030204" pitchFamily="18" charset="0"/>
                      </a:rPr>
                      <m:t>𝑥</m:t>
                    </m:r>
                    <m:r>
                      <a:rPr lang="en-US" sz="1900" b="0" i="1" smtClean="0">
                        <a:latin typeface="Cambria Math" panose="02040503050406030204" pitchFamily="18" charset="0"/>
                      </a:rPr>
                      <m:t>+</m:t>
                    </m:r>
                    <m:r>
                      <a:rPr lang="en-US" sz="1900" b="0" i="1" smtClean="0">
                        <a:latin typeface="Cambria Math" panose="02040503050406030204" pitchFamily="18" charset="0"/>
                        <a:ea typeface="Cambria Math" panose="02040503050406030204" pitchFamily="18" charset="0"/>
                      </a:rPr>
                      <m:t>𝜖</m:t>
                    </m:r>
                  </m:oMath>
                </a14:m>
                <a:r>
                  <a:rPr lang="en-US" sz="1900"/>
                  <a:t>, </a:t>
                </a:r>
                <a14:m>
                  <m:oMath xmlns:m="http://schemas.openxmlformats.org/officeDocument/2006/math">
                    <m:r>
                      <a:rPr lang="en-US" sz="1900" i="1">
                        <a:latin typeface="Cambria Math" panose="02040503050406030204" pitchFamily="18" charset="0"/>
                        <a:ea typeface="Cambria Math" panose="02040503050406030204" pitchFamily="18" charset="0"/>
                      </a:rPr>
                      <m:t>𝜖</m:t>
                    </m:r>
                    <m:r>
                      <a:rPr lang="en-US" sz="1900" b="0" i="1" smtClean="0">
                        <a:latin typeface="Cambria Math" panose="02040503050406030204" pitchFamily="18" charset="0"/>
                        <a:ea typeface="Cambria Math" panose="02040503050406030204" pitchFamily="18" charset="0"/>
                      </a:rPr>
                      <m:t>~</m:t>
                    </m:r>
                    <m:r>
                      <m:rPr>
                        <m:sty m:val="p"/>
                      </m:rPr>
                      <a:rPr lang="el-GR" sz="1900" b="0" i="1" smtClean="0">
                        <a:latin typeface="Cambria Math" panose="02040503050406030204" pitchFamily="18" charset="0"/>
                        <a:ea typeface="Cambria Math" panose="02040503050406030204" pitchFamily="18" charset="0"/>
                      </a:rPr>
                      <m:t>Ν</m:t>
                    </m:r>
                    <m:r>
                      <a:rPr lang="en-US" sz="1900" b="0" i="1" smtClean="0">
                        <a:latin typeface="Cambria Math" panose="02040503050406030204" pitchFamily="18" charset="0"/>
                        <a:ea typeface="Cambria Math" panose="02040503050406030204" pitchFamily="18" charset="0"/>
                      </a:rPr>
                      <m:t>(0,</m:t>
                    </m:r>
                    <m:sSup>
                      <m:sSupPr>
                        <m:ctrlPr>
                          <a:rPr lang="en-US" sz="1900" b="0" i="1" smtClean="0">
                            <a:latin typeface="Cambria Math" panose="02040503050406030204" pitchFamily="18" charset="0"/>
                            <a:ea typeface="Cambria Math" panose="02040503050406030204" pitchFamily="18" charset="0"/>
                          </a:rPr>
                        </m:ctrlPr>
                      </m:sSupPr>
                      <m:e>
                        <m:r>
                          <a:rPr lang="en-US" sz="1900" b="0" i="1" smtClean="0">
                            <a:latin typeface="Cambria Math" panose="02040503050406030204" pitchFamily="18" charset="0"/>
                            <a:ea typeface="Cambria Math" panose="02040503050406030204" pitchFamily="18" charset="0"/>
                          </a:rPr>
                          <m:t>𝜎</m:t>
                        </m:r>
                      </m:e>
                      <m:sup>
                        <m:r>
                          <a:rPr lang="en-US" sz="1900" b="0" i="1" smtClean="0">
                            <a:latin typeface="Cambria Math" panose="02040503050406030204" pitchFamily="18" charset="0"/>
                            <a:ea typeface="Cambria Math" panose="02040503050406030204" pitchFamily="18" charset="0"/>
                          </a:rPr>
                          <m:t>2</m:t>
                        </m:r>
                      </m:sup>
                    </m:sSup>
                    <m:r>
                      <a:rPr lang="en-US" sz="1900" b="0" i="1" smtClean="0">
                        <a:latin typeface="Cambria Math" panose="02040503050406030204" pitchFamily="18" charset="0"/>
                        <a:ea typeface="Cambria Math" panose="02040503050406030204" pitchFamily="18" charset="0"/>
                      </a:rPr>
                      <m:t>)</m:t>
                    </m:r>
                  </m:oMath>
                </a14:m>
                <a:r>
                  <a:rPr lang="en-US" sz="1900"/>
                  <a:t>, while the future OOD will be affected by Noise.</a:t>
                </a:r>
              </a:p>
            </p:txBody>
          </p:sp>
        </mc:Choice>
        <mc:Fallback xmlns="">
          <p:sp>
            <p:nvSpPr>
              <p:cNvPr id="3" name="Content Placeholder 2">
                <a:extLst>
                  <a:ext uri="{FF2B5EF4-FFF2-40B4-BE49-F238E27FC236}">
                    <a16:creationId xmlns:a16="http://schemas.microsoft.com/office/drawing/2014/main" id="{2C777A30-489D-E084-58E9-4B8912F7B4FC}"/>
                  </a:ext>
                </a:extLst>
              </p:cNvPr>
              <p:cNvSpPr>
                <a:spLocks noGrp="1" noRot="1" noChangeAspect="1" noMove="1" noResize="1" noEditPoints="1" noAdjustHandles="1" noChangeArrowheads="1" noChangeShapeType="1" noTextEdit="1"/>
              </p:cNvSpPr>
              <p:nvPr>
                <p:ph idx="1"/>
              </p:nvPr>
            </p:nvSpPr>
            <p:spPr>
              <a:xfrm>
                <a:off x="704088" y="2221992"/>
                <a:ext cx="6239599" cy="3941064"/>
              </a:xfrm>
              <a:blipFill>
                <a:blip r:embed="rId2"/>
                <a:stretch>
                  <a:fillRect l="-782" t="-929" r="-880"/>
                </a:stretch>
              </a:blipFill>
            </p:spPr>
            <p:txBody>
              <a:bodyPr/>
              <a:lstStyle/>
              <a:p>
                <a:r>
                  <a:rPr lang="en-US">
                    <a:noFill/>
                  </a:rPr>
                  <a:t> </a:t>
                </a:r>
              </a:p>
            </p:txBody>
          </p:sp>
        </mc:Fallback>
      </mc:AlternateContent>
      <p:pic>
        <p:nvPicPr>
          <p:cNvPr id="5" name="Picture 4" descr="3D square and rectangle">
            <a:extLst>
              <a:ext uri="{FF2B5EF4-FFF2-40B4-BE49-F238E27FC236}">
                <a16:creationId xmlns:a16="http://schemas.microsoft.com/office/drawing/2014/main" id="{256F10B0-D01C-B7B6-17CA-AD75D01A1387}"/>
              </a:ext>
            </a:extLst>
          </p:cNvPr>
          <p:cNvPicPr>
            <a:picLocks noChangeAspect="1"/>
          </p:cNvPicPr>
          <p:nvPr/>
        </p:nvPicPr>
        <p:blipFill>
          <a:blip r:embed="rId3"/>
          <a:srcRect l="17101" r="36531" b="1"/>
          <a:stretch>
            <a:fillRect/>
          </a:stretch>
        </p:blipFill>
        <p:spPr>
          <a:xfrm>
            <a:off x="7583424" y="10"/>
            <a:ext cx="4608576" cy="6857990"/>
          </a:xfrm>
          <a:prstGeom prst="rect">
            <a:avLst/>
          </a:prstGeom>
        </p:spPr>
      </p:pic>
    </p:spTree>
    <p:extLst>
      <p:ext uri="{BB962C8B-B14F-4D97-AF65-F5344CB8AC3E}">
        <p14:creationId xmlns:p14="http://schemas.microsoft.com/office/powerpoint/2010/main" val="200825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27663B-3164-1FF2-BFD4-FE8A5CF77897}"/>
              </a:ext>
            </a:extLst>
          </p:cNvPr>
          <p:cNvSpPr>
            <a:spLocks noGrp="1"/>
          </p:cNvSpPr>
          <p:nvPr>
            <p:ph type="title"/>
          </p:nvPr>
        </p:nvSpPr>
        <p:spPr>
          <a:xfrm>
            <a:off x="704088" y="914400"/>
            <a:ext cx="6239599" cy="1307590"/>
          </a:xfrm>
        </p:spPr>
        <p:txBody>
          <a:bodyPr>
            <a:normAutofit/>
          </a:bodyPr>
          <a:lstStyle/>
          <a:p>
            <a:r>
              <a:rPr lang="en-US" dirty="0"/>
              <a:t>The design</a:t>
            </a: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BE0E1D-5FE2-C6C3-6D63-E7F02165BA40}"/>
                  </a:ext>
                </a:extLst>
              </p:cNvPr>
              <p:cNvSpPr>
                <a:spLocks noGrp="1"/>
              </p:cNvSpPr>
              <p:nvPr>
                <p:ph idx="1"/>
              </p:nvPr>
            </p:nvSpPr>
            <p:spPr>
              <a:xfrm>
                <a:off x="704088" y="2221992"/>
                <a:ext cx="6239599" cy="3941064"/>
              </a:xfrm>
            </p:spPr>
            <p:txBody>
              <a:bodyPr>
                <a:normAutofit/>
              </a:bodyPr>
              <a:lstStyle/>
              <a:p>
                <a:pPr>
                  <a:lnSpc>
                    <a:spcPct val="100000"/>
                  </a:lnSpc>
                </a:pPr>
                <a:r>
                  <a:rPr lang="en-US" sz="1700" dirty="0"/>
                  <a:t>The code pipeline: env.py, test_env.py, and characterize.py.</a:t>
                </a:r>
              </a:p>
              <a:p>
                <a:pPr>
                  <a:lnSpc>
                    <a:spcPct val="100000"/>
                  </a:lnSpc>
                </a:pPr>
                <a:r>
                  <a:rPr lang="en-US" sz="1700" dirty="0"/>
                  <a:t>Env.py: the physics simulator, which simulate the balls across the tabletop, air resistance (drag), ball-to-ball collision, ball-to-wall collision, and the end, we record exactly what happens at each step (ground truth data). Output will be state, theta (environment parameters), mechanism (what kind of mechanism), and the impulse (after collision). These are the data we can use to train the model later.</a:t>
                </a:r>
              </a:p>
              <a:p>
                <a:pPr>
                  <a:lnSpc>
                    <a:spcPct val="100000"/>
                  </a:lnSpc>
                </a:pPr>
                <a:r>
                  <a:rPr lang="en-US" sz="1700" dirty="0"/>
                  <a:t>Also, designed the functions that can promise some cases will happen (ball-to-ball collision) that can be helpful on the training section. With the impulse equation:</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𝑣</m:t>
                          </m:r>
                        </m:e>
                        <m:sub>
                          <m:r>
                            <a:rPr lang="en-US" sz="1700" b="0" i="1" smtClean="0">
                              <a:latin typeface="Cambria Math" panose="02040503050406030204" pitchFamily="18" charset="0"/>
                            </a:rPr>
                            <m:t>𝑡</m:t>
                          </m:r>
                          <m:r>
                            <a:rPr lang="en-US" sz="1700" b="0" i="1" smtClean="0">
                              <a:latin typeface="Cambria Math" panose="02040503050406030204" pitchFamily="18" charset="0"/>
                            </a:rPr>
                            <m:t>+1</m:t>
                          </m:r>
                        </m:sub>
                      </m:sSub>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𝑣</m:t>
                          </m:r>
                        </m:e>
                        <m:sub>
                          <m:r>
                            <a:rPr lang="en-US" sz="1700" b="0" i="1" smtClean="0">
                              <a:latin typeface="Cambria Math" panose="02040503050406030204" pitchFamily="18" charset="0"/>
                            </a:rPr>
                            <m:t>𝑡</m:t>
                          </m:r>
                        </m:sub>
                      </m:sSub>
                      <m:r>
                        <a:rPr lang="en-US" sz="1700" b="0" i="1" smtClean="0">
                          <a:latin typeface="Cambria Math" panose="02040503050406030204" pitchFamily="18" charset="0"/>
                        </a:rPr>
                        <m:t>+</m:t>
                      </m:r>
                      <m:f>
                        <m:fPr>
                          <m:ctrlPr>
                            <a:rPr lang="en-US" sz="1700" b="0" i="1" smtClean="0">
                              <a:latin typeface="Cambria Math" panose="02040503050406030204" pitchFamily="18" charset="0"/>
                            </a:rPr>
                          </m:ctrlPr>
                        </m:fPr>
                        <m:num>
                          <m:r>
                            <m:rPr>
                              <m:sty m:val="p"/>
                            </m:rPr>
                            <a:rPr lang="en-US" sz="1700" b="0" i="0" smtClean="0">
                              <a:latin typeface="Cambria Math" panose="02040503050406030204" pitchFamily="18" charset="0"/>
                            </a:rPr>
                            <m:t>Δ</m:t>
                          </m:r>
                          <m:r>
                            <a:rPr lang="en-US" sz="1700" b="0" i="1" smtClean="0">
                              <a:latin typeface="Cambria Math" panose="02040503050406030204" pitchFamily="18" charset="0"/>
                            </a:rPr>
                            <m:t>𝑡𝐹</m:t>
                          </m:r>
                        </m:num>
                        <m:den>
                          <m:r>
                            <a:rPr lang="en-US" sz="1700" b="0" i="1" smtClean="0">
                              <a:latin typeface="Cambria Math" panose="02040503050406030204" pitchFamily="18" charset="0"/>
                            </a:rPr>
                            <m:t>𝑚</m:t>
                          </m:r>
                        </m:den>
                      </m:f>
                      <m:r>
                        <a:rPr lang="en-US" sz="1700" b="0" i="1" smtClean="0">
                          <a:latin typeface="Cambria Math" panose="02040503050406030204" pitchFamily="18" charset="0"/>
                        </a:rPr>
                        <m:t>+</m:t>
                      </m:r>
                      <m:f>
                        <m:fPr>
                          <m:ctrlPr>
                            <a:rPr lang="en-US" sz="1700" b="0" i="1" smtClean="0">
                              <a:latin typeface="Cambria Math" panose="02040503050406030204" pitchFamily="18" charset="0"/>
                            </a:rPr>
                          </m:ctrlPr>
                        </m:fPr>
                        <m:num>
                          <m:r>
                            <a:rPr lang="en-US" sz="1700" b="0" i="1" smtClean="0">
                              <a:latin typeface="Cambria Math" panose="02040503050406030204" pitchFamily="18" charset="0"/>
                            </a:rPr>
                            <m:t>𝐽</m:t>
                          </m:r>
                        </m:num>
                        <m:den>
                          <m:r>
                            <a:rPr lang="en-US" sz="1700" b="0" i="1" smtClean="0">
                              <a:latin typeface="Cambria Math" panose="02040503050406030204" pitchFamily="18" charset="0"/>
                            </a:rPr>
                            <m:t>𝑚</m:t>
                          </m:r>
                        </m:den>
                      </m:f>
                    </m:oMath>
                  </m:oMathPara>
                </a14:m>
                <a:endParaRPr lang="en-US" sz="1700" dirty="0"/>
              </a:p>
            </p:txBody>
          </p:sp>
        </mc:Choice>
        <mc:Fallback xmlns="">
          <p:sp>
            <p:nvSpPr>
              <p:cNvPr id="3" name="Content Placeholder 2">
                <a:extLst>
                  <a:ext uri="{FF2B5EF4-FFF2-40B4-BE49-F238E27FC236}">
                    <a16:creationId xmlns:a16="http://schemas.microsoft.com/office/drawing/2014/main" id="{F1BE0E1D-5FE2-C6C3-6D63-E7F02165BA40}"/>
                  </a:ext>
                </a:extLst>
              </p:cNvPr>
              <p:cNvSpPr>
                <a:spLocks noGrp="1" noRot="1" noChangeAspect="1" noMove="1" noResize="1" noEditPoints="1" noAdjustHandles="1" noChangeArrowheads="1" noChangeShapeType="1" noTextEdit="1"/>
              </p:cNvSpPr>
              <p:nvPr>
                <p:ph idx="1"/>
              </p:nvPr>
            </p:nvSpPr>
            <p:spPr>
              <a:xfrm>
                <a:off x="704088" y="2221992"/>
                <a:ext cx="6239599" cy="3941064"/>
              </a:xfrm>
              <a:blipFill>
                <a:blip r:embed="rId2"/>
                <a:stretch>
                  <a:fillRect l="-489" t="-619" r="-1271"/>
                </a:stretch>
              </a:blipFill>
            </p:spPr>
            <p:txBody>
              <a:bodyPr/>
              <a:lstStyle/>
              <a:p>
                <a:r>
                  <a:rPr lang="en-US">
                    <a:noFill/>
                  </a:rPr>
                  <a:t> </a:t>
                </a:r>
              </a:p>
            </p:txBody>
          </p:sp>
        </mc:Fallback>
      </mc:AlternateContent>
      <p:pic>
        <p:nvPicPr>
          <p:cNvPr id="5" name="Picture 4" descr="Lotus cloth patterns in black and white">
            <a:extLst>
              <a:ext uri="{FF2B5EF4-FFF2-40B4-BE49-F238E27FC236}">
                <a16:creationId xmlns:a16="http://schemas.microsoft.com/office/drawing/2014/main" id="{CD7219E7-A5DE-3648-6D85-79F88430B703}"/>
              </a:ext>
            </a:extLst>
          </p:cNvPr>
          <p:cNvPicPr>
            <a:picLocks noChangeAspect="1"/>
          </p:cNvPicPr>
          <p:nvPr/>
        </p:nvPicPr>
        <p:blipFill>
          <a:blip r:embed="rId3"/>
          <a:srcRect l="22871" r="32272" b="-1"/>
          <a:stretch>
            <a:fillRect/>
          </a:stretch>
        </p:blipFill>
        <p:spPr>
          <a:xfrm>
            <a:off x="7583424" y="10"/>
            <a:ext cx="4608576" cy="6857990"/>
          </a:xfrm>
          <a:prstGeom prst="rect">
            <a:avLst/>
          </a:prstGeom>
        </p:spPr>
      </p:pic>
    </p:spTree>
    <p:extLst>
      <p:ext uri="{BB962C8B-B14F-4D97-AF65-F5344CB8AC3E}">
        <p14:creationId xmlns:p14="http://schemas.microsoft.com/office/powerpoint/2010/main" val="1174336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8DBDD-FCEC-95B7-D058-C0E4D0563808}"/>
              </a:ext>
            </a:extLst>
          </p:cNvPr>
          <p:cNvSpPr>
            <a:spLocks noGrp="1"/>
          </p:cNvSpPr>
          <p:nvPr>
            <p:ph type="title"/>
          </p:nvPr>
        </p:nvSpPr>
        <p:spPr>
          <a:xfrm>
            <a:off x="704088" y="914400"/>
            <a:ext cx="6239599" cy="1307590"/>
          </a:xfrm>
        </p:spPr>
        <p:txBody>
          <a:bodyPr>
            <a:normAutofit/>
          </a:bodyPr>
          <a:lstStyle/>
          <a:p>
            <a:r>
              <a:rPr lang="en-US" altLang="zh-CN" dirty="0"/>
              <a:t>Why Impulse equation</a:t>
            </a:r>
            <a:endParaRPr lang="en-US" dirty="0"/>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A22992-C806-1C24-9D3B-D8EAE0C71C03}"/>
                  </a:ext>
                </a:extLst>
              </p:cNvPr>
              <p:cNvSpPr>
                <a:spLocks noGrp="1"/>
              </p:cNvSpPr>
              <p:nvPr>
                <p:ph idx="1"/>
              </p:nvPr>
            </p:nvSpPr>
            <p:spPr>
              <a:xfrm>
                <a:off x="704088" y="2221991"/>
                <a:ext cx="6239599" cy="4441567"/>
              </a:xfrm>
            </p:spPr>
            <p:txBody>
              <a:bodyPr>
                <a:normAutofit fontScale="85000" lnSpcReduction="20000"/>
              </a:bodyPr>
              <a:lstStyle/>
              <a:p>
                <a:r>
                  <a:rPr lang="en-US" sz="1900" dirty="0"/>
                  <a:t>We already know the physical theory directly calculate the speed out. But it is hard to let the network know how hard the force is. Then we change to Impulse equation</a:t>
                </a:r>
              </a:p>
              <a:p>
                <a:pPr marL="0"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𝐽</m:t>
                      </m:r>
                      <m:r>
                        <a:rPr lang="en-US" sz="1900" b="0" i="1" smtClean="0">
                          <a:latin typeface="Cambria Math" panose="02040503050406030204" pitchFamily="18" charset="0"/>
                        </a:rPr>
                        <m:t>=</m:t>
                      </m:r>
                      <m:f>
                        <m:fPr>
                          <m:ctrlPr>
                            <a:rPr lang="en-US" sz="1900" b="0" i="1" smtClean="0">
                              <a:latin typeface="Cambria Math" panose="02040503050406030204" pitchFamily="18" charset="0"/>
                            </a:rPr>
                          </m:ctrlPr>
                        </m:fPr>
                        <m:num>
                          <m:r>
                            <m:rPr>
                              <m:nor/>
                            </m:rPr>
                            <a:rPr lang="en-US" sz="1900" i="0"/>
                            <m:t>−(1+</m:t>
                          </m:r>
                          <m:r>
                            <m:rPr>
                              <m:nor/>
                            </m:rPr>
                            <a:rPr lang="en-US" sz="1900" i="0"/>
                            <m:t>e</m:t>
                          </m:r>
                          <m:r>
                            <m:rPr>
                              <m:nor/>
                            </m:rPr>
                            <a:rPr lang="en-US" sz="1900" i="0"/>
                            <m:t>)</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𝑣</m:t>
                              </m:r>
                            </m:e>
                            <m:sub>
                              <m:r>
                                <a:rPr lang="en-US" sz="1900" b="0" i="1" smtClean="0">
                                  <a:latin typeface="Cambria Math" panose="02040503050406030204" pitchFamily="18" charset="0"/>
                                </a:rPr>
                                <m:t>1</m:t>
                              </m:r>
                            </m:sub>
                          </m:sSub>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𝑣</m:t>
                              </m:r>
                            </m:e>
                            <m:sub>
                              <m:r>
                                <a:rPr lang="en-US" sz="1900" b="0" i="1" smtClean="0">
                                  <a:latin typeface="Cambria Math" panose="02040503050406030204" pitchFamily="18" charset="0"/>
                                </a:rPr>
                                <m:t>2</m:t>
                              </m:r>
                            </m:sub>
                          </m:sSub>
                          <m:r>
                            <a:rPr lang="en-US" sz="1900" b="0" i="1" smtClean="0">
                              <a:latin typeface="Cambria Math" panose="02040503050406030204" pitchFamily="18" charset="0"/>
                            </a:rPr>
                            <m:t>)</m:t>
                          </m:r>
                        </m:num>
                        <m:den>
                          <m:f>
                            <m:fPr>
                              <m:ctrlPr>
                                <a:rPr lang="en-US" sz="1900" b="0" i="1" smtClean="0">
                                  <a:latin typeface="Cambria Math" panose="02040503050406030204" pitchFamily="18" charset="0"/>
                                </a:rPr>
                              </m:ctrlPr>
                            </m:fPr>
                            <m:num>
                              <m:r>
                                <a:rPr lang="en-US" sz="1900" b="0" i="1" smtClean="0">
                                  <a:latin typeface="Cambria Math" panose="02040503050406030204" pitchFamily="18" charset="0"/>
                                </a:rPr>
                                <m:t>1</m:t>
                              </m:r>
                            </m:num>
                            <m:den>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𝑚</m:t>
                                  </m:r>
                                </m:e>
                                <m:sub>
                                  <m:r>
                                    <a:rPr lang="en-US" sz="1900" b="0" i="1" smtClean="0">
                                      <a:latin typeface="Cambria Math" panose="02040503050406030204" pitchFamily="18" charset="0"/>
                                    </a:rPr>
                                    <m:t>1</m:t>
                                  </m:r>
                                </m:sub>
                              </m:sSub>
                            </m:den>
                          </m:f>
                          <m:r>
                            <a:rPr lang="en-US" sz="1900" b="0" i="1" smtClean="0">
                              <a:latin typeface="Cambria Math" panose="02040503050406030204" pitchFamily="18" charset="0"/>
                            </a:rPr>
                            <m:t>+</m:t>
                          </m:r>
                          <m:f>
                            <m:fPr>
                              <m:ctrlPr>
                                <a:rPr lang="en-US" sz="1900" b="0" i="1" smtClean="0">
                                  <a:latin typeface="Cambria Math" panose="02040503050406030204" pitchFamily="18" charset="0"/>
                                </a:rPr>
                              </m:ctrlPr>
                            </m:fPr>
                            <m:num>
                              <m:r>
                                <a:rPr lang="en-US" sz="1900" b="0" i="1" smtClean="0">
                                  <a:latin typeface="Cambria Math" panose="02040503050406030204" pitchFamily="18" charset="0"/>
                                </a:rPr>
                                <m:t>1</m:t>
                              </m:r>
                            </m:num>
                            <m:den>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𝑚</m:t>
                                  </m:r>
                                </m:e>
                                <m:sub>
                                  <m:r>
                                    <a:rPr lang="en-US" sz="1900" b="0" i="1" smtClean="0">
                                      <a:latin typeface="Cambria Math" panose="02040503050406030204" pitchFamily="18" charset="0"/>
                                    </a:rPr>
                                    <m:t>2</m:t>
                                  </m:r>
                                </m:sub>
                              </m:sSub>
                            </m:den>
                          </m:f>
                        </m:den>
                      </m:f>
                      <m:r>
                        <a:rPr lang="en-US" sz="1900" b="0" i="1" smtClean="0">
                          <a:latin typeface="Cambria Math" panose="02040503050406030204" pitchFamily="18" charset="0"/>
                        </a:rPr>
                        <m:t>  </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1</m:t>
                          </m:r>
                        </m:e>
                      </m:d>
                    </m:oMath>
                  </m:oMathPara>
                </a14:m>
                <a:endParaRPr lang="en-US" sz="1900" dirty="0"/>
              </a:p>
              <a:p>
                <a:pPr marL="0"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𝐽</m:t>
                      </m:r>
                      <m:r>
                        <a:rPr lang="en-US" sz="1900" b="0" i="1" smtClean="0">
                          <a:latin typeface="Cambria Math" panose="02040503050406030204" pitchFamily="18" charset="0"/>
                        </a:rPr>
                        <m:t>=</m:t>
                      </m:r>
                      <m:r>
                        <a:rPr lang="en-US" sz="1900" b="0" i="1" smtClean="0">
                          <a:latin typeface="Cambria Math" panose="02040503050406030204" pitchFamily="18" charset="0"/>
                        </a:rPr>
                        <m:t>𝑘</m:t>
                      </m:r>
                      <m:r>
                        <a:rPr lang="en-US" sz="1900" b="0" i="1" smtClean="0">
                          <a:latin typeface="Cambria Math" panose="02040503050406030204" pitchFamily="18" charset="0"/>
                        </a:rPr>
                        <m:t> </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𝑣</m:t>
                          </m:r>
                        </m:e>
                        <m:sub>
                          <m:r>
                            <a:rPr lang="en-US" sz="1900" b="0" i="1" smtClean="0">
                              <a:latin typeface="Cambria Math" panose="02040503050406030204" pitchFamily="18" charset="0"/>
                            </a:rPr>
                            <m:t>𝑛</m:t>
                          </m:r>
                        </m:sub>
                      </m:sSub>
                      <m:r>
                        <a:rPr lang="en-US" sz="1900" b="0" i="1" smtClean="0">
                          <a:latin typeface="Cambria Math" panose="02040503050406030204" pitchFamily="18" charset="0"/>
                        </a:rPr>
                        <m:t>,  </m:t>
                      </m:r>
                      <m:r>
                        <a:rPr lang="en-US" sz="1900" b="0" i="1" smtClean="0">
                          <a:latin typeface="Cambria Math" panose="02040503050406030204" pitchFamily="18" charset="0"/>
                        </a:rPr>
                        <m:t>𝑘</m:t>
                      </m:r>
                      <m:r>
                        <a:rPr lang="en-US" sz="1900" b="0" i="1" smtClean="0">
                          <a:latin typeface="Cambria Math" panose="02040503050406030204" pitchFamily="18" charset="0"/>
                        </a:rPr>
                        <m:t>=−</m:t>
                      </m:r>
                      <m:f>
                        <m:fPr>
                          <m:ctrlPr>
                            <a:rPr lang="en-US" sz="1900" b="0" i="1" smtClean="0">
                              <a:latin typeface="Cambria Math" panose="02040503050406030204" pitchFamily="18" charset="0"/>
                            </a:rPr>
                          </m:ctrlPr>
                        </m:fPr>
                        <m:num>
                          <m:r>
                            <a:rPr lang="en-US" sz="1900" b="0" i="1" smtClean="0">
                              <a:latin typeface="Cambria Math" panose="02040503050406030204" pitchFamily="18" charset="0"/>
                            </a:rPr>
                            <m:t>1+</m:t>
                          </m:r>
                          <m:r>
                            <a:rPr lang="en-US" sz="1900" b="0" i="1" smtClean="0">
                              <a:latin typeface="Cambria Math" panose="02040503050406030204" pitchFamily="18" charset="0"/>
                            </a:rPr>
                            <m:t>𝑒</m:t>
                          </m:r>
                        </m:num>
                        <m:den>
                          <m:f>
                            <m:fPr>
                              <m:ctrlPr>
                                <a:rPr lang="en-US" sz="1900" b="0" i="1" smtClean="0">
                                  <a:latin typeface="Cambria Math" panose="02040503050406030204" pitchFamily="18" charset="0"/>
                                </a:rPr>
                              </m:ctrlPr>
                            </m:fPr>
                            <m:num>
                              <m:r>
                                <a:rPr lang="en-US" sz="1900" b="0" i="1" smtClean="0">
                                  <a:latin typeface="Cambria Math" panose="02040503050406030204" pitchFamily="18" charset="0"/>
                                </a:rPr>
                                <m:t>1</m:t>
                              </m:r>
                            </m:num>
                            <m:den>
                              <m:r>
                                <a:rPr lang="en-US" sz="1900" b="0" i="1" smtClean="0">
                                  <a:latin typeface="Cambria Math" panose="02040503050406030204" pitchFamily="18" charset="0"/>
                                </a:rPr>
                                <m:t>𝑚</m:t>
                              </m:r>
                              <m:r>
                                <a:rPr lang="en-US" sz="1900" b="0" i="1" smtClean="0">
                                  <a:latin typeface="Cambria Math" panose="02040503050406030204" pitchFamily="18" charset="0"/>
                                </a:rPr>
                                <m:t>1</m:t>
                              </m:r>
                            </m:den>
                          </m:f>
                          <m:r>
                            <a:rPr lang="en-US" sz="1900" b="0" i="1" smtClean="0">
                              <a:latin typeface="Cambria Math" panose="02040503050406030204" pitchFamily="18" charset="0"/>
                            </a:rPr>
                            <m:t>+</m:t>
                          </m:r>
                          <m:f>
                            <m:fPr>
                              <m:ctrlPr>
                                <a:rPr lang="en-US" sz="1900" b="0" i="1" smtClean="0">
                                  <a:latin typeface="Cambria Math" panose="02040503050406030204" pitchFamily="18" charset="0"/>
                                </a:rPr>
                              </m:ctrlPr>
                            </m:fPr>
                            <m:num>
                              <m:r>
                                <a:rPr lang="en-US" sz="1900" b="0" i="1" smtClean="0">
                                  <a:latin typeface="Cambria Math" panose="02040503050406030204" pitchFamily="18" charset="0"/>
                                </a:rPr>
                                <m:t>1</m:t>
                              </m:r>
                            </m:num>
                            <m:den>
                              <m:r>
                                <a:rPr lang="en-US" sz="1900" b="0" i="1" smtClean="0">
                                  <a:latin typeface="Cambria Math" panose="02040503050406030204" pitchFamily="18" charset="0"/>
                                </a:rPr>
                                <m:t>𝑚</m:t>
                              </m:r>
                              <m:r>
                                <a:rPr lang="en-US" sz="1900" b="0" i="1" smtClean="0">
                                  <a:latin typeface="Cambria Math" panose="02040503050406030204" pitchFamily="18" charset="0"/>
                                </a:rPr>
                                <m:t>2</m:t>
                              </m:r>
                            </m:den>
                          </m:f>
                        </m:den>
                      </m:f>
                      <m:r>
                        <a:rPr lang="en-US" sz="1900" b="0" i="1" smtClean="0">
                          <a:latin typeface="Cambria Math" panose="02040503050406030204" pitchFamily="18" charset="0"/>
                        </a:rPr>
                        <m:t>  (2)</m:t>
                      </m:r>
                    </m:oMath>
                  </m:oMathPara>
                </a14:m>
                <a:endParaRPr lang="en-US" sz="1900" dirty="0"/>
              </a:p>
              <a:p>
                <a:pPr marL="0" indent="0">
                  <a:buNone/>
                </a:pPr>
                <a14:m>
                  <m:oMathPara xmlns:m="http://schemas.openxmlformats.org/officeDocument/2006/math">
                    <m:oMathParaPr>
                      <m:jc m:val="centerGroup"/>
                    </m:oMathParaPr>
                    <m:oMath xmlns:m="http://schemas.openxmlformats.org/officeDocument/2006/math">
                      <m:sSub>
                        <m:sSubPr>
                          <m:ctrlPr>
                            <a:rPr lang="en-US" sz="1900" i="1">
                              <a:latin typeface="Cambria Math" panose="02040503050406030204" pitchFamily="18" charset="0"/>
                            </a:rPr>
                          </m:ctrlPr>
                        </m:sSubPr>
                        <m:e>
                          <m:r>
                            <a:rPr lang="en-US" sz="1900" i="1">
                              <a:latin typeface="Cambria Math" panose="02040503050406030204" pitchFamily="18" charset="0"/>
                            </a:rPr>
                            <m:t>𝑣</m:t>
                          </m:r>
                        </m:e>
                        <m:sub>
                          <m:r>
                            <a:rPr lang="en-US" sz="1900" i="1">
                              <a:latin typeface="Cambria Math" panose="02040503050406030204" pitchFamily="18" charset="0"/>
                            </a:rPr>
                            <m:t>𝑡</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𝑣</m:t>
                          </m:r>
                        </m:e>
                        <m:sub>
                          <m:r>
                            <a:rPr lang="en-US" sz="1900" i="1">
                              <a:latin typeface="Cambria Math" panose="02040503050406030204" pitchFamily="18" charset="0"/>
                            </a:rPr>
                            <m:t>𝑡</m:t>
                          </m:r>
                        </m:sub>
                      </m:sSub>
                      <m:r>
                        <a:rPr lang="en-US" sz="1900" i="1">
                          <a:latin typeface="Cambria Math" panose="02040503050406030204" pitchFamily="18" charset="0"/>
                        </a:rPr>
                        <m:t>+</m:t>
                      </m:r>
                      <m:f>
                        <m:fPr>
                          <m:ctrlPr>
                            <a:rPr lang="en-US" sz="1900" i="1">
                              <a:latin typeface="Cambria Math" panose="02040503050406030204" pitchFamily="18" charset="0"/>
                            </a:rPr>
                          </m:ctrlPr>
                        </m:fPr>
                        <m:num>
                          <m:r>
                            <m:rPr>
                              <m:sty m:val="p"/>
                            </m:rPr>
                            <a:rPr lang="en-US" sz="1900">
                              <a:latin typeface="Cambria Math" panose="02040503050406030204" pitchFamily="18" charset="0"/>
                            </a:rPr>
                            <m:t>Δ</m:t>
                          </m:r>
                          <m:r>
                            <a:rPr lang="en-US" sz="1900" i="1">
                              <a:latin typeface="Cambria Math" panose="02040503050406030204" pitchFamily="18" charset="0"/>
                            </a:rPr>
                            <m:t>𝑡𝐹</m:t>
                          </m:r>
                        </m:num>
                        <m:den>
                          <m:r>
                            <a:rPr lang="en-US" sz="1900" i="1">
                              <a:latin typeface="Cambria Math" panose="02040503050406030204" pitchFamily="18" charset="0"/>
                            </a:rPr>
                            <m:t>𝑚</m:t>
                          </m:r>
                        </m:den>
                      </m:f>
                      <m:r>
                        <a:rPr lang="en-US" sz="1900" i="1">
                          <a:latin typeface="Cambria Math" panose="02040503050406030204" pitchFamily="18" charset="0"/>
                        </a:rPr>
                        <m:t>+</m:t>
                      </m:r>
                      <m:f>
                        <m:fPr>
                          <m:ctrlPr>
                            <a:rPr lang="en-US" sz="1900" i="1">
                              <a:latin typeface="Cambria Math" panose="02040503050406030204" pitchFamily="18" charset="0"/>
                            </a:rPr>
                          </m:ctrlPr>
                        </m:fPr>
                        <m:num>
                          <m:r>
                            <a:rPr lang="en-US" sz="1900" i="1">
                              <a:latin typeface="Cambria Math" panose="02040503050406030204" pitchFamily="18" charset="0"/>
                            </a:rPr>
                            <m:t>𝐽</m:t>
                          </m:r>
                        </m:num>
                        <m:den>
                          <m:r>
                            <a:rPr lang="en-US" sz="1900" i="1">
                              <a:latin typeface="Cambria Math" panose="02040503050406030204" pitchFamily="18" charset="0"/>
                            </a:rPr>
                            <m:t>𝑚</m:t>
                          </m:r>
                        </m:den>
                      </m:f>
                      <m:r>
                        <a:rPr lang="en-US" sz="1900" b="0" i="1" smtClean="0">
                          <a:latin typeface="Cambria Math" panose="02040503050406030204" pitchFamily="18" charset="0"/>
                        </a:rPr>
                        <m:t>,  </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𝑥</m:t>
                          </m:r>
                        </m:e>
                        <m:sub>
                          <m:r>
                            <a:rPr lang="en-US" sz="1900" b="0" i="1" smtClean="0">
                              <a:latin typeface="Cambria Math" panose="02040503050406030204" pitchFamily="18" charset="0"/>
                            </a:rPr>
                            <m:t>𝑡</m:t>
                          </m:r>
                          <m:r>
                            <a:rPr lang="en-US" sz="1900" b="0" i="1" smtClean="0">
                              <a:latin typeface="Cambria Math" panose="02040503050406030204" pitchFamily="18" charset="0"/>
                            </a:rPr>
                            <m:t>+1</m:t>
                          </m:r>
                        </m:sub>
                      </m:sSub>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𝑥</m:t>
                          </m:r>
                        </m:e>
                        <m:sub>
                          <m:r>
                            <a:rPr lang="en-US" sz="1900" b="0" i="1" smtClean="0">
                              <a:latin typeface="Cambria Math" panose="02040503050406030204" pitchFamily="18" charset="0"/>
                            </a:rPr>
                            <m:t>𝑡</m:t>
                          </m:r>
                        </m:sub>
                      </m:sSub>
                      <m:r>
                        <a:rPr lang="en-US" sz="1900" b="0" i="1" smtClean="0">
                          <a:latin typeface="Cambria Math" panose="02040503050406030204" pitchFamily="18" charset="0"/>
                        </a:rPr>
                        <m:t>+</m:t>
                      </m:r>
                      <m:r>
                        <m:rPr>
                          <m:sty m:val="p"/>
                        </m:rPr>
                        <a:rPr lang="en-US" sz="1900" b="0" i="0" smtClean="0">
                          <a:latin typeface="Cambria Math" panose="02040503050406030204" pitchFamily="18" charset="0"/>
                        </a:rPr>
                        <m:t>Δ</m:t>
                      </m:r>
                      <m:r>
                        <a:rPr lang="en-US" sz="1900" b="0" i="1" smtClean="0">
                          <a:latin typeface="Cambria Math" panose="02040503050406030204" pitchFamily="18" charset="0"/>
                        </a:rPr>
                        <m:t>𝑡</m:t>
                      </m:r>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𝑣</m:t>
                          </m:r>
                        </m:e>
                        <m:sub>
                          <m:r>
                            <a:rPr lang="en-US" sz="1900" b="0" i="1" smtClean="0">
                              <a:latin typeface="Cambria Math" panose="02040503050406030204" pitchFamily="18" charset="0"/>
                            </a:rPr>
                            <m:t>𝑡</m:t>
                          </m:r>
                          <m:r>
                            <a:rPr lang="en-US" sz="1900" b="0" i="1" smtClean="0">
                              <a:latin typeface="Cambria Math" panose="02040503050406030204" pitchFamily="18" charset="0"/>
                            </a:rPr>
                            <m:t>+1</m:t>
                          </m:r>
                        </m:sub>
                      </m:sSub>
                      <m:r>
                        <a:rPr lang="en-US" sz="1900" b="0" i="1" smtClean="0">
                          <a:latin typeface="Cambria Math" panose="02040503050406030204" pitchFamily="18" charset="0"/>
                        </a:rPr>
                        <m:t> (3)</m:t>
                      </m:r>
                    </m:oMath>
                  </m:oMathPara>
                </a14:m>
                <a:endParaRPr lang="en-US" sz="1900" dirty="0"/>
              </a:p>
              <a:p>
                <a:pPr marL="0" indent="0">
                  <a:buNone/>
                </a:pPr>
                <a:r>
                  <a:rPr lang="en-US" sz="1900" dirty="0"/>
                  <a:t>The (3) is the solver, the final equation that we use to calculate the new position. Then let network to guess: </a:t>
                </a:r>
              </a:p>
              <a:p>
                <a:pPr marL="0" indent="0">
                  <a:buNone/>
                </a:pPr>
                <a:r>
                  <a:rPr lang="en-US" sz="1900" dirty="0"/>
                  <a:t>	J, which means ‘How heavy is this blow?’</a:t>
                </a:r>
              </a:p>
              <a:p>
                <a:pPr marL="0" indent="0" algn="ctr">
                  <a:buNone/>
                </a:pPr>
                <a:r>
                  <a:rPr lang="en-US" sz="1900" dirty="0"/>
                  <a:t>	</a:t>
                </a:r>
                <a14:m>
                  <m:oMath xmlns:m="http://schemas.openxmlformats.org/officeDocument/2006/math">
                    <m:sSub>
                      <m:sSubPr>
                        <m:ctrlPr>
                          <a:rPr lang="en-US" sz="1900" b="0" i="1" smtClean="0">
                            <a:latin typeface="Cambria Math" panose="02040503050406030204" pitchFamily="18" charset="0"/>
                          </a:rPr>
                        </m:ctrlPr>
                      </m:sSubPr>
                      <m:e>
                        <m:r>
                          <a:rPr lang="en-US" sz="1900" b="0" i="1" smtClean="0">
                            <a:latin typeface="Cambria Math" panose="02040503050406030204" pitchFamily="18" charset="0"/>
                          </a:rPr>
                          <m:t>𝐽</m:t>
                        </m:r>
                      </m:e>
                      <m:sub>
                        <m:r>
                          <a:rPr lang="en-US" sz="1900" b="0" i="1" smtClean="0">
                            <a:latin typeface="Cambria Math" panose="02040503050406030204" pitchFamily="18" charset="0"/>
                          </a:rPr>
                          <m:t>𝑤𝑎𝑙𝑙</m:t>
                        </m:r>
                      </m:sub>
                    </m:sSub>
                    <m:r>
                      <a:rPr lang="en-US" sz="1900" b="0" i="1" smtClean="0">
                        <a:latin typeface="Cambria Math" panose="02040503050406030204" pitchFamily="18" charset="0"/>
                      </a:rPr>
                      <m:t>=</m:t>
                    </m:r>
                    <m:r>
                      <a:rPr lang="en-US" sz="1900" b="0" i="1" smtClean="0">
                        <a:latin typeface="Cambria Math" panose="02040503050406030204" pitchFamily="18" charset="0"/>
                      </a:rPr>
                      <m:t>𝑚</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𝑣</m:t>
                        </m:r>
                        <m:r>
                          <a:rPr lang="en-US" sz="1900" b="0" i="1" smtClean="0">
                            <a:latin typeface="Cambria Math" panose="02040503050406030204" pitchFamily="18" charset="0"/>
                          </a:rPr>
                          <m:t>`−</m:t>
                        </m:r>
                        <m:r>
                          <a:rPr lang="en-US" sz="1900" b="0" i="1" smtClean="0">
                            <a:latin typeface="Cambria Math" panose="02040503050406030204" pitchFamily="18" charset="0"/>
                          </a:rPr>
                          <m:t>𝑣</m:t>
                        </m:r>
                      </m:e>
                    </m:d>
                    <m:r>
                      <a:rPr lang="en-US" sz="1900" b="0" i="1" smtClean="0">
                        <a:latin typeface="Cambria Math" panose="02040503050406030204" pitchFamily="18" charset="0"/>
                      </a:rPr>
                      <m:t>=−</m:t>
                    </m:r>
                    <m:r>
                      <a:rPr lang="en-US" sz="1900" b="0" i="1" smtClean="0">
                        <a:latin typeface="Cambria Math" panose="02040503050406030204" pitchFamily="18" charset="0"/>
                      </a:rPr>
                      <m:t>𝑚</m:t>
                    </m:r>
                    <m:d>
                      <m:dPr>
                        <m:ctrlPr>
                          <a:rPr lang="en-US" sz="1900" b="0" i="1" smtClean="0">
                            <a:latin typeface="Cambria Math" panose="02040503050406030204" pitchFamily="18" charset="0"/>
                          </a:rPr>
                        </m:ctrlPr>
                      </m:dPr>
                      <m:e>
                        <m:r>
                          <a:rPr lang="en-US" sz="1900" b="0" i="1" smtClean="0">
                            <a:latin typeface="Cambria Math" panose="02040503050406030204" pitchFamily="18" charset="0"/>
                          </a:rPr>
                          <m:t>1+</m:t>
                        </m:r>
                        <m:r>
                          <a:rPr lang="en-US" sz="1900" b="0" i="1" smtClean="0">
                            <a:latin typeface="Cambria Math" panose="02040503050406030204" pitchFamily="18" charset="0"/>
                          </a:rPr>
                          <m:t>𝑒</m:t>
                        </m:r>
                      </m:e>
                    </m:d>
                    <m:r>
                      <a:rPr lang="en-US" sz="1900" b="0" i="1" smtClean="0">
                        <a:latin typeface="Cambria Math" panose="02040503050406030204" pitchFamily="18" charset="0"/>
                      </a:rPr>
                      <m:t>𝑣</m:t>
                    </m:r>
                    <m:r>
                      <a:rPr lang="en-US" sz="1900" b="0" i="1" smtClean="0">
                        <a:latin typeface="Cambria Math" panose="02040503050406030204" pitchFamily="18" charset="0"/>
                      </a:rPr>
                      <m:t>  (4)</m:t>
                    </m:r>
                  </m:oMath>
                </a14:m>
                <a:endParaRPr lang="en-US" sz="1900" dirty="0"/>
              </a:p>
              <a:p>
                <a:pPr marL="0" indent="0">
                  <a:buNone/>
                </a:pPr>
                <a:r>
                  <a:rPr lang="en-US" sz="1900" dirty="0"/>
                  <a:t>Use solver to calculate the next frame.</a:t>
                </a:r>
              </a:p>
              <a:p>
                <a:pPr marL="0" indent="0">
                  <a:buNone/>
                </a:pPr>
                <a:endParaRPr lang="en-US" sz="1900" dirty="0"/>
              </a:p>
            </p:txBody>
          </p:sp>
        </mc:Choice>
        <mc:Fallback xmlns="">
          <p:sp>
            <p:nvSpPr>
              <p:cNvPr id="3" name="Content Placeholder 2">
                <a:extLst>
                  <a:ext uri="{FF2B5EF4-FFF2-40B4-BE49-F238E27FC236}">
                    <a16:creationId xmlns:a16="http://schemas.microsoft.com/office/drawing/2014/main" id="{AAA22992-C806-1C24-9D3B-D8EAE0C71C03}"/>
                  </a:ext>
                </a:extLst>
              </p:cNvPr>
              <p:cNvSpPr>
                <a:spLocks noGrp="1" noRot="1" noChangeAspect="1" noMove="1" noResize="1" noEditPoints="1" noAdjustHandles="1" noChangeArrowheads="1" noChangeShapeType="1" noTextEdit="1"/>
              </p:cNvSpPr>
              <p:nvPr>
                <p:ph idx="1"/>
              </p:nvPr>
            </p:nvSpPr>
            <p:spPr>
              <a:xfrm>
                <a:off x="704088" y="2221991"/>
                <a:ext cx="6239599" cy="4441567"/>
              </a:xfrm>
              <a:blipFill>
                <a:blip r:embed="rId2"/>
                <a:stretch>
                  <a:fillRect l="-587" t="-823"/>
                </a:stretch>
              </a:blipFill>
            </p:spPr>
            <p:txBody>
              <a:bodyPr/>
              <a:lstStyle/>
              <a:p>
                <a:r>
                  <a:rPr lang="en-US">
                    <a:noFill/>
                  </a:rPr>
                  <a:t> </a:t>
                </a:r>
              </a:p>
            </p:txBody>
          </p:sp>
        </mc:Fallback>
      </mc:AlternateContent>
      <p:pic>
        <p:nvPicPr>
          <p:cNvPr id="5" name="Picture 4" descr="A calculus formula">
            <a:extLst>
              <a:ext uri="{FF2B5EF4-FFF2-40B4-BE49-F238E27FC236}">
                <a16:creationId xmlns:a16="http://schemas.microsoft.com/office/drawing/2014/main" id="{A867566A-62B4-F0D2-F7BE-BD9EEE26B314}"/>
              </a:ext>
            </a:extLst>
          </p:cNvPr>
          <p:cNvPicPr>
            <a:picLocks noChangeAspect="1"/>
          </p:cNvPicPr>
          <p:nvPr/>
        </p:nvPicPr>
        <p:blipFill>
          <a:blip r:embed="rId3"/>
          <a:srcRect l="24550" r="30593" b="-1"/>
          <a:stretch>
            <a:fillRect/>
          </a:stretch>
        </p:blipFill>
        <p:spPr>
          <a:xfrm>
            <a:off x="7583424" y="10"/>
            <a:ext cx="4608576" cy="6857990"/>
          </a:xfrm>
          <a:prstGeom prst="rect">
            <a:avLst/>
          </a:prstGeom>
        </p:spPr>
      </p:pic>
    </p:spTree>
    <p:extLst>
      <p:ext uri="{BB962C8B-B14F-4D97-AF65-F5344CB8AC3E}">
        <p14:creationId xmlns:p14="http://schemas.microsoft.com/office/powerpoint/2010/main" val="1362018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CB8C1-BB9F-3E70-4209-6290030A7838}"/>
              </a:ext>
            </a:extLst>
          </p:cNvPr>
          <p:cNvSpPr>
            <a:spLocks noGrp="1"/>
          </p:cNvSpPr>
          <p:nvPr>
            <p:ph type="title"/>
          </p:nvPr>
        </p:nvSpPr>
        <p:spPr/>
        <p:txBody>
          <a:bodyPr/>
          <a:lstStyle/>
          <a:p>
            <a:r>
              <a:rPr lang="en-US" dirty="0"/>
              <a:t>How to calculate next frame?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6D687D-BB45-0306-77DB-2A662F972F94}"/>
                  </a:ext>
                </a:extLst>
              </p:cNvPr>
              <p:cNvSpPr>
                <a:spLocks noGrp="1"/>
              </p:cNvSpPr>
              <p:nvPr>
                <p:ph idx="1"/>
              </p:nvPr>
            </p:nvSpPr>
            <p:spPr>
              <a:xfrm>
                <a:off x="700635" y="1797269"/>
                <a:ext cx="10691265" cy="4498427"/>
              </a:xfrm>
            </p:spPr>
            <p:txBody>
              <a:bodyPr>
                <a:normAutofit lnSpcReduction="10000"/>
              </a:bodyPr>
              <a:lstStyle/>
              <a:p>
                <a:r>
                  <a:rPr lang="en-US" dirty="0"/>
                  <a:t>Example: Let's assume: Ball A is at position 0.14 with a velocity of +1; Ball B is at position 0.16 with a velocity of -1. Both balls have a radius of 0.1, so contact occurs if the distance between their centers is less than 0.2. The current distance is 0.02, meaning they are in contact. </a:t>
                </a:r>
                <a:r>
                  <a:rPr lang="en-US" dirty="0" err="1"/>
                  <a:t>Δt</a:t>
                </a:r>
                <a:r>
                  <a:rPr lang="en-US" dirty="0"/>
                  <a:t> = 0.02; no damping, no external forces. And the </a:t>
                </a:r>
                <a14:m>
                  <m:oMath xmlns:m="http://schemas.openxmlformats.org/officeDocument/2006/math">
                    <m:r>
                      <a:rPr lang="en-US" b="0" i="1" smtClean="0">
                        <a:latin typeface="Cambria Math" panose="02040503050406030204" pitchFamily="18" charset="0"/>
                      </a:rPr>
                      <m:t>𝜃</m:t>
                    </m:r>
                  </m:oMath>
                </a14:m>
                <a:r>
                  <a:rPr lang="en-US" dirty="0"/>
                  <a:t> means the env that we set(mass, e, and so on).</a:t>
                </a:r>
              </a:p>
              <a:p>
                <a:r>
                  <a:rPr lang="en-US" dirty="0"/>
                  <a:t>The pipeline: </a:t>
                </a:r>
              </a:p>
              <a:p>
                <a:pPr lvl="1"/>
                <a:r>
                  <a:rPr lang="en-US" dirty="0"/>
                  <a:t>1. Continuous force update rate will not change</a:t>
                </a:r>
              </a:p>
              <a:p>
                <a:pPr lvl="1"/>
                <a:r>
                  <a:rPr lang="en-US" dirty="0"/>
                  <a:t>2. Collision impulse: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=1−</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=2&gt;0</m:t>
                    </m:r>
                  </m:oMath>
                </a14:m>
                <a:r>
                  <a:rPr lang="en-US" dirty="0"/>
                  <a:t>, which means closer</a:t>
                </a:r>
              </a:p>
              <a:p>
                <a:pPr lvl="1"/>
                <a:r>
                  <a:rPr lang="en-US" dirty="0"/>
                  <a:t>3. Calculate the J and update the v: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−2×2</m:t>
                        </m:r>
                      </m:num>
                      <m:den>
                        <m:r>
                          <a:rPr lang="en-US" b="0" i="1" smtClean="0">
                            <a:latin typeface="Cambria Math" panose="02040503050406030204" pitchFamily="18" charset="0"/>
                          </a:rPr>
                          <m:t>2</m:t>
                        </m:r>
                      </m:den>
                    </m:f>
                    <m:r>
                      <a:rPr lang="en-US" b="0" i="1" smtClean="0">
                        <a:latin typeface="Cambria Math" panose="02040503050406030204" pitchFamily="18" charset="0"/>
                      </a:rPr>
                      <m:t>=−2</m:t>
                    </m:r>
                  </m:oMath>
                </a14:m>
                <a:r>
                  <a:rPr lang="en-US" dirty="0"/>
                  <a:t>, </a:t>
                </a:r>
                <a14:m>
                  <m:oMath xmlns:m="http://schemas.openxmlformats.org/officeDocument/2006/math">
                    <m:r>
                      <a:rPr lang="en-US" b="0" i="1" smtClean="0">
                        <a:latin typeface="Cambria Math" panose="02040503050406030204" pitchFamily="18" charset="0"/>
                      </a:rPr>
                      <m:t>𝑣</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𝐴</m:t>
                        </m:r>
                      </m:sub>
                    </m:sSub>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m:t>
                        </m:r>
                      </m:den>
                    </m:f>
                    <m:r>
                      <a:rPr lang="en-US" b="0" i="1" smtClean="0">
                        <a:latin typeface="Cambria Math" panose="02040503050406030204" pitchFamily="18" charset="0"/>
                      </a:rPr>
                      <m:t>=−1,</m:t>
                    </m:r>
                    <m:r>
                      <a:rPr lang="en-US" b="0" i="1" smtClean="0">
                        <a:latin typeface="Cambria Math" panose="02040503050406030204" pitchFamily="18" charset="0"/>
                      </a:rPr>
                      <m:t>𝑣</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𝐵</m:t>
                        </m:r>
                      </m:sub>
                    </m:sSub>
                    <m:r>
                      <a:rPr lang="en-US" b="0" i="1" smtClean="0">
                        <a:latin typeface="Cambria Math" panose="02040503050406030204" pitchFamily="18" charset="0"/>
                      </a:rPr>
                      <m:t>=−1−</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−2</m:t>
                            </m:r>
                          </m:e>
                        </m:d>
                      </m:num>
                      <m:den>
                        <m:r>
                          <a:rPr lang="en-US" b="0" i="1" smtClean="0">
                            <a:latin typeface="Cambria Math" panose="02040503050406030204" pitchFamily="18" charset="0"/>
                          </a:rPr>
                          <m:t>1</m:t>
                        </m:r>
                      </m:den>
                    </m:f>
                    <m:r>
                      <a:rPr lang="en-US" b="0" i="1" smtClean="0">
                        <a:latin typeface="Cambria Math" panose="02040503050406030204" pitchFamily="18" charset="0"/>
                      </a:rPr>
                      <m:t>=1</m:t>
                    </m:r>
                  </m:oMath>
                </a14:m>
                <a:r>
                  <a:rPr lang="en-US" dirty="0"/>
                  <a:t>, which shows the speed exchange.</a:t>
                </a:r>
              </a:p>
              <a:p>
                <a:pPr lvl="1"/>
                <a:r>
                  <a:rPr lang="en-US" dirty="0"/>
                  <a:t>4. Use the new v` to update the position: </a:t>
                </a:r>
                <a14:m>
                  <m:oMath xmlns:m="http://schemas.openxmlformats.org/officeDocument/2006/math">
                    <m:r>
                      <a:rPr lang="en-US" b="0" i="1" smtClean="0">
                        <a:latin typeface="Cambria Math" panose="02040503050406030204" pitchFamily="18" charset="0"/>
                      </a:rPr>
                      <m:t>𝑥</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𝐴</m:t>
                        </m:r>
                      </m:sub>
                    </m:sSub>
                    <m:r>
                      <a:rPr lang="en-US" b="0" i="1" smtClean="0">
                        <a:latin typeface="Cambria Math" panose="02040503050406030204" pitchFamily="18" charset="0"/>
                      </a:rPr>
                      <m:t>=0.14+0.02×</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=0.12, </m:t>
                    </m:r>
                    <m:r>
                      <a:rPr lang="en-US" b="0" i="1" smtClean="0">
                        <a:latin typeface="Cambria Math" panose="02040503050406030204" pitchFamily="18" charset="0"/>
                      </a:rPr>
                      <m:t>𝑥</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𝐵</m:t>
                        </m:r>
                      </m:sub>
                    </m:sSub>
                    <m:r>
                      <a:rPr lang="en-US" b="0" i="1" smtClean="0">
                        <a:latin typeface="Cambria Math" panose="02040503050406030204" pitchFamily="18" charset="0"/>
                      </a:rPr>
                      <m:t>=0.16+0.02=0.18</m:t>
                    </m:r>
                  </m:oMath>
                </a14:m>
                <a:endParaRPr lang="en-US" dirty="0"/>
              </a:p>
              <a:p>
                <a:pPr lvl="1"/>
                <a:r>
                  <a:rPr lang="en-US" dirty="0"/>
                  <a:t>5. Merge them into one equation according to (3):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𝑡𝐹</m:t>
                        </m:r>
                      </m:num>
                      <m:den>
                        <m:r>
                          <a:rPr lang="en-US" b="0" i="1" smtClean="0">
                            <a:latin typeface="Cambria Math" panose="02040503050406030204" pitchFamily="18" charset="0"/>
                          </a:rPr>
                          <m:t>𝑚</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𝐽</m:t>
                        </m:r>
                      </m:num>
                      <m:den>
                        <m:r>
                          <a:rPr lang="en-US" b="0" i="1" smtClean="0">
                            <a:latin typeface="Cambria Math" panose="02040503050406030204" pitchFamily="18" charset="0"/>
                          </a:rPr>
                          <m:t>𝑚</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𝑥</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BB6D687D-BB45-0306-77DB-2A662F972F94}"/>
                  </a:ext>
                </a:extLst>
              </p:cNvPr>
              <p:cNvSpPr>
                <a:spLocks noGrp="1" noRot="1" noChangeAspect="1" noMove="1" noResize="1" noEditPoints="1" noAdjustHandles="1" noChangeArrowheads="1" noChangeShapeType="1" noTextEdit="1"/>
              </p:cNvSpPr>
              <p:nvPr>
                <p:ph idx="1"/>
              </p:nvPr>
            </p:nvSpPr>
            <p:spPr>
              <a:xfrm>
                <a:off x="700635" y="1797269"/>
                <a:ext cx="10691265" cy="4498427"/>
              </a:xfrm>
              <a:blipFill>
                <a:blip r:embed="rId2"/>
                <a:stretch>
                  <a:fillRect l="-513" t="-813" r="-114"/>
                </a:stretch>
              </a:blipFill>
            </p:spPr>
            <p:txBody>
              <a:bodyPr/>
              <a:lstStyle/>
              <a:p>
                <a:r>
                  <a:rPr lang="en-US">
                    <a:noFill/>
                  </a:rPr>
                  <a:t> </a:t>
                </a:r>
              </a:p>
            </p:txBody>
          </p:sp>
        </mc:Fallback>
      </mc:AlternateContent>
    </p:spTree>
    <p:extLst>
      <p:ext uri="{BB962C8B-B14F-4D97-AF65-F5344CB8AC3E}">
        <p14:creationId xmlns:p14="http://schemas.microsoft.com/office/powerpoint/2010/main" val="2345192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 name="Straight Connector 9">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C7970D1-59D8-FE30-D8AB-01D4EC7691AE}"/>
              </a:ext>
            </a:extLst>
          </p:cNvPr>
          <p:cNvSpPr>
            <a:spLocks noGrp="1"/>
          </p:cNvSpPr>
          <p:nvPr>
            <p:ph type="title"/>
          </p:nvPr>
        </p:nvSpPr>
        <p:spPr>
          <a:xfrm>
            <a:off x="702129" y="914760"/>
            <a:ext cx="2806615" cy="3543764"/>
          </a:xfrm>
        </p:spPr>
        <p:txBody>
          <a:bodyPr>
            <a:normAutofit/>
          </a:bodyPr>
          <a:lstStyle/>
          <a:p>
            <a:r>
              <a:rPr lang="en-US" sz="3600"/>
              <a:t>The first level</a:t>
            </a:r>
          </a:p>
        </p:txBody>
      </p:sp>
      <p:sp>
        <p:nvSpPr>
          <p:cNvPr id="3" name="Content Placeholder 2">
            <a:extLst>
              <a:ext uri="{FF2B5EF4-FFF2-40B4-BE49-F238E27FC236}">
                <a16:creationId xmlns:a16="http://schemas.microsoft.com/office/drawing/2014/main" id="{76450E46-5687-60E8-5C41-5DA989C5EFEA}"/>
              </a:ext>
            </a:extLst>
          </p:cNvPr>
          <p:cNvSpPr>
            <a:spLocks noGrp="1"/>
          </p:cNvSpPr>
          <p:nvPr>
            <p:ph idx="1"/>
          </p:nvPr>
        </p:nvSpPr>
        <p:spPr>
          <a:xfrm>
            <a:off x="3902149" y="978558"/>
            <a:ext cx="7591859" cy="5091495"/>
          </a:xfrm>
        </p:spPr>
        <p:txBody>
          <a:bodyPr>
            <a:normAutofit/>
          </a:bodyPr>
          <a:lstStyle/>
          <a:p>
            <a:r>
              <a:rPr lang="en-US" dirty="0"/>
              <a:t>L0: the simplest env situation, with two balls, no wall, no fiction, mass fixed, 40 frames, and ensure will occur collision in the front. It will only suddenly change speed at the seventeenth frame. So the mission of this level is trying to predict this frame’s J. L0 only is used for testing if each episode have collision, solver is correct, and the dynamics possesses translational symmetry.</a:t>
            </a:r>
          </a:p>
          <a:p>
            <a:endParaRPr lang="en-US" dirty="0"/>
          </a:p>
          <a:p>
            <a:r>
              <a:rPr lang="en-US"/>
              <a:t>L1 and L2</a:t>
            </a:r>
            <a:r>
              <a:rPr lang="en-US" dirty="0"/>
              <a:t>: L1 starts to open the wall, and put the ball randomly. The result is collision rate decrease from 2.5% to 1.2%, since the ball may not occur collision. We want to see if the network can still predict the state with lower collision. L2 just increase the number of frames to 400.</a:t>
            </a:r>
          </a:p>
        </p:txBody>
      </p:sp>
    </p:spTree>
    <p:extLst>
      <p:ext uri="{BB962C8B-B14F-4D97-AF65-F5344CB8AC3E}">
        <p14:creationId xmlns:p14="http://schemas.microsoft.com/office/powerpoint/2010/main" val="1659256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770AF4-4506-7961-6E14-1F7FF06D4C7C}"/>
              </a:ext>
            </a:extLst>
          </p:cNvPr>
          <p:cNvSpPr>
            <a:spLocks noGrp="1"/>
          </p:cNvSpPr>
          <p:nvPr>
            <p:ph type="title"/>
          </p:nvPr>
        </p:nvSpPr>
        <p:spPr>
          <a:xfrm>
            <a:off x="704087" y="559063"/>
            <a:ext cx="3306747" cy="5256025"/>
          </a:xfrm>
        </p:spPr>
        <p:txBody>
          <a:bodyPr>
            <a:normAutofit/>
          </a:bodyPr>
          <a:lstStyle/>
          <a:p>
            <a:r>
              <a:rPr lang="en-US" sz="3600"/>
              <a:t>The Intervention level</a:t>
            </a:r>
          </a:p>
        </p:txBody>
      </p:sp>
      <p:sp>
        <p:nvSpPr>
          <p:cNvPr id="3" name="Content Placeholder 2">
            <a:extLst>
              <a:ext uri="{FF2B5EF4-FFF2-40B4-BE49-F238E27FC236}">
                <a16:creationId xmlns:a16="http://schemas.microsoft.com/office/drawing/2014/main" id="{CD61F4FD-04D0-0F3A-4F76-904CCEA70EE3}"/>
              </a:ext>
            </a:extLst>
          </p:cNvPr>
          <p:cNvSpPr>
            <a:spLocks noGrp="1"/>
          </p:cNvSpPr>
          <p:nvPr>
            <p:ph idx="1"/>
          </p:nvPr>
        </p:nvSpPr>
        <p:spPr>
          <a:xfrm>
            <a:off x="4643022" y="622249"/>
            <a:ext cx="6844892" cy="5639712"/>
          </a:xfrm>
        </p:spPr>
        <p:txBody>
          <a:bodyPr>
            <a:normAutofit/>
          </a:bodyPr>
          <a:lstStyle/>
          <a:p>
            <a:r>
              <a:rPr lang="en-US" dirty="0"/>
              <a:t>L3: we already know the observation part, when heavy ball hit each other, the speed will become slower, and we call it correlation. But if we change the mass from 1 to 4(only change one ball), which we say do(m=4), and look what will happen. But the range will be known on training part and testing part.</a:t>
            </a:r>
          </a:p>
          <a:p>
            <a:endParaRPr lang="en-US" dirty="0"/>
          </a:p>
          <a:p>
            <a:r>
              <a:rPr lang="en-US" dirty="0"/>
              <a:t>L4: the env is same as L3, the only diff is the range. In this level, the training part only know [0.8,1.2], but doesn’t know test [2.0, 5.0]. This level is used to test the OOD problem.</a:t>
            </a:r>
          </a:p>
          <a:p>
            <a:endParaRPr lang="en-US" dirty="0"/>
          </a:p>
          <a:p>
            <a:r>
              <a:rPr lang="en-US" dirty="0"/>
              <a:t>L5: the final version, enable damping, set the restitution coefficient to 0.9, and use three balls. This is a robustness test.</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545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245F4-A7C9-8E4E-A3B3-36BA10E633C3}"/>
              </a:ext>
            </a:extLst>
          </p:cNvPr>
          <p:cNvSpPr>
            <a:spLocks noGrp="1"/>
          </p:cNvSpPr>
          <p:nvPr>
            <p:ph type="title"/>
          </p:nvPr>
        </p:nvSpPr>
        <p:spPr/>
        <p:txBody>
          <a:bodyPr/>
          <a:lstStyle/>
          <a:p>
            <a:r>
              <a:rPr lang="en-US" dirty="0"/>
              <a:t>The network planning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F854BF-44BA-41EE-BDAB-9330C2FEBF4C}"/>
                  </a:ext>
                </a:extLst>
              </p:cNvPr>
              <p:cNvSpPr>
                <a:spLocks noGrp="1"/>
              </p:cNvSpPr>
              <p:nvPr>
                <p:ph idx="1"/>
              </p:nvPr>
            </p:nvSpPr>
            <p:spPr>
              <a:xfrm>
                <a:off x="700635" y="2221992"/>
                <a:ext cx="10691265" cy="3937070"/>
              </a:xfrm>
            </p:spPr>
            <p:txBody>
              <a:bodyPr>
                <a:normAutofit fontScale="92500" lnSpcReduction="10000"/>
              </a:bodyPr>
              <a:lstStyle/>
              <a:p>
                <a:r>
                  <a:rPr lang="en-US" dirty="0"/>
                  <a:t>ABCD levels as well,</a:t>
                </a:r>
              </a:p>
              <a:p>
                <a:pPr lvl="1"/>
                <a:r>
                  <a:rPr lang="en-US" dirty="0"/>
                  <a:t>A: the output will be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𝐽</m:t>
                            </m:r>
                          </m:e>
                        </m:acc>
                      </m:e>
                      <m:sub>
                        <m:r>
                          <a:rPr lang="en-US" b="0" i="1" smtClean="0">
                            <a:latin typeface="Cambria Math" panose="02040503050406030204" pitchFamily="18" charset="0"/>
                          </a:rPr>
                          <m:t>𝑥</m:t>
                        </m:r>
                      </m:sub>
                    </m:sSub>
                    <m:sSub>
                      <m:sSubPr>
                        <m:ctrlPr>
                          <a:rPr lang="en-US" i="1">
                            <a:latin typeface="Cambria Math" panose="02040503050406030204" pitchFamily="18" charset="0"/>
                          </a:rPr>
                        </m:ctrlPr>
                      </m:sSubPr>
                      <m:e>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𝐽</m:t>
                            </m:r>
                          </m:e>
                        </m:acc>
                      </m:e>
                      <m:sub>
                        <m:r>
                          <a:rPr lang="en-US" b="0" i="1" smtClean="0">
                            <a:latin typeface="Cambria Math" panose="02040503050406030204" pitchFamily="18" charset="0"/>
                          </a:rPr>
                          <m:t>𝑦</m:t>
                        </m:r>
                      </m:sub>
                    </m:sSub>
                    <m:r>
                      <a:rPr lang="en-US" b="0" i="1" smtClean="0">
                        <a:latin typeface="Cambria Math" panose="02040503050406030204" pitchFamily="18" charset="0"/>
                      </a:rPr>
                      <m:t>)</m:t>
                    </m:r>
                  </m:oMath>
                </a14:m>
                <a:r>
                  <a:rPr lang="en-US" dirty="0"/>
                  <a:t>, let model learn how to predict the J and the direction. Which has the highest freedom but requires data and least knowledge of physics.</a:t>
                </a:r>
              </a:p>
              <a:p>
                <a:pPr lvl="1"/>
                <a:r>
                  <a:rPr lang="en-US" dirty="0"/>
                  <a:t>B: only output a Scalar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𝐽</m:t>
                        </m:r>
                      </m:e>
                    </m:acc>
                  </m:oMath>
                </a14:m>
                <a:r>
                  <a:rPr lang="en-US" dirty="0"/>
                  <a:t>, the final impulse will be</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𝐽</m:t>
                        </m:r>
                      </m:e>
                    </m:acc>
                    <m:r>
                      <a:rPr lang="en-US" b="0" i="1" smtClean="0">
                        <a:latin typeface="Cambria Math" panose="02040503050406030204" pitchFamily="18" charset="0"/>
                      </a:rPr>
                      <m:t> </m:t>
                    </m:r>
                    <m:r>
                      <a:rPr lang="en-US" b="0" i="1" smtClean="0">
                        <a:latin typeface="Cambria Math" panose="02040503050406030204" pitchFamily="18" charset="0"/>
                      </a:rPr>
                      <m:t>𝑛</m:t>
                    </m:r>
                  </m:oMath>
                </a14:m>
                <a:r>
                  <a:rPr lang="en-US" dirty="0"/>
                  <a:t>), and calculate the direction using geometry. Example, output</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𝐽</m:t>
                        </m:r>
                      </m:e>
                    </m:acc>
                    <m:r>
                      <a:rPr lang="en-US" b="0" i="1" smtClean="0">
                        <a:latin typeface="Cambria Math" panose="02040503050406030204" pitchFamily="18" charset="0"/>
                      </a:rPr>
                      <m:t>=−2, </m:t>
                    </m:r>
                    <m:r>
                      <a:rPr lang="en-US" b="0" i="1" smtClean="0">
                        <a:latin typeface="Cambria Math" panose="02040503050406030204" pitchFamily="18" charset="0"/>
                      </a:rPr>
                      <m:t>𝑔𝑒𝑜𝑚𝑒𝑡𝑟𝑦</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1,0</m:t>
                        </m:r>
                      </m:e>
                    </m:d>
                  </m:oMath>
                </a14:m>
                <a:r>
                  <a:rPr lang="en-US" dirty="0"/>
                  <a:t>, final impulse </a:t>
                </a:r>
                <a14:m>
                  <m:oMath xmlns:m="http://schemas.openxmlformats.org/officeDocument/2006/math">
                    <m:r>
                      <a:rPr lang="en-US" b="0" i="1" smtClean="0">
                        <a:latin typeface="Cambria Math" panose="02040503050406030204" pitchFamily="18" charset="0"/>
                      </a:rPr>
                      <m:t>(−2,0)</m:t>
                    </m:r>
                  </m:oMath>
                </a14:m>
                <a:r>
                  <a:rPr lang="en-US" dirty="0"/>
                  <a:t>. Fellow Conservation law: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21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12</m:t>
                        </m:r>
                      </m:sub>
                    </m:sSub>
                  </m:oMath>
                </a14:m>
                <a:r>
                  <a:rPr lang="en-US" dirty="0"/>
                  <a:t>, two balls auto get the same impulse but opposite direction.</a:t>
                </a:r>
              </a:p>
              <a:p>
                <a:pPr lvl="1"/>
                <a:r>
                  <a:rPr lang="en-US" dirty="0"/>
                  <a:t>C: output a Proportionality coefficient, according to </a:t>
                </a:r>
                <a:r>
                  <a:rPr lang="en-US" altLang="zh-CN" dirty="0"/>
                  <a:t>equation </a:t>
                </a:r>
                <a:r>
                  <a:rPr lang="en-US" dirty="0"/>
                  <a:t>(2), we want the network to predict the </a:t>
                </a:r>
                <a14:m>
                  <m:oMath xmlns:m="http://schemas.openxmlformats.org/officeDocument/2006/math">
                    <m:r>
                      <a:rPr lang="en-US" b="0" i="1" smtClean="0">
                        <a:latin typeface="Cambria Math" panose="02040503050406030204" pitchFamily="18" charset="0"/>
                      </a:rPr>
                      <m:t>𝑘</m:t>
                    </m:r>
                  </m:oMath>
                </a14:m>
                <a:r>
                  <a:rPr lang="en-US" dirty="0"/>
                  <a:t> which is the </a:t>
                </a:r>
                <a:r>
                  <a:rPr lang="en-US" altLang="zh-CN" dirty="0"/>
                  <a:t>c</a:t>
                </a:r>
                <a:r>
                  <a:rPr lang="en-US" dirty="0"/>
                  <a:t>orrelation coefficient, and assume we know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oMath>
                </a14:m>
                <a:r>
                  <a:rPr lang="en-US" dirty="0"/>
                  <a:t>, which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a:t>
                </a:r>
              </a:p>
              <a:p>
                <a:pPr lvl="1"/>
                <a:r>
                  <a:rPr lang="en-US" dirty="0"/>
                  <a:t>D: put all equation to solver (3), if we know the </a:t>
                </a:r>
                <a14:m>
                  <m:oMath xmlns:m="http://schemas.openxmlformats.org/officeDocument/2006/math">
                    <m:r>
                      <a:rPr lang="en-US" b="0" i="1" smtClean="0">
                        <a:latin typeface="Cambria Math" panose="02040503050406030204" pitchFamily="18" charset="0"/>
                      </a:rPr>
                      <m:t>𝜃</m:t>
                    </m:r>
                  </m:oMath>
                </a14:m>
                <a:r>
                  <a:rPr lang="en-US" dirty="0"/>
                  <a:t>, we can get the </a:t>
                </a:r>
                <a14:m>
                  <m:oMath xmlns:m="http://schemas.openxmlformats.org/officeDocument/2006/math">
                    <m:r>
                      <a:rPr lang="en-US" b="0" i="1" smtClean="0">
                        <a:latin typeface="Cambria Math" panose="02040503050406030204" pitchFamily="18" charset="0"/>
                      </a:rPr>
                      <m:t>𝑘</m:t>
                    </m:r>
                  </m:oMath>
                </a14:m>
                <a:r>
                  <a:rPr lang="en-US" dirty="0"/>
                  <a:t> directly, so how about we consider about if this frame occur the collision? Then we have a switch </a:t>
                </a:r>
                <a14:m>
                  <m:oMath xmlns:m="http://schemas.openxmlformats.org/officeDocument/2006/math">
                    <m:r>
                      <a:rPr lang="en-US" b="0" i="1" smtClean="0">
                        <a:latin typeface="Cambria Math" panose="02040503050406030204" pitchFamily="18" charset="0"/>
                      </a:rPr>
                      <m:t>𝑔</m:t>
                    </m:r>
                  </m:oMath>
                </a14:m>
                <a:r>
                  <a:rPr lang="en-US" dirty="0"/>
                  <a:t> (L4):</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𝑔</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𝑒</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𝑛</m:t>
                              </m:r>
                            </m:sub>
                          </m:sSub>
                        </m:num>
                        <m:den>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den>
                          </m:f>
                        </m:den>
                      </m:f>
                    </m:oMath>
                  </m:oMathPara>
                </a14:m>
                <a:endParaRPr lang="en-US" dirty="0"/>
              </a:p>
            </p:txBody>
          </p:sp>
        </mc:Choice>
        <mc:Fallback xmlns="">
          <p:sp>
            <p:nvSpPr>
              <p:cNvPr id="3" name="Content Placeholder 2">
                <a:extLst>
                  <a:ext uri="{FF2B5EF4-FFF2-40B4-BE49-F238E27FC236}">
                    <a16:creationId xmlns:a16="http://schemas.microsoft.com/office/drawing/2014/main" id="{9BF854BF-44BA-41EE-BDAB-9330C2FEBF4C}"/>
                  </a:ext>
                </a:extLst>
              </p:cNvPr>
              <p:cNvSpPr>
                <a:spLocks noGrp="1" noRot="1" noChangeAspect="1" noMove="1" noResize="1" noEditPoints="1" noAdjustHandles="1" noChangeArrowheads="1" noChangeShapeType="1" noTextEdit="1"/>
              </p:cNvSpPr>
              <p:nvPr>
                <p:ph idx="1"/>
              </p:nvPr>
            </p:nvSpPr>
            <p:spPr>
              <a:xfrm>
                <a:off x="700635" y="2221992"/>
                <a:ext cx="10691265" cy="3937070"/>
              </a:xfrm>
              <a:blipFill>
                <a:blip r:embed="rId2"/>
                <a:stretch>
                  <a:fillRect l="-456" t="-930" r="-456"/>
                </a:stretch>
              </a:blipFill>
            </p:spPr>
            <p:txBody>
              <a:bodyPr/>
              <a:lstStyle/>
              <a:p>
                <a:r>
                  <a:rPr lang="en-US">
                    <a:noFill/>
                  </a:rPr>
                  <a:t> </a:t>
                </a:r>
              </a:p>
            </p:txBody>
          </p:sp>
        </mc:Fallback>
      </mc:AlternateContent>
    </p:spTree>
    <p:extLst>
      <p:ext uri="{BB962C8B-B14F-4D97-AF65-F5344CB8AC3E}">
        <p14:creationId xmlns:p14="http://schemas.microsoft.com/office/powerpoint/2010/main" val="4237219925"/>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564</TotalTime>
  <Words>1367</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Bierstadt</vt:lpstr>
      <vt:lpstr>Calisto MT</vt:lpstr>
      <vt:lpstr>Cambria Math</vt:lpstr>
      <vt:lpstr>Univers Condensed</vt:lpstr>
      <vt:lpstr>ChronicleVTI</vt:lpstr>
      <vt:lpstr>Structured and amenable to intervention </vt:lpstr>
      <vt:lpstr>Env setting</vt:lpstr>
      <vt:lpstr>The agent</vt:lpstr>
      <vt:lpstr>Collision</vt:lpstr>
      <vt:lpstr>surrounding setting (wall, friction)</vt:lpstr>
      <vt:lpstr>The design</vt:lpstr>
      <vt:lpstr>Why Impulse equation</vt:lpstr>
      <vt:lpstr>How to calculate next frame?</vt:lpstr>
      <vt:lpstr>The first level</vt:lpstr>
      <vt:lpstr>The Intervention level</vt:lpstr>
      <vt:lpstr>The network planning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 Lin</dc:creator>
  <cp:lastModifiedBy>Chu Lin</cp:lastModifiedBy>
  <cp:revision>7</cp:revision>
  <dcterms:created xsi:type="dcterms:W3CDTF">2026-07-28T15:42:51Z</dcterms:created>
  <dcterms:modified xsi:type="dcterms:W3CDTF">2026-07-31T14:40:36Z</dcterms:modified>
</cp:coreProperties>
</file>