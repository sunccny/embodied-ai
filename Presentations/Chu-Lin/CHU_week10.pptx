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61" r:id="rId2"/>
    <p:sldId id="256" r:id="rId3"/>
    <p:sldId id="263" r:id="rId4"/>
    <p:sldId id="257" r:id="rId5"/>
    <p:sldId id="258" r:id="rId6"/>
    <p:sldId id="259" r:id="rId7"/>
    <p:sldId id="260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A624DEA4-834B-44D9-BB5B-23A5D14AA4FA}"/>
    <pc:docChg chg="undo custSel addSld delSld modSld sldOrd addMainMaster delMainMaster">
      <pc:chgData name="Chu Lin" userId="a9d5f5a05d2946b6" providerId="LiveId" clId="{A624DEA4-834B-44D9-BB5B-23A5D14AA4FA}" dt="2026-09-08T15:34:12.786" v="3699" actId="1076"/>
      <pc:docMkLst>
        <pc:docMk/>
      </pc:docMkLst>
      <pc:sldChg chg="modSp mod">
        <pc:chgData name="Chu Lin" userId="a9d5f5a05d2946b6" providerId="LiveId" clId="{A624DEA4-834B-44D9-BB5B-23A5D14AA4FA}" dt="2026-08-28T15:33:10.545" v="3659" actId="20577"/>
        <pc:sldMkLst>
          <pc:docMk/>
          <pc:sldMk cId="0" sldId="256"/>
        </pc:sldMkLst>
        <pc:spChg chg="mod">
          <ac:chgData name="Chu Lin" userId="a9d5f5a05d2946b6" providerId="LiveId" clId="{A624DEA4-834B-44D9-BB5B-23A5D14AA4FA}" dt="2026-08-28T15:32:22.482" v="364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28T15:32:20.050" v="364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Chu Lin" userId="a9d5f5a05d2946b6" providerId="LiveId" clId="{A624DEA4-834B-44D9-BB5B-23A5D14AA4FA}" dt="2026-08-28T15:33:10.545" v="365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28T15:20:54.912" v="3623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Chu Lin" userId="a9d5f5a05d2946b6" providerId="LiveId" clId="{A624DEA4-834B-44D9-BB5B-23A5D14AA4FA}" dt="2026-08-28T17:31:45.367" v="3693"/>
        <pc:sldMkLst>
          <pc:docMk/>
          <pc:sldMk cId="0" sldId="257"/>
        </pc:sldMkLst>
        <pc:spChg chg="mod">
          <ac:chgData name="Chu Lin" userId="a9d5f5a05d2946b6" providerId="LiveId" clId="{A624DEA4-834B-44D9-BB5B-23A5D14AA4FA}" dt="2026-08-28T17:31:45.367" v="3693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08-28T18:08:34.051" v="3695" actId="113"/>
        <pc:sldMkLst>
          <pc:docMk/>
          <pc:sldMk cId="0" sldId="259"/>
        </pc:sldMkLst>
        <pc:spChg chg="mod">
          <ac:chgData name="Chu Lin" userId="a9d5f5a05d2946b6" providerId="LiveId" clId="{A624DEA4-834B-44D9-BB5B-23A5D14AA4FA}" dt="2026-08-28T18:08:34.051" v="3695" actId="113"/>
          <ac:spMkLst>
            <pc:docMk/>
            <pc:sldMk cId="0" sldId="259"/>
            <ac:spMk id="9" creationId="{00000000-0000-0000-0000-000000000000}"/>
          </ac:spMkLst>
        </pc:spChg>
        <pc:spChg chg="mod">
          <ac:chgData name="Chu Lin" userId="a9d5f5a05d2946b6" providerId="LiveId" clId="{A624DEA4-834B-44D9-BB5B-23A5D14AA4FA}" dt="2026-08-28T18:08:24.951" v="3694" actId="113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mod delAnim modAnim">
        <pc:chgData name="Chu Lin" userId="a9d5f5a05d2946b6" providerId="LiveId" clId="{A624DEA4-834B-44D9-BB5B-23A5D14AA4FA}" dt="2026-09-08T15:34:12.786" v="3699" actId="1076"/>
        <pc:sldMkLst>
          <pc:docMk/>
          <pc:sldMk cId="0" sldId="263"/>
        </pc:sldMkLst>
        <pc:spChg chg="mod">
          <ac:chgData name="Chu Lin" userId="a9d5f5a05d2946b6" providerId="LiveId" clId="{A624DEA4-834B-44D9-BB5B-23A5D14AA4FA}" dt="2026-09-08T15:34:09.660" v="369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Chu Lin" userId="a9d5f5a05d2946b6" providerId="LiveId" clId="{A624DEA4-834B-44D9-BB5B-23A5D14AA4FA}" dt="2026-09-08T15:34:12.786" v="3699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28T17:24:23.591" v="3674" actId="1076"/>
          <ac:spMkLst>
            <pc:docMk/>
            <pc:sldMk cId="0" sldId="263"/>
            <ac:spMk id="9" creationId="{00000000-0000-0000-0000-000000000000}"/>
          </ac:spMkLst>
        </pc:spChg>
        <pc:graphicFrameChg chg="add del mod modGraphic">
          <ac:chgData name="Chu Lin" userId="a9d5f5a05d2946b6" providerId="LiveId" clId="{A624DEA4-834B-44D9-BB5B-23A5D14AA4FA}" dt="2026-09-08T15:34:00.838" v="3696" actId="478"/>
          <ac:graphicFrameMkLst>
            <pc:docMk/>
            <pc:sldMk cId="0" sldId="263"/>
            <ac:graphicFrameMk id="4" creationId="{810E221B-B709-B316-CA93-C22120628C04}"/>
          </ac:graphicFrameMkLst>
        </pc:graphicFrameChg>
        <pc:graphicFrameChg chg="mod">
          <ac:chgData name="Chu Lin" userId="a9d5f5a05d2946b6" providerId="LiveId" clId="{A624DEA4-834B-44D9-BB5B-23A5D14AA4FA}" dt="2026-09-08T15:34:07.562" v="3697" actId="1076"/>
          <ac:graphicFrameMkLst>
            <pc:docMk/>
            <pc:sldMk cId="0" sldId="263"/>
            <ac:graphicFrameMk id="6" creationId="{00000000-0000-0000-0000-000000000000}"/>
          </ac:graphicFrameMkLst>
        </pc:graphicFrameChg>
      </pc:sldChg>
      <pc:sldChg chg="addSp delSp modSp mod">
        <pc:chgData name="Chu Lin" userId="a9d5f5a05d2946b6" providerId="LiveId" clId="{A624DEA4-834B-44D9-BB5B-23A5D14AA4FA}" dt="2026-08-28T17:26:18.956" v="3692" actId="14100"/>
        <pc:sldMkLst>
          <pc:docMk/>
          <pc:sldMk cId="0" sldId="265"/>
        </pc:sldMkLst>
        <pc:spChg chg="add mod ord">
          <ac:chgData name="Chu Lin" userId="a9d5f5a05d2946b6" providerId="LiveId" clId="{A624DEA4-834B-44D9-BB5B-23A5D14AA4FA}" dt="2026-08-28T17:26:18.956" v="3692" actId="14100"/>
          <ac:spMkLst>
            <pc:docMk/>
            <pc:sldMk cId="0" sldId="265"/>
            <ac:spMk id="6" creationId="{FE30A75A-9312-D914-51E0-D6636CB58BF2}"/>
          </ac:spMkLst>
        </pc:spChg>
      </pc:sldChg>
      <pc:sldMasterChg chg="add addSldLayout">
        <pc:chgData name="Chu Lin" userId="a9d5f5a05d2946b6" providerId="LiveId" clId="{A624DEA4-834B-44D9-BB5B-23A5D14AA4FA}" dt="2026-08-20T15:11:36.866" v="12" actId="26606"/>
        <pc:sldMasterMkLst>
          <pc:docMk/>
          <pc:sldMasterMk cId="1318086908" sldId="2147483699"/>
        </pc:sldMasterMkLst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4095239896" sldId="2147483688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2886924057" sldId="2147483689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500546338" sldId="2147483690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197449387" sldId="2147483691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3956605325" sldId="2147483692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657253017" sldId="2147483693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1466046552" sldId="2147483694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4241948137" sldId="2147483695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1735229713" sldId="2147483696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3510718878" sldId="2147483697"/>
          </pc:sldLayoutMkLst>
        </pc:sldLayoutChg>
        <pc:sldLayoutChg chg="add">
          <pc:chgData name="Chu Lin" userId="a9d5f5a05d2946b6" providerId="LiveId" clId="{A624DEA4-834B-44D9-BB5B-23A5D14AA4FA}" dt="2026-08-20T15:11:36.866" v="12" actId="26606"/>
          <pc:sldLayoutMkLst>
            <pc:docMk/>
            <pc:sldMasterMk cId="1318086908" sldId="2147483699"/>
            <pc:sldLayoutMk cId="2963250622" sldId="214748369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OOD RMSE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Old per-head</c:v>
                </c:pt>
                <c:pt idx="1">
                  <c:v>Edge-wise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0.68300000000000005</c:v>
                </c:pt>
                <c:pt idx="1">
                  <c:v>0.60399999999999998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8-4C09-A124-E021B84C6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4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4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1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3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2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5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8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Person In A Lab">
            <a:extLst>
              <a:ext uri="{FF2B5EF4-FFF2-40B4-BE49-F238E27FC236}">
                <a16:creationId xmlns:a16="http://schemas.microsoft.com/office/drawing/2014/main" id="{0A8E6421-0012-A587-C870-FA57D80182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894E2-B8AA-1552-3758-33AEC0A8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918" y="3429000"/>
            <a:ext cx="4506064" cy="1888742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More experimental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3BDC0-1AD1-8D9E-731C-8E383E66F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916" y="5428229"/>
            <a:ext cx="4506066" cy="899643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chu</a:t>
            </a:r>
          </a:p>
        </p:txBody>
      </p:sp>
    </p:spTree>
    <p:extLst>
      <p:ext uri="{BB962C8B-B14F-4D97-AF65-F5344CB8AC3E}">
        <p14:creationId xmlns:p14="http://schemas.microsoft.com/office/powerpoint/2010/main" val="3304147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881360" cy="841248"/>
          </a:xfrm>
        </p:spPr>
        <p:txBody>
          <a:bodyPr/>
          <a:lstStyle/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t>Why edge-wise: the mask had nothing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33856"/>
            <a:ext cx="10881360" cy="32918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250" i="1">
                <a:solidFill>
                  <a:srgbClr val="666E6A"/>
                </a:solidFill>
                <a:latin typeface="Neue Haas Grotesk Text Pro"/>
              </a:defRPr>
            </a:pPr>
            <a:r>
              <a:t>the previous gate learned nothing, and the architecture explains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154859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C3932"/>
                </a:solidFill>
                <a:latin typeface="Neue Haas Grotesk Text Pro"/>
              </a:defRPr>
            </a:pPr>
            <a:r>
              <a:t>Previous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2648" y="1956816"/>
                <a:ext cx="5120640" cy="30066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>
                  <a:spcAft>
                    <a:spcPts val="400"/>
                  </a:spcAft>
                  <a:defRPr sz="1500" b="0" i="0">
                    <a:solidFill>
                      <a:srgbClr val="2C3932"/>
                    </a:solidFill>
                    <a:latin typeface="Neue Haas Grotesk Text Pro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⊙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[:,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 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956816"/>
                <a:ext cx="5120640" cy="300660"/>
              </a:xfrm>
              <a:prstGeom prst="rect">
                <a:avLst/>
              </a:prstGeom>
              <a:blipFill>
                <a:blip r:embed="rId2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612648" y="2450592"/>
            <a:ext cx="5120639" cy="2034322"/>
          </a:xfrm>
          <a:prstGeom prst="roundRect">
            <a:avLst/>
          </a:prstGeom>
          <a:solidFill>
            <a:srgbClr val="FDF6EA"/>
          </a:solidFill>
          <a:ln w="15875">
            <a:solidFill>
              <a:srgbClr val="E1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400"/>
              <a:t>The mask only SCALES the input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/>
              <a:t>Halve A_ij, double the matching first-layer weight,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/>
              <a:t>and the function is unchanged. The loss therefore has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/>
              <a:t>almost no preference over A.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endParaRPr sz="1400"/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/>
              <a:t>Measured: every gate parked inside [0.508, 0.598],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/>
              <a:t>separation 0.0047, decoy AUROC 0.452 — below chance.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6760" y="15179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C3932"/>
                </a:solidFill>
                <a:latin typeface="Neue Haas Grotesk Text Pro"/>
              </a:defRPr>
            </a:pPr>
            <a:r>
              <a:rPr dirty="0"/>
              <a:t>New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55078" y="1651954"/>
                <a:ext cx="4754880" cy="64787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spcAft>
                    <a:spcPts val="400"/>
                  </a:spcAft>
                  <a:defRPr sz="1500" b="0" i="0">
                    <a:solidFill>
                      <a:srgbClr val="2C3932"/>
                    </a:solidFill>
                    <a:latin typeface="Neue Haas Grotesk Text Pro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l-GR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l-GR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  <m:t>· </m:t>
                                  </m:r>
                                  <m:sSub>
                                    <m:sSubPr>
                                      <m:ctrlP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l-GR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l-GR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l-GR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l-GR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l-GR" i="1" dirty="0" err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i="1" dirty="0" err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l-GR" i="1" dirty="0" err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78" y="1651954"/>
                <a:ext cx="4754880" cy="647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5989319" y="2450592"/>
                <a:ext cx="5120639" cy="2034322"/>
              </a:xfrm>
              <a:prstGeom prst="roundRect">
                <a:avLst/>
              </a:prstGeom>
              <a:solidFill>
                <a:srgbClr val="E9F4EF"/>
              </a:solidFill>
              <a:ln w="15875">
                <a:solidFill>
                  <a:srgbClr val="3D9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18872" tIns="73152" rIns="100584" rtlCol="0" anchor="ctr"/>
              <a:lstStyle/>
              <a:p>
                <a:pPr algn="l">
                  <a:spcAft>
                    <a:spcPts val="400"/>
                  </a:spcAft>
                  <a:defRPr sz="1200" b="1">
                    <a:solidFill>
                      <a:srgbClr val="2C3932"/>
                    </a:solidFill>
                    <a:latin typeface="Neue Haas Grotesk Text Pro"/>
                  </a:defRPr>
                </a:pPr>
                <a:r>
                  <a:rPr lang="en-US" sz="1400" dirty="0"/>
                  <a:t>A = 0 deletes the pathway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No first-layer weight can grow back: the message is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gone before </a:t>
                </a:r>
                <a:r>
                  <a:rPr lang="en-US" sz="1400" dirty="0" err="1"/>
                  <a:t>g_i</a:t>
                </a:r>
                <a:r>
                  <a:rPr lang="en-US" sz="1400" dirty="0"/>
                  <a:t> ever sees it.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endParaRPr lang="en-US" sz="1400" dirty="0"/>
              </a:p>
              <a:p>
                <a:pPr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All other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each send a message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 via the potential causal edge j to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; the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nor/>
                          </m:rPr>
                          <a:rPr lang="en-US" sz="1050" i="0">
                            <a:solidFill>
                              <a:srgbClr val="666E6A"/>
                            </a:solidFill>
                            <a:latin typeface="Neue Haas Grotesk Text Pro"/>
                          </a:rPr>
                          <m:t>→i​</m:t>
                        </m:r>
                      </m:sub>
                    </m:sSub>
                  </m:oMath>
                </a14:m>
                <a:r>
                  <a:rPr lang="en-US" sz="1400" dirty="0"/>
                  <a:t> determines whether—or to what extent—the message passes through; finally,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 aggregates all the received messages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400" dirty="0"/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9" y="2450592"/>
                <a:ext cx="5120639" cy="2034322"/>
              </a:xfrm>
              <a:prstGeom prst="roundRect">
                <a:avLst/>
              </a:prstGeom>
              <a:blipFill>
                <a:blip r:embed="rId4"/>
                <a:stretch>
                  <a:fillRect t="-1780" b="-5638"/>
                </a:stretch>
              </a:blipFill>
              <a:ln w="15875">
                <a:solidFill>
                  <a:srgbClr val="3D907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2647" y="4600524"/>
            <a:ext cx="10621409" cy="1724075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400" dirty="0"/>
              <a:t>The risk that had to be cleared first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dirty="0"/>
              <a:t>Sum aggregation is a </a:t>
            </a:r>
            <a:r>
              <a:rPr sz="1400" dirty="0" err="1"/>
              <a:t>DeepSets</a:t>
            </a:r>
            <a:r>
              <a:rPr sz="1400" dirty="0"/>
              <a:t> bottleneck and our mechanism is multiplicative: 1/m cannot be written </a:t>
            </a:r>
            <a:r>
              <a:rPr sz="1400" dirty="0" err="1"/>
              <a:t>h_m</a:t>
            </a:r>
            <a:r>
              <a:rPr sz="1400" dirty="0"/>
              <a:t>(m) + </a:t>
            </a:r>
            <a:r>
              <a:rPr sz="1400" dirty="0" err="1"/>
              <a:t>h_F</a:t>
            </a:r>
            <a:r>
              <a:rPr sz="1400" dirty="0"/>
              <a:t>(F).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dirty="0"/>
              <a:t>So the first experiment was not "does the gate improve" but "does the ORACLE still reach its ceiling". If the ceiling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dirty="0"/>
              <a:t>collapses, the architecture destroyed what we are competing for and every later comparison is meaningless.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4297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Oracle ceiling survived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72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Oracle architecture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OOD RMSE ↓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vs constant ↓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Spread ≈1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Corr ↑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Sign acc ↑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Old per-head 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Edge-wise oracle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0.604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0.522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0.946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0.847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0.743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219246"/>
              </p:ext>
            </p:extLst>
          </p:nvPr>
        </p:nvGraphicFramePr>
        <p:xfrm>
          <a:off x="680524" y="3660054"/>
          <a:ext cx="4457114" cy="2422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2369" y="4665425"/>
            <a:ext cx="4392637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6842" y="4605417"/>
            <a:ext cx="42236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D8755"/>
                </a:solidFill>
                <a:latin typeface="Aptos"/>
              </a:rPr>
              <a:t>CEILING INTACT
With G = G*, the edge-wise model predicts better than the old oracle. The architecture did not destroy F*.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2369" y="2866292"/>
            <a:ext cx="4054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E1F37"/>
                </a:solidFill>
                <a:latin typeface="Aptos"/>
              </a:rPr>
              <a:t>OOD vs constant = 0.522 &lt;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881360" cy="841248"/>
          </a:xfrm>
        </p:spPr>
        <p:txBody>
          <a:bodyPr/>
          <a:lstStyle/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t>Result: the gate recovered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3356"/>
              </p:ext>
            </p:extLst>
          </p:nvPr>
        </p:nvGraphicFramePr>
        <p:xfrm>
          <a:off x="612648" y="1344168"/>
          <a:ext cx="6035040" cy="291214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0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72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Gate quality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per-head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edge-wise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true-cause rank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 / 9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 / 9   PASS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separation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0.0047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0.0645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AUROC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0.535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0.675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AUPRC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0.344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0.584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decoy AUROC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0.452  below chance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0.711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SHD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108.9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51.7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block margin  (truth +1.0)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+0.017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rPr dirty="0"/>
                        <a:t>+0.0886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388582"/>
            <a:ext cx="4406537" cy="1665514"/>
          </a:xfrm>
          <a:prstGeom prst="roundRect">
            <a:avLst/>
          </a:prstGeom>
          <a:solidFill>
            <a:srgbClr val="E9F4EF"/>
          </a:solidFill>
          <a:ln w="15875">
            <a:solidFill>
              <a:srgbClr val="3D9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dirty="0"/>
              <a:t>The blunting is gone too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in-distribution RMSE   0.700  →  0.084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OOD spread ratio        0.120  →  0.892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endParaRPr dirty="0"/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Removing the stochastic gate sampling was what did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this — the previous arm bought low OOD RMSE by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refusing to predict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3200400"/>
            <a:ext cx="4406537" cy="1665514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dirty="0"/>
              <a:t>Block margin is the strongest of these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gate(B's causes → B) − gate(B's causes → A)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endParaRPr dirty="0"/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It cannot be earned by closing pure noise. Only a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model that knows WHICH output a parent feeds can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score on it — which is exactly what the two-object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dirty="0"/>
              <a:t>dataset was rebuilt to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75488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C3932"/>
                </a:solidFill>
                <a:latin typeface="Neue Haas Grotesk Text Pro"/>
              </a:defRPr>
            </a:pPr>
            <a:r>
              <a:t>But downstream did not move at all: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" y="5102352"/>
          <a:ext cx="6035040" cy="11932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arm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OOD RMSE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vs constant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learned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1.7419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1.441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uniform  (gate frozen at 0.5)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1.7547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1.452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full  (no gating)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1.7564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1.453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19" y="5102352"/>
            <a:ext cx="4406537" cy="1389888"/>
          </a:xfrm>
          <a:prstGeom prst="roundRect">
            <a:avLst/>
          </a:prstGeom>
          <a:solidFill>
            <a:srgbClr val="FDF6EA"/>
          </a:solidFill>
          <a:ln w="15875">
            <a:solidFill>
              <a:srgbClr val="E1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t>Covers 1.3% of a 65.6% ceiling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t>Within 1% of committing to nothing, on every metric.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t>Holm correction leaves nothing 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881360" cy="841248"/>
          </a:xfrm>
        </p:spPr>
        <p:txBody>
          <a:bodyPr/>
          <a:lstStyle/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t>Test: binarise the ranking and see what it is worth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80160"/>
            <a:ext cx="4999058" cy="1609344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200" dirty="0"/>
              <a:t>What this separates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The soft gate confuses two failures: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     "the ordering is poor"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     "the ordering is fine but never committed"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Hardening removes the second by force, so what remains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measures the ordering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7568" y="1280160"/>
            <a:ext cx="5503817" cy="1609344"/>
          </a:xfrm>
          <a:prstGeom prst="roundRect">
            <a:avLst/>
          </a:prstGeom>
          <a:solidFill>
            <a:srgbClr val="FDF6EA"/>
          </a:solidFill>
          <a:ln w="15875">
            <a:solidFill>
              <a:srgbClr val="E1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200"/>
              <a:t>Honesty note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/>
              <a:t>Thresholds are swept and the whole curve reported. The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/>
              <a:t>best point is an UPPER BOUND on what this ranking is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/>
              <a:t>worth, not a deployable method — choosing the threshold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200"/>
              <a:t>by the result would be using the answer.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3054096"/>
          <a:ext cx="10149840" cy="2057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threshold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edges open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SHD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true edges hit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chance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precision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vs constant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0.40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127.0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95.8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45.1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39.0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35.5%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1.452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0.43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94.3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78.1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37.6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29.0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39.9%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1.470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0.45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72.0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65.8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32.6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22.1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45.3%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1.472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0.47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48.4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57.0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25.2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14.9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52.1%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1.461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uniform  (no commitment)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1.452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oracle  (true graph)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59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59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100%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0.505</a:t>
                      </a:r>
                    </a:p>
                  </a:txBody>
                  <a:tcPr marL="64008" marR="45720" marT="13716" marB="13716" anchor="ctr">
                    <a:solidFill>
                      <a:srgbClr val="E9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230368"/>
            <a:ext cx="10149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15C3D"/>
                </a:solidFill>
                <a:latin typeface="Neue Haas Grotesk Text Pro"/>
              </a:defRPr>
            </a:pPr>
            <a:r>
              <a:t>Every threshold lands on uniform's 1.452.  Recovers 0.0% of the ceiling — hardening is slightly WORSE than the soft gate (1.441).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614416"/>
            <a:ext cx="10149840" cy="914400"/>
          </a:xfrm>
          <a:prstGeom prst="roundRect">
            <a:avLst/>
          </a:prstGeom>
          <a:solidFill>
            <a:srgbClr val="FDF6EA"/>
          </a:solidFill>
          <a:ln w="15875">
            <a:solidFill>
              <a:srgbClr val="E1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t>So the earlier reading was wrong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t>"The ordering is right, it just never commits" does not survive this. The truth has 59 edges out of 192; the best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t>binarisation opens 48 and hits 25 of them, where chance hits 15. That is 1.69x chance — signal, but nowhere near a usable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t>graph. AUROC 0.675 sounds acceptable and means 57 cells would have to change to reach a graph with 59 true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291970"/>
            <a:ext cx="10881360" cy="841248"/>
          </a:xfrm>
        </p:spPr>
        <p:txBody>
          <a:bodyPr/>
          <a:lstStyle/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t>Diagnosis: absorption only moved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108" y="1265246"/>
                <a:ext cx="10881360" cy="3837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spcAft>
                    <a:spcPts val="400"/>
                  </a:spcAft>
                  <a:defRPr sz="1500" b="1" i="0">
                    <a:solidFill>
                      <a:srgbClr val="2C3932"/>
                    </a:solidFill>
                    <a:latin typeface="Neue Haas Grotesk Text Pro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· </m:t>
                      </m:r>
                      <m:sSub>
                        <m:sSubPr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08" y="1265246"/>
                <a:ext cx="10881360" cy="383759"/>
              </a:xfrm>
              <a:prstGeom prst="rect">
                <a:avLst/>
              </a:prstGeom>
              <a:blipFill>
                <a:blip r:embed="rId2"/>
                <a:stretch>
                  <a:fillRect t="-1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12647" y="1856301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250" b="0" i="0">
                <a:solidFill>
                  <a:srgbClr val="2C3932"/>
                </a:solidFill>
                <a:latin typeface="Neue Haas Grotesk Text Pro"/>
              </a:defRPr>
            </a:pPr>
            <a:r>
              <a:rPr sz="1400"/>
              <a:t>A decoy edge can be silenced two ways: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77673" y="2203773"/>
                <a:ext cx="4663440" cy="841248"/>
              </a:xfrm>
              <a:prstGeom prst="roundRect">
                <a:avLst/>
              </a:prstGeom>
              <a:solidFill>
                <a:srgbClr val="E9F4EF"/>
              </a:solidFill>
              <a:ln w="15875">
                <a:solidFill>
                  <a:srgbClr val="3D9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18872" tIns="73152" rIns="100584" rtlCol="0" anchor="ctr"/>
              <a:lstStyle/>
              <a:p>
                <a:pPr algn="l">
                  <a:spcAft>
                    <a:spcPts val="400"/>
                  </a:spcAft>
                  <a:defRPr sz="1300" b="1">
                    <a:solidFill>
                      <a:srgbClr val="2C3932"/>
                    </a:solidFill>
                    <a:latin typeface="Neue Haas Grotesk Text Pro"/>
                  </a:defRPr>
                </a:pPr>
                <a:r>
                  <a:rPr lang="ar-AE" sz="1400" dirty="0"/>
                  <a:t>1.  </a:t>
                </a:r>
                <a14:m>
                  <m:oMath xmlns:m="http://schemas.openxmlformats.org/officeDocument/2006/math"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 → 0</m:t>
                    </m:r>
                  </m:oMath>
                </a14:m>
                <a:endParaRPr lang="ar-AE" sz="1400" dirty="0"/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what we want the model to learn</a:t>
                </a:r>
                <a:endParaRPr sz="1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73" y="2203773"/>
                <a:ext cx="4663440" cy="8412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875">
                <a:solidFill>
                  <a:srgbClr val="3D907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5760719" y="2203773"/>
                <a:ext cx="4663440" cy="841248"/>
              </a:xfrm>
              <a:prstGeom prst="roundRect">
                <a:avLst/>
              </a:prstGeom>
              <a:solidFill>
                <a:srgbClr val="FDF6EA"/>
              </a:solidFill>
              <a:ln w="15875">
                <a:solidFill>
                  <a:srgbClr val="E15C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18872" tIns="73152" rIns="100584" rtlCol="0" anchor="ctr"/>
              <a:lstStyle/>
              <a:p>
                <a:pPr algn="l">
                  <a:spcAft>
                    <a:spcPts val="400"/>
                  </a:spcAft>
                  <a:defRPr sz="1300" b="1">
                    <a:solidFill>
                      <a:srgbClr val="2C3932"/>
                    </a:solidFill>
                    <a:latin typeface="Neue Haas Grotesk Text Pro"/>
                  </a:defRPr>
                </a:pPr>
                <a:r>
                  <a:rPr lang="ar-AE" sz="1400" dirty="0"/>
                  <a:t>2.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sz="1400" i="1" dirty="0">
                        <a:latin typeface="Cambria Math" panose="02040503050406030204" pitchFamily="18" charset="0"/>
                      </a:rPr>
                      <m:t>(·) → 0</m:t>
                    </m:r>
                  </m:oMath>
                </a14:m>
                <a:endParaRPr lang="ar-AE" sz="1400" dirty="0"/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equally effective, and easier for gradient descent</a:t>
                </a:r>
                <a:endParaRPr sz="1400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719" y="2203773"/>
                <a:ext cx="4663440" cy="84124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875">
                <a:solidFill>
                  <a:srgbClr val="E15C3D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12648" y="3364992"/>
            <a:ext cx="10881360" cy="469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C3932"/>
                </a:solidFill>
                <a:latin typeface="Neue Haas Grotesk Text Pro"/>
              </a:defRPr>
            </a:pPr>
            <a:r>
              <a:rPr sz="1400" dirty="0"/>
              <a:t>Route 2 never touches A, so A has no unique job and the loss barely prefers one value of it over another.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C3932"/>
                </a:solidFill>
                <a:latin typeface="Neue Haas Grotesk Text Pro"/>
              </a:defRPr>
            </a:pPr>
            <a:r>
              <a:rPr sz="1400" dirty="0"/>
              <a:t>Summing stopped </a:t>
            </a:r>
            <a:r>
              <a:rPr sz="1400" dirty="0" err="1"/>
              <a:t>g_i</a:t>
            </a:r>
            <a:r>
              <a:rPr sz="1400" dirty="0"/>
              <a:t> from amplifying an edge; it did not stop the edge function from shrinking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" y="4041647"/>
            <a:ext cx="4993495" cy="1739477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400" dirty="0"/>
              <a:t>This explains every observation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b="1" dirty="0"/>
              <a:t>The model predicts perfectly well in-distribution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b="1" dirty="0"/>
              <a:t>(ID RMSE 0.084, spread 0.892) while its gate stays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b="1" dirty="0"/>
              <a:t>inside [0.33, 0.48].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endParaRPr sz="1400" dirty="0"/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dirty="0"/>
              <a:t>It learned the right mechanism and declined to express</a:t>
            </a:r>
          </a:p>
          <a:p>
            <a:pPr algn="l">
              <a:spcAft>
                <a:spcPts val="100"/>
              </a:spcAft>
              <a:defRPr sz="1050">
                <a:solidFill>
                  <a:srgbClr val="666E6A"/>
                </a:solidFill>
                <a:latin typeface="Neue Haas Grotesk Text Pro"/>
              </a:defRPr>
            </a:pPr>
            <a:r>
              <a:rPr sz="1400" dirty="0"/>
              <a:t>it through the gate.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5779007" y="4041648"/>
                <a:ext cx="5470239" cy="1788212"/>
              </a:xfrm>
              <a:prstGeom prst="roundRect">
                <a:avLst/>
              </a:prstGeom>
              <a:solidFill>
                <a:srgbClr val="FDF6EA"/>
              </a:solidFill>
              <a:ln w="15875">
                <a:solidFill>
                  <a:srgbClr val="E15C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18872" tIns="73152" rIns="100584" rtlCol="0" anchor="ctr"/>
              <a:lstStyle/>
              <a:p>
                <a:pPr algn="l">
                  <a:spcAft>
                    <a:spcPts val="400"/>
                  </a:spcAft>
                  <a:defRPr sz="1200" b="1">
                    <a:solidFill>
                      <a:srgbClr val="2C3932"/>
                    </a:solidFill>
                    <a:latin typeface="Neue Haas Grotesk Text Pro"/>
                  </a:defRPr>
                </a:pPr>
                <a:r>
                  <a:rPr lang="en-US" sz="1400" dirty="0"/>
                  <a:t>The sharpest version of the problem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b="1" dirty="0"/>
                  <a:t>training-free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ar-AE" sz="1400" b="1" i="1" dirty="0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ar-AE" sz="1400" b="1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sz="1400" b="1" i="1" dirty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ar-AE" sz="1400" b="1" i="1" dirty="0">
                        <a:latin typeface="Cambria Math" panose="02040503050406030204" pitchFamily="18" charset="0"/>
                      </a:rPr>
                      <m:t> |</m:t>
                    </m:r>
                    <m:sSubSup>
                      <m:sSubSupPr>
                        <m:ctrlPr>
                          <a:rPr lang="ar-AE" sz="1400" b="1" i="1" dirty="0" err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b="1" i="1" dirty="0" err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ar-AE" sz="1400" b="1" i="1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ar-AE" sz="1400" b="1" i="1" dirty="0" err="1">
                            <a:latin typeface="Cambria Math" panose="02040503050406030204" pitchFamily="18" charset="0"/>
                          </a:rPr>
                          <m:t>𝒅𝒐</m:t>
                        </m:r>
                        <m:d>
                          <m:dPr>
                            <m:ctrlPr>
                              <a:rPr lang="ar-AE" sz="1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1" i="1" dirty="0">
                                <a:latin typeface="Cambria Math" panose="02040503050406030204" pitchFamily="18" charset="0"/>
                              </a:rPr>
                              <m:t>𝑿𝒊</m:t>
                            </m:r>
                          </m:e>
                        </m:d>
                      </m:sup>
                    </m:sSubSup>
                    <m:r>
                      <a:rPr lang="ar-AE" sz="1400" b="1" i="1" dirty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ar-AE" sz="1400" b="1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 i="1" dirty="0" err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ar-AE" sz="1400" b="1" i="1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ar-AE" sz="1400" b="1" dirty="0"/>
                  <a:t>      </a:t>
                </a:r>
                <a:r>
                  <a:rPr lang="en-US" sz="1400" b="1" dirty="0"/>
                  <a:t>AUROC 1.000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b="1" dirty="0"/>
                  <a:t>learned gate                                             AUROC 0.675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endParaRPr lang="en-US" sz="1400" dirty="0"/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Same paired data, two lines, no gradients. The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information is fully extractable; gradient descent</a:t>
                </a:r>
              </a:p>
              <a:p>
                <a:pPr algn="l">
                  <a:spcAft>
                    <a:spcPts val="100"/>
                  </a:spcAft>
                  <a:defRPr sz="1050">
                    <a:solidFill>
                      <a:srgbClr val="666E6A"/>
                    </a:solidFill>
                    <a:latin typeface="Neue Haas Grotesk Text Pro"/>
                  </a:defRPr>
                </a:pPr>
                <a:r>
                  <a:rPr lang="en-US" sz="1400" dirty="0"/>
                  <a:t>through this </a:t>
                </a:r>
                <a:r>
                  <a:rPr lang="en-US" sz="1400" dirty="0" err="1"/>
                  <a:t>parameterisation</a:t>
                </a:r>
                <a:r>
                  <a:rPr lang="en-US" sz="1400" dirty="0"/>
                  <a:t> extracts almost none.</a:t>
                </a:r>
                <a:endParaRPr sz="1400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007" y="4041648"/>
                <a:ext cx="5470239" cy="1788212"/>
              </a:xfrm>
              <a:prstGeom prst="roundRect">
                <a:avLst/>
              </a:prstGeom>
              <a:blipFill>
                <a:blip r:embed="rId5"/>
                <a:stretch>
                  <a:fillRect b="-3378"/>
                </a:stretch>
              </a:blipFill>
              <a:ln w="15875">
                <a:solidFill>
                  <a:srgbClr val="E15C3D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953588" y="6064616"/>
            <a:ext cx="337386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2C3932"/>
                </a:solidFill>
                <a:latin typeface="Neue Haas Grotesk Text Pro"/>
              </a:defRPr>
            </a:pPr>
            <a:r>
              <a:rPr sz="1400" dirty="0"/>
              <a:t>The fix under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3588" y="6375862"/>
                <a:ext cx="10058400" cy="27622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spcAft>
                    <a:spcPts val="400"/>
                  </a:spcAft>
                  <a:defRPr sz="1300" b="0" i="0">
                    <a:solidFill>
                      <a:srgbClr val="2C3932"/>
                    </a:solidFill>
                    <a:latin typeface="Neue Haas Grotesk Text Pro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4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 ·  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) / ( ‖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)‖₂ + </m:t>
                    </m:r>
                    <m:r>
                      <a:rPr lang="ar-AE" sz="1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ar-AE" sz="1400" i="1" dirty="0">
                        <a:latin typeface="Cambria Math" panose="02040503050406030204" pitchFamily="18" charset="0"/>
                      </a:rPr>
                      <m:t> )       ⇒       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1400" i="1" dirty="0" err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i="1" dirty="0" err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ar-AE" sz="14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ar-AE" sz="1400" i="1" dirty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ar-AE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ar-AE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4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ar-AE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 dirty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1400" dirty="0"/>
                  <a:t>identically  (verified to 5e-4)</a:t>
                </a:r>
                <a:endParaRPr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88" y="6375862"/>
                <a:ext cx="10058400" cy="276229"/>
              </a:xfrm>
              <a:prstGeom prst="rect">
                <a:avLst/>
              </a:prstGeom>
              <a:blipFill>
                <a:blip r:embed="rId6"/>
                <a:stretch>
                  <a:fillRect l="-424" t="-1555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881360" cy="841248"/>
          </a:xfrm>
        </p:spPr>
        <p:txBody>
          <a:bodyPr/>
          <a:lstStyle/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rPr dirty="0"/>
              <a:t>Next: three experiments, in this order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60647"/>
              </p:ext>
            </p:extLst>
          </p:nvPr>
        </p:nvGraphicFramePr>
        <p:xfrm>
          <a:off x="612648" y="998365"/>
          <a:ext cx="10381417" cy="27023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7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8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5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5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#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Question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rPr dirty="0"/>
                        <a:t>Why now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Neue Haas Grotesk Text Pro"/>
                        </a:defRPr>
                      </a:pPr>
                      <a:r>
                        <a:t>Decides</a:t>
                      </a:r>
                    </a:p>
                  </a:txBody>
                  <a:tcPr marL="64008" marR="45720" marT="13716" marB="13716" anchor="ctr"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5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Was LAYER 1's gain the architecture, or dropping the gate sampling?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both changed at once — still confounded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whether sampling must stay off forever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5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2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Does message normalisation lift AUROC above 0.675 and cut SHD below 51.7?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the direct test of the fix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architecture vs loss as the next lever</a:t>
                      </a:r>
                    </a:p>
                  </a:txBody>
                  <a:tcPr marL="64008" marR="45720" marT="13716" marB="13716" anchor="ctr">
                    <a:solidFill>
                      <a:srgbClr val="F7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95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2b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Binarise the NEW ranking — how much of the ceiling now?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repeats the test that gave 0.0%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whether the ordering became usable</a:t>
                      </a:r>
                    </a:p>
                  </a:txBody>
                  <a:tcPr marL="64008" marR="45720" marT="13716" marB="13716" anchor="ctr">
                    <a:solidFill>
                      <a:srgbClr val="E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3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rPr dirty="0"/>
                        <a:t>With </a:t>
                      </a:r>
                      <a:r>
                        <a:rPr dirty="0" err="1"/>
                        <a:t>normalisation</a:t>
                      </a:r>
                      <a:r>
                        <a:rPr dirty="0"/>
                        <a:t> on, does sparsity pressure finally help?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t>L0 measured exactly 0.0% before, but under sampling where nothing about the gate mattered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C3932"/>
                          </a:solidFill>
                          <a:latin typeface="Neue Haas Grotesk Text Pro"/>
                        </a:defRPr>
                      </a:pPr>
                      <a:r>
                        <a:rPr dirty="0"/>
                        <a:t>off by default — skip if 2 fails</a:t>
                      </a:r>
                    </a:p>
                  </a:txBody>
                  <a:tcPr marL="64008" marR="45720" marT="13716" marB="13716" anchor="ctr">
                    <a:solidFill>
                      <a:srgbClr val="FF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24725" y="4019331"/>
            <a:ext cx="5097182" cy="1857799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200" dirty="0"/>
              <a:t>Experiment 2 is the fork in the road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AUROC clearly up, SHD clearly down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    → absorption through h was the bottleneck; continue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endParaRPr sz="1200" dirty="0"/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unchanged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    → the gate never receives enough EDGE-LEVEL signal from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       this loss. Change the LOSS, not the architecture again.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9007" y="4019331"/>
            <a:ext cx="5215057" cy="680259"/>
          </a:xfrm>
          <a:prstGeom prst="roundRect">
            <a:avLst/>
          </a:prstGeom>
          <a:solidFill>
            <a:srgbClr val="F7FBFB"/>
          </a:solidFill>
          <a:ln w="15875">
            <a:solidFill>
              <a:srgbClr val="169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200" dirty="0"/>
              <a:t>Experiment 3 is deliberately last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Sparsity pressure on a weak ordering hardens the wrong edges faster.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9008" y="4901609"/>
            <a:ext cx="5215056" cy="1764367"/>
          </a:xfrm>
          <a:prstGeom prst="roundRect">
            <a:avLst/>
          </a:prstGeom>
          <a:solidFill>
            <a:srgbClr val="FDF6EA"/>
          </a:solidFill>
          <a:ln w="15875">
            <a:solidFill>
              <a:srgbClr val="E15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00584" rtlCol="0" anchor="ctr"/>
          <a:lstStyle/>
          <a:p>
            <a:pPr algn="l">
              <a:spcAft>
                <a:spcPts val="400"/>
              </a:spcAft>
              <a:defRPr sz="1200" b="1">
                <a:solidFill>
                  <a:srgbClr val="2C3932"/>
                </a:solidFill>
                <a:latin typeface="Neue Haas Grotesk Text Pro"/>
              </a:defRPr>
            </a:pPr>
            <a:r>
              <a:rPr sz="1200" dirty="0"/>
              <a:t>Read ordering columns before RMSE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Two runs in a row produced arms whose RMSE looked fine while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they predicted nothing: on a shifted test set, outputting near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the mean lowers RMSE.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endParaRPr sz="1200" dirty="0"/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 err="1"/>
              <a:t>vs_const</a:t>
            </a:r>
            <a:r>
              <a:rPr sz="1200" dirty="0"/>
              <a:t> &gt; 1.0 means worse than always predicting the training</a:t>
            </a:r>
          </a:p>
          <a:p>
            <a:pPr algn="l">
              <a:spcAft>
                <a:spcPts val="100"/>
              </a:spcAft>
              <a:defRPr sz="1000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mean — that is what caught it both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076022"/>
            <a:ext cx="5097182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000" b="0" i="1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Fixed reference throughout: the training-free estimator reaches</a:t>
            </a:r>
          </a:p>
          <a:p>
            <a:pPr algn="l">
              <a:spcAft>
                <a:spcPts val="100"/>
              </a:spcAft>
              <a:defRPr sz="1000" b="0" i="1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AUROC 1.000 on the same data. The gap to it is what this line of</a:t>
            </a:r>
          </a:p>
          <a:p>
            <a:pPr algn="l">
              <a:spcAft>
                <a:spcPts val="100"/>
              </a:spcAft>
              <a:defRPr sz="1000" b="0" i="1">
                <a:solidFill>
                  <a:srgbClr val="666E6A"/>
                </a:solidFill>
                <a:latin typeface="Neue Haas Grotesk Text Pro"/>
              </a:defRPr>
            </a:pPr>
            <a:r>
              <a:rPr sz="1200" dirty="0"/>
              <a:t>work has to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FE30A75A-9312-D914-51E0-D6636CB58BF2}"/>
              </a:ext>
            </a:extLst>
          </p:cNvPr>
          <p:cNvSpPr/>
          <p:nvPr/>
        </p:nvSpPr>
        <p:spPr>
          <a:xfrm>
            <a:off x="93636" y="4507062"/>
            <a:ext cx="12004728" cy="191075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2A4C0EA-2DA4-F062-65EC-D98C1E988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803938"/>
              </p:ext>
            </p:extLst>
          </p:nvPr>
        </p:nvGraphicFramePr>
        <p:xfrm>
          <a:off x="93636" y="1465592"/>
          <a:ext cx="583609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364">
                  <a:extLst>
                    <a:ext uri="{9D8B030D-6E8A-4147-A177-3AD203B41FA5}">
                      <a16:colId xmlns:a16="http://schemas.microsoft.com/office/drawing/2014/main" val="2303605119"/>
                    </a:ext>
                  </a:extLst>
                </a:gridCol>
                <a:gridCol w="1945364">
                  <a:extLst>
                    <a:ext uri="{9D8B030D-6E8A-4147-A177-3AD203B41FA5}">
                      <a16:colId xmlns:a16="http://schemas.microsoft.com/office/drawing/2014/main" val="3753684646"/>
                    </a:ext>
                  </a:extLst>
                </a:gridCol>
                <a:gridCol w="1945364">
                  <a:extLst>
                    <a:ext uri="{9D8B030D-6E8A-4147-A177-3AD203B41FA5}">
                      <a16:colId xmlns:a16="http://schemas.microsoft.com/office/drawing/2014/main" val="3100237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Unsampling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Sampling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16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0.0599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0.0503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59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0.5818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49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AUPRC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0.4070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61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Decoy 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0.6518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0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3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0.0894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0.2299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705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OOD spread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883840"/>
                  </a:ext>
                </a:extLst>
              </a:tr>
            </a:tbl>
          </a:graphicData>
        </a:graphic>
      </p:graphicFrame>
      <p:sp>
        <p:nvSpPr>
          <p:cNvPr id="24" name="Title 1">
            <a:extLst>
              <a:ext uri="{FF2B5EF4-FFF2-40B4-BE49-F238E27FC236}">
                <a16:creationId xmlns:a16="http://schemas.microsoft.com/office/drawing/2014/main" id="{A1994CD6-70CE-5BB8-7217-76E5B08E8515}"/>
              </a:ext>
            </a:extLst>
          </p:cNvPr>
          <p:cNvSpPr txBox="1">
            <a:spLocks/>
          </p:cNvSpPr>
          <p:nvPr/>
        </p:nvSpPr>
        <p:spPr>
          <a:xfrm>
            <a:off x="570118" y="440188"/>
            <a:ext cx="10881360" cy="8412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rPr lang="en-US" sz="2900" dirty="0">
                <a:solidFill>
                  <a:srgbClr val="000000"/>
                </a:solidFill>
                <a:latin typeface="Neue Haas Grotesk Text Pro"/>
              </a:rPr>
              <a:t>Three experiments results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BCFC9E4-AA9B-A58E-EC3E-771E6AD14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999148"/>
              </p:ext>
            </p:extLst>
          </p:nvPr>
        </p:nvGraphicFramePr>
        <p:xfrm>
          <a:off x="6168942" y="1465592"/>
          <a:ext cx="5929422" cy="296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474">
                  <a:extLst>
                    <a:ext uri="{9D8B030D-6E8A-4147-A177-3AD203B41FA5}">
                      <a16:colId xmlns:a16="http://schemas.microsoft.com/office/drawing/2014/main" val="4067546541"/>
                    </a:ext>
                  </a:extLst>
                </a:gridCol>
                <a:gridCol w="1976474">
                  <a:extLst>
                    <a:ext uri="{9D8B030D-6E8A-4147-A177-3AD203B41FA5}">
                      <a16:colId xmlns:a16="http://schemas.microsoft.com/office/drawing/2014/main" val="2343084505"/>
                    </a:ext>
                  </a:extLst>
                </a:gridCol>
                <a:gridCol w="1976474">
                  <a:extLst>
                    <a:ext uri="{9D8B030D-6E8A-4147-A177-3AD203B41FA5}">
                      <a16:colId xmlns:a16="http://schemas.microsoft.com/office/drawing/2014/main" val="4124415331"/>
                    </a:ext>
                  </a:extLst>
                </a:gridCol>
              </a:tblGrid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Unnormalized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Normalized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181337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0.6722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092170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AUPRC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0.5451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012300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Decoy 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0.6907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476583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52.9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223361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0.5282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0.5321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479467"/>
                  </a:ext>
                </a:extLst>
              </a:tr>
              <a:tr h="42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True-cause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67323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FFA1E29-E0F1-3C05-FA53-CB386F0F6CBF}"/>
              </a:ext>
            </a:extLst>
          </p:cNvPr>
          <p:cNvSpPr txBox="1"/>
          <p:nvPr/>
        </p:nvSpPr>
        <p:spPr>
          <a:xfrm>
            <a:off x="6168942" y="4515222"/>
            <a:ext cx="59294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only change is let gate range wider:</a:t>
            </a:r>
          </a:p>
          <a:p>
            <a:r>
              <a:rPr lang="en-US"/>
              <a:t>From [0.25,0.78]⟶[0.04,0.94]. However, it merely makes the model more prone to producing extreme gates, without making those extreme gates any more accurate. There is virtually no improvement in the structural ranking metrics.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6E5002-EC98-6079-49DB-DFC405215022}"/>
              </a:ext>
            </a:extLst>
          </p:cNvPr>
          <p:cNvSpPr txBox="1"/>
          <p:nvPr/>
        </p:nvSpPr>
        <p:spPr>
          <a:xfrm>
            <a:off x="46971" y="4515222"/>
            <a:ext cx="5929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shows that after sampling, the results are still better than previous test, but SHD becomes worse which means making the gate's learning signal noisier and more unstable.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654FDE8-1537-16A9-27D0-A98EDD5B03E4}"/>
              </a:ext>
            </a:extLst>
          </p:cNvPr>
          <p:cNvSpPr txBox="1">
            <a:spLocks/>
          </p:cNvSpPr>
          <p:nvPr/>
        </p:nvSpPr>
        <p:spPr>
          <a:xfrm>
            <a:off x="570118" y="440188"/>
            <a:ext cx="10881360" cy="8412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900" b="1">
                <a:solidFill>
                  <a:srgbClr val="000000"/>
                </a:solidFill>
                <a:latin typeface="Neue Haas Grotesk Text Pro"/>
              </a:defRPr>
            </a:pPr>
            <a:r>
              <a:rPr lang="en-US" sz="2900" dirty="0">
                <a:solidFill>
                  <a:srgbClr val="000000"/>
                </a:solidFill>
                <a:latin typeface="Neue Haas Grotesk Text Pro"/>
              </a:rPr>
              <a:t>Next: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B428D8-C950-39FE-3CDC-D90B810E1365}"/>
                  </a:ext>
                </a:extLst>
              </p:cNvPr>
              <p:cNvSpPr txBox="1"/>
              <p:nvPr/>
            </p:nvSpPr>
            <p:spPr>
              <a:xfrm>
                <a:off x="570118" y="1381041"/>
                <a:ext cx="11210756" cy="4187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Since 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[|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|]</m:t>
                    </m:r>
                  </m:oMath>
                </a14:m>
                <a:r>
                  <a:rPr lang="en-US" dirty="0"/>
                  <a:t> AUROC can reach to 1.00, which means our dataset has the data itself is sufficient to distinguish between real and fake edges.</a:t>
                </a:r>
              </a:p>
              <a:p>
                <a:endParaRPr lang="en-US" dirty="0"/>
              </a:p>
              <a:p>
                <a:r>
                  <a:rPr lang="en-US" dirty="0"/>
                  <a:t>I have been tested message normalization constrains the path of </a:t>
                </a:r>
                <a:r>
                  <a:rPr lang="en-US" b="1" dirty="0"/>
                  <a:t>h</a:t>
                </a:r>
                <a:r>
                  <a:rPr lang="en-US" dirty="0"/>
                  <a:t> by scaling down its norm—acting as a substitute for a gating mechanism—yet neither AUROC nor SHD improved.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next step is to evolve from "ensuring accurate prediction of output differences" to "ensuring that each edge explains the correct intervention effect." This direction can be summarized as a "per-edge effect matching loss":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But still in progress to think about it.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B428D8-C950-39FE-3CDC-D90B810E1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18" y="1381041"/>
                <a:ext cx="11210756" cy="4187428"/>
              </a:xfrm>
              <a:prstGeom prst="rect">
                <a:avLst/>
              </a:prstGeom>
              <a:blipFill>
                <a:blip r:embed="rId2"/>
                <a:stretch>
                  <a:fillRect l="-489" r="-54" b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79507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1558</Words>
  <Application>Microsoft Office PowerPoint</Application>
  <PresentationFormat>Widescreen</PresentationFormat>
  <Paragraphs>292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Cambria Math</vt:lpstr>
      <vt:lpstr>Neue Haas Grotesk Text Pro</vt:lpstr>
      <vt:lpstr>VanillaVTI</vt:lpstr>
      <vt:lpstr>More experimental </vt:lpstr>
      <vt:lpstr>Why edge-wise: the mask had nothing to do</vt:lpstr>
      <vt:lpstr>PowerPoint Presentation</vt:lpstr>
      <vt:lpstr>Result: the gate recovered structure</vt:lpstr>
      <vt:lpstr>Test: binarise the ranking and see what it is worth</vt:lpstr>
      <vt:lpstr>Diagnosis: absorption only moved</vt:lpstr>
      <vt:lpstr>Next: three experiments, in this order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Lin</dc:creator>
  <cp:lastModifiedBy>Chu Lin</cp:lastModifiedBy>
  <cp:revision>18</cp:revision>
  <dcterms:created xsi:type="dcterms:W3CDTF">2026-08-20T15:11:20Z</dcterms:created>
  <dcterms:modified xsi:type="dcterms:W3CDTF">2026-09-08T15:34:14Z</dcterms:modified>
</cp:coreProperties>
</file>