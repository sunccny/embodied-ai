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FA03968-BADD-4C0B-98AC-4C24C2ED70B9}" v="2" dt="2026-09-25T22:59:13.74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63" d="100"/>
          <a:sy n="163" d="100"/>
        </p:scale>
        <p:origin x="174"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u Lin" userId="a9d5f5a05d2946b6" providerId="LiveId" clId="{A624DEA4-834B-44D9-BB5B-23A5D14AA4FA}"/>
    <pc:docChg chg="undo custSel addSld modSld addMainMaster delMainMaster">
      <pc:chgData name="Chu Lin" userId="a9d5f5a05d2946b6" providerId="LiveId" clId="{A624DEA4-834B-44D9-BB5B-23A5D14AA4FA}" dt="2026-09-25T23:00:13.370" v="1189" actId="255"/>
      <pc:docMkLst>
        <pc:docMk/>
      </pc:docMkLst>
      <pc:sldChg chg="addSp modSp new mod setBg modClrScheme addAnim setClrOvrMap chgLayout">
        <pc:chgData name="Chu Lin" userId="a9d5f5a05d2946b6" providerId="LiveId" clId="{A624DEA4-834B-44D9-BB5B-23A5D14AA4FA}" dt="2026-09-17T00:01:38.955" v="16"/>
        <pc:sldMkLst>
          <pc:docMk/>
          <pc:sldMk cId="3296793622" sldId="256"/>
        </pc:sldMkLst>
        <pc:spChg chg="mod">
          <ac:chgData name="Chu Lin" userId="a9d5f5a05d2946b6" providerId="LiveId" clId="{A624DEA4-834B-44D9-BB5B-23A5D14AA4FA}" dt="2026-09-17T00:01:38.948" v="14" actId="26606"/>
          <ac:spMkLst>
            <pc:docMk/>
            <pc:sldMk cId="3296793622" sldId="256"/>
            <ac:spMk id="2" creationId="{24CA4163-5BD5-1494-37A3-0088ED841019}"/>
          </ac:spMkLst>
        </pc:spChg>
        <pc:spChg chg="mod">
          <ac:chgData name="Chu Lin" userId="a9d5f5a05d2946b6" providerId="LiveId" clId="{A624DEA4-834B-44D9-BB5B-23A5D14AA4FA}" dt="2026-09-17T00:01:38.948" v="14" actId="26606"/>
          <ac:spMkLst>
            <pc:docMk/>
            <pc:sldMk cId="3296793622" sldId="256"/>
            <ac:spMk id="3" creationId="{79091FCA-7AF0-4DE3-87A5-7107189784FB}"/>
          </ac:spMkLst>
        </pc:spChg>
        <pc:spChg chg="add">
          <ac:chgData name="Chu Lin" userId="a9d5f5a05d2946b6" providerId="LiveId" clId="{A624DEA4-834B-44D9-BB5B-23A5D14AA4FA}" dt="2026-09-17T00:01:38.948" v="14" actId="26606"/>
          <ac:spMkLst>
            <pc:docMk/>
            <pc:sldMk cId="3296793622" sldId="256"/>
            <ac:spMk id="9" creationId="{33E93247-6229-44AB-A550-739E971E690B}"/>
          </ac:spMkLst>
        </pc:spChg>
        <pc:spChg chg="add">
          <ac:chgData name="Chu Lin" userId="a9d5f5a05d2946b6" providerId="LiveId" clId="{A624DEA4-834B-44D9-BB5B-23A5D14AA4FA}" dt="2026-09-17T00:01:38.948" v="14" actId="26606"/>
          <ac:spMkLst>
            <pc:docMk/>
            <pc:sldMk cId="3296793622" sldId="256"/>
            <ac:spMk id="11" creationId="{912025B4-7337-735E-4DC9-E634D2011984}"/>
          </ac:spMkLst>
        </pc:spChg>
        <pc:spChg chg="add">
          <ac:chgData name="Chu Lin" userId="a9d5f5a05d2946b6" providerId="LiveId" clId="{A624DEA4-834B-44D9-BB5B-23A5D14AA4FA}" dt="2026-09-17T00:01:38.948" v="14" actId="26606"/>
          <ac:spMkLst>
            <pc:docMk/>
            <pc:sldMk cId="3296793622" sldId="256"/>
            <ac:spMk id="13" creationId="{150CDACD-D191-E642-F686-FCB54B7E5F67}"/>
          </ac:spMkLst>
        </pc:spChg>
        <pc:picChg chg="add">
          <ac:chgData name="Chu Lin" userId="a9d5f5a05d2946b6" providerId="LiveId" clId="{A624DEA4-834B-44D9-BB5B-23A5D14AA4FA}" dt="2026-09-17T00:01:38.948" v="14" actId="26606"/>
          <ac:picMkLst>
            <pc:docMk/>
            <pc:sldMk cId="3296793622" sldId="256"/>
            <ac:picMk id="4" creationId="{46529A70-3D97-5FDA-A1C9-9A64C040AB78}"/>
          </ac:picMkLst>
        </pc:picChg>
      </pc:sldChg>
      <pc:sldChg chg="modSp mod">
        <pc:chgData name="Chu Lin" userId="a9d5f5a05d2946b6" providerId="LiveId" clId="{A624DEA4-834B-44D9-BB5B-23A5D14AA4FA}" dt="2026-09-25T22:59:02.392" v="1165" actId="1076"/>
        <pc:sldMkLst>
          <pc:docMk/>
          <pc:sldMk cId="0" sldId="257"/>
        </pc:sldMkLst>
        <pc:spChg chg="mod">
          <ac:chgData name="Chu Lin" userId="a9d5f5a05d2946b6" providerId="LiveId" clId="{A624DEA4-834B-44D9-BB5B-23A5D14AA4FA}" dt="2026-09-25T22:59:02.392" v="1165" actId="1076"/>
          <ac:spMkLst>
            <pc:docMk/>
            <pc:sldMk cId="0" sldId="257"/>
            <ac:spMk id="3" creationId="{00000000-0000-0000-0000-000000000000}"/>
          </ac:spMkLst>
        </pc:spChg>
      </pc:sldChg>
      <pc:sldChg chg="modSp mod">
        <pc:chgData name="Chu Lin" userId="a9d5f5a05d2946b6" providerId="LiveId" clId="{A624DEA4-834B-44D9-BB5B-23A5D14AA4FA}" dt="2026-09-25T22:58:44.183" v="1163" actId="255"/>
        <pc:sldMkLst>
          <pc:docMk/>
          <pc:sldMk cId="0" sldId="258"/>
        </pc:sldMkLst>
        <pc:spChg chg="mod">
          <ac:chgData name="Chu Lin" userId="a9d5f5a05d2946b6" providerId="LiveId" clId="{A624DEA4-834B-44D9-BB5B-23A5D14AA4FA}" dt="2026-09-25T22:58:44.183" v="1163" actId="255"/>
          <ac:spMkLst>
            <pc:docMk/>
            <pc:sldMk cId="0" sldId="258"/>
            <ac:spMk id="3" creationId="{00000000-0000-0000-0000-000000000000}"/>
          </ac:spMkLst>
        </pc:spChg>
      </pc:sldChg>
      <pc:sldChg chg="modSp mod">
        <pc:chgData name="Chu Lin" userId="a9d5f5a05d2946b6" providerId="LiveId" clId="{A624DEA4-834B-44D9-BB5B-23A5D14AA4FA}" dt="2026-09-25T22:58:27.644" v="1157" actId="255"/>
        <pc:sldMkLst>
          <pc:docMk/>
          <pc:sldMk cId="0" sldId="260"/>
        </pc:sldMkLst>
        <pc:spChg chg="mod">
          <ac:chgData name="Chu Lin" userId="a9d5f5a05d2946b6" providerId="LiveId" clId="{A624DEA4-834B-44D9-BB5B-23A5D14AA4FA}" dt="2026-09-25T22:58:27.644" v="1157" actId="255"/>
          <ac:spMkLst>
            <pc:docMk/>
            <pc:sldMk cId="0" sldId="260"/>
            <ac:spMk id="3" creationId="{00000000-0000-0000-0000-000000000000}"/>
          </ac:spMkLst>
        </pc:spChg>
      </pc:sldChg>
      <pc:sldChg chg="modSp mod">
        <pc:chgData name="Chu Lin" userId="a9d5f5a05d2946b6" providerId="LiveId" clId="{A624DEA4-834B-44D9-BB5B-23A5D14AA4FA}" dt="2026-09-25T22:59:25.309" v="1181" actId="1076"/>
        <pc:sldMkLst>
          <pc:docMk/>
          <pc:sldMk cId="0" sldId="262"/>
        </pc:sldMkLst>
        <pc:spChg chg="mod">
          <ac:chgData name="Chu Lin" userId="a9d5f5a05d2946b6" providerId="LiveId" clId="{A624DEA4-834B-44D9-BB5B-23A5D14AA4FA}" dt="2026-09-25T22:59:25.309" v="1181" actId="1076"/>
          <ac:spMkLst>
            <pc:docMk/>
            <pc:sldMk cId="0" sldId="262"/>
            <ac:spMk id="3" creationId="{00000000-0000-0000-0000-000000000000}"/>
          </ac:spMkLst>
        </pc:spChg>
      </pc:sldChg>
      <pc:sldChg chg="modSp mod">
        <pc:chgData name="Chu Lin" userId="a9d5f5a05d2946b6" providerId="LiveId" clId="{A624DEA4-834B-44D9-BB5B-23A5D14AA4FA}" dt="2026-09-25T22:59:35.518" v="1183" actId="255"/>
        <pc:sldMkLst>
          <pc:docMk/>
          <pc:sldMk cId="0" sldId="263"/>
        </pc:sldMkLst>
        <pc:spChg chg="mod">
          <ac:chgData name="Chu Lin" userId="a9d5f5a05d2946b6" providerId="LiveId" clId="{A624DEA4-834B-44D9-BB5B-23A5D14AA4FA}" dt="2026-09-25T22:59:35.518" v="1183" actId="255"/>
          <ac:spMkLst>
            <pc:docMk/>
            <pc:sldMk cId="0" sldId="263"/>
            <ac:spMk id="3" creationId="{00000000-0000-0000-0000-000000000000}"/>
          </ac:spMkLst>
        </pc:spChg>
      </pc:sldChg>
      <pc:sldChg chg="modSp mod">
        <pc:chgData name="Chu Lin" userId="a9d5f5a05d2946b6" providerId="LiveId" clId="{A624DEA4-834B-44D9-BB5B-23A5D14AA4FA}" dt="2026-09-25T22:59:48.017" v="1185" actId="255"/>
        <pc:sldMkLst>
          <pc:docMk/>
          <pc:sldMk cId="0" sldId="264"/>
        </pc:sldMkLst>
        <pc:spChg chg="mod">
          <ac:chgData name="Chu Lin" userId="a9d5f5a05d2946b6" providerId="LiveId" clId="{A624DEA4-834B-44D9-BB5B-23A5D14AA4FA}" dt="2026-09-25T22:59:48.017" v="1185" actId="255"/>
          <ac:spMkLst>
            <pc:docMk/>
            <pc:sldMk cId="0" sldId="264"/>
            <ac:spMk id="3" creationId="{00000000-0000-0000-0000-000000000000}"/>
          </ac:spMkLst>
        </pc:spChg>
      </pc:sldChg>
      <pc:sldChg chg="modSp mod">
        <pc:chgData name="Chu Lin" userId="a9d5f5a05d2946b6" providerId="LiveId" clId="{A624DEA4-834B-44D9-BB5B-23A5D14AA4FA}" dt="2026-09-25T23:00:00.628" v="1187" actId="255"/>
        <pc:sldMkLst>
          <pc:docMk/>
          <pc:sldMk cId="0" sldId="267"/>
        </pc:sldMkLst>
        <pc:spChg chg="mod">
          <ac:chgData name="Chu Lin" userId="a9d5f5a05d2946b6" providerId="LiveId" clId="{A624DEA4-834B-44D9-BB5B-23A5D14AA4FA}" dt="2026-09-25T23:00:00.628" v="1187" actId="255"/>
          <ac:spMkLst>
            <pc:docMk/>
            <pc:sldMk cId="0" sldId="267"/>
            <ac:spMk id="3" creationId="{00000000-0000-0000-0000-000000000000}"/>
          </ac:spMkLst>
        </pc:spChg>
      </pc:sldChg>
      <pc:sldChg chg="modSp mod">
        <pc:chgData name="Chu Lin" userId="a9d5f5a05d2946b6" providerId="LiveId" clId="{A624DEA4-834B-44D9-BB5B-23A5D14AA4FA}" dt="2026-09-25T23:00:13.370" v="1189" actId="255"/>
        <pc:sldMkLst>
          <pc:docMk/>
          <pc:sldMk cId="0" sldId="268"/>
        </pc:sldMkLst>
        <pc:spChg chg="mod">
          <ac:chgData name="Chu Lin" userId="a9d5f5a05d2946b6" providerId="LiveId" clId="{A624DEA4-834B-44D9-BB5B-23A5D14AA4FA}" dt="2026-09-25T23:00:13.370" v="1189" actId="255"/>
          <ac:spMkLst>
            <pc:docMk/>
            <pc:sldMk cId="0" sldId="268"/>
            <ac:spMk id="3" creationId="{00000000-0000-0000-0000-000000000000}"/>
          </ac:spMkLst>
        </pc:spChg>
      </pc:sldChg>
      <pc:sldMasterChg chg="add addSldLayout">
        <pc:chgData name="Chu Lin" userId="a9d5f5a05d2946b6" providerId="LiveId" clId="{A624DEA4-834B-44D9-BB5B-23A5D14AA4FA}" dt="2026-09-17T00:01:38.948" v="14" actId="26606"/>
        <pc:sldMasterMkLst>
          <pc:docMk/>
          <pc:sldMasterMk cId="493697747" sldId="2147483673"/>
        </pc:sldMasterMkLst>
        <pc:sldLayoutChg chg="add">
          <pc:chgData name="Chu Lin" userId="a9d5f5a05d2946b6" providerId="LiveId" clId="{A624DEA4-834B-44D9-BB5B-23A5D14AA4FA}" dt="2026-09-17T00:01:38.948" v="14" actId="26606"/>
          <pc:sldLayoutMkLst>
            <pc:docMk/>
            <pc:sldMasterMk cId="493697747" sldId="2147483673"/>
            <pc:sldLayoutMk cId="1048010609" sldId="2147483662"/>
          </pc:sldLayoutMkLst>
        </pc:sldLayoutChg>
        <pc:sldLayoutChg chg="add">
          <pc:chgData name="Chu Lin" userId="a9d5f5a05d2946b6" providerId="LiveId" clId="{A624DEA4-834B-44D9-BB5B-23A5D14AA4FA}" dt="2026-09-17T00:01:38.948" v="14" actId="26606"/>
          <pc:sldLayoutMkLst>
            <pc:docMk/>
            <pc:sldMasterMk cId="493697747" sldId="2147483673"/>
            <pc:sldLayoutMk cId="2684917049" sldId="2147483663"/>
          </pc:sldLayoutMkLst>
        </pc:sldLayoutChg>
        <pc:sldLayoutChg chg="add">
          <pc:chgData name="Chu Lin" userId="a9d5f5a05d2946b6" providerId="LiveId" clId="{A624DEA4-834B-44D9-BB5B-23A5D14AA4FA}" dt="2026-09-17T00:01:38.948" v="14" actId="26606"/>
          <pc:sldLayoutMkLst>
            <pc:docMk/>
            <pc:sldMasterMk cId="493697747" sldId="2147483673"/>
            <pc:sldLayoutMk cId="3271315337" sldId="2147483664"/>
          </pc:sldLayoutMkLst>
        </pc:sldLayoutChg>
        <pc:sldLayoutChg chg="add">
          <pc:chgData name="Chu Lin" userId="a9d5f5a05d2946b6" providerId="LiveId" clId="{A624DEA4-834B-44D9-BB5B-23A5D14AA4FA}" dt="2026-09-17T00:01:38.948" v="14" actId="26606"/>
          <pc:sldLayoutMkLst>
            <pc:docMk/>
            <pc:sldMasterMk cId="493697747" sldId="2147483673"/>
            <pc:sldLayoutMk cId="2235062487" sldId="2147483665"/>
          </pc:sldLayoutMkLst>
        </pc:sldLayoutChg>
        <pc:sldLayoutChg chg="add">
          <pc:chgData name="Chu Lin" userId="a9d5f5a05d2946b6" providerId="LiveId" clId="{A624DEA4-834B-44D9-BB5B-23A5D14AA4FA}" dt="2026-09-17T00:01:38.948" v="14" actId="26606"/>
          <pc:sldLayoutMkLst>
            <pc:docMk/>
            <pc:sldMasterMk cId="493697747" sldId="2147483673"/>
            <pc:sldLayoutMk cId="168122371" sldId="2147483666"/>
          </pc:sldLayoutMkLst>
        </pc:sldLayoutChg>
        <pc:sldLayoutChg chg="add">
          <pc:chgData name="Chu Lin" userId="a9d5f5a05d2946b6" providerId="LiveId" clId="{A624DEA4-834B-44D9-BB5B-23A5D14AA4FA}" dt="2026-09-17T00:01:38.948" v="14" actId="26606"/>
          <pc:sldLayoutMkLst>
            <pc:docMk/>
            <pc:sldMasterMk cId="493697747" sldId="2147483673"/>
            <pc:sldLayoutMk cId="3452461211" sldId="2147483667"/>
          </pc:sldLayoutMkLst>
        </pc:sldLayoutChg>
        <pc:sldLayoutChg chg="add">
          <pc:chgData name="Chu Lin" userId="a9d5f5a05d2946b6" providerId="LiveId" clId="{A624DEA4-834B-44D9-BB5B-23A5D14AA4FA}" dt="2026-09-17T00:01:38.948" v="14" actId="26606"/>
          <pc:sldLayoutMkLst>
            <pc:docMk/>
            <pc:sldMasterMk cId="493697747" sldId="2147483673"/>
            <pc:sldLayoutMk cId="2864294466" sldId="2147483668"/>
          </pc:sldLayoutMkLst>
        </pc:sldLayoutChg>
        <pc:sldLayoutChg chg="add">
          <pc:chgData name="Chu Lin" userId="a9d5f5a05d2946b6" providerId="LiveId" clId="{A624DEA4-834B-44D9-BB5B-23A5D14AA4FA}" dt="2026-09-17T00:01:38.948" v="14" actId="26606"/>
          <pc:sldLayoutMkLst>
            <pc:docMk/>
            <pc:sldMasterMk cId="493697747" sldId="2147483673"/>
            <pc:sldLayoutMk cId="8350770" sldId="2147483669"/>
          </pc:sldLayoutMkLst>
        </pc:sldLayoutChg>
        <pc:sldLayoutChg chg="add">
          <pc:chgData name="Chu Lin" userId="a9d5f5a05d2946b6" providerId="LiveId" clId="{A624DEA4-834B-44D9-BB5B-23A5D14AA4FA}" dt="2026-09-17T00:01:38.948" v="14" actId="26606"/>
          <pc:sldLayoutMkLst>
            <pc:docMk/>
            <pc:sldMasterMk cId="493697747" sldId="2147483673"/>
            <pc:sldLayoutMk cId="4276114791" sldId="2147483670"/>
          </pc:sldLayoutMkLst>
        </pc:sldLayoutChg>
        <pc:sldLayoutChg chg="add">
          <pc:chgData name="Chu Lin" userId="a9d5f5a05d2946b6" providerId="LiveId" clId="{A624DEA4-834B-44D9-BB5B-23A5D14AA4FA}" dt="2026-09-17T00:01:38.948" v="14" actId="26606"/>
          <pc:sldLayoutMkLst>
            <pc:docMk/>
            <pc:sldMasterMk cId="493697747" sldId="2147483673"/>
            <pc:sldLayoutMk cId="1971713887" sldId="2147483671"/>
          </pc:sldLayoutMkLst>
        </pc:sldLayoutChg>
        <pc:sldLayoutChg chg="add">
          <pc:chgData name="Chu Lin" userId="a9d5f5a05d2946b6" providerId="LiveId" clId="{A624DEA4-834B-44D9-BB5B-23A5D14AA4FA}" dt="2026-09-17T00:01:38.948" v="14" actId="26606"/>
          <pc:sldLayoutMkLst>
            <pc:docMk/>
            <pc:sldMasterMk cId="493697747" sldId="2147483673"/>
            <pc:sldLayoutMk cId="1613026941" sldId="2147483672"/>
          </pc:sldLayoutMkLst>
        </pc:sldLayoutChg>
      </pc:sldMaster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barChart>
        <c:barDir val="col"/>
        <c:grouping val="clustered"/>
        <c:varyColors val="1"/>
        <c:ser>
          <c:idx val="0"/>
          <c:order val="0"/>
          <c:tx>
            <c:strRef>
              <c:f>Sheet1!$B$1</c:f>
              <c:strCache>
                <c:ptCount val="1"/>
                <c:pt idx="0">
                  <c:v>no_graph</c:v>
                </c:pt>
              </c:strCache>
            </c:strRef>
          </c:tx>
          <c:spPr>
            <a:solidFill>
              <a:srgbClr val="A6A6A6"/>
            </a:solidFill>
          </c:spPr>
          <c:invertIfNegative val="1"/>
          <c:dLbls>
            <c:numFmt formatCode="0.00" sourceLinked="0"/>
            <c:spPr>
              <a:noFill/>
              <a:ln>
                <a:noFill/>
              </a:ln>
              <a:effectLst/>
            </c:spPr>
            <c:txPr>
              <a:bodyPr/>
              <a:lstStyle/>
              <a:p>
                <a:pPr>
                  <a:defRPr sz="10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morph_b
(body changed)</c:v>
                </c:pt>
                <c:pt idx="1">
                  <c:v>object_b
(objects changed)</c:v>
                </c:pt>
                <c:pt idx="2">
                  <c:v>both_b</c:v>
                </c:pt>
              </c:strCache>
            </c:strRef>
          </c:cat>
          <c:val>
            <c:numRef>
              <c:f>Sheet1!$B$2:$B$4</c:f>
              <c:numCache>
                <c:formatCode>General</c:formatCode>
                <c:ptCount val="3"/>
                <c:pt idx="0">
                  <c:v>9.4E-2</c:v>
                </c:pt>
                <c:pt idx="1">
                  <c:v>-8.0000000000000002E-3</c:v>
                </c:pt>
                <c:pt idx="2">
                  <c:v>-1.6E-2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56CB-4C0C-AFBB-9E7BA1AB54CE}"/>
            </c:ext>
          </c:extLst>
        </c:ser>
        <c:ser>
          <c:idx val="1"/>
          <c:order val="1"/>
          <c:tx>
            <c:strRef>
              <c:f>Sheet1!$C$1</c:f>
              <c:strCache>
                <c:ptCount val="1"/>
                <c:pt idx="0">
                  <c:v>ours (reads masses)</c:v>
                </c:pt>
              </c:strCache>
            </c:strRef>
          </c:tx>
          <c:spPr>
            <a:solidFill>
              <a:srgbClr val="1A1A1A"/>
            </a:solidFill>
          </c:spPr>
          <c:invertIfNegative val="1"/>
          <c:dLbls>
            <c:numFmt formatCode="0.00" sourceLinked="0"/>
            <c:spPr>
              <a:noFill/>
              <a:ln>
                <a:noFill/>
              </a:ln>
              <a:effectLst/>
            </c:spPr>
            <c:txPr>
              <a:bodyPr/>
              <a:lstStyle/>
              <a:p>
                <a:pPr>
                  <a:defRPr sz="10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morph_b
(body changed)</c:v>
                </c:pt>
                <c:pt idx="1">
                  <c:v>object_b
(objects changed)</c:v>
                </c:pt>
                <c:pt idx="2">
                  <c:v>both_b</c:v>
                </c:pt>
              </c:strCache>
            </c:strRef>
          </c:cat>
          <c:val>
            <c:numRef>
              <c:f>Sheet1!$C$2:$C$4</c:f>
              <c:numCache>
                <c:formatCode>General</c:formatCode>
                <c:ptCount val="3"/>
                <c:pt idx="0">
                  <c:v>0.255</c:v>
                </c:pt>
                <c:pt idx="1">
                  <c:v>1.7999999999999999E-2</c:v>
                </c:pt>
                <c:pt idx="2">
                  <c:v>7.4999999999999997E-2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56CB-4C0C-AFBB-9E7BA1AB54CE}"/>
            </c:ext>
          </c:extLst>
        </c:ser>
        <c:ser>
          <c:idx val="2"/>
          <c:order val="2"/>
          <c:tx>
            <c:strRef>
              <c:f>Sheet1!$D$1</c:f>
              <c:strCache>
                <c:ptCount val="1"/>
                <c:pt idx="0">
                  <c:v>ours_nobody (ignores masses)</c:v>
                </c:pt>
              </c:strCache>
            </c:strRef>
          </c:tx>
          <c:spPr>
            <a:solidFill>
              <a:srgbClr val="1F4E79"/>
            </a:solidFill>
          </c:spPr>
          <c:invertIfNegative val="1"/>
          <c:dLbls>
            <c:numFmt formatCode="0.00" sourceLinked="0"/>
            <c:spPr>
              <a:noFill/>
              <a:ln>
                <a:noFill/>
              </a:ln>
              <a:effectLst/>
            </c:spPr>
            <c:txPr>
              <a:bodyPr/>
              <a:lstStyle/>
              <a:p>
                <a:pPr>
                  <a:defRPr sz="10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morph_b
(body changed)</c:v>
                </c:pt>
                <c:pt idx="1">
                  <c:v>object_b
(objects changed)</c:v>
                </c:pt>
                <c:pt idx="2">
                  <c:v>both_b</c:v>
                </c:pt>
              </c:strCache>
            </c:strRef>
          </c:cat>
          <c:val>
            <c:numRef>
              <c:f>Sheet1!$D$2:$D$4</c:f>
              <c:numCache>
                <c:formatCode>General</c:formatCode>
                <c:ptCount val="3"/>
                <c:pt idx="0">
                  <c:v>0.57099999999999995</c:v>
                </c:pt>
                <c:pt idx="1">
                  <c:v>4.8000000000000001E-2</c:v>
                </c:pt>
                <c:pt idx="2">
                  <c:v>0.14599999999999999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56CB-4C0C-AFBB-9E7BA1AB54CE}"/>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low"/>
        <c:txPr>
          <a:bodyPr/>
          <a:lstStyle/>
          <a:p>
            <a:pPr>
              <a:defRPr sz="1100"/>
            </a:pPr>
            <a:endParaRPr lang="en-US"/>
          </a:p>
        </c:txPr>
        <c:crossAx val="-2113994440"/>
        <c:crosses val="autoZero"/>
        <c:auto val="1"/>
        <c:lblAlgn val="ctr"/>
        <c:lblOffset val="100"/>
        <c:noMultiLvlLbl val="0"/>
      </c:catAx>
      <c:valAx>
        <c:axId val="-2113994440"/>
        <c:scaling>
          <c:orientation val="minMax"/>
          <c:max val="0.7"/>
          <c:min val="-0.1"/>
        </c:scaling>
        <c:delete val="0"/>
        <c:axPos val="l"/>
        <c:majorGridlines>
          <c:spPr>
            <a:ln>
              <a:solidFill>
                <a:srgbClr val="D9D9D9"/>
              </a:solidFill>
            </a:ln>
          </c:spPr>
        </c:majorGridlines>
        <c:numFmt formatCode="0.00" sourceLinked="0"/>
        <c:majorTickMark val="out"/>
        <c:minorTickMark val="none"/>
        <c:tickLblPos val="nextTo"/>
        <c:txPr>
          <a:bodyPr/>
          <a:lstStyle/>
          <a:p>
            <a:pPr>
              <a:defRPr sz="1100"/>
            </a:pPr>
            <a:endParaRPr lang="en-US"/>
          </a:p>
        </c:txPr>
        <c:crossAx val="-2068027336"/>
        <c:crosses val="autoZero"/>
        <c:crossBetween val="between"/>
      </c:valAx>
    </c:plotArea>
    <c:legend>
      <c:legendPos val="t"/>
      <c:overlay val="0"/>
      <c:txPr>
        <a:bodyPr/>
        <a:lstStyle/>
        <a:p>
          <a:pPr>
            <a:defRPr sz="1100"/>
          </a:pPr>
          <a:endParaRPr lang="en-US"/>
        </a:p>
      </c:txPr>
    </c:legend>
    <c:plotVisOnly val="1"/>
    <c:dispBlanksAs val="gap"/>
    <c:showDLblsOverMax val="1"/>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barChart>
        <c:barDir val="col"/>
        <c:grouping val="clustered"/>
        <c:varyColors val="1"/>
        <c:ser>
          <c:idx val="0"/>
          <c:order val="0"/>
          <c:tx>
            <c:strRef>
              <c:f>Sheet1!$B$1</c:f>
              <c:strCache>
                <c:ptCount val="1"/>
                <c:pt idx="0">
                  <c:v>pushing</c:v>
                </c:pt>
              </c:strCache>
            </c:strRef>
          </c:tx>
          <c:spPr>
            <a:solidFill>
              <a:srgbClr val="1A1A1A"/>
            </a:solidFill>
          </c:spPr>
          <c:invertIfNegative val="1"/>
          <c:cat>
            <c:strRef>
              <c:f>Sheet1!$A$2:$A$11</c:f>
              <c:strCache>
                <c:ptCount val="10"/>
                <c:pt idx="0">
                  <c:v>0</c:v>
                </c:pt>
                <c:pt idx="1">
                  <c:v>1</c:v>
                </c:pt>
                <c:pt idx="2">
                  <c:v>2</c:v>
                </c:pt>
                <c:pt idx="3">
                  <c:v>3</c:v>
                </c:pt>
                <c:pt idx="4">
                  <c:v>4</c:v>
                </c:pt>
                <c:pt idx="5">
                  <c:v>5</c:v>
                </c:pt>
                <c:pt idx="6">
                  <c:v>6</c:v>
                </c:pt>
                <c:pt idx="7">
                  <c:v>7</c:v>
                </c:pt>
                <c:pt idx="8">
                  <c:v>8</c:v>
                </c:pt>
                <c:pt idx="9">
                  <c:v>9</c:v>
                </c:pt>
              </c:strCache>
            </c:strRef>
          </c:cat>
          <c:val>
            <c:numRef>
              <c:f>Sheet1!$B$2:$B$11</c:f>
              <c:numCache>
                <c:formatCode>General</c:formatCode>
                <c:ptCount val="10"/>
                <c:pt idx="0">
                  <c:v>20</c:v>
                </c:pt>
                <c:pt idx="1">
                  <c:v>23</c:v>
                </c:pt>
                <c:pt idx="2">
                  <c:v>20</c:v>
                </c:pt>
                <c:pt idx="3">
                  <c:v>22</c:v>
                </c:pt>
                <c:pt idx="4">
                  <c:v>25</c:v>
                </c:pt>
                <c:pt idx="5">
                  <c:v>20</c:v>
                </c:pt>
                <c:pt idx="6">
                  <c:v>24</c:v>
                </c:pt>
                <c:pt idx="7">
                  <c:v>15</c:v>
                </c:pt>
                <c:pt idx="8">
                  <c:v>22</c:v>
                </c:pt>
                <c:pt idx="9">
                  <c:v>19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D03-4872-80DD-85849E0A2E97}"/>
            </c:ext>
          </c:extLst>
        </c:ser>
        <c:ser>
          <c:idx val="1"/>
          <c:order val="1"/>
          <c:tx>
            <c:strRef>
              <c:f>Sheet1!$C$1</c:f>
              <c:strCache>
                <c:ptCount val="1"/>
                <c:pt idx="0">
                  <c:v>picking</c:v>
                </c:pt>
              </c:strCache>
            </c:strRef>
          </c:tx>
          <c:spPr>
            <a:solidFill>
              <a:srgbClr val="1F4E79"/>
            </a:solidFill>
          </c:spPr>
          <c:invertIfNegative val="1"/>
          <c:cat>
            <c:strRef>
              <c:f>Sheet1!$A$2:$A$11</c:f>
              <c:strCache>
                <c:ptCount val="10"/>
                <c:pt idx="0">
                  <c:v>0</c:v>
                </c:pt>
                <c:pt idx="1">
                  <c:v>1</c:v>
                </c:pt>
                <c:pt idx="2">
                  <c:v>2</c:v>
                </c:pt>
                <c:pt idx="3">
                  <c:v>3</c:v>
                </c:pt>
                <c:pt idx="4">
                  <c:v>4</c:v>
                </c:pt>
                <c:pt idx="5">
                  <c:v>5</c:v>
                </c:pt>
                <c:pt idx="6">
                  <c:v>6</c:v>
                </c:pt>
                <c:pt idx="7">
                  <c:v>7</c:v>
                </c:pt>
                <c:pt idx="8">
                  <c:v>8</c:v>
                </c:pt>
                <c:pt idx="9">
                  <c:v>9</c:v>
                </c:pt>
              </c:strCache>
            </c:strRef>
          </c:cat>
          <c:val>
            <c:numRef>
              <c:f>Sheet1!$C$2:$C$11</c:f>
              <c:numCache>
                <c:formatCode>General</c:formatCode>
                <c:ptCount val="10"/>
                <c:pt idx="0">
                  <c:v>28</c:v>
                </c:pt>
                <c:pt idx="1">
                  <c:v>31</c:v>
                </c:pt>
                <c:pt idx="2">
                  <c:v>30</c:v>
                </c:pt>
                <c:pt idx="3">
                  <c:v>28</c:v>
                </c:pt>
                <c:pt idx="4">
                  <c:v>29</c:v>
                </c:pt>
                <c:pt idx="5">
                  <c:v>33</c:v>
                </c:pt>
                <c:pt idx="6">
                  <c:v>30</c:v>
                </c:pt>
                <c:pt idx="7">
                  <c:v>28</c:v>
                </c:pt>
                <c:pt idx="8">
                  <c:v>29</c:v>
                </c:pt>
                <c:pt idx="9">
                  <c:v>28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7D03-4872-80DD-85849E0A2E97}"/>
            </c:ext>
          </c:extLst>
        </c:ser>
        <c:dLbls>
          <c:showLegendKey val="0"/>
          <c:showVal val="0"/>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low"/>
        <c:txPr>
          <a:bodyPr/>
          <a:lstStyle/>
          <a:p>
            <a:pPr>
              <a:defRPr sz="1000"/>
            </a:pPr>
            <a:endParaRPr lang="en-US"/>
          </a:p>
        </c:txPr>
        <c:crossAx val="-2113994440"/>
        <c:crosses val="autoZero"/>
        <c:auto val="1"/>
        <c:lblAlgn val="ctr"/>
        <c:lblOffset val="100"/>
        <c:noMultiLvlLbl val="0"/>
      </c:catAx>
      <c:valAx>
        <c:axId val="-2113994440"/>
        <c:scaling>
          <c:orientation val="minMax"/>
          <c:max val="40"/>
          <c:min val="0"/>
        </c:scaling>
        <c:delete val="0"/>
        <c:axPos val="l"/>
        <c:majorGridlines>
          <c:spPr>
            <a:ln>
              <a:solidFill>
                <a:srgbClr val="D9D9D9"/>
              </a:solidFill>
            </a:ln>
          </c:spPr>
        </c:majorGridlines>
        <c:numFmt formatCode="0" sourceLinked="0"/>
        <c:majorTickMark val="out"/>
        <c:minorTickMark val="none"/>
        <c:tickLblPos val="nextTo"/>
        <c:txPr>
          <a:bodyPr/>
          <a:lstStyle/>
          <a:p>
            <a:pPr>
              <a:defRPr sz="1000"/>
            </a:pPr>
            <a:endParaRPr lang="en-US"/>
          </a:p>
        </c:txPr>
        <c:crossAx val="-2068027336"/>
        <c:crosses val="autoZero"/>
        <c:crossBetween val="between"/>
      </c:valAx>
    </c:plotArea>
    <c:legend>
      <c:legendPos val="t"/>
      <c:overlay val="0"/>
      <c:txPr>
        <a:bodyPr/>
        <a:lstStyle/>
        <a:p>
          <a:pPr>
            <a:defRPr sz="1000"/>
          </a:pPr>
          <a:endParaRPr lang="en-US"/>
        </a:p>
      </c:txPr>
    </c:legend>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78D2C7-6056-4A53-A15C-EEA22BF4B91E}" type="datetimeFigureOut">
              <a:rPr lang="en-US" smtClean="0"/>
              <a:t>9/25/2026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886AAD-223C-4A3C-9E98-E6196E7D01ED}" type="slidenum">
              <a:rPr lang="en-US" smtClean="0"/>
              <a:t>‹#›</a:t>
            </a:fld>
            <a:endParaRPr lang="en-US"/>
          </a:p>
        </p:txBody>
      </p:sp>
    </p:spTree>
    <p:extLst>
      <p:ext uri="{BB962C8B-B14F-4D97-AF65-F5344CB8AC3E}">
        <p14:creationId xmlns:p14="http://schemas.microsoft.com/office/powerpoint/2010/main" val="26793478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开场先讲清楚这周在问什么。</a:t>
            </a:r>
          </a:p>
          <a:p>
            <a:r>
              <a:t>要说的一句话：We tested whether a world model needs its body–environment edges to adapt when the robot's body changes.</a:t>
            </a:r>
          </a:p>
          <a:p>
            <a:endParaRPr/>
          </a:p>
          <a:p>
            <a:r>
              <a:t>关键：训练时连杆质量只取范围的下 40%（轻），测试时取上 40%（重），中间留 20% 空隙，所以测试时的身体是模型从没见过的。</a:t>
            </a:r>
          </a:p>
          <a:p>
            <a:r>
              <a:t>三个测试条件里 morph_b 是主测试：只有身体变，物体、动作全和训练一样。object_b 是对照：只有物体变。</a:t>
            </a:r>
          </a:p>
          <a:p>
            <a:r>
              <a:t>ours_nobody 是本周的关键 arm：用我们的图，但把所有 身体→输出 的边关掉。</a:t>
            </a:r>
          </a:p>
          <a:p>
            <a:r>
              <a:t>如果'身体边是适应新身体所必需的'这个假设成立，关掉它应该在 morph_b 上变差。</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这页解释为什么这个实验（03）的第一次运行结果不能用、这次改了什么。注意：这里说的是 03 的第一次运行，不是 Week 11 的结果；Week 11 的结论见后面 'What changes from Week 11'。</a:t>
            </a:r>
          </a:p>
          <a:p>
            <a:endParaRPr/>
          </a:p>
          <a:p>
            <a:r>
              <a:t>1. 第一次运行时 ours 每个 seed 都是 0.03：图里只开了 3% 的状态边，模型基本只能看到动作。原因是三个图估计问题（不同单位的效应用同一个阈值比较、没被干预过的输入被关掉、阈值规则）。</a:t>
            </a:r>
          </a:p>
          <a:p>
            <a:r>
              <a:t>2. object_b 当时不是'只动物体'：CausalWorld 的 space_b 质量范围 [0.045, 0.1] 和 space_a [0.015, 0.045] 不重叠，所有连杆被截到 0.045。现在用 CausalWorld 自带的 space_a_b（两个范围的并集）。</a:t>
            </a:r>
          </a:p>
          <a:p>
            <a:r>
              <a:t>3. gate 把'照抄'当成了效应：每根 link_0 读数正好是 0.030，就是它自己的取值范围。</a:t>
            </a:r>
          </a:p>
          <a:p>
            <a:r>
              <a:t>4. 每个 cell 都加了检查，一共 319 项；结构性问题会在第一个 seed 就停下来。</a:t>
            </a:r>
          </a:p>
          <a:p>
            <a:r>
              <a:t>这次因为数据有缓存，整个运行约 25 分钟，每个 seed 训练约 64 秒。</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这页用来回答'结果可信吗'。方法：跑之前我写下了预测，跑完逐项对照。</a:t>
            </a:r>
          </a:p>
          <a:p>
            <a:endParaRPr/>
          </a:p>
          <a:p>
            <a:r>
              <a:t>前 7 行是'管线有没有问题'的检查，6 行对上，只有图的密度比预测高（原因在 Result 2）。</a:t>
            </a:r>
          </a:p>
          <a:p>
            <a:r>
              <a:t>最后一行是实验真正要回答的问题，结果和预测方向相反，这不是 bug，是发现（Result 1）。</a:t>
            </a:r>
          </a:p>
          <a:p>
            <a:r>
              <a:t>319 项检查过了 269 项，失败的 50 项只有 4 类，都会在后面几页解释；没有一项是结构性的（没有截断、没有孤立输出、没有塌缩）。</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这是本周主结果。先讲现象，解释放到下一页。</a:t>
            </a:r>
          </a:p>
          <a:p>
            <a:endParaRPr/>
          </a:p>
          <a:p>
            <a:r>
              <a:t>看右图：在 morph_b（只换身体）上，不读任何连杆质量的 ours_nobody 是 0.571，读了质量的 ours 只有 0.255。20 个数据集里 20 个都是 ours_nobody 更好，p = 1.9e-6；它还以 20/20 胜过其它所有 arm。</a:t>
            </a:r>
          </a:p>
          <a:p>
            <a:r>
              <a:t>在 object_b（只换物体）上几乎没有区别：9/20，p = 0.81。所以这个效应只和身体变化有关。</a:t>
            </a:r>
          </a:p>
          <a:p>
            <a:endParaRPr/>
          </a:p>
          <a:p>
            <a:r>
              <a:t>可以这样说：Removing the body inputs helps only when the body is out of range. The graph correctly says mass matters, but the MLP mechanism cannot extrapolate the mass effect beyond the masses it has seen.</a:t>
            </a:r>
          </a:p>
          <a:p>
            <a:r>
              <a:t>注意：这不等于'因果图没用'，下一页解释。</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这一页是整个报告的核心，要讲慢一点。</a:t>
            </a:r>
          </a:p>
          <a:p>
            <a:endParaRPr/>
          </a:p>
          <a:p>
            <a:r>
              <a:t>因果图唯一的作用是决定模型读哪些输入。它帮助 OOD 的方式只有一种：把'超出范围、又没用'的输入剪掉。</a:t>
            </a:r>
          </a:p>
          <a:p>
            <a:r>
              <a:t>第一行：如果某个输入超出范围、但它不是这个输出的原因（颜色、目标方块的外观、对这个输出没作用的质量），正确的图会对这个输出剪掉它，模型就不会被它带偏。这就是 Week 11 的提升来源（ours 0.494 对 no_graph 0.335，19/20；PETS 加上我们的图 0.211 → 0.383）。Week 11 的测试是真正的范围变化：space_a 训练、space_b 测试，质量、摩擦、尺寸、位置、颜色全部换了范围，而且互不重叠。颜色只是被剪掉的输入之一，不是全部。</a:t>
            </a:r>
          </a:p>
          <a:p>
            <a:r>
              <a:t>第二行：如果超出范围的是真正的原因（比如这次的连杆质量），正确的图必须保留它。图只说'质量有影响'，但没说'质量超出见过的范围后影响怎么延续'——那是机制的事，而 MLP 机制做不到外推。</a:t>
            </a:r>
          </a:p>
          <a:p>
            <a:endParaRPr/>
          </a:p>
          <a:p>
            <a:r>
              <a:t>Week 11 的测试两行都有：颜色这类属于第一行，质量、摩擦这类属于第二行。图的提升来自第一行。这周的 morph_b 只保留了第二行，所以图帮不上忙。两周不矛盾，这周把 Week 11 里混在一起的两部分拆开了。CDL（Wang et al. 2022）的 OOD 测试也只评估了父节点没有变化的输出，也就是只测了第一行。</a:t>
            </a:r>
          </a:p>
          <a:p>
            <a:r>
              <a:t>可以说：Causality is graph plus mechanism. This experiment separates the two: the graph part is right, the mechanism part fails to extrapolate.</a:t>
            </a:r>
          </a:p>
          <a:p>
            <a:r>
              <a:t>这也指出了方法创新的方向：能在物理参数上外推的机制。</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这一页说明：这次的图连它本来能做的部分都没做到，所以不能据此说'图在形态实验里没用'。</a:t>
            </a:r>
          </a:p>
          <a:p>
            <a:endParaRPr/>
          </a:p>
          <a:p>
            <a:r>
              <a:t>在 morph_b 里，12 根连杆全部超出范围。其中 3 根 link_0（固定在底座上的那一节）没有效应，gate 2 测过，效应是 0。一个正确的因果图应该把这 3 根剪掉——这是图在这个实验里唯一能帮上忙的地方。</a:t>
            </a:r>
          </a:p>
          <a:p>
            <a:r>
              <a:t>但每个 seed 的输出都是 body inputs open 12/12：3 根无效的 link_0 也被保留了；12 个颜色分量也全被保留了。</a:t>
            </a:r>
          </a:p>
          <a:p>
            <a:r>
              <a:t>原因是 Result 2：孪生 rollout 不干净，干预动作本身会扰动 20–30% 的轨迹，于是所有被测过的变量看起来都有效应，图几乎什么都剪不掉（75% 的边都是开的）。</a:t>
            </a:r>
          </a:p>
          <a:p>
            <a:endParaRPr/>
          </a:p>
          <a:p>
            <a:r>
              <a:t>所以准确的说法是：the graph did not get a fair test this week. 修好 Result 2 之后才能真正检验。</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这是方法层面最重要的发现，会影响之前的结论，要主动讲。</a:t>
            </a:r>
          </a:p>
          <a:p>
            <a:endParaRPr/>
          </a:p>
          <a:p>
            <a:r>
              <a:t>颜色在物理引擎里不可能影响动力学，gate 里用单个 episode 测也确实是 0。</a:t>
            </a:r>
          </a:p>
          <a:p>
            <a:r>
              <a:t>但在上千个颜色干预配对里，pushing 有 15–25%、picking 有 28–33% 的配对动力学变了，最大到 750 个标准差（右图）。</a:t>
            </a:r>
          </a:p>
          <a:p>
            <a:r>
              <a:t>后果：12 个颜色诱饵全部进了图，图有 75% 的边是开的，几乎没有剪枝。</a:t>
            </a:r>
          </a:p>
          <a:p>
            <a:endParaRPr/>
          </a:p>
          <a:p>
            <a:r>
              <a:t>最可能的原因：采集配对时只有反事实那一支调用了 do_intervention，基准那一支没调用。如果这个调用本身扰动了仿真，再经过接触动力学放大，就会让一部分 episode 分叉。这点还没证实。</a:t>
            </a:r>
          </a:p>
          <a:p>
            <a:r>
              <a:t>验证：两支都调用'同值干预'，再做一组两支都是同值干预的零对照，差值应该恰好是 0。</a:t>
            </a:r>
          </a:p>
          <a:p>
            <a:r>
              <a:t>这会影响 Week 11 里'τ = Y_cf − Y_base 是精确因果效应'的说法，需要修正。Week 11 的 notebook 里其实已经有迹象：颜色的最大效应是 2.1e-3，而理论上应该是 0。</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这页讲阈值。之前加入 action 的重跑（02）已经发现阈值会改变结论：1e-3 放进了 46 个颜色变量，改成 3e-2 后，和相关图的比较从 p = 0.674 变成 p = 0.012。这次同一个问题更明显。</a:t>
            </a:r>
          </a:p>
          <a:p>
            <a:endParaRPr/>
          </a:p>
          <a:p>
            <a:r>
              <a:t>固定阈值（效应 ≥ 0.01 个标准差）：右表显示 τ 一直到 0.03，12 个颜色诱饵都还在；到 0.1 也还剩 10 个。说明噪声底线（Result 2）比这些阈值都高。</a:t>
            </a:r>
          </a:p>
          <a:p>
            <a:r>
              <a:t>置换阈值（效应要高于'平均效应'）对这个噪声底线更稳：morph_b 上 ours_perm 0.537 对 ours 0.255，17/20，p = 0.003。</a:t>
            </a:r>
          </a:p>
          <a:p>
            <a:endParaRPr/>
          </a:p>
          <a:p>
            <a:r>
              <a:t>要主动承认一个修正：分析第一次运行时，我把置换阈值称为 bug，理由是它检验的是'比平均更有影响'而不是'有没有影响'。原理上没错，但在噪声底线被污染时，它反而是更好的规则。</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完整结果表，所有数都是 20 个数据集的中位数 R²。蓝色两行是本周最好的两个 arm。</a:t>
            </a:r>
          </a:p>
          <a:p>
            <a:endParaRPr/>
          </a:p>
          <a:p>
            <a:r>
              <a:t>要提醒一点：基础模型本身很弱，分布内 R² 只有约 0.39（有 7 个数据集甚至低于 0.3）。原因是去掉了'照抄'的静态输出后，预测 50 步之后的绝对状态本来就难。所以 arm 之间 0.1–0.3 的差别，是建立在一个只能解释约 40% 方差的模型上。</a:t>
            </a:r>
          </a:p>
          <a:p>
            <a:r>
              <a:t>lasso_graph 和 no_graph 完全一样，是我代码里的 bug：Lasso 的非零系数比边数预算少，top-k 选边在 0 处并列，把所有边都打开了（2210 条，本该是 1744）。要主动说明，下次修掉。</a:t>
            </a:r>
          </a:p>
          <a:p>
            <a:r>
              <a:t>PETS 和 PETS+ours_graph 完全相同，因为这次的图保留了所有输入（颜色也被放进来了），PETS 只把图当作输入开关，所以什么都没变。</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这页把本周结果和之前的结论对齐，教授会关心之前的结论还成不成立。</a:t>
            </a:r>
          </a:p>
          <a:p>
            <a:endParaRPr/>
          </a:p>
          <a:p>
            <a:r>
              <a:t>1. 图胜过随机图：这周没有得到公平检验，因为孪生问题让图几乎什么都剪不掉（上一页）。</a:t>
            </a:r>
          </a:p>
          <a:p>
            <a:r>
              <a:t>2. 图迁移到 PETS：这次是 0，但原因很具体——图保留了所有输入，PETS 看到的东西没变。</a:t>
            </a:r>
          </a:p>
          <a:p>
            <a:r>
              <a:t>3. '孪生 rollout 是精确因果效应'：需要修正（Result 2）。</a:t>
            </a:r>
          </a:p>
          <a:p>
            <a:r>
              <a:t>4. '颜色效应 ≈ 0'：单个 episode 成立，在大量配对里不成立。</a:t>
            </a:r>
          </a:p>
          <a:p>
            <a:r>
              <a:t>5. '阈值决定结论'：这次更强了。</a:t>
            </a:r>
          </a:p>
          <a:p>
            <a:r>
              <a:t>6. Week 11 的 R² 数值需要复查：当时的输出是原始观测向量，包含方块尺寸、目标位置这类静态分量，可能把 R² 抬高了。arm 之间的比较仍然公平，但绝对数值要去掉静态输出重算。这一点目前只是怀疑，还没验证；用已有缓存就能查，不需要重新采集。</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总结三句话：</a:t>
            </a:r>
          </a:p>
          <a:p>
            <a:r>
              <a:t>1. 我们知道的：只换身体时，读质量不如不读（20/20）；这是机制外推失败，不是图错。</a:t>
            </a:r>
          </a:p>
          <a:p>
            <a:r>
              <a:t>2. 我们还不知道的：修好孪生 rollout 之后，正确的图（剪掉 3 根 link_0 和颜色）能不能在形态实验里胜过不用图——这才是你的假设在这里的直接检验。</a:t>
            </a:r>
          </a:p>
          <a:p>
            <a:r>
              <a:t>3. 方法上的收获：孪生 rollout 不是精确反事实；阈值规则要对这种噪声底线稳健。</a:t>
            </a:r>
          </a:p>
          <a:p>
            <a:r>
              <a:t>最后引出下一步。</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按优先级讲。</a:t>
            </a:r>
          </a:p>
          <a:p>
            <a:r>
              <a:t>第 1 条最重要：不修好孪生 rollout，图就剪不掉任何东西，所有结论都不干净，包括 Week 11 的。</a:t>
            </a:r>
          </a:p>
          <a:p>
            <a:r>
              <a:t>第 2 条是直接检验你的假设：修好之后比较三个 arm。正确的图 vs 不用图 → 假设是否成立；正确的图 vs 什么身体都不读 → 机制外推的代价有多大，也就是方法创新要解决的问题。</a:t>
            </a:r>
          </a:p>
          <a:p>
            <a:r>
              <a:t>第 3 条：插值划分（两端训练、中间测试），确认 Result 1 是外推造成的。</a:t>
            </a:r>
          </a:p>
          <a:p>
            <a:r>
              <a:t>第 4 条：分布内 R² 只有 0.39，基础模型要更强，比如预测位移而不是绝对状态。</a:t>
            </a:r>
          </a:p>
          <a:p>
            <a:r>
              <a:t>第 5 条：用已有缓存复查 Week 11，不需要重新采集。</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9/25/2026</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8642944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9/25/2026</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83507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9/25/2026</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761147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9/25/2026</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9717138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9/25/2026</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6130269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9/25/2026</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681223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9/25/2026</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0480106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9/25/2026</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6849170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9/25/2026</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2713153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9/25/2026</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2350624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9/25/2026</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524612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9/25/2026</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493697747"/>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66" r:id="rId6"/>
    <p:sldLayoutId id="2147483662" r:id="rId7"/>
    <p:sldLayoutId id="2147483663" r:id="rId8"/>
    <p:sldLayoutId id="2147483664" r:id="rId9"/>
    <p:sldLayoutId id="2147483665" r:id="rId10"/>
    <p:sldLayoutId id="2147483667"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4" name="Picture 3">
            <a:extLst>
              <a:ext uri="{FF2B5EF4-FFF2-40B4-BE49-F238E27FC236}">
                <a16:creationId xmlns:a16="http://schemas.microsoft.com/office/drawing/2014/main" id="{46529A70-3D97-5FDA-A1C9-9A64C040AB78}"/>
              </a:ext>
            </a:extLst>
          </p:cNvPr>
          <p:cNvPicPr>
            <a:picLocks noChangeAspect="1"/>
          </p:cNvPicPr>
          <p:nvPr/>
        </p:nvPicPr>
        <p:blipFill>
          <a:blip r:embed="rId2"/>
          <a:srcRect t="12791"/>
          <a:stretch>
            <a:fillRect/>
          </a:stretch>
        </p:blipFill>
        <p:spPr>
          <a:xfrm>
            <a:off x="20" y="10"/>
            <a:ext cx="12191979" cy="6857990"/>
          </a:xfrm>
          <a:prstGeom prst="rect">
            <a:avLst/>
          </a:prstGeom>
        </p:spPr>
      </p:pic>
      <p:sp>
        <p:nvSpPr>
          <p:cNvPr id="11" name="Rectangle 10">
            <a:extLst>
              <a:ext uri="{FF2B5EF4-FFF2-40B4-BE49-F238E27FC236}">
                <a16:creationId xmlns:a16="http://schemas.microsoft.com/office/drawing/2014/main" id="{912025B4-7337-735E-4DC9-E634D20119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73183" y="173181"/>
            <a:ext cx="6858002" cy="6511640"/>
          </a:xfrm>
          <a:prstGeom prst="rect">
            <a:avLst/>
          </a:prstGeom>
          <a:gradFill>
            <a:gsLst>
              <a:gs pos="0">
                <a:schemeClr val="bg1">
                  <a:alpha val="0"/>
                </a:schemeClr>
              </a:gs>
              <a:gs pos="46000">
                <a:schemeClr val="bg1">
                  <a:alpha val="20000"/>
                </a:schemeClr>
              </a:gs>
              <a:gs pos="26000">
                <a:schemeClr val="bg1">
                  <a:alpha val="7000"/>
                </a:schemeClr>
              </a:gs>
              <a:gs pos="100000">
                <a:schemeClr val="bg1">
                  <a:alpha val="3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24CA4163-5BD5-1494-37A3-0088ED841019}"/>
              </a:ext>
            </a:extLst>
          </p:cNvPr>
          <p:cNvSpPr>
            <a:spLocks noGrp="1"/>
          </p:cNvSpPr>
          <p:nvPr>
            <p:ph type="ctrTitle"/>
          </p:nvPr>
        </p:nvSpPr>
        <p:spPr>
          <a:xfrm>
            <a:off x="438910" y="978408"/>
            <a:ext cx="4795819" cy="3969960"/>
          </a:xfrm>
        </p:spPr>
        <p:txBody>
          <a:bodyPr anchor="t">
            <a:normAutofit/>
          </a:bodyPr>
          <a:lstStyle/>
          <a:p>
            <a:r>
              <a:rPr lang="en-US" altLang="zh-CN" sz="6600"/>
              <a:t>Week 13</a:t>
            </a:r>
            <a:endParaRPr lang="en-US" sz="6600"/>
          </a:p>
        </p:txBody>
      </p:sp>
      <p:sp>
        <p:nvSpPr>
          <p:cNvPr id="3" name="Subtitle 2">
            <a:extLst>
              <a:ext uri="{FF2B5EF4-FFF2-40B4-BE49-F238E27FC236}">
                <a16:creationId xmlns:a16="http://schemas.microsoft.com/office/drawing/2014/main" id="{79091FCA-7AF0-4DE3-87A5-7107189784FB}"/>
              </a:ext>
            </a:extLst>
          </p:cNvPr>
          <p:cNvSpPr>
            <a:spLocks noGrp="1"/>
          </p:cNvSpPr>
          <p:nvPr>
            <p:ph type="subTitle" idx="1"/>
          </p:nvPr>
        </p:nvSpPr>
        <p:spPr>
          <a:xfrm>
            <a:off x="438910" y="4948369"/>
            <a:ext cx="4381634" cy="1157436"/>
          </a:xfrm>
        </p:spPr>
        <p:txBody>
          <a:bodyPr anchor="b">
            <a:normAutofit/>
          </a:bodyPr>
          <a:lstStyle/>
          <a:p>
            <a:r>
              <a:rPr lang="en-US" sz="2400" dirty="0"/>
              <a:t>chu</a:t>
            </a:r>
          </a:p>
        </p:txBody>
      </p:sp>
      <p:sp>
        <p:nvSpPr>
          <p:cNvPr id="13" name="Rectangle 12">
            <a:extLst>
              <a:ext uri="{FF2B5EF4-FFF2-40B4-BE49-F238E27FC236}">
                <a16:creationId xmlns:a16="http://schemas.microsoft.com/office/drawing/2014/main" id="{150CDACD-D191-E642-F686-FCB54B7E5F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8" y="508090"/>
            <a:ext cx="4695702"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Tree>
    <p:extLst>
      <p:ext uri="{BB962C8B-B14F-4D97-AF65-F5344CB8AC3E}">
        <p14:creationId xmlns:p14="http://schemas.microsoft.com/office/powerpoint/2010/main" val="3296793622"/>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The morphology experiment</a:t>
            </a:r>
          </a:p>
        </p:txBody>
      </p:sp>
      <p:sp>
        <p:nvSpPr>
          <p:cNvPr id="3" name="Content Placeholder 2"/>
          <p:cNvSpPr>
            <a:spLocks noGrp="1"/>
          </p:cNvSpPr>
          <p:nvPr>
            <p:ph idx="1"/>
          </p:nvPr>
        </p:nvSpPr>
        <p:spPr>
          <a:xfrm>
            <a:off x="275492" y="1981200"/>
            <a:ext cx="5413248" cy="0"/>
          </a:xfrm>
        </p:spPr>
        <p:txBody>
          <a:bodyPr>
            <a:noAutofit/>
          </a:bodyPr>
          <a:lstStyle/>
          <a:p>
            <a:r>
              <a:rPr b="1" dirty="0"/>
              <a:t>Question:</a:t>
            </a:r>
            <a:r>
              <a:rPr dirty="0"/>
              <a:t> does a world model need its body–environment edges to adapt when the robot's body changes?</a:t>
            </a:r>
          </a:p>
          <a:p>
            <a:r>
              <a:rPr dirty="0"/>
              <a:t>Train on </a:t>
            </a:r>
            <a:r>
              <a:rPr b="1" dirty="0"/>
              <a:t>light</a:t>
            </a:r>
            <a:r>
              <a:rPr dirty="0"/>
              <a:t> finger links, test on </a:t>
            </a:r>
            <a:r>
              <a:rPr b="1" dirty="0"/>
              <a:t>heavy</a:t>
            </a:r>
            <a:r>
              <a:rPr dirty="0"/>
              <a:t> links it has never seen</a:t>
            </a:r>
          </a:p>
          <a:p>
            <a:pPr lvl="1"/>
            <a:r>
              <a:rPr sz="1800" dirty="0"/>
              <a:t>M_A = lower 40% of each link-mass range, M_B = upper 40%, with a 20% gap</a:t>
            </a:r>
          </a:p>
          <a:p>
            <a:r>
              <a:rPr b="1" dirty="0"/>
              <a:t>Key arm: </a:t>
            </a:r>
            <a:r>
              <a:rPr b="1" dirty="0" err="1"/>
              <a:t>ours_nobody</a:t>
            </a:r>
            <a:r>
              <a:rPr dirty="0"/>
              <a:t> — our graph with every body → output edge closed</a:t>
            </a:r>
          </a:p>
          <a:p>
            <a:pPr lvl="1"/>
            <a:r>
              <a:rPr sz="1800" dirty="0"/>
              <a:t>If body edges are needed to adapt, closing them should hurt on </a:t>
            </a:r>
            <a:r>
              <a:rPr sz="1800" dirty="0" err="1"/>
              <a:t>morph_b</a:t>
            </a:r>
            <a:endParaRPr sz="1800" dirty="0"/>
          </a:p>
          <a:p>
            <a:r>
              <a:rPr dirty="0"/>
              <a:t>2 tasks (pushing, picking) × 10 seeds = 20 datasets, 10 arms</a:t>
            </a:r>
          </a:p>
        </p:txBody>
      </p:sp>
      <p:graphicFrame>
        <p:nvGraphicFramePr>
          <p:cNvPr id="4" name="Table 3"/>
          <p:cNvGraphicFramePr>
            <a:graphicFrameLocks noGrp="1"/>
          </p:cNvGraphicFramePr>
          <p:nvPr/>
        </p:nvGraphicFramePr>
        <p:xfrm>
          <a:off x="5934456" y="2926080"/>
          <a:ext cx="6135623" cy="2011680"/>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20000"/>
                    </a:ext>
                  </a:extLst>
                </a:gridCol>
                <a:gridCol w="1874519">
                  <a:extLst>
                    <a:ext uri="{9D8B030D-6E8A-4147-A177-3AD203B41FA5}">
                      <a16:colId xmlns:a16="http://schemas.microsoft.com/office/drawing/2014/main" val="20001"/>
                    </a:ext>
                  </a:extLst>
                </a:gridCol>
                <a:gridCol w="1883664">
                  <a:extLst>
                    <a:ext uri="{9D8B030D-6E8A-4147-A177-3AD203B41FA5}">
                      <a16:colId xmlns:a16="http://schemas.microsoft.com/office/drawing/2014/main" val="20002"/>
                    </a:ext>
                  </a:extLst>
                </a:gridCol>
              </a:tblGrid>
              <a:tr h="502920">
                <a:tc>
                  <a:txBody>
                    <a:bodyPr/>
                    <a:lstStyle/>
                    <a:p>
                      <a:pPr algn="l"/>
                      <a:r>
                        <a:rPr sz="1500" b="1">
                          <a:solidFill>
                            <a:srgbClr val="FFFFFF"/>
                          </a:solidFill>
                        </a:rPr>
                        <a:t>Test condition</a:t>
                      </a:r>
                    </a:p>
                  </a:txBody>
                  <a:tcPr marL="54864" marR="54864" marT="18288" marB="18288" anchor="ctr">
                    <a:solidFill>
                      <a:srgbClr val="1A1A1A"/>
                    </a:solidFill>
                  </a:tcPr>
                </a:tc>
                <a:tc>
                  <a:txBody>
                    <a:bodyPr/>
                    <a:lstStyle/>
                    <a:p>
                      <a:pPr algn="ctr"/>
                      <a:r>
                        <a:rPr sz="1500" b="1">
                          <a:solidFill>
                            <a:srgbClr val="FFFFFF"/>
                          </a:solidFill>
                        </a:rPr>
                        <a:t>Body</a:t>
                      </a:r>
                    </a:p>
                  </a:txBody>
                  <a:tcPr marL="54864" marR="54864" marT="18288" marB="18288" anchor="ctr">
                    <a:solidFill>
                      <a:srgbClr val="1A1A1A"/>
                    </a:solidFill>
                  </a:tcPr>
                </a:tc>
                <a:tc>
                  <a:txBody>
                    <a:bodyPr/>
                    <a:lstStyle/>
                    <a:p>
                      <a:pPr algn="ctr"/>
                      <a:r>
                        <a:rPr sz="1500" b="1">
                          <a:solidFill>
                            <a:srgbClr val="FFFFFF"/>
                          </a:solidFill>
                        </a:rPr>
                        <a:t>Objects</a:t>
                      </a:r>
                    </a:p>
                  </a:txBody>
                  <a:tcPr marL="54864" marR="54864" marT="18288" marB="18288" anchor="ctr">
                    <a:solidFill>
                      <a:srgbClr val="1A1A1A"/>
                    </a:solidFill>
                  </a:tcPr>
                </a:tc>
                <a:extLst>
                  <a:ext uri="{0D108BD9-81ED-4DB2-BD59-A6C34878D82A}">
                    <a16:rowId xmlns:a16="http://schemas.microsoft.com/office/drawing/2014/main" val="10000"/>
                  </a:ext>
                </a:extLst>
              </a:tr>
              <a:tr h="502920">
                <a:tc>
                  <a:txBody>
                    <a:bodyPr/>
                    <a:lstStyle/>
                    <a:p>
                      <a:pPr algn="l"/>
                      <a:r>
                        <a:rPr sz="1500" b="1"/>
                        <a:t>morph_b  (main)</a:t>
                      </a:r>
                    </a:p>
                  </a:txBody>
                  <a:tcPr marL="54864" marR="54864" marT="18288" marB="18288" anchor="ctr">
                    <a:solidFill>
                      <a:srgbClr val="DEEAF4"/>
                    </a:solidFill>
                  </a:tcPr>
                </a:tc>
                <a:tc>
                  <a:txBody>
                    <a:bodyPr/>
                    <a:lstStyle/>
                    <a:p>
                      <a:pPr algn="ctr"/>
                      <a:r>
                        <a:rPr sz="1500" b="1"/>
                        <a:t>changed</a:t>
                      </a:r>
                    </a:p>
                  </a:txBody>
                  <a:tcPr marL="54864" marR="54864" marT="18288" marB="18288" anchor="ctr">
                    <a:solidFill>
                      <a:srgbClr val="DEEAF4"/>
                    </a:solidFill>
                  </a:tcPr>
                </a:tc>
                <a:tc>
                  <a:txBody>
                    <a:bodyPr/>
                    <a:lstStyle/>
                    <a:p>
                      <a:pPr algn="ctr"/>
                      <a:r>
                        <a:rPr sz="1500" b="1"/>
                        <a:t>same</a:t>
                      </a:r>
                    </a:p>
                  </a:txBody>
                  <a:tcPr marL="54864" marR="54864" marT="18288" marB="18288" anchor="ctr">
                    <a:solidFill>
                      <a:srgbClr val="DEEAF4"/>
                    </a:solidFill>
                  </a:tcPr>
                </a:tc>
                <a:extLst>
                  <a:ext uri="{0D108BD9-81ED-4DB2-BD59-A6C34878D82A}">
                    <a16:rowId xmlns:a16="http://schemas.microsoft.com/office/drawing/2014/main" val="10001"/>
                  </a:ext>
                </a:extLst>
              </a:tr>
              <a:tr h="502920">
                <a:tc>
                  <a:txBody>
                    <a:bodyPr/>
                    <a:lstStyle/>
                    <a:p>
                      <a:pPr algn="l"/>
                      <a:r>
                        <a:rPr sz="1500"/>
                        <a:t>object_b (control)</a:t>
                      </a:r>
                    </a:p>
                  </a:txBody>
                  <a:tcPr marL="54864" marR="54864" marT="18288" marB="18288" anchor="ctr">
                    <a:solidFill>
                      <a:srgbClr val="F2F2F2"/>
                    </a:solidFill>
                  </a:tcPr>
                </a:tc>
                <a:tc>
                  <a:txBody>
                    <a:bodyPr/>
                    <a:lstStyle/>
                    <a:p>
                      <a:pPr algn="ctr"/>
                      <a:r>
                        <a:rPr sz="1500"/>
                        <a:t>same</a:t>
                      </a:r>
                    </a:p>
                  </a:txBody>
                  <a:tcPr marL="54864" marR="54864" marT="18288" marB="18288" anchor="ctr">
                    <a:solidFill>
                      <a:srgbClr val="F2F2F2"/>
                    </a:solidFill>
                  </a:tcPr>
                </a:tc>
                <a:tc>
                  <a:txBody>
                    <a:bodyPr/>
                    <a:lstStyle/>
                    <a:p>
                      <a:pPr algn="ctr"/>
                      <a:r>
                        <a:rPr sz="1500"/>
                        <a:t>changed</a:t>
                      </a:r>
                    </a:p>
                  </a:txBody>
                  <a:tcPr marL="54864" marR="54864" marT="18288" marB="18288" anchor="ctr">
                    <a:solidFill>
                      <a:srgbClr val="F2F2F2"/>
                    </a:solidFill>
                  </a:tcPr>
                </a:tc>
                <a:extLst>
                  <a:ext uri="{0D108BD9-81ED-4DB2-BD59-A6C34878D82A}">
                    <a16:rowId xmlns:a16="http://schemas.microsoft.com/office/drawing/2014/main" val="10002"/>
                  </a:ext>
                </a:extLst>
              </a:tr>
              <a:tr h="502920">
                <a:tc>
                  <a:txBody>
                    <a:bodyPr/>
                    <a:lstStyle/>
                    <a:p>
                      <a:pPr algn="l"/>
                      <a:r>
                        <a:rPr sz="1500"/>
                        <a:t>both_b</a:t>
                      </a:r>
                    </a:p>
                  </a:txBody>
                  <a:tcPr marL="54864" marR="54864" marT="18288" marB="18288" anchor="ctr">
                    <a:solidFill>
                      <a:srgbClr val="FFFFFF"/>
                    </a:solidFill>
                  </a:tcPr>
                </a:tc>
                <a:tc>
                  <a:txBody>
                    <a:bodyPr/>
                    <a:lstStyle/>
                    <a:p>
                      <a:pPr algn="ctr"/>
                      <a:r>
                        <a:rPr sz="1500"/>
                        <a:t>changed</a:t>
                      </a:r>
                    </a:p>
                  </a:txBody>
                  <a:tcPr marL="54864" marR="54864" marT="18288" marB="18288" anchor="ctr">
                    <a:solidFill>
                      <a:srgbClr val="FFFFFF"/>
                    </a:solidFill>
                  </a:tcPr>
                </a:tc>
                <a:tc>
                  <a:txBody>
                    <a:bodyPr/>
                    <a:lstStyle/>
                    <a:p>
                      <a:pPr algn="ctr"/>
                      <a:r>
                        <a:rPr sz="1500"/>
                        <a:t>changed</a:t>
                      </a:r>
                    </a:p>
                  </a:txBody>
                  <a:tcPr marL="54864" marR="54864" marT="18288" marB="18288" anchor="ctr">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Fixes before this run</a:t>
            </a:r>
          </a:p>
        </p:txBody>
      </p:sp>
      <p:sp>
        <p:nvSpPr>
          <p:cNvPr id="3" name="Content Placeholder 2"/>
          <p:cNvSpPr>
            <a:spLocks noGrp="1"/>
          </p:cNvSpPr>
          <p:nvPr>
            <p:ph idx="1"/>
          </p:nvPr>
        </p:nvSpPr>
        <p:spPr>
          <a:xfrm>
            <a:off x="281354" y="2737338"/>
            <a:ext cx="11155680" cy="0"/>
          </a:xfrm>
        </p:spPr>
        <p:txBody>
          <a:bodyPr>
            <a:noAutofit/>
          </a:bodyPr>
          <a:lstStyle/>
          <a:p>
            <a:r>
              <a:rPr b="1" dirty="0"/>
              <a:t>First run of this experiment: our graph collapsed</a:t>
            </a:r>
            <a:r>
              <a:rPr dirty="0"/>
              <a:t> (R² ≈ 0.03 on every seed)</a:t>
            </a:r>
          </a:p>
          <a:p>
            <a:pPr lvl="1"/>
            <a:r>
              <a:rPr sz="1800" dirty="0"/>
              <a:t>Only 3% of state edges were open — the model saw little besides the action</a:t>
            </a:r>
          </a:p>
          <a:p>
            <a:pPr lvl="2"/>
            <a:r>
              <a:rPr sz="1800" dirty="0"/>
              <a:t>Effects compared in raw units, unmeasured inputs closed, and the threshold rule</a:t>
            </a:r>
          </a:p>
          <a:p>
            <a:r>
              <a:rPr b="1" dirty="0" err="1"/>
              <a:t>object_b</a:t>
            </a:r>
            <a:r>
              <a:rPr b="1" dirty="0"/>
              <a:t> was not an object-only control</a:t>
            </a:r>
          </a:p>
          <a:p>
            <a:pPr lvl="1"/>
            <a:r>
              <a:rPr sz="1800" dirty="0" err="1"/>
              <a:t>CausalWorld</a:t>
            </a:r>
            <a:r>
              <a:rPr sz="1800" dirty="0"/>
              <a:t> </a:t>
            </a:r>
            <a:r>
              <a:rPr sz="1800" dirty="0" err="1"/>
              <a:t>space_b</a:t>
            </a:r>
            <a:r>
              <a:rPr sz="1800" dirty="0"/>
              <a:t> link mass is [0.045, 0.1], disjoint from ours → every link was clipped to 0.045</a:t>
            </a:r>
          </a:p>
          <a:p>
            <a:pPr lvl="2"/>
            <a:r>
              <a:rPr sz="1800" dirty="0"/>
              <a:t>Now built in </a:t>
            </a:r>
            <a:r>
              <a:rPr sz="1800" dirty="0" err="1"/>
              <a:t>space_a_b</a:t>
            </a:r>
            <a:r>
              <a:rPr sz="1800" dirty="0"/>
              <a:t>, the library's own union of both ranges</a:t>
            </a:r>
          </a:p>
          <a:p>
            <a:r>
              <a:rPr b="1" dirty="0"/>
              <a:t>The gate counted copies as effects</a:t>
            </a:r>
            <a:r>
              <a:rPr dirty="0"/>
              <a:t> — every link_0 read exactly 0.030, its own range</a:t>
            </a:r>
          </a:p>
          <a:p>
            <a:r>
              <a:rPr b="1" dirty="0"/>
              <a:t>A sanity check in every cell</a:t>
            </a:r>
            <a:r>
              <a:rPr dirty="0"/>
              <a:t> (319 checks); structural failures stop the run on seed 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Can we trust the pipeline?</a:t>
            </a:r>
          </a:p>
        </p:txBody>
      </p:sp>
      <p:graphicFrame>
        <p:nvGraphicFramePr>
          <p:cNvPr id="3" name="Table 2"/>
          <p:cNvGraphicFramePr>
            <a:graphicFrameLocks noGrp="1"/>
          </p:cNvGraphicFramePr>
          <p:nvPr/>
        </p:nvGraphicFramePr>
        <p:xfrm>
          <a:off x="521207" y="2514600"/>
          <a:ext cx="11155680" cy="3456432"/>
        </p:xfrm>
        <a:graphic>
          <a:graphicData uri="http://schemas.openxmlformats.org/drawingml/2006/table">
            <a:tbl>
              <a:tblPr firstRow="1" bandRow="1">
                <a:tableStyleId>{5C22544A-7EE6-4342-B048-85BDC9FD1C3A}</a:tableStyleId>
              </a:tblPr>
              <a:tblGrid>
                <a:gridCol w="301752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tblGrid>
              <a:tr h="384048">
                <a:tc>
                  <a:txBody>
                    <a:bodyPr/>
                    <a:lstStyle/>
                    <a:p>
                      <a:pPr algn="l"/>
                      <a:r>
                        <a:rPr sz="1400" b="1">
                          <a:solidFill>
                            <a:srgbClr val="FFFFFF"/>
                          </a:solidFill>
                        </a:rPr>
                        <a:t>Check</a:t>
                      </a:r>
                    </a:p>
                  </a:txBody>
                  <a:tcPr marL="54864" marR="54864" marT="18288" marB="18288" anchor="ctr">
                    <a:solidFill>
                      <a:srgbClr val="1A1A1A"/>
                    </a:solidFill>
                  </a:tcPr>
                </a:tc>
                <a:tc>
                  <a:txBody>
                    <a:bodyPr/>
                    <a:lstStyle/>
                    <a:p>
                      <a:pPr algn="ctr"/>
                      <a:r>
                        <a:rPr sz="1400" b="1">
                          <a:solidFill>
                            <a:srgbClr val="FFFFFF"/>
                          </a:solidFill>
                        </a:rPr>
                        <a:t>Predicted before the run</a:t>
                      </a:r>
                    </a:p>
                  </a:txBody>
                  <a:tcPr marL="54864" marR="54864" marT="18288" marB="18288" anchor="ctr">
                    <a:solidFill>
                      <a:srgbClr val="1A1A1A"/>
                    </a:solidFill>
                  </a:tcPr>
                </a:tc>
                <a:tc>
                  <a:txBody>
                    <a:bodyPr/>
                    <a:lstStyle/>
                    <a:p>
                      <a:pPr algn="ctr"/>
                      <a:r>
                        <a:rPr sz="1400" b="1">
                          <a:solidFill>
                            <a:srgbClr val="FFFFFF"/>
                          </a:solidFill>
                        </a:rPr>
                        <a:t>Observed</a:t>
                      </a:r>
                    </a:p>
                  </a:txBody>
                  <a:tcPr marL="54864" marR="54864" marT="18288" marB="18288" anchor="ctr">
                    <a:solidFill>
                      <a:srgbClr val="1A1A1A"/>
                    </a:solidFill>
                  </a:tcPr>
                </a:tc>
                <a:tc>
                  <a:txBody>
                    <a:bodyPr/>
                    <a:lstStyle/>
                    <a:p>
                      <a:pPr algn="ctr"/>
                      <a:endParaRPr/>
                    </a:p>
                  </a:txBody>
                  <a:tcPr marL="54864" marR="54864" marT="18288" marB="18288" anchor="ctr">
                    <a:solidFill>
                      <a:srgbClr val="1A1A1A"/>
                    </a:solidFill>
                  </a:tcPr>
                </a:tc>
                <a:extLst>
                  <a:ext uri="{0D108BD9-81ED-4DB2-BD59-A6C34878D82A}">
                    <a16:rowId xmlns:a16="http://schemas.microsoft.com/office/drawing/2014/main" val="10000"/>
                  </a:ext>
                </a:extLst>
              </a:tr>
              <a:tr h="384048">
                <a:tc>
                  <a:txBody>
                    <a:bodyPr/>
                    <a:lstStyle/>
                    <a:p>
                      <a:pPr algn="l"/>
                      <a:r>
                        <a:rPr sz="1400"/>
                        <a:t>Links with a real effect</a:t>
                      </a:r>
                    </a:p>
                  </a:txBody>
                  <a:tcPr marL="54864" marR="54864" marT="18288" marB="18288" anchor="ctr">
                    <a:solidFill>
                      <a:srgbClr val="FFFFFF"/>
                    </a:solidFill>
                  </a:tcPr>
                </a:tc>
                <a:tc>
                  <a:txBody>
                    <a:bodyPr/>
                    <a:lstStyle/>
                    <a:p>
                      <a:pPr algn="ctr"/>
                      <a:r>
                        <a:rPr sz="1400"/>
                        <a:t>9 live, 3 × link_0 dead</a:t>
                      </a:r>
                    </a:p>
                  </a:txBody>
                  <a:tcPr marL="54864" marR="54864" marT="18288" marB="18288" anchor="ctr">
                    <a:solidFill>
                      <a:srgbClr val="FFFFFF"/>
                    </a:solidFill>
                  </a:tcPr>
                </a:tc>
                <a:tc>
                  <a:txBody>
                    <a:bodyPr/>
                    <a:lstStyle/>
                    <a:p>
                      <a:pPr algn="ctr"/>
                      <a:r>
                        <a:rPr sz="1400"/>
                        <a:t>9 live, 3 × link_0 dead</a:t>
                      </a:r>
                    </a:p>
                  </a:txBody>
                  <a:tcPr marL="54864" marR="54864" marT="18288" marB="18288" anchor="ctr">
                    <a:solidFill>
                      <a:srgbClr val="FFFFFF"/>
                    </a:solidFill>
                  </a:tcPr>
                </a:tc>
                <a:tc>
                  <a:txBody>
                    <a:bodyPr/>
                    <a:lstStyle/>
                    <a:p>
                      <a:pPr algn="ctr"/>
                      <a:r>
                        <a:rPr sz="1400"/>
                        <a:t>✓</a:t>
                      </a:r>
                    </a:p>
                  </a:txBody>
                  <a:tcPr marL="54864" marR="54864" marT="18288" marB="18288" anchor="ctr">
                    <a:solidFill>
                      <a:srgbClr val="FFFFFF"/>
                    </a:solidFill>
                  </a:tcPr>
                </a:tc>
                <a:extLst>
                  <a:ext uri="{0D108BD9-81ED-4DB2-BD59-A6C34878D82A}">
                    <a16:rowId xmlns:a16="http://schemas.microsoft.com/office/drawing/2014/main" val="10001"/>
                  </a:ext>
                </a:extLst>
              </a:tr>
              <a:tr h="384048">
                <a:tc>
                  <a:txBody>
                    <a:bodyPr/>
                    <a:lstStyle/>
                    <a:p>
                      <a:pPr algn="l"/>
                      <a:r>
                        <a:rPr sz="1400"/>
                        <a:t>Body change shifts dynamics</a:t>
                      </a:r>
                    </a:p>
                  </a:txBody>
                  <a:tcPr marL="54864" marR="54864" marT="18288" marB="18288" anchor="ctr">
                    <a:solidFill>
                      <a:srgbClr val="F2F2F2"/>
                    </a:solidFill>
                  </a:tcPr>
                </a:tc>
                <a:tc>
                  <a:txBody>
                    <a:bodyPr/>
                    <a:lstStyle/>
                    <a:p>
                      <a:pPr algn="ctr"/>
                      <a:r>
                        <a:rPr sz="1400"/>
                        <a:t>pass</a:t>
                      </a:r>
                    </a:p>
                  </a:txBody>
                  <a:tcPr marL="54864" marR="54864" marT="18288" marB="18288" anchor="ctr">
                    <a:solidFill>
                      <a:srgbClr val="F2F2F2"/>
                    </a:solidFill>
                  </a:tcPr>
                </a:tc>
                <a:tc>
                  <a:txBody>
                    <a:bodyPr/>
                    <a:lstStyle/>
                    <a:p>
                      <a:pPr algn="ctr"/>
                      <a:r>
                        <a:rPr sz="1400"/>
                        <a:t>0.94 std per output</a:t>
                      </a:r>
                    </a:p>
                  </a:txBody>
                  <a:tcPr marL="54864" marR="54864" marT="18288" marB="18288" anchor="ctr">
                    <a:solidFill>
                      <a:srgbClr val="F2F2F2"/>
                    </a:solidFill>
                  </a:tcPr>
                </a:tc>
                <a:tc>
                  <a:txBody>
                    <a:bodyPr/>
                    <a:lstStyle/>
                    <a:p>
                      <a:pPr algn="ctr"/>
                      <a:r>
                        <a:rPr sz="1400"/>
                        <a:t>✓</a:t>
                      </a:r>
                    </a:p>
                  </a:txBody>
                  <a:tcPr marL="54864" marR="54864" marT="18288" marB="18288" anchor="ctr">
                    <a:solidFill>
                      <a:srgbClr val="F2F2F2"/>
                    </a:solidFill>
                  </a:tcPr>
                </a:tc>
                <a:extLst>
                  <a:ext uri="{0D108BD9-81ED-4DB2-BD59-A6C34878D82A}">
                    <a16:rowId xmlns:a16="http://schemas.microsoft.com/office/drawing/2014/main" val="10002"/>
                  </a:ext>
                </a:extLst>
              </a:tr>
              <a:tr h="384048">
                <a:tc>
                  <a:txBody>
                    <a:bodyPr/>
                    <a:lstStyle/>
                    <a:p>
                      <a:pPr algn="l"/>
                      <a:r>
                        <a:rPr sz="1400"/>
                        <a:t>Links clipped, any condition</a:t>
                      </a:r>
                    </a:p>
                  </a:txBody>
                  <a:tcPr marL="54864" marR="54864" marT="18288" marB="18288" anchor="ctr">
                    <a:solidFill>
                      <a:srgbClr val="FFFFFF"/>
                    </a:solidFill>
                  </a:tcPr>
                </a:tc>
                <a:tc>
                  <a:txBody>
                    <a:bodyPr/>
                    <a:lstStyle/>
                    <a:p>
                      <a:pPr algn="ctr"/>
                      <a:r>
                        <a:rPr sz="1400"/>
                        <a:t>0 / 12</a:t>
                      </a:r>
                    </a:p>
                  </a:txBody>
                  <a:tcPr marL="54864" marR="54864" marT="18288" marB="18288" anchor="ctr">
                    <a:solidFill>
                      <a:srgbClr val="FFFFFF"/>
                    </a:solidFill>
                  </a:tcPr>
                </a:tc>
                <a:tc>
                  <a:txBody>
                    <a:bodyPr/>
                    <a:lstStyle/>
                    <a:p>
                      <a:pPr algn="ctr"/>
                      <a:r>
                        <a:rPr sz="1400"/>
                        <a:t>0 / 12</a:t>
                      </a:r>
                    </a:p>
                  </a:txBody>
                  <a:tcPr marL="54864" marR="54864" marT="18288" marB="18288" anchor="ctr">
                    <a:solidFill>
                      <a:srgbClr val="FFFFFF"/>
                    </a:solidFill>
                  </a:tcPr>
                </a:tc>
                <a:tc>
                  <a:txBody>
                    <a:bodyPr/>
                    <a:lstStyle/>
                    <a:p>
                      <a:pPr algn="ctr"/>
                      <a:r>
                        <a:rPr sz="1400"/>
                        <a:t>✓</a:t>
                      </a:r>
                    </a:p>
                  </a:txBody>
                  <a:tcPr marL="54864" marR="54864" marT="18288" marB="18288" anchor="ctr">
                    <a:solidFill>
                      <a:srgbClr val="FFFFFF"/>
                    </a:solidFill>
                  </a:tcPr>
                </a:tc>
                <a:extLst>
                  <a:ext uri="{0D108BD9-81ED-4DB2-BD59-A6C34878D82A}">
                    <a16:rowId xmlns:a16="http://schemas.microsoft.com/office/drawing/2014/main" val="10003"/>
                  </a:ext>
                </a:extLst>
              </a:tr>
              <a:tr h="384048">
                <a:tc>
                  <a:txBody>
                    <a:bodyPr/>
                    <a:lstStyle/>
                    <a:p>
                      <a:pPr algn="l"/>
                      <a:r>
                        <a:rPr sz="1400"/>
                        <a:t>Body inside intended range</a:t>
                      </a:r>
                    </a:p>
                  </a:txBody>
                  <a:tcPr marL="54864" marR="54864" marT="18288" marB="18288" anchor="ctr">
                    <a:solidFill>
                      <a:srgbClr val="F2F2F2"/>
                    </a:solidFill>
                  </a:tcPr>
                </a:tc>
                <a:tc>
                  <a:txBody>
                    <a:bodyPr/>
                    <a:lstStyle/>
                    <a:p>
                      <a:pPr algn="ctr"/>
                      <a:r>
                        <a:rPr sz="1400"/>
                        <a:t>100%</a:t>
                      </a:r>
                    </a:p>
                  </a:txBody>
                  <a:tcPr marL="54864" marR="54864" marT="18288" marB="18288" anchor="ctr">
                    <a:solidFill>
                      <a:srgbClr val="F2F2F2"/>
                    </a:solidFill>
                  </a:tcPr>
                </a:tc>
                <a:tc>
                  <a:txBody>
                    <a:bodyPr/>
                    <a:lstStyle/>
                    <a:p>
                      <a:pPr algn="ctr"/>
                      <a:r>
                        <a:rPr sz="1400"/>
                        <a:t>100%</a:t>
                      </a:r>
                    </a:p>
                  </a:txBody>
                  <a:tcPr marL="54864" marR="54864" marT="18288" marB="18288" anchor="ctr">
                    <a:solidFill>
                      <a:srgbClr val="F2F2F2"/>
                    </a:solidFill>
                  </a:tcPr>
                </a:tc>
                <a:tc>
                  <a:txBody>
                    <a:bodyPr/>
                    <a:lstStyle/>
                    <a:p>
                      <a:pPr algn="ctr"/>
                      <a:r>
                        <a:rPr sz="1400"/>
                        <a:t>✓</a:t>
                      </a:r>
                    </a:p>
                  </a:txBody>
                  <a:tcPr marL="54864" marR="54864" marT="18288" marB="18288" anchor="ctr">
                    <a:solidFill>
                      <a:srgbClr val="F2F2F2"/>
                    </a:solidFill>
                  </a:tcPr>
                </a:tc>
                <a:extLst>
                  <a:ext uri="{0D108BD9-81ED-4DB2-BD59-A6C34878D82A}">
                    <a16:rowId xmlns:a16="http://schemas.microsoft.com/office/drawing/2014/main" val="10004"/>
                  </a:ext>
                </a:extLst>
              </a:tr>
              <a:tr h="384048">
                <a:tc>
                  <a:txBody>
                    <a:bodyPr/>
                    <a:lstStyle/>
                    <a:p>
                      <a:pPr algn="l"/>
                      <a:r>
                        <a:rPr sz="1400"/>
                        <a:t>Copy outputs dropped</a:t>
                      </a:r>
                    </a:p>
                  </a:txBody>
                  <a:tcPr marL="54864" marR="54864" marT="18288" marB="18288" anchor="ctr">
                    <a:solidFill>
                      <a:srgbClr val="FFFFFF"/>
                    </a:solidFill>
                  </a:tcPr>
                </a:tc>
                <a:tc>
                  <a:txBody>
                    <a:bodyPr/>
                    <a:lstStyle/>
                    <a:p>
                      <a:pPr algn="ctr"/>
                      <a:r>
                        <a:rPr sz="1400"/>
                        <a:t>25–35</a:t>
                      </a:r>
                    </a:p>
                  </a:txBody>
                  <a:tcPr marL="54864" marR="54864" marT="18288" marB="18288" anchor="ctr">
                    <a:solidFill>
                      <a:srgbClr val="FFFFFF"/>
                    </a:solidFill>
                  </a:tcPr>
                </a:tc>
                <a:tc>
                  <a:txBody>
                    <a:bodyPr/>
                    <a:lstStyle/>
                    <a:p>
                      <a:pPr algn="ctr"/>
                      <a:r>
                        <a:rPr sz="1400"/>
                        <a:t>25–29</a:t>
                      </a:r>
                    </a:p>
                  </a:txBody>
                  <a:tcPr marL="54864" marR="54864" marT="18288" marB="18288" anchor="ctr">
                    <a:solidFill>
                      <a:srgbClr val="FFFFFF"/>
                    </a:solidFill>
                  </a:tcPr>
                </a:tc>
                <a:tc>
                  <a:txBody>
                    <a:bodyPr/>
                    <a:lstStyle/>
                    <a:p>
                      <a:pPr algn="ctr"/>
                      <a:r>
                        <a:rPr sz="1400"/>
                        <a:t>✓</a:t>
                      </a:r>
                    </a:p>
                  </a:txBody>
                  <a:tcPr marL="54864" marR="54864" marT="18288" marB="18288" anchor="ctr">
                    <a:solidFill>
                      <a:srgbClr val="FFFFFF"/>
                    </a:solidFill>
                  </a:tcPr>
                </a:tc>
                <a:extLst>
                  <a:ext uri="{0D108BD9-81ED-4DB2-BD59-A6C34878D82A}">
                    <a16:rowId xmlns:a16="http://schemas.microsoft.com/office/drawing/2014/main" val="10005"/>
                  </a:ext>
                </a:extLst>
              </a:tr>
              <a:tr h="384048">
                <a:tc>
                  <a:txBody>
                    <a:bodyPr/>
                    <a:lstStyle/>
                    <a:p>
                      <a:pPr algn="l"/>
                      <a:r>
                        <a:rPr sz="1400"/>
                        <a:t>Graph density</a:t>
                      </a:r>
                    </a:p>
                  </a:txBody>
                  <a:tcPr marL="54864" marR="54864" marT="18288" marB="18288" anchor="ctr">
                    <a:solidFill>
                      <a:srgbClr val="F2F2F2"/>
                    </a:solidFill>
                  </a:tcPr>
                </a:tc>
                <a:tc>
                  <a:txBody>
                    <a:bodyPr/>
                    <a:lstStyle/>
                    <a:p>
                      <a:pPr algn="ctr"/>
                      <a:r>
                        <a:rPr sz="1400"/>
                        <a:t>20–60%</a:t>
                      </a:r>
                    </a:p>
                  </a:txBody>
                  <a:tcPr marL="54864" marR="54864" marT="18288" marB="18288" anchor="ctr">
                    <a:solidFill>
                      <a:srgbClr val="F2F2F2"/>
                    </a:solidFill>
                  </a:tcPr>
                </a:tc>
                <a:tc>
                  <a:txBody>
                    <a:bodyPr/>
                    <a:lstStyle/>
                    <a:p>
                      <a:pPr algn="ctr"/>
                      <a:r>
                        <a:rPr sz="1400"/>
                        <a:t>66–81%</a:t>
                      </a:r>
                    </a:p>
                  </a:txBody>
                  <a:tcPr marL="54864" marR="54864" marT="18288" marB="18288" anchor="ctr">
                    <a:solidFill>
                      <a:srgbClr val="F2F2F2"/>
                    </a:solidFill>
                  </a:tcPr>
                </a:tc>
                <a:tc>
                  <a:txBody>
                    <a:bodyPr/>
                    <a:lstStyle/>
                    <a:p>
                      <a:pPr algn="ctr"/>
                      <a:r>
                        <a:rPr sz="1400"/>
                        <a:t>✗  see Result 2</a:t>
                      </a:r>
                    </a:p>
                  </a:txBody>
                  <a:tcPr marL="54864" marR="54864" marT="18288" marB="18288" anchor="ctr">
                    <a:solidFill>
                      <a:srgbClr val="F2F2F2"/>
                    </a:solidFill>
                  </a:tcPr>
                </a:tc>
                <a:extLst>
                  <a:ext uri="{0D108BD9-81ED-4DB2-BD59-A6C34878D82A}">
                    <a16:rowId xmlns:a16="http://schemas.microsoft.com/office/drawing/2014/main" val="10006"/>
                  </a:ext>
                </a:extLst>
              </a:tr>
              <a:tr h="384048">
                <a:tc>
                  <a:txBody>
                    <a:bodyPr/>
                    <a:lstStyle/>
                    <a:p>
                      <a:pPr algn="l"/>
                      <a:r>
                        <a:rPr sz="1400"/>
                        <a:t>Our graph no longer collapsed</a:t>
                      </a:r>
                    </a:p>
                  </a:txBody>
                  <a:tcPr marL="54864" marR="54864" marT="18288" marB="18288" anchor="ctr">
                    <a:solidFill>
                      <a:srgbClr val="FFFFFF"/>
                    </a:solidFill>
                  </a:tcPr>
                </a:tc>
                <a:tc>
                  <a:txBody>
                    <a:bodyPr/>
                    <a:lstStyle/>
                    <a:p>
                      <a:pPr algn="ctr"/>
                      <a:r>
                        <a:rPr sz="1400"/>
                        <a:t>yes</a:t>
                      </a:r>
                    </a:p>
                  </a:txBody>
                  <a:tcPr marL="54864" marR="54864" marT="18288" marB="18288" anchor="ctr">
                    <a:solidFill>
                      <a:srgbClr val="FFFFFF"/>
                    </a:solidFill>
                  </a:tcPr>
                </a:tc>
                <a:tc>
                  <a:txBody>
                    <a:bodyPr/>
                    <a:lstStyle/>
                    <a:p>
                      <a:pPr algn="ctr"/>
                      <a:r>
                        <a:rPr sz="1400"/>
                        <a:t>median R² 0.255</a:t>
                      </a:r>
                    </a:p>
                  </a:txBody>
                  <a:tcPr marL="54864" marR="54864" marT="18288" marB="18288" anchor="ctr">
                    <a:solidFill>
                      <a:srgbClr val="FFFFFF"/>
                    </a:solidFill>
                  </a:tcPr>
                </a:tc>
                <a:tc>
                  <a:txBody>
                    <a:bodyPr/>
                    <a:lstStyle/>
                    <a:p>
                      <a:pPr algn="ctr"/>
                      <a:r>
                        <a:rPr sz="1400"/>
                        <a:t>✓</a:t>
                      </a:r>
                    </a:p>
                  </a:txBody>
                  <a:tcPr marL="54864" marR="54864" marT="18288" marB="18288" anchor="ctr">
                    <a:solidFill>
                      <a:srgbClr val="FFFFFF"/>
                    </a:solidFill>
                  </a:tcPr>
                </a:tc>
                <a:extLst>
                  <a:ext uri="{0D108BD9-81ED-4DB2-BD59-A6C34878D82A}">
                    <a16:rowId xmlns:a16="http://schemas.microsoft.com/office/drawing/2014/main" val="10007"/>
                  </a:ext>
                </a:extLst>
              </a:tr>
              <a:tr h="384048">
                <a:tc>
                  <a:txBody>
                    <a:bodyPr/>
                    <a:lstStyle/>
                    <a:p>
                      <a:pPr algn="l"/>
                      <a:r>
                        <a:rPr sz="1400" b="1"/>
                        <a:t>Closing body edges</a:t>
                      </a:r>
                    </a:p>
                  </a:txBody>
                  <a:tcPr marL="54864" marR="54864" marT="18288" marB="18288" anchor="ctr">
                    <a:solidFill>
                      <a:srgbClr val="DEEAF4"/>
                    </a:solidFill>
                  </a:tcPr>
                </a:tc>
                <a:tc>
                  <a:txBody>
                    <a:bodyPr/>
                    <a:lstStyle/>
                    <a:p>
                      <a:pPr algn="ctr"/>
                      <a:r>
                        <a:rPr sz="1400" b="1"/>
                        <a:t>hurts, only on morph_b</a:t>
                      </a:r>
                    </a:p>
                  </a:txBody>
                  <a:tcPr marL="54864" marR="54864" marT="18288" marB="18288" anchor="ctr">
                    <a:solidFill>
                      <a:srgbClr val="DEEAF4"/>
                    </a:solidFill>
                  </a:tcPr>
                </a:tc>
                <a:tc>
                  <a:txBody>
                    <a:bodyPr/>
                    <a:lstStyle/>
                    <a:p>
                      <a:pPr algn="ctr"/>
                      <a:r>
                        <a:rPr sz="1400" b="1"/>
                        <a:t>helps a lot, only on morph_b</a:t>
                      </a:r>
                    </a:p>
                  </a:txBody>
                  <a:tcPr marL="54864" marR="54864" marT="18288" marB="18288" anchor="ctr">
                    <a:solidFill>
                      <a:srgbClr val="DEEAF4"/>
                    </a:solidFill>
                  </a:tcPr>
                </a:tc>
                <a:tc>
                  <a:txBody>
                    <a:bodyPr/>
                    <a:lstStyle/>
                    <a:p>
                      <a:pPr algn="ctr"/>
                      <a:r>
                        <a:rPr sz="1400" b="1"/>
                        <a:t>✗  see Result 1</a:t>
                      </a:r>
                    </a:p>
                  </a:txBody>
                  <a:tcPr marL="54864" marR="54864" marT="18288" marB="18288" anchor="ctr">
                    <a:solidFill>
                      <a:srgbClr val="DEEAF4"/>
                    </a:solidFill>
                  </a:tcPr>
                </a:tc>
                <a:extLst>
                  <a:ext uri="{0D108BD9-81ED-4DB2-BD59-A6C34878D82A}">
                    <a16:rowId xmlns:a16="http://schemas.microsoft.com/office/drawing/2014/main" val="10008"/>
                  </a:ext>
                </a:extLst>
              </a:tr>
            </a:tbl>
          </a:graphicData>
        </a:graphic>
      </p:graphicFrame>
      <p:sp>
        <p:nvSpPr>
          <p:cNvPr id="4" name="TextBox 3"/>
          <p:cNvSpPr txBox="1"/>
          <p:nvPr/>
        </p:nvSpPr>
        <p:spPr>
          <a:xfrm>
            <a:off x="521207" y="6080760"/>
            <a:ext cx="11155680" cy="365760"/>
          </a:xfrm>
          <a:prstGeom prst="rect">
            <a:avLst/>
          </a:prstGeom>
          <a:noFill/>
        </p:spPr>
        <p:txBody>
          <a:bodyPr wrap="none">
            <a:spAutoFit/>
          </a:bodyPr>
          <a:lstStyle/>
          <a:p>
            <a:r>
              <a:rPr sz="1400" i="1"/>
              <a:t>269 / 319 checks passed. The 50 failures fall into 4 groups, all explained on the next slides; none is structural.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Result 1: the mechanism fails</a:t>
            </a:r>
          </a:p>
        </p:txBody>
      </p:sp>
      <p:sp>
        <p:nvSpPr>
          <p:cNvPr id="3" name="Content Placeholder 2"/>
          <p:cNvSpPr>
            <a:spLocks noGrp="1"/>
          </p:cNvSpPr>
          <p:nvPr>
            <p:ph idx="1"/>
          </p:nvPr>
        </p:nvSpPr>
        <p:spPr>
          <a:xfrm>
            <a:off x="521208" y="2441448"/>
            <a:ext cx="5413248" cy="0"/>
          </a:xfrm>
        </p:spPr>
        <p:txBody>
          <a:bodyPr>
            <a:noAutofit/>
          </a:bodyPr>
          <a:lstStyle/>
          <a:p>
            <a:r>
              <a:rPr b="1" dirty="0" err="1"/>
              <a:t>morph_b</a:t>
            </a:r>
            <a:r>
              <a:rPr dirty="0"/>
              <a:t> (only the body changes, masses out of range)</a:t>
            </a:r>
          </a:p>
          <a:p>
            <a:pPr lvl="1"/>
            <a:r>
              <a:rPr sz="1800" dirty="0"/>
              <a:t>Not reading the 12 link masses: </a:t>
            </a:r>
            <a:r>
              <a:rPr sz="1800" b="1" dirty="0"/>
              <a:t>0.571</a:t>
            </a:r>
            <a:r>
              <a:rPr sz="1800" dirty="0"/>
              <a:t> vs reading them: 0.255</a:t>
            </a:r>
          </a:p>
          <a:p>
            <a:pPr lvl="1"/>
            <a:r>
              <a:rPr sz="1800" b="1" dirty="0"/>
              <a:t>20/20</a:t>
            </a:r>
            <a:r>
              <a:rPr sz="1800" dirty="0"/>
              <a:t> datasets, p = 1.9 × 10⁻⁶; also beats every other arm 20/20</a:t>
            </a:r>
          </a:p>
          <a:p>
            <a:r>
              <a:rPr b="1" dirty="0" err="1"/>
              <a:t>object_b</a:t>
            </a:r>
            <a:r>
              <a:rPr dirty="0"/>
              <a:t> (only the objects change): no difference, 9/20, p = 0.81</a:t>
            </a:r>
          </a:p>
          <a:p>
            <a:r>
              <a:rPr dirty="0"/>
              <a:t>Reading an </a:t>
            </a:r>
            <a:r>
              <a:rPr b="1" dirty="0"/>
              <a:t>out-of-range true cause</a:t>
            </a:r>
            <a:r>
              <a:rPr dirty="0"/>
              <a:t> costs more than ignoring it</a:t>
            </a:r>
          </a:p>
          <a:p>
            <a:pPr lvl="1"/>
            <a:r>
              <a:rPr sz="1800" dirty="0"/>
              <a:t>The graph is right (mass matters) — the MLP </a:t>
            </a:r>
            <a:r>
              <a:rPr sz="1800" b="1" dirty="0"/>
              <a:t>mechanism</a:t>
            </a:r>
            <a:r>
              <a:rPr sz="1800" dirty="0"/>
              <a:t> cannot extrapolate its effect</a:t>
            </a:r>
          </a:p>
        </p:txBody>
      </p:sp>
      <p:graphicFrame>
        <p:nvGraphicFramePr>
          <p:cNvPr id="4" name="Chart 3"/>
          <p:cNvGraphicFramePr>
            <a:graphicFrameLocks noGrp="1"/>
          </p:cNvGraphicFramePr>
          <p:nvPr/>
        </p:nvGraphicFramePr>
        <p:xfrm>
          <a:off x="5934456" y="2578608"/>
          <a:ext cx="6135624" cy="379476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can a graph do?</a:t>
            </a:r>
          </a:p>
        </p:txBody>
      </p:sp>
      <p:graphicFrame>
        <p:nvGraphicFramePr>
          <p:cNvPr id="3" name="Table 2"/>
          <p:cNvGraphicFramePr>
            <a:graphicFrameLocks noGrp="1"/>
          </p:cNvGraphicFramePr>
          <p:nvPr/>
        </p:nvGraphicFramePr>
        <p:xfrm>
          <a:off x="521207" y="2560320"/>
          <a:ext cx="11155680" cy="1700784"/>
        </p:xfrm>
        <a:graphic>
          <a:graphicData uri="http://schemas.openxmlformats.org/drawingml/2006/table">
            <a:tbl>
              <a:tblPr firstRow="1" bandRow="1">
                <a:tableStyleId>{5C22544A-7EE6-4342-B048-85BDC9FD1C3A}</a:tableStyleId>
              </a:tblPr>
              <a:tblGrid>
                <a:gridCol w="265176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gridCol w="2560320">
                  <a:extLst>
                    <a:ext uri="{9D8B030D-6E8A-4147-A177-3AD203B41FA5}">
                      <a16:colId xmlns:a16="http://schemas.microsoft.com/office/drawing/2014/main" val="20003"/>
                    </a:ext>
                  </a:extLst>
                </a:gridCol>
              </a:tblGrid>
              <a:tr h="566928">
                <a:tc>
                  <a:txBody>
                    <a:bodyPr/>
                    <a:lstStyle/>
                    <a:p>
                      <a:pPr algn="l"/>
                      <a:r>
                        <a:rPr sz="1500" b="1">
                          <a:solidFill>
                            <a:srgbClr val="FFFFFF"/>
                          </a:solidFill>
                        </a:rPr>
                        <a:t>Out-of-range variable</a:t>
                      </a:r>
                    </a:p>
                  </a:txBody>
                  <a:tcPr marL="54864" marR="54864" marT="18288" marB="18288" anchor="ctr">
                    <a:solidFill>
                      <a:srgbClr val="1A1A1A"/>
                    </a:solidFill>
                  </a:tcPr>
                </a:tc>
                <a:tc>
                  <a:txBody>
                    <a:bodyPr/>
                    <a:lstStyle/>
                    <a:p>
                      <a:pPr algn="ctr"/>
                      <a:r>
                        <a:rPr sz="1500" b="1">
                          <a:solidFill>
                            <a:srgbClr val="FFFFFF"/>
                          </a:solidFill>
                        </a:rPr>
                        <a:t>What a correct graph does</a:t>
                      </a:r>
                    </a:p>
                  </a:txBody>
                  <a:tcPr marL="54864" marR="54864" marT="18288" marB="18288" anchor="ctr">
                    <a:solidFill>
                      <a:srgbClr val="1A1A1A"/>
                    </a:solidFill>
                  </a:tcPr>
                </a:tc>
                <a:tc>
                  <a:txBody>
                    <a:bodyPr/>
                    <a:lstStyle/>
                    <a:p>
                      <a:pPr algn="ctr"/>
                      <a:r>
                        <a:rPr sz="1500" b="1">
                          <a:solidFill>
                            <a:srgbClr val="FFFFFF"/>
                          </a:solidFill>
                        </a:rPr>
                        <a:t>Can the graph help?</a:t>
                      </a:r>
                    </a:p>
                  </a:txBody>
                  <a:tcPr marL="54864" marR="54864" marT="18288" marB="18288" anchor="ctr">
                    <a:solidFill>
                      <a:srgbClr val="1A1A1A"/>
                    </a:solidFill>
                  </a:tcPr>
                </a:tc>
                <a:tc>
                  <a:txBody>
                    <a:bodyPr/>
                    <a:lstStyle/>
                    <a:p>
                      <a:pPr algn="ctr"/>
                      <a:r>
                        <a:rPr sz="1500" b="1">
                          <a:solidFill>
                            <a:srgbClr val="FFFFFF"/>
                          </a:solidFill>
                        </a:rPr>
                        <a:t>Example</a:t>
                      </a:r>
                    </a:p>
                  </a:txBody>
                  <a:tcPr marL="54864" marR="54864" marT="18288" marB="18288" anchor="ctr">
                    <a:solidFill>
                      <a:srgbClr val="1A1A1A"/>
                    </a:solidFill>
                  </a:tcPr>
                </a:tc>
                <a:extLst>
                  <a:ext uri="{0D108BD9-81ED-4DB2-BD59-A6C34878D82A}">
                    <a16:rowId xmlns:a16="http://schemas.microsoft.com/office/drawing/2014/main" val="10000"/>
                  </a:ext>
                </a:extLst>
              </a:tr>
              <a:tr h="566928">
                <a:tc>
                  <a:txBody>
                    <a:bodyPr/>
                    <a:lstStyle/>
                    <a:p>
                      <a:pPr algn="l"/>
                      <a:r>
                        <a:rPr sz="1500"/>
                        <a:t>Decoy or dead variable</a:t>
                      </a:r>
                    </a:p>
                  </a:txBody>
                  <a:tcPr marL="54864" marR="54864" marT="18288" marB="18288" anchor="ctr">
                    <a:solidFill>
                      <a:srgbClr val="FFFFFF"/>
                    </a:solidFill>
                  </a:tcPr>
                </a:tc>
                <a:tc>
                  <a:txBody>
                    <a:bodyPr/>
                    <a:lstStyle/>
                    <a:p>
                      <a:pPr algn="ctr"/>
                      <a:r>
                        <a:rPr sz="1500"/>
                        <a:t>Cuts it</a:t>
                      </a:r>
                    </a:p>
                  </a:txBody>
                  <a:tcPr marL="54864" marR="54864" marT="18288" marB="18288" anchor="ctr">
                    <a:solidFill>
                      <a:srgbClr val="FFFFFF"/>
                    </a:solidFill>
                  </a:tcPr>
                </a:tc>
                <a:tc>
                  <a:txBody>
                    <a:bodyPr/>
                    <a:lstStyle/>
                    <a:p>
                      <a:pPr algn="ctr"/>
                      <a:r>
                        <a:rPr sz="1500"/>
                        <a:t>Yes — the model is not misled</a:t>
                      </a:r>
                    </a:p>
                  </a:txBody>
                  <a:tcPr marL="54864" marR="54864" marT="18288" marB="18288" anchor="ctr">
                    <a:solidFill>
                      <a:srgbClr val="FFFFFF"/>
                    </a:solidFill>
                  </a:tcPr>
                </a:tc>
                <a:tc>
                  <a:txBody>
                    <a:bodyPr/>
                    <a:lstStyle/>
                    <a:p>
                      <a:pPr algn="ctr"/>
                      <a:r>
                        <a:rPr sz="1500"/>
                        <a:t>Week 11: colours, visuals</a:t>
                      </a:r>
                    </a:p>
                  </a:txBody>
                  <a:tcPr marL="54864" marR="54864" marT="18288" marB="18288" anchor="ctr">
                    <a:solidFill>
                      <a:srgbClr val="FFFFFF"/>
                    </a:solidFill>
                  </a:tcPr>
                </a:tc>
                <a:extLst>
                  <a:ext uri="{0D108BD9-81ED-4DB2-BD59-A6C34878D82A}">
                    <a16:rowId xmlns:a16="http://schemas.microsoft.com/office/drawing/2014/main" val="10001"/>
                  </a:ext>
                </a:extLst>
              </a:tr>
              <a:tr h="566928">
                <a:tc>
                  <a:txBody>
                    <a:bodyPr/>
                    <a:lstStyle/>
                    <a:p>
                      <a:pPr algn="l"/>
                      <a:r>
                        <a:rPr sz="1500" b="1"/>
                        <a:t>True cause</a:t>
                      </a:r>
                    </a:p>
                  </a:txBody>
                  <a:tcPr marL="54864" marR="54864" marT="18288" marB="18288" anchor="ctr">
                    <a:solidFill>
                      <a:srgbClr val="DEEAF4"/>
                    </a:solidFill>
                  </a:tcPr>
                </a:tc>
                <a:tc>
                  <a:txBody>
                    <a:bodyPr/>
                    <a:lstStyle/>
                    <a:p>
                      <a:pPr algn="ctr"/>
                      <a:r>
                        <a:rPr sz="1500" b="1"/>
                        <a:t>Must keep it</a:t>
                      </a:r>
                    </a:p>
                  </a:txBody>
                  <a:tcPr marL="54864" marR="54864" marT="18288" marB="18288" anchor="ctr">
                    <a:solidFill>
                      <a:srgbClr val="DEEAF4"/>
                    </a:solidFill>
                  </a:tcPr>
                </a:tc>
                <a:tc>
                  <a:txBody>
                    <a:bodyPr/>
                    <a:lstStyle/>
                    <a:p>
                      <a:pPr algn="ctr"/>
                      <a:r>
                        <a:rPr sz="1500" b="1"/>
                        <a:t>No — the mechanism must extrapolate</a:t>
                      </a:r>
                    </a:p>
                  </a:txBody>
                  <a:tcPr marL="54864" marR="54864" marT="18288" marB="18288" anchor="ctr">
                    <a:solidFill>
                      <a:srgbClr val="DEEAF4"/>
                    </a:solidFill>
                  </a:tcPr>
                </a:tc>
                <a:tc>
                  <a:txBody>
                    <a:bodyPr/>
                    <a:lstStyle/>
                    <a:p>
                      <a:pPr algn="ctr"/>
                      <a:r>
                        <a:rPr sz="1500" b="1"/>
                        <a:t>Week 13: link masses</a:t>
                      </a:r>
                    </a:p>
                  </a:txBody>
                  <a:tcPr marL="54864" marR="54864" marT="18288" marB="18288" anchor="ctr">
                    <a:solidFill>
                      <a:srgbClr val="DEEAF4"/>
                    </a:solidFill>
                  </a:tcPr>
                </a:tc>
                <a:extLst>
                  <a:ext uri="{0D108BD9-81ED-4DB2-BD59-A6C34878D82A}">
                    <a16:rowId xmlns:a16="http://schemas.microsoft.com/office/drawing/2014/main" val="10002"/>
                  </a:ext>
                </a:extLst>
              </a:tr>
            </a:tbl>
          </a:graphicData>
        </a:graphic>
      </p:graphicFrame>
      <p:sp>
        <p:nvSpPr>
          <p:cNvPr id="4" name="TextBox 3"/>
          <p:cNvSpPr txBox="1"/>
          <p:nvPr/>
        </p:nvSpPr>
        <p:spPr>
          <a:xfrm>
            <a:off x="521207" y="4526280"/>
            <a:ext cx="11155680" cy="1737360"/>
          </a:xfrm>
          <a:prstGeom prst="rect">
            <a:avLst/>
          </a:prstGeom>
          <a:noFill/>
        </p:spPr>
        <p:txBody>
          <a:bodyPr wrap="square">
            <a:spAutoFit/>
          </a:bodyPr>
          <a:lstStyle/>
          <a:p>
            <a:pPr>
              <a:spcAft>
                <a:spcPts val="800"/>
              </a:spcAft>
            </a:pPr>
            <a:r>
              <a:rPr sz="1600" b="1"/>
              <a:t>Week 11 contained both rows; the graph's gain came from the first. Week 13 isolates the second.</a:t>
            </a:r>
          </a:p>
          <a:p>
            <a:pPr>
              <a:spcAft>
                <a:spcPts val="800"/>
              </a:spcAft>
            </a:pPr>
            <a:r>
              <a:rPr sz="1600"/>
              <a:t>CDL's OOD test (Wang et al. 2022) only scores outputs whose parents did not shift, i.e. the first row.</a:t>
            </a:r>
          </a:p>
          <a:p>
            <a:pPr>
              <a:spcAft>
                <a:spcPts val="800"/>
              </a:spcAft>
            </a:pPr>
            <a:r>
              <a:rPr sz="1600" b="1"/>
              <a:t>Causality = graph + mechanism. This experiment separates the two: the graph is right, the mechanism cannot extrapolate.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An unfair test for the graph</a:t>
            </a:r>
          </a:p>
        </p:txBody>
      </p:sp>
      <p:sp>
        <p:nvSpPr>
          <p:cNvPr id="3" name="Content Placeholder 2"/>
          <p:cNvSpPr>
            <a:spLocks noGrp="1"/>
          </p:cNvSpPr>
          <p:nvPr>
            <p:ph idx="1"/>
          </p:nvPr>
        </p:nvSpPr>
        <p:spPr>
          <a:xfrm>
            <a:off x="380531" y="2215661"/>
            <a:ext cx="5413248" cy="0"/>
          </a:xfrm>
        </p:spPr>
        <p:txBody>
          <a:bodyPr>
            <a:noAutofit/>
          </a:bodyPr>
          <a:lstStyle/>
          <a:p>
            <a:r>
              <a:rPr dirty="0"/>
              <a:t>In </a:t>
            </a:r>
            <a:r>
              <a:rPr dirty="0" err="1"/>
              <a:t>morph_b</a:t>
            </a:r>
            <a:r>
              <a:rPr dirty="0"/>
              <a:t> all </a:t>
            </a:r>
            <a:r>
              <a:rPr b="1" dirty="0"/>
              <a:t>12</a:t>
            </a:r>
            <a:r>
              <a:rPr dirty="0"/>
              <a:t> link masses are out of range</a:t>
            </a:r>
          </a:p>
          <a:p>
            <a:pPr lvl="1"/>
            <a:r>
              <a:rPr sz="1800" b="1" dirty="0"/>
              <a:t>9</a:t>
            </a:r>
            <a:r>
              <a:rPr sz="1800" dirty="0"/>
              <a:t> move the dynamics — a correct graph keeps them</a:t>
            </a:r>
          </a:p>
          <a:p>
            <a:pPr lvl="1"/>
            <a:r>
              <a:rPr sz="1800" b="1" dirty="0"/>
              <a:t>3</a:t>
            </a:r>
            <a:r>
              <a:rPr sz="1800" dirty="0"/>
              <a:t> (the link_0 mounts) have </a:t>
            </a:r>
            <a:r>
              <a:rPr sz="1800" b="1" dirty="0"/>
              <a:t>zero effect</a:t>
            </a:r>
            <a:r>
              <a:rPr sz="1800" dirty="0"/>
              <a:t> — a correct graph cuts them</a:t>
            </a:r>
          </a:p>
          <a:p>
            <a:r>
              <a:rPr dirty="0"/>
              <a:t>That cut is the </a:t>
            </a:r>
            <a:r>
              <a:rPr b="1" dirty="0"/>
              <a:t>only</a:t>
            </a:r>
            <a:r>
              <a:rPr dirty="0"/>
              <a:t> thing the graph can do for this shift</a:t>
            </a:r>
          </a:p>
          <a:p>
            <a:r>
              <a:rPr dirty="0"/>
              <a:t>Our graph kept </a:t>
            </a:r>
            <a:r>
              <a:rPr b="1" dirty="0"/>
              <a:t>all 12</a:t>
            </a:r>
            <a:r>
              <a:rPr dirty="0"/>
              <a:t> body inputs and all 12 </a:t>
            </a:r>
            <a:r>
              <a:rPr dirty="0" err="1"/>
              <a:t>colour</a:t>
            </a:r>
            <a:r>
              <a:rPr dirty="0"/>
              <a:t> components</a:t>
            </a:r>
          </a:p>
          <a:p>
            <a:pPr lvl="1"/>
            <a:r>
              <a:rPr sz="1800" dirty="0"/>
              <a:t>Cause: Result 2 — every measured variable looks causal</a:t>
            </a:r>
          </a:p>
          <a:p>
            <a:r>
              <a:rPr dirty="0"/>
              <a:t>So this week is </a:t>
            </a:r>
            <a:r>
              <a:rPr b="1" dirty="0"/>
              <a:t>not</a:t>
            </a:r>
            <a:r>
              <a:rPr dirty="0"/>
              <a:t> a fair test of the graph</a:t>
            </a:r>
          </a:p>
        </p:txBody>
      </p:sp>
      <p:graphicFrame>
        <p:nvGraphicFramePr>
          <p:cNvPr id="4" name="Table 3"/>
          <p:cNvGraphicFramePr>
            <a:graphicFrameLocks noGrp="1"/>
          </p:cNvGraphicFramePr>
          <p:nvPr/>
        </p:nvGraphicFramePr>
        <p:xfrm>
          <a:off x="5934456" y="2926080"/>
          <a:ext cx="6135624" cy="2194560"/>
        </p:xfrm>
        <a:graphic>
          <a:graphicData uri="http://schemas.openxmlformats.org/drawingml/2006/table">
            <a:tbl>
              <a:tblPr firstRow="1" bandRow="1">
                <a:tableStyleId>{5C22544A-7EE6-4342-B048-85BDC9FD1C3A}</a:tableStyleId>
              </a:tblPr>
              <a:tblGrid>
                <a:gridCol w="283464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55064">
                  <a:extLst>
                    <a:ext uri="{9D8B030D-6E8A-4147-A177-3AD203B41FA5}">
                      <a16:colId xmlns:a16="http://schemas.microsoft.com/office/drawing/2014/main" val="20002"/>
                    </a:ext>
                  </a:extLst>
                </a:gridCol>
              </a:tblGrid>
              <a:tr h="548640">
                <a:tc>
                  <a:txBody>
                    <a:bodyPr/>
                    <a:lstStyle/>
                    <a:p>
                      <a:pPr algn="l"/>
                      <a:r>
                        <a:rPr sz="1500" b="1">
                          <a:solidFill>
                            <a:srgbClr val="FFFFFF"/>
                          </a:solidFill>
                        </a:rPr>
                        <a:t>Input</a:t>
                      </a:r>
                    </a:p>
                  </a:txBody>
                  <a:tcPr marL="54864" marR="54864" marT="18288" marB="18288" anchor="ctr">
                    <a:solidFill>
                      <a:srgbClr val="1A1A1A"/>
                    </a:solidFill>
                  </a:tcPr>
                </a:tc>
                <a:tc>
                  <a:txBody>
                    <a:bodyPr/>
                    <a:lstStyle/>
                    <a:p>
                      <a:pPr algn="ctr"/>
                      <a:r>
                        <a:rPr sz="1500" b="1">
                          <a:solidFill>
                            <a:srgbClr val="FFFFFF"/>
                          </a:solidFill>
                        </a:rPr>
                        <a:t>Correct graph</a:t>
                      </a:r>
                    </a:p>
                  </a:txBody>
                  <a:tcPr marL="54864" marR="54864" marT="18288" marB="18288" anchor="ctr">
                    <a:solidFill>
                      <a:srgbClr val="1A1A1A"/>
                    </a:solidFill>
                  </a:tcPr>
                </a:tc>
                <a:tc>
                  <a:txBody>
                    <a:bodyPr/>
                    <a:lstStyle/>
                    <a:p>
                      <a:pPr algn="ctr"/>
                      <a:r>
                        <a:rPr sz="1500" b="1">
                          <a:solidFill>
                            <a:srgbClr val="FFFFFF"/>
                          </a:solidFill>
                        </a:rPr>
                        <a:t>Our graph</a:t>
                      </a:r>
                    </a:p>
                  </a:txBody>
                  <a:tcPr marL="54864" marR="54864" marT="18288" marB="18288" anchor="ctr">
                    <a:solidFill>
                      <a:srgbClr val="1A1A1A"/>
                    </a:solidFill>
                  </a:tcPr>
                </a:tc>
                <a:extLst>
                  <a:ext uri="{0D108BD9-81ED-4DB2-BD59-A6C34878D82A}">
                    <a16:rowId xmlns:a16="http://schemas.microsoft.com/office/drawing/2014/main" val="10000"/>
                  </a:ext>
                </a:extLst>
              </a:tr>
              <a:tr h="548640">
                <a:tc>
                  <a:txBody>
                    <a:bodyPr/>
                    <a:lstStyle/>
                    <a:p>
                      <a:pPr algn="l"/>
                      <a:r>
                        <a:rPr sz="1500"/>
                        <a:t>9 live link masses</a:t>
                      </a:r>
                    </a:p>
                  </a:txBody>
                  <a:tcPr marL="54864" marR="54864" marT="18288" marB="18288" anchor="ctr">
                    <a:solidFill>
                      <a:srgbClr val="FFFFFF"/>
                    </a:solidFill>
                  </a:tcPr>
                </a:tc>
                <a:tc>
                  <a:txBody>
                    <a:bodyPr/>
                    <a:lstStyle/>
                    <a:p>
                      <a:pPr algn="ctr"/>
                      <a:r>
                        <a:rPr sz="1500"/>
                        <a:t>keep</a:t>
                      </a:r>
                    </a:p>
                  </a:txBody>
                  <a:tcPr marL="54864" marR="54864" marT="18288" marB="18288" anchor="ctr">
                    <a:solidFill>
                      <a:srgbClr val="FFFFFF"/>
                    </a:solidFill>
                  </a:tcPr>
                </a:tc>
                <a:tc>
                  <a:txBody>
                    <a:bodyPr/>
                    <a:lstStyle/>
                    <a:p>
                      <a:pPr algn="ctr"/>
                      <a:r>
                        <a:rPr sz="1500"/>
                        <a:t>kept  ✓</a:t>
                      </a:r>
                    </a:p>
                  </a:txBody>
                  <a:tcPr marL="54864" marR="54864" marT="18288" marB="18288" anchor="ctr">
                    <a:solidFill>
                      <a:srgbClr val="FFFFFF"/>
                    </a:solidFill>
                  </a:tcPr>
                </a:tc>
                <a:extLst>
                  <a:ext uri="{0D108BD9-81ED-4DB2-BD59-A6C34878D82A}">
                    <a16:rowId xmlns:a16="http://schemas.microsoft.com/office/drawing/2014/main" val="10001"/>
                  </a:ext>
                </a:extLst>
              </a:tr>
              <a:tr h="548640">
                <a:tc>
                  <a:txBody>
                    <a:bodyPr/>
                    <a:lstStyle/>
                    <a:p>
                      <a:pPr algn="l"/>
                      <a:r>
                        <a:rPr sz="1500" b="1"/>
                        <a:t>3 link_0 masses (no effect)</a:t>
                      </a:r>
                    </a:p>
                  </a:txBody>
                  <a:tcPr marL="54864" marR="54864" marT="18288" marB="18288" anchor="ctr">
                    <a:solidFill>
                      <a:srgbClr val="DEEAF4"/>
                    </a:solidFill>
                  </a:tcPr>
                </a:tc>
                <a:tc>
                  <a:txBody>
                    <a:bodyPr/>
                    <a:lstStyle/>
                    <a:p>
                      <a:pPr algn="ctr"/>
                      <a:r>
                        <a:rPr sz="1500" b="1"/>
                        <a:t>cut</a:t>
                      </a:r>
                    </a:p>
                  </a:txBody>
                  <a:tcPr marL="54864" marR="54864" marT="18288" marB="18288" anchor="ctr">
                    <a:solidFill>
                      <a:srgbClr val="DEEAF4"/>
                    </a:solidFill>
                  </a:tcPr>
                </a:tc>
                <a:tc>
                  <a:txBody>
                    <a:bodyPr/>
                    <a:lstStyle/>
                    <a:p>
                      <a:pPr algn="ctr"/>
                      <a:r>
                        <a:rPr sz="1500" b="1"/>
                        <a:t>kept  ✗</a:t>
                      </a:r>
                    </a:p>
                  </a:txBody>
                  <a:tcPr marL="54864" marR="54864" marT="18288" marB="18288" anchor="ctr">
                    <a:solidFill>
                      <a:srgbClr val="DEEAF4"/>
                    </a:solidFill>
                  </a:tcPr>
                </a:tc>
                <a:extLst>
                  <a:ext uri="{0D108BD9-81ED-4DB2-BD59-A6C34878D82A}">
                    <a16:rowId xmlns:a16="http://schemas.microsoft.com/office/drawing/2014/main" val="10002"/>
                  </a:ext>
                </a:extLst>
              </a:tr>
              <a:tr h="548640">
                <a:tc>
                  <a:txBody>
                    <a:bodyPr/>
                    <a:lstStyle/>
                    <a:p>
                      <a:pPr algn="l"/>
                      <a:r>
                        <a:rPr sz="1500"/>
                        <a:t>12 colour components</a:t>
                      </a:r>
                    </a:p>
                  </a:txBody>
                  <a:tcPr marL="54864" marR="54864" marT="18288" marB="18288" anchor="ctr">
                    <a:solidFill>
                      <a:srgbClr val="FFFFFF"/>
                    </a:solidFill>
                  </a:tcPr>
                </a:tc>
                <a:tc>
                  <a:txBody>
                    <a:bodyPr/>
                    <a:lstStyle/>
                    <a:p>
                      <a:pPr algn="ctr"/>
                      <a:r>
                        <a:rPr sz="1500"/>
                        <a:t>cut</a:t>
                      </a:r>
                    </a:p>
                  </a:txBody>
                  <a:tcPr marL="54864" marR="54864" marT="18288" marB="18288" anchor="ctr">
                    <a:solidFill>
                      <a:srgbClr val="FFFFFF"/>
                    </a:solidFill>
                  </a:tcPr>
                </a:tc>
                <a:tc>
                  <a:txBody>
                    <a:bodyPr/>
                    <a:lstStyle/>
                    <a:p>
                      <a:pPr algn="ctr"/>
                      <a:r>
                        <a:rPr sz="1500"/>
                        <a:t>kept  ✗</a:t>
                      </a:r>
                    </a:p>
                  </a:txBody>
                  <a:tcPr marL="54864" marR="54864" marT="18288" marB="18288" anchor="ctr">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Result 2: twins are not exact</a:t>
            </a:r>
          </a:p>
        </p:txBody>
      </p:sp>
      <p:sp>
        <p:nvSpPr>
          <p:cNvPr id="3" name="Content Placeholder 2"/>
          <p:cNvSpPr>
            <a:spLocks noGrp="1"/>
          </p:cNvSpPr>
          <p:nvPr>
            <p:ph idx="1"/>
          </p:nvPr>
        </p:nvSpPr>
        <p:spPr>
          <a:xfrm>
            <a:off x="369277" y="2262554"/>
            <a:ext cx="5413248" cy="0"/>
          </a:xfrm>
        </p:spPr>
        <p:txBody>
          <a:bodyPr>
            <a:noAutofit/>
          </a:bodyPr>
          <a:lstStyle/>
          <a:p>
            <a:r>
              <a:rPr dirty="0" err="1"/>
              <a:t>Colour</a:t>
            </a:r>
            <a:r>
              <a:rPr dirty="0"/>
              <a:t> cannot affect physics; a single-episode probe shows </a:t>
            </a:r>
            <a:r>
              <a:rPr b="1" dirty="0"/>
              <a:t>0 effect</a:t>
            </a:r>
          </a:p>
          <a:p>
            <a:r>
              <a:rPr dirty="0"/>
              <a:t>Yet </a:t>
            </a:r>
            <a:r>
              <a:rPr b="1" dirty="0"/>
              <a:t>15–33% of </a:t>
            </a:r>
            <a:r>
              <a:rPr b="1" dirty="0" err="1"/>
              <a:t>colour</a:t>
            </a:r>
            <a:r>
              <a:rPr b="1" dirty="0"/>
              <a:t> pairs changed the dynamics</a:t>
            </a:r>
            <a:r>
              <a:rPr dirty="0"/>
              <a:t> (up to 750 std)</a:t>
            </a:r>
          </a:p>
          <a:p>
            <a:r>
              <a:rPr dirty="0"/>
              <a:t>So </a:t>
            </a:r>
            <a:r>
              <a:rPr b="1" dirty="0"/>
              <a:t>all 12 </a:t>
            </a:r>
            <a:r>
              <a:rPr b="1" dirty="0" err="1"/>
              <a:t>colour</a:t>
            </a:r>
            <a:r>
              <a:rPr b="1" dirty="0"/>
              <a:t> decoys enter the graph</a:t>
            </a:r>
            <a:r>
              <a:rPr dirty="0"/>
              <a:t> — it is 75% dense and barely prunes</a:t>
            </a:r>
          </a:p>
          <a:p>
            <a:r>
              <a:rPr dirty="0"/>
              <a:t>Likely cause: only the counterfactual branch calls </a:t>
            </a:r>
            <a:r>
              <a:rPr dirty="0" err="1"/>
              <a:t>do_intervention</a:t>
            </a:r>
            <a:endParaRPr dirty="0"/>
          </a:p>
          <a:p>
            <a:pPr lvl="1"/>
            <a:r>
              <a:rPr sz="1800" dirty="0"/>
              <a:t>Test: same-value intervention in both branches; null–null must give 0</a:t>
            </a:r>
          </a:p>
          <a:p>
            <a:r>
              <a:rPr dirty="0"/>
              <a:t>Qualifies the Week 11 claim that τ is the </a:t>
            </a:r>
            <a:r>
              <a:rPr b="1" dirty="0"/>
              <a:t>exact</a:t>
            </a:r>
            <a:r>
              <a:rPr dirty="0"/>
              <a:t> causal effect</a:t>
            </a:r>
          </a:p>
        </p:txBody>
      </p:sp>
      <p:graphicFrame>
        <p:nvGraphicFramePr>
          <p:cNvPr id="4" name="Chart 3"/>
          <p:cNvGraphicFramePr>
            <a:graphicFrameLocks noGrp="1"/>
          </p:cNvGraphicFramePr>
          <p:nvPr/>
        </p:nvGraphicFramePr>
        <p:xfrm>
          <a:off x="5934456" y="2578608"/>
          <a:ext cx="6135624" cy="379476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Box 4"/>
          <p:cNvSpPr txBox="1"/>
          <p:nvPr/>
        </p:nvSpPr>
        <p:spPr>
          <a:xfrm>
            <a:off x="5934456" y="6355080"/>
            <a:ext cx="6135624" cy="320040"/>
          </a:xfrm>
          <a:prstGeom prst="rect">
            <a:avLst/>
          </a:prstGeom>
          <a:noFill/>
        </p:spPr>
        <p:txBody>
          <a:bodyPr wrap="none">
            <a:spAutoFit/>
          </a:bodyPr>
          <a:lstStyle/>
          <a:p>
            <a:pPr algn="ctr"/>
            <a:r>
              <a:rPr sz="1200" i="1"/>
              <a:t>% of colour-intervention pairs that changed an output, per seed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Result 3: the threshold</a:t>
            </a:r>
          </a:p>
        </p:txBody>
      </p:sp>
      <p:sp>
        <p:nvSpPr>
          <p:cNvPr id="3" name="Content Placeholder 2"/>
          <p:cNvSpPr>
            <a:spLocks noGrp="1"/>
          </p:cNvSpPr>
          <p:nvPr>
            <p:ph idx="1"/>
          </p:nvPr>
        </p:nvSpPr>
        <p:spPr>
          <a:xfrm>
            <a:off x="281354" y="2033954"/>
            <a:ext cx="5413248" cy="0"/>
          </a:xfrm>
        </p:spPr>
        <p:txBody>
          <a:bodyPr>
            <a:noAutofit/>
          </a:bodyPr>
          <a:lstStyle/>
          <a:p>
            <a:r>
              <a:rPr sz="2000" b="1" dirty="0"/>
              <a:t>Fixed threshold</a:t>
            </a:r>
            <a:r>
              <a:rPr sz="2000" dirty="0"/>
              <a:t> (effect ≥ 0.01 std) admits every </a:t>
            </a:r>
            <a:r>
              <a:rPr sz="2000" dirty="0" err="1"/>
              <a:t>colour</a:t>
            </a:r>
            <a:r>
              <a:rPr sz="2000" dirty="0"/>
              <a:t> decoy at every τ up to 0.03</a:t>
            </a:r>
          </a:p>
          <a:p>
            <a:r>
              <a:rPr sz="2000" b="1" dirty="0"/>
              <a:t>Permutation threshold</a:t>
            </a:r>
            <a:r>
              <a:rPr sz="2000" dirty="0"/>
              <a:t> (effect above the average effect) is robust to this noise floor</a:t>
            </a:r>
          </a:p>
          <a:p>
            <a:pPr lvl="1"/>
            <a:r>
              <a:rPr sz="2000" dirty="0" err="1"/>
              <a:t>morph_b</a:t>
            </a:r>
            <a:r>
              <a:rPr sz="2000" dirty="0"/>
              <a:t>: </a:t>
            </a:r>
            <a:r>
              <a:rPr sz="2000" dirty="0" err="1"/>
              <a:t>ours_perm</a:t>
            </a:r>
            <a:r>
              <a:rPr sz="2000" dirty="0"/>
              <a:t> </a:t>
            </a:r>
            <a:r>
              <a:rPr sz="2000" b="1" dirty="0"/>
              <a:t>0.537</a:t>
            </a:r>
            <a:r>
              <a:rPr sz="2000" dirty="0"/>
              <a:t> vs ours 0.255, </a:t>
            </a:r>
            <a:r>
              <a:rPr sz="2000" b="1" dirty="0"/>
              <a:t>17/20</a:t>
            </a:r>
            <a:r>
              <a:rPr sz="2000" dirty="0"/>
              <a:t>, p = 0.003</a:t>
            </a:r>
          </a:p>
          <a:p>
            <a:r>
              <a:rPr sz="2000" b="1" dirty="0"/>
              <a:t>Correction:</a:t>
            </a:r>
            <a:r>
              <a:rPr sz="2000" dirty="0"/>
              <a:t> after the first run I called the permutation threshold a bug</a:t>
            </a:r>
          </a:p>
          <a:p>
            <a:pPr lvl="1"/>
            <a:r>
              <a:rPr sz="2000" dirty="0"/>
              <a:t>In principle it asks the wrong question, but with a contaminated noise floor it is the better rule</a:t>
            </a:r>
          </a:p>
        </p:txBody>
      </p:sp>
      <p:graphicFrame>
        <p:nvGraphicFramePr>
          <p:cNvPr id="4" name="Table 3"/>
          <p:cNvGraphicFramePr>
            <a:graphicFrameLocks noGrp="1"/>
          </p:cNvGraphicFramePr>
          <p:nvPr/>
        </p:nvGraphicFramePr>
        <p:xfrm>
          <a:off x="5934456" y="2743200"/>
          <a:ext cx="6135624" cy="3236976"/>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203704">
                  <a:extLst>
                    <a:ext uri="{9D8B030D-6E8A-4147-A177-3AD203B41FA5}">
                      <a16:colId xmlns:a16="http://schemas.microsoft.com/office/drawing/2014/main" val="20002"/>
                    </a:ext>
                  </a:extLst>
                </a:gridCol>
              </a:tblGrid>
              <a:tr h="457200">
                <a:tc>
                  <a:txBody>
                    <a:bodyPr/>
                    <a:lstStyle/>
                    <a:p>
                      <a:pPr algn="l"/>
                      <a:r>
                        <a:rPr sz="1500" b="1">
                          <a:solidFill>
                            <a:srgbClr val="FFFFFF"/>
                          </a:solidFill>
                        </a:rPr>
                        <a:t>τ (std units)</a:t>
                      </a:r>
                    </a:p>
                  </a:txBody>
                  <a:tcPr marL="54864" marR="54864" marT="18288" marB="18288" anchor="ctr">
                    <a:solidFill>
                      <a:srgbClr val="1A1A1A"/>
                    </a:solidFill>
                  </a:tcPr>
                </a:tc>
                <a:tc>
                  <a:txBody>
                    <a:bodyPr/>
                    <a:lstStyle/>
                    <a:p>
                      <a:pPr algn="ctr"/>
                      <a:r>
                        <a:rPr sz="1500" b="1">
                          <a:solidFill>
                            <a:srgbClr val="FFFFFF"/>
                          </a:solidFill>
                        </a:rPr>
                        <a:t>State edges</a:t>
                      </a:r>
                    </a:p>
                  </a:txBody>
                  <a:tcPr marL="54864" marR="54864" marT="18288" marB="18288" anchor="ctr">
                    <a:solidFill>
                      <a:srgbClr val="1A1A1A"/>
                    </a:solidFill>
                  </a:tcPr>
                </a:tc>
                <a:tc>
                  <a:txBody>
                    <a:bodyPr/>
                    <a:lstStyle/>
                    <a:p>
                      <a:pPr algn="ctr"/>
                      <a:r>
                        <a:rPr sz="1500" b="1">
                          <a:solidFill>
                            <a:srgbClr val="FFFFFF"/>
                          </a:solidFill>
                        </a:rPr>
                        <a:t>Colour decoys admitted</a:t>
                      </a:r>
                    </a:p>
                  </a:txBody>
                  <a:tcPr marL="54864" marR="54864" marT="18288" marB="18288" anchor="ctr">
                    <a:solidFill>
                      <a:srgbClr val="1A1A1A"/>
                    </a:solidFill>
                  </a:tcPr>
                </a:tc>
                <a:extLst>
                  <a:ext uri="{0D108BD9-81ED-4DB2-BD59-A6C34878D82A}">
                    <a16:rowId xmlns:a16="http://schemas.microsoft.com/office/drawing/2014/main" val="10000"/>
                  </a:ext>
                </a:extLst>
              </a:tr>
              <a:tr h="457200">
                <a:tc>
                  <a:txBody>
                    <a:bodyPr/>
                    <a:lstStyle/>
                    <a:p>
                      <a:pPr algn="l"/>
                      <a:r>
                        <a:rPr sz="1500"/>
                        <a:t>0.001</a:t>
                      </a:r>
                    </a:p>
                  </a:txBody>
                  <a:tcPr marL="54864" marR="54864" marT="18288" marB="18288" anchor="ctr">
                    <a:solidFill>
                      <a:srgbClr val="FFFFFF"/>
                    </a:solidFill>
                  </a:tcPr>
                </a:tc>
                <a:tc>
                  <a:txBody>
                    <a:bodyPr/>
                    <a:lstStyle/>
                    <a:p>
                      <a:pPr algn="ctr"/>
                      <a:r>
                        <a:rPr sz="1500"/>
                        <a:t>1727</a:t>
                      </a:r>
                    </a:p>
                  </a:txBody>
                  <a:tcPr marL="54864" marR="54864" marT="18288" marB="18288" anchor="ctr">
                    <a:solidFill>
                      <a:srgbClr val="FFFFFF"/>
                    </a:solidFill>
                  </a:tcPr>
                </a:tc>
                <a:tc>
                  <a:txBody>
                    <a:bodyPr/>
                    <a:lstStyle/>
                    <a:p>
                      <a:pPr algn="ctr"/>
                      <a:r>
                        <a:rPr sz="1500"/>
                        <a:t>12 / 12</a:t>
                      </a:r>
                    </a:p>
                  </a:txBody>
                  <a:tcPr marL="54864" marR="54864" marT="18288" marB="18288" anchor="ctr">
                    <a:solidFill>
                      <a:srgbClr val="FFFFFF"/>
                    </a:solidFill>
                  </a:tcPr>
                </a:tc>
                <a:extLst>
                  <a:ext uri="{0D108BD9-81ED-4DB2-BD59-A6C34878D82A}">
                    <a16:rowId xmlns:a16="http://schemas.microsoft.com/office/drawing/2014/main" val="10001"/>
                  </a:ext>
                </a:extLst>
              </a:tr>
              <a:tr h="457200">
                <a:tc>
                  <a:txBody>
                    <a:bodyPr/>
                    <a:lstStyle/>
                    <a:p>
                      <a:pPr algn="l"/>
                      <a:r>
                        <a:rPr sz="1500"/>
                        <a:t>0.003</a:t>
                      </a:r>
                    </a:p>
                  </a:txBody>
                  <a:tcPr marL="54864" marR="54864" marT="18288" marB="18288" anchor="ctr">
                    <a:solidFill>
                      <a:srgbClr val="F2F2F2"/>
                    </a:solidFill>
                  </a:tcPr>
                </a:tc>
                <a:tc>
                  <a:txBody>
                    <a:bodyPr/>
                    <a:lstStyle/>
                    <a:p>
                      <a:pPr algn="ctr"/>
                      <a:r>
                        <a:rPr sz="1500"/>
                        <a:t>1632</a:t>
                      </a:r>
                    </a:p>
                  </a:txBody>
                  <a:tcPr marL="54864" marR="54864" marT="18288" marB="18288" anchor="ctr">
                    <a:solidFill>
                      <a:srgbClr val="F2F2F2"/>
                    </a:solidFill>
                  </a:tcPr>
                </a:tc>
                <a:tc>
                  <a:txBody>
                    <a:bodyPr/>
                    <a:lstStyle/>
                    <a:p>
                      <a:pPr algn="ctr"/>
                      <a:r>
                        <a:rPr sz="1500"/>
                        <a:t>12 / 12</a:t>
                      </a:r>
                    </a:p>
                  </a:txBody>
                  <a:tcPr marL="54864" marR="54864" marT="18288" marB="18288" anchor="ctr">
                    <a:solidFill>
                      <a:srgbClr val="F2F2F2"/>
                    </a:solidFill>
                  </a:tcPr>
                </a:tc>
                <a:extLst>
                  <a:ext uri="{0D108BD9-81ED-4DB2-BD59-A6C34878D82A}">
                    <a16:rowId xmlns:a16="http://schemas.microsoft.com/office/drawing/2014/main" val="10002"/>
                  </a:ext>
                </a:extLst>
              </a:tr>
              <a:tr h="457200">
                <a:tc>
                  <a:txBody>
                    <a:bodyPr/>
                    <a:lstStyle/>
                    <a:p>
                      <a:pPr algn="l"/>
                      <a:r>
                        <a:rPr sz="1500" b="1"/>
                        <a:t>0.01  (used)</a:t>
                      </a:r>
                    </a:p>
                  </a:txBody>
                  <a:tcPr marL="54864" marR="54864" marT="18288" marB="18288" anchor="ctr">
                    <a:solidFill>
                      <a:srgbClr val="DEEAF4"/>
                    </a:solidFill>
                  </a:tcPr>
                </a:tc>
                <a:tc>
                  <a:txBody>
                    <a:bodyPr/>
                    <a:lstStyle/>
                    <a:p>
                      <a:pPr algn="ctr"/>
                      <a:r>
                        <a:rPr sz="1500" b="1"/>
                        <a:t>1437</a:t>
                      </a:r>
                    </a:p>
                  </a:txBody>
                  <a:tcPr marL="54864" marR="54864" marT="18288" marB="18288" anchor="ctr">
                    <a:solidFill>
                      <a:srgbClr val="DEEAF4"/>
                    </a:solidFill>
                  </a:tcPr>
                </a:tc>
                <a:tc>
                  <a:txBody>
                    <a:bodyPr/>
                    <a:lstStyle/>
                    <a:p>
                      <a:pPr algn="ctr"/>
                      <a:r>
                        <a:rPr sz="1500" b="1"/>
                        <a:t>12 / 12</a:t>
                      </a:r>
                    </a:p>
                  </a:txBody>
                  <a:tcPr marL="54864" marR="54864" marT="18288" marB="18288" anchor="ctr">
                    <a:solidFill>
                      <a:srgbClr val="DEEAF4"/>
                    </a:solidFill>
                  </a:tcPr>
                </a:tc>
                <a:extLst>
                  <a:ext uri="{0D108BD9-81ED-4DB2-BD59-A6C34878D82A}">
                    <a16:rowId xmlns:a16="http://schemas.microsoft.com/office/drawing/2014/main" val="10003"/>
                  </a:ext>
                </a:extLst>
              </a:tr>
              <a:tr h="457200">
                <a:tc>
                  <a:txBody>
                    <a:bodyPr/>
                    <a:lstStyle/>
                    <a:p>
                      <a:pPr algn="l"/>
                      <a:r>
                        <a:rPr sz="1500"/>
                        <a:t>0.03</a:t>
                      </a:r>
                    </a:p>
                  </a:txBody>
                  <a:tcPr marL="54864" marR="54864" marT="18288" marB="18288" anchor="ctr">
                    <a:solidFill>
                      <a:srgbClr val="F2F2F2"/>
                    </a:solidFill>
                  </a:tcPr>
                </a:tc>
                <a:tc>
                  <a:txBody>
                    <a:bodyPr/>
                    <a:lstStyle/>
                    <a:p>
                      <a:pPr algn="ctr"/>
                      <a:r>
                        <a:rPr sz="1500"/>
                        <a:t>1194</a:t>
                      </a:r>
                    </a:p>
                  </a:txBody>
                  <a:tcPr marL="54864" marR="54864" marT="18288" marB="18288" anchor="ctr">
                    <a:solidFill>
                      <a:srgbClr val="F2F2F2"/>
                    </a:solidFill>
                  </a:tcPr>
                </a:tc>
                <a:tc>
                  <a:txBody>
                    <a:bodyPr/>
                    <a:lstStyle/>
                    <a:p>
                      <a:pPr algn="ctr"/>
                      <a:r>
                        <a:rPr sz="1500"/>
                        <a:t>12 / 12</a:t>
                      </a:r>
                    </a:p>
                  </a:txBody>
                  <a:tcPr marL="54864" marR="54864" marT="18288" marB="18288" anchor="ctr">
                    <a:solidFill>
                      <a:srgbClr val="F2F2F2"/>
                    </a:solidFill>
                  </a:tcPr>
                </a:tc>
                <a:extLst>
                  <a:ext uri="{0D108BD9-81ED-4DB2-BD59-A6C34878D82A}">
                    <a16:rowId xmlns:a16="http://schemas.microsoft.com/office/drawing/2014/main" val="10004"/>
                  </a:ext>
                </a:extLst>
              </a:tr>
              <a:tr h="457200">
                <a:tc>
                  <a:txBody>
                    <a:bodyPr/>
                    <a:lstStyle/>
                    <a:p>
                      <a:pPr algn="l"/>
                      <a:r>
                        <a:rPr sz="1500"/>
                        <a:t>0.1</a:t>
                      </a:r>
                    </a:p>
                  </a:txBody>
                  <a:tcPr marL="54864" marR="54864" marT="18288" marB="18288" anchor="ctr">
                    <a:solidFill>
                      <a:srgbClr val="FFFFFF"/>
                    </a:solidFill>
                  </a:tcPr>
                </a:tc>
                <a:tc>
                  <a:txBody>
                    <a:bodyPr/>
                    <a:lstStyle/>
                    <a:p>
                      <a:pPr algn="ctr"/>
                      <a:r>
                        <a:rPr sz="1500"/>
                        <a:t>887</a:t>
                      </a:r>
                    </a:p>
                  </a:txBody>
                  <a:tcPr marL="54864" marR="54864" marT="18288" marB="18288" anchor="ctr">
                    <a:solidFill>
                      <a:srgbClr val="FFFFFF"/>
                    </a:solidFill>
                  </a:tcPr>
                </a:tc>
                <a:tc>
                  <a:txBody>
                    <a:bodyPr/>
                    <a:lstStyle/>
                    <a:p>
                      <a:pPr algn="ctr"/>
                      <a:r>
                        <a:rPr sz="1500"/>
                        <a:t>10 / 12</a:t>
                      </a:r>
                    </a:p>
                  </a:txBody>
                  <a:tcPr marL="54864" marR="54864" marT="18288" marB="18288" anchor="ctr">
                    <a:solidFill>
                      <a:srgbClr val="FFFFFF"/>
                    </a:solidFill>
                  </a:tcPr>
                </a:tc>
                <a:extLst>
                  <a:ext uri="{0D108BD9-81ED-4DB2-BD59-A6C34878D82A}">
                    <a16:rowId xmlns:a16="http://schemas.microsoft.com/office/drawing/2014/main" val="10005"/>
                  </a:ext>
                </a:extLst>
              </a:tr>
              <a:tr h="457200">
                <a:tc>
                  <a:txBody>
                    <a:bodyPr/>
                    <a:lstStyle/>
                    <a:p>
                      <a:pPr algn="l"/>
                      <a:r>
                        <a:rPr sz="1500"/>
                        <a:t>permutation</a:t>
                      </a:r>
                    </a:p>
                  </a:txBody>
                  <a:tcPr marL="54864" marR="54864" marT="18288" marB="18288" anchor="ctr">
                    <a:solidFill>
                      <a:srgbClr val="F2F2F2"/>
                    </a:solidFill>
                  </a:tcPr>
                </a:tc>
                <a:tc>
                  <a:txBody>
                    <a:bodyPr/>
                    <a:lstStyle/>
                    <a:p>
                      <a:pPr algn="ctr"/>
                      <a:r>
                        <a:rPr sz="1500"/>
                        <a:t>609</a:t>
                      </a:r>
                    </a:p>
                  </a:txBody>
                  <a:tcPr marL="54864" marR="54864" marT="18288" marB="18288" anchor="ctr">
                    <a:solidFill>
                      <a:srgbClr val="F2F2F2"/>
                    </a:solidFill>
                  </a:tcPr>
                </a:tc>
                <a:tc>
                  <a:txBody>
                    <a:bodyPr/>
                    <a:lstStyle/>
                    <a:p>
                      <a:pPr algn="ctr"/>
                      <a:r>
                        <a:rPr sz="1500"/>
                        <a:t>—</a:t>
                      </a:r>
                    </a:p>
                  </a:txBody>
                  <a:tcPr marL="54864" marR="54864" marT="18288" marB="18288" anchor="ctr">
                    <a:solidFill>
                      <a:srgbClr val="F2F2F2"/>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Full results</a:t>
            </a:r>
          </a:p>
        </p:txBody>
      </p:sp>
      <p:graphicFrame>
        <p:nvGraphicFramePr>
          <p:cNvPr id="3" name="Table 2"/>
          <p:cNvGraphicFramePr>
            <a:graphicFrameLocks noGrp="1"/>
          </p:cNvGraphicFramePr>
          <p:nvPr/>
        </p:nvGraphicFramePr>
        <p:xfrm>
          <a:off x="521207" y="2487168"/>
          <a:ext cx="11155680" cy="3419856"/>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1682496">
                  <a:extLst>
                    <a:ext uri="{9D8B030D-6E8A-4147-A177-3AD203B41FA5}">
                      <a16:colId xmlns:a16="http://schemas.microsoft.com/office/drawing/2014/main" val="20001"/>
                    </a:ext>
                  </a:extLst>
                </a:gridCol>
                <a:gridCol w="1682496">
                  <a:extLst>
                    <a:ext uri="{9D8B030D-6E8A-4147-A177-3AD203B41FA5}">
                      <a16:colId xmlns:a16="http://schemas.microsoft.com/office/drawing/2014/main" val="20002"/>
                    </a:ext>
                  </a:extLst>
                </a:gridCol>
                <a:gridCol w="1682496">
                  <a:extLst>
                    <a:ext uri="{9D8B030D-6E8A-4147-A177-3AD203B41FA5}">
                      <a16:colId xmlns:a16="http://schemas.microsoft.com/office/drawing/2014/main" val="20003"/>
                    </a:ext>
                  </a:extLst>
                </a:gridCol>
                <a:gridCol w="1682496">
                  <a:extLst>
                    <a:ext uri="{9D8B030D-6E8A-4147-A177-3AD203B41FA5}">
                      <a16:colId xmlns:a16="http://schemas.microsoft.com/office/drawing/2014/main" val="20004"/>
                    </a:ext>
                  </a:extLst>
                </a:gridCol>
                <a:gridCol w="1682496">
                  <a:extLst>
                    <a:ext uri="{9D8B030D-6E8A-4147-A177-3AD203B41FA5}">
                      <a16:colId xmlns:a16="http://schemas.microsoft.com/office/drawing/2014/main" val="20005"/>
                    </a:ext>
                  </a:extLst>
                </a:gridCol>
              </a:tblGrid>
              <a:tr h="310896">
                <a:tc>
                  <a:txBody>
                    <a:bodyPr/>
                    <a:lstStyle/>
                    <a:p>
                      <a:pPr algn="l"/>
                      <a:r>
                        <a:rPr sz="1400" b="1">
                          <a:solidFill>
                            <a:srgbClr val="FFFFFF"/>
                          </a:solidFill>
                        </a:rPr>
                        <a:t>Arm</a:t>
                      </a:r>
                    </a:p>
                  </a:txBody>
                  <a:tcPr marL="54864" marR="54864" marT="18288" marB="18288" anchor="ctr">
                    <a:solidFill>
                      <a:srgbClr val="1A1A1A"/>
                    </a:solidFill>
                  </a:tcPr>
                </a:tc>
                <a:tc>
                  <a:txBody>
                    <a:bodyPr/>
                    <a:lstStyle/>
                    <a:p>
                      <a:pPr algn="ctr"/>
                      <a:r>
                        <a:rPr sz="1400" b="1">
                          <a:solidFill>
                            <a:srgbClr val="FFFFFF"/>
                          </a:solidFill>
                        </a:rPr>
                        <a:t>morph_b</a:t>
                      </a:r>
                    </a:p>
                  </a:txBody>
                  <a:tcPr marL="54864" marR="54864" marT="18288" marB="18288" anchor="ctr">
                    <a:solidFill>
                      <a:srgbClr val="1A1A1A"/>
                    </a:solidFill>
                  </a:tcPr>
                </a:tc>
                <a:tc>
                  <a:txBody>
                    <a:bodyPr/>
                    <a:lstStyle/>
                    <a:p>
                      <a:pPr algn="ctr"/>
                      <a:r>
                        <a:rPr sz="1400" b="1">
                          <a:solidFill>
                            <a:srgbClr val="FFFFFF"/>
                          </a:solidFill>
                        </a:rPr>
                        <a:t>object_b</a:t>
                      </a:r>
                    </a:p>
                  </a:txBody>
                  <a:tcPr marL="54864" marR="54864" marT="18288" marB="18288" anchor="ctr">
                    <a:solidFill>
                      <a:srgbClr val="1A1A1A"/>
                    </a:solidFill>
                  </a:tcPr>
                </a:tc>
                <a:tc>
                  <a:txBody>
                    <a:bodyPr/>
                    <a:lstStyle/>
                    <a:p>
                      <a:pPr algn="ctr"/>
                      <a:r>
                        <a:rPr sz="1400" b="1">
                          <a:solidFill>
                            <a:srgbClr val="FFFFFF"/>
                          </a:solidFill>
                        </a:rPr>
                        <a:t>both_b</a:t>
                      </a:r>
                    </a:p>
                  </a:txBody>
                  <a:tcPr marL="54864" marR="54864" marT="18288" marB="18288" anchor="ctr">
                    <a:solidFill>
                      <a:srgbClr val="1A1A1A"/>
                    </a:solidFill>
                  </a:tcPr>
                </a:tc>
                <a:tc>
                  <a:txBody>
                    <a:bodyPr/>
                    <a:lstStyle/>
                    <a:p>
                      <a:pPr algn="ctr"/>
                      <a:r>
                        <a:rPr sz="1400" b="1">
                          <a:solidFill>
                            <a:srgbClr val="FFFFFF"/>
                          </a:solidFill>
                        </a:rPr>
                        <a:t>In-distribution</a:t>
                      </a:r>
                    </a:p>
                  </a:txBody>
                  <a:tcPr marL="54864" marR="54864" marT="18288" marB="18288" anchor="ctr">
                    <a:solidFill>
                      <a:srgbClr val="1A1A1A"/>
                    </a:solidFill>
                  </a:tcPr>
                </a:tc>
                <a:tc>
                  <a:txBody>
                    <a:bodyPr/>
                    <a:lstStyle/>
                    <a:p>
                      <a:pPr algn="ctr"/>
                      <a:r>
                        <a:rPr sz="1400" b="1">
                          <a:solidFill>
                            <a:srgbClr val="FFFFFF"/>
                          </a:solidFill>
                        </a:rPr>
                        <a:t>Edges</a:t>
                      </a:r>
                    </a:p>
                  </a:txBody>
                  <a:tcPr marL="54864" marR="54864" marT="18288" marB="18288" anchor="ctr">
                    <a:solidFill>
                      <a:srgbClr val="1A1A1A"/>
                    </a:solidFill>
                  </a:tcPr>
                </a:tc>
                <a:extLst>
                  <a:ext uri="{0D108BD9-81ED-4DB2-BD59-A6C34878D82A}">
                    <a16:rowId xmlns:a16="http://schemas.microsoft.com/office/drawing/2014/main" val="10000"/>
                  </a:ext>
                </a:extLst>
              </a:tr>
              <a:tr h="310896">
                <a:tc>
                  <a:txBody>
                    <a:bodyPr/>
                    <a:lstStyle/>
                    <a:p>
                      <a:pPr algn="l"/>
                      <a:r>
                        <a:rPr sz="1400"/>
                        <a:t>no_graph</a:t>
                      </a:r>
                    </a:p>
                  </a:txBody>
                  <a:tcPr marL="54864" marR="54864" marT="18288" marB="18288" anchor="ctr">
                    <a:solidFill>
                      <a:srgbClr val="FFFFFF"/>
                    </a:solidFill>
                  </a:tcPr>
                </a:tc>
                <a:tc>
                  <a:txBody>
                    <a:bodyPr/>
                    <a:lstStyle/>
                    <a:p>
                      <a:pPr algn="ctr"/>
                      <a:r>
                        <a:rPr sz="1400"/>
                        <a:t>0.094</a:t>
                      </a:r>
                    </a:p>
                  </a:txBody>
                  <a:tcPr marL="54864" marR="54864" marT="18288" marB="18288" anchor="ctr">
                    <a:solidFill>
                      <a:srgbClr val="FFFFFF"/>
                    </a:solidFill>
                  </a:tcPr>
                </a:tc>
                <a:tc>
                  <a:txBody>
                    <a:bodyPr/>
                    <a:lstStyle/>
                    <a:p>
                      <a:pPr algn="ctr"/>
                      <a:r>
                        <a:rPr sz="1400"/>
                        <a:t>−0.008</a:t>
                      </a:r>
                    </a:p>
                  </a:txBody>
                  <a:tcPr marL="54864" marR="54864" marT="18288" marB="18288" anchor="ctr">
                    <a:solidFill>
                      <a:srgbClr val="FFFFFF"/>
                    </a:solidFill>
                  </a:tcPr>
                </a:tc>
                <a:tc>
                  <a:txBody>
                    <a:bodyPr/>
                    <a:lstStyle/>
                    <a:p>
                      <a:pPr algn="ctr"/>
                      <a:r>
                        <a:rPr sz="1400"/>
                        <a:t>−0.016</a:t>
                      </a:r>
                    </a:p>
                  </a:txBody>
                  <a:tcPr marL="54864" marR="54864" marT="18288" marB="18288" anchor="ctr">
                    <a:solidFill>
                      <a:srgbClr val="FFFFFF"/>
                    </a:solidFill>
                  </a:tcPr>
                </a:tc>
                <a:tc>
                  <a:txBody>
                    <a:bodyPr/>
                    <a:lstStyle/>
                    <a:p>
                      <a:pPr algn="ctr"/>
                      <a:r>
                        <a:rPr sz="1400"/>
                        <a:t>0.389</a:t>
                      </a:r>
                    </a:p>
                  </a:txBody>
                  <a:tcPr marL="54864" marR="54864" marT="18288" marB="18288" anchor="ctr">
                    <a:solidFill>
                      <a:srgbClr val="FFFFFF"/>
                    </a:solidFill>
                  </a:tcPr>
                </a:tc>
                <a:tc>
                  <a:txBody>
                    <a:bodyPr/>
                    <a:lstStyle/>
                    <a:p>
                      <a:pPr algn="ctr"/>
                      <a:r>
                        <a:rPr sz="1400"/>
                        <a:t>2210</a:t>
                      </a:r>
                    </a:p>
                  </a:txBody>
                  <a:tcPr marL="54864" marR="54864" marT="18288" marB="18288" anchor="ctr">
                    <a:solidFill>
                      <a:srgbClr val="FFFFFF"/>
                    </a:solidFill>
                  </a:tcPr>
                </a:tc>
                <a:extLst>
                  <a:ext uri="{0D108BD9-81ED-4DB2-BD59-A6C34878D82A}">
                    <a16:rowId xmlns:a16="http://schemas.microsoft.com/office/drawing/2014/main" val="10001"/>
                  </a:ext>
                </a:extLst>
              </a:tr>
              <a:tr h="310896">
                <a:tc>
                  <a:txBody>
                    <a:bodyPr/>
                    <a:lstStyle/>
                    <a:p>
                      <a:pPr algn="l"/>
                      <a:r>
                        <a:rPr sz="1400"/>
                        <a:t>random_graph</a:t>
                      </a:r>
                    </a:p>
                  </a:txBody>
                  <a:tcPr marL="54864" marR="54864" marT="18288" marB="18288" anchor="ctr">
                    <a:solidFill>
                      <a:srgbClr val="F2F2F2"/>
                    </a:solidFill>
                  </a:tcPr>
                </a:tc>
                <a:tc>
                  <a:txBody>
                    <a:bodyPr/>
                    <a:lstStyle/>
                    <a:p>
                      <a:pPr algn="ctr"/>
                      <a:r>
                        <a:rPr sz="1400"/>
                        <a:t>0.209</a:t>
                      </a:r>
                    </a:p>
                  </a:txBody>
                  <a:tcPr marL="54864" marR="54864" marT="18288" marB="18288" anchor="ctr">
                    <a:solidFill>
                      <a:srgbClr val="F2F2F2"/>
                    </a:solidFill>
                  </a:tcPr>
                </a:tc>
                <a:tc>
                  <a:txBody>
                    <a:bodyPr/>
                    <a:lstStyle/>
                    <a:p>
                      <a:pPr algn="ctr"/>
                      <a:r>
                        <a:rPr sz="1400"/>
                        <a:t>0.011</a:t>
                      </a:r>
                    </a:p>
                  </a:txBody>
                  <a:tcPr marL="54864" marR="54864" marT="18288" marB="18288" anchor="ctr">
                    <a:solidFill>
                      <a:srgbClr val="F2F2F2"/>
                    </a:solidFill>
                  </a:tcPr>
                </a:tc>
                <a:tc>
                  <a:txBody>
                    <a:bodyPr/>
                    <a:lstStyle/>
                    <a:p>
                      <a:pPr algn="ctr"/>
                      <a:r>
                        <a:rPr sz="1400"/>
                        <a:t>0.033</a:t>
                      </a:r>
                    </a:p>
                  </a:txBody>
                  <a:tcPr marL="54864" marR="54864" marT="18288" marB="18288" anchor="ctr">
                    <a:solidFill>
                      <a:srgbClr val="F2F2F2"/>
                    </a:solidFill>
                  </a:tcPr>
                </a:tc>
                <a:tc>
                  <a:txBody>
                    <a:bodyPr/>
                    <a:lstStyle/>
                    <a:p>
                      <a:pPr algn="ctr"/>
                      <a:r>
                        <a:rPr sz="1400"/>
                        <a:t>0.385</a:t>
                      </a:r>
                    </a:p>
                  </a:txBody>
                  <a:tcPr marL="54864" marR="54864" marT="18288" marB="18288" anchor="ctr">
                    <a:solidFill>
                      <a:srgbClr val="F2F2F2"/>
                    </a:solidFill>
                  </a:tcPr>
                </a:tc>
                <a:tc>
                  <a:txBody>
                    <a:bodyPr/>
                    <a:lstStyle/>
                    <a:p>
                      <a:pPr algn="ctr"/>
                      <a:r>
                        <a:rPr sz="1400"/>
                        <a:t>1744</a:t>
                      </a:r>
                    </a:p>
                  </a:txBody>
                  <a:tcPr marL="54864" marR="54864" marT="18288" marB="18288" anchor="ctr">
                    <a:solidFill>
                      <a:srgbClr val="F2F2F2"/>
                    </a:solidFill>
                  </a:tcPr>
                </a:tc>
                <a:extLst>
                  <a:ext uri="{0D108BD9-81ED-4DB2-BD59-A6C34878D82A}">
                    <a16:rowId xmlns:a16="http://schemas.microsoft.com/office/drawing/2014/main" val="10002"/>
                  </a:ext>
                </a:extLst>
              </a:tr>
              <a:tr h="310896">
                <a:tc>
                  <a:txBody>
                    <a:bodyPr/>
                    <a:lstStyle/>
                    <a:p>
                      <a:pPr algn="l"/>
                      <a:r>
                        <a:rPr sz="1400"/>
                        <a:t>corr_graph</a:t>
                      </a:r>
                    </a:p>
                  </a:txBody>
                  <a:tcPr marL="54864" marR="54864" marT="18288" marB="18288" anchor="ctr">
                    <a:solidFill>
                      <a:srgbClr val="FFFFFF"/>
                    </a:solidFill>
                  </a:tcPr>
                </a:tc>
                <a:tc>
                  <a:txBody>
                    <a:bodyPr/>
                    <a:lstStyle/>
                    <a:p>
                      <a:pPr algn="ctr"/>
                      <a:r>
                        <a:rPr sz="1400"/>
                        <a:t>0.204</a:t>
                      </a:r>
                    </a:p>
                  </a:txBody>
                  <a:tcPr marL="54864" marR="54864" marT="18288" marB="18288" anchor="ctr">
                    <a:solidFill>
                      <a:srgbClr val="FFFFFF"/>
                    </a:solidFill>
                  </a:tcPr>
                </a:tc>
                <a:tc>
                  <a:txBody>
                    <a:bodyPr/>
                    <a:lstStyle/>
                    <a:p>
                      <a:pPr algn="ctr"/>
                      <a:r>
                        <a:rPr sz="1400"/>
                        <a:t>0.037</a:t>
                      </a:r>
                    </a:p>
                  </a:txBody>
                  <a:tcPr marL="54864" marR="54864" marT="18288" marB="18288" anchor="ctr">
                    <a:solidFill>
                      <a:srgbClr val="FFFFFF"/>
                    </a:solidFill>
                  </a:tcPr>
                </a:tc>
                <a:tc>
                  <a:txBody>
                    <a:bodyPr/>
                    <a:lstStyle/>
                    <a:p>
                      <a:pPr algn="ctr"/>
                      <a:r>
                        <a:rPr sz="1400"/>
                        <a:t>0.119</a:t>
                      </a:r>
                    </a:p>
                  </a:txBody>
                  <a:tcPr marL="54864" marR="54864" marT="18288" marB="18288" anchor="ctr">
                    <a:solidFill>
                      <a:srgbClr val="FFFFFF"/>
                    </a:solidFill>
                  </a:tcPr>
                </a:tc>
                <a:tc>
                  <a:txBody>
                    <a:bodyPr/>
                    <a:lstStyle/>
                    <a:p>
                      <a:pPr algn="ctr"/>
                      <a:r>
                        <a:rPr sz="1400"/>
                        <a:t>0.397</a:t>
                      </a:r>
                    </a:p>
                  </a:txBody>
                  <a:tcPr marL="54864" marR="54864" marT="18288" marB="18288" anchor="ctr">
                    <a:solidFill>
                      <a:srgbClr val="FFFFFF"/>
                    </a:solidFill>
                  </a:tcPr>
                </a:tc>
                <a:tc>
                  <a:txBody>
                    <a:bodyPr/>
                    <a:lstStyle/>
                    <a:p>
                      <a:pPr algn="ctr"/>
                      <a:r>
                        <a:rPr sz="1400"/>
                        <a:t>1744</a:t>
                      </a:r>
                    </a:p>
                  </a:txBody>
                  <a:tcPr marL="54864" marR="54864" marT="18288" marB="18288" anchor="ctr">
                    <a:solidFill>
                      <a:srgbClr val="FFFFFF"/>
                    </a:solidFill>
                  </a:tcPr>
                </a:tc>
                <a:extLst>
                  <a:ext uri="{0D108BD9-81ED-4DB2-BD59-A6C34878D82A}">
                    <a16:rowId xmlns:a16="http://schemas.microsoft.com/office/drawing/2014/main" val="10003"/>
                  </a:ext>
                </a:extLst>
              </a:tr>
              <a:tr h="310896">
                <a:tc>
                  <a:txBody>
                    <a:bodyPr/>
                    <a:lstStyle/>
                    <a:p>
                      <a:pPr algn="l"/>
                      <a:r>
                        <a:rPr sz="1400"/>
                        <a:t>lasso_graph</a:t>
                      </a:r>
                    </a:p>
                  </a:txBody>
                  <a:tcPr marL="54864" marR="54864" marT="18288" marB="18288" anchor="ctr">
                    <a:solidFill>
                      <a:srgbClr val="F2F2F2"/>
                    </a:solidFill>
                  </a:tcPr>
                </a:tc>
                <a:tc>
                  <a:txBody>
                    <a:bodyPr/>
                    <a:lstStyle/>
                    <a:p>
                      <a:pPr algn="ctr"/>
                      <a:r>
                        <a:rPr sz="1400"/>
                        <a:t>0.094</a:t>
                      </a:r>
                    </a:p>
                  </a:txBody>
                  <a:tcPr marL="54864" marR="54864" marT="18288" marB="18288" anchor="ctr">
                    <a:solidFill>
                      <a:srgbClr val="F2F2F2"/>
                    </a:solidFill>
                  </a:tcPr>
                </a:tc>
                <a:tc>
                  <a:txBody>
                    <a:bodyPr/>
                    <a:lstStyle/>
                    <a:p>
                      <a:pPr algn="ctr"/>
                      <a:r>
                        <a:rPr sz="1400"/>
                        <a:t>−0.008</a:t>
                      </a:r>
                    </a:p>
                  </a:txBody>
                  <a:tcPr marL="54864" marR="54864" marT="18288" marB="18288" anchor="ctr">
                    <a:solidFill>
                      <a:srgbClr val="F2F2F2"/>
                    </a:solidFill>
                  </a:tcPr>
                </a:tc>
                <a:tc>
                  <a:txBody>
                    <a:bodyPr/>
                    <a:lstStyle/>
                    <a:p>
                      <a:pPr algn="ctr"/>
                      <a:r>
                        <a:rPr sz="1400"/>
                        <a:t>−0.016</a:t>
                      </a:r>
                    </a:p>
                  </a:txBody>
                  <a:tcPr marL="54864" marR="54864" marT="18288" marB="18288" anchor="ctr">
                    <a:solidFill>
                      <a:srgbClr val="F2F2F2"/>
                    </a:solidFill>
                  </a:tcPr>
                </a:tc>
                <a:tc>
                  <a:txBody>
                    <a:bodyPr/>
                    <a:lstStyle/>
                    <a:p>
                      <a:pPr algn="ctr"/>
                      <a:r>
                        <a:rPr sz="1400"/>
                        <a:t>0.389</a:t>
                      </a:r>
                    </a:p>
                  </a:txBody>
                  <a:tcPr marL="54864" marR="54864" marT="18288" marB="18288" anchor="ctr">
                    <a:solidFill>
                      <a:srgbClr val="F2F2F2"/>
                    </a:solidFill>
                  </a:tcPr>
                </a:tc>
                <a:tc>
                  <a:txBody>
                    <a:bodyPr/>
                    <a:lstStyle/>
                    <a:p>
                      <a:pPr algn="ctr"/>
                      <a:r>
                        <a:rPr sz="1400"/>
                        <a:t>2210</a:t>
                      </a:r>
                    </a:p>
                  </a:txBody>
                  <a:tcPr marL="54864" marR="54864" marT="18288" marB="18288" anchor="ctr">
                    <a:solidFill>
                      <a:srgbClr val="F2F2F2"/>
                    </a:solidFill>
                  </a:tcPr>
                </a:tc>
                <a:extLst>
                  <a:ext uri="{0D108BD9-81ED-4DB2-BD59-A6C34878D82A}">
                    <a16:rowId xmlns:a16="http://schemas.microsoft.com/office/drawing/2014/main" val="10004"/>
                  </a:ext>
                </a:extLst>
              </a:tr>
              <a:tr h="310896">
                <a:tc>
                  <a:txBody>
                    <a:bodyPr/>
                    <a:lstStyle/>
                    <a:p>
                      <a:pPr algn="l"/>
                      <a:r>
                        <a:rPr sz="1400"/>
                        <a:t>body_prior_graph</a:t>
                      </a:r>
                    </a:p>
                  </a:txBody>
                  <a:tcPr marL="54864" marR="54864" marT="18288" marB="18288" anchor="ctr">
                    <a:solidFill>
                      <a:srgbClr val="FFFFFF"/>
                    </a:solidFill>
                  </a:tcPr>
                </a:tc>
                <a:tc>
                  <a:txBody>
                    <a:bodyPr/>
                    <a:lstStyle/>
                    <a:p>
                      <a:pPr algn="ctr"/>
                      <a:r>
                        <a:rPr sz="1400"/>
                        <a:t>0.364</a:t>
                      </a:r>
                    </a:p>
                  </a:txBody>
                  <a:tcPr marL="54864" marR="54864" marT="18288" marB="18288" anchor="ctr">
                    <a:solidFill>
                      <a:srgbClr val="FFFFFF"/>
                    </a:solidFill>
                  </a:tcPr>
                </a:tc>
                <a:tc>
                  <a:txBody>
                    <a:bodyPr/>
                    <a:lstStyle/>
                    <a:p>
                      <a:pPr algn="ctr"/>
                      <a:r>
                        <a:rPr sz="1400"/>
                        <a:t>0.046</a:t>
                      </a:r>
                    </a:p>
                  </a:txBody>
                  <a:tcPr marL="54864" marR="54864" marT="18288" marB="18288" anchor="ctr">
                    <a:solidFill>
                      <a:srgbClr val="FFFFFF"/>
                    </a:solidFill>
                  </a:tcPr>
                </a:tc>
                <a:tc>
                  <a:txBody>
                    <a:bodyPr/>
                    <a:lstStyle/>
                    <a:p>
                      <a:pPr algn="ctr"/>
                      <a:r>
                        <a:rPr sz="1400"/>
                        <a:t>0.083</a:t>
                      </a:r>
                    </a:p>
                  </a:txBody>
                  <a:tcPr marL="54864" marR="54864" marT="18288" marB="18288" anchor="ctr">
                    <a:solidFill>
                      <a:srgbClr val="FFFFFF"/>
                    </a:solidFill>
                  </a:tcPr>
                </a:tc>
                <a:tc>
                  <a:txBody>
                    <a:bodyPr/>
                    <a:lstStyle/>
                    <a:p>
                      <a:pPr algn="ctr"/>
                      <a:r>
                        <a:rPr sz="1400"/>
                        <a:t>0.403</a:t>
                      </a:r>
                    </a:p>
                  </a:txBody>
                  <a:tcPr marL="54864" marR="54864" marT="18288" marB="18288" anchor="ctr">
                    <a:solidFill>
                      <a:srgbClr val="FFFFFF"/>
                    </a:solidFill>
                  </a:tcPr>
                </a:tc>
                <a:tc>
                  <a:txBody>
                    <a:bodyPr/>
                    <a:lstStyle/>
                    <a:p>
                      <a:pPr algn="ctr"/>
                      <a:r>
                        <a:rPr sz="1400"/>
                        <a:t>1586</a:t>
                      </a:r>
                    </a:p>
                  </a:txBody>
                  <a:tcPr marL="54864" marR="54864" marT="18288" marB="18288" anchor="ctr">
                    <a:solidFill>
                      <a:srgbClr val="FFFFFF"/>
                    </a:solidFill>
                  </a:tcPr>
                </a:tc>
                <a:extLst>
                  <a:ext uri="{0D108BD9-81ED-4DB2-BD59-A6C34878D82A}">
                    <a16:rowId xmlns:a16="http://schemas.microsoft.com/office/drawing/2014/main" val="10005"/>
                  </a:ext>
                </a:extLst>
              </a:tr>
              <a:tr h="310896">
                <a:tc>
                  <a:txBody>
                    <a:bodyPr/>
                    <a:lstStyle/>
                    <a:p>
                      <a:pPr algn="l"/>
                      <a:r>
                        <a:rPr sz="1400"/>
                        <a:t>ours</a:t>
                      </a:r>
                    </a:p>
                  </a:txBody>
                  <a:tcPr marL="54864" marR="54864" marT="18288" marB="18288" anchor="ctr">
                    <a:solidFill>
                      <a:srgbClr val="F2F2F2"/>
                    </a:solidFill>
                  </a:tcPr>
                </a:tc>
                <a:tc>
                  <a:txBody>
                    <a:bodyPr/>
                    <a:lstStyle/>
                    <a:p>
                      <a:pPr algn="ctr"/>
                      <a:r>
                        <a:rPr sz="1400"/>
                        <a:t>0.255</a:t>
                      </a:r>
                    </a:p>
                  </a:txBody>
                  <a:tcPr marL="54864" marR="54864" marT="18288" marB="18288" anchor="ctr">
                    <a:solidFill>
                      <a:srgbClr val="F2F2F2"/>
                    </a:solidFill>
                  </a:tcPr>
                </a:tc>
                <a:tc>
                  <a:txBody>
                    <a:bodyPr/>
                    <a:lstStyle/>
                    <a:p>
                      <a:pPr algn="ctr"/>
                      <a:r>
                        <a:rPr sz="1400"/>
                        <a:t>0.018</a:t>
                      </a:r>
                    </a:p>
                  </a:txBody>
                  <a:tcPr marL="54864" marR="54864" marT="18288" marB="18288" anchor="ctr">
                    <a:solidFill>
                      <a:srgbClr val="F2F2F2"/>
                    </a:solidFill>
                  </a:tcPr>
                </a:tc>
                <a:tc>
                  <a:txBody>
                    <a:bodyPr/>
                    <a:lstStyle/>
                    <a:p>
                      <a:pPr algn="ctr"/>
                      <a:r>
                        <a:rPr sz="1400"/>
                        <a:t>0.075</a:t>
                      </a:r>
                    </a:p>
                  </a:txBody>
                  <a:tcPr marL="54864" marR="54864" marT="18288" marB="18288" anchor="ctr">
                    <a:solidFill>
                      <a:srgbClr val="F2F2F2"/>
                    </a:solidFill>
                  </a:tcPr>
                </a:tc>
                <a:tc>
                  <a:txBody>
                    <a:bodyPr/>
                    <a:lstStyle/>
                    <a:p>
                      <a:pPr algn="ctr"/>
                      <a:r>
                        <a:rPr sz="1400"/>
                        <a:t>0.395</a:t>
                      </a:r>
                    </a:p>
                  </a:txBody>
                  <a:tcPr marL="54864" marR="54864" marT="18288" marB="18288" anchor="ctr">
                    <a:solidFill>
                      <a:srgbClr val="F2F2F2"/>
                    </a:solidFill>
                  </a:tcPr>
                </a:tc>
                <a:tc>
                  <a:txBody>
                    <a:bodyPr/>
                    <a:lstStyle/>
                    <a:p>
                      <a:pPr algn="ctr"/>
                      <a:r>
                        <a:rPr sz="1400"/>
                        <a:t>1744</a:t>
                      </a:r>
                    </a:p>
                  </a:txBody>
                  <a:tcPr marL="54864" marR="54864" marT="18288" marB="18288" anchor="ctr">
                    <a:solidFill>
                      <a:srgbClr val="F2F2F2"/>
                    </a:solidFill>
                  </a:tcPr>
                </a:tc>
                <a:extLst>
                  <a:ext uri="{0D108BD9-81ED-4DB2-BD59-A6C34878D82A}">
                    <a16:rowId xmlns:a16="http://schemas.microsoft.com/office/drawing/2014/main" val="10006"/>
                  </a:ext>
                </a:extLst>
              </a:tr>
              <a:tr h="310896">
                <a:tc>
                  <a:txBody>
                    <a:bodyPr/>
                    <a:lstStyle/>
                    <a:p>
                      <a:pPr algn="l"/>
                      <a:r>
                        <a:rPr sz="1400" b="1"/>
                        <a:t>ours_perm</a:t>
                      </a:r>
                    </a:p>
                  </a:txBody>
                  <a:tcPr marL="54864" marR="54864" marT="18288" marB="18288" anchor="ctr">
                    <a:solidFill>
                      <a:srgbClr val="DEEAF4"/>
                    </a:solidFill>
                  </a:tcPr>
                </a:tc>
                <a:tc>
                  <a:txBody>
                    <a:bodyPr/>
                    <a:lstStyle/>
                    <a:p>
                      <a:pPr algn="ctr"/>
                      <a:r>
                        <a:rPr sz="1400" b="1"/>
                        <a:t>0.537</a:t>
                      </a:r>
                    </a:p>
                  </a:txBody>
                  <a:tcPr marL="54864" marR="54864" marT="18288" marB="18288" anchor="ctr">
                    <a:solidFill>
                      <a:srgbClr val="DEEAF4"/>
                    </a:solidFill>
                  </a:tcPr>
                </a:tc>
                <a:tc>
                  <a:txBody>
                    <a:bodyPr/>
                    <a:lstStyle/>
                    <a:p>
                      <a:pPr algn="ctr"/>
                      <a:r>
                        <a:rPr sz="1400" b="1"/>
                        <a:t>0.159</a:t>
                      </a:r>
                    </a:p>
                  </a:txBody>
                  <a:tcPr marL="54864" marR="54864" marT="18288" marB="18288" anchor="ctr">
                    <a:solidFill>
                      <a:srgbClr val="DEEAF4"/>
                    </a:solidFill>
                  </a:tcPr>
                </a:tc>
                <a:tc>
                  <a:txBody>
                    <a:bodyPr/>
                    <a:lstStyle/>
                    <a:p>
                      <a:pPr algn="ctr"/>
                      <a:r>
                        <a:rPr sz="1400" b="1"/>
                        <a:t>0.160</a:t>
                      </a:r>
                    </a:p>
                  </a:txBody>
                  <a:tcPr marL="54864" marR="54864" marT="18288" marB="18288" anchor="ctr">
                    <a:solidFill>
                      <a:srgbClr val="DEEAF4"/>
                    </a:solidFill>
                  </a:tcPr>
                </a:tc>
                <a:tc>
                  <a:txBody>
                    <a:bodyPr/>
                    <a:lstStyle/>
                    <a:p>
                      <a:pPr algn="ctr"/>
                      <a:r>
                        <a:rPr sz="1400" b="1"/>
                        <a:t>0.403</a:t>
                      </a:r>
                    </a:p>
                  </a:txBody>
                  <a:tcPr marL="54864" marR="54864" marT="18288" marB="18288" anchor="ctr">
                    <a:solidFill>
                      <a:srgbClr val="DEEAF4"/>
                    </a:solidFill>
                  </a:tcPr>
                </a:tc>
                <a:tc>
                  <a:txBody>
                    <a:bodyPr/>
                    <a:lstStyle/>
                    <a:p>
                      <a:pPr algn="ctr"/>
                      <a:r>
                        <a:rPr sz="1400" b="1"/>
                        <a:t>915</a:t>
                      </a:r>
                    </a:p>
                  </a:txBody>
                  <a:tcPr marL="54864" marR="54864" marT="18288" marB="18288" anchor="ctr">
                    <a:solidFill>
                      <a:srgbClr val="DEEAF4"/>
                    </a:solidFill>
                  </a:tcPr>
                </a:tc>
                <a:extLst>
                  <a:ext uri="{0D108BD9-81ED-4DB2-BD59-A6C34878D82A}">
                    <a16:rowId xmlns:a16="http://schemas.microsoft.com/office/drawing/2014/main" val="10007"/>
                  </a:ext>
                </a:extLst>
              </a:tr>
              <a:tr h="310896">
                <a:tc>
                  <a:txBody>
                    <a:bodyPr/>
                    <a:lstStyle/>
                    <a:p>
                      <a:pPr algn="l"/>
                      <a:r>
                        <a:rPr sz="1400" b="1"/>
                        <a:t>ours_nobody</a:t>
                      </a:r>
                    </a:p>
                  </a:txBody>
                  <a:tcPr marL="54864" marR="54864" marT="18288" marB="18288" anchor="ctr">
                    <a:solidFill>
                      <a:srgbClr val="DEEAF4"/>
                    </a:solidFill>
                  </a:tcPr>
                </a:tc>
                <a:tc>
                  <a:txBody>
                    <a:bodyPr/>
                    <a:lstStyle/>
                    <a:p>
                      <a:pPr algn="ctr"/>
                      <a:r>
                        <a:rPr sz="1400" b="1"/>
                        <a:t>0.571</a:t>
                      </a:r>
                    </a:p>
                  </a:txBody>
                  <a:tcPr marL="54864" marR="54864" marT="18288" marB="18288" anchor="ctr">
                    <a:solidFill>
                      <a:srgbClr val="DEEAF4"/>
                    </a:solidFill>
                  </a:tcPr>
                </a:tc>
                <a:tc>
                  <a:txBody>
                    <a:bodyPr/>
                    <a:lstStyle/>
                    <a:p>
                      <a:pPr algn="ctr"/>
                      <a:r>
                        <a:rPr sz="1400" b="1"/>
                        <a:t>0.048</a:t>
                      </a:r>
                    </a:p>
                  </a:txBody>
                  <a:tcPr marL="54864" marR="54864" marT="18288" marB="18288" anchor="ctr">
                    <a:solidFill>
                      <a:srgbClr val="DEEAF4"/>
                    </a:solidFill>
                  </a:tcPr>
                </a:tc>
                <a:tc>
                  <a:txBody>
                    <a:bodyPr/>
                    <a:lstStyle/>
                    <a:p>
                      <a:pPr algn="ctr"/>
                      <a:r>
                        <a:rPr sz="1400" b="1"/>
                        <a:t>0.146</a:t>
                      </a:r>
                    </a:p>
                  </a:txBody>
                  <a:tcPr marL="54864" marR="54864" marT="18288" marB="18288" anchor="ctr">
                    <a:solidFill>
                      <a:srgbClr val="DEEAF4"/>
                    </a:solidFill>
                  </a:tcPr>
                </a:tc>
                <a:tc>
                  <a:txBody>
                    <a:bodyPr/>
                    <a:lstStyle/>
                    <a:p>
                      <a:pPr algn="ctr"/>
                      <a:r>
                        <a:rPr sz="1400" b="1"/>
                        <a:t>0.379</a:t>
                      </a:r>
                    </a:p>
                  </a:txBody>
                  <a:tcPr marL="54864" marR="54864" marT="18288" marB="18288" anchor="ctr">
                    <a:solidFill>
                      <a:srgbClr val="DEEAF4"/>
                    </a:solidFill>
                  </a:tcPr>
                </a:tc>
                <a:tc>
                  <a:txBody>
                    <a:bodyPr/>
                    <a:lstStyle/>
                    <a:p>
                      <a:pPr algn="ctr"/>
                      <a:r>
                        <a:rPr sz="1400" b="1"/>
                        <a:t>1462</a:t>
                      </a:r>
                    </a:p>
                  </a:txBody>
                  <a:tcPr marL="54864" marR="54864" marT="18288" marB="18288" anchor="ctr">
                    <a:solidFill>
                      <a:srgbClr val="DEEAF4"/>
                    </a:solidFill>
                  </a:tcPr>
                </a:tc>
                <a:extLst>
                  <a:ext uri="{0D108BD9-81ED-4DB2-BD59-A6C34878D82A}">
                    <a16:rowId xmlns:a16="http://schemas.microsoft.com/office/drawing/2014/main" val="10008"/>
                  </a:ext>
                </a:extLst>
              </a:tr>
              <a:tr h="310896">
                <a:tc>
                  <a:txBody>
                    <a:bodyPr/>
                    <a:lstStyle/>
                    <a:p>
                      <a:pPr algn="l"/>
                      <a:r>
                        <a:rPr sz="1400"/>
                        <a:t>PETS</a:t>
                      </a:r>
                    </a:p>
                  </a:txBody>
                  <a:tcPr marL="54864" marR="54864" marT="18288" marB="18288" anchor="ctr">
                    <a:solidFill>
                      <a:srgbClr val="FFFFFF"/>
                    </a:solidFill>
                  </a:tcPr>
                </a:tc>
                <a:tc>
                  <a:txBody>
                    <a:bodyPr/>
                    <a:lstStyle/>
                    <a:p>
                      <a:pPr algn="ctr"/>
                      <a:r>
                        <a:rPr sz="1400"/>
                        <a:t>0.372</a:t>
                      </a:r>
                    </a:p>
                  </a:txBody>
                  <a:tcPr marL="54864" marR="54864" marT="18288" marB="18288" anchor="ctr">
                    <a:solidFill>
                      <a:srgbClr val="FFFFFF"/>
                    </a:solidFill>
                  </a:tcPr>
                </a:tc>
                <a:tc>
                  <a:txBody>
                    <a:bodyPr/>
                    <a:lstStyle/>
                    <a:p>
                      <a:pPr algn="ctr"/>
                      <a:r>
                        <a:rPr sz="1400"/>
                        <a:t>0.185</a:t>
                      </a:r>
                    </a:p>
                  </a:txBody>
                  <a:tcPr marL="54864" marR="54864" marT="18288" marB="18288" anchor="ctr">
                    <a:solidFill>
                      <a:srgbClr val="FFFFFF"/>
                    </a:solidFill>
                  </a:tcPr>
                </a:tc>
                <a:tc>
                  <a:txBody>
                    <a:bodyPr/>
                    <a:lstStyle/>
                    <a:p>
                      <a:pPr algn="ctr"/>
                      <a:r>
                        <a:rPr sz="1400"/>
                        <a:t>0.269</a:t>
                      </a:r>
                    </a:p>
                  </a:txBody>
                  <a:tcPr marL="54864" marR="54864" marT="18288" marB="18288" anchor="ctr">
                    <a:solidFill>
                      <a:srgbClr val="FFFFFF"/>
                    </a:solidFill>
                  </a:tcPr>
                </a:tc>
                <a:tc>
                  <a:txBody>
                    <a:bodyPr/>
                    <a:lstStyle/>
                    <a:p>
                      <a:pPr algn="ctr"/>
                      <a:r>
                        <a:rPr sz="1400"/>
                        <a:t>0.269</a:t>
                      </a:r>
                    </a:p>
                  </a:txBody>
                  <a:tcPr marL="54864" marR="54864" marT="18288" marB="18288" anchor="ctr">
                    <a:solidFill>
                      <a:srgbClr val="FFFFFF"/>
                    </a:solidFill>
                  </a:tcPr>
                </a:tc>
                <a:tc>
                  <a:txBody>
                    <a:bodyPr/>
                    <a:lstStyle/>
                    <a:p>
                      <a:pPr algn="ctr"/>
                      <a:r>
                        <a:rPr sz="1400"/>
                        <a:t>2210</a:t>
                      </a:r>
                    </a:p>
                  </a:txBody>
                  <a:tcPr marL="54864" marR="54864" marT="18288" marB="18288" anchor="ctr">
                    <a:solidFill>
                      <a:srgbClr val="FFFFFF"/>
                    </a:solidFill>
                  </a:tcPr>
                </a:tc>
                <a:extLst>
                  <a:ext uri="{0D108BD9-81ED-4DB2-BD59-A6C34878D82A}">
                    <a16:rowId xmlns:a16="http://schemas.microsoft.com/office/drawing/2014/main" val="10009"/>
                  </a:ext>
                </a:extLst>
              </a:tr>
              <a:tr h="310896">
                <a:tc>
                  <a:txBody>
                    <a:bodyPr/>
                    <a:lstStyle/>
                    <a:p>
                      <a:pPr algn="l"/>
                      <a:r>
                        <a:rPr sz="1400"/>
                        <a:t>PETS + ours_graph</a:t>
                      </a:r>
                    </a:p>
                  </a:txBody>
                  <a:tcPr marL="54864" marR="54864" marT="18288" marB="18288" anchor="ctr">
                    <a:solidFill>
                      <a:srgbClr val="F2F2F2"/>
                    </a:solidFill>
                  </a:tcPr>
                </a:tc>
                <a:tc>
                  <a:txBody>
                    <a:bodyPr/>
                    <a:lstStyle/>
                    <a:p>
                      <a:pPr algn="ctr"/>
                      <a:r>
                        <a:rPr sz="1400"/>
                        <a:t>0.372</a:t>
                      </a:r>
                    </a:p>
                  </a:txBody>
                  <a:tcPr marL="54864" marR="54864" marT="18288" marB="18288" anchor="ctr">
                    <a:solidFill>
                      <a:srgbClr val="F2F2F2"/>
                    </a:solidFill>
                  </a:tcPr>
                </a:tc>
                <a:tc>
                  <a:txBody>
                    <a:bodyPr/>
                    <a:lstStyle/>
                    <a:p>
                      <a:pPr algn="ctr"/>
                      <a:r>
                        <a:rPr sz="1400"/>
                        <a:t>0.188</a:t>
                      </a:r>
                    </a:p>
                  </a:txBody>
                  <a:tcPr marL="54864" marR="54864" marT="18288" marB="18288" anchor="ctr">
                    <a:solidFill>
                      <a:srgbClr val="F2F2F2"/>
                    </a:solidFill>
                  </a:tcPr>
                </a:tc>
                <a:tc>
                  <a:txBody>
                    <a:bodyPr/>
                    <a:lstStyle/>
                    <a:p>
                      <a:pPr algn="ctr"/>
                      <a:r>
                        <a:rPr sz="1400"/>
                        <a:t>0.269</a:t>
                      </a:r>
                    </a:p>
                  </a:txBody>
                  <a:tcPr marL="54864" marR="54864" marT="18288" marB="18288" anchor="ctr">
                    <a:solidFill>
                      <a:srgbClr val="F2F2F2"/>
                    </a:solidFill>
                  </a:tcPr>
                </a:tc>
                <a:tc>
                  <a:txBody>
                    <a:bodyPr/>
                    <a:lstStyle/>
                    <a:p>
                      <a:pPr algn="ctr"/>
                      <a:r>
                        <a:rPr sz="1400"/>
                        <a:t>0.269</a:t>
                      </a:r>
                    </a:p>
                  </a:txBody>
                  <a:tcPr marL="54864" marR="54864" marT="18288" marB="18288" anchor="ctr">
                    <a:solidFill>
                      <a:srgbClr val="F2F2F2"/>
                    </a:solidFill>
                  </a:tcPr>
                </a:tc>
                <a:tc>
                  <a:txBody>
                    <a:bodyPr/>
                    <a:lstStyle/>
                    <a:p>
                      <a:pPr algn="ctr"/>
                      <a:r>
                        <a:rPr sz="1400"/>
                        <a:t>2210</a:t>
                      </a:r>
                    </a:p>
                  </a:txBody>
                  <a:tcPr marL="54864" marR="54864" marT="18288" marB="18288" anchor="ctr">
                    <a:solidFill>
                      <a:srgbClr val="F2F2F2"/>
                    </a:solidFill>
                  </a:tcPr>
                </a:tc>
                <a:extLst>
                  <a:ext uri="{0D108BD9-81ED-4DB2-BD59-A6C34878D82A}">
                    <a16:rowId xmlns:a16="http://schemas.microsoft.com/office/drawing/2014/main" val="10010"/>
                  </a:ext>
                </a:extLst>
              </a:tr>
            </a:tbl>
          </a:graphicData>
        </a:graphic>
      </p:graphicFrame>
      <p:sp>
        <p:nvSpPr>
          <p:cNvPr id="4" name="TextBox 3"/>
          <p:cNvSpPr txBox="1"/>
          <p:nvPr/>
        </p:nvSpPr>
        <p:spPr>
          <a:xfrm>
            <a:off x="521207" y="6035040"/>
            <a:ext cx="11155680" cy="457200"/>
          </a:xfrm>
          <a:prstGeom prst="rect">
            <a:avLst/>
          </a:prstGeom>
          <a:noFill/>
        </p:spPr>
        <p:txBody>
          <a:bodyPr wrap="square">
            <a:spAutoFit/>
          </a:bodyPr>
          <a:lstStyle/>
          <a:p>
            <a:r>
              <a:rPr sz="1300" i="1" dirty="0"/>
              <a:t>Median R² over 20 datasets. The base model is weak: in-distribution R² ≈ 0.39. </a:t>
            </a:r>
            <a:r>
              <a:rPr sz="1300" i="1" dirty="0" err="1"/>
              <a:t>lasso_graph</a:t>
            </a:r>
            <a:r>
              <a:rPr sz="1300" i="1" dirty="0"/>
              <a:t> = </a:t>
            </a:r>
            <a:r>
              <a:rPr sz="1300" i="1" dirty="0" err="1"/>
              <a:t>no_graph</a:t>
            </a:r>
            <a:r>
              <a:rPr sz="1300" i="1" dirty="0"/>
              <a:t> because of a bug: Lasso had fewer non-zero weights than the edge budget, the tie at zero opened every edge (2210 instead of 1744). To fix.</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changes from Week 11</a:t>
            </a:r>
          </a:p>
        </p:txBody>
      </p:sp>
      <p:graphicFrame>
        <p:nvGraphicFramePr>
          <p:cNvPr id="3" name="Table 2"/>
          <p:cNvGraphicFramePr>
            <a:graphicFrameLocks noGrp="1"/>
          </p:cNvGraphicFramePr>
          <p:nvPr/>
        </p:nvGraphicFramePr>
        <p:xfrm>
          <a:off x="521207" y="2514600"/>
          <a:ext cx="11155680" cy="3346704"/>
        </p:xfrm>
        <a:graphic>
          <a:graphicData uri="http://schemas.openxmlformats.org/drawingml/2006/table">
            <a:tbl>
              <a:tblPr firstRow="1" bandRow="1">
                <a:tableStyleId>{5C22544A-7EE6-4342-B048-85BDC9FD1C3A}</a:tableStyleId>
              </a:tblPr>
              <a:tblGrid>
                <a:gridCol w="4754880">
                  <a:extLst>
                    <a:ext uri="{9D8B030D-6E8A-4147-A177-3AD203B41FA5}">
                      <a16:colId xmlns:a16="http://schemas.microsoft.com/office/drawing/2014/main" val="20000"/>
                    </a:ext>
                  </a:extLst>
                </a:gridCol>
                <a:gridCol w="6400800">
                  <a:extLst>
                    <a:ext uri="{9D8B030D-6E8A-4147-A177-3AD203B41FA5}">
                      <a16:colId xmlns:a16="http://schemas.microsoft.com/office/drawing/2014/main" val="20001"/>
                    </a:ext>
                  </a:extLst>
                </a:gridCol>
              </a:tblGrid>
              <a:tr h="475488">
                <a:tc>
                  <a:txBody>
                    <a:bodyPr/>
                    <a:lstStyle/>
                    <a:p>
                      <a:pPr algn="l"/>
                      <a:r>
                        <a:rPr sz="1500" b="1">
                          <a:solidFill>
                            <a:srgbClr val="FFFFFF"/>
                          </a:solidFill>
                        </a:rPr>
                        <a:t>Week 11 claim</a:t>
                      </a:r>
                    </a:p>
                  </a:txBody>
                  <a:tcPr marL="54864" marR="54864" marT="18288" marB="18288" anchor="ctr">
                    <a:solidFill>
                      <a:srgbClr val="1A1A1A"/>
                    </a:solidFill>
                  </a:tcPr>
                </a:tc>
                <a:tc>
                  <a:txBody>
                    <a:bodyPr/>
                    <a:lstStyle/>
                    <a:p>
                      <a:pPr algn="ctr"/>
                      <a:r>
                        <a:rPr sz="1500" b="1">
                          <a:solidFill>
                            <a:srgbClr val="FFFFFF"/>
                          </a:solidFill>
                        </a:rPr>
                        <a:t>Status after this week</a:t>
                      </a:r>
                    </a:p>
                  </a:txBody>
                  <a:tcPr marL="54864" marR="54864" marT="18288" marB="18288" anchor="ctr">
                    <a:solidFill>
                      <a:srgbClr val="1A1A1A"/>
                    </a:solidFill>
                  </a:tcPr>
                </a:tc>
                <a:extLst>
                  <a:ext uri="{0D108BD9-81ED-4DB2-BD59-A6C34878D82A}">
                    <a16:rowId xmlns:a16="http://schemas.microsoft.com/office/drawing/2014/main" val="10000"/>
                  </a:ext>
                </a:extLst>
              </a:tr>
              <a:tr h="475488">
                <a:tc>
                  <a:txBody>
                    <a:bodyPr/>
                    <a:lstStyle/>
                    <a:p>
                      <a:pPr algn="l"/>
                      <a:r>
                        <a:rPr sz="1500"/>
                        <a:t>Graph beats an edge-matched random graph (0.494 vs 0.074, 20/20)</a:t>
                      </a:r>
                    </a:p>
                  </a:txBody>
                  <a:tcPr marL="54864" marR="54864" marT="18288" marB="18288" anchor="ctr">
                    <a:solidFill>
                      <a:srgbClr val="FFFFFF"/>
                    </a:solidFill>
                  </a:tcPr>
                </a:tc>
                <a:tc>
                  <a:txBody>
                    <a:bodyPr/>
                    <a:lstStyle/>
                    <a:p>
                      <a:pPr algn="ctr"/>
                      <a:r>
                        <a:rPr sz="1500"/>
                        <a:t>Not tested fairly this week — the graph could not prune</a:t>
                      </a:r>
                    </a:p>
                  </a:txBody>
                  <a:tcPr marL="54864" marR="54864" marT="18288" marB="18288" anchor="ctr">
                    <a:solidFill>
                      <a:srgbClr val="FFFFFF"/>
                    </a:solidFill>
                  </a:tcPr>
                </a:tc>
                <a:extLst>
                  <a:ext uri="{0D108BD9-81ED-4DB2-BD59-A6C34878D82A}">
                    <a16:rowId xmlns:a16="http://schemas.microsoft.com/office/drawing/2014/main" val="10001"/>
                  </a:ext>
                </a:extLst>
              </a:tr>
              <a:tr h="475488">
                <a:tc>
                  <a:txBody>
                    <a:bodyPr/>
                    <a:lstStyle/>
                    <a:p>
                      <a:pPr algn="l"/>
                      <a:r>
                        <a:rPr sz="1500"/>
                        <a:t>Graph transfers to PETS (0.211 → 0.383, 18/20)</a:t>
                      </a:r>
                    </a:p>
                  </a:txBody>
                  <a:tcPr marL="54864" marR="54864" marT="18288" marB="18288" anchor="ctr">
                    <a:solidFill>
                      <a:srgbClr val="F2F2F2"/>
                    </a:solidFill>
                  </a:tcPr>
                </a:tc>
                <a:tc>
                  <a:txBody>
                    <a:bodyPr/>
                    <a:lstStyle/>
                    <a:p>
                      <a:pPr algn="ctr"/>
                      <a:r>
                        <a:rPr sz="1500"/>
                        <a:t>0 here — the graph keeps every input, so PETS sees no change</a:t>
                      </a:r>
                    </a:p>
                  </a:txBody>
                  <a:tcPr marL="54864" marR="54864" marT="18288" marB="18288" anchor="ctr">
                    <a:solidFill>
                      <a:srgbClr val="F2F2F2"/>
                    </a:solidFill>
                  </a:tcPr>
                </a:tc>
                <a:extLst>
                  <a:ext uri="{0D108BD9-81ED-4DB2-BD59-A6C34878D82A}">
                    <a16:rowId xmlns:a16="http://schemas.microsoft.com/office/drawing/2014/main" val="10002"/>
                  </a:ext>
                </a:extLst>
              </a:tr>
              <a:tr h="475488">
                <a:tc>
                  <a:txBody>
                    <a:bodyPr/>
                    <a:lstStyle/>
                    <a:p>
                      <a:pPr algn="l"/>
                      <a:r>
                        <a:rPr sz="1500"/>
                        <a:t>Twin rollout gives the exact causal effect</a:t>
                      </a:r>
                    </a:p>
                  </a:txBody>
                  <a:tcPr marL="54864" marR="54864" marT="18288" marB="18288" anchor="ctr">
                    <a:solidFill>
                      <a:srgbClr val="FFFFFF"/>
                    </a:solidFill>
                  </a:tcPr>
                </a:tc>
                <a:tc>
                  <a:txBody>
                    <a:bodyPr/>
                    <a:lstStyle/>
                    <a:p>
                      <a:pPr algn="ctr"/>
                      <a:r>
                        <a:rPr sz="1500"/>
                        <a:t>Must be qualified: 15–33% of pairs are perturbed</a:t>
                      </a:r>
                    </a:p>
                  </a:txBody>
                  <a:tcPr marL="54864" marR="54864" marT="18288" marB="18288" anchor="ctr">
                    <a:solidFill>
                      <a:srgbClr val="FFFFFF"/>
                    </a:solidFill>
                  </a:tcPr>
                </a:tc>
                <a:extLst>
                  <a:ext uri="{0D108BD9-81ED-4DB2-BD59-A6C34878D82A}">
                    <a16:rowId xmlns:a16="http://schemas.microsoft.com/office/drawing/2014/main" val="10003"/>
                  </a:ext>
                </a:extLst>
              </a:tr>
              <a:tr h="475488">
                <a:tc>
                  <a:txBody>
                    <a:bodyPr/>
                    <a:lstStyle/>
                    <a:p>
                      <a:pPr algn="l"/>
                      <a:r>
                        <a:rPr sz="1500"/>
                        <a:t>Colour is a decoy (effect ≈ 0)</a:t>
                      </a:r>
                    </a:p>
                  </a:txBody>
                  <a:tcPr marL="54864" marR="54864" marT="18288" marB="18288" anchor="ctr">
                    <a:solidFill>
                      <a:srgbClr val="F2F2F2"/>
                    </a:solidFill>
                  </a:tcPr>
                </a:tc>
                <a:tc>
                  <a:txBody>
                    <a:bodyPr/>
                    <a:lstStyle/>
                    <a:p>
                      <a:pPr algn="ctr"/>
                      <a:r>
                        <a:rPr sz="1500"/>
                        <a:t>True per episode, false across thousands of pairs</a:t>
                      </a:r>
                    </a:p>
                  </a:txBody>
                  <a:tcPr marL="54864" marR="54864" marT="18288" marB="18288" anchor="ctr">
                    <a:solidFill>
                      <a:srgbClr val="F2F2F2"/>
                    </a:solidFill>
                  </a:tcPr>
                </a:tc>
                <a:extLst>
                  <a:ext uri="{0D108BD9-81ED-4DB2-BD59-A6C34878D82A}">
                    <a16:rowId xmlns:a16="http://schemas.microsoft.com/office/drawing/2014/main" val="10004"/>
                  </a:ext>
                </a:extLst>
              </a:tr>
              <a:tr h="475488">
                <a:tc>
                  <a:txBody>
                    <a:bodyPr/>
                    <a:lstStyle/>
                    <a:p>
                      <a:pPr algn="l"/>
                      <a:r>
                        <a:rPr sz="1500"/>
                        <a:t>Threshold choice matters (action rerun)</a:t>
                      </a:r>
                    </a:p>
                  </a:txBody>
                  <a:tcPr marL="54864" marR="54864" marT="18288" marB="18288" anchor="ctr">
                    <a:solidFill>
                      <a:srgbClr val="FFFFFF"/>
                    </a:solidFill>
                  </a:tcPr>
                </a:tc>
                <a:tc>
                  <a:txBody>
                    <a:bodyPr/>
                    <a:lstStyle/>
                    <a:p>
                      <a:pPr algn="ctr"/>
                      <a:r>
                        <a:rPr sz="1500"/>
                        <a:t>Strengthened (τ rule vs permutation: 17/20)</a:t>
                      </a:r>
                    </a:p>
                  </a:txBody>
                  <a:tcPr marL="54864" marR="54864" marT="18288" marB="18288" anchor="ctr">
                    <a:solidFill>
                      <a:srgbClr val="FFFFFF"/>
                    </a:solidFill>
                  </a:tcPr>
                </a:tc>
                <a:extLst>
                  <a:ext uri="{0D108BD9-81ED-4DB2-BD59-A6C34878D82A}">
                    <a16:rowId xmlns:a16="http://schemas.microsoft.com/office/drawing/2014/main" val="10005"/>
                  </a:ext>
                </a:extLst>
              </a:tr>
              <a:tr h="475488">
                <a:tc>
                  <a:txBody>
                    <a:bodyPr/>
                    <a:lstStyle/>
                    <a:p>
                      <a:pPr algn="l"/>
                      <a:r>
                        <a:rPr sz="1500"/>
                        <a:t>Week 11 R² values</a:t>
                      </a:r>
                    </a:p>
                  </a:txBody>
                  <a:tcPr marL="54864" marR="54864" marT="18288" marB="18288" anchor="ctr">
                    <a:solidFill>
                      <a:srgbClr val="F2F2F2"/>
                    </a:solidFill>
                  </a:tcPr>
                </a:tc>
                <a:tc>
                  <a:txBody>
                    <a:bodyPr/>
                    <a:lstStyle/>
                    <a:p>
                      <a:pPr algn="ctr"/>
                      <a:r>
                        <a:rPr sz="1500"/>
                        <a:t>To recheck: outputs included static copies (e.g. block size)</a:t>
                      </a:r>
                    </a:p>
                  </a:txBody>
                  <a:tcPr marL="54864" marR="54864" marT="18288" marB="18288" anchor="ctr">
                    <a:solidFill>
                      <a:srgbClr val="F2F2F2"/>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Summary</a:t>
            </a:r>
          </a:p>
        </p:txBody>
      </p:sp>
      <p:sp>
        <p:nvSpPr>
          <p:cNvPr id="3" name="Content Placeholder 2"/>
          <p:cNvSpPr>
            <a:spLocks noGrp="1"/>
          </p:cNvSpPr>
          <p:nvPr>
            <p:ph idx="1"/>
          </p:nvPr>
        </p:nvSpPr>
        <p:spPr>
          <a:xfrm>
            <a:off x="363415" y="1934307"/>
            <a:ext cx="11155680" cy="0"/>
          </a:xfrm>
        </p:spPr>
        <p:txBody>
          <a:bodyPr>
            <a:noAutofit/>
          </a:bodyPr>
          <a:lstStyle/>
          <a:p>
            <a:r>
              <a:rPr sz="2000" b="1" dirty="0"/>
              <a:t>What we know</a:t>
            </a:r>
          </a:p>
          <a:p>
            <a:pPr lvl="1"/>
            <a:r>
              <a:rPr sz="2000" dirty="0"/>
              <a:t>When only the body goes out of range, reading it is worse than ignoring it (20/20)</a:t>
            </a:r>
          </a:p>
          <a:p>
            <a:pPr lvl="1"/>
            <a:r>
              <a:rPr sz="2000" dirty="0"/>
              <a:t>That is a </a:t>
            </a:r>
            <a:r>
              <a:rPr sz="2000" b="1" dirty="0"/>
              <a:t>mechanism</a:t>
            </a:r>
            <a:r>
              <a:rPr sz="2000" dirty="0"/>
              <a:t> failure (no extrapolation), not a wrong graph</a:t>
            </a:r>
          </a:p>
          <a:p>
            <a:r>
              <a:rPr sz="2000" b="1" dirty="0"/>
              <a:t>What we do not know yet</a:t>
            </a:r>
          </a:p>
          <a:p>
            <a:pPr lvl="1"/>
            <a:r>
              <a:rPr sz="2000" dirty="0"/>
              <a:t>Whether a </a:t>
            </a:r>
            <a:r>
              <a:rPr sz="2000" b="1" dirty="0"/>
              <a:t>correct</a:t>
            </a:r>
            <a:r>
              <a:rPr sz="2000" dirty="0"/>
              <a:t> graph (cutting the 3 dead links and the </a:t>
            </a:r>
            <a:r>
              <a:rPr sz="2000" dirty="0" err="1"/>
              <a:t>colours</a:t>
            </a:r>
            <a:r>
              <a:rPr sz="2000" dirty="0"/>
              <a:t>) beats no graph on a body shift</a:t>
            </a:r>
          </a:p>
          <a:p>
            <a:pPr lvl="1"/>
            <a:r>
              <a:rPr sz="2000" dirty="0"/>
              <a:t>That is the direct test of our hypothesis in this setting</a:t>
            </a:r>
          </a:p>
          <a:p>
            <a:r>
              <a:rPr sz="2000" b="1" dirty="0"/>
              <a:t>What we learned about the method</a:t>
            </a:r>
          </a:p>
          <a:p>
            <a:pPr lvl="1"/>
            <a:r>
              <a:rPr sz="2000" dirty="0"/>
              <a:t>Twin rollouts are not exact in </a:t>
            </a:r>
            <a:r>
              <a:rPr sz="2000" dirty="0" err="1"/>
              <a:t>CausalWorld</a:t>
            </a:r>
            <a:r>
              <a:rPr sz="2000" dirty="0"/>
              <a:t>; the edge threshold must be robust to that noise floor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Next steps</a:t>
            </a:r>
          </a:p>
        </p:txBody>
      </p:sp>
      <p:sp>
        <p:nvSpPr>
          <p:cNvPr id="3" name="Content Placeholder 2"/>
          <p:cNvSpPr>
            <a:spLocks noGrp="1"/>
          </p:cNvSpPr>
          <p:nvPr>
            <p:ph idx="1"/>
          </p:nvPr>
        </p:nvSpPr>
        <p:spPr>
          <a:xfrm>
            <a:off x="298939" y="1858108"/>
            <a:ext cx="11155680" cy="0"/>
          </a:xfrm>
        </p:spPr>
        <p:txBody>
          <a:bodyPr>
            <a:noAutofit/>
          </a:bodyPr>
          <a:lstStyle/>
          <a:p>
            <a:r>
              <a:rPr sz="2000" b="1" dirty="0"/>
              <a:t>1. Fix the twin rollouts</a:t>
            </a:r>
            <a:r>
              <a:rPr sz="2000" dirty="0"/>
              <a:t> — same-value intervention in both branches; null–null must give exactly 0</a:t>
            </a:r>
          </a:p>
          <a:p>
            <a:r>
              <a:rPr sz="2000" b="1" dirty="0"/>
              <a:t>2. Test the hypothesis directly</a:t>
            </a:r>
            <a:r>
              <a:rPr sz="2000" dirty="0"/>
              <a:t> on the body shift, three arms:</a:t>
            </a:r>
          </a:p>
          <a:p>
            <a:pPr lvl="1"/>
            <a:r>
              <a:rPr sz="2000" dirty="0" err="1"/>
              <a:t>no_graph</a:t>
            </a:r>
            <a:r>
              <a:rPr sz="2000" dirty="0"/>
              <a:t>  vs  </a:t>
            </a:r>
            <a:r>
              <a:rPr sz="2000" b="1" dirty="0"/>
              <a:t>correct graph</a:t>
            </a:r>
            <a:r>
              <a:rPr sz="2000" dirty="0"/>
              <a:t> (cut 3 dead links + </a:t>
            </a:r>
            <a:r>
              <a:rPr sz="2000" dirty="0" err="1"/>
              <a:t>colours</a:t>
            </a:r>
            <a:r>
              <a:rPr sz="2000" dirty="0"/>
              <a:t>)  vs  ignore all body inputs</a:t>
            </a:r>
          </a:p>
          <a:p>
            <a:pPr lvl="1"/>
            <a:r>
              <a:rPr sz="2000" dirty="0"/>
              <a:t>correct vs </a:t>
            </a:r>
            <a:r>
              <a:rPr sz="2000" dirty="0" err="1"/>
              <a:t>no_graph</a:t>
            </a:r>
            <a:r>
              <a:rPr sz="2000" dirty="0"/>
              <a:t> → does the graph help?   correct vs ignore-all → cost of the mechanism</a:t>
            </a:r>
          </a:p>
          <a:p>
            <a:r>
              <a:rPr sz="2000" b="1" dirty="0"/>
              <a:t>3. Interpolation split</a:t>
            </a:r>
            <a:r>
              <a:rPr sz="2000" dirty="0"/>
              <a:t> — train on both ends of the mass range, test in the middle</a:t>
            </a:r>
          </a:p>
          <a:p>
            <a:r>
              <a:rPr sz="2000" b="1" dirty="0"/>
              <a:t>4. Stronger base model</a:t>
            </a:r>
            <a:r>
              <a:rPr sz="2000" dirty="0"/>
              <a:t> — predict displacement; in-distribution R² is only 0.39</a:t>
            </a:r>
          </a:p>
          <a:p>
            <a:r>
              <a:rPr sz="2000" b="1" dirty="0"/>
              <a:t>5. Recheck Week 11</a:t>
            </a:r>
            <a:r>
              <a:rPr sz="2000" dirty="0"/>
              <a:t> without static outputs — cached data, no new collection</a:t>
            </a:r>
          </a:p>
        </p:txBody>
      </p:sp>
    </p:spTree>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55</TotalTime>
  <Words>2667</Words>
  <Application>Microsoft Office PowerPoint</Application>
  <PresentationFormat>Widescreen</PresentationFormat>
  <Paragraphs>326</Paragraphs>
  <Slides>13</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Arial</vt:lpstr>
      <vt:lpstr>Bierstadt</vt:lpstr>
      <vt:lpstr>Neue Haas Grotesk Text Pro</vt:lpstr>
      <vt:lpstr>GestaltVTI</vt:lpstr>
      <vt:lpstr>Week 13</vt:lpstr>
      <vt:lpstr>The morphology experiment</vt:lpstr>
      <vt:lpstr>Fixes before this run</vt:lpstr>
      <vt:lpstr>Can we trust the pipeline?</vt:lpstr>
      <vt:lpstr>Result 1: the mechanism fails</vt:lpstr>
      <vt:lpstr>What can a graph do?</vt:lpstr>
      <vt:lpstr>An unfair test for the graph</vt:lpstr>
      <vt:lpstr>Result 2: twins are not exact</vt:lpstr>
      <vt:lpstr>Result 3: the threshold</vt:lpstr>
      <vt:lpstr>Full results</vt:lpstr>
      <vt:lpstr>What changes from Week 11</vt:lpstr>
      <vt:lpstr>Summary</vt:lpstr>
      <vt:lpstr>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Chu Lin</dc:creator>
  <cp:lastModifiedBy>Chu Lin</cp:lastModifiedBy>
  <cp:revision>1</cp:revision>
  <dcterms:created xsi:type="dcterms:W3CDTF">2026-09-17T00:01:16Z</dcterms:created>
  <dcterms:modified xsi:type="dcterms:W3CDTF">2026-09-25T23:00:18Z</dcterms:modified>
</cp:coreProperties>
</file>