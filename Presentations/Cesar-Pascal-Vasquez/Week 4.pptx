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e Jour Serif" charset="1" panose="02000500000000000000"/>
      <p:regular r:id="rId14"/>
    </p:embeddedFont>
    <p:embeddedFont>
      <p:font typeface="Alta" charset="1" panose="02000503000000000000"/>
      <p:regular r:id="rId15"/>
    </p:embeddedFont>
    <p:embeddedFont>
      <p:font typeface="Times New Roman" charset="1" panose="02020603050405020304"/>
      <p:regular r:id="rId16"/>
    </p:embeddedFont>
    <p:embeddedFont>
      <p:font typeface="Open Sans" charset="1" panose="020B0606030504020204"/>
      <p:regular r:id="rId17"/>
    </p:embeddedFont>
    <p:embeddedFont>
      <p:font typeface="Times New Roman Bold" charset="1" panose="020208030705050203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VAHCe8V8JNw.mp4" Type="http://schemas.openxmlformats.org/officeDocument/2006/relationships/video"/><Relationship Id="rId4" Target="../media/VAHCe8V8JNw.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s://mujoco.readthedocs.io"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548782" y="3638133"/>
            <a:ext cx="13190436" cy="1524835"/>
          </a:xfrm>
          <a:prstGeom prst="rect">
            <a:avLst/>
          </a:prstGeom>
        </p:spPr>
        <p:txBody>
          <a:bodyPr anchor="t" rtlCol="false" tIns="0" lIns="0" bIns="0" rIns="0">
            <a:spAutoFit/>
          </a:bodyPr>
          <a:lstStyle/>
          <a:p>
            <a:pPr algn="ctr">
              <a:lnSpc>
                <a:spcPts val="11956"/>
              </a:lnSpc>
            </a:pPr>
            <a:r>
              <a:rPr lang="en-US" sz="10219" spc="1400">
                <a:solidFill>
                  <a:srgbClr val="FFFFFF"/>
                </a:solidFill>
                <a:latin typeface="Le Jour Serif"/>
                <a:ea typeface="Le Jour Serif"/>
                <a:cs typeface="Le Jour Serif"/>
                <a:sym typeface="Le Jour Serif"/>
              </a:rPr>
              <a:t>WEEK 4</a:t>
            </a:r>
          </a:p>
        </p:txBody>
      </p:sp>
      <p:sp>
        <p:nvSpPr>
          <p:cNvPr name="TextBox 4" id="4"/>
          <p:cNvSpPr txBox="true"/>
          <p:nvPr/>
        </p:nvSpPr>
        <p:spPr>
          <a:xfrm rot="0">
            <a:off x="5819851" y="8770620"/>
            <a:ext cx="6648299" cy="487680"/>
          </a:xfrm>
          <a:prstGeom prst="rect">
            <a:avLst/>
          </a:prstGeom>
        </p:spPr>
        <p:txBody>
          <a:bodyPr anchor="t" rtlCol="false" tIns="0" lIns="0" bIns="0" rIns="0">
            <a:spAutoFit/>
          </a:bodyPr>
          <a:lstStyle/>
          <a:p>
            <a:pPr algn="ctr">
              <a:lnSpc>
                <a:spcPts val="3509"/>
              </a:lnSpc>
            </a:pPr>
            <a:r>
              <a:rPr lang="en-US" sz="3000" spc="410">
                <a:solidFill>
                  <a:srgbClr val="FFFFFF"/>
                </a:solidFill>
                <a:latin typeface="Alta"/>
                <a:ea typeface="Alta"/>
                <a:cs typeface="Alta"/>
                <a:sym typeface="Alta"/>
              </a:rPr>
              <a:t>CESAR A. PASCAL</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30773" y="3977682"/>
            <a:ext cx="17626454" cy="4619908"/>
          </a:xfrm>
          <a:prstGeom prst="rect">
            <a:avLst/>
          </a:prstGeom>
        </p:spPr>
        <p:txBody>
          <a:bodyPr anchor="t" rtlCol="false" tIns="0" lIns="0" bIns="0" rIns="0">
            <a:spAutoFit/>
          </a:bodyPr>
          <a:lstStyle/>
          <a:p>
            <a:pPr algn="ctr">
              <a:lnSpc>
                <a:spcPts val="4587"/>
              </a:lnSpc>
            </a:pPr>
            <a:r>
              <a:rPr lang="en-US" sz="3277">
                <a:solidFill>
                  <a:srgbClr val="FFFFFF"/>
                </a:solidFill>
                <a:latin typeface="Times New Roman"/>
                <a:ea typeface="Times New Roman"/>
                <a:cs typeface="Times New Roman"/>
                <a:sym typeface="Times New Roman"/>
              </a:rPr>
              <a:t>Following the focus of the previous week, I worked on advancing the training process of the Unitree G1 model by using existing walking data instead of training from scratch. I integrated the data into the training pipeline, </a:t>
            </a:r>
            <a:r>
              <a:rPr lang="en-US" sz="3277">
                <a:solidFill>
                  <a:srgbClr val="FFFFFF"/>
                </a:solidFill>
                <a:latin typeface="Times New Roman"/>
                <a:ea typeface="Times New Roman"/>
                <a:cs typeface="Times New Roman"/>
                <a:sym typeface="Times New Roman"/>
              </a:rPr>
              <a:t>adjusted the GRU-based policy to better match the G1 configuration, and tested the results in MuJoCo to evaluate walking stability and motion quality.</a:t>
            </a:r>
          </a:p>
          <a:p>
            <a:pPr algn="ctr">
              <a:lnSpc>
                <a:spcPts val="4587"/>
              </a:lnSpc>
            </a:pPr>
          </a:p>
          <a:p>
            <a:pPr algn="ctr">
              <a:lnSpc>
                <a:spcPts val="4587"/>
              </a:lnSpc>
            </a:pPr>
          </a:p>
          <a:p>
            <a:pPr algn="ctr">
              <a:lnSpc>
                <a:spcPts val="4587"/>
              </a:lnSpc>
            </a:pPr>
          </a:p>
          <a:p>
            <a:pPr algn="ctr">
              <a:lnSpc>
                <a:spcPts val="4587"/>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351852" y="2800879"/>
            <a:ext cx="17584297" cy="4609041"/>
          </a:xfrm>
          <a:prstGeom prst="rect">
            <a:avLst/>
          </a:prstGeom>
        </p:spPr>
        <p:txBody>
          <a:bodyPr anchor="t" rtlCol="false" tIns="0" lIns="0" bIns="0" rIns="0">
            <a:spAutoFit/>
          </a:bodyPr>
          <a:lstStyle/>
          <a:p>
            <a:pPr algn="ctr">
              <a:lnSpc>
                <a:spcPts val="4576"/>
              </a:lnSpc>
            </a:pPr>
            <a:r>
              <a:rPr lang="en-US" sz="3269">
                <a:solidFill>
                  <a:srgbClr val="FFFFFF"/>
                </a:solidFill>
                <a:latin typeface="Times New Roman"/>
                <a:ea typeface="Times New Roman"/>
                <a:cs typeface="Times New Roman"/>
                <a:sym typeface="Times New Roman"/>
              </a:rPr>
              <a:t>The training uses behavior cloning to teach </a:t>
            </a:r>
            <a:r>
              <a:rPr lang="en-US" sz="3269">
                <a:solidFill>
                  <a:srgbClr val="FFFFFF"/>
                </a:solidFill>
                <a:latin typeface="Times New Roman"/>
                <a:ea typeface="Times New Roman"/>
                <a:cs typeface="Times New Roman"/>
                <a:sym typeface="Times New Roman"/>
              </a:rPr>
              <a:t>a GRU (Gated Recurrent Unit) neural network to imitate the expert walking policy recorded in the dataset. The CSV data is loaded, observation features are normalized, and the time-series data is converted into fixed-length sequences so the GRU can learn temporal dependencies across timesteps. During each epoch, batches of sequences are passed through the network, which predicts joint actions. The predicted actions are compared to the expert actions using mean squared error loss, and gradients are computed through backpropagation. The optimizer updates the network weights over many epochs, allowing the GRU to learn gait timing, coordination, and stabilization through its recurrent memory mechanism.</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459720" y="420947"/>
            <a:ext cx="13368561" cy="1623694"/>
          </a:xfrm>
          <a:prstGeom prst="rect">
            <a:avLst/>
          </a:prstGeom>
        </p:spPr>
        <p:txBody>
          <a:bodyPr anchor="t" rtlCol="false" tIns="0" lIns="0" bIns="0" rIns="0">
            <a:spAutoFit/>
          </a:bodyPr>
          <a:lstStyle/>
          <a:p>
            <a:pPr algn="ctr">
              <a:lnSpc>
                <a:spcPts val="12880"/>
              </a:lnSpc>
            </a:pPr>
            <a:r>
              <a:rPr lang="en-US" sz="9200">
                <a:solidFill>
                  <a:srgbClr val="FFFFFF"/>
                </a:solidFill>
                <a:latin typeface="Times New Roman"/>
                <a:ea typeface="Times New Roman"/>
                <a:cs typeface="Times New Roman"/>
                <a:sym typeface="Times New Roman"/>
              </a:rPr>
              <a:t>Why GRU over other RNN?</a:t>
            </a:r>
          </a:p>
        </p:txBody>
      </p:sp>
      <p:sp>
        <p:nvSpPr>
          <p:cNvPr name="TextBox 3" id="3"/>
          <p:cNvSpPr txBox="true"/>
          <p:nvPr/>
        </p:nvSpPr>
        <p:spPr>
          <a:xfrm rot="0">
            <a:off x="587831" y="3276912"/>
            <a:ext cx="17412843" cy="5698037"/>
          </a:xfrm>
          <a:prstGeom prst="rect">
            <a:avLst/>
          </a:prstGeom>
        </p:spPr>
        <p:txBody>
          <a:bodyPr anchor="t" rtlCol="false" tIns="0" lIns="0" bIns="0" rIns="0">
            <a:spAutoFit/>
          </a:bodyPr>
          <a:lstStyle/>
          <a:p>
            <a:pPr algn="ctr">
              <a:lnSpc>
                <a:spcPts val="4532"/>
              </a:lnSpc>
            </a:pPr>
            <a:r>
              <a:rPr lang="en-US" sz="3237">
                <a:solidFill>
                  <a:srgbClr val="FFFFFF"/>
                </a:solidFill>
                <a:latin typeface="Open Sans"/>
                <a:ea typeface="Open Sans"/>
                <a:cs typeface="Open Sans"/>
                <a:sym typeface="Open Sans"/>
              </a:rPr>
              <a:t>A Simple Recurrent Neural Network (RNN) suffers from several limitations, including vanishing gradients, exploding gradients, and short-term memory issues that make it difficult to capture long-term dependencies. The Gated Recurrent Unit (GRU) addresses these problems by introducing gating mechanisms that regulate information flow through the network. Compared to the Long Short-Term Memory network (LSTM), the GRU is simpler in architecture, computationally faster, and generally more stable during training.</a:t>
            </a:r>
          </a:p>
          <a:p>
            <a:pPr algn="ctr">
              <a:lnSpc>
                <a:spcPts val="4532"/>
              </a:lnSpc>
            </a:pPr>
          </a:p>
          <a:p>
            <a:pPr algn="ctr">
              <a:lnSpc>
                <a:spcPts val="4532"/>
              </a:lnSpc>
            </a:pPr>
          </a:p>
          <a:p>
            <a:pPr algn="ctr">
              <a:lnSpc>
                <a:spcPts val="4532"/>
              </a:lnSpc>
            </a:pPr>
          </a:p>
          <a:p>
            <a:pPr algn="ctr">
              <a:lnSpc>
                <a:spcPts val="453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3421117" y="1028700"/>
            <a:ext cx="11445766" cy="82296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Freeform 2" id="2"/>
          <p:cNvSpPr/>
          <p:nvPr/>
        </p:nvSpPr>
        <p:spPr>
          <a:xfrm flipH="false" flipV="false" rot="0">
            <a:off x="5879363" y="412354"/>
            <a:ext cx="5777148" cy="9462292"/>
          </a:xfrm>
          <a:custGeom>
            <a:avLst/>
            <a:gdLst/>
            <a:ahLst/>
            <a:cxnLst/>
            <a:rect r="r" b="b" t="t" l="l"/>
            <a:pathLst>
              <a:path h="9462292" w="5777148">
                <a:moveTo>
                  <a:pt x="0" y="0"/>
                </a:moveTo>
                <a:lnTo>
                  <a:pt x="5777148" y="0"/>
                </a:lnTo>
                <a:lnTo>
                  <a:pt x="5777148" y="9462292"/>
                </a:lnTo>
                <a:lnTo>
                  <a:pt x="0" y="9462292"/>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171451" y="3758607"/>
            <a:ext cx="18288000" cy="4432300"/>
          </a:xfrm>
          <a:prstGeom prst="rect">
            <a:avLst/>
          </a:prstGeom>
        </p:spPr>
        <p:txBody>
          <a:bodyPr anchor="t" rtlCol="false" tIns="0" lIns="0" bIns="0" rIns="0">
            <a:spAutoFit/>
          </a:bodyPr>
          <a:lstStyle/>
          <a:p>
            <a:pPr algn="ctr">
              <a:lnSpc>
                <a:spcPts val="6439"/>
              </a:lnSpc>
            </a:pPr>
            <a:r>
              <a:rPr lang="en-US" sz="4599" b="true">
                <a:solidFill>
                  <a:srgbClr val="FFFFFF"/>
                </a:solidFill>
                <a:latin typeface="Times New Roman Bold"/>
                <a:ea typeface="Times New Roman Bold"/>
                <a:cs typeface="Times New Roman Bold"/>
                <a:sym typeface="Times New Roman Bold"/>
              </a:rPr>
              <a:t>Next steps: </a:t>
            </a:r>
          </a:p>
          <a:p>
            <a:pPr algn="ctr">
              <a:lnSpc>
                <a:spcPts val="4759"/>
              </a:lnSpc>
            </a:pPr>
            <a:r>
              <a:rPr lang="en-US" sz="3399">
                <a:solidFill>
                  <a:srgbClr val="FFFFFF"/>
                </a:solidFill>
                <a:latin typeface="Times New Roman"/>
                <a:ea typeface="Times New Roman"/>
                <a:cs typeface="Times New Roman"/>
                <a:sym typeface="Times New Roman"/>
              </a:rPr>
              <a:t>explore upper body mobility (arms </a:t>
            </a:r>
            <a:r>
              <a:rPr lang="en-US" sz="3399">
                <a:solidFill>
                  <a:srgbClr val="FFFFFF"/>
                </a:solidFill>
                <a:latin typeface="Times New Roman"/>
                <a:ea typeface="Times New Roman"/>
                <a:cs typeface="Times New Roman"/>
                <a:sym typeface="Times New Roman"/>
              </a:rPr>
              <a:t>and torso) and investigate additional MuJoCo functionalities to expand the model’s control capabilities and simulation features.</a:t>
            </a:r>
          </a:p>
          <a:p>
            <a:pPr algn="ctr">
              <a:lnSpc>
                <a:spcPts val="4759"/>
              </a:lnSpc>
            </a:pPr>
          </a:p>
          <a:p>
            <a:pPr algn="ctr">
              <a:lnSpc>
                <a:spcPts val="4759"/>
              </a:lnSpc>
            </a:pPr>
          </a:p>
          <a:p>
            <a:pPr algn="ctr">
              <a:lnSpc>
                <a:spcPts val="4759"/>
              </a:lnSpc>
            </a:pPr>
          </a:p>
          <a:p>
            <a:pPr algn="ctr">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11111"/>
        </a:solidFill>
      </p:bgPr>
    </p:bg>
    <p:spTree>
      <p:nvGrpSpPr>
        <p:cNvPr id="1" name=""/>
        <p:cNvGrpSpPr/>
        <p:nvPr/>
      </p:nvGrpSpPr>
      <p:grpSpPr>
        <a:xfrm>
          <a:off x="0" y="0"/>
          <a:ext cx="0" cy="0"/>
          <a:chOff x="0" y="0"/>
          <a:chExt cx="0" cy="0"/>
        </a:xfrm>
      </p:grpSpPr>
      <p:sp>
        <p:nvSpPr>
          <p:cNvPr name="TextBox 2" id="2"/>
          <p:cNvSpPr txBox="true"/>
          <p:nvPr/>
        </p:nvSpPr>
        <p:spPr>
          <a:xfrm rot="0">
            <a:off x="266914" y="1684871"/>
            <a:ext cx="17754173" cy="6395582"/>
          </a:xfrm>
          <a:prstGeom prst="rect">
            <a:avLst/>
          </a:prstGeom>
        </p:spPr>
        <p:txBody>
          <a:bodyPr anchor="t" rtlCol="false" tIns="0" lIns="0" bIns="0" rIns="0">
            <a:spAutoFit/>
          </a:bodyPr>
          <a:lstStyle/>
          <a:p>
            <a:pPr algn="ctr">
              <a:lnSpc>
                <a:spcPts val="3672"/>
              </a:lnSpc>
            </a:pPr>
            <a:r>
              <a:rPr lang="en-US" sz="2622">
                <a:solidFill>
                  <a:srgbClr val="FFFFFF"/>
                </a:solidFill>
                <a:latin typeface="Times New Roman"/>
                <a:ea typeface="Times New Roman"/>
                <a:cs typeface="Times New Roman"/>
                <a:sym typeface="Times New Roman"/>
              </a:rPr>
              <a:t>References</a:t>
            </a:r>
          </a:p>
          <a:p>
            <a:pPr algn="l">
              <a:lnSpc>
                <a:spcPts val="3672"/>
              </a:lnSpc>
            </a:pPr>
            <a:r>
              <a:rPr lang="en-US" sz="2622">
                <a:solidFill>
                  <a:srgbClr val="FFFFFF"/>
                </a:solidFill>
                <a:latin typeface="Times New Roman"/>
                <a:ea typeface="Times New Roman"/>
                <a:cs typeface="Times New Roman"/>
                <a:sym typeface="Times New Roman"/>
              </a:rPr>
              <a:t>Cho, K., van Merriënboer, B., Bahdanau, D., &amp; Bengio, Y. (2014). Learning Phrase Representations using RNN Encoder–Decoder for Statistical Machine Translation. arXiv:1406.1078.</a:t>
            </a:r>
          </a:p>
          <a:p>
            <a:pPr algn="l">
              <a:lnSpc>
                <a:spcPts val="3672"/>
              </a:lnSpc>
            </a:pPr>
            <a:r>
              <a:rPr lang="en-US" sz="2622">
                <a:solidFill>
                  <a:srgbClr val="FFFFFF"/>
                </a:solidFill>
                <a:latin typeface="Times New Roman"/>
                <a:ea typeface="Times New Roman"/>
                <a:cs typeface="Times New Roman"/>
                <a:sym typeface="Times New Roman"/>
              </a:rPr>
              <a:t> </a:t>
            </a:r>
          </a:p>
          <a:p>
            <a:pPr algn="l">
              <a:lnSpc>
                <a:spcPts val="3672"/>
              </a:lnSpc>
            </a:pPr>
            <a:r>
              <a:rPr lang="en-US" sz="2622">
                <a:solidFill>
                  <a:srgbClr val="FFFFFF"/>
                </a:solidFill>
                <a:latin typeface="Times New Roman"/>
                <a:ea typeface="Times New Roman"/>
                <a:cs typeface="Times New Roman"/>
                <a:sym typeface="Times New Roman"/>
              </a:rPr>
              <a:t>Paszke, A., Gross, S., Massa, F., et al. (2019). PyTorch: An Imperative Style, High-Performance Deep Learning Library. Advances in Neural Information Processing Systems (NeurIPS).</a:t>
            </a:r>
          </a:p>
          <a:p>
            <a:pPr algn="l">
              <a:lnSpc>
                <a:spcPts val="3672"/>
              </a:lnSpc>
            </a:pPr>
            <a:r>
              <a:rPr lang="en-US" sz="2622">
                <a:solidFill>
                  <a:srgbClr val="FFFFFF"/>
                </a:solidFill>
                <a:latin typeface="Times New Roman"/>
                <a:ea typeface="Times New Roman"/>
                <a:cs typeface="Times New Roman"/>
                <a:sym typeface="Times New Roman"/>
              </a:rPr>
              <a:t> </a:t>
            </a:r>
          </a:p>
          <a:p>
            <a:pPr algn="l">
              <a:lnSpc>
                <a:spcPts val="3672"/>
              </a:lnSpc>
            </a:pPr>
            <a:r>
              <a:rPr lang="en-US" sz="2622">
                <a:solidFill>
                  <a:srgbClr val="FFFFFF"/>
                </a:solidFill>
                <a:latin typeface="Times New Roman"/>
                <a:ea typeface="Times New Roman"/>
                <a:cs typeface="Times New Roman"/>
                <a:sym typeface="Times New Roman"/>
              </a:rPr>
              <a:t>Todorov, E., Erez, T., &amp; Tassa, Y. (2012). MuJoCo: A Physics Engine for Model-Based Control. IEEE/RSJ International Conference on Intelligent Robots and Systems (IROS).</a:t>
            </a:r>
          </a:p>
          <a:p>
            <a:pPr algn="l">
              <a:lnSpc>
                <a:spcPts val="3672"/>
              </a:lnSpc>
            </a:pPr>
            <a:r>
              <a:rPr lang="en-US" sz="2622">
                <a:solidFill>
                  <a:srgbClr val="FFFFFF"/>
                </a:solidFill>
                <a:latin typeface="Times New Roman"/>
                <a:ea typeface="Times New Roman"/>
                <a:cs typeface="Times New Roman"/>
                <a:sym typeface="Times New Roman"/>
              </a:rPr>
              <a:t> </a:t>
            </a:r>
          </a:p>
          <a:p>
            <a:pPr algn="l">
              <a:lnSpc>
                <a:spcPts val="3672"/>
              </a:lnSpc>
            </a:pPr>
            <a:r>
              <a:rPr lang="en-US" sz="2622">
                <a:solidFill>
                  <a:srgbClr val="FFFFFF"/>
                </a:solidFill>
                <a:latin typeface="Times New Roman"/>
                <a:ea typeface="Times New Roman"/>
                <a:cs typeface="Times New Roman"/>
                <a:sym typeface="Times New Roman"/>
              </a:rPr>
              <a:t>OpenAI. (2024). MuJoCo Documentation. </a:t>
            </a:r>
            <a:r>
              <a:rPr lang="en-US" sz="2622" u="sng">
                <a:solidFill>
                  <a:srgbClr val="FFFFFF"/>
                </a:solidFill>
                <a:latin typeface="Times New Roman"/>
                <a:ea typeface="Times New Roman"/>
                <a:cs typeface="Times New Roman"/>
                <a:sym typeface="Times New Roman"/>
                <a:hlinkClick r:id="rId2" tooltip="https://mujoco.readthedocs.io"/>
              </a:rPr>
              <a:t>https://mujoco.readthedocs.io</a:t>
            </a:r>
          </a:p>
          <a:p>
            <a:pPr algn="l">
              <a:lnSpc>
                <a:spcPts val="3672"/>
              </a:lnSpc>
            </a:pPr>
            <a:r>
              <a:rPr lang="en-US" sz="2622">
                <a:solidFill>
                  <a:srgbClr val="FFFFFF"/>
                </a:solidFill>
                <a:latin typeface="Times New Roman"/>
                <a:ea typeface="Times New Roman"/>
                <a:cs typeface="Times New Roman"/>
                <a:sym typeface="Times New Roman"/>
              </a:rPr>
              <a:t> </a:t>
            </a:r>
          </a:p>
          <a:p>
            <a:pPr algn="l">
              <a:lnSpc>
                <a:spcPts val="3672"/>
              </a:lnSpc>
            </a:pPr>
          </a:p>
          <a:p>
            <a:pPr algn="ctr">
              <a:lnSpc>
                <a:spcPts val="3024"/>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DAHCe9En-S0</dc:identifier>
  <dcterms:modified xsi:type="dcterms:W3CDTF">2011-08-01T06:04:30Z</dcterms:modified>
  <cp:revision>1</cp:revision>
  <dc:title>Week 4</dc:title>
</cp:coreProperties>
</file>