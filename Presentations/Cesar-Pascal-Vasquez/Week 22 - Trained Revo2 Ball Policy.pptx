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mov" ContentType="application/movie"/>
  <Override PartName="/ppt/media/hold-demo.mov" ContentType="video/unknown"/>
  <Override PartName="/ppt/media/move-demo.mov" ContentType="video/unknown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bec4451d59497a" /><Relationship Type="http://schemas.openxmlformats.org/officeDocument/2006/relationships/extended-properties" Target="/docProps/app.xml" Id="R1ac75c89f84a4c73" /><Relationship Type="http://schemas.openxmlformats.org/officeDocument/2006/relationships/officeDocument" Target="/ppt/presentation.xml" Id="Rbc8d95cc46364f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403ce956fd4a50"/>
  </p:sldMasterIdLst>
  <p:notesMasterIdLst>
    <p:notesMasterId xmlns:r="http://schemas.openxmlformats.org/officeDocument/2006/relationships" r:id="R6321ac9c2afa4b05"/>
  </p:notesMasterIdLst>
  <p:sldIdLst>
    <p:sldId xmlns:r="http://schemas.openxmlformats.org/officeDocument/2006/relationships" id="256" r:id="Rd0497aee8b1a430b"/>
    <p:sldId xmlns:r="http://schemas.openxmlformats.org/officeDocument/2006/relationships" id="257" r:id="Rc490d1ee3ecb404d"/>
    <p:sldId xmlns:r="http://schemas.openxmlformats.org/officeDocument/2006/relationships" id="258" r:id="Rbbe45eaf286a47c4"/>
    <p:sldId xmlns:r="http://schemas.openxmlformats.org/officeDocument/2006/relationships" id="259" r:id="R19e53b8e8c6c4e77"/>
    <p:sldId xmlns:r="http://schemas.openxmlformats.org/officeDocument/2006/relationships" id="260" r:id="Ra9fa95d4d8674b6d"/>
    <p:sldId xmlns:r="http://schemas.openxmlformats.org/officeDocument/2006/relationships" id="261" r:id="R68e86373302043bd"/>
    <p:sldId xmlns:r="http://schemas.openxmlformats.org/officeDocument/2006/relationships" id="262" r:id="Rac1d60d9f55241f5"/>
    <p:sldId xmlns:r="http://schemas.openxmlformats.org/officeDocument/2006/relationships" id="263" r:id="Rd8c416c0626547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0ecc5b02eb4c37" /><Relationship Type="http://schemas.openxmlformats.org/officeDocument/2006/relationships/slideMaster" Target="/ppt/slideMasters/slideMaster1.xml" Id="Rca403ce956fd4a50" /><Relationship Type="http://schemas.openxmlformats.org/officeDocument/2006/relationships/notesMaster" Target="/ppt/notesMasters/notesMaster1.xml" Id="R6321ac9c2afa4b05" /><Relationship Type="http://schemas.openxmlformats.org/officeDocument/2006/relationships/presProps" Target="/ppt/presProps.xml" Id="R9ee62c7928194e19" /><Relationship Type="http://schemas.openxmlformats.org/officeDocument/2006/relationships/tableStyles" Target="/ppt/tableStyles.xml" Id="R9bd1c2e03fca4e8c" /><Relationship Type="http://schemas.openxmlformats.org/officeDocument/2006/relationships/slide" Target="/ppt/slides/slide1.xml" Id="Rd0497aee8b1a430b" /><Relationship Type="http://schemas.openxmlformats.org/officeDocument/2006/relationships/slide" Target="/ppt/slides/slide2.xml" Id="Rc490d1ee3ecb404d" /><Relationship Type="http://schemas.openxmlformats.org/officeDocument/2006/relationships/slide" Target="/ppt/slides/slide3.xml" Id="Rbbe45eaf286a47c4" /><Relationship Type="http://schemas.openxmlformats.org/officeDocument/2006/relationships/slide" Target="/ppt/slides/slide4.xml" Id="R19e53b8e8c6c4e77" /><Relationship Type="http://schemas.openxmlformats.org/officeDocument/2006/relationships/slide" Target="/ppt/slides/slide5.xml" Id="Ra9fa95d4d8674b6d" /><Relationship Type="http://schemas.openxmlformats.org/officeDocument/2006/relationships/slide" Target="/ppt/slides/slide6.xml" Id="R68e86373302043bd" /><Relationship Type="http://schemas.openxmlformats.org/officeDocument/2006/relationships/slide" Target="/ppt/slides/slide7.xml" Id="Rac1d60d9f55241f5" /><Relationship Type="http://schemas.openxmlformats.org/officeDocument/2006/relationships/slide" Target="/ppt/slides/slide8.xml" Id="Rd8c416c0626547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0766a3333b49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7759fe93d040e6" /><Relationship Type="http://schemas.openxmlformats.org/officeDocument/2006/relationships/notesMaster" Target="/ppt/notesMasters/notesMaster1.xml" Id="R1ea70aa0606246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677a2458384bf4" /><Relationship Type="http://schemas.openxmlformats.org/officeDocument/2006/relationships/notesMaster" Target="/ppt/notesMasters/notesMaster1.xml" Id="R927756c785e44c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463be2dd634586" /><Relationship Type="http://schemas.openxmlformats.org/officeDocument/2006/relationships/notesMaster" Target="/ppt/notesMasters/notesMaster1.xml" Id="Rd688875f4c3940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3d353132504be5" /><Relationship Type="http://schemas.openxmlformats.org/officeDocument/2006/relationships/notesMaster" Target="/ppt/notesMasters/notesMaster1.xml" Id="R4f2be398063a4a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0bb1b0991f499b" /><Relationship Type="http://schemas.openxmlformats.org/officeDocument/2006/relationships/notesMaster" Target="/ppt/notesMasters/notesMaster1.xml" Id="R10164068178e41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e307e025234dac" /><Relationship Type="http://schemas.openxmlformats.org/officeDocument/2006/relationships/notesMaster" Target="/ppt/notesMasters/notesMaster1.xml" Id="Raed46d5749e947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1225fbabff4d8b" /><Relationship Type="http://schemas.openxmlformats.org/officeDocument/2006/relationships/notesMaster" Target="/ppt/notesMasters/notesMaster1.xml" Id="Rfc87666fad8e4f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4d7e4577a74573" /><Relationship Type="http://schemas.openxmlformats.org/officeDocument/2006/relationships/notesMaster" Target="/ppt/notesMasters/notesMaster1.xml" Id="Ra2ec497ce74d43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/Users/cesarpascal/Desktop/BrainCo Revo2 MuJoCo/README.md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/Users/cesarpascal/Desktop/Screen Recording 2026-07-25 at 4.01.20 PM.mov</a:t>
            </a:r>
          </a:p>
          <a:p xmlns:a="http://schemas.openxmlformats.org/drawingml/2006/main">
            <a:r>
              <a:t>- /Users/cesarpascal/Desktop/BrainCo Revo2 MuJoCo/policies/revo2_right_hold.json</a:t>
            </a:r>
          </a:p>
          <a:p xmlns:a="http://schemas.openxmlformats.org/drawingml/2006/main">
            <a:r>
              <a:t>- /Users/cesarpascal/Desktop/BrainCo Revo2 MuJoCo/policies/revo2_right_move.json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/Users/cesarpascal/Desktop/BrainCo Revo2 MuJoCo/scripts/revo2_grasp_env.py</a:t>
            </a:r>
          </a:p>
          <a:p xmlns:a="http://schemas.openxmlformats.org/drawingml/2006/main">
            <a:r>
              <a:t>- /Users/cesarpascal/Desktop/BrainCo Revo2 MuJoCo/scripts/train_grasp_policy.py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/Users/cesarpascal/Desktop/BrainCo Revo2 MuJoCo/scripts/revo2_grasp_env.py</a:t>
            </a:r>
          </a:p>
          <a:p xmlns:a="http://schemas.openxmlformats.org/drawingml/2006/main">
            <a:r>
              <a:t>- /Users/cesarpascal/Desktop/BrainCo Revo2 MuJoCo/scripts/train_grasp_policy.py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/Users/cesarpascal/Desktop/Screenshot 2026-07-25 at 4.04.00 PM.png</a:t>
            </a:r>
          </a:p>
          <a:p xmlns:a="http://schemas.openxmlformats.org/drawingml/2006/main">
            <a:r>
              <a:t>- Metrics calculated directly from the supplied screenshot: 21/23 = 91.3%; successful-episode mean = 5.7 mm.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/Users/cesarpascal/Desktop/Screen Recording 2026-07-25 at 4.01.20 PM.mov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/Users/cesarpascal/Desktop/Screen Recording 2026-07-25 at 4.04.36 PM.mov</a:t>
            </a:r>
          </a:p>
          <a:p xmlns:a="http://schemas.openxmlformats.org/drawingml/2006/main">
            <a:r>
              <a:t>- /Users/cesarpascal/Desktop/BrainCo Revo2 MuJoCo/policies/revo2_right_move.json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/Users/cesarpascal/Desktop/BrainCo Revo2 MuJoCo/README.md</a:t>
            </a:r>
          </a:p>
          <a:p xmlns:a="http://schemas.openxmlformats.org/drawingml/2006/main">
            <a:r>
              <a:t>- /Users/cesarpascal/Desktop/BrainCo Revo2 MuJoCo/policies/revo2_right_hold.json</a:t>
            </a:r>
          </a:p>
          <a:p xmlns:a="http://schemas.openxmlformats.org/drawingml/2006/main">
            <a:r>
              <a:t>- /Users/cesarpascal/Desktop/BrainCo Revo2 MuJoCo/policies/revo2_right_move.json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3ef389d2b847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89d1305f0949c6" /><Relationship Type="http://schemas.openxmlformats.org/officeDocument/2006/relationships/slideLayout" Target="/ppt/slideLayouts/slideLayout1.xml" Id="Rb9a9508344974a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a9508344974a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33b51f74d4689" /><Relationship Type="http://schemas.openxmlformats.org/officeDocument/2006/relationships/notesSlide" Target="/ppt/notesSlides/notesSlide1.xml" Id="R2d18b914c31c4e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6f42794564080" /><Relationship Type="http://schemas.openxmlformats.org/officeDocument/2006/relationships/image" Target="/ppt/media/image.png" Id="R4d09df3964fb401a" /><Relationship Type="http://schemas.openxmlformats.org/officeDocument/2006/relationships/notesSlide" Target="/ppt/notesSlides/notesSlide2.xml" Id="R609c7fa8ee654e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af9451a7d44eb" /><Relationship Type="http://schemas.openxmlformats.org/officeDocument/2006/relationships/notesSlide" Target="/ppt/notesSlides/notesSlide3.xml" Id="R176864d7d88c48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f818e417a45e3" /><Relationship Type="http://schemas.openxmlformats.org/officeDocument/2006/relationships/notesSlide" Target="/ppt/notesSlides/notesSlide4.xml" Id="Ra807e93aa9ef46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383b3e859489e" /><Relationship Type="http://schemas.openxmlformats.org/officeDocument/2006/relationships/image" Target="/ppt/media/image2.png" Id="Re8cbed29b6cf4e18" /><Relationship Type="http://schemas.openxmlformats.org/officeDocument/2006/relationships/notesSlide" Target="/ppt/notesSlides/notesSlide5.xml" Id="Rabb2f79c82f7496f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681aa2a12fa24683" /><Relationship Type="http://schemas.openxmlformats.org/officeDocument/2006/relationships/image" Target="/ppt/media/image3.png" Id="R6d95f6d047da4d84" /><Relationship Type="http://schemas.openxmlformats.org/officeDocument/2006/relationships/notesSlide" Target="/ppt/notesSlides/notesSlide6.xml" Id="Rfce8759ca5c847b1" /><Relationship Id="rIdVideo6" Type="http://schemas.openxmlformats.org/officeDocument/2006/relationships/video" Target="../media/hold-demo.mov" /><Relationship Id="rIdMedia6" Type="http://schemas.microsoft.com/office/2007/relationships/media" Target="../media/hold-demo.mov" /><Relationship Id="rIdPoster6" Type="http://schemas.openxmlformats.org/officeDocument/2006/relationships/image" Target="../media/hold-video-poster.png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c11d8a141a3147b9" /><Relationship Type="http://schemas.openxmlformats.org/officeDocument/2006/relationships/image" Target="/ppt/media/image4.png" Id="Re888280892c5401c" /><Relationship Type="http://schemas.openxmlformats.org/officeDocument/2006/relationships/notesSlide" Target="/ppt/notesSlides/notesSlide7.xml" Id="R762a8a72bc144d85" /><Relationship Id="rIdVideo7" Type="http://schemas.openxmlformats.org/officeDocument/2006/relationships/video" Target="../media/move-demo.mov" /><Relationship Id="rIdMedia7" Type="http://schemas.microsoft.com/office/2007/relationships/media" Target="../media/move-demo.mov" /><Relationship Id="rIdPoster7" Type="http://schemas.openxmlformats.org/officeDocument/2006/relationships/image" Target="../media/move-video-poster.png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102f101cd4842" /><Relationship Type="http://schemas.openxmlformats.org/officeDocument/2006/relationships/notesSlide" Target="/ppt/notesSlides/notesSlide8.xml" Id="R1dfa978facad4c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week-title">
            <a:extLst xmlns:a="http://schemas.openxmlformats.org/drawingml/2006/main">
              <a:ext uri="{FF2B5EF4-FFF2-40B4-BE49-F238E27FC236}">
                <a16:creationId xmlns:a16="http://schemas.microsoft.com/office/drawing/2014/main" id="{EA03E4E4-7525-42F3-A5AA-8D615ACD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8125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35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WEEK 22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21B08F8-B1DC-4635-8C31-12AD6E64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0"/>
            <a:ext cx="800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Trained ball-grasp policy for the BrainCo Revo 2 hand</a:t>
            </a:r>
          </a:p>
        </p:txBody>
      </p:sp>
      <p:sp>
        <p:nvSpPr>
          <p:cNvPr id="3" name="author">
            <a:extLst xmlns:a="http://schemas.openxmlformats.org/drawingml/2006/main">
              <a:ext uri="{FF2B5EF4-FFF2-40B4-BE49-F238E27FC236}">
                <a16:creationId xmlns:a16="http://schemas.microsoft.com/office/drawing/2014/main" id="{878C14DA-53BB-47FA-A68F-BD47B88E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957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Cesar A. Pascal Vasquez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630E2CB-9F40-4014-BE03-8C34CD17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22 | 1</a:t>
            </a:r>
          </a:p>
        </p:txBody>
      </p:sp>
    </p:spTree>
    <p:extLst>
      <p:ext uri="{BB962C8B-B14F-4D97-AF65-F5344CB8AC3E}">
        <p14:creationId xmlns:p14="http://schemas.microsoft.com/office/powerpoint/2010/main" val="16201394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EA7CC9-2658-411E-A996-C873C7A9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The trained policy holds a free ball under gravity.</a:t>
            </a:r>
          </a:p>
        </p:txBody>
      </p:sp>
      <p:sp>
        <p:nvSpPr>
          <p:cNvPr id="2" name="outcome-body">
            <a:extLst xmlns:a="http://schemas.openxmlformats.org/drawingml/2006/main">
              <a:ext uri="{FF2B5EF4-FFF2-40B4-BE49-F238E27FC236}">
                <a16:creationId xmlns:a16="http://schemas.microsoft.com/office/drawing/2014/main" id="{816D87B6-A8AD-418A-8158-EC2A6AD7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143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The controller closes the six active hand commands, watches the simulated ball state, and corrects the grasp during each episode.</a:t>
            </a:r>
          </a:p>
        </p:txBody>
      </p:sp>
      <p:sp>
        <p:nvSpPr>
          <p:cNvPr id="3" name="outcome-callout">
            <a:extLst xmlns:a="http://schemas.openxmlformats.org/drawingml/2006/main">
              <a:ext uri="{FF2B5EF4-FFF2-40B4-BE49-F238E27FC236}">
                <a16:creationId xmlns:a16="http://schemas.microsoft.com/office/drawing/2014/main" id="{950CDB9B-2447-40C1-812A-ACB0F629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The same setup also supports a small in-hand movement policy while the wrist remains fixed.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9df3964fb401a"/>
          <a:stretch xmlns:a="http://schemas.openxmlformats.org/drawingml/2006/main"/>
        </p:blipFill>
        <p:spPr>
          <a:xfrm xmlns:a="http://schemas.openxmlformats.org/drawingml/2006/main">
            <a:off x="6572250" y="1760637"/>
            <a:ext cx="4762500" cy="324147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D4FB7-5E90-4941-B502-BEC1D13C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43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Orange: grasped ball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D9ADE48-D478-4D93-8A8C-965E5FE0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22 | 2</a:t>
            </a:r>
          </a:p>
        </p:txBody>
      </p:sp>
    </p:spTree>
    <p:extLst>
      <p:ext uri="{BB962C8B-B14F-4D97-AF65-F5344CB8AC3E}">
        <p14:creationId xmlns:p14="http://schemas.microsoft.com/office/powerpoint/2010/main" val="11071515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4BAC05-2014-4342-9B5B-8C51DCB9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The policy converts 19 state features into six hand commands.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FF790-4D7C-4693-9CA1-DC15D9A6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INPUT</a:t>
            </a:r>
          </a:p>
        </p:txBody>
      </p:sp>
      <p:sp>
        <p:nvSpPr>
          <p:cNvPr id="3" name="policy-inputs">
            <a:extLst xmlns:a="http://schemas.openxmlformats.org/drawingml/2006/main">
              <a:ext uri="{FF2B5EF4-FFF2-40B4-BE49-F238E27FC236}">
                <a16:creationId xmlns:a16="http://schemas.microsoft.com/office/drawing/2014/main" id="{0010DA2C-F188-4B0A-BB03-20F01BD9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191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Ball-to-target error</a:t>
            </a:r>
          </a:p>
          <a:p xmlns:a="http://schemas.openxmlformats.org/drawingml/2006/main">
            <a:pPr algn="l"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Ball linear and angular velocity</a:t>
            </a:r>
          </a:p>
          <a:p xmlns:a="http://schemas.openxmlformats.org/drawingml/2006/main">
            <a:pPr algn="l"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Six normalized joint positions</a:t>
            </a:r>
          </a:p>
          <a:p xmlns:a="http://schemas.openxmlformats.org/drawingml/2006/main">
            <a:pPr algn="l"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Gravity fraction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F8B93-8088-4B93-95FB-A6DBB382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76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66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CLOSED-LOOP POLICY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5B058-7255-4253-9E92-A5145C42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95625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120 trained parameters</a:t>
            </a:r>
          </a:p>
          <a:p xmlns:a="http://schemas.openxmlformats.org/drawingml/2006/main">
            <a:pPr algn="ctr">
              <a:defRPr sz="19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50 Hz command rate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95B75-3F35-4EA0-B015-959F7FCF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240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OUTPUT</a:t>
            </a:r>
          </a:p>
        </p:txBody>
      </p:sp>
      <p:sp>
        <p:nvSpPr>
          <p:cNvPr id="7" name="policy-outputs">
            <a:extLst xmlns:a="http://schemas.openxmlformats.org/drawingml/2006/main">
              <a:ext uri="{FF2B5EF4-FFF2-40B4-BE49-F238E27FC236}">
                <a16:creationId xmlns:a16="http://schemas.microsoft.com/office/drawing/2014/main" id="{C0FA5EF2-ACC8-4373-824E-13262C19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47875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Thumb opposition</a:t>
            </a:r>
          </a:p>
          <a:p xmlns:a="http://schemas.openxmlformats.org/drawingml/2006/main">
            <a:pPr algn="l"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Thumb flexion</a:t>
            </a:r>
          </a:p>
          <a:p xmlns:a="http://schemas.openxmlformats.org/drawingml/2006/main">
            <a:pPr algn="l"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Index, middle, ring,</a:t>
            </a:r>
          </a:p>
          <a:p xmlns:a="http://schemas.openxmlformats.org/drawingml/2006/main">
            <a:pPr algn="l"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and pinky flexion</a:t>
            </a:r>
          </a:p>
        </p:txBody>
      </p:sp>
      <p:sp>
        <p:nvSpPr>
          <p:cNvPr id="8" name="policy-flow">
            <a:extLst xmlns:a="http://schemas.openxmlformats.org/drawingml/2006/main">
              <a:ext uri="{FF2B5EF4-FFF2-40B4-BE49-F238E27FC236}">
                <a16:creationId xmlns:a16="http://schemas.microsoft.com/office/drawing/2014/main" id="{E77996CB-2894-4F99-8B15-A3B6B2AA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00625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STATE   →   LINEAR FEEDBACK   →   SIX COMMANDS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A9ACB5E6-3FA5-400B-A678-F07D1407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22 | 3</a:t>
            </a:r>
          </a:p>
        </p:txBody>
      </p:sp>
    </p:spTree>
    <p:extLst>
      <p:ext uri="{BB962C8B-B14F-4D97-AF65-F5344CB8AC3E}">
        <p14:creationId xmlns:p14="http://schemas.microsoft.com/office/powerpoint/2010/main" val="12502376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565148-4EF2-40B4-820D-2643A4AE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Training uses repeated MuJoCo rollouts.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51B74-1FDA-4046-A9BD-2211F439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" name="training-step-1">
            <a:extLst xmlns:a="http://schemas.openxmlformats.org/drawingml/2006/main">
              <a:ext uri="{FF2B5EF4-FFF2-40B4-BE49-F238E27FC236}">
                <a16:creationId xmlns:a16="http://schemas.microsoft.com/office/drawing/2014/main" id="{931ED5D0-6C8E-498A-811E-6C6C55CE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573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Randomize the ball position at reset.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D9081-30A7-4527-B690-6069EF4E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" name="training-step-2">
            <a:extLst xmlns:a="http://schemas.openxmlformats.org/drawingml/2006/main">
              <a:ext uri="{FF2B5EF4-FFF2-40B4-BE49-F238E27FC236}">
                <a16:creationId xmlns:a16="http://schemas.microsoft.com/office/drawing/2014/main" id="{883B8CFB-A20D-48D0-8756-B7B45880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098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Close the hand first with zero gravity.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4C684-0237-48F4-BE67-1048B643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7" name="training-step-3">
            <a:extLst xmlns:a="http://schemas.openxmlformats.org/drawingml/2006/main">
              <a:ext uri="{FF2B5EF4-FFF2-40B4-BE49-F238E27FC236}">
                <a16:creationId xmlns:a16="http://schemas.microsoft.com/office/drawing/2014/main" id="{3615F39E-43A1-4D78-B1CA-B14942EC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623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Ramp to 9.81 m/s² and apply an external force.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AC943-BB28-4F10-B649-20DE4563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training-step-4">
            <a:extLst xmlns:a="http://schemas.openxmlformats.org/drawingml/2006/main">
              <a:ext uri="{FF2B5EF4-FFF2-40B4-BE49-F238E27FC236}">
                <a16:creationId xmlns:a16="http://schemas.microsoft.com/office/drawing/2014/main" id="{4D711129-EDA4-4206-AD87-30D6A2B6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1482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Reward low error, multiple contacts, smoothness, and survival.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EA5B4-5337-4794-83F4-EB07021C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Optimizer: Cross-Entropy Method (CEM). The saved controller is a compact linear feedback policy, not a deep neural network.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03D0C70F-75E1-4FC8-9B85-23EC88BD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22 | 4</a:t>
            </a:r>
          </a:p>
        </p:txBody>
      </p:sp>
    </p:spTree>
    <p:extLst>
      <p:ext uri="{BB962C8B-B14F-4D97-AF65-F5344CB8AC3E}">
        <p14:creationId xmlns:p14="http://schemas.microsoft.com/office/powerpoint/2010/main" val="3957028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8DBE3F-C285-4A18-AE6A-58FCB252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The recorded run succeeded in 21 of 23 episodes.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bed29b6cf4e18"/>
          <a:stretch xmlns:a="http://schemas.openxmlformats.org/drawingml/2006/main"/>
        </p:blipFill>
        <p:spPr>
          <a:xfrm xmlns:a="http://schemas.openxmlformats.org/drawingml/2006/main">
            <a:off x="571500" y="1286875"/>
            <a:ext cx="6858000" cy="5027199"/>
          </a:xfrm>
          <a:prstGeom xmlns:a="http://schemas.openxmlformats.org/drawingml/2006/main" prst="rect">
            <a:avLst/>
          </a:prstGeom>
        </p:spPr>
      </p:pic>
      <p:sp>
        <p:nvSpPr>
          <p:cNvPr id="3" name="success-rate">
            <a:extLst xmlns:a="http://schemas.openxmlformats.org/drawingml/2006/main">
              <a:ext uri="{FF2B5EF4-FFF2-40B4-BE49-F238E27FC236}">
                <a16:creationId xmlns:a16="http://schemas.microsoft.com/office/drawing/2014/main" id="{4C8D3EE0-5160-4CB4-8CF6-B4FACD63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571625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6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650" b="1" i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91%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A8491-3C40-43FA-90E6-D29DEB69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81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success rate</a:t>
            </a:r>
          </a:p>
        </p:txBody>
      </p:sp>
      <p:sp>
        <p:nvSpPr>
          <p:cNvPr id="5" name="hold-error">
            <a:extLst xmlns:a="http://schemas.openxmlformats.org/drawingml/2006/main">
              <a:ext uri="{FF2B5EF4-FFF2-40B4-BE49-F238E27FC236}">
                <a16:creationId xmlns:a16="http://schemas.microsoft.com/office/drawing/2014/main" id="{E451175D-8F75-4D1C-A421-24069EB1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28612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5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5.7 mm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6CA2B-08ED-4B9D-AEC8-09C753BD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005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mean error on successful episodes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4CF754-F417-4050-8EB8-18A58CAD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rPr>
              <a:t>Two misses: 19.9 mm and 18.5 mm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B11A8BE7-0AB7-427E-B894-00E94970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22 | 5</a:t>
            </a:r>
          </a:p>
        </p:txBody>
      </p:sp>
    </p:spTree>
    <p:extLst>
      <p:ext uri="{BB962C8B-B14F-4D97-AF65-F5344CB8AC3E}">
        <p14:creationId xmlns:p14="http://schemas.microsoft.com/office/powerpoint/2010/main" val="1158511663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slide-title">
            <a:extLst>
              <a:ext uri="{FF2B5EF4-FFF2-40B4-BE49-F238E27FC236}">
                <ns2:creationId id="{798DA7E0-EBAF-4B0E-AED6-574B4039C4E8}"/>
              </a:ext>
            </a:extLst>
          </p:cNvPr>
          <p:cNvSpPr>
            <a:spLocks noGrp="1"/>
          </p:cNvSpPr>
          <p:nvPr/>
        </p:nvSpPr>
        <p:spPr>
          <a:xfrm>
            <a:off x="666750" y="419100"/>
            <a:ext cx="10858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100000"/>
          </a:bodyPr>
          <a:lstStyle/>
          <a:p>
            <a:pPr algn="l"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The trained hand retains the ball under gravity.</a:t>
            </a:r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 r:embed="R6d95f6d047da4d84"/>
          <a:stretch/>
        </p:blipFill>
        <p:spPr>
          <a:xfrm>
            <a:off x="2381250" y="1138773"/>
            <a:ext cx="7429500" cy="5056703"/>
          </a:xfrm>
          <a:prstGeom prst="rect">
            <a:avLst/>
          </a:prstGeom>
        </p:spPr>
      </p:pic>
      <p:sp>
        <p:nvSpPr>
          <p:cNvPr id="3" name="">
            <a:extLst>
              <a:ext uri="{FF2B5EF4-FFF2-40B4-BE49-F238E27FC236}">
                <ns2:creationId id="{61360ED0-9966-4A91-AB9F-40F9164F2243}"/>
              </a:ext>
            </a:extLst>
          </p:cNvPr>
          <p:cNvSpPr>
            <a:spLocks noGrp="1"/>
          </p:cNvSpPr>
          <p:nvPr/>
        </p:nvSpPr>
        <p:spPr>
          <a:xfrm>
            <a:off x="2381250" y="6248400"/>
            <a:ext cx="742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100000"/>
          </a:bodyPr>
          <a:lstStyle/>
          <a:p>
            <a:pPr algn="ctr">
              <a:defRPr sz="1350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Embedded recording — click the video during Slide Show mode.</a:t>
            </a:r>
          </a:p>
        </p:txBody>
      </p:sp>
      <p:sp>
        <p:nvSpPr>
          <p:cNvPr id="4" name="footer">
            <a:extLst>
              <a:ext uri="{FF2B5EF4-FFF2-40B4-BE49-F238E27FC236}">
                <ns2:creationId id="{C82CEF88-F2CA-44F0-BB22-55FE6EF2136C}"/>
              </a:ext>
            </a:extLst>
          </p:cNvPr>
          <p:cNvSpPr>
            <a:spLocks noGrp="1"/>
          </p:cNvSpPr>
          <p:nvPr/>
        </p:nvSpPr>
        <p:spPr>
          <a:xfrm>
            <a:off x="10287000" y="64865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100000"/>
          </a:bodyPr>
          <a:lstStyle/>
          <a:p>
            <a:pPr algn="r"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22 | 6</a:t>
            </a:r>
          </a:p>
        </p:txBody>
      </p:sp>
      <p:pic>
        <p:nvPicPr>
          <p:cNvPr id="77" name="hold-demo-ppt.mov" descr="hold-demo-ppt.mov"/>
          <p:cNvPicPr>
            <a:picLocks noChangeAspect="0"/>
          </p:cNvPicPr>
          <p:nvPr>
            <a:videoFile r:link="rIdVideo6"/>
            <p:extLst>
              <p:ext uri="{DAA4B4D4-6D71-4841-9C94-3DE7FCFB9230}">
                <p14:media r:embed="rIdMedia6"/>
              </p:ext>
            </p:extLst>
          </p:nvPr>
        </p:nvPicPr>
        <p:blipFill>
          <a:blip r:embed="rIdPoster6">
            <a:extLst/>
          </a:blip>
          <a:stretch>
            <a:fillRect/>
          </a:stretch>
        </p:blipFill>
        <p:spPr>
          <a:xfrm>
            <a:off x="2387600" y="1117599"/>
            <a:ext cx="7456881" cy="5080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val="2058518607"/>
      </p:ext>
    </p:extLst>
  </p:cSld>
  <p:transition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click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783" fill="hold"/>
                                        <p:tgtEl>
                                          <p:spTgt spid="7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77"/>
                </p:tgtEl>
              </p:cMediaNode>
            </p:video>
            <p:seq concurrent="1" prevAc="none" nextAc="seek">
              <p:cTn id="8" evtFilter="cancelBubble" nodeType="interactiveSeq" restart="whenNotActive" fill="hold">
                <p:stCondLst>
                  <p:cond delay="0" evt="onClick">
                    <p:tgtEl>
                      <p:spTgt spid="77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77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slide-title">
            <a:extLst>
              <a:ext uri="{FF2B5EF4-FFF2-40B4-BE49-F238E27FC236}">
                <ns2:creationId id="{28FA8769-54D4-4900-9348-7E85BA157265}"/>
              </a:ext>
            </a:extLst>
          </p:cNvPr>
          <p:cNvSpPr>
            <a:spLocks noGrp="1"/>
          </p:cNvSpPr>
          <p:nvPr/>
        </p:nvSpPr>
        <p:spPr>
          <a:xfrm>
            <a:off x="666750" y="419100"/>
            <a:ext cx="10858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100000"/>
          </a:bodyPr>
          <a:lstStyle/>
          <a:p>
            <a:pPr algn="l"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The movement policy shifts the ball in-hand.</a:t>
            </a:r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 r:embed="Re888280892c5401c"/>
          <a:stretch/>
        </p:blipFill>
        <p:spPr>
          <a:xfrm>
            <a:off x="2381250" y="1138773"/>
            <a:ext cx="7429500" cy="5056703"/>
          </a:xfrm>
          <a:prstGeom prst="rect">
            <a:avLst/>
          </a:prstGeom>
        </p:spPr>
      </p:pic>
      <p:sp>
        <p:nvSpPr>
          <p:cNvPr id="3" name="">
            <a:extLst>
              <a:ext uri="{FF2B5EF4-FFF2-40B4-BE49-F238E27FC236}">
                <ns2:creationId id="{72A54518-7DCB-4487-BF82-28E93A1ADE99}"/>
              </a:ext>
            </a:extLst>
          </p:cNvPr>
          <p:cNvSpPr>
            <a:spLocks noGrp="1"/>
          </p:cNvSpPr>
          <p:nvPr/>
        </p:nvSpPr>
        <p:spPr>
          <a:xfrm>
            <a:off x="2381250" y="6248400"/>
            <a:ext cx="742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100000"/>
          </a:bodyPr>
          <a:lstStyle/>
          <a:p>
            <a:pPr algn="ctr">
              <a:defRPr sz="1350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Green: target | measured in-hand ball range ≈ 2.2 mm</a:t>
            </a:r>
          </a:p>
        </p:txBody>
      </p:sp>
      <p:sp>
        <p:nvSpPr>
          <p:cNvPr id="4" name="footer">
            <a:extLst>
              <a:ext uri="{FF2B5EF4-FFF2-40B4-BE49-F238E27FC236}">
                <ns2:creationId id="{C10FDA22-1528-4104-80C0-A92B7B334EC5}"/>
              </a:ext>
            </a:extLst>
          </p:cNvPr>
          <p:cNvSpPr>
            <a:spLocks noGrp="1"/>
          </p:cNvSpPr>
          <p:nvPr/>
        </p:nvSpPr>
        <p:spPr>
          <a:xfrm>
            <a:off x="10287000" y="64865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100000"/>
          </a:bodyPr>
          <a:lstStyle/>
          <a:p>
            <a:pPr algn="r"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22 | 7</a:t>
            </a:r>
          </a:p>
        </p:txBody>
      </p:sp>
      <p:pic>
        <p:nvPicPr>
          <p:cNvPr id="85" name="move-demo-ppt.mov" descr="move-demo-ppt.mov"/>
          <p:cNvPicPr>
            <a:picLocks noChangeAspect="0"/>
          </p:cNvPicPr>
          <p:nvPr>
            <a:videoFile r:link="rIdVideo7"/>
            <p:extLst>
              <p:ext uri="{DAA4B4D4-6D71-4841-9C94-3DE7FCFB9230}">
                <p14:media r:embed="rIdMedia7"/>
              </p:ext>
            </p:extLst>
          </p:nvPr>
        </p:nvPicPr>
        <p:blipFill>
          <a:blip r:embed="rIdPoster7">
            <a:extLst/>
          </a:blip>
          <a:stretch>
            <a:fillRect/>
          </a:stretch>
        </p:blipFill>
        <p:spPr>
          <a:xfrm>
            <a:off x="2387600" y="1117599"/>
            <a:ext cx="7456881" cy="5080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val="1742872751"/>
      </p:ext>
    </p:extLst>
  </p:cSld>
  <p:transition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click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116" fill="hold"/>
                                        <p:tgtEl>
                                          <p:spTgt spid="8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85"/>
                </p:tgtEl>
              </p:cMediaNode>
            </p:video>
            <p:seq concurrent="1" prevAc="none" nextAc="seek">
              <p:cTn id="8" evtFilter="cancelBubble" nodeType="interactiveSeq" restart="whenNotActive" fill="hold">
                <p:stCondLst>
                  <p:cond delay="0" evt="onClick">
                    <p:tgtEl>
                      <p:spTgt spid="85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85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177A31-33A1-4C13-9534-843391A4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Next: connect the hand policy to the R1 wrist and arm.</a:t>
            </a:r>
          </a:p>
        </p:txBody>
      </p:sp>
      <p:sp>
        <p:nvSpPr>
          <p:cNvPr id="2" name="next-steps">
            <a:extLst xmlns:a="http://schemas.openxmlformats.org/drawingml/2006/main">
              <a:ext uri="{FF2B5EF4-FFF2-40B4-BE49-F238E27FC236}">
                <a16:creationId xmlns:a16="http://schemas.microsoft.com/office/drawing/2014/main" id="{CA5549E8-9493-4A7C-9081-AEB971FC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19250"/>
            <a:ext cx="9715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• Move the ball through space with coordinated arm and finger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• Expand training with more object positions, forces, and grasp tasks.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• Validate command limits, latency, and safety on the physical robot.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82CE8-AF6B-41C4-A9B2-9D2C5168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91125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The current result is a verified fixed-wrist hand controller and a practical starting point for whole-arm manipulation.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014CE0D-FDA9-40C8-B651-A77F5784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865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Week 22 | 8</a:t>
            </a:r>
          </a:p>
        </p:txBody>
      </p:sp>
    </p:spTree>
    <p:extLst>
      <p:ext uri="{BB962C8B-B14F-4D97-AF65-F5344CB8AC3E}">
        <p14:creationId xmlns:p14="http://schemas.microsoft.com/office/powerpoint/2010/main" val="4760601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2026-07-25T20:13:31.7620000Z</dcterms:created>
  <dcterms:modified xsi:type="dcterms:W3CDTF">2026-07-25T20:13:31.7620000Z</dcterms:modified>
</coreProperties>
</file>