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Alta" panose="02000503000000000000" pitchFamily="2" charset="0"/>
      <p:regular r:id="rId11"/>
    </p:embeddedFont>
    <p:embeddedFont>
      <p:font typeface="Calibri" panose="020F0502020204030204" pitchFamily="34" charset="0"/>
      <p:regular r:id="rId12"/>
      <p:bold r:id="rId13"/>
      <p:italic r:id="rId14"/>
      <p:boldItalic r:id="rId15"/>
    </p:embeddedFont>
    <p:embeddedFont>
      <p:font typeface="Open Sans" panose="020B0606030504020204" pitchFamily="34" charset="0"/>
      <p:regular r:id="rId16"/>
      <p:bold r:id="rId17"/>
      <p:italic r:id="rId18"/>
      <p:boldItalic r:id="rId19"/>
    </p:embeddedFont>
    <p:embeddedFont>
      <p:font typeface="Times New Roman" panose="02020603050405020304" pitchFamily="18"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35" autoAdjust="0"/>
    <p:restoredTop sz="94605" autoAdjust="0"/>
  </p:normalViewPr>
  <p:slideViewPr>
    <p:cSldViewPr>
      <p:cViewPr varScale="1">
        <p:scale>
          <a:sx n="64" d="100"/>
          <a:sy n="64" d="100"/>
        </p:scale>
        <p:origin x="200" y="4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hyperlink" Target="https://yaml.org" TargetMode="External"/><Relationship Id="rId3" Type="http://schemas.openxmlformats.org/officeDocument/2006/relationships/hyperlink" Target="https://github.com/DLR-RM/stable-baselines3" TargetMode="External"/><Relationship Id="rId7" Type="http://schemas.openxmlformats.org/officeDocument/2006/relationships/hyperlink" Target="https://www.unitree.com" TargetMode="External"/><Relationship Id="rId2" Type="http://schemas.openxmlformats.org/officeDocument/2006/relationships/hyperlink" Target="https://pytorch.org" TargetMode="External"/><Relationship Id="rId1" Type="http://schemas.openxmlformats.org/officeDocument/2006/relationships/slideLayout" Target="../slideLayouts/slideLayout7.xml"/><Relationship Id="rId6" Type="http://schemas.openxmlformats.org/officeDocument/2006/relationships/hyperlink" Target="https://mujoco.org" TargetMode="External"/><Relationship Id="rId5" Type="http://schemas.openxmlformats.org/officeDocument/2006/relationships/hyperlink" Target="https://arxiv.org/abs/1707.06347" TargetMode="External"/><Relationship Id="rId4" Type="http://schemas.openxmlformats.org/officeDocument/2006/relationships/hyperlink" Target="https://github.com/leggedrobotics/legged_gy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2548782" y="3600033"/>
            <a:ext cx="13190436" cy="3077410"/>
          </a:xfrm>
          <a:prstGeom prst="rect">
            <a:avLst/>
          </a:prstGeom>
        </p:spPr>
        <p:txBody>
          <a:bodyPr lIns="0" tIns="0" rIns="0" bIns="0" rtlCol="0" anchor="t">
            <a:spAutoFit/>
          </a:bodyPr>
          <a:lstStyle/>
          <a:p>
            <a:pPr algn="ctr">
              <a:lnSpc>
                <a:spcPts val="11956"/>
              </a:lnSpc>
            </a:pPr>
            <a:r>
              <a:rPr lang="en-US" sz="10219" spc="1400">
                <a:solidFill>
                  <a:srgbClr val="FFFFFF"/>
                </a:solidFill>
                <a:latin typeface="Times New Roman"/>
                <a:ea typeface="Times New Roman"/>
                <a:cs typeface="Times New Roman"/>
                <a:sym typeface="Times New Roman"/>
              </a:rPr>
              <a:t>WEEK</a:t>
            </a:r>
          </a:p>
          <a:p>
            <a:pPr algn="ctr">
              <a:lnSpc>
                <a:spcPts val="11956"/>
              </a:lnSpc>
            </a:pPr>
            <a:r>
              <a:rPr lang="en-US" sz="10219" spc="1400">
                <a:solidFill>
                  <a:srgbClr val="FFFFFF"/>
                </a:solidFill>
                <a:latin typeface="Times New Roman"/>
                <a:ea typeface="Times New Roman"/>
                <a:cs typeface="Times New Roman"/>
                <a:sym typeface="Times New Roman"/>
              </a:rPr>
              <a:t>2</a:t>
            </a:r>
          </a:p>
        </p:txBody>
      </p:sp>
      <p:sp>
        <p:nvSpPr>
          <p:cNvPr id="4" name="TextBox 4"/>
          <p:cNvSpPr txBox="1"/>
          <p:nvPr/>
        </p:nvSpPr>
        <p:spPr>
          <a:xfrm>
            <a:off x="5819851" y="8770620"/>
            <a:ext cx="6648299" cy="487680"/>
          </a:xfrm>
          <a:prstGeom prst="rect">
            <a:avLst/>
          </a:prstGeom>
        </p:spPr>
        <p:txBody>
          <a:bodyPr lIns="0" tIns="0" rIns="0" bIns="0" rtlCol="0" anchor="t">
            <a:spAutoFit/>
          </a:bodyPr>
          <a:lstStyle/>
          <a:p>
            <a:pPr algn="ctr">
              <a:lnSpc>
                <a:spcPts val="3509"/>
              </a:lnSpc>
            </a:pPr>
            <a:r>
              <a:rPr lang="en-US" sz="3000" spc="410">
                <a:solidFill>
                  <a:srgbClr val="FFFFFF"/>
                </a:solidFill>
                <a:latin typeface="Alta"/>
                <a:ea typeface="Alta"/>
                <a:cs typeface="Alta"/>
                <a:sym typeface="Alta"/>
              </a:rPr>
              <a:t>Cesar A. Pascal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Freeform 2"/>
          <p:cNvSpPr/>
          <p:nvPr/>
        </p:nvSpPr>
        <p:spPr>
          <a:xfrm>
            <a:off x="2487638" y="4838923"/>
            <a:ext cx="13708378" cy="4615154"/>
          </a:xfrm>
          <a:custGeom>
            <a:avLst/>
            <a:gdLst/>
            <a:ahLst/>
            <a:cxnLst/>
            <a:rect l="l" t="t" r="r" b="b"/>
            <a:pathLst>
              <a:path w="13708378" h="4615154">
                <a:moveTo>
                  <a:pt x="0" y="0"/>
                </a:moveTo>
                <a:lnTo>
                  <a:pt x="13708378" y="0"/>
                </a:lnTo>
                <a:lnTo>
                  <a:pt x="13708378" y="4615154"/>
                </a:lnTo>
                <a:lnTo>
                  <a:pt x="0" y="4615154"/>
                </a:lnTo>
                <a:lnTo>
                  <a:pt x="0" y="0"/>
                </a:lnTo>
                <a:close/>
              </a:path>
            </a:pathLst>
          </a:custGeom>
          <a:blipFill>
            <a:blip r:embed="rId2"/>
            <a:stretch>
              <a:fillRect/>
            </a:stretch>
          </a:blipFill>
        </p:spPr>
      </p:sp>
      <p:sp>
        <p:nvSpPr>
          <p:cNvPr id="3" name="TextBox 3"/>
          <p:cNvSpPr txBox="1"/>
          <p:nvPr/>
        </p:nvSpPr>
        <p:spPr>
          <a:xfrm>
            <a:off x="254383" y="202900"/>
            <a:ext cx="17779234" cy="4173273"/>
          </a:xfrm>
          <a:prstGeom prst="rect">
            <a:avLst/>
          </a:prstGeom>
        </p:spPr>
        <p:txBody>
          <a:bodyPr lIns="0" tIns="0" rIns="0" bIns="0" rtlCol="0" anchor="t">
            <a:spAutoFit/>
          </a:bodyPr>
          <a:lstStyle/>
          <a:p>
            <a:pPr algn="ctr">
              <a:lnSpc>
                <a:spcPts val="4686"/>
              </a:lnSpc>
              <a:spcBef>
                <a:spcPct val="0"/>
              </a:spcBef>
            </a:pPr>
            <a:r>
              <a:rPr lang="en-US" sz="4005" spc="420">
                <a:solidFill>
                  <a:srgbClr val="FFFFFF"/>
                </a:solidFill>
                <a:latin typeface="Times New Roman"/>
                <a:ea typeface="Times New Roman"/>
                <a:cs typeface="Times New Roman"/>
                <a:sym typeface="Times New Roman"/>
              </a:rPr>
              <a:t>This week, my main objective was to refine the training pipeline to obtain a lower loss and more stable standing behavior. While I managed to reduce the loss compared to previous runs, the learned policy still does not maintain a stable standing posture over time. In parallel, I enhanced the rendering/visualization configuration, enabling greater flexibility in camera control and overall inspection of the simulation in the viewer.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t="4482" b="4482"/>
          <a:stretch>
            <a:fillRect/>
          </a:stretch>
        </p:blipFill>
        <p:spPr>
          <a:xfrm>
            <a:off x="4730482" y="4296582"/>
            <a:ext cx="8827036" cy="5777755"/>
          </a:xfrm>
          <a:prstGeom prst="rect">
            <a:avLst/>
          </a:prstGeom>
        </p:spPr>
      </p:pic>
      <p:sp>
        <p:nvSpPr>
          <p:cNvPr id="3" name="TextBox 3"/>
          <p:cNvSpPr txBox="1"/>
          <p:nvPr/>
        </p:nvSpPr>
        <p:spPr>
          <a:xfrm>
            <a:off x="650951" y="409106"/>
            <a:ext cx="16986099" cy="3686348"/>
          </a:xfrm>
          <a:prstGeom prst="rect">
            <a:avLst/>
          </a:prstGeom>
        </p:spPr>
        <p:txBody>
          <a:bodyPr lIns="0" tIns="0" rIns="0" bIns="0" rtlCol="0" anchor="t">
            <a:spAutoFit/>
          </a:bodyPr>
          <a:lstStyle/>
          <a:p>
            <a:pPr algn="ctr">
              <a:lnSpc>
                <a:spcPts val="4151"/>
              </a:lnSpc>
              <a:spcBef>
                <a:spcPct val="0"/>
              </a:spcBef>
            </a:pPr>
            <a:r>
              <a:rPr lang="en-US" sz="3547" spc="418">
                <a:solidFill>
                  <a:srgbClr val="FFFFFF"/>
                </a:solidFill>
                <a:latin typeface="Times New Roman"/>
                <a:ea typeface="Times New Roman"/>
                <a:cs typeface="Times New Roman"/>
                <a:sym typeface="Times New Roman"/>
              </a:rPr>
              <a:t>As mentioned previously, the training results were not sufficient. After further analysis, I identified that the main issue was related to the environment definition for the G1 model. The generated environment did not include all the necessary joint properties, such as accurate dynamics and control parameters. A more detailed and complete specification of the joint characteristics was required to achieve stable and reliable training outcomes.</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pic>
        <p:nvPicPr>
          <p:cNvPr id="2" name="Picture 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rcRect/>
          <a:stretch>
            <a:fillRect/>
          </a:stretch>
        </p:blipFill>
        <p:spPr>
          <a:xfrm>
            <a:off x="5162780" y="4250363"/>
            <a:ext cx="7962440" cy="5725060"/>
          </a:xfrm>
          <a:prstGeom prst="rect">
            <a:avLst/>
          </a:prstGeom>
        </p:spPr>
      </p:pic>
      <p:sp>
        <p:nvSpPr>
          <p:cNvPr id="3" name="TextBox 3"/>
          <p:cNvSpPr txBox="1"/>
          <p:nvPr/>
        </p:nvSpPr>
        <p:spPr>
          <a:xfrm>
            <a:off x="204829" y="1019175"/>
            <a:ext cx="17878342" cy="4397242"/>
          </a:xfrm>
          <a:prstGeom prst="rect">
            <a:avLst/>
          </a:prstGeom>
        </p:spPr>
        <p:txBody>
          <a:bodyPr lIns="0" tIns="0" rIns="0" bIns="0" rtlCol="0" anchor="t">
            <a:spAutoFit/>
          </a:bodyPr>
          <a:lstStyle/>
          <a:p>
            <a:pPr algn="ctr">
              <a:lnSpc>
                <a:spcPts val="3454"/>
              </a:lnSpc>
            </a:pPr>
            <a:r>
              <a:rPr lang="en-US" sz="2952" spc="404">
                <a:solidFill>
                  <a:srgbClr val="FFFFFF"/>
                </a:solidFill>
                <a:latin typeface="Times New Roman"/>
                <a:ea typeface="Times New Roman"/>
                <a:cs typeface="Times New Roman"/>
                <a:sym typeface="Times New Roman"/>
              </a:rPr>
              <a:t>I then adopted a different approach and searched for existing working examples to better understand the overall implementation process. Through this exploration, I was able to obtain a functional walking example of the G1 model and successfully run it on my computer. This allowed me to analyze a stable reference implementation and gain deeper insight into how the training pipeline, environment configuration, and control structure should be properly integrated.</a:t>
            </a:r>
          </a:p>
          <a:p>
            <a:pPr algn="ctr">
              <a:lnSpc>
                <a:spcPts val="3454"/>
              </a:lnSpc>
            </a:pPr>
            <a:endParaRPr lang="en-US" sz="2952" spc="404">
              <a:solidFill>
                <a:srgbClr val="FFFFFF"/>
              </a:solidFill>
              <a:latin typeface="Times New Roman"/>
              <a:ea typeface="Times New Roman"/>
              <a:cs typeface="Times New Roman"/>
              <a:sym typeface="Times New Roman"/>
            </a:endParaRPr>
          </a:p>
          <a:p>
            <a:pPr algn="ctr">
              <a:lnSpc>
                <a:spcPts val="3454"/>
              </a:lnSpc>
            </a:pPr>
            <a:endParaRPr lang="en-US" sz="2952" spc="404">
              <a:solidFill>
                <a:srgbClr val="FFFFFF"/>
              </a:solidFill>
              <a:latin typeface="Times New Roman"/>
              <a:ea typeface="Times New Roman"/>
              <a:cs typeface="Times New Roman"/>
              <a:sym typeface="Times New Roman"/>
            </a:endParaRPr>
          </a:p>
          <a:p>
            <a:pPr algn="ctr">
              <a:lnSpc>
                <a:spcPts val="3454"/>
              </a:lnSpc>
            </a:pPr>
            <a:endParaRPr lang="en-US" sz="2952" spc="404">
              <a:solidFill>
                <a:srgbClr val="FFFFFF"/>
              </a:solidFill>
              <a:latin typeface="Times New Roman"/>
              <a:ea typeface="Times New Roman"/>
              <a:cs typeface="Times New Roman"/>
              <a:sym typeface="Times New Roman"/>
            </a:endParaRPr>
          </a:p>
          <a:p>
            <a:pPr algn="ctr">
              <a:lnSpc>
                <a:spcPts val="3454"/>
              </a:lnSpc>
              <a:spcBef>
                <a:spcPct val="0"/>
              </a:spcBef>
            </a:pPr>
            <a:endParaRPr lang="en-US" sz="2952" spc="404">
              <a:solidFill>
                <a:srgbClr val="FFFFFF"/>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video>
              <p:cMediaNode vol="100000">
                <p:cTn id="2" fill="hold" display="0">
                  <p:stCondLst>
                    <p:cond delay="indefinite"/>
                  </p:stCondLst>
                </p:cTn>
                <p:tgtEl>
                  <p:spTgt spid="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2"/>
          <p:cNvSpPr txBox="1"/>
          <p:nvPr/>
        </p:nvSpPr>
        <p:spPr>
          <a:xfrm>
            <a:off x="364010" y="3071394"/>
            <a:ext cx="17559981" cy="5455021"/>
          </a:xfrm>
          <a:prstGeom prst="rect">
            <a:avLst/>
          </a:prstGeom>
        </p:spPr>
        <p:txBody>
          <a:bodyPr lIns="0" tIns="0" rIns="0" bIns="0" rtlCol="0" anchor="t">
            <a:spAutoFit/>
          </a:bodyPr>
          <a:lstStyle/>
          <a:p>
            <a:pPr algn="ctr">
              <a:lnSpc>
                <a:spcPts val="3954"/>
              </a:lnSpc>
              <a:spcBef>
                <a:spcPct val="0"/>
              </a:spcBef>
            </a:pPr>
            <a:r>
              <a:rPr lang="en-US" sz="3379" spc="463">
                <a:solidFill>
                  <a:srgbClr val="FFFFFF"/>
                </a:solidFill>
                <a:latin typeface="Times New Roman"/>
                <a:ea typeface="Times New Roman"/>
                <a:cs typeface="Times New Roman"/>
                <a:sym typeface="Times New Roman"/>
              </a:rPr>
              <a:t>After analyzing the walking model, I developed the idea of extracting joint data at different time steps in order to use it as training samples for a potential machine learning approach. By recording joint positions, velocities, and possibly torques over time, I aim to construct a dataset that captures stable and coordinated motion patterns. This data-driven approach could serve either as supervised training input or as a reference trajectory to guide future reinforcement learning experiments.</a:t>
            </a:r>
          </a:p>
          <a:p>
            <a:pPr algn="ctr">
              <a:lnSpc>
                <a:spcPts val="3954"/>
              </a:lnSpc>
              <a:spcBef>
                <a:spcPct val="0"/>
              </a:spcBef>
            </a:pPr>
            <a:endParaRPr lang="en-US" sz="3379" spc="463">
              <a:solidFill>
                <a:srgbClr val="FFFFFF"/>
              </a:solidFill>
              <a:latin typeface="Times New Roman"/>
              <a:ea typeface="Times New Roman"/>
              <a:cs typeface="Times New Roman"/>
              <a:sym typeface="Times New Roman"/>
            </a:endParaRPr>
          </a:p>
          <a:p>
            <a:pPr algn="ctr">
              <a:lnSpc>
                <a:spcPts val="3954"/>
              </a:lnSpc>
              <a:spcBef>
                <a:spcPct val="0"/>
              </a:spcBef>
            </a:pPr>
            <a:endParaRPr lang="en-US" sz="3379" spc="463">
              <a:solidFill>
                <a:srgbClr val="FFFFFF"/>
              </a:solidFill>
              <a:latin typeface="Times New Roman"/>
              <a:ea typeface="Times New Roman"/>
              <a:cs typeface="Times New Roman"/>
              <a:sym typeface="Times New Roman"/>
            </a:endParaRPr>
          </a:p>
          <a:p>
            <a:pPr algn="ctr">
              <a:lnSpc>
                <a:spcPts val="3954"/>
              </a:lnSpc>
              <a:spcBef>
                <a:spcPct val="0"/>
              </a:spcBef>
            </a:pPr>
            <a:endParaRPr lang="en-US" sz="3379" spc="463">
              <a:solidFill>
                <a:srgbClr val="FFFFFF"/>
              </a:solidFill>
              <a:latin typeface="Times New Roman"/>
              <a:ea typeface="Times New Roman"/>
              <a:cs typeface="Times New Roman"/>
              <a:sym typeface="Times New Roman"/>
            </a:endParaRPr>
          </a:p>
          <a:p>
            <a:pPr algn="ctr">
              <a:lnSpc>
                <a:spcPts val="3954"/>
              </a:lnSpc>
              <a:spcBef>
                <a:spcPct val="0"/>
              </a:spcBef>
            </a:pPr>
            <a:endParaRPr lang="en-US" sz="3379" spc="463">
              <a:solidFill>
                <a:srgbClr val="FFFFFF"/>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Freeform 2"/>
          <p:cNvSpPr/>
          <p:nvPr/>
        </p:nvSpPr>
        <p:spPr>
          <a:xfrm>
            <a:off x="5112104" y="5493909"/>
            <a:ext cx="9284941" cy="4617032"/>
          </a:xfrm>
          <a:custGeom>
            <a:avLst/>
            <a:gdLst/>
            <a:ahLst/>
            <a:cxnLst/>
            <a:rect l="l" t="t" r="r" b="b"/>
            <a:pathLst>
              <a:path w="9284941" h="4617032">
                <a:moveTo>
                  <a:pt x="0" y="0"/>
                </a:moveTo>
                <a:lnTo>
                  <a:pt x="9284940" y="0"/>
                </a:lnTo>
                <a:lnTo>
                  <a:pt x="9284940" y="4617033"/>
                </a:lnTo>
                <a:lnTo>
                  <a:pt x="0" y="4617033"/>
                </a:lnTo>
                <a:lnTo>
                  <a:pt x="0" y="0"/>
                </a:lnTo>
                <a:close/>
              </a:path>
            </a:pathLst>
          </a:custGeom>
          <a:blipFill>
            <a:blip r:embed="rId2"/>
            <a:stretch>
              <a:fillRect/>
            </a:stretch>
          </a:blipFill>
        </p:spPr>
      </p:sp>
      <p:sp>
        <p:nvSpPr>
          <p:cNvPr id="3" name="TextBox 3"/>
          <p:cNvSpPr txBox="1"/>
          <p:nvPr/>
        </p:nvSpPr>
        <p:spPr>
          <a:xfrm>
            <a:off x="1604493" y="155826"/>
            <a:ext cx="15870498" cy="5189713"/>
          </a:xfrm>
          <a:prstGeom prst="rect">
            <a:avLst/>
          </a:prstGeom>
        </p:spPr>
        <p:txBody>
          <a:bodyPr lIns="0" tIns="0" rIns="0" bIns="0" rtlCol="0" anchor="t">
            <a:spAutoFit/>
          </a:bodyPr>
          <a:lstStyle/>
          <a:p>
            <a:pPr algn="ctr">
              <a:lnSpc>
                <a:spcPts val="4130"/>
              </a:lnSpc>
              <a:spcBef>
                <a:spcPct val="0"/>
              </a:spcBef>
            </a:pPr>
            <a:r>
              <a:rPr lang="en-US" sz="2950">
                <a:solidFill>
                  <a:srgbClr val="FFFFFF"/>
                </a:solidFill>
                <a:latin typeface="Open Sans"/>
                <a:ea typeface="Open Sans"/>
                <a:cs typeface="Open Sans"/>
                <a:sym typeface="Open Sans"/>
              </a:rPr>
              <a:t>To support this approach, I modified the existing code to record the relevant joint values into a CSV file, including timestamps to ensure accurate and structured data logging. This was achieved by adjusting the viewer configuration, transitioning from a purely passive visualization mode to a setup that also allows data collection during simulation. As a result, I was able to systematically gather joint state information from the working walking model for further analysis and potential use in a machine learning framework.</a:t>
            </a:r>
          </a:p>
          <a:p>
            <a:pPr algn="ctr">
              <a:lnSpc>
                <a:spcPts val="4130"/>
              </a:lnSpc>
              <a:spcBef>
                <a:spcPct val="0"/>
              </a:spcBef>
            </a:pPr>
            <a:endParaRPr lang="en-US" sz="2950">
              <a:solidFill>
                <a:srgbClr val="FFFFFF"/>
              </a:solidFill>
              <a:latin typeface="Open Sans"/>
              <a:ea typeface="Open Sans"/>
              <a:cs typeface="Open Sans"/>
              <a:sym typeface="Open Sans"/>
            </a:endParaRPr>
          </a:p>
          <a:p>
            <a:pPr algn="ctr">
              <a:lnSpc>
                <a:spcPts val="4130"/>
              </a:lnSpc>
              <a:spcBef>
                <a:spcPct val="0"/>
              </a:spcBef>
            </a:pPr>
            <a:endParaRPr lang="en-US" sz="2950">
              <a:solidFill>
                <a:srgbClr val="FFFFFF"/>
              </a:solidFill>
              <a:latin typeface="Open Sans"/>
              <a:ea typeface="Open Sans"/>
              <a:cs typeface="Open Sans"/>
              <a:sym typeface="Open Sans"/>
            </a:endParaRPr>
          </a:p>
          <a:p>
            <a:pPr algn="ctr">
              <a:lnSpc>
                <a:spcPts val="4130"/>
              </a:lnSpc>
              <a:spcBef>
                <a:spcPct val="0"/>
              </a:spcBef>
            </a:pPr>
            <a:endParaRPr lang="en-US" sz="2950">
              <a:solidFill>
                <a:srgbClr val="FFFFFF"/>
              </a:solidFill>
              <a:latin typeface="Open Sans"/>
              <a:ea typeface="Open Sans"/>
              <a:cs typeface="Open Sans"/>
              <a:sym typeface="Open Sans"/>
            </a:endParaRPr>
          </a:p>
          <a:p>
            <a:pPr algn="ctr">
              <a:lnSpc>
                <a:spcPts val="4130"/>
              </a:lnSpc>
              <a:spcBef>
                <a:spcPct val="0"/>
              </a:spcBef>
            </a:pPr>
            <a:endParaRPr lang="en-US" sz="2950">
              <a:solidFill>
                <a:srgbClr val="FFFFFF"/>
              </a:solidFill>
              <a:latin typeface="Open Sans"/>
              <a:ea typeface="Open Sans"/>
              <a:cs typeface="Open Sans"/>
              <a:sym typeface="Open Sans"/>
            </a:endParaRPr>
          </a:p>
        </p:txBody>
      </p:sp>
      <p:sp>
        <p:nvSpPr>
          <p:cNvPr id="4" name="Freeform 4"/>
          <p:cNvSpPr/>
          <p:nvPr/>
        </p:nvSpPr>
        <p:spPr>
          <a:xfrm>
            <a:off x="5282650" y="3501851"/>
            <a:ext cx="8943849" cy="1843688"/>
          </a:xfrm>
          <a:custGeom>
            <a:avLst/>
            <a:gdLst/>
            <a:ahLst/>
            <a:cxnLst/>
            <a:rect l="l" t="t" r="r" b="b"/>
            <a:pathLst>
              <a:path w="8943849" h="1843688">
                <a:moveTo>
                  <a:pt x="0" y="0"/>
                </a:moveTo>
                <a:lnTo>
                  <a:pt x="8943848" y="0"/>
                </a:lnTo>
                <a:lnTo>
                  <a:pt x="8943848" y="1843688"/>
                </a:lnTo>
                <a:lnTo>
                  <a:pt x="0" y="1843688"/>
                </a:lnTo>
                <a:lnTo>
                  <a:pt x="0" y="0"/>
                </a:lnTo>
                <a:close/>
              </a:path>
            </a:pathLst>
          </a:custGeom>
          <a:blipFill>
            <a:blip r:embed="rId3"/>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Freeform 2"/>
          <p:cNvSpPr/>
          <p:nvPr/>
        </p:nvSpPr>
        <p:spPr>
          <a:xfrm>
            <a:off x="786176" y="3857967"/>
            <a:ext cx="16715648" cy="5022190"/>
          </a:xfrm>
          <a:custGeom>
            <a:avLst/>
            <a:gdLst/>
            <a:ahLst/>
            <a:cxnLst/>
            <a:rect l="l" t="t" r="r" b="b"/>
            <a:pathLst>
              <a:path w="16715648" h="5022190">
                <a:moveTo>
                  <a:pt x="0" y="0"/>
                </a:moveTo>
                <a:lnTo>
                  <a:pt x="16715648" y="0"/>
                </a:lnTo>
                <a:lnTo>
                  <a:pt x="16715648" y="5022190"/>
                </a:lnTo>
                <a:lnTo>
                  <a:pt x="0" y="5022190"/>
                </a:lnTo>
                <a:lnTo>
                  <a:pt x="0" y="0"/>
                </a:lnTo>
                <a:close/>
              </a:path>
            </a:pathLst>
          </a:custGeom>
          <a:blipFill>
            <a:blip r:embed="rId2"/>
            <a:stretch>
              <a:fillRect/>
            </a:stretch>
          </a:blipFill>
        </p:spPr>
      </p:sp>
      <p:sp>
        <p:nvSpPr>
          <p:cNvPr id="3" name="TextBox 3"/>
          <p:cNvSpPr txBox="1"/>
          <p:nvPr/>
        </p:nvSpPr>
        <p:spPr>
          <a:xfrm>
            <a:off x="415436" y="596777"/>
            <a:ext cx="17457127" cy="2294537"/>
          </a:xfrm>
          <a:prstGeom prst="rect">
            <a:avLst/>
          </a:prstGeom>
        </p:spPr>
        <p:txBody>
          <a:bodyPr lIns="0" tIns="0" rIns="0" bIns="0" rtlCol="0" anchor="t">
            <a:spAutoFit/>
          </a:bodyPr>
          <a:lstStyle/>
          <a:p>
            <a:pPr algn="ctr">
              <a:lnSpc>
                <a:spcPts val="4543"/>
              </a:lnSpc>
              <a:spcBef>
                <a:spcPct val="0"/>
              </a:spcBef>
            </a:pPr>
            <a:r>
              <a:rPr lang="en-US" sz="3245">
                <a:solidFill>
                  <a:srgbClr val="FFFFFF"/>
                </a:solidFill>
                <a:latin typeface="Times New Roman"/>
                <a:ea typeface="Times New Roman"/>
                <a:cs typeface="Times New Roman"/>
                <a:sym typeface="Times New Roman"/>
              </a:rPr>
              <a:t>The implementation was successful, and I was able to generate a complete dataset containing all joint values recorded frame by frame. This resulted in a structured data sheet capturing the temporal evolution of the robot’s motion, which can now be analyzed and potentially used for supervised learning, trajectory imitation, or further refinement of the control strategy.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2"/>
          <p:cNvSpPr txBox="1"/>
          <p:nvPr/>
        </p:nvSpPr>
        <p:spPr>
          <a:xfrm>
            <a:off x="0" y="1338942"/>
            <a:ext cx="18288000" cy="7200265"/>
          </a:xfrm>
          <a:prstGeom prst="rect">
            <a:avLst/>
          </a:prstGeom>
        </p:spPr>
        <p:txBody>
          <a:bodyPr lIns="0" tIns="0" rIns="0" bIns="0" rtlCol="0" anchor="t">
            <a:spAutoFit/>
          </a:bodyPr>
          <a:lstStyle/>
          <a:p>
            <a:pPr algn="ctr">
              <a:lnSpc>
                <a:spcPts val="4759"/>
              </a:lnSpc>
            </a:pPr>
            <a:r>
              <a:rPr lang="en-US" sz="3399">
                <a:solidFill>
                  <a:srgbClr val="FFFFFF"/>
                </a:solidFill>
                <a:latin typeface="Times New Roman"/>
                <a:ea typeface="Times New Roman"/>
                <a:cs typeface="Times New Roman"/>
                <a:sym typeface="Times New Roman"/>
              </a:rPr>
              <a:t>Next steps:</a:t>
            </a:r>
          </a:p>
          <a:p>
            <a:pPr algn="ctr">
              <a:lnSpc>
                <a:spcPts val="4759"/>
              </a:lnSpc>
            </a:pPr>
            <a:endParaRPr lang="en-US" sz="3399">
              <a:solidFill>
                <a:srgbClr val="FFFFFF"/>
              </a:solidFill>
              <a:latin typeface="Times New Roman"/>
              <a:ea typeface="Times New Roman"/>
              <a:cs typeface="Times New Roman"/>
              <a:sym typeface="Times New Roman"/>
            </a:endParaRPr>
          </a:p>
          <a:p>
            <a:pPr marL="734059" lvl="1" indent="-367030" algn="l">
              <a:lnSpc>
                <a:spcPts val="4759"/>
              </a:lnSpc>
              <a:buFont typeface="Arial"/>
              <a:buChar char="•"/>
            </a:pPr>
            <a:r>
              <a:rPr lang="en-US" sz="3399">
                <a:solidFill>
                  <a:srgbClr val="FFFFFF"/>
                </a:solidFill>
                <a:latin typeface="Times New Roman"/>
                <a:ea typeface="Times New Roman"/>
                <a:cs typeface="Times New Roman"/>
                <a:sym typeface="Times New Roman"/>
              </a:rPr>
              <a:t>Create my own implementation inspired by the working model.</a:t>
            </a:r>
          </a:p>
          <a:p>
            <a:pPr marL="734059" lvl="1" indent="-367030" algn="l">
              <a:lnSpc>
                <a:spcPts val="4759"/>
              </a:lnSpc>
              <a:buFont typeface="Arial"/>
              <a:buChar char="•"/>
            </a:pPr>
            <a:r>
              <a:rPr lang="en-US" sz="3399">
                <a:solidFill>
                  <a:srgbClr val="FFFFFF"/>
                </a:solidFill>
                <a:latin typeface="Times New Roman"/>
                <a:ea typeface="Times New Roman"/>
                <a:cs typeface="Times New Roman"/>
                <a:sym typeface="Times New Roman"/>
              </a:rPr>
              <a:t>Develop a script to use the collected dataset as input for a machine learning pipeline.</a:t>
            </a:r>
          </a:p>
          <a:p>
            <a:pPr marL="734059" lvl="1" indent="-367030" algn="l">
              <a:lnSpc>
                <a:spcPts val="4759"/>
              </a:lnSpc>
              <a:spcBef>
                <a:spcPct val="0"/>
              </a:spcBef>
              <a:buFont typeface="Arial"/>
              <a:buChar char="•"/>
            </a:pPr>
            <a:r>
              <a:rPr lang="en-US" sz="3399">
                <a:solidFill>
                  <a:srgbClr val="FFFFFF"/>
                </a:solidFill>
                <a:latin typeface="Times New Roman"/>
                <a:ea typeface="Times New Roman"/>
                <a:cs typeface="Times New Roman"/>
                <a:sym typeface="Times New Roman"/>
              </a:rPr>
              <a:t>Build a step-by-step procedure/documentation for generating and validating a working model (from environment setup to deployment).</a:t>
            </a:r>
          </a:p>
          <a:p>
            <a:pPr marL="734059" lvl="1" indent="-367030" algn="l">
              <a:lnSpc>
                <a:spcPts val="4759"/>
              </a:lnSpc>
              <a:spcBef>
                <a:spcPct val="0"/>
              </a:spcBef>
              <a:buFont typeface="Arial"/>
              <a:buChar char="•"/>
            </a:pPr>
            <a:r>
              <a:rPr lang="en-US" sz="3399">
                <a:solidFill>
                  <a:srgbClr val="FFFFFF"/>
                </a:solidFill>
                <a:latin typeface="Times New Roman"/>
                <a:ea typeface="Times New Roman"/>
                <a:cs typeface="Times New Roman"/>
                <a:sym typeface="Times New Roman"/>
              </a:rPr>
              <a:t>Explore additional humanoid robot functionalities (e.g., different gaits, turning, balance recovery, and command tracking).</a:t>
            </a:r>
          </a:p>
          <a:p>
            <a:pPr algn="ctr">
              <a:lnSpc>
                <a:spcPts val="4759"/>
              </a:lnSpc>
              <a:spcBef>
                <a:spcPct val="0"/>
              </a:spcBef>
            </a:pPr>
            <a:endParaRPr lang="en-US" sz="3399">
              <a:solidFill>
                <a:srgbClr val="FFFFFF"/>
              </a:solidFill>
              <a:latin typeface="Times New Roman"/>
              <a:ea typeface="Times New Roman"/>
              <a:cs typeface="Times New Roman"/>
              <a:sym typeface="Times New Roman"/>
            </a:endParaRPr>
          </a:p>
          <a:p>
            <a:pPr algn="ctr">
              <a:lnSpc>
                <a:spcPts val="4759"/>
              </a:lnSpc>
              <a:spcBef>
                <a:spcPct val="0"/>
              </a:spcBef>
            </a:pPr>
            <a:endParaRPr lang="en-US" sz="3399">
              <a:solidFill>
                <a:srgbClr val="FFFFFF"/>
              </a:solidFill>
              <a:latin typeface="Times New Roman"/>
              <a:ea typeface="Times New Roman"/>
              <a:cs typeface="Times New Roman"/>
              <a:sym typeface="Times New Roman"/>
            </a:endParaRPr>
          </a:p>
          <a:p>
            <a:pPr algn="ctr">
              <a:lnSpc>
                <a:spcPts val="4759"/>
              </a:lnSpc>
              <a:spcBef>
                <a:spcPct val="0"/>
              </a:spcBef>
            </a:pPr>
            <a:endParaRPr lang="en-US" sz="3399">
              <a:solidFill>
                <a:srgbClr val="FFFFFF"/>
              </a:solidFill>
              <a:latin typeface="Times New Roman"/>
              <a:ea typeface="Times New Roman"/>
              <a:cs typeface="Times New Roman"/>
              <a:sym typeface="Times New Roman"/>
            </a:endParaRPr>
          </a:p>
          <a:p>
            <a:pPr algn="ctr">
              <a:lnSpc>
                <a:spcPts val="4759"/>
              </a:lnSpc>
              <a:spcBef>
                <a:spcPct val="0"/>
              </a:spcBef>
            </a:pPr>
            <a:endParaRPr lang="en-US" sz="3399">
              <a:solidFill>
                <a:srgbClr val="FFFFFF"/>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TextBox 2"/>
          <p:cNvSpPr txBox="1"/>
          <p:nvPr/>
        </p:nvSpPr>
        <p:spPr>
          <a:xfrm>
            <a:off x="351392" y="781209"/>
            <a:ext cx="17585217" cy="8799332"/>
          </a:xfrm>
          <a:prstGeom prst="rect">
            <a:avLst/>
          </a:prstGeom>
        </p:spPr>
        <p:txBody>
          <a:bodyPr lIns="0" tIns="0" rIns="0" bIns="0" rtlCol="0" anchor="t">
            <a:spAutoFit/>
          </a:bodyPr>
          <a:lstStyle/>
          <a:p>
            <a:pPr algn="ctr">
              <a:lnSpc>
                <a:spcPts val="4577"/>
              </a:lnSpc>
            </a:pPr>
            <a:r>
              <a:rPr lang="en-US" sz="3269" dirty="0">
                <a:solidFill>
                  <a:srgbClr val="FFFFFF"/>
                </a:solidFill>
                <a:latin typeface="Times New Roman"/>
                <a:ea typeface="Times New Roman"/>
                <a:cs typeface="Times New Roman"/>
                <a:sym typeface="Times New Roman"/>
              </a:rPr>
              <a:t>References</a:t>
            </a:r>
          </a:p>
          <a:p>
            <a:pPr algn="ctr">
              <a:lnSpc>
                <a:spcPts val="4577"/>
              </a:lnSpc>
            </a:pPr>
            <a:r>
              <a:rPr lang="en-US" sz="3269" dirty="0" err="1">
                <a:solidFill>
                  <a:srgbClr val="FFFFFF"/>
                </a:solidFill>
                <a:latin typeface="Times New Roman"/>
                <a:ea typeface="Times New Roman"/>
                <a:cs typeface="Times New Roman"/>
                <a:sym typeface="Times New Roman"/>
              </a:rPr>
              <a:t>Paszke</a:t>
            </a:r>
            <a:r>
              <a:rPr lang="en-US" sz="3269" dirty="0">
                <a:solidFill>
                  <a:srgbClr val="FFFFFF"/>
                </a:solidFill>
                <a:latin typeface="Times New Roman"/>
                <a:ea typeface="Times New Roman"/>
                <a:cs typeface="Times New Roman"/>
                <a:sym typeface="Times New Roman"/>
              </a:rPr>
              <a:t>, A., Gross, S., Massa, F., </a:t>
            </a:r>
            <a:r>
              <a:rPr lang="en-US" sz="3269" dirty="0" err="1">
                <a:solidFill>
                  <a:srgbClr val="FFFFFF"/>
                </a:solidFill>
                <a:latin typeface="Times New Roman"/>
                <a:ea typeface="Times New Roman"/>
                <a:cs typeface="Times New Roman"/>
                <a:sym typeface="Times New Roman"/>
              </a:rPr>
              <a:t>Lerer</a:t>
            </a:r>
            <a:r>
              <a:rPr lang="en-US" sz="3269" dirty="0">
                <a:solidFill>
                  <a:srgbClr val="FFFFFF"/>
                </a:solidFill>
                <a:latin typeface="Times New Roman"/>
                <a:ea typeface="Times New Roman"/>
                <a:cs typeface="Times New Roman"/>
                <a:sym typeface="Times New Roman"/>
              </a:rPr>
              <a:t>, A., Bradbury, J., </a:t>
            </a:r>
            <a:r>
              <a:rPr lang="en-US" sz="3269" dirty="0" err="1">
                <a:solidFill>
                  <a:srgbClr val="FFFFFF"/>
                </a:solidFill>
                <a:latin typeface="Times New Roman"/>
                <a:ea typeface="Times New Roman"/>
                <a:cs typeface="Times New Roman"/>
                <a:sym typeface="Times New Roman"/>
              </a:rPr>
              <a:t>Chanan</a:t>
            </a:r>
            <a:r>
              <a:rPr lang="en-US" sz="3269" dirty="0">
                <a:solidFill>
                  <a:srgbClr val="FFFFFF"/>
                </a:solidFill>
                <a:latin typeface="Times New Roman"/>
                <a:ea typeface="Times New Roman"/>
                <a:cs typeface="Times New Roman"/>
                <a:sym typeface="Times New Roman"/>
              </a:rPr>
              <a:t>, G., et al. (2019). </a:t>
            </a:r>
            <a:r>
              <a:rPr lang="en-US" sz="3269" dirty="0" err="1">
                <a:solidFill>
                  <a:srgbClr val="FFFFFF"/>
                </a:solidFill>
                <a:latin typeface="Times New Roman"/>
                <a:ea typeface="Times New Roman"/>
                <a:cs typeface="Times New Roman"/>
                <a:sym typeface="Times New Roman"/>
              </a:rPr>
              <a:t>PyTorch</a:t>
            </a:r>
            <a:r>
              <a:rPr lang="en-US" sz="3269" dirty="0">
                <a:solidFill>
                  <a:srgbClr val="FFFFFF"/>
                </a:solidFill>
                <a:latin typeface="Times New Roman"/>
                <a:ea typeface="Times New Roman"/>
                <a:cs typeface="Times New Roman"/>
                <a:sym typeface="Times New Roman"/>
              </a:rPr>
              <a:t>: An imperative style, high-performance deep learning library. Advances in Neural Information Processing Systems (</a:t>
            </a:r>
            <a:r>
              <a:rPr lang="en-US" sz="3269" dirty="0" err="1">
                <a:solidFill>
                  <a:srgbClr val="FFFFFF"/>
                </a:solidFill>
                <a:latin typeface="Times New Roman"/>
                <a:ea typeface="Times New Roman"/>
                <a:cs typeface="Times New Roman"/>
                <a:sym typeface="Times New Roman"/>
              </a:rPr>
              <a:t>NeurIPS</a:t>
            </a:r>
            <a:r>
              <a:rPr lang="en-US" sz="3269" dirty="0">
                <a:solidFill>
                  <a:srgbClr val="FFFFFF"/>
                </a:solidFill>
                <a:latin typeface="Times New Roman"/>
                <a:ea typeface="Times New Roman"/>
                <a:cs typeface="Times New Roman"/>
                <a:sym typeface="Times New Roman"/>
              </a:rPr>
              <a:t>). </a:t>
            </a:r>
            <a:r>
              <a:rPr lang="en-US" sz="3269" u="sng" dirty="0">
                <a:solidFill>
                  <a:srgbClr val="FFFFFF"/>
                </a:solidFill>
                <a:latin typeface="Times New Roman"/>
                <a:ea typeface="Times New Roman"/>
                <a:cs typeface="Times New Roman"/>
                <a:sym typeface="Times New Roman"/>
                <a:hlinkClick r:id="rId2" tooltip="https://pytorch.org"/>
              </a:rPr>
              <a:t>https://pytorch.org</a:t>
            </a:r>
          </a:p>
          <a:p>
            <a:pPr algn="ctr">
              <a:lnSpc>
                <a:spcPts val="4577"/>
              </a:lnSpc>
            </a:pPr>
            <a:r>
              <a:rPr lang="en-US" sz="3269" dirty="0">
                <a:solidFill>
                  <a:srgbClr val="FFFFFF"/>
                </a:solidFill>
                <a:latin typeface="Times New Roman"/>
                <a:ea typeface="Times New Roman"/>
                <a:cs typeface="Times New Roman"/>
                <a:sym typeface="Times New Roman"/>
              </a:rPr>
              <a:t>Raffin, A., Hill, A., </a:t>
            </a:r>
            <a:r>
              <a:rPr lang="en-US" sz="3269" dirty="0" err="1">
                <a:solidFill>
                  <a:srgbClr val="FFFFFF"/>
                </a:solidFill>
                <a:latin typeface="Times New Roman"/>
                <a:ea typeface="Times New Roman"/>
                <a:cs typeface="Times New Roman"/>
                <a:sym typeface="Times New Roman"/>
              </a:rPr>
              <a:t>Gleave</a:t>
            </a:r>
            <a:r>
              <a:rPr lang="en-US" sz="3269" dirty="0">
                <a:solidFill>
                  <a:srgbClr val="FFFFFF"/>
                </a:solidFill>
                <a:latin typeface="Times New Roman"/>
                <a:ea typeface="Times New Roman"/>
                <a:cs typeface="Times New Roman"/>
                <a:sym typeface="Times New Roman"/>
              </a:rPr>
              <a:t>, A., </a:t>
            </a:r>
            <a:r>
              <a:rPr lang="en-US" sz="3269" dirty="0" err="1">
                <a:solidFill>
                  <a:srgbClr val="FFFFFF"/>
                </a:solidFill>
                <a:latin typeface="Times New Roman"/>
                <a:ea typeface="Times New Roman"/>
                <a:cs typeface="Times New Roman"/>
                <a:sym typeface="Times New Roman"/>
              </a:rPr>
              <a:t>Kanervisto</a:t>
            </a:r>
            <a:r>
              <a:rPr lang="en-US" sz="3269" dirty="0">
                <a:solidFill>
                  <a:srgbClr val="FFFFFF"/>
                </a:solidFill>
                <a:latin typeface="Times New Roman"/>
                <a:ea typeface="Times New Roman"/>
                <a:cs typeface="Times New Roman"/>
                <a:sym typeface="Times New Roman"/>
              </a:rPr>
              <a:t>, A., </a:t>
            </a:r>
            <a:r>
              <a:rPr lang="en-US" sz="3269" dirty="0" err="1">
                <a:solidFill>
                  <a:srgbClr val="FFFFFF"/>
                </a:solidFill>
                <a:latin typeface="Times New Roman"/>
                <a:ea typeface="Times New Roman"/>
                <a:cs typeface="Times New Roman"/>
                <a:sym typeface="Times New Roman"/>
              </a:rPr>
              <a:t>Ernestus</a:t>
            </a:r>
            <a:r>
              <a:rPr lang="en-US" sz="3269" dirty="0">
                <a:solidFill>
                  <a:srgbClr val="FFFFFF"/>
                </a:solidFill>
                <a:latin typeface="Times New Roman"/>
                <a:ea typeface="Times New Roman"/>
                <a:cs typeface="Times New Roman"/>
                <a:sym typeface="Times New Roman"/>
              </a:rPr>
              <a:t>, M., &amp; </a:t>
            </a:r>
            <a:r>
              <a:rPr lang="en-US" sz="3269" dirty="0" err="1">
                <a:solidFill>
                  <a:srgbClr val="FFFFFF"/>
                </a:solidFill>
                <a:latin typeface="Times New Roman"/>
                <a:ea typeface="Times New Roman"/>
                <a:cs typeface="Times New Roman"/>
                <a:sym typeface="Times New Roman"/>
              </a:rPr>
              <a:t>Dormann</a:t>
            </a:r>
            <a:r>
              <a:rPr lang="en-US" sz="3269" dirty="0">
                <a:solidFill>
                  <a:srgbClr val="FFFFFF"/>
                </a:solidFill>
                <a:latin typeface="Times New Roman"/>
                <a:ea typeface="Times New Roman"/>
                <a:cs typeface="Times New Roman"/>
                <a:sym typeface="Times New Roman"/>
              </a:rPr>
              <a:t>, N. (2021). Stable-Baselines3: Reliable reinforcement learning implementations. </a:t>
            </a:r>
            <a:r>
              <a:rPr lang="en-US" sz="3269" u="sng" dirty="0">
                <a:solidFill>
                  <a:srgbClr val="FFFFFF"/>
                </a:solidFill>
                <a:latin typeface="Times New Roman"/>
                <a:ea typeface="Times New Roman"/>
                <a:cs typeface="Times New Roman"/>
                <a:sym typeface="Times New Roman"/>
                <a:hlinkClick r:id="rId3" tooltip="https://github.com/DLR-RM/stable-baselines3"/>
              </a:rPr>
              <a:t>https://github.com/DLR-RM/stable-baselines3</a:t>
            </a:r>
          </a:p>
          <a:p>
            <a:pPr algn="ctr">
              <a:lnSpc>
                <a:spcPts val="4577"/>
              </a:lnSpc>
            </a:pPr>
            <a:r>
              <a:rPr lang="en-US" sz="3269" dirty="0">
                <a:solidFill>
                  <a:srgbClr val="FFFFFF"/>
                </a:solidFill>
                <a:latin typeface="Times New Roman"/>
                <a:ea typeface="Times New Roman"/>
                <a:cs typeface="Times New Roman"/>
                <a:sym typeface="Times New Roman"/>
              </a:rPr>
              <a:t>Rudin, N., </a:t>
            </a:r>
            <a:r>
              <a:rPr lang="en-US" sz="3269" dirty="0" err="1">
                <a:solidFill>
                  <a:srgbClr val="FFFFFF"/>
                </a:solidFill>
                <a:latin typeface="Times New Roman"/>
                <a:ea typeface="Times New Roman"/>
                <a:cs typeface="Times New Roman"/>
                <a:sym typeface="Times New Roman"/>
              </a:rPr>
              <a:t>Hoeller</a:t>
            </a:r>
            <a:r>
              <a:rPr lang="en-US" sz="3269" dirty="0">
                <a:solidFill>
                  <a:srgbClr val="FFFFFF"/>
                </a:solidFill>
                <a:latin typeface="Times New Roman"/>
                <a:ea typeface="Times New Roman"/>
                <a:cs typeface="Times New Roman"/>
                <a:sym typeface="Times New Roman"/>
              </a:rPr>
              <a:t>, D., </a:t>
            </a:r>
            <a:r>
              <a:rPr lang="en-US" sz="3269" dirty="0" err="1">
                <a:solidFill>
                  <a:srgbClr val="FFFFFF"/>
                </a:solidFill>
                <a:latin typeface="Times New Roman"/>
                <a:ea typeface="Times New Roman"/>
                <a:cs typeface="Times New Roman"/>
                <a:sym typeface="Times New Roman"/>
              </a:rPr>
              <a:t>Reist</a:t>
            </a:r>
            <a:r>
              <a:rPr lang="en-US" sz="3269" dirty="0">
                <a:solidFill>
                  <a:srgbClr val="FFFFFF"/>
                </a:solidFill>
                <a:latin typeface="Times New Roman"/>
                <a:ea typeface="Times New Roman"/>
                <a:cs typeface="Times New Roman"/>
                <a:sym typeface="Times New Roman"/>
              </a:rPr>
              <a:t>, P., &amp; </a:t>
            </a:r>
            <a:r>
              <a:rPr lang="en-US" sz="3269" dirty="0" err="1">
                <a:solidFill>
                  <a:srgbClr val="FFFFFF"/>
                </a:solidFill>
                <a:latin typeface="Times New Roman"/>
                <a:ea typeface="Times New Roman"/>
                <a:cs typeface="Times New Roman"/>
                <a:sym typeface="Times New Roman"/>
              </a:rPr>
              <a:t>Hutter</a:t>
            </a:r>
            <a:r>
              <a:rPr lang="en-US" sz="3269" dirty="0">
                <a:solidFill>
                  <a:srgbClr val="FFFFFF"/>
                </a:solidFill>
                <a:latin typeface="Times New Roman"/>
                <a:ea typeface="Times New Roman"/>
                <a:cs typeface="Times New Roman"/>
                <a:sym typeface="Times New Roman"/>
              </a:rPr>
              <a:t>, M. (2022). Learning to walk in minutes using massively parallel deep reinforcement learning. </a:t>
            </a:r>
            <a:r>
              <a:rPr lang="en-US" sz="3269" u="sng" dirty="0">
                <a:solidFill>
                  <a:srgbClr val="FFFFFF"/>
                </a:solidFill>
                <a:latin typeface="Times New Roman"/>
                <a:ea typeface="Times New Roman"/>
                <a:cs typeface="Times New Roman"/>
                <a:sym typeface="Times New Roman"/>
                <a:hlinkClick r:id="rId4" tooltip="https://github.com/leggedrobotics/legged_gym"/>
              </a:rPr>
              <a:t>https://github.com/leggedrobotics/legged_gym</a:t>
            </a:r>
          </a:p>
          <a:p>
            <a:pPr algn="ctr">
              <a:lnSpc>
                <a:spcPts val="4577"/>
              </a:lnSpc>
            </a:pPr>
            <a:r>
              <a:rPr lang="en-US" sz="3269" dirty="0">
                <a:solidFill>
                  <a:srgbClr val="FFFFFF"/>
                </a:solidFill>
                <a:latin typeface="Times New Roman"/>
                <a:ea typeface="Times New Roman"/>
                <a:cs typeface="Times New Roman"/>
                <a:sym typeface="Times New Roman"/>
              </a:rPr>
              <a:t>Schulman, J., Wolski, F., </a:t>
            </a:r>
            <a:r>
              <a:rPr lang="en-US" sz="3269" dirty="0" err="1">
                <a:solidFill>
                  <a:srgbClr val="FFFFFF"/>
                </a:solidFill>
                <a:latin typeface="Times New Roman"/>
                <a:ea typeface="Times New Roman"/>
                <a:cs typeface="Times New Roman"/>
                <a:sym typeface="Times New Roman"/>
              </a:rPr>
              <a:t>Dhariwal</a:t>
            </a:r>
            <a:r>
              <a:rPr lang="en-US" sz="3269" dirty="0">
                <a:solidFill>
                  <a:srgbClr val="FFFFFF"/>
                </a:solidFill>
                <a:latin typeface="Times New Roman"/>
                <a:ea typeface="Times New Roman"/>
                <a:cs typeface="Times New Roman"/>
                <a:sym typeface="Times New Roman"/>
              </a:rPr>
              <a:t>, P., Radford, A., &amp; </a:t>
            </a:r>
            <a:r>
              <a:rPr lang="en-US" sz="3269" dirty="0" err="1">
                <a:solidFill>
                  <a:srgbClr val="FFFFFF"/>
                </a:solidFill>
                <a:latin typeface="Times New Roman"/>
                <a:ea typeface="Times New Roman"/>
                <a:cs typeface="Times New Roman"/>
                <a:sym typeface="Times New Roman"/>
              </a:rPr>
              <a:t>Klimov</a:t>
            </a:r>
            <a:r>
              <a:rPr lang="en-US" sz="3269" dirty="0">
                <a:solidFill>
                  <a:srgbClr val="FFFFFF"/>
                </a:solidFill>
                <a:latin typeface="Times New Roman"/>
                <a:ea typeface="Times New Roman"/>
                <a:cs typeface="Times New Roman"/>
                <a:sym typeface="Times New Roman"/>
              </a:rPr>
              <a:t>, O. (2017). Proximal policy optimization algorithms. </a:t>
            </a:r>
            <a:r>
              <a:rPr lang="en-US" sz="3269" dirty="0" err="1">
                <a:solidFill>
                  <a:srgbClr val="FFFFFF"/>
                </a:solidFill>
                <a:latin typeface="Times New Roman"/>
                <a:ea typeface="Times New Roman"/>
                <a:cs typeface="Times New Roman"/>
                <a:sym typeface="Times New Roman"/>
              </a:rPr>
              <a:t>arXiv</a:t>
            </a:r>
            <a:r>
              <a:rPr lang="en-US" sz="3269" dirty="0">
                <a:solidFill>
                  <a:srgbClr val="FFFFFF"/>
                </a:solidFill>
                <a:latin typeface="Times New Roman"/>
                <a:ea typeface="Times New Roman"/>
                <a:cs typeface="Times New Roman"/>
                <a:sym typeface="Times New Roman"/>
              </a:rPr>
              <a:t> preprint arXiv:1707.06347. </a:t>
            </a:r>
            <a:r>
              <a:rPr lang="en-US" sz="3269" u="sng" dirty="0">
                <a:solidFill>
                  <a:srgbClr val="FFFFFF"/>
                </a:solidFill>
                <a:latin typeface="Times New Roman"/>
                <a:ea typeface="Times New Roman"/>
                <a:cs typeface="Times New Roman"/>
                <a:sym typeface="Times New Roman"/>
                <a:hlinkClick r:id="rId5" tooltip="https://arxiv.org/abs/1707.06347"/>
              </a:rPr>
              <a:t>https://arxiv.org/abs/1707.06347</a:t>
            </a:r>
          </a:p>
          <a:p>
            <a:pPr algn="ctr">
              <a:lnSpc>
                <a:spcPts val="4577"/>
              </a:lnSpc>
            </a:pPr>
            <a:r>
              <a:rPr lang="en-US" sz="3269" dirty="0">
                <a:solidFill>
                  <a:srgbClr val="FFFFFF"/>
                </a:solidFill>
                <a:latin typeface="Times New Roman"/>
                <a:ea typeface="Times New Roman"/>
                <a:cs typeface="Times New Roman"/>
                <a:sym typeface="Times New Roman"/>
              </a:rPr>
              <a:t>Todorov, E., </a:t>
            </a:r>
            <a:r>
              <a:rPr lang="en-US" sz="3269" dirty="0" err="1">
                <a:solidFill>
                  <a:srgbClr val="FFFFFF"/>
                </a:solidFill>
                <a:latin typeface="Times New Roman"/>
                <a:ea typeface="Times New Roman"/>
                <a:cs typeface="Times New Roman"/>
                <a:sym typeface="Times New Roman"/>
              </a:rPr>
              <a:t>Erez</a:t>
            </a:r>
            <a:r>
              <a:rPr lang="en-US" sz="3269" dirty="0">
                <a:solidFill>
                  <a:srgbClr val="FFFFFF"/>
                </a:solidFill>
                <a:latin typeface="Times New Roman"/>
                <a:ea typeface="Times New Roman"/>
                <a:cs typeface="Times New Roman"/>
                <a:sym typeface="Times New Roman"/>
              </a:rPr>
              <a:t>, T., &amp; </a:t>
            </a:r>
            <a:r>
              <a:rPr lang="en-US" sz="3269" dirty="0" err="1">
                <a:solidFill>
                  <a:srgbClr val="FFFFFF"/>
                </a:solidFill>
                <a:latin typeface="Times New Roman"/>
                <a:ea typeface="Times New Roman"/>
                <a:cs typeface="Times New Roman"/>
                <a:sym typeface="Times New Roman"/>
              </a:rPr>
              <a:t>Tassa</a:t>
            </a:r>
            <a:r>
              <a:rPr lang="en-US" sz="3269" dirty="0">
                <a:solidFill>
                  <a:srgbClr val="FFFFFF"/>
                </a:solidFill>
                <a:latin typeface="Times New Roman"/>
                <a:ea typeface="Times New Roman"/>
                <a:cs typeface="Times New Roman"/>
                <a:sym typeface="Times New Roman"/>
              </a:rPr>
              <a:t>, Y. (2012). </a:t>
            </a:r>
            <a:r>
              <a:rPr lang="en-US" sz="3269" dirty="0" err="1">
                <a:solidFill>
                  <a:srgbClr val="FFFFFF"/>
                </a:solidFill>
                <a:latin typeface="Times New Roman"/>
                <a:ea typeface="Times New Roman"/>
                <a:cs typeface="Times New Roman"/>
                <a:sym typeface="Times New Roman"/>
              </a:rPr>
              <a:t>MuJoCo</a:t>
            </a:r>
            <a:r>
              <a:rPr lang="en-US" sz="3269" dirty="0">
                <a:solidFill>
                  <a:srgbClr val="FFFFFF"/>
                </a:solidFill>
                <a:latin typeface="Times New Roman"/>
                <a:ea typeface="Times New Roman"/>
                <a:cs typeface="Times New Roman"/>
                <a:sym typeface="Times New Roman"/>
              </a:rPr>
              <a:t>: A physics engine for model-based control. IEEE/RSJ International Conference on Intelligent Robots and Systems (IROS). </a:t>
            </a:r>
            <a:r>
              <a:rPr lang="en-US" sz="3269" u="sng" dirty="0">
                <a:solidFill>
                  <a:srgbClr val="FFFFFF"/>
                </a:solidFill>
                <a:latin typeface="Times New Roman"/>
                <a:ea typeface="Times New Roman"/>
                <a:cs typeface="Times New Roman"/>
                <a:sym typeface="Times New Roman"/>
                <a:hlinkClick r:id="rId6" tooltip="https://mujoco.org"/>
              </a:rPr>
              <a:t>https://mujoco.org</a:t>
            </a:r>
          </a:p>
          <a:p>
            <a:pPr algn="ctr">
              <a:lnSpc>
                <a:spcPts val="4577"/>
              </a:lnSpc>
            </a:pPr>
            <a:r>
              <a:rPr lang="en-US" sz="3269" dirty="0">
                <a:solidFill>
                  <a:srgbClr val="FFFFFF"/>
                </a:solidFill>
                <a:latin typeface="Times New Roman"/>
                <a:ea typeface="Times New Roman"/>
                <a:cs typeface="Times New Roman"/>
                <a:sym typeface="Times New Roman"/>
              </a:rPr>
              <a:t>Unitree Robotics. (n.d.). Unitree G1 humanoid robot. </a:t>
            </a:r>
            <a:r>
              <a:rPr lang="en-US" sz="3269" u="sng" dirty="0">
                <a:solidFill>
                  <a:srgbClr val="FFFFFF"/>
                </a:solidFill>
                <a:latin typeface="Times New Roman"/>
                <a:ea typeface="Times New Roman"/>
                <a:cs typeface="Times New Roman"/>
                <a:sym typeface="Times New Roman"/>
                <a:hlinkClick r:id="rId7" tooltip="https://www.unitree.com"/>
              </a:rPr>
              <a:t>https://www.unitree.com</a:t>
            </a:r>
          </a:p>
          <a:p>
            <a:pPr algn="ctr">
              <a:lnSpc>
                <a:spcPts val="4577"/>
              </a:lnSpc>
              <a:spcBef>
                <a:spcPct val="0"/>
              </a:spcBef>
            </a:pPr>
            <a:r>
              <a:rPr lang="en-US" sz="3269" dirty="0">
                <a:solidFill>
                  <a:srgbClr val="FFFFFF"/>
                </a:solidFill>
                <a:latin typeface="Times New Roman"/>
                <a:ea typeface="Times New Roman"/>
                <a:cs typeface="Times New Roman"/>
                <a:sym typeface="Times New Roman"/>
              </a:rPr>
              <a:t>YAML. (n.d.). YAML </a:t>
            </a:r>
            <a:r>
              <a:rPr lang="en-US" sz="3269" dirty="0" err="1">
                <a:solidFill>
                  <a:srgbClr val="FFFFFF"/>
                </a:solidFill>
                <a:latin typeface="Times New Roman"/>
                <a:ea typeface="Times New Roman"/>
                <a:cs typeface="Times New Roman"/>
                <a:sym typeface="Times New Roman"/>
              </a:rPr>
              <a:t>Ain’t</a:t>
            </a:r>
            <a:r>
              <a:rPr lang="en-US" sz="3269" dirty="0">
                <a:solidFill>
                  <a:srgbClr val="FFFFFF"/>
                </a:solidFill>
                <a:latin typeface="Times New Roman"/>
                <a:ea typeface="Times New Roman"/>
                <a:cs typeface="Times New Roman"/>
                <a:sym typeface="Times New Roman"/>
              </a:rPr>
              <a:t> Markup Language (YAML™) version 1.2. </a:t>
            </a:r>
            <a:endParaRPr lang="en-US" sz="3269" u="sng" dirty="0">
              <a:solidFill>
                <a:srgbClr val="FFFFFF"/>
              </a:solidFill>
              <a:latin typeface="Times New Roman"/>
              <a:ea typeface="Times New Roman"/>
              <a:cs typeface="Times New Roman"/>
              <a:sym typeface="Times New Roman"/>
              <a:hlinkClick r:id="rId8" tooltip="https://yaml.org"/>
            </a:endParaRPr>
          </a:p>
          <a:p>
            <a:pPr algn="ctr">
              <a:lnSpc>
                <a:spcPts val="4577"/>
              </a:lnSpc>
              <a:spcBef>
                <a:spcPct val="0"/>
              </a:spcBef>
            </a:pPr>
            <a:endParaRPr lang="en-US" sz="3269" u="sng" dirty="0">
              <a:solidFill>
                <a:srgbClr val="FFFFFF"/>
              </a:solidFill>
              <a:latin typeface="Times New Roman"/>
              <a:ea typeface="Times New Roman"/>
              <a:cs typeface="Times New Roman"/>
              <a:sym typeface="Times New Roman"/>
              <a:hlinkClick r:id="rId8" tooltip="https://yaml.org"/>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800</Words>
  <Application>Microsoft Macintosh PowerPoint</Application>
  <PresentationFormat>Custom</PresentationFormat>
  <Paragraphs>31</Paragraphs>
  <Slides>9</Slides>
  <Notes>0</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Alta</vt:lpstr>
      <vt:lpstr>Open Sans</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2</dc:title>
  <cp:lastModifiedBy>Cesar Pascal</cp:lastModifiedBy>
  <cp:revision>2</cp:revision>
  <dcterms:created xsi:type="dcterms:W3CDTF">2006-08-16T00:00:00Z</dcterms:created>
  <dcterms:modified xsi:type="dcterms:W3CDTF">2026-02-16T02:44:07Z</dcterms:modified>
  <dc:identifier>DAHBFFf9hDg</dc:identifier>
</cp:coreProperties>
</file>