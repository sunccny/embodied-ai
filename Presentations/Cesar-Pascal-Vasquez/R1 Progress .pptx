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7"/>
  </p:normalViewPr>
  <p:slideViewPr>
    <p:cSldViewPr snapToGrid="0">
      <p:cViewPr varScale="1">
        <p:scale>
          <a:sx n="96" d="100"/>
          <a:sy n="96" d="100"/>
        </p:scale>
        <p:origin x="200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Progress report as of October 26, 2026. Nearby success is65/100 from full_throw_dynamic_20261026/report.json. All results are simulation. Previous IEEE-style presentation provides the visual reference. The stopped full residual PPO run has not met the50% wider-placement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[1] https://proceedings.mlr.press/v80/haarnoja18b.html [2] https://cdn.aaai.org/ICML/2003/ICML03-068.pdf [3] https://arxiv.org/abs/1707.06347 . Local sources: grasp_env.py, focus_lift.py, full_throw.py, full_residual_env.py, train_residual_ppo.py. Acquisition base has1.2M interactions. Focused lift uses18parameters (3knots×6channels); the throw has its own parameterized motion. CEM is reward-based policy search, distinct from gradient actor-critic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full_throw.py, stable(), prefix(), episode(); grasp_env.py. Full-sequence hold has20controls at20Hz, requires thumb and another finger, unsupported lift&gt;=.03m, ball speed&lt;.2m/s, ball contacts subset of fingers/palm. Throw vx&gt;=.4m/s, airborne&gt;=.1s, forward release-to-first-landing displacement&gt;=.2m, first landing cannot be the hand. Separate focused lift evaluation used5s stationary hold, a different protocol. No weld, teleport or external support during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Video: focused_hold_lift/lift_and_hold_seed8800000.mp4. hold_report.json: training-state final lift.137750139m,5s stationary hold. Generalization result20/30 uses fresh nearby contact-state continuations reached by the acquisition policy. It is not30arbitrary wider resets. The13.8cm is one demonstration, not an evaluation mean.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Video: full_throw_dynamic_20261026/full_throw_seed10700022.mp4. report.json near row seed10700022, release-to-first-landing forward range.3501099592726937m. Demonstration of the preserved selected sequence, not the stopped residual policy. Native full physics, no reset between phases. The episode includes1s stable hold before throw.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[7]: full_throw_dynamic_20261026/report.json. Selected controller uses physical_grasp_temporal/after_training.zip, focused_hold_lift/best_policy.npz and full_throw_dynamic_20261026/best_policy.npz. Nearby100 seeds10700000–10700099. Wide50seeds10800000–10800049, verify exactsource rows. Mean successful near range.3604935835192315m, max.43930669464376126m. Spread is the per-coordinate reset sampling parameter (uniform±spread before rejection of penetrating spawns), not Euclidean hand-to-ball distance or a certified reachable radius. Different test sample sizes shown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full_residual_ppo_wide_20261026/config.json, stop_summary.json, status.json, history.json, source_snapshot/train_residual_ppo.py and full_residual_env.py. Actor128×128, learning rate1e-4, gamma.995, GAE1, PPOclip.05, targetKL.005. Residual scale.25to2depends on initial placement context; native final actions clipped[-1,1]. Previous acquisition-only PPO provides actor latent features, correction output initializedzero. No teachers, DAgger or imitation loss. Clean checkpoint stop at959040.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full_residual_ppo_wide_20261026/stage_diagnostics.json, best_wide.zip rerun on24fixed validation seeds15200000–15200023. Opposedcontact4everand4at240boundary, validlift2,throw1,drops12,torso0. Mean boundarydistance.17903014663973285m across episodes reaching240; some earlydrop episodes have no boundarymeasurement. Rows are different measurements on the same episodes and must not be summed. Success nested contact/lift/throw, drops separate. Diagnostic checkpoint can differ from last checkpoint.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Proposals from ALTERNATIVE_TRAINING_PLAN.md, not implemented results. [4] HER: https://arxiv.org/abs/1707.01495 supports off-policy goal relabeling. Existing desired_goal is a moving hand target; lift HER requires a new consistent object-goal interface and recomputable rewards preserving grip/hold/collision constraints. [5] Option-Critic https://arxiv.org/abs/1609.05140 motivates learning optiontermination. A manually sensed readiness transition is an alternative, not identical to learned optiontermination. No demonstrations or teacheractions required by the proposal. Use small matchedbudget pilots before longtraining.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Summary of [7]: full_throw_dynamic_20261026/report.json, selected_models.json, full_residual_ppo_wide_20261026/stop_summary.json and stage_diagnostics.json. The selected controller is unchanged. Latest experiment stopped by user; no active replacement training job. All results simulationonly.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[1] https://proceedings.mlr.press/v80/haarnoja18b.html [2] https://cdn.aaai.org/ICML/2003/ICML03-068.pdf [3] https://arxiv.org/abs/1707.06347 [4] https://arxiv.org/abs/1707.01495 [5] https://arxiv.org/abs/1609.05140 [6] https://mujoco.readthedocs.io/en/stable/computation/ [7] /Users/cesarpascal/Documents/Training/real_r1_arm_policy/rl_grasp, especially selected_models.json, grasp_env.py, focus_lift.py, full_throw.py, full_residual_env.py, train_residual_ppo.py and cited run JSONs. [1]–[3] describe established algorithms used. [4]–[5] motivate future experiments, not methods already validated in the stopped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AD5B731-587A-4F29-B378-42C0B1FD9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A691C91-E0BB-4B2D-9AD1-035C1823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6243953B-1F8E-42B4-8EED-FA711D800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03650AC-BC0C-49ED-8779-FA42B3665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5DF61E1-BC17-4818-ACFE-C6149070A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1BFCDFF-C505-4341-BAC2-9CCFCF483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EFB4938-6980-4A7C-8EEA-5EAD74132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16E7A43A-6FBA-48F9-8E85-3835ED84211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BE7E39E-4484-4B9C-9E49-C4B349B6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11986FC-A7E5-489B-B863-18B0DEBEB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80B271-A04B-43D0-A7BF-92A0CD15FDDB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4775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5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5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R1 arm training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F5EF32-3FE6-42D2-A23A-DDF7AC727053}"/>
              </a:ext>
            </a:extLst>
          </p:cNvPr>
          <p:cNvSpPr>
            <a:spLocks noGrp="1"/>
          </p:cNvSpPr>
          <p:nvPr/>
        </p:nvSpPr>
        <p:spPr>
          <a:xfrm>
            <a:off x="723900" y="2333625"/>
            <a:ext cx="106680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Reach, grasp, lift, hold and throw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FEF556-6169-477B-A872-2CF3BC77C6D1}"/>
              </a:ext>
            </a:extLst>
          </p:cNvPr>
          <p:cNvSpPr>
            <a:spLocks noGrp="1"/>
          </p:cNvSpPr>
          <p:nvPr/>
        </p:nvSpPr>
        <p:spPr>
          <a:xfrm>
            <a:off x="723900" y="3714750"/>
            <a:ext cx="10477500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25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25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rPr>
              <a:t>Learning from rewards, with no scripted teacher or DAgger.</a:t>
            </a:r>
          </a:p>
          <a:p>
            <a:pPr>
              <a:defRPr sz="225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rPr>
              <a:t>65% nearby sequence success. Wider grasping remains limited.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6281-A990-48B5-A1A9-083DFC098383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9906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80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80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rPr>
              <a:t>MuJoCo simulation</a:t>
            </a:r>
          </a:p>
          <a:p>
            <a:pPr>
              <a:defRPr sz="180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C9DAEB"/>
                </a:solidFill>
                <a:latin typeface="Helvetica Neue"/>
                <a:ea typeface="Helvetica Neue"/>
                <a:cs typeface="Helvetica Neue"/>
              </a:rPr>
              <a:t>October 26, 2026</a:t>
            </a:r>
          </a:p>
        </p:txBody>
      </p:sp>
    </p:spTree>
    <p:extLst>
      <p:ext uri="{BB962C8B-B14F-4D97-AF65-F5344CB8AC3E}">
        <p14:creationId xmlns:p14="http://schemas.microsoft.com/office/powerpoint/2010/main" val="1110507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8CBEC3-BEC6-4A5A-9C00-78162F5F51B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Learning method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2BC74C-1DEA-42FB-BD97-8F4723B84439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rPr>
              <a:t>Methods [1]–[3]. R1 implementation [7].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9160D7-6614-4DB2-8DFD-9E62CA096C0C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2D74A3-BC1D-416E-9CB0-6612E7B8C352}"/>
              </a:ext>
            </a:extLst>
          </p:cNvPr>
          <p:cNvSpPr>
            <a:spLocks noGrp="1"/>
          </p:cNvSpPr>
          <p:nvPr/>
        </p:nvSpPr>
        <p:spPr>
          <a:xfrm>
            <a:off x="685800" y="1495425"/>
            <a:ext cx="2381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rPr>
              <a:t>SAC acquisition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BA8602-7237-459C-A02B-95BC664B598F}"/>
              </a:ext>
            </a:extLst>
          </p:cNvPr>
          <p:cNvSpPr>
            <a:spLocks noGrp="1"/>
          </p:cNvSpPr>
          <p:nvPr/>
        </p:nvSpPr>
        <p:spPr>
          <a:xfrm>
            <a:off x="3295650" y="1495425"/>
            <a:ext cx="80772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Soft Actor-Critic learns feedback commands for reaching and hand closure from physical rewards [1].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9ABC02-331A-4DBF-92A4-D6A6A8E6A7B3}"/>
              </a:ext>
            </a:extLst>
          </p:cNvPr>
          <p:cNvSpPr>
            <a:spLocks noGrp="1"/>
          </p:cNvSpPr>
          <p:nvPr/>
        </p:nvSpPr>
        <p:spPr>
          <a:xfrm>
            <a:off x="685800" y="2505075"/>
            <a:ext cx="2381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rPr>
              <a:t>CEM motions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9D851C-15E1-44B4-BB45-D4A97E69E241}"/>
              </a:ext>
            </a:extLst>
          </p:cNvPr>
          <p:cNvSpPr>
            <a:spLocks noGrp="1"/>
          </p:cNvSpPr>
          <p:nvPr/>
        </p:nvSpPr>
        <p:spPr>
          <a:xfrm>
            <a:off x="3295650" y="2505075"/>
            <a:ext cx="80772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The cross-entropy method samples motion parameters, scores episodes and refits toward better candidates [2].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B280AF-4317-454D-A27D-307717B22E6F}"/>
              </a:ext>
            </a:extLst>
          </p:cNvPr>
          <p:cNvSpPr>
            <a:spLocks noGrp="1"/>
          </p:cNvSpPr>
          <p:nvPr/>
        </p:nvSpPr>
        <p:spPr>
          <a:xfrm>
            <a:off x="685800" y="3514725"/>
            <a:ext cx="2381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rPr>
              <a:t>Residual PPO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FDC2B2-93F8-4D18-B4A2-2E8E4A6E14A0}"/>
              </a:ext>
            </a:extLst>
          </p:cNvPr>
          <p:cNvSpPr>
            <a:spLocks noGrp="1"/>
          </p:cNvSpPr>
          <p:nvPr/>
        </p:nvSpPr>
        <p:spPr>
          <a:xfrm>
            <a:off x="3295650" y="3514725"/>
            <a:ext cx="80772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A later experiment learns corrections around the preserved sequence during reaching, lifting and throwing [3].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6FBC8A-6FB2-47CB-8E95-5B2BAEB6DD32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2381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rPr>
              <a:t>Contribution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EE40F7-C001-457A-862D-10624E8C200B}"/>
              </a:ext>
            </a:extLst>
          </p:cNvPr>
          <p:cNvSpPr>
            <a:spLocks noGrp="1"/>
          </p:cNvSpPr>
          <p:nvPr/>
        </p:nvSpPr>
        <p:spPr>
          <a:xfrm>
            <a:off x="3295650" y="4524375"/>
            <a:ext cx="80772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The R1 setup combines established methods, physical rewards and skill reuse. These optimizers are established algorithms.</a:t>
            </a:r>
          </a:p>
        </p:txBody>
      </p:sp>
    </p:spTree>
    <p:extLst>
      <p:ext uri="{BB962C8B-B14F-4D97-AF65-F5344CB8AC3E}">
        <p14:creationId xmlns:p14="http://schemas.microsoft.com/office/powerpoint/2010/main" val="1443796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BDFA2C-332E-4AE2-BFF2-63BAF9DDF0A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Physical task and success criteria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7CB052-47B5-4B15-8769-DFBC36D49574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rPr>
              <a:t>Project records [7]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6FA642-7C86-46AE-AB7F-E5B1B2582999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980AB3-ED81-4BC6-B323-3A9C267D6CD8}"/>
              </a:ext>
            </a:extLst>
          </p:cNvPr>
          <p:cNvSpPr>
            <a:spLocks noGrp="1"/>
          </p:cNvSpPr>
          <p:nvPr/>
        </p:nvSpPr>
        <p:spPr>
          <a:xfrm>
            <a:off x="685800" y="1495425"/>
            <a:ext cx="2381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rPr>
              <a:t>Grasp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17CB40-DE54-4D49-88E4-D66152116430}"/>
              </a:ext>
            </a:extLst>
          </p:cNvPr>
          <p:cNvSpPr>
            <a:spLocks noGrp="1"/>
          </p:cNvSpPr>
          <p:nvPr/>
        </p:nvSpPr>
        <p:spPr>
          <a:xfrm>
            <a:off x="3295650" y="1495425"/>
            <a:ext cx="80772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The thumb and at least one other finger contact the ball. The ball remains a free body under full gravity.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BDE63A-F47B-494D-B013-1C528184451A}"/>
              </a:ext>
            </a:extLst>
          </p:cNvPr>
          <p:cNvSpPr>
            <a:spLocks noGrp="1"/>
          </p:cNvSpPr>
          <p:nvPr/>
        </p:nvSpPr>
        <p:spPr>
          <a:xfrm>
            <a:off x="685800" y="2505075"/>
            <a:ext cx="2381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rPr>
              <a:t>Lift and hold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42CFBC-C179-4926-AF5A-11070FC7A2AE}"/>
              </a:ext>
            </a:extLst>
          </p:cNvPr>
          <p:cNvSpPr>
            <a:spLocks noGrp="1"/>
          </p:cNvSpPr>
          <p:nvPr/>
        </p:nvSpPr>
        <p:spPr>
          <a:xfrm>
            <a:off x="3295650" y="2505075"/>
            <a:ext cx="80772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Raise the ball at least 3 cm, clear the support and maintain a stable stationary hold before throwing.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5C1A28-ADD4-4C80-8CDD-1A873B70D7F3}"/>
              </a:ext>
            </a:extLst>
          </p:cNvPr>
          <p:cNvSpPr>
            <a:spLocks noGrp="1"/>
          </p:cNvSpPr>
          <p:nvPr/>
        </p:nvSpPr>
        <p:spPr>
          <a:xfrm>
            <a:off x="685800" y="3514725"/>
            <a:ext cx="2381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rPr>
              <a:t>Valid throw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107B16-6932-43DA-B52D-FD54A35F1F7D}"/>
              </a:ext>
            </a:extLst>
          </p:cNvPr>
          <p:cNvSpPr>
            <a:spLocks noGrp="1"/>
          </p:cNvSpPr>
          <p:nvPr/>
        </p:nvSpPr>
        <p:spPr>
          <a:xfrm>
            <a:off x="3295650" y="3514725"/>
            <a:ext cx="80772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Release forward at least 0.4 m/s. Require 0.1 s of free flight and at least 20 cm forward travel to first landing.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40ABA6-A583-4AD2-803C-EFD1E00E7FEA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2381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rPr>
              <a:t>Collision accounting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AAA4B9-DDE9-47A1-B273-17F92617A9F3}"/>
              </a:ext>
            </a:extLst>
          </p:cNvPr>
          <p:cNvSpPr>
            <a:spLocks noGrp="1"/>
          </p:cNvSpPr>
          <p:nvPr/>
        </p:nvSpPr>
        <p:spPr>
          <a:xfrm>
            <a:off x="3295650" y="4524375"/>
            <a:ext cx="80772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A complete success requires no torso collision or disallowed ball contact. Every evaluated reset counts.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954B6A-C721-4854-AAB5-931AD9D66851}"/>
              </a:ext>
            </a:extLst>
          </p:cNvPr>
          <p:cNvSpPr>
            <a:spLocks noGrp="1"/>
          </p:cNvSpPr>
          <p:nvPr/>
        </p:nvSpPr>
        <p:spPr>
          <a:xfrm>
            <a:off x="685800" y="5800725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rPr>
              <a:t>The full sequence checks a one-second hold before the throw.</a:t>
            </a:r>
          </a:p>
        </p:txBody>
      </p:sp>
    </p:spTree>
    <p:extLst>
      <p:ext uri="{BB962C8B-B14F-4D97-AF65-F5344CB8AC3E}">
        <p14:creationId xmlns:p14="http://schemas.microsoft.com/office/powerpoint/2010/main" val="1990919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518DE9-47AA-4472-894D-8EB787F81EE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Learned lift and stationary hold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4AEE8B-0169-4642-9BA6-D93CD71A477E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rPr>
              <a:t>Project records [7]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0208B9-8EB8-47CD-ADAE-429B5FEA4308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pic>
        <p:nvPicPr>
          <p:cNvPr id="5" name="lift_and_hold video">
            <a:hlinkClick r:id="" action="ppaction://media"/>
            <a:extLst>
              <a:ext uri="{FF2B5EF4-FFF2-40B4-BE49-F238E27FC236}">
                <a16:creationId xmlns:a16="http://schemas.microsoft.com/office/drawing/2014/main" id="{FD542DE7-9F48-4485-87C0-3224D0D6906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/>
        </p:blipFill>
        <p:spPr>
          <a:xfrm>
            <a:off x="609600" y="1419225"/>
            <a:ext cx="6400800" cy="4800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4E51A44-2347-4517-A7B3-B3E31C47D700}"/>
              </a:ext>
            </a:extLst>
          </p:cNvPr>
          <p:cNvSpPr>
            <a:spLocks noGrp="1"/>
          </p:cNvSpPr>
          <p:nvPr/>
        </p:nvSpPr>
        <p:spPr>
          <a:xfrm>
            <a:off x="7505700" y="1619250"/>
            <a:ext cx="4000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42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2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2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2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2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2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2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2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2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2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42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rPr>
              <a:t>13.8 cm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AFD339-A98B-4562-AD96-A9C4A842ED80}"/>
              </a:ext>
            </a:extLst>
          </p:cNvPr>
          <p:cNvSpPr>
            <a:spLocks noGrp="1"/>
          </p:cNvSpPr>
          <p:nvPr/>
        </p:nvSpPr>
        <p:spPr>
          <a:xfrm>
            <a:off x="7505700" y="2457450"/>
            <a:ext cx="40005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demonstration lift height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FB26D8-26AE-4B47-9CB7-E92F91C7A4DD}"/>
              </a:ext>
            </a:extLst>
          </p:cNvPr>
          <p:cNvSpPr>
            <a:spLocks noGrp="1"/>
          </p:cNvSpPr>
          <p:nvPr/>
        </p:nvSpPr>
        <p:spPr>
          <a:xfrm>
            <a:off x="7505700" y="3400425"/>
            <a:ext cx="400050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120 focused CEM search episodes produced a lift followed by a five-second stationary hold.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E4D6C7-8CF6-49BA-9070-7373DCA072AB}"/>
              </a:ext>
            </a:extLst>
          </p:cNvPr>
          <p:cNvSpPr>
            <a:spLocks noGrp="1"/>
          </p:cNvSpPr>
          <p:nvPr/>
        </p:nvSpPr>
        <p:spPr>
          <a:xfrm>
            <a:off x="7505700" y="5067300"/>
            <a:ext cx="4000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rPr>
              <a:t>Separate evaluation: 20/30 successes</a:t>
            </a:r>
          </a:p>
          <a:p>
            <a:pPr>
              <a:def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rPr>
              <a:t>from nearby contact continuations.</a:t>
            </a:r>
          </a:p>
        </p:txBody>
      </p:sp>
    </p:spTree>
    <p:extLst>
      <p:ext uri="{BB962C8B-B14F-4D97-AF65-F5344CB8AC3E}">
        <p14:creationId xmlns:p14="http://schemas.microsoft.com/office/powerpoint/2010/main" val="650001661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prevAc="none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BD81DA-6E98-4A3E-B05B-EE7CDFDCC01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Complete reach-to-throw demonstration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431C5F-C2C8-4634-AE1A-C56B4C94B34F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pic>
        <p:nvPicPr>
          <p:cNvPr id="5" name="full_throw video">
            <a:hlinkClick r:id="" action="ppaction://media"/>
            <a:extLst>
              <a:ext uri="{FF2B5EF4-FFF2-40B4-BE49-F238E27FC236}">
                <a16:creationId xmlns:a16="http://schemas.microsoft.com/office/drawing/2014/main" id="{4F5E6DCA-8D24-4313-8E90-F50376BB26D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/>
        </p:blipFill>
        <p:spPr>
          <a:xfrm>
            <a:off x="609600" y="1419225"/>
            <a:ext cx="6400800" cy="4800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0479CF6-C245-42F2-BF16-87D2C5FCE359}"/>
              </a:ext>
            </a:extLst>
          </p:cNvPr>
          <p:cNvSpPr>
            <a:spLocks noGrp="1"/>
          </p:cNvSpPr>
          <p:nvPr/>
        </p:nvSpPr>
        <p:spPr>
          <a:xfrm>
            <a:off x="7505700" y="1619250"/>
            <a:ext cx="4000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42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2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2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2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2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2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2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2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2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2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42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rPr>
              <a:t>35.0 cm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231543-1ECE-40ED-8501-EEDB32520B4D}"/>
              </a:ext>
            </a:extLst>
          </p:cNvPr>
          <p:cNvSpPr>
            <a:spLocks noGrp="1"/>
          </p:cNvSpPr>
          <p:nvPr/>
        </p:nvSpPr>
        <p:spPr>
          <a:xfrm>
            <a:off x="7505700" y="2457450"/>
            <a:ext cx="40005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forward travel in this episode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D420AC-22C4-4FD3-8F75-1C7E65E3944D}"/>
              </a:ext>
            </a:extLst>
          </p:cNvPr>
          <p:cNvSpPr>
            <a:spLocks noGrp="1"/>
          </p:cNvSpPr>
          <p:nvPr/>
        </p:nvSpPr>
        <p:spPr>
          <a:xfrm>
            <a:off x="7505700" y="3400425"/>
            <a:ext cx="400050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One continuous simulation executes acquisition, lift, hold, acceleration and release.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8A8F98-7CDB-4242-9BF9-B62EB1E50F04}"/>
              </a:ext>
            </a:extLst>
          </p:cNvPr>
          <p:cNvSpPr>
            <a:spLocks noGrp="1"/>
          </p:cNvSpPr>
          <p:nvPr/>
        </p:nvSpPr>
        <p:spPr>
          <a:xfrm>
            <a:off x="7505700" y="5067300"/>
            <a:ext cx="4000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rPr>
              <a:t>Distance runs from release</a:t>
            </a:r>
          </a:p>
          <a:p>
            <a:pPr>
              <a:def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rPr>
              <a:t>to the first landing.</a:t>
            </a:r>
          </a:p>
        </p:txBody>
      </p:sp>
    </p:spTree>
    <p:extLst>
      <p:ext uri="{BB962C8B-B14F-4D97-AF65-F5344CB8AC3E}">
        <p14:creationId xmlns:p14="http://schemas.microsoft.com/office/powerpoint/2010/main" val="458272076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prevAc="none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E7A52F-DDCE-4677-B961-7586A6708B2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Verified full-sequence 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5354B1-D527-40D9-9D11-887665A6D79E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F126D14-C738-40A0-B6A2-3D3194219E7D}"/>
              </a:ext>
            </a:extLst>
          </p:cNvPr>
          <p:cNvGraphicFramePr/>
          <p:nvPr/>
        </p:nvGraphicFramePr>
        <p:xfrm>
          <a:off x="685800" y="1581150"/>
          <a:ext cx="10820400" cy="3333750"/>
        </p:xfrm>
        <a:graphic>
          <a:graphicData uri="http://schemas.openxmlformats.org/drawingml/2006/table">
            <a:tbl>
              <a:tblPr/>
              <a:tblGrid>
                <a:gridCol w="514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</a:t>
                      </a:r>
                    </a:p>
                  </a:txBody>
                  <a:tcPr marL="152400" marR="152400" marT="95250" marB="95250">
                    <a:lnL w="6668">
                      <a:solidFill>
                        <a:srgbClr val="CDD8E3"/>
                      </a:solidFill>
                      <a:prstDash val="soli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>
                      <a:solidFill>
                        <a:srgbClr val="CDD8E3"/>
                      </a:solidFill>
                      <a:prstDash val="soli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1023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Nearby starts</a:t>
                      </a:r>
                    </a:p>
                  </a:txBody>
                  <a:tcPr marL="152400" marR="152400" marT="95250" marB="95250">
                    <a:lnL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>
                      <a:solidFill>
                        <a:srgbClr val="CDD8E3"/>
                      </a:solidFill>
                      <a:prstDash val="soli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1023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Wider starts</a:t>
                      </a:r>
                    </a:p>
                  </a:txBody>
                  <a:tcPr marL="152400" marR="152400" marT="95250" marB="95250">
                    <a:lnL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>
                      <a:solidFill>
                        <a:srgbClr val="CDD8E3"/>
                      </a:solidFill>
                      <a:prstDash val="soli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1023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8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Placement spread</a:t>
                      </a:r>
                    </a:p>
                  </a:txBody>
                  <a:tcPr marL="152400" marR="152400" marT="95250" marB="95250">
                    <a:lnL w="6668">
                      <a:solidFill>
                        <a:srgbClr val="CDD8E3"/>
                      </a:solidFill>
                      <a:prstDash val="soli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8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 mm</a:t>
                      </a:r>
                    </a:p>
                  </a:txBody>
                  <a:tcPr marL="152400" marR="152400" marT="95250" marB="95250">
                    <a:lnL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8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80 mm</a:t>
                      </a:r>
                    </a:p>
                  </a:txBody>
                  <a:tcPr marL="152400" marR="152400" marT="95250" marB="95250">
                    <a:lnL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8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 successes</a:t>
                      </a:r>
                    </a:p>
                  </a:txBody>
                  <a:tcPr marL="152400" marR="152400" marT="95250" marB="95250">
                    <a:lnL w="6668">
                      <a:solidFill>
                        <a:srgbClr val="CDD8E3"/>
                      </a:solidFill>
                      <a:prstDash val="soli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8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65 / 100 (65%)</a:t>
                      </a:r>
                    </a:p>
                  </a:txBody>
                  <a:tcPr marL="152400" marR="152400" marT="95250" marB="95250">
                    <a:lnL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8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 / 50 (6%)</a:t>
                      </a:r>
                    </a:p>
                  </a:txBody>
                  <a:tcPr marL="152400" marR="152400" marT="95250" marB="95250">
                    <a:lnL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8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Lift successes</a:t>
                      </a:r>
                    </a:p>
                  </a:txBody>
                  <a:tcPr marL="152400" marR="152400" marT="95250" marB="95250">
                    <a:lnL w="6668">
                      <a:solidFill>
                        <a:srgbClr val="CDD8E3"/>
                      </a:solidFill>
                      <a:prstDash val="soli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8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66 / 100 (66%)</a:t>
                      </a:r>
                    </a:p>
                  </a:txBody>
                  <a:tcPr marL="152400" marR="152400" marT="95250" marB="95250">
                    <a:lnL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8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 / 50 (8%)</a:t>
                      </a:r>
                    </a:p>
                  </a:txBody>
                  <a:tcPr marL="152400" marR="152400" marT="95250" marB="95250">
                    <a:lnL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8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Torso collisions</a:t>
                      </a:r>
                    </a:p>
                  </a:txBody>
                  <a:tcPr marL="152400" marR="152400" marT="95250" marB="95250">
                    <a:lnL w="6668">
                      <a:solidFill>
                        <a:srgbClr val="CDD8E3"/>
                      </a:solidFill>
                      <a:prstDash val="soli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8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 / 100</a:t>
                      </a:r>
                    </a:p>
                  </a:txBody>
                  <a:tcPr marL="152400" marR="152400" marT="95250" marB="95250">
                    <a:lnL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8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 / 50</a:t>
                      </a:r>
                    </a:p>
                  </a:txBody>
                  <a:tcPr marL="152400" marR="152400" marT="95250" marB="95250">
                    <a:lnL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2434B80-31BC-4504-9818-8632126AD492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Successful nearby throws: 36.0 cm mean forward range, 43.9 cm maximum.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1BA66C-E0D4-43D2-ACF3-AB2B789D62E0}"/>
              </a:ext>
            </a:extLst>
          </p:cNvPr>
          <p:cNvSpPr>
            <a:spLocks noGrp="1"/>
          </p:cNvSpPr>
          <p:nvPr/>
        </p:nvSpPr>
        <p:spPr>
          <a:xfrm>
            <a:off x="685800" y="5819775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800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800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rPr>
              <a:t>All reset episodes count. The 50% wider-placement target remains unmet.</a:t>
            </a:r>
          </a:p>
        </p:txBody>
      </p:sp>
    </p:spTree>
    <p:extLst>
      <p:ext uri="{BB962C8B-B14F-4D97-AF65-F5344CB8AC3E}">
        <p14:creationId xmlns:p14="http://schemas.microsoft.com/office/powerpoint/2010/main" val="1303018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F70D29-E336-46ED-AEA3-B21DD126071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Residual PPO improvement experiment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B44DC1-41E0-44A1-9425-7D09965F752E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rPr>
              <a:t>PPO [3]. Experiment records [7].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8F13C7-99D1-440E-841B-450D6C94E7EC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18C822-9A7B-4C42-A673-5FF07552F51D}"/>
              </a:ext>
            </a:extLst>
          </p:cNvPr>
          <p:cNvSpPr>
            <a:spLocks noGrp="1"/>
          </p:cNvSpPr>
          <p:nvPr/>
        </p:nvSpPr>
        <p:spPr>
          <a:xfrm>
            <a:off x="685800" y="1495425"/>
            <a:ext cx="2381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rPr>
              <a:t>Starting point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04DCF3-F7DE-4EFF-83D5-A9AE349A5F6D}"/>
              </a:ext>
            </a:extLst>
          </p:cNvPr>
          <p:cNvSpPr>
            <a:spLocks noGrp="1"/>
          </p:cNvSpPr>
          <p:nvPr/>
        </p:nvSpPr>
        <p:spPr>
          <a:xfrm>
            <a:off x="3295650" y="1495425"/>
            <a:ext cx="80772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Keep the earlier SAC and CEM sequence frozen. Train a bounded residual action on top of its commands.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37F70D-B9CC-49DD-8512-B9CC5A9C002F}"/>
              </a:ext>
            </a:extLst>
          </p:cNvPr>
          <p:cNvSpPr>
            <a:spLocks noGrp="1"/>
          </p:cNvSpPr>
          <p:nvPr/>
        </p:nvSpPr>
        <p:spPr>
          <a:xfrm>
            <a:off x="685800" y="2505075"/>
            <a:ext cx="2381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rPr>
              <a:t>Training scope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1FBF69-E272-47AF-8D0B-F9EC699BEA5F}"/>
              </a:ext>
            </a:extLst>
          </p:cNvPr>
          <p:cNvSpPr>
            <a:spLocks noGrp="1"/>
          </p:cNvSpPr>
          <p:nvPr/>
        </p:nvSpPr>
        <p:spPr>
          <a:xfrm>
            <a:off x="3295650" y="2505075"/>
            <a:ext cx="80772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Correct acquisition, lift and throw. Keep stationary targets during the hold and flight observation phases.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384291-6301-4AF5-882B-B0D6A12BE1D8}"/>
              </a:ext>
            </a:extLst>
          </p:cNvPr>
          <p:cNvSpPr>
            <a:spLocks noGrp="1"/>
          </p:cNvSpPr>
          <p:nvPr/>
        </p:nvSpPr>
        <p:spPr>
          <a:xfrm>
            <a:off x="685800" y="3514725"/>
            <a:ext cx="2381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rPr>
              <a:t>CPU training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CA9991-A12D-40FE-A798-6C848B6EF7B9}"/>
              </a:ext>
            </a:extLst>
          </p:cNvPr>
          <p:cNvSpPr>
            <a:spLocks noGrp="1"/>
          </p:cNvSpPr>
          <p:nvPr/>
        </p:nvSpPr>
        <p:spPr>
          <a:xfrm>
            <a:off x="3295650" y="3514725"/>
            <a:ext cx="80772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Use six parallel simulation environments and a placement curriculum from 15 mm to 80 mm.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1AFB06-8171-46CC-B3A2-9046A3285796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2381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rPr>
              <a:t>Stopped run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11D2B5-EFB9-4D7B-8BBB-24A5FA872E21}"/>
              </a:ext>
            </a:extLst>
          </p:cNvPr>
          <p:cNvSpPr>
            <a:spLocks noGrp="1"/>
          </p:cNvSpPr>
          <p:nvPr/>
        </p:nvSpPr>
        <p:spPr>
          <a:xfrm>
            <a:off x="3295650" y="4524375"/>
            <a:ext cx="80772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Stop at 959,040 of 2 million planned interactions. Preserve the latest checkpoint and best validation checkpoint.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EDC61E-91F7-4EB6-9DD3-25582F16145B}"/>
              </a:ext>
            </a:extLst>
          </p:cNvPr>
          <p:cNvSpPr>
            <a:spLocks noGrp="1"/>
          </p:cNvSpPr>
          <p:nvPr/>
        </p:nvSpPr>
        <p:spPr>
          <a:xfrm>
            <a:off x="685800" y="5800725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rPr>
              <a:t>The experiment did not establish an improvement over the selected controller.</a:t>
            </a:r>
          </a:p>
        </p:txBody>
      </p:sp>
    </p:spTree>
    <p:extLst>
      <p:ext uri="{BB962C8B-B14F-4D97-AF65-F5344CB8AC3E}">
        <p14:creationId xmlns:p14="http://schemas.microsoft.com/office/powerpoint/2010/main" val="1843678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FBB0E0-1B99-4BC5-9379-54978304993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Where the sequence fails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EB6285-13E8-4768-8E40-D58480287CF3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94B5BD-8D5E-45D1-99B7-4768CC94D1AE}"/>
              </a:ext>
            </a:extLst>
          </p:cNvPr>
          <p:cNvGraphicFramePr/>
          <p:nvPr/>
        </p:nvGraphicFramePr>
        <p:xfrm>
          <a:off x="685800" y="1581150"/>
          <a:ext cx="10820400" cy="3333750"/>
        </p:xfrm>
        <a:graphic>
          <a:graphicData uri="http://schemas.openxmlformats.org/drawingml/2006/table">
            <a:tbl>
              <a:tblPr/>
              <a:tblGrid>
                <a:gridCol w="619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4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Diagnostic on best checkpoint</a:t>
                      </a:r>
                    </a:p>
                  </a:txBody>
                  <a:tcPr marL="152400" marR="152400" marT="95250" marB="95250">
                    <a:lnL w="6668">
                      <a:solidFill>
                        <a:srgbClr val="CDD8E3"/>
                      </a:solidFill>
                      <a:prstDash val="soli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>
                      <a:solidFill>
                        <a:srgbClr val="CDD8E3"/>
                      </a:solidFill>
                      <a:prstDash val="soli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1023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Episodes</a:t>
                      </a:r>
                    </a:p>
                  </a:txBody>
                  <a:tcPr marL="152400" marR="152400" marT="95250" marB="95250">
                    <a:lnL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>
                      <a:solidFill>
                        <a:srgbClr val="CDD8E3"/>
                      </a:solidFill>
                      <a:prstDash val="soli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1023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Rate</a:t>
                      </a:r>
                    </a:p>
                  </a:txBody>
                  <a:tcPr marL="152400" marR="152400" marT="95250" marB="95250">
                    <a:lnL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>
                      <a:solidFill>
                        <a:srgbClr val="CDD8E3"/>
                      </a:solidFill>
                      <a:prstDash val="soli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1023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8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Opposing finger contact</a:t>
                      </a:r>
                    </a:p>
                  </a:txBody>
                  <a:tcPr marL="152400" marR="152400" marT="95250" marB="95250">
                    <a:lnL w="6668">
                      <a:solidFill>
                        <a:srgbClr val="CDD8E3"/>
                      </a:solidFill>
                      <a:prstDash val="soli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8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 / 24</a:t>
                      </a:r>
                    </a:p>
                  </a:txBody>
                  <a:tcPr marL="152400" marR="152400" marT="95250" marB="95250">
                    <a:lnL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8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16.7%</a:t>
                      </a:r>
                    </a:p>
                  </a:txBody>
                  <a:tcPr marL="152400" marR="152400" marT="95250" marB="95250">
                    <a:lnL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8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 lift and hold</a:t>
                      </a:r>
                    </a:p>
                  </a:txBody>
                  <a:tcPr marL="152400" marR="152400" marT="95250" marB="95250">
                    <a:lnL w="6668">
                      <a:solidFill>
                        <a:srgbClr val="CDD8E3"/>
                      </a:solidFill>
                      <a:prstDash val="soli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8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 / 24</a:t>
                      </a:r>
                    </a:p>
                  </a:txBody>
                  <a:tcPr marL="152400" marR="152400" marT="95250" marB="95250">
                    <a:lnL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8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8.3%</a:t>
                      </a:r>
                    </a:p>
                  </a:txBody>
                  <a:tcPr marL="152400" marR="152400" marT="95250" marB="95250">
                    <a:lnL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8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 throw</a:t>
                      </a:r>
                    </a:p>
                  </a:txBody>
                  <a:tcPr marL="152400" marR="152400" marT="95250" marB="95250">
                    <a:lnL w="6668">
                      <a:solidFill>
                        <a:srgbClr val="CDD8E3"/>
                      </a:solidFill>
                      <a:prstDash val="soli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8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/ 24</a:t>
                      </a:r>
                    </a:p>
                  </a:txBody>
                  <a:tcPr marL="152400" marR="152400" marT="95250" marB="95250">
                    <a:lnL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8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4.2%</a:t>
                      </a:r>
                    </a:p>
                  </a:txBody>
                  <a:tcPr marL="152400" marR="152400" marT="95250" marB="95250">
                    <a:lnL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8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Dropped object</a:t>
                      </a:r>
                    </a:p>
                  </a:txBody>
                  <a:tcPr marL="152400" marR="152400" marT="95250" marB="95250">
                    <a:lnL w="6668">
                      <a:solidFill>
                        <a:srgbClr val="CDD8E3"/>
                      </a:solidFill>
                      <a:prstDash val="soli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8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 / 24</a:t>
                      </a:r>
                    </a:p>
                  </a:txBody>
                  <a:tcPr marL="152400" marR="152400" marT="95250" marB="95250">
                    <a:lnL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8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50.0%</a:t>
                      </a:r>
                    </a:p>
                  </a:txBody>
                  <a:tcPr marL="152400" marR="152400" marT="95250" marB="95250">
                    <a:lnL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8E3"/>
                      </a:solidFill>
                      <a:prstDash val="solid"/>
                    </a:lnR>
                    <a:lnT w="6668" cap="flat" cmpd="sng" algn="ctr">
                      <a:solidFill>
                        <a:srgbClr val="CD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3421862-1DE6-4467-A879-2479A52E16E3}"/>
              </a:ext>
            </a:extLst>
          </p:cNvPr>
          <p:cNvSpPr>
            <a:spLocks noGrp="1"/>
          </p:cNvSpPr>
          <p:nvPr/>
        </p:nvSpPr>
        <p:spPr>
          <a:xfrm>
            <a:off x="685800" y="5133975"/>
            <a:ext cx="106680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Mean distance at lift start: 17.9 cm (episodes reaching that phase).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82B0FA-8F0F-4426-88EA-2ED24FF13647}"/>
              </a:ext>
            </a:extLst>
          </p:cNvPr>
          <p:cNvSpPr>
            <a:spLocks noGrp="1"/>
          </p:cNvSpPr>
          <p:nvPr/>
        </p:nvSpPr>
        <p:spPr>
          <a:xfrm>
            <a:off x="685800" y="5819775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800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800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rPr>
              <a:t>Reused validation starts. These counts diagnose failure, not final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1983047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9360E0-51BB-4810-A193-F5E004780F8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Next experiments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9EF4B7-6A76-43F5-9AFE-992DFCF343AD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522468-800F-433B-B73C-85505107CF2F}"/>
              </a:ext>
            </a:extLst>
          </p:cNvPr>
          <p:cNvSpPr>
            <a:spLocks noGrp="1"/>
          </p:cNvSpPr>
          <p:nvPr/>
        </p:nvSpPr>
        <p:spPr>
          <a:xfrm>
            <a:off x="685800" y="1495425"/>
            <a:ext cx="2381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rPr>
              <a:t>Reachability audit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BD8579-2895-4989-9CF1-E74532F9CAAF}"/>
              </a:ext>
            </a:extLst>
          </p:cNvPr>
          <p:cNvSpPr>
            <a:spLocks noGrp="1"/>
          </p:cNvSpPr>
          <p:nvPr/>
        </p:nvSpPr>
        <p:spPr>
          <a:xfrm>
            <a:off x="3295650" y="1495425"/>
            <a:ext cx="80772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Measure feasible grasp poses and joint limits across wider starts. Retain every start in the existing benchmark.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D13051-E022-48AF-8B96-74F9CCE16131}"/>
              </a:ext>
            </a:extLst>
          </p:cNvPr>
          <p:cNvSpPr>
            <a:spLocks noGrp="1"/>
          </p:cNvSpPr>
          <p:nvPr/>
        </p:nvSpPr>
        <p:spPr>
          <a:xfrm>
            <a:off x="685800" y="2505075"/>
            <a:ext cx="2381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rPr>
              <a:t>Short skill pilots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A37FC6-BD87-4753-9D21-6BA08E77E595}"/>
              </a:ext>
            </a:extLst>
          </p:cNvPr>
          <p:cNvSpPr>
            <a:spLocks noGrp="1"/>
          </p:cNvSpPr>
          <p:nvPr/>
        </p:nvSpPr>
        <p:spPr>
          <a:xfrm>
            <a:off x="3295650" y="2505075"/>
            <a:ext cx="80772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Train grasp-and-lift separately and test readiness-based phase changes. Compare thumb and finger control options.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22AB49-6597-43BC-87F4-1F55D1B0730B}"/>
              </a:ext>
            </a:extLst>
          </p:cNvPr>
          <p:cNvSpPr>
            <a:spLocks noGrp="1"/>
          </p:cNvSpPr>
          <p:nvPr/>
        </p:nvSpPr>
        <p:spPr>
          <a:xfrm>
            <a:off x="685800" y="3514725"/>
            <a:ext cx="2381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rPr>
              <a:t>Replay and curriculum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F9748E-EA0E-4F6A-AB2D-7A47FE2048DE}"/>
              </a:ext>
            </a:extLst>
          </p:cNvPr>
          <p:cNvSpPr>
            <a:spLocks noGrp="1"/>
          </p:cNvSpPr>
          <p:nvPr/>
        </p:nvSpPr>
        <p:spPr>
          <a:xfrm>
            <a:off x="3295650" y="3514725"/>
            <a:ext cx="80772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Test SAC on shorter tasks. Expand placements by performance and consider HER with valid object goals [4].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B315AD-88E1-441A-8E27-79B0EFCA8287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2381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rPr>
              <a:t>Sequence evaluation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39E0C9-EDEA-4F47-8D0F-8AB44A830F38}"/>
              </a:ext>
            </a:extLst>
          </p:cNvPr>
          <p:cNvSpPr>
            <a:spLocks noGrp="1"/>
          </p:cNvSpPr>
          <p:nvPr/>
        </p:nvSpPr>
        <p:spPr>
          <a:xfrm>
            <a:off x="3295650" y="4524375"/>
            <a:ext cx="80772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Reconnect the preserved throw after lift reliability improves. Test the complete sequence on 100 fresh wider starts.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E5AF04-7257-4157-A5D3-781F620C9773}"/>
              </a:ext>
            </a:extLst>
          </p:cNvPr>
          <p:cNvSpPr>
            <a:spLocks noGrp="1"/>
          </p:cNvSpPr>
          <p:nvPr/>
        </p:nvSpPr>
        <p:spPr>
          <a:xfrm>
            <a:off x="685800" y="5800725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rPr>
              <a:t>Learned skill termination [5] is a candidate. No new long run is active.</a:t>
            </a:r>
          </a:p>
        </p:txBody>
      </p:sp>
    </p:spTree>
    <p:extLst>
      <p:ext uri="{BB962C8B-B14F-4D97-AF65-F5344CB8AC3E}">
        <p14:creationId xmlns:p14="http://schemas.microsoft.com/office/powerpoint/2010/main" val="124216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EAB689-60B5-4608-8032-5F670004BBF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Project status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C5FDB2-57F4-41F9-B673-F2EAE3949FD2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3C25BA-EE02-4BDA-8DBB-8DDD627F33EE}"/>
              </a:ext>
            </a:extLst>
          </p:cNvPr>
          <p:cNvSpPr>
            <a:spLocks noGrp="1"/>
          </p:cNvSpPr>
          <p:nvPr/>
        </p:nvSpPr>
        <p:spPr>
          <a:xfrm>
            <a:off x="685800" y="1552575"/>
            <a:ext cx="10668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625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625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625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625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625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625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625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625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625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625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625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76FBD"/>
                </a:solidFill>
                <a:latin typeface="Helvetica Neue"/>
                <a:ea typeface="Helvetica Neue"/>
                <a:cs typeface="Helvetica Neue"/>
              </a:rPr>
              <a:t>The complete movement works near familiar placements.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21086F-DBF9-47C5-A87F-96292A6F9B08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25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25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The selected controller achieves 65/100 nearby successes and 3/50 wider successes. The wider 50% target remains unmet.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EFD2E1-95E3-4F6E-B8F9-7CE0498CF1EF}"/>
              </a:ext>
            </a:extLst>
          </p:cNvPr>
          <p:cNvSpPr>
            <a:spLocks noGrp="1"/>
          </p:cNvSpPr>
          <p:nvPr/>
        </p:nvSpPr>
        <p:spPr>
          <a:xfrm>
            <a:off x="685800" y="3971925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25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225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The stopped PPO experiment preserves useful checkpoints and diagnostics. Grasp acquisition is the next training priority.</a:t>
            </a:r>
          </a:p>
        </p:txBody>
      </p:sp>
    </p:spTree>
    <p:extLst>
      <p:ext uri="{BB962C8B-B14F-4D97-AF65-F5344CB8AC3E}">
        <p14:creationId xmlns:p14="http://schemas.microsoft.com/office/powerpoint/2010/main" val="1843892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532D8D-4A9A-4BC4-8E15-9545F8ADBAC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References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56F071-64C7-4261-BE57-D7616A643B94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EE7363-3ECB-48DC-9F3F-AEFBB6B1AE56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6779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8DFEB0-DD00-4881-BCC1-CC71CDC69022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457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[1]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0D448E-1656-4E29-8A61-49F4C32B9A1D}"/>
              </a:ext>
            </a:extLst>
          </p:cNvPr>
          <p:cNvSpPr>
            <a:spLocks noGrp="1"/>
          </p:cNvSpPr>
          <p:nvPr/>
        </p:nvSpPr>
        <p:spPr>
          <a:xfrm>
            <a:off x="1104900" y="1362075"/>
            <a:ext cx="104013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T. Haarnoja, A. Zhou, P. Abbeel, and S. Levine, “Soft actor-critic: Off-policy maximum entropy deep reinforcement learning with a stochastic actor,” in Proc. ICML, vol. 80, 2018, pp. 1861–1870.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32F29A-66F7-4BFD-BE89-2A9E47CD2322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4572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[2]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571114-771C-442C-9ADE-43CEB1E756CB}"/>
              </a:ext>
            </a:extLst>
          </p:cNvPr>
          <p:cNvSpPr>
            <a:spLocks noGrp="1"/>
          </p:cNvSpPr>
          <p:nvPr/>
        </p:nvSpPr>
        <p:spPr>
          <a:xfrm>
            <a:off x="1104900" y="2209800"/>
            <a:ext cx="104013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S. Mannor, R. Rubinstein, and Y. Gat, “The cross entropy method for fast policy search,” in Proc. ICML, 2003, pp. 512–519.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526559-3714-42F3-9B67-C5BDDCD886D3}"/>
              </a:ext>
            </a:extLst>
          </p:cNvPr>
          <p:cNvSpPr>
            <a:spLocks noGrp="1"/>
          </p:cNvSpPr>
          <p:nvPr/>
        </p:nvSpPr>
        <p:spPr>
          <a:xfrm>
            <a:off x="609600" y="2914650"/>
            <a:ext cx="4572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[3]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5E6660-7513-4995-B8D7-4B7CA3D31089}"/>
              </a:ext>
            </a:extLst>
          </p:cNvPr>
          <p:cNvSpPr>
            <a:spLocks noGrp="1"/>
          </p:cNvSpPr>
          <p:nvPr/>
        </p:nvSpPr>
        <p:spPr>
          <a:xfrm>
            <a:off x="1104900" y="2914650"/>
            <a:ext cx="10401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J. Schulman et al., “Proximal policy optimization algorithms,” arXiv:1707.06347, 2017.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A51B6C-08D3-4E53-B175-7EB300809160}"/>
              </a:ext>
            </a:extLst>
          </p:cNvPr>
          <p:cNvSpPr>
            <a:spLocks noGrp="1"/>
          </p:cNvSpPr>
          <p:nvPr/>
        </p:nvSpPr>
        <p:spPr>
          <a:xfrm>
            <a:off x="609600" y="3476625"/>
            <a:ext cx="4572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[4]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D2B052-5DDB-4412-A9BD-344D8B898757}"/>
              </a:ext>
            </a:extLst>
          </p:cNvPr>
          <p:cNvSpPr>
            <a:spLocks noGrp="1"/>
          </p:cNvSpPr>
          <p:nvPr/>
        </p:nvSpPr>
        <p:spPr>
          <a:xfrm>
            <a:off x="1104900" y="3476625"/>
            <a:ext cx="104013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M. Andrychowicz et al., “Hindsight experience replay,” in Advances in Neural Information Processing Systems, vol. 30, 2017.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A8A151-91B6-4DA6-8A90-9F0033ADC77C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4572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[5]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569C68-0979-4F03-ADF3-EFAB4B73F211}"/>
              </a:ext>
            </a:extLst>
          </p:cNvPr>
          <p:cNvSpPr>
            <a:spLocks noGrp="1"/>
          </p:cNvSpPr>
          <p:nvPr/>
        </p:nvSpPr>
        <p:spPr>
          <a:xfrm>
            <a:off x="1104900" y="4181475"/>
            <a:ext cx="104013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P.-L. Bacon, J. Harb, and D. Precup, “The option-critic architecture,” in Proc. AAAI, vol. 31, no. 1, 2017.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EAFDCB-5216-449A-88E0-2A371BFBF85E}"/>
              </a:ext>
            </a:extLst>
          </p:cNvPr>
          <p:cNvSpPr>
            <a:spLocks noGrp="1"/>
          </p:cNvSpPr>
          <p:nvPr/>
        </p:nvSpPr>
        <p:spPr>
          <a:xfrm>
            <a:off x="609600" y="4886325"/>
            <a:ext cx="457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[6]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BCBDE0-047B-45FB-8836-8A0B46FD9009}"/>
              </a:ext>
            </a:extLst>
          </p:cNvPr>
          <p:cNvSpPr>
            <a:spLocks noGrp="1"/>
          </p:cNvSpPr>
          <p:nvPr/>
        </p:nvSpPr>
        <p:spPr>
          <a:xfrm>
            <a:off x="1104900" y="4886325"/>
            <a:ext cx="104013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MuJoCo, “Computation,” MuJoCo Documentation. Accessed: Oct. 26, 2026. [Online]. Available: https://mujoco.readthedocs.io/en/stable/computation/</a:t>
            </a:r>
          </a:p>
        </p:txBody>
      </p:sp>
    </p:spTree>
    <p:extLst>
      <p:ext uri="{BB962C8B-B14F-4D97-AF65-F5344CB8AC3E}">
        <p14:creationId xmlns:p14="http://schemas.microsoft.com/office/powerpoint/2010/main" val="33732940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1999</Words>
  <Application>Microsoft Macintosh PowerPoint</Application>
  <DocSecurity>0</DocSecurity>
  <PresentationFormat>Widescreen</PresentationFormat>
  <Paragraphs>135</Paragraphs>
  <Slides>11</Slides>
  <Notes>11</Notes>
  <HiddenSlides>0</HiddenSlides>
  <MMClips>2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Cesar Pascal</cp:lastModifiedBy>
  <cp:revision>1</cp:revision>
  <dcterms:created xsi:type="dcterms:W3CDTF">2026-10-26T22:16:20Z</dcterms:created>
  <dcterms:modified xsi:type="dcterms:W3CDTF">2026-10-26T22:24:04Z</dcterms:modified>
</cp:coreProperties>
</file>