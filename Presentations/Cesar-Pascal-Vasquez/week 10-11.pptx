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e Jour Serif" charset="1" panose="02000500000000000000"/>
      <p:regular r:id="rId19"/>
    </p:embeddedFont>
    <p:embeddedFont>
      <p:font typeface="Alta" charset="1" panose="02000503000000000000"/>
      <p:regular r:id="rId20"/>
    </p:embeddedFont>
    <p:embeddedFont>
      <p:font typeface="Open Sans" charset="1" panose="020B0606030504020204"/>
      <p:regular r:id="rId21"/>
    </p:embeddedFont>
    <p:embeddedFont>
      <p:font typeface="Open Sans Bold" charset="1" panose="020B080603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VAHHcNz3zY0.mp4" Type="http://schemas.openxmlformats.org/officeDocument/2006/relationships/video"/><Relationship Id="rId4" Target="../media/VAHHcNz3zY0.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VAHH-lkqCkk.mp4" Type="http://schemas.openxmlformats.org/officeDocument/2006/relationships/video"/><Relationship Id="rId4" Target="../media/VAHH-lkqCkk.mp4" Type="http://schemas.microsoft.com/office/2007/relationships/media"/></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VAHH-imh54k.mp4" Type="http://schemas.openxmlformats.org/officeDocument/2006/relationships/video"/><Relationship Id="rId4" Target="../media/VAHH-imh54k.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10-11</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 VASQUEZ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10489" y="2938296"/>
            <a:ext cx="18067021" cy="3547828"/>
          </a:xfrm>
          <a:prstGeom prst="rect">
            <a:avLst/>
          </a:prstGeom>
        </p:spPr>
        <p:txBody>
          <a:bodyPr anchor="t" rtlCol="false" tIns="0" lIns="0" bIns="0" rIns="0">
            <a:spAutoFit/>
          </a:bodyPr>
          <a:lstStyle/>
          <a:p>
            <a:pPr algn="ctr">
              <a:lnSpc>
                <a:spcPts val="4702"/>
              </a:lnSpc>
            </a:pPr>
            <a:r>
              <a:rPr lang="en-US" sz="3358">
                <a:solidFill>
                  <a:srgbClr val="FFFFFF"/>
                </a:solidFill>
                <a:latin typeface="Open Sans"/>
                <a:ea typeface="Open Sans"/>
                <a:cs typeface="Open Sans"/>
                <a:sym typeface="Open Sans"/>
              </a:rPr>
              <a:t>Viam is a robotics software platform designed to streamline the development and operation of hardware systems. It serves as an intermediary framework that connects physical components, such as sensors and actuators, with high-level software, including artificial intelligence models. By providing st</a:t>
            </a:r>
            <a:r>
              <a:rPr lang="en-US" sz="3358">
                <a:solidFill>
                  <a:srgbClr val="FFFFFF"/>
                </a:solidFill>
                <a:latin typeface="Open Sans"/>
                <a:ea typeface="Open Sans"/>
                <a:cs typeface="Open Sans"/>
                <a:sym typeface="Open Sans"/>
              </a:rPr>
              <a:t>andardized commands, Viam eliminates the need for custom, hardware-specific programming. Additionally, it features integrated cloud capabilities for remote data monitoring and system control.</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0" y="1379344"/>
            <a:ext cx="18288000" cy="8381365"/>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FFFFFF"/>
                </a:solidFill>
                <a:latin typeface="Open Sans"/>
                <a:ea typeface="Open Sans"/>
                <a:cs typeface="Open Sans"/>
                <a:sym typeface="Open Sans"/>
              </a:rPr>
              <a:t>The Hosting: GitHub Pages only serves static files, so the entire simulation must run locally inside the visitor's web browser. There is no backend server.</a:t>
            </a:r>
          </a:p>
          <a:p>
            <a:pPr algn="ctr" marL="734059" indent="-367030" lvl="1">
              <a:lnSpc>
                <a:spcPts val="4759"/>
              </a:lnSpc>
              <a:buFont typeface="Arial"/>
              <a:buChar char="•"/>
            </a:pPr>
            <a:r>
              <a:rPr lang="en-US" sz="3399">
                <a:solidFill>
                  <a:srgbClr val="FFFFFF"/>
                </a:solidFill>
                <a:latin typeface="Open Sans"/>
                <a:ea typeface="Open Sans"/>
                <a:cs typeface="Open Sans"/>
                <a:sym typeface="Open Sans"/>
              </a:rPr>
              <a:t>The Physics (MuJoCo Wasm): You use WebAssembly (Wasm) to run the MuJoCo engine directly in the browser. This handles gravity, collisions, and drawing the 3D G1 robot.</a:t>
            </a:r>
          </a:p>
          <a:p>
            <a:pPr algn="ctr" marL="734059" indent="-367030" lvl="1">
              <a:lnSpc>
                <a:spcPts val="4759"/>
              </a:lnSpc>
              <a:buFont typeface="Arial"/>
              <a:buChar char="•"/>
            </a:pPr>
            <a:r>
              <a:rPr lang="en-US" sz="3399">
                <a:solidFill>
                  <a:srgbClr val="FFFFFF"/>
                </a:solidFill>
                <a:latin typeface="Open Sans"/>
                <a:ea typeface="Open Sans"/>
                <a:cs typeface="Open Sans"/>
                <a:sym typeface="Open Sans"/>
              </a:rPr>
              <a:t>The Brain (ONNX Runtime Web): Python AI models won't run in a browser. Users must convert their trained policies into a web-friendly format called ONNX. Your site runs this file to calculate the robot's next move.</a:t>
            </a:r>
          </a:p>
          <a:p>
            <a:pPr algn="ctr" marL="734059" indent="-367030" lvl="1">
              <a:lnSpc>
                <a:spcPts val="4759"/>
              </a:lnSpc>
              <a:buFont typeface="Arial"/>
              <a:buChar char="•"/>
            </a:pPr>
            <a:r>
              <a:rPr lang="en-US" sz="3399">
                <a:solidFill>
                  <a:srgbClr val="FFFFFF"/>
                </a:solidFill>
                <a:latin typeface="Open Sans"/>
                <a:ea typeface="Open Sans"/>
                <a:cs typeface="Open Sans"/>
                <a:sym typeface="Open Sans"/>
              </a:rPr>
              <a:t>The Bridge (JavaScript): Your code connects the two. It reads the G1's current balance from MuJoCo, feeds it to the ONNX brain, gets the motor commands back, and tells MuJoCo to apply that force.</a:t>
            </a:r>
          </a:p>
          <a:p>
            <a:pPr algn="ctr" marL="734059" indent="-367030" lvl="1">
              <a:lnSpc>
                <a:spcPts val="4759"/>
              </a:lnSpc>
              <a:buFont typeface="Arial"/>
              <a:buChar char="•"/>
            </a:pPr>
            <a:r>
              <a:rPr lang="en-US" sz="3399">
                <a:solidFill>
                  <a:srgbClr val="FFFFFF"/>
                </a:solidFill>
                <a:latin typeface="Open Sans"/>
                <a:ea typeface="Open Sans"/>
                <a:cs typeface="Open Sans"/>
                <a:sym typeface="Open Sans"/>
              </a:rPr>
              <a:t>Viam's Role: Because everything runs client-side, Viam acts purely as a cloud data logger to record the robot's joint telemetry (like angles and torques) to track why a policy worked or failed.</a:t>
            </a:r>
          </a:p>
          <a:p>
            <a:pPr algn="ctr">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301562" y="1028700"/>
            <a:ext cx="17505175" cy="8314958"/>
          </a:xfrm>
          <a:custGeom>
            <a:avLst/>
            <a:gdLst/>
            <a:ahLst/>
            <a:cxnLst/>
            <a:rect r="r" b="b" t="t" l="l"/>
            <a:pathLst>
              <a:path h="8314958" w="17505175">
                <a:moveTo>
                  <a:pt x="0" y="0"/>
                </a:moveTo>
                <a:lnTo>
                  <a:pt x="17505175" y="0"/>
                </a:lnTo>
                <a:lnTo>
                  <a:pt x="17505175" y="8314958"/>
                </a:lnTo>
                <a:lnTo>
                  <a:pt x="0" y="8314958"/>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42331" y="4171047"/>
            <a:ext cx="17403338" cy="238061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Rerun is </a:t>
            </a:r>
            <a:r>
              <a:rPr lang="en-US" sz="3399">
                <a:solidFill>
                  <a:srgbClr val="FFFFFF"/>
                </a:solidFill>
                <a:latin typeface="Open Sans"/>
                <a:ea typeface="Open Sans"/>
                <a:cs typeface="Open Sans"/>
                <a:sym typeface="Open Sans"/>
              </a:rPr>
              <a:t>a high-performance visualization toolbox designed to help understand complex data over time. While Viam focuses on the control and data routing of the robot, Rerun is used to see exactly what is happening inside the robot's "brain" and its environment.</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08045" y="392041"/>
            <a:ext cx="17490451" cy="4575325"/>
          </a:xfrm>
          <a:prstGeom prst="rect">
            <a:avLst/>
          </a:prstGeom>
        </p:spPr>
        <p:txBody>
          <a:bodyPr anchor="t" rtlCol="false" tIns="0" lIns="0" bIns="0" rIns="0">
            <a:spAutoFit/>
          </a:bodyPr>
          <a:lstStyle/>
          <a:p>
            <a:pPr algn="ctr">
              <a:lnSpc>
                <a:spcPts val="4552"/>
              </a:lnSpc>
            </a:pPr>
            <a:r>
              <a:rPr lang="en-US" sz="3251" b="true">
                <a:solidFill>
                  <a:srgbClr val="FFFFFF"/>
                </a:solidFill>
                <a:latin typeface="Open Sans Bold"/>
                <a:ea typeface="Open Sans Bold"/>
                <a:cs typeface="Open Sans Bold"/>
                <a:sym typeface="Open Sans Bold"/>
              </a:rPr>
              <a:t>Visualizing Hidden States</a:t>
            </a:r>
          </a:p>
          <a:p>
            <a:pPr algn="just">
              <a:lnSpc>
                <a:spcPts val="4552"/>
              </a:lnSpc>
            </a:pPr>
            <a:r>
              <a:rPr lang="en-US" sz="3251">
                <a:solidFill>
                  <a:srgbClr val="FFFFFF"/>
                </a:solidFill>
                <a:latin typeface="Open Sans"/>
                <a:ea typeface="Open Sans"/>
                <a:cs typeface="Open Sans"/>
                <a:sym typeface="Open Sans"/>
              </a:rPr>
              <a:t>When running a trained policy to make the G1 stand, we aren't just looking at the 3D model. we need to see the internal data, such as:</a:t>
            </a:r>
          </a:p>
          <a:p>
            <a:pPr algn="just" marL="702047" indent="-351023" lvl="1">
              <a:lnSpc>
                <a:spcPts val="4552"/>
              </a:lnSpc>
              <a:buFont typeface="Arial"/>
              <a:buChar char="•"/>
            </a:pPr>
            <a:r>
              <a:rPr lang="en-US" sz="3251">
                <a:solidFill>
                  <a:srgbClr val="FFFFFF"/>
                </a:solidFill>
                <a:latin typeface="Open Sans"/>
                <a:ea typeface="Open Sans"/>
                <a:cs typeface="Open Sans"/>
                <a:sym typeface="Open Sans"/>
              </a:rPr>
              <a:t>Joint Torques: </a:t>
            </a:r>
            <a:r>
              <a:rPr lang="en-US" sz="3251">
                <a:solidFill>
                  <a:srgbClr val="FFFFFF"/>
                </a:solidFill>
                <a:latin typeface="Open Sans"/>
                <a:ea typeface="Open Sans"/>
                <a:cs typeface="Open Sans"/>
                <a:sym typeface="Open Sans"/>
              </a:rPr>
              <a:t>Are the motors hitting their limits?</a:t>
            </a:r>
          </a:p>
          <a:p>
            <a:pPr algn="just" marL="702047" indent="-351023" lvl="1">
              <a:lnSpc>
                <a:spcPts val="4552"/>
              </a:lnSpc>
              <a:buFont typeface="Arial"/>
              <a:buChar char="•"/>
            </a:pPr>
            <a:r>
              <a:rPr lang="en-US" sz="3251">
                <a:solidFill>
                  <a:srgbClr val="FFFFFF"/>
                </a:solidFill>
                <a:latin typeface="Open Sans"/>
                <a:ea typeface="Open Sans"/>
                <a:cs typeface="Open Sans"/>
                <a:sym typeface="Open Sans"/>
              </a:rPr>
              <a:t>Center of Mass: Is the balance point staying within the footprint?</a:t>
            </a:r>
          </a:p>
          <a:p>
            <a:pPr algn="just" marL="702047" indent="-351023" lvl="1">
              <a:lnSpc>
                <a:spcPts val="4552"/>
              </a:lnSpc>
              <a:buFont typeface="Arial"/>
              <a:buChar char="•"/>
            </a:pPr>
            <a:r>
              <a:rPr lang="en-US" sz="3251">
                <a:solidFill>
                  <a:srgbClr val="FFFFFF"/>
                </a:solidFill>
                <a:latin typeface="Open Sans"/>
                <a:ea typeface="Open Sans"/>
                <a:cs typeface="Open Sans"/>
                <a:sym typeface="Open Sans"/>
              </a:rPr>
              <a:t>Sensor Inputs: Is the noise from the filter scaling correctly before reaching the policy? Rerun allows you to plot these data streams in real-time alongside the 3D simulation.</a:t>
            </a:r>
          </a:p>
          <a:p>
            <a:pPr algn="just">
              <a:lnSpc>
                <a:spcPts val="4552"/>
              </a:lnSpc>
            </a:pPr>
          </a:p>
        </p:txBody>
      </p:sp>
      <p:sp>
        <p:nvSpPr>
          <p:cNvPr name="TextBox 3" id="3"/>
          <p:cNvSpPr txBox="true"/>
          <p:nvPr/>
        </p:nvSpPr>
        <p:spPr>
          <a:xfrm rot="0">
            <a:off x="408045" y="5001287"/>
            <a:ext cx="17879955" cy="3683175"/>
          </a:xfrm>
          <a:prstGeom prst="rect">
            <a:avLst/>
          </a:prstGeom>
        </p:spPr>
        <p:txBody>
          <a:bodyPr anchor="t" rtlCol="false" tIns="0" lIns="0" bIns="0" rIns="0">
            <a:spAutoFit/>
          </a:bodyPr>
          <a:lstStyle/>
          <a:p>
            <a:pPr algn="ctr">
              <a:lnSpc>
                <a:spcPts val="4890"/>
              </a:lnSpc>
            </a:pPr>
            <a:r>
              <a:rPr lang="en-US" sz="3493" b="true">
                <a:solidFill>
                  <a:srgbClr val="FFFFFF"/>
                </a:solidFill>
                <a:latin typeface="Open Sans Bold"/>
                <a:ea typeface="Open Sans Bold"/>
                <a:cs typeface="Open Sans Bold"/>
                <a:sym typeface="Open Sans Bold"/>
              </a:rPr>
              <a:t>Time-Travel Debugging</a:t>
            </a:r>
          </a:p>
          <a:p>
            <a:pPr algn="l">
              <a:lnSpc>
                <a:spcPts val="4890"/>
              </a:lnSpc>
            </a:pPr>
            <a:r>
              <a:rPr lang="en-US" sz="3493">
                <a:solidFill>
                  <a:srgbClr val="FFFFFF"/>
                </a:solidFill>
                <a:latin typeface="Open Sans"/>
                <a:ea typeface="Open Sans"/>
                <a:cs typeface="Open Sans"/>
                <a:sym typeface="Open Sans"/>
              </a:rPr>
              <a:t>Rerun’s core fe</a:t>
            </a:r>
            <a:r>
              <a:rPr lang="en-US" sz="3493">
                <a:solidFill>
                  <a:srgbClr val="FFFFFF"/>
                </a:solidFill>
                <a:latin typeface="Open Sans"/>
                <a:ea typeface="Open Sans"/>
                <a:cs typeface="Open Sans"/>
                <a:sym typeface="Open Sans"/>
              </a:rPr>
              <a:t>ature is a "blueprint" timeline. If the G1 falls over at step 400, you can scrub the timeline back to step 390 to see the exact moment a specific joint failed or a sensor reading spiked. This is much faster than re-running the entire simulation to catch a glitch.</a:t>
            </a:r>
          </a:p>
          <a:p>
            <a:pPr algn="l">
              <a:lnSpc>
                <a:spcPts val="489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02491" y="1028700"/>
            <a:ext cx="17332555" cy="8349812"/>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8.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42331" y="2519248"/>
            <a:ext cx="17403338" cy="418084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Integrating Rerun.io and Viam provides a dual-purpose architecture for the browser-based simulation. Rerun.io embeds a real-time dashboard alongside the MuJoCo environment, enabling immediate, in-browser visual debugging of policy metrics such as joint torques and balance. Concurrently, Viam operates in the b</a:t>
            </a:r>
            <a:r>
              <a:rPr lang="en-US" sz="3399">
                <a:solidFill>
                  <a:srgbClr val="FFFFFF"/>
                </a:solidFill>
                <a:latin typeface="Open Sans"/>
                <a:ea typeface="Open Sans"/>
                <a:cs typeface="Open Sans"/>
                <a:sym typeface="Open Sans"/>
              </a:rPr>
              <a:t>ackground to log this telemetry to the cloud. This configuration delivers robust client-side visualization for the end-user while establishing a centralized pipeline for aggregating and analyzing performance data across all tested policies.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664492" y="2612762"/>
            <a:ext cx="16959016" cy="4994800"/>
          </a:xfrm>
          <a:prstGeom prst="rect">
            <a:avLst/>
          </a:prstGeom>
        </p:spPr>
        <p:txBody>
          <a:bodyPr anchor="t" rtlCol="false" tIns="0" lIns="0" bIns="0" rIns="0">
            <a:spAutoFit/>
          </a:bodyPr>
          <a:lstStyle/>
          <a:p>
            <a:pPr algn="ctr">
              <a:lnSpc>
                <a:spcPts val="4414"/>
              </a:lnSpc>
            </a:pPr>
            <a:r>
              <a:rPr lang="en-US" sz="3152">
                <a:solidFill>
                  <a:srgbClr val="FFFFFF"/>
                </a:solidFill>
                <a:latin typeface="Open Sans"/>
                <a:ea typeface="Open Sans"/>
                <a:cs typeface="Open Sans"/>
                <a:sym typeface="Open Sans"/>
              </a:rPr>
              <a:t>On a h</a:t>
            </a:r>
            <a:r>
              <a:rPr lang="en-US" sz="3152">
                <a:solidFill>
                  <a:srgbClr val="FFFFFF"/>
                </a:solidFill>
                <a:latin typeface="Open Sans"/>
                <a:ea typeface="Open Sans"/>
                <a:cs typeface="Open Sans"/>
                <a:sym typeface="Open Sans"/>
              </a:rPr>
              <a:t>ard-coded function, I tried implementing different movement patterns such as waving, squatting, and walking. However, because the motions are hard-coded, it is more difficult to make complex actions like walking or squatting work properly and smoothly.</a:t>
            </a:r>
          </a:p>
          <a:p>
            <a:pPr algn="ctr">
              <a:lnSpc>
                <a:spcPts val="4414"/>
              </a:lnSpc>
            </a:pPr>
          </a:p>
          <a:p>
            <a:pPr algn="ctr">
              <a:lnSpc>
                <a:spcPts val="4414"/>
              </a:lnSpc>
            </a:pPr>
            <a:r>
              <a:rPr lang="en-US" sz="3152">
                <a:solidFill>
                  <a:srgbClr val="FFFFFF"/>
                </a:solidFill>
                <a:latin typeface="Open Sans"/>
                <a:ea typeface="Open Sans"/>
                <a:cs typeface="Open Sans"/>
                <a:sym typeface="Open Sans"/>
              </a:rPr>
              <a:t>These movements require balance, timing, and feedback from the robot’s body position. A simple hard-coded animation can move the joints, but it does not fully understand when the robot is falling or how to correct its posture. Because of that, walking and squatting are harder to achieve without a trained controller or stabilizer.</a:t>
            </a:r>
          </a:p>
          <a:p>
            <a:pPr algn="ctr">
              <a:lnSpc>
                <a:spcPts val="441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560320" y="1028700"/>
            <a:ext cx="13167360" cy="82296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1.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843571" y="2325238"/>
            <a:ext cx="16600858" cy="4881198"/>
          </a:xfrm>
          <a:prstGeom prst="rect">
            <a:avLst/>
          </a:prstGeom>
        </p:spPr>
        <p:txBody>
          <a:bodyPr anchor="t" rtlCol="false" tIns="0" lIns="0" bIns="0" rIns="0">
            <a:spAutoFit/>
          </a:bodyPr>
          <a:lstStyle/>
          <a:p>
            <a:pPr algn="ctr">
              <a:lnSpc>
                <a:spcPts val="4320"/>
              </a:lnSpc>
            </a:pPr>
            <a:r>
              <a:rPr lang="en-US" sz="3086">
                <a:solidFill>
                  <a:srgbClr val="FFFFFF"/>
                </a:solidFill>
                <a:latin typeface="Open Sans"/>
                <a:ea typeface="Open Sans"/>
                <a:cs typeface="Open Sans"/>
                <a:sym typeface="Open Sans"/>
              </a:rPr>
              <a:t>The stabilizer function is essenti</a:t>
            </a:r>
            <a:r>
              <a:rPr lang="en-US" sz="3086">
                <a:solidFill>
                  <a:srgbClr val="FFFFFF"/>
                </a:solidFill>
                <a:latin typeface="Open Sans"/>
                <a:ea typeface="Open Sans"/>
                <a:cs typeface="Open Sans"/>
                <a:sym typeface="Open Sans"/>
              </a:rPr>
              <a:t>ally there to keep the robot upright while the animation runs. In MuJoCo, humanoid robots like the G1 have a floating base, meaning the body can freely fall, tilt, or rotate if the forces aren’t balanced. Since your walking and squatting motions are scripted (not learned from a controller), they don’t naturally maintain balance. The stabilizer steps in by correcting the robot’s base position and orientation—typically keeping its height steady and its torso upright—so the robot doesn’t collapse while performing the motion.</a:t>
            </a:r>
          </a:p>
          <a:p>
            <a:pPr algn="ctr">
              <a:lnSpc>
                <a:spcPts val="4320"/>
              </a:lnSpc>
            </a:pPr>
          </a:p>
          <a:p>
            <a:pPr algn="ctr">
              <a:lnSpc>
                <a:spcPts val="432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560320" y="1028700"/>
            <a:ext cx="13167360" cy="82296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3.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12719" y="1910270"/>
            <a:ext cx="17875281" cy="7350760"/>
          </a:xfrm>
          <a:prstGeom prst="rect">
            <a:avLst/>
          </a:prstGeom>
        </p:spPr>
        <p:txBody>
          <a:bodyPr anchor="t" rtlCol="false" tIns="0" lIns="0" bIns="0" rIns="0">
            <a:spAutoFit/>
          </a:bodyPr>
          <a:lstStyle/>
          <a:p>
            <a:pPr algn="ctr">
              <a:lnSpc>
                <a:spcPts val="6019"/>
              </a:lnSpc>
            </a:pPr>
            <a:r>
              <a:rPr lang="en-US" sz="4299" b="true">
                <a:solidFill>
                  <a:srgbClr val="FFFFFF"/>
                </a:solidFill>
                <a:latin typeface="Open Sans Bold"/>
                <a:ea typeface="Open Sans Bold"/>
                <a:cs typeface="Open Sans Bold"/>
                <a:sym typeface="Open Sans Bold"/>
              </a:rPr>
              <a:t>References</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DeepMind. (2026). MuJoCo: Advanced physics simulation. Retrieved from https://mujoco.org/</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Linux Foundation. (2026). ONNX Runtime Web. Retrieved from https://onnxruntime.ai/</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Rerun. (2026). Rerun: The data platform for physical AI. Retrieved from https://rerun.io/</a:t>
            </a:r>
          </a:p>
          <a:p>
            <a:pPr algn="l" marL="734059" indent="-367030" lvl="1">
              <a:lnSpc>
                <a:spcPts val="4759"/>
              </a:lnSpc>
              <a:buFont typeface="Arial"/>
              <a:buChar char="•"/>
            </a:pPr>
            <a:r>
              <a:rPr lang="en-US" sz="3399">
                <a:solidFill>
                  <a:srgbClr val="FFFFFF"/>
                </a:solidFill>
                <a:latin typeface="Open Sans"/>
                <a:ea typeface="Open Sans"/>
                <a:cs typeface="Open Sans"/>
                <a:sym typeface="Open Sans"/>
              </a:rPr>
              <a:t>Viam, Inc. (2026). Viam: Robotics software platform. Retrieved from https://www.viam.com/</a:t>
            </a:r>
          </a:p>
          <a:p>
            <a:pPr algn="ctr">
              <a:lnSpc>
                <a:spcPts val="4759"/>
              </a:lnSpc>
            </a:pPr>
          </a:p>
          <a:p>
            <a:pPr algn="ctr">
              <a:lnSpc>
                <a:spcPts val="4759"/>
              </a:lnSpc>
            </a:pPr>
          </a:p>
          <a:p>
            <a:pPr algn="ctr">
              <a:lnSpc>
                <a:spcPts val="47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DAHHbwiYur0</dc:identifier>
  <dcterms:modified xsi:type="dcterms:W3CDTF">2011-08-01T06:04:30Z</dcterms:modified>
  <cp:revision>1</cp:revision>
  <dc:title>week 10</dc:title>
</cp:coreProperties>
</file>