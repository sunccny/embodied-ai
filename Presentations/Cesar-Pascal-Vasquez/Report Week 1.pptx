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libri" panose="020F0502020204030204" pitchFamily="34" charset="0"/>
      <p:regular r:id="rId11"/>
      <p:bold r:id="rId12"/>
      <p:italic r:id="rId13"/>
      <p:boldItalic r:id="rId14"/>
    </p:embeddedFont>
    <p:embeddedFont>
      <p:font typeface="Open Sans" panose="020B0606030504020204" pitchFamily="34" charset="0"/>
      <p:regular r:id="rId15"/>
      <p:bold r:id="rId16"/>
      <p:italic r:id="rId17"/>
      <p:boldItalic r:id="rId18"/>
    </p:embeddedFont>
    <p:embeddedFont>
      <p:font typeface="Times New Roman" panose="02020603050405020304" pitchFamily="18"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43" autoAdjust="0"/>
    <p:restoredTop sz="94611" autoAdjust="0"/>
  </p:normalViewPr>
  <p:slideViewPr>
    <p:cSldViewPr>
      <p:cViewPr varScale="1">
        <p:scale>
          <a:sx n="64" d="100"/>
          <a:sy n="64" d="100"/>
        </p:scale>
        <p:origin x="192" y="4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jpe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mujoco.readthedocs.io/" TargetMode="External"/><Relationship Id="rId2" Type="http://schemas.openxmlformats.org/officeDocument/2006/relationships/hyperlink" Target="https://github.com/unitreerobotics/unitree_mujoco" TargetMode="External"/><Relationship Id="rId1" Type="http://schemas.openxmlformats.org/officeDocument/2006/relationships/slideLayout" Target="../slideLayouts/slideLayout7.xml"/><Relationship Id="rId6" Type="http://schemas.openxmlformats.org/officeDocument/2006/relationships/hyperlink" Target="https://github.com/Farama-Foundation/Gymnasium" TargetMode="External"/><Relationship Id="rId5" Type="http://schemas.openxmlformats.org/officeDocument/2006/relationships/hyperlink" Target="https://github.com/DLR-RM/stable-baselines3" TargetMode="External"/><Relationship Id="rId4" Type="http://schemas.openxmlformats.org/officeDocument/2006/relationships/hyperlink" Target="https://arxiv.org/abs/1707.0634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pic>
          <p:nvPicPr>
            <p:cNvPr id="3" name="Picture 3"/>
            <p:cNvPicPr>
              <a:picLocks noChangeAspect="1"/>
            </p:cNvPicPr>
            <p:nvPr/>
          </p:nvPicPr>
          <p:blipFill>
            <a:blip r:embed="rId2">
              <a:alphaModFix amt="65000"/>
            </a:blip>
            <a:srcRect l="39080" t="8749" b="39816"/>
            <a:stretch>
              <a:fillRect/>
            </a:stretch>
          </p:blipFill>
          <p:spPr>
            <a:xfrm>
              <a:off x="0" y="0"/>
              <a:ext cx="24384000" cy="13716000"/>
            </a:xfrm>
            <a:prstGeom prst="rect">
              <a:avLst/>
            </a:prstGeom>
          </p:spPr>
        </p:pic>
      </p:grpSp>
      <p:sp>
        <p:nvSpPr>
          <p:cNvPr id="4" name="TextBox 4"/>
          <p:cNvSpPr txBox="1"/>
          <p:nvPr/>
        </p:nvSpPr>
        <p:spPr>
          <a:xfrm>
            <a:off x="6387114" y="8788586"/>
            <a:ext cx="5513772" cy="469714"/>
          </a:xfrm>
          <a:prstGeom prst="rect">
            <a:avLst/>
          </a:prstGeom>
        </p:spPr>
        <p:txBody>
          <a:bodyPr lIns="0" tIns="0" rIns="0" bIns="0" rtlCol="0" anchor="t">
            <a:spAutoFit/>
          </a:bodyPr>
          <a:lstStyle/>
          <a:p>
            <a:pPr algn="ctr">
              <a:lnSpc>
                <a:spcPts val="3789"/>
              </a:lnSpc>
            </a:pPr>
            <a:r>
              <a:rPr lang="en-US" sz="2707" spc="1126">
                <a:solidFill>
                  <a:srgbClr val="000000"/>
                </a:solidFill>
                <a:latin typeface="Open Sans"/>
                <a:ea typeface="Open Sans"/>
                <a:cs typeface="Open Sans"/>
                <a:sym typeface="Open Sans"/>
              </a:rPr>
              <a:t>CESAR A. PASCAL</a:t>
            </a:r>
          </a:p>
        </p:txBody>
      </p:sp>
      <p:sp>
        <p:nvSpPr>
          <p:cNvPr id="5" name="TextBox 5"/>
          <p:cNvSpPr txBox="1"/>
          <p:nvPr/>
        </p:nvSpPr>
        <p:spPr>
          <a:xfrm>
            <a:off x="6108089" y="4455266"/>
            <a:ext cx="6071822" cy="1309794"/>
          </a:xfrm>
          <a:prstGeom prst="rect">
            <a:avLst/>
          </a:prstGeom>
        </p:spPr>
        <p:txBody>
          <a:bodyPr lIns="0" tIns="0" rIns="0" bIns="0" rtlCol="0" anchor="t">
            <a:spAutoFit/>
          </a:bodyPr>
          <a:lstStyle/>
          <a:p>
            <a:pPr algn="ctr">
              <a:lnSpc>
                <a:spcPts val="5270"/>
              </a:lnSpc>
            </a:pPr>
            <a:r>
              <a:rPr lang="en-US" sz="3764" spc="1566">
                <a:solidFill>
                  <a:srgbClr val="000000"/>
                </a:solidFill>
                <a:latin typeface="Open Sans"/>
                <a:ea typeface="Open Sans"/>
                <a:cs typeface="Open Sans"/>
                <a:sym typeface="Open Sans"/>
              </a:rPr>
              <a:t>WORLD LABS</a:t>
            </a:r>
          </a:p>
          <a:p>
            <a:pPr algn="ctr">
              <a:lnSpc>
                <a:spcPts val="5270"/>
              </a:lnSpc>
            </a:pPr>
            <a:r>
              <a:rPr lang="en-US" sz="3764" spc="1566">
                <a:solidFill>
                  <a:srgbClr val="000000"/>
                </a:solidFill>
                <a:latin typeface="Open Sans"/>
                <a:ea typeface="Open Sans"/>
                <a:cs typeface="Open Sans"/>
                <a:sym typeface="Open Sans"/>
              </a:rPr>
              <a:t>MUJOCO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
        <p:cNvGrpSpPr/>
        <p:nvPr/>
      </p:nvGrpSpPr>
      <p:grpSpPr>
        <a:xfrm>
          <a:off x="0" y="0"/>
          <a:ext cx="0" cy="0"/>
          <a:chOff x="0" y="0"/>
          <a:chExt cx="0" cy="0"/>
        </a:xfrm>
      </p:grpSpPr>
      <p:sp>
        <p:nvSpPr>
          <p:cNvPr id="2" name="TextBox 2"/>
          <p:cNvSpPr txBox="1"/>
          <p:nvPr/>
        </p:nvSpPr>
        <p:spPr>
          <a:xfrm>
            <a:off x="9139238" y="4791262"/>
            <a:ext cx="9525" cy="637800"/>
          </a:xfrm>
          <a:prstGeom prst="rect">
            <a:avLst/>
          </a:prstGeom>
        </p:spPr>
        <p:txBody>
          <a:bodyPr lIns="0" tIns="0" rIns="0" bIns="0" rtlCol="0" anchor="t">
            <a:spAutoFit/>
          </a:bodyPr>
          <a:lstStyle/>
          <a:p>
            <a:pPr algn="ctr">
              <a:lnSpc>
                <a:spcPts val="5270"/>
              </a:lnSpc>
              <a:spcBef>
                <a:spcPct val="0"/>
              </a:spcBef>
            </a:pPr>
            <a:endParaRPr/>
          </a:p>
        </p:txBody>
      </p:sp>
      <p:sp>
        <p:nvSpPr>
          <p:cNvPr id="3" name="TextBox 3"/>
          <p:cNvSpPr txBox="1"/>
          <p:nvPr/>
        </p:nvSpPr>
        <p:spPr>
          <a:xfrm>
            <a:off x="163934" y="1033106"/>
            <a:ext cx="18124066" cy="5268084"/>
          </a:xfrm>
          <a:prstGeom prst="rect">
            <a:avLst/>
          </a:prstGeom>
        </p:spPr>
        <p:txBody>
          <a:bodyPr lIns="0" tIns="0" rIns="0" bIns="0" rtlCol="0" anchor="t">
            <a:spAutoFit/>
          </a:bodyPr>
          <a:lstStyle/>
          <a:p>
            <a:pPr algn="ctr">
              <a:lnSpc>
                <a:spcPts val="7027"/>
              </a:lnSpc>
            </a:pPr>
            <a:r>
              <a:rPr lang="en-US" sz="3798" spc="414">
                <a:solidFill>
                  <a:srgbClr val="000000"/>
                </a:solidFill>
                <a:latin typeface="Times New Roman"/>
                <a:ea typeface="Times New Roman"/>
                <a:cs typeface="Times New Roman"/>
                <a:sym typeface="Times New Roman"/>
              </a:rPr>
              <a:t>World Labs, more specifically Marble, is a tool used to generate three-dimensional environments from images, videos, and planes. Nonetheless, it is primarily useful for visualization purposes and cannot be used for simulations since it does not incorporate physics. However, once the 3D environment is created, the generated meshes are downloadable and can be used in other software, such as MuJoCo.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
        <p:cNvGrpSpPr/>
        <p:nvPr/>
      </p:nvGrpSpPr>
      <p:grpSpPr>
        <a:xfrm>
          <a:off x="0" y="0"/>
          <a:ext cx="0" cy="0"/>
          <a:chOff x="0" y="0"/>
          <a:chExt cx="0" cy="0"/>
        </a:xfrm>
      </p:grpSpPr>
      <p:sp>
        <p:nvSpPr>
          <p:cNvPr id="2" name="Freeform 2"/>
          <p:cNvSpPr/>
          <p:nvPr/>
        </p:nvSpPr>
        <p:spPr>
          <a:xfrm>
            <a:off x="381086" y="1346497"/>
            <a:ext cx="7245638" cy="3471868"/>
          </a:xfrm>
          <a:custGeom>
            <a:avLst/>
            <a:gdLst/>
            <a:ahLst/>
            <a:cxnLst/>
            <a:rect l="l" t="t" r="r" b="b"/>
            <a:pathLst>
              <a:path w="7245638" h="3471868">
                <a:moveTo>
                  <a:pt x="0" y="0"/>
                </a:moveTo>
                <a:lnTo>
                  <a:pt x="7245638" y="0"/>
                </a:lnTo>
                <a:lnTo>
                  <a:pt x="7245638" y="3471868"/>
                </a:lnTo>
                <a:lnTo>
                  <a:pt x="0" y="3471868"/>
                </a:lnTo>
                <a:lnTo>
                  <a:pt x="0" y="0"/>
                </a:lnTo>
                <a:close/>
              </a:path>
            </a:pathLst>
          </a:custGeom>
          <a:blipFill>
            <a:blip r:embed="rId2"/>
            <a:stretch>
              <a:fillRect/>
            </a:stretch>
          </a:blipFill>
        </p:spPr>
      </p:sp>
      <p:sp>
        <p:nvSpPr>
          <p:cNvPr id="3" name="AutoShape 3"/>
          <p:cNvSpPr/>
          <p:nvPr/>
        </p:nvSpPr>
        <p:spPr>
          <a:xfrm flipV="1">
            <a:off x="7825454" y="3101478"/>
            <a:ext cx="1110235" cy="19050"/>
          </a:xfrm>
          <a:prstGeom prst="line">
            <a:avLst/>
          </a:prstGeom>
          <a:ln w="38100" cap="flat">
            <a:solidFill>
              <a:srgbClr val="000000"/>
            </a:solidFill>
            <a:prstDash val="solid"/>
            <a:headEnd type="none" w="sm" len="sm"/>
            <a:tailEnd type="arrow" w="med" len="sm"/>
          </a:ln>
        </p:spPr>
      </p:sp>
      <p:sp>
        <p:nvSpPr>
          <p:cNvPr id="4" name="Freeform 4"/>
          <p:cNvSpPr/>
          <p:nvPr/>
        </p:nvSpPr>
        <p:spPr>
          <a:xfrm>
            <a:off x="9136041" y="1227075"/>
            <a:ext cx="7540768" cy="3591291"/>
          </a:xfrm>
          <a:custGeom>
            <a:avLst/>
            <a:gdLst/>
            <a:ahLst/>
            <a:cxnLst/>
            <a:rect l="l" t="t" r="r" b="b"/>
            <a:pathLst>
              <a:path w="7540768" h="3591291">
                <a:moveTo>
                  <a:pt x="0" y="0"/>
                </a:moveTo>
                <a:lnTo>
                  <a:pt x="7540768" y="0"/>
                </a:lnTo>
                <a:lnTo>
                  <a:pt x="7540768" y="3591290"/>
                </a:lnTo>
                <a:lnTo>
                  <a:pt x="0" y="3591290"/>
                </a:lnTo>
                <a:lnTo>
                  <a:pt x="0" y="0"/>
                </a:lnTo>
                <a:close/>
              </a:path>
            </a:pathLst>
          </a:custGeom>
          <a:blipFill>
            <a:blip r:embed="rId3"/>
            <a:stretch>
              <a:fillRect/>
            </a:stretch>
          </a:blipFill>
        </p:spPr>
      </p:sp>
      <p:sp>
        <p:nvSpPr>
          <p:cNvPr id="5" name="AutoShape 5"/>
          <p:cNvSpPr/>
          <p:nvPr/>
        </p:nvSpPr>
        <p:spPr>
          <a:xfrm flipV="1">
            <a:off x="16961783" y="3139576"/>
            <a:ext cx="1110235" cy="19050"/>
          </a:xfrm>
          <a:prstGeom prst="line">
            <a:avLst/>
          </a:prstGeom>
          <a:ln w="38100" cap="flat">
            <a:solidFill>
              <a:srgbClr val="000000"/>
            </a:solidFill>
            <a:prstDash val="solid"/>
            <a:headEnd type="none" w="sm" len="sm"/>
            <a:tailEnd type="arrow" w="med" len="sm"/>
          </a:ln>
        </p:spPr>
      </p:sp>
      <p:sp>
        <p:nvSpPr>
          <p:cNvPr id="6" name="Freeform 6"/>
          <p:cNvSpPr/>
          <p:nvPr/>
        </p:nvSpPr>
        <p:spPr>
          <a:xfrm>
            <a:off x="4289829" y="5115154"/>
            <a:ext cx="8616595" cy="4143146"/>
          </a:xfrm>
          <a:custGeom>
            <a:avLst/>
            <a:gdLst/>
            <a:ahLst/>
            <a:cxnLst/>
            <a:rect l="l" t="t" r="r" b="b"/>
            <a:pathLst>
              <a:path w="8616595" h="4143146">
                <a:moveTo>
                  <a:pt x="0" y="0"/>
                </a:moveTo>
                <a:lnTo>
                  <a:pt x="8616596" y="0"/>
                </a:lnTo>
                <a:lnTo>
                  <a:pt x="8616596" y="4143146"/>
                </a:lnTo>
                <a:lnTo>
                  <a:pt x="0" y="4143146"/>
                </a:lnTo>
                <a:lnTo>
                  <a:pt x="0" y="0"/>
                </a:lnTo>
                <a:close/>
              </a:path>
            </a:pathLst>
          </a:custGeom>
          <a:blipFill>
            <a:blip r:embed="rId4"/>
            <a:stretch>
              <a:fillRect/>
            </a:stretch>
          </a:blipFill>
        </p:spPr>
      </p:sp>
      <p:sp>
        <p:nvSpPr>
          <p:cNvPr id="7" name="TextBox 7"/>
          <p:cNvSpPr txBox="1"/>
          <p:nvPr/>
        </p:nvSpPr>
        <p:spPr>
          <a:xfrm>
            <a:off x="5557503" y="42145"/>
            <a:ext cx="7172995" cy="666375"/>
          </a:xfrm>
          <a:prstGeom prst="rect">
            <a:avLst/>
          </a:prstGeom>
        </p:spPr>
        <p:txBody>
          <a:bodyPr lIns="0" tIns="0" rIns="0" bIns="0" rtlCol="0" anchor="t">
            <a:spAutoFit/>
          </a:bodyPr>
          <a:lstStyle/>
          <a:p>
            <a:pPr algn="ctr">
              <a:lnSpc>
                <a:spcPts val="5270"/>
              </a:lnSpc>
              <a:spcBef>
                <a:spcPct val="0"/>
              </a:spcBef>
            </a:pPr>
            <a:r>
              <a:rPr lang="en-US" sz="3764" spc="448">
                <a:solidFill>
                  <a:srgbClr val="000000"/>
                </a:solidFill>
                <a:latin typeface="Times New Roman"/>
                <a:ea typeface="Times New Roman"/>
                <a:cs typeface="Times New Roman"/>
                <a:sym typeface="Times New Roman"/>
              </a:rPr>
              <a:t>Here’s an example of its use.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
        <p:cNvGrpSpPr/>
        <p:nvPr/>
      </p:nvGrpSpPr>
      <p:grpSpPr>
        <a:xfrm>
          <a:off x="0" y="0"/>
          <a:ext cx="0" cy="0"/>
          <a:chOff x="0" y="0"/>
          <a:chExt cx="0" cy="0"/>
        </a:xfrm>
      </p:grpSpPr>
      <p:sp>
        <p:nvSpPr>
          <p:cNvPr id="2" name="Freeform 2"/>
          <p:cNvSpPr/>
          <p:nvPr/>
        </p:nvSpPr>
        <p:spPr>
          <a:xfrm>
            <a:off x="3056904" y="4267148"/>
            <a:ext cx="12174193" cy="1752705"/>
          </a:xfrm>
          <a:custGeom>
            <a:avLst/>
            <a:gdLst/>
            <a:ahLst/>
            <a:cxnLst/>
            <a:rect l="l" t="t" r="r" b="b"/>
            <a:pathLst>
              <a:path w="12174193" h="1752705">
                <a:moveTo>
                  <a:pt x="0" y="0"/>
                </a:moveTo>
                <a:lnTo>
                  <a:pt x="12174192" y="0"/>
                </a:lnTo>
                <a:lnTo>
                  <a:pt x="12174192" y="1752704"/>
                </a:lnTo>
                <a:lnTo>
                  <a:pt x="0" y="1752704"/>
                </a:lnTo>
                <a:lnTo>
                  <a:pt x="0" y="0"/>
                </a:lnTo>
                <a:close/>
              </a:path>
            </a:pathLst>
          </a:custGeom>
          <a:blipFill>
            <a:blip r:embed="rId2"/>
            <a:stretch>
              <a:fillRect/>
            </a:stretch>
          </a:blipFill>
        </p:spPr>
      </p:sp>
      <p:sp>
        <p:nvSpPr>
          <p:cNvPr id="3" name="TextBox 3"/>
          <p:cNvSpPr txBox="1"/>
          <p:nvPr/>
        </p:nvSpPr>
        <p:spPr>
          <a:xfrm>
            <a:off x="0" y="1481222"/>
            <a:ext cx="18288000" cy="1307161"/>
          </a:xfrm>
          <a:prstGeom prst="rect">
            <a:avLst/>
          </a:prstGeom>
        </p:spPr>
        <p:txBody>
          <a:bodyPr lIns="0" tIns="0" rIns="0" bIns="0" rtlCol="0" anchor="t">
            <a:spAutoFit/>
          </a:bodyPr>
          <a:lstStyle/>
          <a:p>
            <a:pPr algn="ctr">
              <a:lnSpc>
                <a:spcPts val="5126"/>
              </a:lnSpc>
              <a:spcBef>
                <a:spcPct val="0"/>
              </a:spcBef>
            </a:pPr>
            <a:r>
              <a:rPr lang="en-US" sz="3661" spc="399">
                <a:solidFill>
                  <a:srgbClr val="000000"/>
                </a:solidFill>
                <a:latin typeface="Times New Roman"/>
                <a:ea typeface="Times New Roman"/>
                <a:cs typeface="Times New Roman"/>
                <a:sym typeface="Times New Roman"/>
              </a:rPr>
              <a:t>For MuJoCo, I created a Python environment, as discussed in the previous meeting, in order to properly run and interface MuJoCo with Python.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
        <p:cNvGrpSpPr/>
        <p:nvPr/>
      </p:nvGrpSpPr>
      <p:grpSpPr>
        <a:xfrm>
          <a:off x="0" y="0"/>
          <a:ext cx="0" cy="0"/>
          <a:chOff x="0" y="0"/>
          <a:chExt cx="0" cy="0"/>
        </a:xfrm>
      </p:grpSpPr>
      <p:sp>
        <p:nvSpPr>
          <p:cNvPr id="2" name="Freeform 2"/>
          <p:cNvSpPr/>
          <p:nvPr/>
        </p:nvSpPr>
        <p:spPr>
          <a:xfrm>
            <a:off x="695078" y="4544964"/>
            <a:ext cx="8911330" cy="4012606"/>
          </a:xfrm>
          <a:custGeom>
            <a:avLst/>
            <a:gdLst/>
            <a:ahLst/>
            <a:cxnLst/>
            <a:rect l="l" t="t" r="r" b="b"/>
            <a:pathLst>
              <a:path w="8911330" h="4012606">
                <a:moveTo>
                  <a:pt x="0" y="0"/>
                </a:moveTo>
                <a:lnTo>
                  <a:pt x="8911330" y="0"/>
                </a:lnTo>
                <a:lnTo>
                  <a:pt x="8911330" y="4012606"/>
                </a:lnTo>
                <a:lnTo>
                  <a:pt x="0" y="4012606"/>
                </a:lnTo>
                <a:lnTo>
                  <a:pt x="0" y="0"/>
                </a:lnTo>
                <a:close/>
              </a:path>
            </a:pathLst>
          </a:custGeom>
          <a:blipFill>
            <a:blip r:embed="rId2"/>
            <a:stretch>
              <a:fillRect/>
            </a:stretch>
          </a:blipFill>
        </p:spPr>
      </p:sp>
      <p:sp>
        <p:nvSpPr>
          <p:cNvPr id="3" name="Freeform 3"/>
          <p:cNvSpPr/>
          <p:nvPr/>
        </p:nvSpPr>
        <p:spPr>
          <a:xfrm>
            <a:off x="10195530" y="3893461"/>
            <a:ext cx="7467170" cy="5315612"/>
          </a:xfrm>
          <a:custGeom>
            <a:avLst/>
            <a:gdLst/>
            <a:ahLst/>
            <a:cxnLst/>
            <a:rect l="l" t="t" r="r" b="b"/>
            <a:pathLst>
              <a:path w="7467170" h="5315612">
                <a:moveTo>
                  <a:pt x="0" y="0"/>
                </a:moveTo>
                <a:lnTo>
                  <a:pt x="7467170" y="0"/>
                </a:lnTo>
                <a:lnTo>
                  <a:pt x="7467170" y="5315612"/>
                </a:lnTo>
                <a:lnTo>
                  <a:pt x="0" y="5315612"/>
                </a:lnTo>
                <a:lnTo>
                  <a:pt x="0" y="0"/>
                </a:lnTo>
                <a:close/>
              </a:path>
            </a:pathLst>
          </a:custGeom>
          <a:blipFill>
            <a:blip r:embed="rId3"/>
            <a:stretch>
              <a:fillRect/>
            </a:stretch>
          </a:blipFill>
        </p:spPr>
      </p:sp>
      <p:sp>
        <p:nvSpPr>
          <p:cNvPr id="4" name="TextBox 4"/>
          <p:cNvSpPr txBox="1"/>
          <p:nvPr/>
        </p:nvSpPr>
        <p:spPr>
          <a:xfrm>
            <a:off x="0" y="-323850"/>
            <a:ext cx="18288000" cy="2550825"/>
          </a:xfrm>
          <a:prstGeom prst="rect">
            <a:avLst/>
          </a:prstGeom>
        </p:spPr>
        <p:txBody>
          <a:bodyPr lIns="0" tIns="0" rIns="0" bIns="0" rtlCol="0" anchor="t">
            <a:spAutoFit/>
          </a:bodyPr>
          <a:lstStyle/>
          <a:p>
            <a:pPr algn="ctr">
              <a:lnSpc>
                <a:spcPts val="6962"/>
              </a:lnSpc>
            </a:pPr>
            <a:r>
              <a:rPr lang="en-US" sz="3164" spc="344">
                <a:solidFill>
                  <a:srgbClr val="000000"/>
                </a:solidFill>
                <a:latin typeface="Times New Roman"/>
                <a:ea typeface="Times New Roman"/>
                <a:cs typeface="Times New Roman"/>
                <a:sym typeface="Times New Roman"/>
              </a:rPr>
              <a:t>Once the environment was set up, I began working with a simple MuJoCo example of a humanoid robot using a model provided by MuJoCo to explore basic functionalities. This example also included a simple training process, as presented in the previous meeting.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
        <p:cNvGrpSpPr/>
        <p:nvPr/>
      </p:nvGrpSpPr>
      <p:grpSpPr>
        <a:xfrm>
          <a:off x="0" y="0"/>
          <a:ext cx="0" cy="0"/>
          <a:chOff x="0" y="0"/>
          <a:chExt cx="0" cy="0"/>
        </a:xfrm>
      </p:grpSpPr>
      <p:sp>
        <p:nvSpPr>
          <p:cNvPr id="2" name="Freeform 2"/>
          <p:cNvSpPr/>
          <p:nvPr/>
        </p:nvSpPr>
        <p:spPr>
          <a:xfrm>
            <a:off x="1028700" y="3208969"/>
            <a:ext cx="5726953" cy="6049331"/>
          </a:xfrm>
          <a:custGeom>
            <a:avLst/>
            <a:gdLst/>
            <a:ahLst/>
            <a:cxnLst/>
            <a:rect l="l" t="t" r="r" b="b"/>
            <a:pathLst>
              <a:path w="5726953" h="6049331">
                <a:moveTo>
                  <a:pt x="0" y="0"/>
                </a:moveTo>
                <a:lnTo>
                  <a:pt x="5726953" y="0"/>
                </a:lnTo>
                <a:lnTo>
                  <a:pt x="5726953" y="6049331"/>
                </a:lnTo>
                <a:lnTo>
                  <a:pt x="0" y="6049331"/>
                </a:lnTo>
                <a:lnTo>
                  <a:pt x="0" y="0"/>
                </a:lnTo>
                <a:close/>
              </a:path>
            </a:pathLst>
          </a:custGeom>
          <a:blipFill>
            <a:blip r:embed="rId2"/>
            <a:stretch>
              <a:fillRect/>
            </a:stretch>
          </a:blipFill>
        </p:spPr>
      </p:sp>
      <p:sp>
        <p:nvSpPr>
          <p:cNvPr id="3" name="Freeform 3"/>
          <p:cNvSpPr/>
          <p:nvPr/>
        </p:nvSpPr>
        <p:spPr>
          <a:xfrm>
            <a:off x="10155844" y="3208969"/>
            <a:ext cx="7103456" cy="6035731"/>
          </a:xfrm>
          <a:custGeom>
            <a:avLst/>
            <a:gdLst/>
            <a:ahLst/>
            <a:cxnLst/>
            <a:rect l="l" t="t" r="r" b="b"/>
            <a:pathLst>
              <a:path w="7103456" h="6035731">
                <a:moveTo>
                  <a:pt x="0" y="0"/>
                </a:moveTo>
                <a:lnTo>
                  <a:pt x="7103456" y="0"/>
                </a:lnTo>
                <a:lnTo>
                  <a:pt x="7103456" y="6035731"/>
                </a:lnTo>
                <a:lnTo>
                  <a:pt x="0" y="6035731"/>
                </a:lnTo>
                <a:lnTo>
                  <a:pt x="0" y="0"/>
                </a:lnTo>
                <a:close/>
              </a:path>
            </a:pathLst>
          </a:custGeom>
          <a:blipFill>
            <a:blip r:embed="rId3"/>
            <a:stretch>
              <a:fillRect/>
            </a:stretch>
          </a:blipFill>
        </p:spPr>
      </p:sp>
      <p:sp>
        <p:nvSpPr>
          <p:cNvPr id="4" name="TextBox 4"/>
          <p:cNvSpPr txBox="1"/>
          <p:nvPr/>
        </p:nvSpPr>
        <p:spPr>
          <a:xfrm>
            <a:off x="0" y="-111397"/>
            <a:ext cx="18288000" cy="1702793"/>
          </a:xfrm>
          <a:prstGeom prst="rect">
            <a:avLst/>
          </a:prstGeom>
        </p:spPr>
        <p:txBody>
          <a:bodyPr lIns="0" tIns="0" rIns="0" bIns="0" rtlCol="0" anchor="t">
            <a:spAutoFit/>
          </a:bodyPr>
          <a:lstStyle/>
          <a:p>
            <a:pPr algn="ctr">
              <a:lnSpc>
                <a:spcPts val="6949"/>
              </a:lnSpc>
            </a:pPr>
            <a:r>
              <a:rPr lang="en-US" sz="3776" spc="411">
                <a:solidFill>
                  <a:srgbClr val="000000"/>
                </a:solidFill>
                <a:latin typeface="Times New Roman"/>
                <a:ea typeface="Times New Roman"/>
                <a:cs typeface="Times New Roman"/>
                <a:sym typeface="Times New Roman"/>
              </a:rPr>
              <a:t>This training was not successful, as the loss value increased over the iterations, and the model was unable to maintain a standing posture.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
        <p:cNvGrpSpPr/>
        <p:nvPr/>
      </p:nvGrpSpPr>
      <p:grpSpPr>
        <a:xfrm>
          <a:off x="0" y="0"/>
          <a:ext cx="0" cy="0"/>
          <a:chOff x="0" y="0"/>
          <a:chExt cx="0" cy="0"/>
        </a:xfrm>
      </p:grpSpPr>
      <p:sp>
        <p:nvSpPr>
          <p:cNvPr id="2" name="Freeform 2"/>
          <p:cNvSpPr/>
          <p:nvPr/>
        </p:nvSpPr>
        <p:spPr>
          <a:xfrm>
            <a:off x="1028700" y="3462711"/>
            <a:ext cx="5207893" cy="5795589"/>
          </a:xfrm>
          <a:custGeom>
            <a:avLst/>
            <a:gdLst/>
            <a:ahLst/>
            <a:cxnLst/>
            <a:rect l="l" t="t" r="r" b="b"/>
            <a:pathLst>
              <a:path w="5207893" h="5795589">
                <a:moveTo>
                  <a:pt x="0" y="0"/>
                </a:moveTo>
                <a:lnTo>
                  <a:pt x="5207893" y="0"/>
                </a:lnTo>
                <a:lnTo>
                  <a:pt x="5207893" y="5795589"/>
                </a:lnTo>
                <a:lnTo>
                  <a:pt x="0" y="5795589"/>
                </a:lnTo>
                <a:lnTo>
                  <a:pt x="0" y="0"/>
                </a:lnTo>
                <a:close/>
              </a:path>
            </a:pathLst>
          </a:custGeom>
          <a:blipFill>
            <a:blip r:embed="rId4"/>
            <a:stretch>
              <a:fillRect/>
            </a:stretch>
          </a:blipFill>
        </p:spPr>
      </p:sp>
      <p:pic>
        <p:nvPicPr>
          <p:cNvPr id="3" name="Picture 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a:stretch>
            <a:fillRect/>
          </a:stretch>
        </p:blipFill>
        <p:spPr>
          <a:xfrm>
            <a:off x="9128079" y="3411885"/>
            <a:ext cx="8131221" cy="5846415"/>
          </a:xfrm>
          <a:prstGeom prst="rect">
            <a:avLst/>
          </a:prstGeom>
        </p:spPr>
      </p:pic>
      <p:sp>
        <p:nvSpPr>
          <p:cNvPr id="4" name="TextBox 4"/>
          <p:cNvSpPr txBox="1"/>
          <p:nvPr/>
        </p:nvSpPr>
        <p:spPr>
          <a:xfrm>
            <a:off x="244611" y="-55414"/>
            <a:ext cx="17820797" cy="2694002"/>
          </a:xfrm>
          <a:prstGeom prst="rect">
            <a:avLst/>
          </a:prstGeom>
        </p:spPr>
        <p:txBody>
          <a:bodyPr lIns="0" tIns="0" rIns="0" bIns="0" rtlCol="0" anchor="t">
            <a:spAutoFit/>
          </a:bodyPr>
          <a:lstStyle/>
          <a:p>
            <a:pPr algn="ctr">
              <a:lnSpc>
                <a:spcPts val="5433"/>
              </a:lnSpc>
            </a:pPr>
            <a:r>
              <a:rPr lang="en-US" sz="2829" spc="308">
                <a:solidFill>
                  <a:srgbClr val="000000"/>
                </a:solidFill>
                <a:latin typeface="Times New Roman"/>
                <a:ea typeface="Times New Roman"/>
                <a:cs typeface="Times New Roman"/>
                <a:sym typeface="Times New Roman"/>
              </a:rPr>
              <a:t>Furthermore, to implement an approach closer to the project goals, I used the G1 robot model, which is similar to the R1. For convenience, I selected the 23-DOF version instead of the 26-DOF version to facilitate training optimization and improve standing stability. Some rendering issues occurred during implementation, but they were successfully resolved.</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
        <p:cNvGrpSpPr/>
        <p:nvPr/>
      </p:nvGrpSpPr>
      <p:grpSpPr>
        <a:xfrm>
          <a:off x="0" y="0"/>
          <a:ext cx="0" cy="0"/>
          <a:chOff x="0" y="0"/>
          <a:chExt cx="0" cy="0"/>
        </a:xfrm>
      </p:grpSpPr>
      <p:sp>
        <p:nvSpPr>
          <p:cNvPr id="2" name="TextBox 2"/>
          <p:cNvSpPr txBox="1"/>
          <p:nvPr/>
        </p:nvSpPr>
        <p:spPr>
          <a:xfrm>
            <a:off x="0" y="1112167"/>
            <a:ext cx="18288000" cy="6575607"/>
          </a:xfrm>
          <a:prstGeom prst="rect">
            <a:avLst/>
          </a:prstGeom>
        </p:spPr>
        <p:txBody>
          <a:bodyPr lIns="0" tIns="0" rIns="0" bIns="0" rtlCol="0" anchor="t">
            <a:spAutoFit/>
          </a:bodyPr>
          <a:lstStyle/>
          <a:p>
            <a:pPr algn="ctr">
              <a:lnSpc>
                <a:spcPts val="6561"/>
              </a:lnSpc>
            </a:pPr>
            <a:r>
              <a:rPr lang="en-US" sz="3364" spc="366">
                <a:solidFill>
                  <a:srgbClr val="000000"/>
                </a:solidFill>
                <a:latin typeface="Times New Roman"/>
                <a:ea typeface="Times New Roman"/>
                <a:cs typeface="Times New Roman"/>
                <a:sym typeface="Times New Roman"/>
              </a:rPr>
              <a:t>Next Steps:</a:t>
            </a:r>
          </a:p>
          <a:p>
            <a:pPr algn="l">
              <a:lnSpc>
                <a:spcPts val="6561"/>
              </a:lnSpc>
            </a:pPr>
            <a:r>
              <a:rPr lang="en-US" sz="3364" spc="366">
                <a:solidFill>
                  <a:srgbClr val="000000"/>
                </a:solidFill>
                <a:latin typeface="Times New Roman"/>
                <a:ea typeface="Times New Roman"/>
                <a:cs typeface="Times New Roman"/>
                <a:sym typeface="Times New Roman"/>
              </a:rPr>
              <a:t> • Improve the rendering to allow clearer visualization of the simulation.</a:t>
            </a:r>
          </a:p>
          <a:p>
            <a:pPr algn="l">
              <a:lnSpc>
                <a:spcPts val="6561"/>
              </a:lnSpc>
            </a:pPr>
            <a:endParaRPr lang="en-US" sz="3364" spc="366">
              <a:solidFill>
                <a:srgbClr val="000000"/>
              </a:solidFill>
              <a:latin typeface="Times New Roman"/>
              <a:ea typeface="Times New Roman"/>
              <a:cs typeface="Times New Roman"/>
              <a:sym typeface="Times New Roman"/>
            </a:endParaRPr>
          </a:p>
          <a:p>
            <a:pPr algn="l">
              <a:lnSpc>
                <a:spcPts val="6561"/>
              </a:lnSpc>
            </a:pPr>
            <a:r>
              <a:rPr lang="en-US" sz="3364" spc="366">
                <a:solidFill>
                  <a:srgbClr val="000000"/>
                </a:solidFill>
                <a:latin typeface="Times New Roman"/>
                <a:ea typeface="Times New Roman"/>
                <a:cs typeface="Times New Roman"/>
                <a:sym typeface="Times New Roman"/>
              </a:rPr>
              <a:t> • Further refine the training process to reduce the loss value and achieve stable standing, with the potential to enable walking.</a:t>
            </a:r>
          </a:p>
          <a:p>
            <a:pPr algn="l">
              <a:lnSpc>
                <a:spcPts val="6561"/>
              </a:lnSpc>
            </a:pPr>
            <a:endParaRPr lang="en-US" sz="3364" spc="366">
              <a:solidFill>
                <a:srgbClr val="000000"/>
              </a:solidFill>
              <a:latin typeface="Times New Roman"/>
              <a:ea typeface="Times New Roman"/>
              <a:cs typeface="Times New Roman"/>
              <a:sym typeface="Times New Roman"/>
            </a:endParaRPr>
          </a:p>
          <a:p>
            <a:pPr algn="l">
              <a:lnSpc>
                <a:spcPts val="6561"/>
              </a:lnSpc>
            </a:pPr>
            <a:r>
              <a:rPr lang="en-US" sz="3364" spc="366">
                <a:solidFill>
                  <a:srgbClr val="000000"/>
                </a:solidFill>
                <a:latin typeface="Times New Roman"/>
                <a:ea typeface="Times New Roman"/>
                <a:cs typeface="Times New Roman"/>
                <a:sym typeface="Times New Roman"/>
              </a:rPr>
              <a:t> • Once successful results are obtained with the 23-DOF model, transition to the 26-DOF model to obtain more realistic outcomes.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CBF1B1-2DFA-342B-D39E-15D45549DC22}"/>
              </a:ext>
            </a:extLst>
          </p:cNvPr>
          <p:cNvSpPr txBox="1"/>
          <p:nvPr/>
        </p:nvSpPr>
        <p:spPr>
          <a:xfrm>
            <a:off x="7135822" y="800100"/>
            <a:ext cx="4016356" cy="1015663"/>
          </a:xfrm>
          <a:prstGeom prst="rect">
            <a:avLst/>
          </a:prstGeom>
          <a:noFill/>
        </p:spPr>
        <p:txBody>
          <a:bodyPr wrap="none" rtlCol="0">
            <a:spAutoFit/>
          </a:bodyPr>
          <a:lstStyle/>
          <a:p>
            <a:r>
              <a:rPr lang="es-ES_tradnl" sz="6000" b="1" dirty="0" err="1">
                <a:latin typeface="Times New Roman" panose="02020603050405020304" pitchFamily="18" charset="0"/>
                <a:cs typeface="Times New Roman" panose="02020603050405020304" pitchFamily="18" charset="0"/>
              </a:rPr>
              <a:t>References</a:t>
            </a:r>
            <a:r>
              <a:rPr lang="es-ES_tradnl" sz="6000" b="1"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7B91FC61-E04D-D517-1C1E-91B5015345B6}"/>
              </a:ext>
            </a:extLst>
          </p:cNvPr>
          <p:cNvSpPr txBox="1"/>
          <p:nvPr/>
        </p:nvSpPr>
        <p:spPr>
          <a:xfrm>
            <a:off x="2354446" y="2046030"/>
            <a:ext cx="13579107" cy="7478970"/>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[1] Unitree Robotics, </a:t>
            </a:r>
            <a:r>
              <a:rPr lang="en-US" sz="3200" i="1" dirty="0">
                <a:latin typeface="Times New Roman" panose="02020603050405020304" pitchFamily="18" charset="0"/>
                <a:cs typeface="Times New Roman" panose="02020603050405020304" pitchFamily="18" charset="0"/>
              </a:rPr>
              <a:t>Unitree </a:t>
            </a:r>
            <a:r>
              <a:rPr lang="en-US" sz="3200" i="1" dirty="0" err="1">
                <a:latin typeface="Times New Roman" panose="02020603050405020304" pitchFamily="18" charset="0"/>
                <a:cs typeface="Times New Roman" panose="02020603050405020304" pitchFamily="18" charset="0"/>
              </a:rPr>
              <a:t>MuJoCo</a:t>
            </a:r>
            <a:r>
              <a:rPr lang="en-US" sz="3200" i="1" dirty="0">
                <a:latin typeface="Times New Roman" panose="02020603050405020304" pitchFamily="18" charset="0"/>
                <a:cs typeface="Times New Roman" panose="02020603050405020304" pitchFamily="18" charset="0"/>
              </a:rPr>
              <a:t> Models (G1 Humanoid Robot)</a:t>
            </a:r>
            <a:r>
              <a:rPr lang="en-US" sz="3200" dirty="0">
                <a:latin typeface="Times New Roman" panose="02020603050405020304" pitchFamily="18" charset="0"/>
                <a:cs typeface="Times New Roman" panose="02020603050405020304" pitchFamily="18" charset="0"/>
              </a:rPr>
              <a:t>. GitHub repository.</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hlinkClick r:id="rId2"/>
              </a:rPr>
              <a:t>https://github.com/unitreerobotics/unitree_mujoco</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[2] </a:t>
            </a:r>
            <a:r>
              <a:rPr lang="en-US" sz="3200" dirty="0" err="1">
                <a:latin typeface="Times New Roman" panose="02020603050405020304" pitchFamily="18" charset="0"/>
                <a:cs typeface="Times New Roman" panose="02020603050405020304" pitchFamily="18" charset="0"/>
              </a:rPr>
              <a:t>MuJoCo</a:t>
            </a:r>
            <a:r>
              <a:rPr lang="en-US" sz="3200" dirty="0">
                <a:latin typeface="Times New Roman" panose="02020603050405020304" pitchFamily="18" charset="0"/>
                <a:cs typeface="Times New Roman" panose="02020603050405020304" pitchFamily="18" charset="0"/>
              </a:rPr>
              <a:t>, </a:t>
            </a:r>
            <a:r>
              <a:rPr lang="en-US" sz="3200" i="1" dirty="0" err="1">
                <a:latin typeface="Times New Roman" panose="02020603050405020304" pitchFamily="18" charset="0"/>
                <a:cs typeface="Times New Roman" panose="02020603050405020304" pitchFamily="18" charset="0"/>
              </a:rPr>
              <a:t>MuJoCo</a:t>
            </a:r>
            <a:r>
              <a:rPr lang="en-US" sz="3200" i="1" dirty="0">
                <a:latin typeface="Times New Roman" panose="02020603050405020304" pitchFamily="18" charset="0"/>
                <a:cs typeface="Times New Roman" panose="02020603050405020304" pitchFamily="18" charset="0"/>
              </a:rPr>
              <a:t> Physics Engine Documentation</a:t>
            </a:r>
            <a:r>
              <a:rPr lang="en-US" sz="3200" dirty="0">
                <a:latin typeface="Times New Roman" panose="02020603050405020304" pitchFamily="18" charset="0"/>
                <a:cs typeface="Times New Roman" panose="02020603050405020304" pitchFamily="18" charset="0"/>
              </a:rPr>
              <a:t>. Developed by DeepMind.</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hlinkClick r:id="rId3"/>
              </a:rPr>
              <a:t>https://mujoco.readthedocs.io</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[3] Schulman, J., Wolski, F., </a:t>
            </a:r>
            <a:r>
              <a:rPr lang="en-US" sz="3200" dirty="0" err="1">
                <a:latin typeface="Times New Roman" panose="02020603050405020304" pitchFamily="18" charset="0"/>
                <a:cs typeface="Times New Roman" panose="02020603050405020304" pitchFamily="18" charset="0"/>
              </a:rPr>
              <a:t>Dhariwal</a:t>
            </a:r>
            <a:r>
              <a:rPr lang="en-US" sz="3200" dirty="0">
                <a:latin typeface="Times New Roman" panose="02020603050405020304" pitchFamily="18" charset="0"/>
                <a:cs typeface="Times New Roman" panose="02020603050405020304" pitchFamily="18" charset="0"/>
              </a:rPr>
              <a:t>, P., Radford, A., &amp; </a:t>
            </a:r>
            <a:r>
              <a:rPr lang="en-US" sz="3200" dirty="0" err="1">
                <a:latin typeface="Times New Roman" panose="02020603050405020304" pitchFamily="18" charset="0"/>
                <a:cs typeface="Times New Roman" panose="02020603050405020304" pitchFamily="18" charset="0"/>
              </a:rPr>
              <a:t>Klimov</a:t>
            </a:r>
            <a:r>
              <a:rPr lang="en-US" sz="3200" dirty="0">
                <a:latin typeface="Times New Roman" panose="02020603050405020304" pitchFamily="18" charset="0"/>
                <a:cs typeface="Times New Roman" panose="02020603050405020304" pitchFamily="18" charset="0"/>
              </a:rPr>
              <a:t>, O., </a:t>
            </a:r>
            <a:r>
              <a:rPr lang="en-US" sz="3200" i="1" dirty="0">
                <a:latin typeface="Times New Roman" panose="02020603050405020304" pitchFamily="18" charset="0"/>
                <a:cs typeface="Times New Roman" panose="02020603050405020304" pitchFamily="18" charset="0"/>
              </a:rPr>
              <a:t>Proximal Policy Optimization Algorithms</a:t>
            </a:r>
            <a:r>
              <a:rPr lang="en-US" sz="3200" dirty="0">
                <a:latin typeface="Times New Roman" panose="02020603050405020304" pitchFamily="18" charset="0"/>
                <a:cs typeface="Times New Roman" panose="02020603050405020304" pitchFamily="18" charset="0"/>
              </a:rPr>
              <a:t>, 2017.</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hlinkClick r:id="rId4"/>
              </a:rPr>
              <a:t>https://arxiv.org/abs/1707.06347</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[4] Raffin, A., et al., </a:t>
            </a:r>
            <a:r>
              <a:rPr lang="en-US" sz="3200" i="1" dirty="0">
                <a:latin typeface="Times New Roman" panose="02020603050405020304" pitchFamily="18" charset="0"/>
                <a:cs typeface="Times New Roman" panose="02020603050405020304" pitchFamily="18" charset="0"/>
              </a:rPr>
              <a:t>Stable-Baselines3: Reliable Reinforcement Learning Implementations</a:t>
            </a:r>
            <a:r>
              <a:rPr lang="en-US" sz="3200" dirty="0">
                <a:latin typeface="Times New Roman" panose="02020603050405020304" pitchFamily="18" charset="0"/>
                <a:cs typeface="Times New Roman" panose="02020603050405020304" pitchFamily="18" charset="0"/>
              </a:rPr>
              <a:t>. GitHub repository.</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hlinkClick r:id="rId5"/>
              </a:rPr>
              <a:t>https://github.com/DLR-RM/stable-baselines3</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[5] </a:t>
            </a:r>
            <a:r>
              <a:rPr lang="en-US" sz="3200" dirty="0" err="1">
                <a:latin typeface="Times New Roman" panose="02020603050405020304" pitchFamily="18" charset="0"/>
                <a:cs typeface="Times New Roman" panose="02020603050405020304" pitchFamily="18" charset="0"/>
              </a:rPr>
              <a:t>Farama</a:t>
            </a:r>
            <a:r>
              <a:rPr lang="en-US" sz="3200" dirty="0">
                <a:latin typeface="Times New Roman" panose="02020603050405020304" pitchFamily="18" charset="0"/>
                <a:cs typeface="Times New Roman" panose="02020603050405020304" pitchFamily="18" charset="0"/>
              </a:rPr>
              <a:t> Foundation, </a:t>
            </a:r>
            <a:r>
              <a:rPr lang="en-US" sz="3200" i="1" dirty="0">
                <a:latin typeface="Times New Roman" panose="02020603050405020304" pitchFamily="18" charset="0"/>
                <a:cs typeface="Times New Roman" panose="02020603050405020304" pitchFamily="18" charset="0"/>
              </a:rPr>
              <a:t>Gymnasium: A Standard API for Reinforcement Learning Environments</a:t>
            </a:r>
            <a:r>
              <a:rPr lang="en-US" sz="3200" dirty="0">
                <a:latin typeface="Times New Roman" panose="02020603050405020304" pitchFamily="18" charset="0"/>
                <a:cs typeface="Times New Roman" panose="02020603050405020304" pitchFamily="18" charset="0"/>
              </a:rPr>
              <a:t>. GitHub repository.</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hlinkClick r:id="rId6"/>
              </a:rPr>
              <a:t>https://github.com/Farama-Foundation/Gymnasium</a:t>
            </a:r>
            <a:endParaRPr lang="en-US" sz="3200" dirty="0">
              <a:latin typeface="Times New Roman" panose="02020603050405020304" pitchFamily="18" charset="0"/>
              <a:cs typeface="Times New Roman" panose="02020603050405020304" pitchFamily="18" charset="0"/>
            </a:endParaRPr>
          </a:p>
          <a:p>
            <a:endParaRPr lang="es-ES_tradnl"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7378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461</Words>
  <Application>Microsoft Macintosh PowerPoint</Application>
  <PresentationFormat>Custom</PresentationFormat>
  <Paragraphs>21</Paragraphs>
  <Slides>9</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Times New Roman</vt:lpstr>
      <vt:lpstr>Open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Labs Mujoco</dc:title>
  <cp:lastModifiedBy>Cesar Pascal</cp:lastModifiedBy>
  <cp:revision>2</cp:revision>
  <dcterms:created xsi:type="dcterms:W3CDTF">2006-08-16T00:00:00Z</dcterms:created>
  <dcterms:modified xsi:type="dcterms:W3CDTF">2026-02-06T22:41:42Z</dcterms:modified>
  <dc:identifier>DAHAU41HIw0</dc:identifier>
</cp:coreProperties>
</file>