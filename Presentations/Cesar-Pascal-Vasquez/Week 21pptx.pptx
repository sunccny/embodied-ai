
<file path=[Content_Types].xml><?xml version="1.0" encoding="utf-8"?>
<Types xmlns="http://schemas.openxmlformats.org/package/2006/content-types">
  <Default Extension="mov" ContentType="video/quicktim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37"/>
  </p:normalViewPr>
  <p:slideViewPr>
    <p:cSldViewPr snapToGrid="0" snapToObjects="1">
      <p:cViewPr varScale="1">
        <p:scale>
          <a:sx n="96" d="100"/>
          <a:sy n="96" d="100"/>
        </p:scale>
        <p:origin x="200"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ov"/><Relationship Id="rId1" Type="http://schemas.microsoft.com/office/2007/relationships/media" Target="../media/media1.mov"/><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hyperlink" Target="https://doi.org/10.1109/IROS.2012.6386109" TargetMode="External"/><Relationship Id="rId3" Type="http://schemas.openxmlformats.org/officeDocument/2006/relationships/hyperlink" Target="https://www.brainco-hz.com/docs/revolimb-hand/en/revo2/parameters.html" TargetMode="External"/><Relationship Id="rId7" Type="http://schemas.openxmlformats.org/officeDocument/2006/relationships/hyperlink" Target="https://mujoco.readthedocs.io/en/latest/XMLreference.html"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github.com/unitreerobotics/brainco_hand_service" TargetMode="External"/><Relationship Id="rId5" Type="http://schemas.openxmlformats.org/officeDocument/2006/relationships/hyperlink" Target="https://github.com/BrainCoTech/brainco-hand-sdk" TargetMode="External"/><Relationship Id="rId4" Type="http://schemas.openxmlformats.org/officeDocument/2006/relationships/hyperlink" Target="https://www.brainco-hz.com/docs/revolimb-hand-dev/en/revo2/download.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D8FA861-67D4-4168-800E-55266FDB30AD}"/>
              </a:ext>
            </a:extLst>
          </p:cNvPr>
          <p:cNvSpPr>
            <a:spLocks noGrp="1"/>
          </p:cNvSpPr>
          <p:nvPr/>
        </p:nvSpPr>
        <p:spPr>
          <a:xfrm>
            <a:off x="-92766" y="2971800"/>
            <a:ext cx="12191695" cy="292608"/>
          </a:xfrm>
          <a:prstGeom prst="rect">
            <a:avLst/>
          </a:prstGeom>
          <a:noFill/>
        </p:spPr>
        <p:txBody>
          <a:bodyPr wrap="square" lIns="0" tIns="0" rIns="0" bIns="0" anchor="ctr">
            <a:noAutofit/>
          </a:bodyPr>
          <a:lstStyle/>
          <a:p>
            <a:pPr marL="0" indent="0" algn="ctr">
              <a:buNone/>
            </a:pPr>
            <a:r>
              <a:rPr sz="3600" b="1" dirty="0">
                <a:solidFill>
                  <a:srgbClr val="111111"/>
                </a:solidFill>
              </a:rPr>
              <a:t>WEEK 2</a:t>
            </a:r>
            <a:r>
              <a:rPr lang="en-US" sz="3600" b="1" dirty="0">
                <a:solidFill>
                  <a:srgbClr val="111111"/>
                </a:solidFill>
              </a:rPr>
              <a:t>1</a:t>
            </a:r>
            <a:endParaRPr sz="3600" b="1" dirty="0">
              <a:solidFill>
                <a:srgbClr val="111111"/>
              </a:solidFill>
            </a:endParaRPr>
          </a:p>
        </p:txBody>
      </p:sp>
      <p:sp>
        <p:nvSpPr>
          <p:cNvPr id="3" name="Text 1">
            <a:extLst>
              <a:ext uri="{FF2B5EF4-FFF2-40B4-BE49-F238E27FC236}">
                <a16:creationId xmlns:a16="http://schemas.microsoft.com/office/drawing/2014/main" id="{DB4AFD9F-88BF-4916-B257-EFADE3148B2A}"/>
              </a:ext>
            </a:extLst>
          </p:cNvPr>
          <p:cNvSpPr>
            <a:spLocks noGrp="1"/>
          </p:cNvSpPr>
          <p:nvPr/>
        </p:nvSpPr>
        <p:spPr>
          <a:xfrm>
            <a:off x="305" y="4646809"/>
            <a:ext cx="12191695" cy="137160"/>
          </a:xfrm>
          <a:prstGeom prst="rect">
            <a:avLst/>
          </a:prstGeom>
          <a:noFill/>
        </p:spPr>
        <p:txBody>
          <a:bodyPr wrap="square" lIns="0" tIns="0" rIns="0" bIns="0" anchor="ctr">
            <a:noAutofit/>
          </a:bodyPr>
          <a:lstStyle/>
          <a:p>
            <a:pPr marL="0" indent="0" algn="ctr">
              <a:buNone/>
            </a:pPr>
            <a:r>
              <a:rPr sz="2000" dirty="0">
                <a:solidFill>
                  <a:srgbClr val="111111"/>
                </a:solidFill>
              </a:rPr>
              <a:t>CESAR A. PASCAL VASQUEZ</a:t>
            </a:r>
          </a:p>
        </p:txBody>
      </p:sp>
      <p:sp>
        <p:nvSpPr>
          <p:cNvPr id="4" name="Text 2">
            <a:extLst>
              <a:ext uri="{FF2B5EF4-FFF2-40B4-BE49-F238E27FC236}">
                <a16:creationId xmlns:a16="http://schemas.microsoft.com/office/drawing/2014/main" id="{BE2802F3-4918-4AC4-84CF-57F94D1B3718}"/>
              </a:ext>
            </a:extLst>
          </p:cNvPr>
          <p:cNvSpPr>
            <a:spLocks noGrp="1"/>
          </p:cNvSpPr>
          <p:nvPr/>
        </p:nvSpPr>
        <p:spPr>
          <a:xfrm>
            <a:off x="10789920" y="6537960"/>
            <a:ext cx="1005840" cy="137160"/>
          </a:xfrm>
          <a:prstGeom prst="rect">
            <a:avLst/>
          </a:prstGeom>
          <a:noFill/>
        </p:spPr>
        <p:txBody>
          <a:bodyPr wrap="square" lIns="0" tIns="0" rIns="0" bIns="0" anchor="ctr">
            <a:normAutofit/>
          </a:bodyPr>
          <a:lstStyle/>
          <a:p>
            <a:pPr marL="0" indent="0" algn="r">
              <a:buNone/>
            </a:pPr>
            <a:r>
              <a:rPr sz="480">
                <a:solidFill>
                  <a:srgbClr val="777777"/>
                </a:solidFill>
                <a:latin typeface="Aptos"/>
                <a:ea typeface="Aptos"/>
                <a:cs typeface="Aptos"/>
              </a:rPr>
              <a:t>Week 20 | 1</a:t>
            </a:r>
          </a:p>
        </p:txBody>
      </p:sp>
    </p:spTree>
    <p:extLst>
      <p:ext uri="{BB962C8B-B14F-4D97-AF65-F5344CB8AC3E}">
        <p14:creationId xmlns:p14="http://schemas.microsoft.com/office/powerpoint/2010/main" val="206397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1039173-C999-4AE2-97CD-9803090673AD}"/>
              </a:ext>
            </a:extLst>
          </p:cNvPr>
          <p:cNvSpPr>
            <a:spLocks noGrp="1"/>
          </p:cNvSpPr>
          <p:nvPr/>
        </p:nvSpPr>
        <p:spPr>
          <a:xfrm>
            <a:off x="530352" y="329184"/>
            <a:ext cx="10607040" cy="347472"/>
          </a:xfrm>
          <a:prstGeom prst="rect">
            <a:avLst/>
          </a:prstGeom>
          <a:noFill/>
        </p:spPr>
        <p:txBody>
          <a:bodyPr wrap="square" lIns="0" tIns="0" rIns="0" bIns="0" anchor="ctr">
            <a:normAutofit/>
          </a:bodyPr>
          <a:lstStyle/>
          <a:p>
            <a:pPr marL="0" indent="0">
              <a:buNone/>
            </a:pPr>
            <a:r>
              <a:rPr sz="1550" b="1">
                <a:solidFill>
                  <a:srgbClr val="111111"/>
                </a:solidFill>
                <a:latin typeface="Aptos"/>
                <a:ea typeface="Aptos"/>
                <a:cs typeface="Aptos"/>
              </a:rPr>
              <a:t>This week, the exact BrainCo Revo 2 Basic hand was moved into a runnable MuJoCo simulation.</a:t>
            </a:r>
          </a:p>
        </p:txBody>
      </p:sp>
      <p:sp>
        <p:nvSpPr>
          <p:cNvPr id="3" name="Text 1">
            <a:extLst>
              <a:ext uri="{FF2B5EF4-FFF2-40B4-BE49-F238E27FC236}">
                <a16:creationId xmlns:a16="http://schemas.microsoft.com/office/drawing/2014/main" id="{8A20609E-63B5-49B6-BF0C-66AC00250CEB}"/>
              </a:ext>
            </a:extLst>
          </p:cNvPr>
          <p:cNvSpPr>
            <a:spLocks noGrp="1"/>
          </p:cNvSpPr>
          <p:nvPr/>
        </p:nvSpPr>
        <p:spPr>
          <a:xfrm>
            <a:off x="768096" y="1517904"/>
            <a:ext cx="4846320" cy="1051560"/>
          </a:xfrm>
          <a:prstGeom prst="rect">
            <a:avLst/>
          </a:prstGeom>
          <a:noFill/>
        </p:spPr>
        <p:txBody>
          <a:bodyPr wrap="square" lIns="254" tIns="254" rIns="254" bIns="254" anchor="t">
            <a:normAutofit fontScale="57472"/>
          </a:bodyPr>
          <a:lstStyle/>
          <a:p>
            <a:pPr marL="0" indent="0">
              <a:buNone/>
            </a:pPr>
            <a:r>
              <a:rPr sz="2400">
                <a:solidFill>
                  <a:srgbClr val="111111"/>
                </a:solidFill>
                <a:latin typeface="Aptos"/>
                <a:ea typeface="Aptos"/>
                <a:cs typeface="Aptos"/>
              </a:rPr>
              <a:t>The R1 arrived with two BrainCo Revo 2 Basic five-finger hands. I replaced the earlier generic-hand assumption with BrainCo’s released MJCF assets and built a desktop simulator for right- and left-hand interaction, command testing, and headless validation.</a:t>
            </a:r>
          </a:p>
        </p:txBody>
      </p:sp>
      <p:sp>
        <p:nvSpPr>
          <p:cNvPr id="4" name="Shape 2">
            <a:extLst>
              <a:ext uri="{FF2B5EF4-FFF2-40B4-BE49-F238E27FC236}">
                <a16:creationId xmlns:a16="http://schemas.microsoft.com/office/drawing/2014/main" id="{4FC3D609-0564-4860-BDB6-E5D4EA409689}"/>
              </a:ext>
            </a:extLst>
          </p:cNvPr>
          <p:cNvSpPr>
            <a:spLocks noGrp="1"/>
          </p:cNvSpPr>
          <p:nvPr/>
        </p:nvSpPr>
        <p:spPr>
          <a:xfrm>
            <a:off x="5797296" y="1060704"/>
            <a:ext cx="4727448" cy="4133088"/>
          </a:xfrm>
          <a:prstGeom prst="rect">
            <a:avLst/>
          </a:prstGeom>
          <a:solidFill>
            <a:srgbClr val="FFFFFF">
              <a:alpha val="0"/>
            </a:srgbClr>
          </a:solidFill>
          <a:ln w="10160">
            <a:solidFill>
              <a:srgbClr val="D0D0D0"/>
            </a:solidFill>
            <a:prstDash val="solid"/>
          </a:ln>
        </p:spPr>
      </p:sp>
      <p:sp>
        <p:nvSpPr>
          <p:cNvPr id="7" name="Text 4">
            <a:extLst>
              <a:ext uri="{FF2B5EF4-FFF2-40B4-BE49-F238E27FC236}">
                <a16:creationId xmlns:a16="http://schemas.microsoft.com/office/drawing/2014/main" id="{0E0E5EE8-6134-4516-962A-67D621B88942}"/>
              </a:ext>
            </a:extLst>
          </p:cNvPr>
          <p:cNvSpPr>
            <a:spLocks noGrp="1"/>
          </p:cNvSpPr>
          <p:nvPr/>
        </p:nvSpPr>
        <p:spPr>
          <a:xfrm>
            <a:off x="10789920" y="6537960"/>
            <a:ext cx="1005840" cy="137160"/>
          </a:xfrm>
          <a:prstGeom prst="rect">
            <a:avLst/>
          </a:prstGeom>
          <a:noFill/>
        </p:spPr>
        <p:txBody>
          <a:bodyPr wrap="square" lIns="0" tIns="0" rIns="0" bIns="0" anchor="ctr">
            <a:normAutofit/>
          </a:bodyPr>
          <a:lstStyle/>
          <a:p>
            <a:pPr marL="0" indent="0" algn="r">
              <a:buNone/>
            </a:pPr>
            <a:r>
              <a:rPr sz="480">
                <a:solidFill>
                  <a:srgbClr val="777777"/>
                </a:solidFill>
                <a:latin typeface="Aptos"/>
                <a:ea typeface="Aptos"/>
                <a:cs typeface="Aptos"/>
              </a:rPr>
              <a:t>Week 20 | 2</a:t>
            </a:r>
          </a:p>
        </p:txBody>
      </p:sp>
      <p:pic>
        <p:nvPicPr>
          <p:cNvPr id="14" name="Picture 13"/>
          <p:cNvPicPr>
            <a:picLocks noChangeAspect="1"/>
          </p:cNvPicPr>
          <p:nvPr/>
        </p:nvPicPr>
        <p:blipFill>
          <a:blip r:embed="rId3"/>
          <a:stretch/>
        </p:blipFill>
        <p:spPr>
          <a:xfrm>
            <a:off x="5806440" y="1069848"/>
            <a:ext cx="4709160" cy="4114800"/>
          </a:xfrm>
          <a:prstGeom prst="rect">
            <a:avLst/>
          </a:prstGeom>
        </p:spPr>
      </p:pic>
    </p:spTree>
    <p:extLst>
      <p:ext uri="{BB962C8B-B14F-4D97-AF65-F5344CB8AC3E}">
        <p14:creationId xmlns:p14="http://schemas.microsoft.com/office/powerpoint/2010/main" val="1068631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6E4CD17-1175-46E6-841A-85359BA43CEE}"/>
              </a:ext>
            </a:extLst>
          </p:cNvPr>
          <p:cNvSpPr>
            <a:spLocks noGrp="1"/>
          </p:cNvSpPr>
          <p:nvPr/>
        </p:nvSpPr>
        <p:spPr>
          <a:xfrm>
            <a:off x="530352" y="329184"/>
            <a:ext cx="10607040" cy="347472"/>
          </a:xfrm>
          <a:prstGeom prst="rect">
            <a:avLst/>
          </a:prstGeom>
          <a:noFill/>
        </p:spPr>
        <p:txBody>
          <a:bodyPr wrap="square" lIns="0" tIns="0" rIns="0" bIns="0" anchor="ctr">
            <a:normAutofit/>
          </a:bodyPr>
          <a:lstStyle/>
          <a:p>
            <a:pPr marL="0" indent="0">
              <a:buNone/>
            </a:pPr>
            <a:r>
              <a:rPr sz="1550" b="1">
                <a:solidFill>
                  <a:srgbClr val="111111"/>
                </a:solidFill>
                <a:latin typeface="Aptos"/>
                <a:ea typeface="Aptos"/>
                <a:cs typeface="Aptos"/>
              </a:rPr>
              <a:t>This report continues the path from locomotion and arm control to hardware-matched dexterous manipulation.</a:t>
            </a:r>
          </a:p>
        </p:txBody>
      </p:sp>
      <p:sp>
        <p:nvSpPr>
          <p:cNvPr id="3" name="Shape 1">
            <a:extLst>
              <a:ext uri="{FF2B5EF4-FFF2-40B4-BE49-F238E27FC236}">
                <a16:creationId xmlns:a16="http://schemas.microsoft.com/office/drawing/2014/main" id="{C88347D5-A370-4D43-92EE-67E83B4168B0}"/>
              </a:ext>
            </a:extLst>
          </p:cNvPr>
          <p:cNvSpPr>
            <a:spLocks noGrp="1"/>
          </p:cNvSpPr>
          <p:nvPr/>
        </p:nvSpPr>
        <p:spPr>
          <a:xfrm>
            <a:off x="649224" y="987552"/>
            <a:ext cx="5916168" cy="4206240"/>
          </a:xfrm>
          <a:prstGeom prst="rect">
            <a:avLst/>
          </a:prstGeom>
          <a:solidFill>
            <a:srgbClr val="FFFFFF">
              <a:alpha val="0"/>
            </a:srgbClr>
          </a:solidFill>
          <a:ln w="10160">
            <a:solidFill>
              <a:srgbClr val="D0D0D0"/>
            </a:solidFill>
            <a:prstDash val="solid"/>
          </a:ln>
        </p:spPr>
      </p:sp>
      <p:sp>
        <p:nvSpPr>
          <p:cNvPr id="5" name="Text 2">
            <a:extLst>
              <a:ext uri="{FF2B5EF4-FFF2-40B4-BE49-F238E27FC236}">
                <a16:creationId xmlns:a16="http://schemas.microsoft.com/office/drawing/2014/main" id="{8F713F6B-0C42-4623-9154-577A93B7C5AD}"/>
              </a:ext>
            </a:extLst>
          </p:cNvPr>
          <p:cNvSpPr>
            <a:spLocks noGrp="1"/>
          </p:cNvSpPr>
          <p:nvPr/>
        </p:nvSpPr>
        <p:spPr>
          <a:xfrm>
            <a:off x="6903720" y="1344168"/>
            <a:ext cx="1234440" cy="237744"/>
          </a:xfrm>
          <a:prstGeom prst="rect">
            <a:avLst/>
          </a:prstGeom>
          <a:noFill/>
        </p:spPr>
        <p:txBody>
          <a:bodyPr wrap="square" lIns="0" tIns="0" rIns="0" bIns="0" anchor="ctr">
            <a:normAutofit/>
          </a:bodyPr>
          <a:lstStyle/>
          <a:p>
            <a:pPr marL="0" indent="0" algn="ctr">
              <a:buNone/>
            </a:pPr>
            <a:r>
              <a:rPr sz="1500" b="1">
                <a:solidFill>
                  <a:srgbClr val="2E7D32"/>
                </a:solidFill>
              </a:rPr>
              <a:t>W16</a:t>
            </a:r>
          </a:p>
        </p:txBody>
      </p:sp>
      <p:sp>
        <p:nvSpPr>
          <p:cNvPr id="6" name="Text 3">
            <a:extLst>
              <a:ext uri="{FF2B5EF4-FFF2-40B4-BE49-F238E27FC236}">
                <a16:creationId xmlns:a16="http://schemas.microsoft.com/office/drawing/2014/main" id="{B921D215-5D67-4F89-B2EF-A1DB0B03EAA6}"/>
              </a:ext>
            </a:extLst>
          </p:cNvPr>
          <p:cNvSpPr>
            <a:spLocks noGrp="1"/>
          </p:cNvSpPr>
          <p:nvPr/>
        </p:nvSpPr>
        <p:spPr>
          <a:xfrm>
            <a:off x="6903720" y="1655064"/>
            <a:ext cx="1234440" cy="146304"/>
          </a:xfrm>
          <a:prstGeom prst="rect">
            <a:avLst/>
          </a:prstGeom>
          <a:noFill/>
        </p:spPr>
        <p:txBody>
          <a:bodyPr wrap="square" lIns="0" tIns="0" rIns="0" bIns="0" anchor="ctr">
            <a:normAutofit fontScale="80000"/>
          </a:bodyPr>
          <a:lstStyle/>
          <a:p>
            <a:pPr marL="0" indent="0" algn="ctr">
              <a:buNone/>
            </a:pPr>
            <a:r>
              <a:rPr sz="1200">
                <a:solidFill>
                  <a:srgbClr val="555555"/>
                </a:solidFill>
              </a:rPr>
              <a:t>R1 locomotion</a:t>
            </a:r>
          </a:p>
        </p:txBody>
      </p:sp>
      <p:sp>
        <p:nvSpPr>
          <p:cNvPr id="7" name="Text 4">
            <a:extLst>
              <a:ext uri="{FF2B5EF4-FFF2-40B4-BE49-F238E27FC236}">
                <a16:creationId xmlns:a16="http://schemas.microsoft.com/office/drawing/2014/main" id="{8DA5F581-226B-4B4C-A257-AACD81012D85}"/>
              </a:ext>
            </a:extLst>
          </p:cNvPr>
          <p:cNvSpPr>
            <a:spLocks noGrp="1"/>
          </p:cNvSpPr>
          <p:nvPr/>
        </p:nvSpPr>
        <p:spPr>
          <a:xfrm>
            <a:off x="8430768" y="1344168"/>
            <a:ext cx="1234440" cy="237744"/>
          </a:xfrm>
          <a:prstGeom prst="rect">
            <a:avLst/>
          </a:prstGeom>
          <a:noFill/>
        </p:spPr>
        <p:txBody>
          <a:bodyPr wrap="square" lIns="0" tIns="0" rIns="0" bIns="0" anchor="ctr">
            <a:normAutofit/>
          </a:bodyPr>
          <a:lstStyle/>
          <a:p>
            <a:pPr marL="0" indent="0" algn="ctr">
              <a:buNone/>
            </a:pPr>
            <a:r>
              <a:rPr sz="1500" b="1">
                <a:solidFill>
                  <a:srgbClr val="1E5AA8"/>
                </a:solidFill>
              </a:rPr>
              <a:t>W17</a:t>
            </a:r>
          </a:p>
        </p:txBody>
      </p:sp>
      <p:sp>
        <p:nvSpPr>
          <p:cNvPr id="8" name="Text 5">
            <a:extLst>
              <a:ext uri="{FF2B5EF4-FFF2-40B4-BE49-F238E27FC236}">
                <a16:creationId xmlns:a16="http://schemas.microsoft.com/office/drawing/2014/main" id="{4A33447A-4422-4A25-A3C7-5193B13D2F4C}"/>
              </a:ext>
            </a:extLst>
          </p:cNvPr>
          <p:cNvSpPr>
            <a:spLocks noGrp="1"/>
          </p:cNvSpPr>
          <p:nvPr/>
        </p:nvSpPr>
        <p:spPr>
          <a:xfrm>
            <a:off x="8430768" y="1655064"/>
            <a:ext cx="1234440" cy="146304"/>
          </a:xfrm>
          <a:prstGeom prst="rect">
            <a:avLst/>
          </a:prstGeom>
          <a:noFill/>
        </p:spPr>
        <p:txBody>
          <a:bodyPr wrap="square" lIns="0" tIns="0" rIns="0" bIns="0" anchor="ctr">
            <a:normAutofit fontScale="80000"/>
          </a:bodyPr>
          <a:lstStyle/>
          <a:p>
            <a:pPr marL="0" indent="0" algn="ctr">
              <a:buNone/>
            </a:pPr>
            <a:r>
              <a:rPr sz="1200">
                <a:solidFill>
                  <a:srgbClr val="555555"/>
                </a:solidFill>
              </a:rPr>
              <a:t>right-arm reach</a:t>
            </a:r>
          </a:p>
        </p:txBody>
      </p:sp>
      <p:sp>
        <p:nvSpPr>
          <p:cNvPr id="9" name="Text 6">
            <a:extLst>
              <a:ext uri="{FF2B5EF4-FFF2-40B4-BE49-F238E27FC236}">
                <a16:creationId xmlns:a16="http://schemas.microsoft.com/office/drawing/2014/main" id="{DE8A234A-42B0-4665-A6EA-3BD748352EEF}"/>
              </a:ext>
            </a:extLst>
          </p:cNvPr>
          <p:cNvSpPr>
            <a:spLocks noGrp="1"/>
          </p:cNvSpPr>
          <p:nvPr/>
        </p:nvSpPr>
        <p:spPr>
          <a:xfrm>
            <a:off x="9930384" y="1344168"/>
            <a:ext cx="1234440" cy="237744"/>
          </a:xfrm>
          <a:prstGeom prst="rect">
            <a:avLst/>
          </a:prstGeom>
          <a:noFill/>
        </p:spPr>
        <p:txBody>
          <a:bodyPr wrap="square" lIns="0" tIns="0" rIns="0" bIns="0" anchor="ctr">
            <a:normAutofit/>
          </a:bodyPr>
          <a:lstStyle/>
          <a:p>
            <a:pPr marL="0" indent="0" algn="ctr">
              <a:buNone/>
            </a:pPr>
            <a:r>
              <a:rPr sz="1500" b="1">
                <a:solidFill>
                  <a:srgbClr val="C36B00"/>
                </a:solidFill>
              </a:rPr>
              <a:t>W18</a:t>
            </a:r>
          </a:p>
        </p:txBody>
      </p:sp>
      <p:sp>
        <p:nvSpPr>
          <p:cNvPr id="10" name="Text 7">
            <a:extLst>
              <a:ext uri="{FF2B5EF4-FFF2-40B4-BE49-F238E27FC236}">
                <a16:creationId xmlns:a16="http://schemas.microsoft.com/office/drawing/2014/main" id="{DEB87549-6311-4428-9874-9718CF455BD4}"/>
              </a:ext>
            </a:extLst>
          </p:cNvPr>
          <p:cNvSpPr>
            <a:spLocks noGrp="1"/>
          </p:cNvSpPr>
          <p:nvPr/>
        </p:nvSpPr>
        <p:spPr>
          <a:xfrm>
            <a:off x="9930384" y="1655064"/>
            <a:ext cx="1234440" cy="146304"/>
          </a:xfrm>
          <a:prstGeom prst="rect">
            <a:avLst/>
          </a:prstGeom>
          <a:noFill/>
        </p:spPr>
        <p:txBody>
          <a:bodyPr wrap="square" lIns="0" tIns="0" rIns="0" bIns="0" anchor="ctr">
            <a:normAutofit fontScale="80000"/>
          </a:bodyPr>
          <a:lstStyle/>
          <a:p>
            <a:pPr marL="0" indent="0" algn="ctr">
              <a:buNone/>
            </a:pPr>
            <a:r>
              <a:rPr sz="1200">
                <a:solidFill>
                  <a:srgbClr val="555555"/>
                </a:solidFill>
              </a:rPr>
              <a:t>fingertip control</a:t>
            </a:r>
          </a:p>
        </p:txBody>
      </p:sp>
      <p:sp>
        <p:nvSpPr>
          <p:cNvPr id="11" name="Text 8">
            <a:extLst>
              <a:ext uri="{FF2B5EF4-FFF2-40B4-BE49-F238E27FC236}">
                <a16:creationId xmlns:a16="http://schemas.microsoft.com/office/drawing/2014/main" id="{76035BF7-F3CD-4FC8-B195-B6E002A2A9B7}"/>
              </a:ext>
            </a:extLst>
          </p:cNvPr>
          <p:cNvSpPr>
            <a:spLocks noGrp="1"/>
          </p:cNvSpPr>
          <p:nvPr/>
        </p:nvSpPr>
        <p:spPr>
          <a:xfrm>
            <a:off x="7699248" y="2743200"/>
            <a:ext cx="1234440" cy="237744"/>
          </a:xfrm>
          <a:prstGeom prst="rect">
            <a:avLst/>
          </a:prstGeom>
          <a:noFill/>
        </p:spPr>
        <p:txBody>
          <a:bodyPr wrap="square" lIns="0" tIns="0" rIns="0" bIns="0" anchor="ctr">
            <a:normAutofit/>
          </a:bodyPr>
          <a:lstStyle/>
          <a:p>
            <a:pPr marL="0" indent="0" algn="ctr">
              <a:buNone/>
            </a:pPr>
            <a:r>
              <a:rPr sz="1500" b="1">
                <a:solidFill>
                  <a:srgbClr val="2E7D32"/>
                </a:solidFill>
              </a:rPr>
              <a:t>W19</a:t>
            </a:r>
          </a:p>
        </p:txBody>
      </p:sp>
      <p:sp>
        <p:nvSpPr>
          <p:cNvPr id="12" name="Text 9">
            <a:extLst>
              <a:ext uri="{FF2B5EF4-FFF2-40B4-BE49-F238E27FC236}">
                <a16:creationId xmlns:a16="http://schemas.microsoft.com/office/drawing/2014/main" id="{D74E2C4B-547E-4C95-9E6B-D8DE261AE8A3}"/>
              </a:ext>
            </a:extLst>
          </p:cNvPr>
          <p:cNvSpPr>
            <a:spLocks noGrp="1"/>
          </p:cNvSpPr>
          <p:nvPr/>
        </p:nvSpPr>
        <p:spPr>
          <a:xfrm>
            <a:off x="7699248" y="3054096"/>
            <a:ext cx="1234440" cy="146304"/>
          </a:xfrm>
          <a:prstGeom prst="rect">
            <a:avLst/>
          </a:prstGeom>
          <a:noFill/>
        </p:spPr>
        <p:txBody>
          <a:bodyPr wrap="square" lIns="0" tIns="0" rIns="0" bIns="0" anchor="ctr">
            <a:normAutofit fontScale="80000"/>
          </a:bodyPr>
          <a:lstStyle/>
          <a:p>
            <a:pPr marL="0" indent="0" algn="ctr">
              <a:buNone/>
            </a:pPr>
            <a:r>
              <a:rPr sz="1200">
                <a:solidFill>
                  <a:srgbClr val="555555"/>
                </a:solidFill>
              </a:rPr>
              <a:t>object rotation</a:t>
            </a:r>
          </a:p>
        </p:txBody>
      </p:sp>
      <p:sp>
        <p:nvSpPr>
          <p:cNvPr id="13" name="Text 10">
            <a:extLst>
              <a:ext uri="{FF2B5EF4-FFF2-40B4-BE49-F238E27FC236}">
                <a16:creationId xmlns:a16="http://schemas.microsoft.com/office/drawing/2014/main" id="{13D646EF-7071-4F1A-BB3A-E4761BF7857D}"/>
              </a:ext>
            </a:extLst>
          </p:cNvPr>
          <p:cNvSpPr>
            <a:spLocks noGrp="1"/>
          </p:cNvSpPr>
          <p:nvPr/>
        </p:nvSpPr>
        <p:spPr>
          <a:xfrm>
            <a:off x="6839712" y="3767328"/>
            <a:ext cx="4041648" cy="1051560"/>
          </a:xfrm>
          <a:prstGeom prst="rect">
            <a:avLst/>
          </a:prstGeom>
          <a:noFill/>
        </p:spPr>
        <p:txBody>
          <a:bodyPr wrap="square" lIns="254" tIns="254" rIns="254" bIns="254" anchor="t">
            <a:normAutofit fontScale="91467" lnSpcReduction="20000"/>
          </a:bodyPr>
          <a:lstStyle/>
          <a:p>
            <a:pPr marL="0" indent="0">
              <a:buNone/>
            </a:pPr>
            <a:r>
              <a:rPr sz="2000" dirty="0">
                <a:solidFill>
                  <a:srgbClr val="111111"/>
                </a:solidFill>
                <a:latin typeface="Aptos"/>
                <a:ea typeface="Aptos"/>
                <a:cs typeface="Aptos"/>
              </a:rPr>
              <a:t>The progression was deliberate: finger control → object manipulation. The current model closes the hardware gap by using the actual six-command </a:t>
            </a:r>
            <a:r>
              <a:rPr sz="2000" dirty="0" err="1">
                <a:solidFill>
                  <a:srgbClr val="111111"/>
                </a:solidFill>
                <a:latin typeface="Aptos"/>
                <a:ea typeface="Aptos"/>
                <a:cs typeface="Aptos"/>
              </a:rPr>
              <a:t>Revo</a:t>
            </a:r>
            <a:r>
              <a:rPr sz="2000" dirty="0">
                <a:solidFill>
                  <a:srgbClr val="111111"/>
                </a:solidFill>
                <a:latin typeface="Aptos"/>
                <a:ea typeface="Aptos"/>
                <a:cs typeface="Aptos"/>
              </a:rPr>
              <a:t> 2 topology.</a:t>
            </a:r>
          </a:p>
        </p:txBody>
      </p:sp>
      <p:sp>
        <p:nvSpPr>
          <p:cNvPr id="15" name="Text 12">
            <a:extLst>
              <a:ext uri="{FF2B5EF4-FFF2-40B4-BE49-F238E27FC236}">
                <a16:creationId xmlns:a16="http://schemas.microsoft.com/office/drawing/2014/main" id="{1B67202B-8280-4E5B-B406-B6D14DE552D8}"/>
              </a:ext>
            </a:extLst>
          </p:cNvPr>
          <p:cNvSpPr>
            <a:spLocks noGrp="1"/>
          </p:cNvSpPr>
          <p:nvPr/>
        </p:nvSpPr>
        <p:spPr>
          <a:xfrm>
            <a:off x="10789920" y="6537960"/>
            <a:ext cx="1005840" cy="137160"/>
          </a:xfrm>
          <a:prstGeom prst="rect">
            <a:avLst/>
          </a:prstGeom>
          <a:noFill/>
        </p:spPr>
        <p:txBody>
          <a:bodyPr wrap="square" lIns="0" tIns="0" rIns="0" bIns="0" anchor="ctr">
            <a:normAutofit/>
          </a:bodyPr>
          <a:lstStyle/>
          <a:p>
            <a:pPr marL="0" indent="0" algn="r">
              <a:buNone/>
            </a:pPr>
            <a:r>
              <a:rPr sz="480">
                <a:solidFill>
                  <a:srgbClr val="777777"/>
                </a:solidFill>
                <a:latin typeface="Aptos"/>
                <a:ea typeface="Aptos"/>
                <a:cs typeface="Aptos"/>
              </a:rPr>
              <a:t>Week 20 | 3</a:t>
            </a:r>
          </a:p>
        </p:txBody>
      </p:sp>
      <p:pic>
        <p:nvPicPr>
          <p:cNvPr id="30" name="Picture 29"/>
          <p:cNvPicPr>
            <a:picLocks noChangeAspect="1"/>
          </p:cNvPicPr>
          <p:nvPr/>
        </p:nvPicPr>
        <p:blipFill>
          <a:blip r:embed="rId3"/>
          <a:stretch/>
        </p:blipFill>
        <p:spPr>
          <a:xfrm>
            <a:off x="658368" y="1331045"/>
            <a:ext cx="5897880" cy="3519254"/>
          </a:xfrm>
          <a:prstGeom prst="rect">
            <a:avLst/>
          </a:prstGeom>
        </p:spPr>
      </p:pic>
    </p:spTree>
    <p:extLst>
      <p:ext uri="{BB962C8B-B14F-4D97-AF65-F5344CB8AC3E}">
        <p14:creationId xmlns:p14="http://schemas.microsoft.com/office/powerpoint/2010/main" val="585543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CC8B0BC-6A00-4E75-A70E-2A156C2BEDDD}"/>
              </a:ext>
            </a:extLst>
          </p:cNvPr>
          <p:cNvSpPr>
            <a:spLocks noGrp="1"/>
          </p:cNvSpPr>
          <p:nvPr/>
        </p:nvSpPr>
        <p:spPr>
          <a:xfrm>
            <a:off x="530352" y="329184"/>
            <a:ext cx="10607040" cy="347472"/>
          </a:xfrm>
          <a:prstGeom prst="rect">
            <a:avLst/>
          </a:prstGeom>
          <a:noFill/>
        </p:spPr>
        <p:txBody>
          <a:bodyPr wrap="square" lIns="0" tIns="0" rIns="0" bIns="0" anchor="ctr">
            <a:normAutofit/>
          </a:bodyPr>
          <a:lstStyle/>
          <a:p>
            <a:pPr marL="0" indent="0">
              <a:buNone/>
            </a:pPr>
            <a:r>
              <a:rPr sz="1550" b="1">
                <a:solidFill>
                  <a:srgbClr val="111111"/>
                </a:solidFill>
                <a:latin typeface="Aptos"/>
                <a:ea typeface="Aptos"/>
                <a:cs typeface="Aptos"/>
              </a:rPr>
              <a:t>The simulated topology matches the Revo 2 Basic hand: 6 active joints and 11 total degrees of freedom.</a:t>
            </a:r>
          </a:p>
        </p:txBody>
      </p:sp>
      <p:sp>
        <p:nvSpPr>
          <p:cNvPr id="3" name="Text 1">
            <a:extLst>
              <a:ext uri="{FF2B5EF4-FFF2-40B4-BE49-F238E27FC236}">
                <a16:creationId xmlns:a16="http://schemas.microsoft.com/office/drawing/2014/main" id="{44DAE730-EE1F-4942-8B60-8DFF4B936F35}"/>
              </a:ext>
            </a:extLst>
          </p:cNvPr>
          <p:cNvSpPr>
            <a:spLocks noGrp="1"/>
          </p:cNvSpPr>
          <p:nvPr/>
        </p:nvSpPr>
        <p:spPr>
          <a:xfrm>
            <a:off x="786384" y="1143000"/>
            <a:ext cx="4892040" cy="1280160"/>
          </a:xfrm>
          <a:prstGeom prst="rect">
            <a:avLst/>
          </a:prstGeom>
          <a:noFill/>
        </p:spPr>
        <p:txBody>
          <a:bodyPr wrap="square" lIns="254" tIns="254" rIns="254" bIns="254" anchor="t">
            <a:normAutofit/>
          </a:bodyPr>
          <a:lstStyle/>
          <a:p>
            <a:pPr marL="0" indent="0">
              <a:buNone/>
            </a:pPr>
            <a:r>
              <a:rPr sz="1600">
                <a:solidFill>
                  <a:srgbClr val="111111"/>
                </a:solidFill>
                <a:latin typeface="Aptos"/>
                <a:ea typeface="Aptos"/>
                <a:cs typeface="Aptos"/>
              </a:rPr>
              <a:t>BrainCo specifies five fingers with two active thumb motions and one active flexion command for each remaining finger. Passive distal motion brings the total to 11 mechanical degrees of freedom while control remains six-dimensional.</a:t>
            </a:r>
          </a:p>
        </p:txBody>
      </p:sp>
      <p:sp>
        <p:nvSpPr>
          <p:cNvPr id="4" name="Text 2">
            <a:extLst>
              <a:ext uri="{FF2B5EF4-FFF2-40B4-BE49-F238E27FC236}">
                <a16:creationId xmlns:a16="http://schemas.microsoft.com/office/drawing/2014/main" id="{5FFA5AD0-F427-4B44-AD25-DDC10F235652}"/>
              </a:ext>
            </a:extLst>
          </p:cNvPr>
          <p:cNvSpPr>
            <a:spLocks noGrp="1"/>
          </p:cNvSpPr>
          <p:nvPr/>
        </p:nvSpPr>
        <p:spPr>
          <a:xfrm>
            <a:off x="1014984" y="5294376"/>
            <a:ext cx="4663440" cy="1234440"/>
          </a:xfrm>
          <a:prstGeom prst="rect">
            <a:avLst/>
          </a:prstGeom>
          <a:noFill/>
        </p:spPr>
        <p:txBody>
          <a:bodyPr wrap="square" lIns="254" tIns="254" rIns="254" bIns="254" anchor="t">
            <a:normAutofit/>
          </a:bodyPr>
          <a:lstStyle/>
          <a:p>
            <a:r>
              <a:rPr sz="1400">
                <a:solidFill>
                  <a:srgbClr val="111111"/>
                </a:solidFill>
                <a:latin typeface="Aptos"/>
                <a:ea typeface="Aptos"/>
                <a:cs typeface="Aptos"/>
              </a:rPr>
              <a:t>Hardware: BrainCo Revo 2 Basic (left + right)</a:t>
            </a:r>
          </a:p>
          <a:p>
            <a:r>
              <a:rPr sz="1400">
                <a:solidFill>
                  <a:srgbClr val="111111"/>
                </a:solidFill>
                <a:latin typeface="Aptos"/>
                <a:ea typeface="Aptos"/>
                <a:cs typeface="Aptos"/>
              </a:rPr>
              <a:t>Active commands: 6 per hand / 12 for both hands</a:t>
            </a:r>
          </a:p>
          <a:p>
            <a:r>
              <a:rPr sz="1400">
                <a:solidFill>
                  <a:srgbClr val="111111"/>
                </a:solidFill>
                <a:latin typeface="Aptos"/>
                <a:ea typeface="Aptos"/>
                <a:cs typeface="Aptos"/>
              </a:rPr>
              <a:t>Mechanical DoF: 11 per hand</a:t>
            </a:r>
          </a:p>
          <a:p>
            <a:r>
              <a:rPr sz="1400">
                <a:solidFill>
                  <a:srgbClr val="111111"/>
                </a:solidFill>
                <a:latin typeface="Aptos"/>
                <a:ea typeface="Aptos"/>
                <a:cs typeface="Aptos"/>
              </a:rPr>
              <a:t>Tactile module: not included on Basic edition</a:t>
            </a:r>
          </a:p>
          <a:p>
            <a:r>
              <a:rPr sz="1400">
                <a:solidFill>
                  <a:srgbClr val="111111"/>
                </a:solidFill>
                <a:latin typeface="Aptos"/>
                <a:ea typeface="Aptos"/>
                <a:cs typeface="Aptos"/>
              </a:rPr>
              <a:t>Interfaces: RS-485 or CAN FD</a:t>
            </a:r>
          </a:p>
        </p:txBody>
      </p:sp>
      <p:sp>
        <p:nvSpPr>
          <p:cNvPr id="5" name="Shape 3">
            <a:extLst>
              <a:ext uri="{FF2B5EF4-FFF2-40B4-BE49-F238E27FC236}">
                <a16:creationId xmlns:a16="http://schemas.microsoft.com/office/drawing/2014/main" id="{D3931047-8AB3-4C7A-B054-7E25F26188DE}"/>
              </a:ext>
            </a:extLst>
          </p:cNvPr>
          <p:cNvSpPr>
            <a:spLocks noGrp="1"/>
          </p:cNvSpPr>
          <p:nvPr/>
        </p:nvSpPr>
        <p:spPr>
          <a:xfrm>
            <a:off x="6117336" y="1042416"/>
            <a:ext cx="4178808" cy="3904488"/>
          </a:xfrm>
          <a:prstGeom prst="rect">
            <a:avLst/>
          </a:prstGeom>
          <a:solidFill>
            <a:srgbClr val="FFFFFF">
              <a:alpha val="0"/>
            </a:srgbClr>
          </a:solidFill>
          <a:ln w="10160">
            <a:solidFill>
              <a:srgbClr val="D0D0D0"/>
            </a:solidFill>
            <a:prstDash val="solid"/>
          </a:ln>
        </p:spPr>
      </p:sp>
      <p:sp>
        <p:nvSpPr>
          <p:cNvPr id="7" name="Text 4">
            <a:extLst>
              <a:ext uri="{FF2B5EF4-FFF2-40B4-BE49-F238E27FC236}">
                <a16:creationId xmlns:a16="http://schemas.microsoft.com/office/drawing/2014/main" id="{8EEE2657-4340-4C62-BAB5-332E0A0737C9}"/>
              </a:ext>
            </a:extLst>
          </p:cNvPr>
          <p:cNvSpPr>
            <a:spLocks noGrp="1"/>
          </p:cNvSpPr>
          <p:nvPr/>
        </p:nvSpPr>
        <p:spPr>
          <a:xfrm>
            <a:off x="6126480" y="5074920"/>
            <a:ext cx="4160520" cy="137160"/>
          </a:xfrm>
          <a:prstGeom prst="rect">
            <a:avLst/>
          </a:prstGeom>
          <a:noFill/>
        </p:spPr>
        <p:txBody>
          <a:bodyPr wrap="square" lIns="0" tIns="0" rIns="0" bIns="0" anchor="ctr">
            <a:noAutofit/>
          </a:bodyPr>
          <a:lstStyle/>
          <a:p>
            <a:pPr marL="0" indent="0" algn="ctr">
              <a:buNone/>
            </a:pPr>
            <a:r>
              <a:rPr sz="1000" i="1">
                <a:solidFill>
                  <a:srgbClr val="555555"/>
                </a:solidFill>
              </a:rPr>
              <a:t>Power-grasp pose rendered from the official Revo 2 MJCF assets.</a:t>
            </a:r>
          </a:p>
        </p:txBody>
      </p:sp>
      <p:sp>
        <p:nvSpPr>
          <p:cNvPr id="8" name="Text 5">
            <a:extLst>
              <a:ext uri="{FF2B5EF4-FFF2-40B4-BE49-F238E27FC236}">
                <a16:creationId xmlns:a16="http://schemas.microsoft.com/office/drawing/2014/main" id="{71451F3D-8ED9-4995-96C0-F5CB3D10C4B5}"/>
              </a:ext>
            </a:extLst>
          </p:cNvPr>
          <p:cNvSpPr>
            <a:spLocks noGrp="1"/>
          </p:cNvSpPr>
          <p:nvPr/>
        </p:nvSpPr>
        <p:spPr>
          <a:xfrm>
            <a:off x="10789920" y="6537960"/>
            <a:ext cx="1005840" cy="137160"/>
          </a:xfrm>
          <a:prstGeom prst="rect">
            <a:avLst/>
          </a:prstGeom>
          <a:noFill/>
        </p:spPr>
        <p:txBody>
          <a:bodyPr wrap="square" lIns="0" tIns="0" rIns="0" bIns="0" anchor="ctr">
            <a:normAutofit/>
          </a:bodyPr>
          <a:lstStyle/>
          <a:p>
            <a:pPr marL="0" indent="0" algn="r">
              <a:buNone/>
            </a:pPr>
            <a:r>
              <a:rPr sz="480">
                <a:solidFill>
                  <a:srgbClr val="777777"/>
                </a:solidFill>
                <a:latin typeface="Aptos"/>
                <a:ea typeface="Aptos"/>
                <a:cs typeface="Aptos"/>
              </a:rPr>
              <a:t>Week 20 | 4</a:t>
            </a:r>
          </a:p>
        </p:txBody>
      </p:sp>
      <p:pic>
        <p:nvPicPr>
          <p:cNvPr id="17" name="Picture 16"/>
          <p:cNvPicPr>
            <a:picLocks noChangeAspect="1"/>
          </p:cNvPicPr>
          <p:nvPr/>
        </p:nvPicPr>
        <p:blipFill>
          <a:blip r:embed="rId3"/>
          <a:stretch/>
        </p:blipFill>
        <p:spPr>
          <a:xfrm>
            <a:off x="6126480" y="1051560"/>
            <a:ext cx="4160520" cy="3886200"/>
          </a:xfrm>
          <a:prstGeom prst="rect">
            <a:avLst/>
          </a:prstGeom>
        </p:spPr>
      </p:pic>
    </p:spTree>
    <p:extLst>
      <p:ext uri="{BB962C8B-B14F-4D97-AF65-F5344CB8AC3E}">
        <p14:creationId xmlns:p14="http://schemas.microsoft.com/office/powerpoint/2010/main" val="300984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CC8B0BC-6A00-4E75-A70E-2A156C2BEDDD}"/>
              </a:ext>
            </a:extLst>
          </p:cNvPr>
          <p:cNvSpPr>
            <a:spLocks noGrp="1"/>
          </p:cNvSpPr>
          <p:nvPr/>
        </p:nvSpPr>
        <p:spPr>
          <a:xfrm>
            <a:off x="530352" y="329184"/>
            <a:ext cx="10607040" cy="347472"/>
          </a:xfrm>
          <a:prstGeom prst="rect">
            <a:avLst/>
          </a:prstGeom>
          <a:noFill/>
        </p:spPr>
        <p:txBody>
          <a:bodyPr wrap="square" lIns="0" tIns="0" rIns="0" bIns="0" anchor="ctr">
            <a:normAutofit/>
          </a:bodyPr>
          <a:lstStyle/>
          <a:p>
            <a:pPr marL="0" indent="0">
              <a:buNone/>
            </a:pPr>
            <a:r>
              <a:rPr sz="1550" b="1">
                <a:solidFill>
                  <a:srgbClr val="111111"/>
                </a:solidFill>
                <a:latin typeface="Aptos"/>
                <a:ea typeface="Aptos"/>
                <a:cs typeface="Aptos"/>
              </a:rPr>
              <a:t>Six commands cover thumb opposition, thumb flexion, and four finger-flexion channels.</a:t>
            </a:r>
          </a:p>
        </p:txBody>
      </p:sp>
      <p:sp>
        <p:nvSpPr>
          <p:cNvPr id="3" name="Text 1">
            <a:extLst>
              <a:ext uri="{FF2B5EF4-FFF2-40B4-BE49-F238E27FC236}">
                <a16:creationId xmlns:a16="http://schemas.microsoft.com/office/drawing/2014/main" id="{44DAE730-EE1F-4942-8B60-8DFF4B936F35}"/>
              </a:ext>
            </a:extLst>
          </p:cNvPr>
          <p:cNvSpPr>
            <a:spLocks noGrp="1"/>
          </p:cNvSpPr>
          <p:nvPr/>
        </p:nvSpPr>
        <p:spPr>
          <a:xfrm>
            <a:off x="786384" y="1143000"/>
            <a:ext cx="4892040" cy="1280160"/>
          </a:xfrm>
          <a:prstGeom prst="rect">
            <a:avLst/>
          </a:prstGeom>
          <a:noFill/>
        </p:spPr>
        <p:txBody>
          <a:bodyPr wrap="square" lIns="254" tIns="254" rIns="254" bIns="254" anchor="t">
            <a:normAutofit/>
          </a:bodyPr>
          <a:lstStyle/>
          <a:p>
            <a:pPr marL="0" indent="0">
              <a:buNone/>
            </a:pPr>
            <a:r>
              <a:rPr sz="1600">
                <a:solidFill>
                  <a:srgbClr val="111111"/>
                </a:solidFill>
                <a:latin typeface="Aptos"/>
                <a:ea typeface="Aptos"/>
                <a:cs typeface="Aptos"/>
              </a:rPr>
              <a:t>The MJCF exposes the same compact action space used by the hardware. Distal joints are coupled to their proximal finger motion, so a policy commands six actuators while the full hand articulates through 11 joints.</a:t>
            </a:r>
          </a:p>
        </p:txBody>
      </p:sp>
      <p:sp>
        <p:nvSpPr>
          <p:cNvPr id="4" name="Text 2">
            <a:extLst>
              <a:ext uri="{FF2B5EF4-FFF2-40B4-BE49-F238E27FC236}">
                <a16:creationId xmlns:a16="http://schemas.microsoft.com/office/drawing/2014/main" id="{5FFA5AD0-F427-4B44-AD25-DDC10F235652}"/>
              </a:ext>
            </a:extLst>
          </p:cNvPr>
          <p:cNvSpPr>
            <a:spLocks noGrp="1"/>
          </p:cNvSpPr>
          <p:nvPr/>
        </p:nvSpPr>
        <p:spPr>
          <a:xfrm>
            <a:off x="1014984" y="5294376"/>
            <a:ext cx="4663440" cy="1234440"/>
          </a:xfrm>
          <a:prstGeom prst="rect">
            <a:avLst/>
          </a:prstGeom>
          <a:noFill/>
        </p:spPr>
        <p:txBody>
          <a:bodyPr wrap="square" lIns="254" tIns="254" rIns="254" bIns="254" anchor="t">
            <a:normAutofit fontScale="96389"/>
          </a:bodyPr>
          <a:lstStyle/>
          <a:p>
            <a:r>
              <a:rPr sz="1400">
                <a:solidFill>
                  <a:srgbClr val="111111"/>
                </a:solidFill>
                <a:latin typeface="Aptos"/>
                <a:ea typeface="Aptos"/>
                <a:cs typeface="Aptos"/>
              </a:rPr>
              <a:t>1  Thumb opposition</a:t>
            </a:r>
          </a:p>
          <a:p>
            <a:r>
              <a:rPr sz="1400">
                <a:solidFill>
                  <a:srgbClr val="111111"/>
                </a:solidFill>
                <a:latin typeface="Aptos"/>
                <a:ea typeface="Aptos"/>
                <a:cs typeface="Aptos"/>
              </a:rPr>
              <a:t>2  Thumb flexion</a:t>
            </a:r>
          </a:p>
          <a:p>
            <a:r>
              <a:rPr sz="1400">
                <a:solidFill>
                  <a:srgbClr val="111111"/>
                </a:solidFill>
                <a:latin typeface="Aptos"/>
                <a:ea typeface="Aptos"/>
                <a:cs typeface="Aptos"/>
              </a:rPr>
              <a:t>3  Index flexion</a:t>
            </a:r>
          </a:p>
          <a:p>
            <a:r>
              <a:rPr sz="1400">
                <a:solidFill>
                  <a:srgbClr val="111111"/>
                </a:solidFill>
                <a:latin typeface="Aptos"/>
                <a:ea typeface="Aptos"/>
                <a:cs typeface="Aptos"/>
              </a:rPr>
              <a:t>4  Middle flexion</a:t>
            </a:r>
          </a:p>
          <a:p>
            <a:r>
              <a:rPr sz="1400">
                <a:solidFill>
                  <a:srgbClr val="111111"/>
                </a:solidFill>
                <a:latin typeface="Aptos"/>
                <a:ea typeface="Aptos"/>
                <a:cs typeface="Aptos"/>
              </a:rPr>
              <a:t>5  Ring flexion</a:t>
            </a:r>
          </a:p>
          <a:p>
            <a:r>
              <a:rPr sz="1400">
                <a:solidFill>
                  <a:srgbClr val="111111"/>
                </a:solidFill>
                <a:latin typeface="Aptos"/>
                <a:ea typeface="Aptos"/>
                <a:cs typeface="Aptos"/>
              </a:rPr>
              <a:t>6  Pinky flexion</a:t>
            </a:r>
          </a:p>
        </p:txBody>
      </p:sp>
      <p:sp>
        <p:nvSpPr>
          <p:cNvPr id="5" name="Shape 3">
            <a:extLst>
              <a:ext uri="{FF2B5EF4-FFF2-40B4-BE49-F238E27FC236}">
                <a16:creationId xmlns:a16="http://schemas.microsoft.com/office/drawing/2014/main" id="{D3931047-8AB3-4C7A-B054-7E25F26188DE}"/>
              </a:ext>
            </a:extLst>
          </p:cNvPr>
          <p:cNvSpPr>
            <a:spLocks noGrp="1"/>
          </p:cNvSpPr>
          <p:nvPr/>
        </p:nvSpPr>
        <p:spPr>
          <a:xfrm>
            <a:off x="6117336" y="1042416"/>
            <a:ext cx="4178808" cy="3904488"/>
          </a:xfrm>
          <a:prstGeom prst="rect">
            <a:avLst/>
          </a:prstGeom>
          <a:solidFill>
            <a:srgbClr val="FFFFFF">
              <a:alpha val="0"/>
            </a:srgbClr>
          </a:solidFill>
          <a:ln w="10160">
            <a:solidFill>
              <a:srgbClr val="D0D0D0"/>
            </a:solidFill>
            <a:prstDash val="solid"/>
          </a:ln>
        </p:spPr>
      </p:sp>
      <p:sp>
        <p:nvSpPr>
          <p:cNvPr id="7" name="Text 4">
            <a:extLst>
              <a:ext uri="{FF2B5EF4-FFF2-40B4-BE49-F238E27FC236}">
                <a16:creationId xmlns:a16="http://schemas.microsoft.com/office/drawing/2014/main" id="{8EEE2657-4340-4C62-BAB5-332E0A0737C9}"/>
              </a:ext>
            </a:extLst>
          </p:cNvPr>
          <p:cNvSpPr>
            <a:spLocks noGrp="1"/>
          </p:cNvSpPr>
          <p:nvPr/>
        </p:nvSpPr>
        <p:spPr>
          <a:xfrm>
            <a:off x="6126480" y="5074920"/>
            <a:ext cx="4160520" cy="137160"/>
          </a:xfrm>
          <a:prstGeom prst="rect">
            <a:avLst/>
          </a:prstGeom>
          <a:noFill/>
        </p:spPr>
        <p:txBody>
          <a:bodyPr wrap="square" lIns="0" tIns="0" rIns="0" bIns="0" anchor="ctr">
            <a:noAutofit/>
          </a:bodyPr>
          <a:lstStyle/>
          <a:p>
            <a:pPr marL="0" indent="0" algn="ctr">
              <a:buNone/>
            </a:pPr>
            <a:r>
              <a:rPr sz="1200" i="1" dirty="0">
                <a:solidFill>
                  <a:srgbClr val="555555"/>
                </a:solidFill>
              </a:rPr>
              <a:t>Pinch pose: thumb opposition + thumb flexion + index flexion.</a:t>
            </a:r>
          </a:p>
        </p:txBody>
      </p:sp>
      <p:sp>
        <p:nvSpPr>
          <p:cNvPr id="8" name="Text 5">
            <a:extLst>
              <a:ext uri="{FF2B5EF4-FFF2-40B4-BE49-F238E27FC236}">
                <a16:creationId xmlns:a16="http://schemas.microsoft.com/office/drawing/2014/main" id="{71451F3D-8ED9-4995-96C0-F5CB3D10C4B5}"/>
              </a:ext>
            </a:extLst>
          </p:cNvPr>
          <p:cNvSpPr>
            <a:spLocks noGrp="1"/>
          </p:cNvSpPr>
          <p:nvPr/>
        </p:nvSpPr>
        <p:spPr>
          <a:xfrm>
            <a:off x="10789920" y="6537960"/>
            <a:ext cx="1005840" cy="137160"/>
          </a:xfrm>
          <a:prstGeom prst="rect">
            <a:avLst/>
          </a:prstGeom>
          <a:noFill/>
        </p:spPr>
        <p:txBody>
          <a:bodyPr wrap="square" lIns="0" tIns="0" rIns="0" bIns="0" anchor="ctr">
            <a:normAutofit/>
          </a:bodyPr>
          <a:lstStyle/>
          <a:p>
            <a:pPr marL="0" indent="0" algn="r">
              <a:buNone/>
            </a:pPr>
            <a:r>
              <a:rPr sz="480">
                <a:solidFill>
                  <a:srgbClr val="777777"/>
                </a:solidFill>
                <a:latin typeface="Aptos"/>
                <a:ea typeface="Aptos"/>
                <a:cs typeface="Aptos"/>
              </a:rPr>
              <a:t>Week 20 | 5</a:t>
            </a:r>
          </a:p>
        </p:txBody>
      </p:sp>
      <p:pic>
        <p:nvPicPr>
          <p:cNvPr id="17" name="Picture 16"/>
          <p:cNvPicPr>
            <a:picLocks noChangeAspect="1"/>
          </p:cNvPicPr>
          <p:nvPr/>
        </p:nvPicPr>
        <p:blipFill>
          <a:blip r:embed="rId3"/>
          <a:stretch/>
        </p:blipFill>
        <p:spPr>
          <a:xfrm>
            <a:off x="6126480" y="1051560"/>
            <a:ext cx="4160520" cy="3886200"/>
          </a:xfrm>
          <a:prstGeom prst="rect">
            <a:avLst/>
          </a:prstGeom>
        </p:spPr>
      </p:pic>
    </p:spTree>
    <p:extLst>
      <p:ext uri="{BB962C8B-B14F-4D97-AF65-F5344CB8AC3E}">
        <p14:creationId xmlns:p14="http://schemas.microsoft.com/office/powerpoint/2010/main" val="300984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6E4CD17-1175-46E6-841A-85359BA43CEE}"/>
              </a:ext>
            </a:extLst>
          </p:cNvPr>
          <p:cNvSpPr>
            <a:spLocks noGrp="1"/>
          </p:cNvSpPr>
          <p:nvPr/>
        </p:nvSpPr>
        <p:spPr>
          <a:xfrm>
            <a:off x="530352" y="329184"/>
            <a:ext cx="10607040" cy="347472"/>
          </a:xfrm>
          <a:prstGeom prst="rect">
            <a:avLst/>
          </a:prstGeom>
          <a:noFill/>
        </p:spPr>
        <p:txBody>
          <a:bodyPr wrap="square" lIns="0" tIns="0" rIns="0" bIns="0" anchor="ctr">
            <a:normAutofit/>
          </a:bodyPr>
          <a:lstStyle/>
          <a:p>
            <a:pPr marL="0" indent="0">
              <a:buNone/>
            </a:pPr>
            <a:r>
              <a:rPr sz="1550" b="1">
                <a:solidFill>
                  <a:srgbClr val="111111"/>
                </a:solidFill>
                <a:latin typeface="Aptos"/>
                <a:ea typeface="Aptos"/>
                <a:cs typeface="Aptos"/>
              </a:rPr>
              <a:t>Both hands passed deterministic headless validation before use for training.</a:t>
            </a:r>
          </a:p>
        </p:txBody>
      </p:sp>
      <p:sp>
        <p:nvSpPr>
          <p:cNvPr id="3" name="Shape 1">
            <a:extLst>
              <a:ext uri="{FF2B5EF4-FFF2-40B4-BE49-F238E27FC236}">
                <a16:creationId xmlns:a16="http://schemas.microsoft.com/office/drawing/2014/main" id="{C88347D5-A370-4D43-92EE-67E83B4168B0}"/>
              </a:ext>
            </a:extLst>
          </p:cNvPr>
          <p:cNvSpPr>
            <a:spLocks noGrp="1"/>
          </p:cNvSpPr>
          <p:nvPr/>
        </p:nvSpPr>
        <p:spPr>
          <a:xfrm>
            <a:off x="649224" y="987552"/>
            <a:ext cx="5916168" cy="4206240"/>
          </a:xfrm>
          <a:prstGeom prst="rect">
            <a:avLst/>
          </a:prstGeom>
          <a:solidFill>
            <a:srgbClr val="FFFFFF">
              <a:alpha val="0"/>
            </a:srgbClr>
          </a:solidFill>
          <a:ln w="10160">
            <a:solidFill>
              <a:srgbClr val="D0D0D0"/>
            </a:solidFill>
            <a:prstDash val="solid"/>
          </a:ln>
        </p:spPr>
      </p:sp>
      <p:sp>
        <p:nvSpPr>
          <p:cNvPr id="5" name="Text 2">
            <a:extLst>
              <a:ext uri="{FF2B5EF4-FFF2-40B4-BE49-F238E27FC236}">
                <a16:creationId xmlns:a16="http://schemas.microsoft.com/office/drawing/2014/main" id="{8F713F6B-0C42-4623-9154-577A93B7C5AD}"/>
              </a:ext>
            </a:extLst>
          </p:cNvPr>
          <p:cNvSpPr>
            <a:spLocks noGrp="1"/>
          </p:cNvSpPr>
          <p:nvPr/>
        </p:nvSpPr>
        <p:spPr>
          <a:xfrm>
            <a:off x="6903720" y="1344168"/>
            <a:ext cx="1234440" cy="237744"/>
          </a:xfrm>
          <a:prstGeom prst="rect">
            <a:avLst/>
          </a:prstGeom>
          <a:noFill/>
        </p:spPr>
        <p:txBody>
          <a:bodyPr wrap="square" lIns="0" tIns="0" rIns="0" bIns="0" anchor="ctr">
            <a:normAutofit/>
          </a:bodyPr>
          <a:lstStyle/>
          <a:p>
            <a:pPr marL="0" indent="0" algn="ctr">
              <a:buNone/>
            </a:pPr>
            <a:r>
              <a:rPr sz="1500" b="1">
                <a:solidFill>
                  <a:srgbClr val="2E7D32"/>
                </a:solidFill>
              </a:rPr>
              <a:t>2,000</a:t>
            </a:r>
          </a:p>
        </p:txBody>
      </p:sp>
      <p:sp>
        <p:nvSpPr>
          <p:cNvPr id="6" name="Text 3">
            <a:extLst>
              <a:ext uri="{FF2B5EF4-FFF2-40B4-BE49-F238E27FC236}">
                <a16:creationId xmlns:a16="http://schemas.microsoft.com/office/drawing/2014/main" id="{B921D215-5D67-4F89-B2EF-A1DB0B03EAA6}"/>
              </a:ext>
            </a:extLst>
          </p:cNvPr>
          <p:cNvSpPr>
            <a:spLocks noGrp="1"/>
          </p:cNvSpPr>
          <p:nvPr/>
        </p:nvSpPr>
        <p:spPr>
          <a:xfrm>
            <a:off x="6903720" y="1655064"/>
            <a:ext cx="1234440" cy="146304"/>
          </a:xfrm>
          <a:prstGeom prst="rect">
            <a:avLst/>
          </a:prstGeom>
          <a:noFill/>
        </p:spPr>
        <p:txBody>
          <a:bodyPr wrap="square" lIns="0" tIns="0" rIns="0" bIns="0" anchor="ctr">
            <a:normAutofit fontScale="80000"/>
          </a:bodyPr>
          <a:lstStyle/>
          <a:p>
            <a:pPr marL="0" indent="0" algn="ctr">
              <a:buNone/>
            </a:pPr>
            <a:r>
              <a:rPr sz="1200">
                <a:solidFill>
                  <a:srgbClr val="555555"/>
                </a:solidFill>
              </a:rPr>
              <a:t>right-hand steps</a:t>
            </a:r>
          </a:p>
        </p:txBody>
      </p:sp>
      <p:sp>
        <p:nvSpPr>
          <p:cNvPr id="7" name="Text 4">
            <a:extLst>
              <a:ext uri="{FF2B5EF4-FFF2-40B4-BE49-F238E27FC236}">
                <a16:creationId xmlns:a16="http://schemas.microsoft.com/office/drawing/2014/main" id="{8DA5F581-226B-4B4C-A257-AACD81012D85}"/>
              </a:ext>
            </a:extLst>
          </p:cNvPr>
          <p:cNvSpPr>
            <a:spLocks noGrp="1"/>
          </p:cNvSpPr>
          <p:nvPr/>
        </p:nvSpPr>
        <p:spPr>
          <a:xfrm>
            <a:off x="8430768" y="1344168"/>
            <a:ext cx="1234440" cy="237744"/>
          </a:xfrm>
          <a:prstGeom prst="rect">
            <a:avLst/>
          </a:prstGeom>
          <a:noFill/>
        </p:spPr>
        <p:txBody>
          <a:bodyPr wrap="square" lIns="0" tIns="0" rIns="0" bIns="0" anchor="ctr">
            <a:normAutofit/>
          </a:bodyPr>
          <a:lstStyle/>
          <a:p>
            <a:pPr marL="0" indent="0" algn="ctr">
              <a:buNone/>
            </a:pPr>
            <a:r>
              <a:rPr sz="1500" b="1">
                <a:solidFill>
                  <a:srgbClr val="1E5AA8"/>
                </a:solidFill>
              </a:rPr>
              <a:t>2,000</a:t>
            </a:r>
          </a:p>
        </p:txBody>
      </p:sp>
      <p:sp>
        <p:nvSpPr>
          <p:cNvPr id="8" name="Text 5">
            <a:extLst>
              <a:ext uri="{FF2B5EF4-FFF2-40B4-BE49-F238E27FC236}">
                <a16:creationId xmlns:a16="http://schemas.microsoft.com/office/drawing/2014/main" id="{4A33447A-4422-4A25-A3C7-5193B13D2F4C}"/>
              </a:ext>
            </a:extLst>
          </p:cNvPr>
          <p:cNvSpPr>
            <a:spLocks noGrp="1"/>
          </p:cNvSpPr>
          <p:nvPr/>
        </p:nvSpPr>
        <p:spPr>
          <a:xfrm>
            <a:off x="8430768" y="1655064"/>
            <a:ext cx="1234440" cy="146304"/>
          </a:xfrm>
          <a:prstGeom prst="rect">
            <a:avLst/>
          </a:prstGeom>
          <a:noFill/>
        </p:spPr>
        <p:txBody>
          <a:bodyPr wrap="square" lIns="0" tIns="0" rIns="0" bIns="0" anchor="ctr">
            <a:normAutofit fontScale="80000"/>
          </a:bodyPr>
          <a:lstStyle/>
          <a:p>
            <a:pPr marL="0" indent="0" algn="ctr">
              <a:buNone/>
            </a:pPr>
            <a:r>
              <a:rPr sz="1200">
                <a:solidFill>
                  <a:srgbClr val="555555"/>
                </a:solidFill>
              </a:rPr>
              <a:t>left-hand steps</a:t>
            </a:r>
          </a:p>
        </p:txBody>
      </p:sp>
      <p:sp>
        <p:nvSpPr>
          <p:cNvPr id="9" name="Text 6">
            <a:extLst>
              <a:ext uri="{FF2B5EF4-FFF2-40B4-BE49-F238E27FC236}">
                <a16:creationId xmlns:a16="http://schemas.microsoft.com/office/drawing/2014/main" id="{DE8A234A-42B0-4665-A6EA-3BD748352EEF}"/>
              </a:ext>
            </a:extLst>
          </p:cNvPr>
          <p:cNvSpPr>
            <a:spLocks noGrp="1"/>
          </p:cNvSpPr>
          <p:nvPr/>
        </p:nvSpPr>
        <p:spPr>
          <a:xfrm>
            <a:off x="9930384" y="1344168"/>
            <a:ext cx="1234440" cy="237744"/>
          </a:xfrm>
          <a:prstGeom prst="rect">
            <a:avLst/>
          </a:prstGeom>
          <a:noFill/>
        </p:spPr>
        <p:txBody>
          <a:bodyPr wrap="square" lIns="0" tIns="0" rIns="0" bIns="0" anchor="ctr">
            <a:normAutofit/>
          </a:bodyPr>
          <a:lstStyle/>
          <a:p>
            <a:pPr marL="0" indent="0" algn="ctr">
              <a:buNone/>
            </a:pPr>
            <a:r>
              <a:rPr sz="1500" b="1">
                <a:solidFill>
                  <a:srgbClr val="C36B00"/>
                </a:solidFill>
              </a:rPr>
              <a:t>6</a:t>
            </a:r>
          </a:p>
        </p:txBody>
      </p:sp>
      <p:sp>
        <p:nvSpPr>
          <p:cNvPr id="10" name="Text 7">
            <a:extLst>
              <a:ext uri="{FF2B5EF4-FFF2-40B4-BE49-F238E27FC236}">
                <a16:creationId xmlns:a16="http://schemas.microsoft.com/office/drawing/2014/main" id="{DEB87549-6311-4428-9874-9718CF455BD4}"/>
              </a:ext>
            </a:extLst>
          </p:cNvPr>
          <p:cNvSpPr>
            <a:spLocks noGrp="1"/>
          </p:cNvSpPr>
          <p:nvPr/>
        </p:nvSpPr>
        <p:spPr>
          <a:xfrm>
            <a:off x="9930384" y="1655064"/>
            <a:ext cx="1234440" cy="146304"/>
          </a:xfrm>
          <a:prstGeom prst="rect">
            <a:avLst/>
          </a:prstGeom>
          <a:noFill/>
        </p:spPr>
        <p:txBody>
          <a:bodyPr wrap="square" lIns="0" tIns="0" rIns="0" bIns="0" anchor="ctr">
            <a:normAutofit fontScale="80000"/>
          </a:bodyPr>
          <a:lstStyle/>
          <a:p>
            <a:pPr marL="0" indent="0" algn="ctr">
              <a:buNone/>
            </a:pPr>
            <a:r>
              <a:rPr sz="1200">
                <a:solidFill>
                  <a:srgbClr val="555555"/>
                </a:solidFill>
              </a:rPr>
              <a:t>actuators per hand</a:t>
            </a:r>
          </a:p>
        </p:txBody>
      </p:sp>
      <p:sp>
        <p:nvSpPr>
          <p:cNvPr id="11" name="Text 8">
            <a:extLst>
              <a:ext uri="{FF2B5EF4-FFF2-40B4-BE49-F238E27FC236}">
                <a16:creationId xmlns:a16="http://schemas.microsoft.com/office/drawing/2014/main" id="{76035BF7-F3CD-4FC8-B195-B6E002A2A9B7}"/>
              </a:ext>
            </a:extLst>
          </p:cNvPr>
          <p:cNvSpPr>
            <a:spLocks noGrp="1"/>
          </p:cNvSpPr>
          <p:nvPr/>
        </p:nvSpPr>
        <p:spPr>
          <a:xfrm>
            <a:off x="7699248" y="2743200"/>
            <a:ext cx="1234440" cy="237744"/>
          </a:xfrm>
          <a:prstGeom prst="rect">
            <a:avLst/>
          </a:prstGeom>
          <a:noFill/>
        </p:spPr>
        <p:txBody>
          <a:bodyPr wrap="square" lIns="0" tIns="0" rIns="0" bIns="0" anchor="ctr">
            <a:normAutofit/>
          </a:bodyPr>
          <a:lstStyle/>
          <a:p>
            <a:pPr marL="0" indent="0" algn="ctr">
              <a:buNone/>
            </a:pPr>
            <a:r>
              <a:rPr sz="1500" b="1">
                <a:solidFill>
                  <a:srgbClr val="2E7D32"/>
                </a:solidFill>
              </a:rPr>
              <a:t>PASS</a:t>
            </a:r>
          </a:p>
        </p:txBody>
      </p:sp>
      <p:sp>
        <p:nvSpPr>
          <p:cNvPr id="12" name="Text 9">
            <a:extLst>
              <a:ext uri="{FF2B5EF4-FFF2-40B4-BE49-F238E27FC236}">
                <a16:creationId xmlns:a16="http://schemas.microsoft.com/office/drawing/2014/main" id="{D74E2C4B-547E-4C95-9E6B-D8DE261AE8A3}"/>
              </a:ext>
            </a:extLst>
          </p:cNvPr>
          <p:cNvSpPr>
            <a:spLocks noGrp="1"/>
          </p:cNvSpPr>
          <p:nvPr/>
        </p:nvSpPr>
        <p:spPr>
          <a:xfrm>
            <a:off x="7699248" y="3054096"/>
            <a:ext cx="1234440" cy="146304"/>
          </a:xfrm>
          <a:prstGeom prst="rect">
            <a:avLst/>
          </a:prstGeom>
          <a:noFill/>
        </p:spPr>
        <p:txBody>
          <a:bodyPr wrap="square" lIns="0" tIns="0" rIns="0" bIns="0" anchor="ctr">
            <a:normAutofit fontScale="80000"/>
          </a:bodyPr>
          <a:lstStyle/>
          <a:p>
            <a:pPr marL="0" indent="0" algn="ctr">
              <a:buNone/>
            </a:pPr>
            <a:r>
              <a:rPr sz="1200">
                <a:solidFill>
                  <a:srgbClr val="555555"/>
                </a:solidFill>
              </a:rPr>
              <a:t>finite state</a:t>
            </a:r>
          </a:p>
        </p:txBody>
      </p:sp>
      <p:sp>
        <p:nvSpPr>
          <p:cNvPr id="13" name="Text 10">
            <a:extLst>
              <a:ext uri="{FF2B5EF4-FFF2-40B4-BE49-F238E27FC236}">
                <a16:creationId xmlns:a16="http://schemas.microsoft.com/office/drawing/2014/main" id="{13D646EF-7071-4F1A-BB3A-E4761BF7857D}"/>
              </a:ext>
            </a:extLst>
          </p:cNvPr>
          <p:cNvSpPr>
            <a:spLocks noGrp="1"/>
          </p:cNvSpPr>
          <p:nvPr/>
        </p:nvSpPr>
        <p:spPr>
          <a:xfrm>
            <a:off x="6839712" y="3767328"/>
            <a:ext cx="4041648" cy="1051560"/>
          </a:xfrm>
          <a:prstGeom prst="rect">
            <a:avLst/>
          </a:prstGeom>
          <a:noFill/>
        </p:spPr>
        <p:txBody>
          <a:bodyPr wrap="square" lIns="254" tIns="254" rIns="254" bIns="254" anchor="t">
            <a:normAutofit fontScale="80368"/>
          </a:bodyPr>
          <a:lstStyle/>
          <a:p>
            <a:pPr marL="0" indent="0">
              <a:buNone/>
            </a:pPr>
            <a:r>
              <a:rPr sz="2000">
                <a:solidFill>
                  <a:srgbClr val="111111"/>
                </a:solidFill>
                <a:latin typeface="Aptos"/>
                <a:ea typeface="Aptos"/>
                <a:cs typeface="Aptos"/>
              </a:rPr>
              <a:t>The automatic grasp controller completed both runs with finite joint state and all six actuator IDs resolved. The same model also runs interactively from the desktop launcher.</a:t>
            </a:r>
          </a:p>
        </p:txBody>
      </p:sp>
      <p:sp>
        <p:nvSpPr>
          <p:cNvPr id="15" name="Text 12">
            <a:extLst>
              <a:ext uri="{FF2B5EF4-FFF2-40B4-BE49-F238E27FC236}">
                <a16:creationId xmlns:a16="http://schemas.microsoft.com/office/drawing/2014/main" id="{1B67202B-8280-4E5B-B406-B6D14DE552D8}"/>
              </a:ext>
            </a:extLst>
          </p:cNvPr>
          <p:cNvSpPr>
            <a:spLocks noGrp="1"/>
          </p:cNvSpPr>
          <p:nvPr/>
        </p:nvSpPr>
        <p:spPr>
          <a:xfrm>
            <a:off x="10789920" y="6537960"/>
            <a:ext cx="1005840" cy="137160"/>
          </a:xfrm>
          <a:prstGeom prst="rect">
            <a:avLst/>
          </a:prstGeom>
          <a:noFill/>
        </p:spPr>
        <p:txBody>
          <a:bodyPr wrap="square" lIns="0" tIns="0" rIns="0" bIns="0" anchor="ctr">
            <a:normAutofit/>
          </a:bodyPr>
          <a:lstStyle/>
          <a:p>
            <a:pPr marL="0" indent="0" algn="r">
              <a:buNone/>
            </a:pPr>
            <a:r>
              <a:rPr sz="480">
                <a:solidFill>
                  <a:srgbClr val="777777"/>
                </a:solidFill>
                <a:latin typeface="Aptos"/>
                <a:ea typeface="Aptos"/>
                <a:cs typeface="Aptos"/>
              </a:rPr>
              <a:t>Week 20 | 6</a:t>
            </a:r>
          </a:p>
        </p:txBody>
      </p:sp>
      <p:pic>
        <p:nvPicPr>
          <p:cNvPr id="30" name="Picture 29"/>
          <p:cNvPicPr>
            <a:picLocks noChangeAspect="1"/>
          </p:cNvPicPr>
          <p:nvPr/>
        </p:nvPicPr>
        <p:blipFill>
          <a:blip r:embed="rId3"/>
          <a:stretch/>
        </p:blipFill>
        <p:spPr>
          <a:xfrm>
            <a:off x="658368" y="1331045"/>
            <a:ext cx="5897880" cy="3519254"/>
          </a:xfrm>
          <a:prstGeom prst="rect">
            <a:avLst/>
          </a:prstGeom>
        </p:spPr>
      </p:pic>
    </p:spTree>
    <p:extLst>
      <p:ext uri="{BB962C8B-B14F-4D97-AF65-F5344CB8AC3E}">
        <p14:creationId xmlns:p14="http://schemas.microsoft.com/office/powerpoint/2010/main" val="585543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FACF83A-7E64-4AA1-A9E8-DD8E470EB99F}"/>
              </a:ext>
            </a:extLst>
          </p:cNvPr>
          <p:cNvSpPr>
            <a:spLocks noGrp="1"/>
          </p:cNvSpPr>
          <p:nvPr/>
        </p:nvSpPr>
        <p:spPr>
          <a:xfrm>
            <a:off x="530352" y="329184"/>
            <a:ext cx="10607040" cy="347472"/>
          </a:xfrm>
          <a:prstGeom prst="rect">
            <a:avLst/>
          </a:prstGeom>
          <a:noFill/>
        </p:spPr>
        <p:txBody>
          <a:bodyPr wrap="square" lIns="0" tIns="0" rIns="0" bIns="0" anchor="ctr">
            <a:normAutofit/>
          </a:bodyPr>
          <a:lstStyle/>
          <a:p>
            <a:pPr marL="0" indent="0">
              <a:buNone/>
            </a:pPr>
            <a:r>
              <a:rPr sz="1550" b="1">
                <a:solidFill>
                  <a:srgbClr val="111111"/>
                </a:solidFill>
                <a:latin typeface="Aptos"/>
                <a:ea typeface="Aptos"/>
                <a:cs typeface="Aptos"/>
              </a:rPr>
              <a:t>Interactive demonstration: keyboard commands drive the Revo 2 grasp poses in MuJoCo.</a:t>
            </a:r>
          </a:p>
        </p:txBody>
      </p:sp>
      <p:sp>
        <p:nvSpPr>
          <p:cNvPr id="3" name="Shape 1">
            <a:extLst>
              <a:ext uri="{FF2B5EF4-FFF2-40B4-BE49-F238E27FC236}">
                <a16:creationId xmlns:a16="http://schemas.microsoft.com/office/drawing/2014/main" id="{4D670DC3-1DC1-4CC5-A64F-B6B8F5B9630B}"/>
              </a:ext>
            </a:extLst>
          </p:cNvPr>
          <p:cNvSpPr>
            <a:spLocks noGrp="1"/>
          </p:cNvSpPr>
          <p:nvPr/>
        </p:nvSpPr>
        <p:spPr>
          <a:xfrm>
            <a:off x="2386584" y="886968"/>
            <a:ext cx="7379208" cy="5340096"/>
          </a:xfrm>
          <a:prstGeom prst="rect">
            <a:avLst/>
          </a:prstGeom>
          <a:solidFill>
            <a:srgbClr val="FFFFFF">
              <a:alpha val="0"/>
            </a:srgbClr>
          </a:solidFill>
          <a:ln w="10160">
            <a:solidFill>
              <a:srgbClr val="D0D0D0"/>
            </a:solidFill>
            <a:prstDash val="solid"/>
          </a:ln>
        </p:spPr>
      </p:sp>
      <p:sp>
        <p:nvSpPr>
          <p:cNvPr id="5" name="Shape 2">
            <a:extLst>
              <a:ext uri="{FF2B5EF4-FFF2-40B4-BE49-F238E27FC236}">
                <a16:creationId xmlns:a16="http://schemas.microsoft.com/office/drawing/2014/main" id="{02F9E472-10BC-4E7E-BFB8-F013CE94D2C9}"/>
              </a:ext>
            </a:extLst>
          </p:cNvPr>
          <p:cNvSpPr>
            <a:spLocks noGrp="1"/>
          </p:cNvSpPr>
          <p:nvPr/>
        </p:nvSpPr>
        <p:spPr>
          <a:xfrm>
            <a:off x="8714232" y="1033272"/>
            <a:ext cx="749808" cy="246888"/>
          </a:xfrm>
          <a:prstGeom prst="roundRect">
            <a:avLst>
              <a:gd name="adj" fmla="val 22222"/>
            </a:avLst>
          </a:prstGeom>
          <a:solidFill>
            <a:srgbClr val="FFFFFF">
              <a:alpha val="92000"/>
            </a:srgbClr>
          </a:solidFill>
          <a:ln w="12700">
            <a:solidFill>
              <a:srgbClr val="D0D0D0">
                <a:alpha val="70000"/>
              </a:srgbClr>
            </a:solidFill>
            <a:prstDash val="solid"/>
          </a:ln>
        </p:spPr>
      </p:sp>
      <p:sp>
        <p:nvSpPr>
          <p:cNvPr id="6" name="Text 3">
            <a:extLst>
              <a:ext uri="{FF2B5EF4-FFF2-40B4-BE49-F238E27FC236}">
                <a16:creationId xmlns:a16="http://schemas.microsoft.com/office/drawing/2014/main" id="{70C4EC18-FEC9-4164-9452-FEAC79C6280D}"/>
              </a:ext>
            </a:extLst>
          </p:cNvPr>
          <p:cNvSpPr>
            <a:spLocks noGrp="1"/>
          </p:cNvSpPr>
          <p:nvPr/>
        </p:nvSpPr>
        <p:spPr>
          <a:xfrm>
            <a:off x="8769096" y="1092708"/>
            <a:ext cx="640080" cy="100584"/>
          </a:xfrm>
          <a:prstGeom prst="rect">
            <a:avLst/>
          </a:prstGeom>
          <a:noFill/>
        </p:spPr>
        <p:txBody>
          <a:bodyPr wrap="square" lIns="0" tIns="0" rIns="0" bIns="0" anchor="ctr">
            <a:normAutofit/>
          </a:bodyPr>
          <a:lstStyle/>
          <a:p>
            <a:pPr marL="0" indent="0" algn="ctr">
              <a:buNone/>
            </a:pPr>
            <a:r>
              <a:rPr sz="560" b="1">
                <a:solidFill>
                  <a:srgbClr val="111111"/>
                </a:solidFill>
              </a:rPr>
              <a:t>Video</a:t>
            </a:r>
          </a:p>
        </p:txBody>
      </p:sp>
      <p:sp>
        <p:nvSpPr>
          <p:cNvPr id="7" name="Text 4">
            <a:extLst>
              <a:ext uri="{FF2B5EF4-FFF2-40B4-BE49-F238E27FC236}">
                <a16:creationId xmlns:a16="http://schemas.microsoft.com/office/drawing/2014/main" id="{90C119B6-49CB-4529-BAAD-4A03EB3D49E0}"/>
              </a:ext>
            </a:extLst>
          </p:cNvPr>
          <p:cNvSpPr>
            <a:spLocks noGrp="1"/>
          </p:cNvSpPr>
          <p:nvPr/>
        </p:nvSpPr>
        <p:spPr>
          <a:xfrm>
            <a:off x="2395728" y="6281928"/>
            <a:ext cx="7360920" cy="137160"/>
          </a:xfrm>
          <a:prstGeom prst="rect">
            <a:avLst/>
          </a:prstGeom>
          <a:noFill/>
        </p:spPr>
        <p:txBody>
          <a:bodyPr wrap="square" lIns="0" tIns="0" rIns="0" bIns="0" anchor="ctr">
            <a:noAutofit/>
          </a:bodyPr>
          <a:lstStyle/>
          <a:p>
            <a:pPr marL="0" indent="0" algn="ctr">
              <a:buNone/>
            </a:pPr>
            <a:r>
              <a:rPr sz="1400" i="1">
                <a:solidFill>
                  <a:srgbClr val="555555"/>
                </a:solidFill>
              </a:rPr>
              <a:t>Video 1: supplied screen recording of the right-hand interactive simulation (embedded).</a:t>
            </a:r>
          </a:p>
        </p:txBody>
      </p:sp>
      <p:sp>
        <p:nvSpPr>
          <p:cNvPr id="8" name="Text 5">
            <a:extLst>
              <a:ext uri="{FF2B5EF4-FFF2-40B4-BE49-F238E27FC236}">
                <a16:creationId xmlns:a16="http://schemas.microsoft.com/office/drawing/2014/main" id="{832DF564-6324-48B7-86FF-6D43AF4EBF11}"/>
              </a:ext>
            </a:extLst>
          </p:cNvPr>
          <p:cNvSpPr>
            <a:spLocks noGrp="1"/>
          </p:cNvSpPr>
          <p:nvPr/>
        </p:nvSpPr>
        <p:spPr>
          <a:xfrm>
            <a:off x="10789920" y="6537960"/>
            <a:ext cx="1005840" cy="137160"/>
          </a:xfrm>
          <a:prstGeom prst="rect">
            <a:avLst/>
          </a:prstGeom>
          <a:noFill/>
        </p:spPr>
        <p:txBody>
          <a:bodyPr wrap="square" lIns="0" tIns="0" rIns="0" bIns="0" anchor="ctr">
            <a:normAutofit/>
          </a:bodyPr>
          <a:lstStyle/>
          <a:p>
            <a:pPr marL="0" indent="0" algn="r">
              <a:buNone/>
            </a:pPr>
            <a:r>
              <a:rPr sz="480">
                <a:solidFill>
                  <a:srgbClr val="777777"/>
                </a:solidFill>
                <a:latin typeface="Aptos"/>
                <a:ea typeface="Aptos"/>
                <a:cs typeface="Aptos"/>
              </a:rPr>
              <a:t>Week 20 | 7</a:t>
            </a:r>
          </a:p>
        </p:txBody>
      </p:sp>
      <p:pic>
        <p:nvPicPr>
          <p:cNvPr id="17" name="Picture 16"/>
          <p:cNvPicPr>
            <a:picLocks noChangeAspect="1"/>
          </p:cNvPicPr>
          <p:nvPr/>
        </p:nvPicPr>
        <p:blipFill>
          <a:blip r:embed="rId5"/>
          <a:stretch/>
        </p:blipFill>
        <p:spPr>
          <a:xfrm>
            <a:off x="2395728" y="896112"/>
            <a:ext cx="7360920" cy="5321808"/>
          </a:xfrm>
          <a:prstGeom prst="rect">
            <a:avLst/>
          </a:prstGeom>
        </p:spPr>
      </p:pic>
      <p:pic>
        <p:nvPicPr>
          <p:cNvPr id="4" name="revo2-demo-720p">
            <a:hlinkClick r:id="" action="ppaction://media"/>
            <a:extLst>
              <a:ext uri="{FF2B5EF4-FFF2-40B4-BE49-F238E27FC236}">
                <a16:creationId xmlns:a16="http://schemas.microsoft.com/office/drawing/2014/main" id="{43E76DA9-C840-51FB-45E8-CC3FF026BC88}"/>
              </a:ext>
            </a:extLst>
          </p:cNvPr>
          <p:cNvPicPr>
            <a:picLocks/>
          </p:cNvPicPr>
          <p:nvPr>
            <a:videoFile r:link="rId2"/>
            <p:extLst>
              <p:ext uri="{DAA4B4D4-6D71-4841-9C94-3DE7FCFB9230}">
                <p14:media xmlns:p14="http://schemas.microsoft.com/office/powerpoint/2010/main" r:embed="rId1"/>
              </p:ext>
            </p:extLst>
          </p:nvPr>
        </p:nvPicPr>
        <p:blipFill>
          <a:blip r:embed="rId6"/>
          <a:stretch>
            <a:fillRect/>
          </a:stretch>
        </p:blipFill>
        <p:spPr>
          <a:xfrm>
            <a:off x="2395728" y="896112"/>
            <a:ext cx="7360920" cy="5014852"/>
          </a:xfrm>
          <a:prstGeom prst="rect">
            <a:avLst/>
          </a:prstGeom>
        </p:spPr>
      </p:pic>
    </p:spTree>
    <p:extLst>
      <p:ext uri="{BB962C8B-B14F-4D97-AF65-F5344CB8AC3E}">
        <p14:creationId xmlns:p14="http://schemas.microsoft.com/office/powerpoint/2010/main" val="14081609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0D73B71-D0D7-4884-9A3B-1F79923F8B8A}"/>
              </a:ext>
            </a:extLst>
          </p:cNvPr>
          <p:cNvSpPr>
            <a:spLocks noGrp="1"/>
          </p:cNvSpPr>
          <p:nvPr/>
        </p:nvSpPr>
        <p:spPr>
          <a:xfrm>
            <a:off x="530352" y="329184"/>
            <a:ext cx="10607040" cy="347472"/>
          </a:xfrm>
          <a:prstGeom prst="rect">
            <a:avLst/>
          </a:prstGeom>
          <a:noFill/>
        </p:spPr>
        <p:txBody>
          <a:bodyPr wrap="square" lIns="0" tIns="0" rIns="0" bIns="0" anchor="ctr">
            <a:normAutofit/>
          </a:bodyPr>
          <a:lstStyle/>
          <a:p>
            <a:pPr marL="0" indent="0">
              <a:buNone/>
            </a:pPr>
            <a:r>
              <a:rPr sz="1550" b="1">
                <a:solidFill>
                  <a:srgbClr val="111111"/>
                </a:solidFill>
                <a:latin typeface="Aptos"/>
                <a:ea typeface="Aptos"/>
                <a:cs typeface="Aptos"/>
              </a:rPr>
              <a:t>The hand model is training-ready, but it is not yet the complete R1 manipulation system.</a:t>
            </a:r>
          </a:p>
        </p:txBody>
      </p:sp>
      <p:sp>
        <p:nvSpPr>
          <p:cNvPr id="3" name="Text 1">
            <a:extLst>
              <a:ext uri="{FF2B5EF4-FFF2-40B4-BE49-F238E27FC236}">
                <a16:creationId xmlns:a16="http://schemas.microsoft.com/office/drawing/2014/main" id="{C486D207-DC19-460C-830B-129995043657}"/>
              </a:ext>
            </a:extLst>
          </p:cNvPr>
          <p:cNvSpPr>
            <a:spLocks noGrp="1"/>
          </p:cNvSpPr>
          <p:nvPr/>
        </p:nvSpPr>
        <p:spPr>
          <a:xfrm>
            <a:off x="713232" y="1170432"/>
            <a:ext cx="9921240" cy="932688"/>
          </a:xfrm>
          <a:prstGeom prst="rect">
            <a:avLst/>
          </a:prstGeom>
          <a:noFill/>
        </p:spPr>
        <p:txBody>
          <a:bodyPr wrap="square" lIns="254" tIns="254" rIns="254" bIns="254" anchor="t">
            <a:normAutofit/>
          </a:bodyPr>
          <a:lstStyle/>
          <a:p>
            <a:pPr marL="0" indent="0">
              <a:buNone/>
            </a:pPr>
            <a:r>
              <a:rPr>
                <a:solidFill>
                  <a:srgbClr val="111111"/>
                </a:solidFill>
                <a:latin typeface="Aptos"/>
                <a:ea typeface="Aptos"/>
                <a:cs typeface="Aptos"/>
              </a:rPr>
              <a:t>This version isolates the hand at a fixed wrist and uses a free sphere for contact testing. That is the right abstraction for actuator and collision validation, but whole-body policies still need the R1 wrist transform, arm dynamics, and task sensors.</a:t>
            </a:r>
          </a:p>
        </p:txBody>
      </p:sp>
      <p:sp>
        <p:nvSpPr>
          <p:cNvPr id="4" name="Text 2">
            <a:extLst>
              <a:ext uri="{FF2B5EF4-FFF2-40B4-BE49-F238E27FC236}">
                <a16:creationId xmlns:a16="http://schemas.microsoft.com/office/drawing/2014/main" id="{54A9717B-A12D-40FA-A2FC-E11A2342F173}"/>
              </a:ext>
            </a:extLst>
          </p:cNvPr>
          <p:cNvSpPr>
            <a:spLocks noGrp="1"/>
          </p:cNvSpPr>
          <p:nvPr/>
        </p:nvSpPr>
        <p:spPr>
          <a:xfrm>
            <a:off x="987552" y="2971800"/>
            <a:ext cx="9692640" cy="1554480"/>
          </a:xfrm>
          <a:prstGeom prst="rect">
            <a:avLst/>
          </a:prstGeom>
          <a:noFill/>
        </p:spPr>
        <p:txBody>
          <a:bodyPr wrap="square" lIns="254" tIns="254" rIns="254" bIns="254" anchor="t">
            <a:normAutofit/>
          </a:bodyPr>
          <a:lstStyle/>
          <a:p>
            <a:r>
              <a:rPr>
                <a:solidFill>
                  <a:srgbClr val="111111"/>
                </a:solidFill>
                <a:latin typeface="Aptos"/>
                <a:ea typeface="Aptos"/>
                <a:cs typeface="Aptos"/>
              </a:rPr>
              <a:t>• Accurate for six-command hand kinematics and MuJoCo contacts</a:t>
            </a:r>
          </a:p>
          <a:p>
            <a:r>
              <a:rPr>
                <a:solidFill>
                  <a:srgbClr val="111111"/>
                </a:solidFill>
                <a:latin typeface="Aptos"/>
                <a:ea typeface="Aptos"/>
                <a:cs typeface="Aptos"/>
              </a:rPr>
              <a:t>• Basic edition has no hardware tactile module to match in simulation</a:t>
            </a:r>
          </a:p>
          <a:p>
            <a:r>
              <a:rPr>
                <a:solidFill>
                  <a:srgbClr val="111111"/>
                </a:solidFill>
                <a:latin typeface="Aptos"/>
                <a:ea typeface="Aptos"/>
                <a:cs typeface="Aptos"/>
              </a:rPr>
              <a:t>• Wrist is fixed; arm–hand coupling is not yet represented</a:t>
            </a:r>
          </a:p>
          <a:p>
            <a:r>
              <a:rPr>
                <a:solidFill>
                  <a:srgbClr val="111111"/>
                </a:solidFill>
                <a:latin typeface="Aptos"/>
                <a:ea typeface="Aptos"/>
                <a:cs typeface="Aptos"/>
              </a:rPr>
              <a:t>• Sphere grasp is a demonstration, not a benchmarked RL task</a:t>
            </a:r>
          </a:p>
          <a:p>
            <a:r>
              <a:rPr>
                <a:solidFill>
                  <a:srgbClr val="111111"/>
                </a:solidFill>
                <a:latin typeface="Aptos"/>
                <a:ea typeface="Aptos"/>
                <a:cs typeface="Aptos"/>
              </a:rPr>
              <a:t>• Sim-to-real calibration still needs latency and force-limit measurements</a:t>
            </a:r>
          </a:p>
        </p:txBody>
      </p:sp>
      <p:sp>
        <p:nvSpPr>
          <p:cNvPr id="5" name="Text 3">
            <a:extLst>
              <a:ext uri="{FF2B5EF4-FFF2-40B4-BE49-F238E27FC236}">
                <a16:creationId xmlns:a16="http://schemas.microsoft.com/office/drawing/2014/main" id="{A21DC0C2-41FC-46DE-9FF6-C34B456399C2}"/>
              </a:ext>
            </a:extLst>
          </p:cNvPr>
          <p:cNvSpPr>
            <a:spLocks noGrp="1"/>
          </p:cNvSpPr>
          <p:nvPr/>
        </p:nvSpPr>
        <p:spPr>
          <a:xfrm>
            <a:off x="10789920" y="6537960"/>
            <a:ext cx="1005840" cy="137160"/>
          </a:xfrm>
          <a:prstGeom prst="rect">
            <a:avLst/>
          </a:prstGeom>
          <a:noFill/>
        </p:spPr>
        <p:txBody>
          <a:bodyPr wrap="square" lIns="0" tIns="0" rIns="0" bIns="0" anchor="ctr">
            <a:normAutofit/>
          </a:bodyPr>
          <a:lstStyle/>
          <a:p>
            <a:pPr marL="0" indent="0" algn="r">
              <a:buNone/>
            </a:pPr>
            <a:r>
              <a:rPr sz="480">
                <a:solidFill>
                  <a:srgbClr val="777777"/>
                </a:solidFill>
                <a:latin typeface="Aptos"/>
                <a:ea typeface="Aptos"/>
                <a:cs typeface="Aptos"/>
              </a:rPr>
              <a:t>Week 20 | 8</a:t>
            </a:r>
          </a:p>
        </p:txBody>
      </p:sp>
    </p:spTree>
    <p:extLst>
      <p:ext uri="{BB962C8B-B14F-4D97-AF65-F5344CB8AC3E}">
        <p14:creationId xmlns:p14="http://schemas.microsoft.com/office/powerpoint/2010/main" val="1565501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4AD71C7-AA77-421F-BDE5-D3B9A8EA444B}"/>
              </a:ext>
            </a:extLst>
          </p:cNvPr>
          <p:cNvSpPr>
            <a:spLocks noGrp="1"/>
          </p:cNvSpPr>
          <p:nvPr/>
        </p:nvSpPr>
        <p:spPr>
          <a:xfrm>
            <a:off x="530352" y="329184"/>
            <a:ext cx="10607040" cy="347472"/>
          </a:xfrm>
          <a:prstGeom prst="rect">
            <a:avLst/>
          </a:prstGeom>
          <a:noFill/>
        </p:spPr>
        <p:txBody>
          <a:bodyPr wrap="square" lIns="0" tIns="0" rIns="0" bIns="0" anchor="ctr">
            <a:normAutofit/>
          </a:bodyPr>
          <a:lstStyle/>
          <a:p>
            <a:pPr marL="0" indent="0">
              <a:buNone/>
            </a:pPr>
            <a:r>
              <a:rPr sz="1550" b="1">
                <a:solidFill>
                  <a:srgbClr val="111111"/>
                </a:solidFill>
                <a:latin typeface="Aptos"/>
                <a:ea typeface="Aptos"/>
                <a:cs typeface="Aptos"/>
              </a:rPr>
              <a:t>Next: attach both Revo 2 models to the R1 wrists and train coordinated manipulation.</a:t>
            </a:r>
          </a:p>
        </p:txBody>
      </p:sp>
      <p:sp>
        <p:nvSpPr>
          <p:cNvPr id="3" name="Text 1">
            <a:extLst>
              <a:ext uri="{FF2B5EF4-FFF2-40B4-BE49-F238E27FC236}">
                <a16:creationId xmlns:a16="http://schemas.microsoft.com/office/drawing/2014/main" id="{4FFF370E-6CA8-43F4-A15F-B2D7B053E201}"/>
              </a:ext>
            </a:extLst>
          </p:cNvPr>
          <p:cNvSpPr>
            <a:spLocks noGrp="1"/>
          </p:cNvSpPr>
          <p:nvPr/>
        </p:nvSpPr>
        <p:spPr>
          <a:xfrm>
            <a:off x="713232" y="1170432"/>
            <a:ext cx="9875520" cy="1005840"/>
          </a:xfrm>
          <a:prstGeom prst="rect">
            <a:avLst/>
          </a:prstGeom>
          <a:noFill/>
        </p:spPr>
        <p:txBody>
          <a:bodyPr wrap="square" lIns="254" tIns="254" rIns="254" bIns="254" anchor="t">
            <a:normAutofit/>
          </a:bodyPr>
          <a:lstStyle/>
          <a:p>
            <a:pPr marL="0" indent="0">
              <a:buNone/>
            </a:pPr>
            <a:r>
              <a:rPr sz="1600">
                <a:solidFill>
                  <a:srgbClr val="111111"/>
                </a:solidFill>
                <a:latin typeface="Aptos"/>
                <a:ea typeface="Aptos"/>
                <a:cs typeface="Aptos"/>
              </a:rPr>
              <a:t>The verified hand scene is now a reusable subsystem. Integration should preserve the official meshes and actuator limits, then expose a 12-command bilateral hand action space alongside the R1 arm controller.</a:t>
            </a:r>
          </a:p>
        </p:txBody>
      </p:sp>
      <p:sp>
        <p:nvSpPr>
          <p:cNvPr id="4" name="Text 2">
            <a:extLst>
              <a:ext uri="{FF2B5EF4-FFF2-40B4-BE49-F238E27FC236}">
                <a16:creationId xmlns:a16="http://schemas.microsoft.com/office/drawing/2014/main" id="{538EB3B8-D730-4377-B64F-0E5AC8880D69}"/>
              </a:ext>
            </a:extLst>
          </p:cNvPr>
          <p:cNvSpPr>
            <a:spLocks noGrp="1"/>
          </p:cNvSpPr>
          <p:nvPr/>
        </p:nvSpPr>
        <p:spPr>
          <a:xfrm>
            <a:off x="960120" y="3063240"/>
            <a:ext cx="9738360" cy="1508760"/>
          </a:xfrm>
          <a:prstGeom prst="rect">
            <a:avLst/>
          </a:prstGeom>
          <a:noFill/>
        </p:spPr>
        <p:txBody>
          <a:bodyPr wrap="square" lIns="254" tIns="254" rIns="254" bIns="254" anchor="t">
            <a:normAutofit/>
          </a:bodyPr>
          <a:lstStyle/>
          <a:p>
            <a:r>
              <a:rPr>
                <a:solidFill>
                  <a:srgbClr val="111111"/>
                </a:solidFill>
                <a:latin typeface="Aptos"/>
                <a:ea typeface="Aptos"/>
                <a:cs typeface="Aptos"/>
              </a:rPr>
              <a:t>• Remove placeholder hand geometry from the R1 model</a:t>
            </a:r>
          </a:p>
          <a:p>
            <a:r>
              <a:rPr>
                <a:solidFill>
                  <a:srgbClr val="111111"/>
                </a:solidFill>
                <a:latin typeface="Aptos"/>
                <a:ea typeface="Aptos"/>
                <a:cs typeface="Aptos"/>
              </a:rPr>
              <a:t>• Align left/right palm frames to the wrist-roll links</a:t>
            </a:r>
          </a:p>
          <a:p>
            <a:r>
              <a:rPr>
                <a:solidFill>
                  <a:srgbClr val="111111"/>
                </a:solidFill>
                <a:latin typeface="Aptos"/>
                <a:ea typeface="Aptos"/>
                <a:cs typeface="Aptos"/>
              </a:rPr>
              <a:t>• Namespace and map all 12 Revo 2 commands</a:t>
            </a:r>
          </a:p>
          <a:p>
            <a:r>
              <a:rPr>
                <a:solidFill>
                  <a:srgbClr val="111111"/>
                </a:solidFill>
                <a:latin typeface="Aptos"/>
                <a:ea typeface="Aptos"/>
                <a:cs typeface="Aptos"/>
              </a:rPr>
              <a:t>• Add joint, velocity, effort, and object observations</a:t>
            </a:r>
          </a:p>
          <a:p>
            <a:r>
              <a:rPr>
                <a:solidFill>
                  <a:srgbClr val="111111"/>
                </a:solidFill>
                <a:latin typeface="Aptos"/>
                <a:ea typeface="Aptos"/>
                <a:cs typeface="Aptos"/>
              </a:rPr>
              <a:t>• Train a reach → grasp → hold curriculum, then validate on hardware</a:t>
            </a:r>
          </a:p>
        </p:txBody>
      </p:sp>
      <p:sp>
        <p:nvSpPr>
          <p:cNvPr id="5" name="Text 3">
            <a:extLst>
              <a:ext uri="{FF2B5EF4-FFF2-40B4-BE49-F238E27FC236}">
                <a16:creationId xmlns:a16="http://schemas.microsoft.com/office/drawing/2014/main" id="{B9C9AABF-FAF4-4903-86C8-CE10245480D9}"/>
              </a:ext>
            </a:extLst>
          </p:cNvPr>
          <p:cNvSpPr>
            <a:spLocks noGrp="1"/>
          </p:cNvSpPr>
          <p:nvPr/>
        </p:nvSpPr>
        <p:spPr>
          <a:xfrm>
            <a:off x="10789920" y="6537960"/>
            <a:ext cx="1005840" cy="137160"/>
          </a:xfrm>
          <a:prstGeom prst="rect">
            <a:avLst/>
          </a:prstGeom>
          <a:noFill/>
        </p:spPr>
        <p:txBody>
          <a:bodyPr wrap="square" lIns="0" tIns="0" rIns="0" bIns="0" anchor="ctr">
            <a:normAutofit/>
          </a:bodyPr>
          <a:lstStyle/>
          <a:p>
            <a:pPr marL="0" indent="0" algn="r">
              <a:buNone/>
            </a:pPr>
            <a:r>
              <a:rPr sz="480">
                <a:solidFill>
                  <a:srgbClr val="777777"/>
                </a:solidFill>
                <a:latin typeface="Aptos"/>
                <a:ea typeface="Aptos"/>
                <a:cs typeface="Aptos"/>
              </a:rPr>
              <a:t>Week 20 | 9</a:t>
            </a:r>
          </a:p>
        </p:txBody>
      </p:sp>
    </p:spTree>
    <p:extLst>
      <p:ext uri="{BB962C8B-B14F-4D97-AF65-F5344CB8AC3E}">
        <p14:creationId xmlns:p14="http://schemas.microsoft.com/office/powerpoint/2010/main" val="870742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ECB0317-E510-476F-B195-16F0B1E316DD}"/>
              </a:ext>
            </a:extLst>
          </p:cNvPr>
          <p:cNvSpPr>
            <a:spLocks noGrp="1"/>
          </p:cNvSpPr>
          <p:nvPr/>
        </p:nvSpPr>
        <p:spPr>
          <a:xfrm>
            <a:off x="530352" y="329184"/>
            <a:ext cx="10607040" cy="347472"/>
          </a:xfrm>
          <a:prstGeom prst="rect">
            <a:avLst/>
          </a:prstGeom>
          <a:noFill/>
        </p:spPr>
        <p:txBody>
          <a:bodyPr wrap="square" lIns="0" tIns="0" rIns="0" bIns="0" anchor="ctr">
            <a:normAutofit/>
          </a:bodyPr>
          <a:lstStyle/>
          <a:p>
            <a:pPr marL="0" indent="0">
              <a:buNone/>
            </a:pPr>
            <a:r>
              <a:rPr sz="1550" b="1">
                <a:solidFill>
                  <a:srgbClr val="111111"/>
                </a:solidFill>
                <a:latin typeface="Aptos"/>
                <a:ea typeface="Aptos"/>
                <a:cs typeface="Aptos"/>
              </a:rPr>
              <a:t>References</a:t>
            </a:r>
          </a:p>
        </p:txBody>
      </p:sp>
      <p:sp>
        <p:nvSpPr>
          <p:cNvPr id="3" name="Text 1">
            <a:extLst>
              <a:ext uri="{FF2B5EF4-FFF2-40B4-BE49-F238E27FC236}">
                <a16:creationId xmlns:a16="http://schemas.microsoft.com/office/drawing/2014/main" id="{FBF90321-1FEB-426C-A675-C9816DB41764}"/>
              </a:ext>
            </a:extLst>
          </p:cNvPr>
          <p:cNvSpPr>
            <a:spLocks noGrp="1"/>
          </p:cNvSpPr>
          <p:nvPr/>
        </p:nvSpPr>
        <p:spPr>
          <a:xfrm>
            <a:off x="713232" y="1234440"/>
            <a:ext cx="9646920" cy="2834640"/>
          </a:xfrm>
          <a:prstGeom prst="rect">
            <a:avLst/>
          </a:prstGeom>
          <a:noFill/>
        </p:spPr>
        <p:txBody>
          <a:bodyPr wrap="square" lIns="254" tIns="254" rIns="254" bIns="254" anchor="t">
            <a:normAutofit/>
          </a:bodyPr>
          <a:lstStyle/>
          <a:p>
            <a:pPr marL="0" indent="0">
              <a:buNone/>
            </a:pPr>
            <a:r>
              <a:rPr sz="1650">
                <a:solidFill>
                  <a:srgbClr val="111111"/>
                </a:solidFill>
                <a:latin typeface="Aptos"/>
                <a:ea typeface="Aptos"/>
                <a:cs typeface="Aptos"/>
              </a:rPr>
              <a:t>BrainCo. (2026). Revo 2 overview and parameters. </a:t>
            </a:r>
            <a:r>
              <a:rPr sz="1650">
                <a:solidFill>
                  <a:srgbClr val="111111"/>
                </a:solidFill>
                <a:latin typeface="Aptos"/>
                <a:ea typeface="Aptos"/>
                <a:cs typeface="Aptos"/>
                <a:hlinkClick r:id="rId3"/>
              </a:rPr>
              <a:t>https://www.brainco-hz.com/docs/revolimb-hand/en/revo2/parameters.html</a:t>
            </a:r>
          </a:p>
          <a:p>
            <a:pPr marL="0" indent="0">
              <a:buNone/>
            </a:pPr>
            <a:r>
              <a:rPr sz="1650"/>
              <a:t>BrainCo. (2026). Revo 2 download center: simulation assets. </a:t>
            </a:r>
            <a:r>
              <a:rPr sz="1650">
                <a:hlinkClick r:id="rId4"/>
              </a:rPr>
              <a:t>https://www.brainco-hz.com/docs/revolimb-hand-dev/en/revo2/download.html</a:t>
            </a:r>
          </a:p>
          <a:p>
            <a:pPr marL="0" indent="0">
              <a:buNone/>
            </a:pPr>
            <a:r>
              <a:rPr sz="1650">
                <a:solidFill>
                  <a:srgbClr val="111111"/>
                </a:solidFill>
                <a:latin typeface="Aptos"/>
                <a:ea typeface="Aptos"/>
                <a:cs typeface="Aptos"/>
              </a:rPr>
              <a:t>BrainCoTech. (2026). BrainCo Revo1/2 hand SDK examples. </a:t>
            </a:r>
            <a:r>
              <a:rPr sz="1650">
                <a:solidFill>
                  <a:srgbClr val="111111"/>
                </a:solidFill>
                <a:latin typeface="Aptos"/>
                <a:ea typeface="Aptos"/>
                <a:cs typeface="Aptos"/>
                <a:hlinkClick r:id="rId5"/>
              </a:rPr>
              <a:t>https://github.com/BrainCoTech/brainco-hand-sdk</a:t>
            </a:r>
          </a:p>
          <a:p>
            <a:pPr marL="0" indent="0">
              <a:buNone/>
            </a:pPr>
            <a:r>
              <a:rPr sz="1650"/>
              <a:t>Unitree Robotics. (2026). Serial2DDS service for BrainCo Revo2 Hand. </a:t>
            </a:r>
            <a:r>
              <a:rPr sz="1650">
                <a:hlinkClick r:id="rId6"/>
              </a:rPr>
              <a:t>https://github.com/unitreerobotics/brainco_hand_service</a:t>
            </a:r>
          </a:p>
          <a:p>
            <a:pPr marL="0" indent="0">
              <a:buNone/>
            </a:pPr>
            <a:r>
              <a:rPr sz="1650">
                <a:solidFill>
                  <a:srgbClr val="111111"/>
                </a:solidFill>
                <a:latin typeface="Aptos"/>
                <a:ea typeface="Aptos"/>
                <a:cs typeface="Aptos"/>
              </a:rPr>
              <a:t>MuJoCo. (2026). XML reference. </a:t>
            </a:r>
            <a:r>
              <a:rPr sz="1650">
                <a:solidFill>
                  <a:srgbClr val="111111"/>
                </a:solidFill>
                <a:latin typeface="Aptos"/>
                <a:ea typeface="Aptos"/>
                <a:cs typeface="Aptos"/>
                <a:hlinkClick r:id="rId7"/>
              </a:rPr>
              <a:t>https://mujoco.readthedocs.io/en/latest/XMLreference.html</a:t>
            </a:r>
          </a:p>
          <a:p>
            <a:pPr marL="0" indent="0">
              <a:buNone/>
            </a:pPr>
            <a:r>
              <a:rPr sz="1650"/>
              <a:t>Todorov, E., Erez, T., &amp; Tassa, Y. (2012). MuJoCo: A physics engine for model-based control. </a:t>
            </a:r>
            <a:r>
              <a:rPr sz="1650">
                <a:hlinkClick r:id="rId8"/>
              </a:rPr>
              <a:t>https://doi.org/10.1109/IROS.2012.6386109</a:t>
            </a:r>
          </a:p>
        </p:txBody>
      </p:sp>
      <p:sp>
        <p:nvSpPr>
          <p:cNvPr id="4" name="Text 2">
            <a:extLst>
              <a:ext uri="{FF2B5EF4-FFF2-40B4-BE49-F238E27FC236}">
                <a16:creationId xmlns:a16="http://schemas.microsoft.com/office/drawing/2014/main" id="{909DDAD1-5B46-4346-A58F-CF1939D88EEF}"/>
              </a:ext>
            </a:extLst>
          </p:cNvPr>
          <p:cNvSpPr>
            <a:spLocks noGrp="1"/>
          </p:cNvSpPr>
          <p:nvPr/>
        </p:nvSpPr>
        <p:spPr>
          <a:xfrm>
            <a:off x="10789920" y="6537960"/>
            <a:ext cx="1005840" cy="137160"/>
          </a:xfrm>
          <a:prstGeom prst="rect">
            <a:avLst/>
          </a:prstGeom>
          <a:noFill/>
        </p:spPr>
        <p:txBody>
          <a:bodyPr wrap="square" lIns="0" tIns="0" rIns="0" bIns="0" anchor="ctr">
            <a:normAutofit/>
          </a:bodyPr>
          <a:lstStyle/>
          <a:p>
            <a:pPr marL="0" indent="0" algn="r">
              <a:buNone/>
            </a:pPr>
            <a:r>
              <a:rPr sz="480">
                <a:solidFill>
                  <a:srgbClr val="777777"/>
                </a:solidFill>
                <a:latin typeface="Aptos"/>
                <a:ea typeface="Aptos"/>
                <a:cs typeface="Aptos"/>
              </a:rPr>
              <a:t>Week 20 | 10</a:t>
            </a:r>
          </a:p>
        </p:txBody>
      </p:sp>
    </p:spTree>
    <p:extLst>
      <p:ext uri="{BB962C8B-B14F-4D97-AF65-F5344CB8AC3E}">
        <p14:creationId xmlns:p14="http://schemas.microsoft.com/office/powerpoint/2010/main" val="4328929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824</Words>
  <Application>Microsoft Macintosh PowerPoint</Application>
  <DocSecurity>0</DocSecurity>
  <PresentationFormat>Widescreen</PresentationFormat>
  <Paragraphs>75</Paragraphs>
  <Slides>10</Slides>
  <Notes>10</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Cesar Pascal</cp:lastModifiedBy>
  <cp:revision>3</cp:revision>
  <dcterms:created xsi:type="dcterms:W3CDTF">2026-07-19T16:18:51Z</dcterms:created>
  <dcterms:modified xsi:type="dcterms:W3CDTF">2026-07-19T16:39:40Z</dcterms:modified>
</cp:coreProperties>
</file>