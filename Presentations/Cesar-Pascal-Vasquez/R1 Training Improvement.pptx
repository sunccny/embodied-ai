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7"/>
  </p:normalViewPr>
  <p:slideViewPr>
    <p:cSldViewPr snapToGrid="0">
      <p:cViewPr varScale="1">
        <p:scale>
          <a:sx n="96" d="100"/>
          <a:sy n="96" d="100"/>
        </p:scale>
        <p:origin x="20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update concerns the fixed-pelvis, right-arm R1 + Revo 2 task from the Week 23 project. The design follows the previous weekly presentation. The 85% result is a reused-benchmark result following tuning, not a fresh test estimate.</a:t>
            </a:r>
          </a:p>
          <a:p>
            <a:endParaRPr/>
          </a:p>
          <a:p>
            <a:r>
              <a:t>Sources</a:t>
            </a:r>
          </a:p>
          <a:p>
            <a:r>
              <a:t>/Users/cesarpascal/Documents/Training/week 23 research/results/training_summary.json</a:t>
            </a:r>
          </a:p>
          <a:p>
            <a:r>
              <a:t>/Users/cesarpascal/Documents/Training/week 23 research/results/final_policy_evaluation.json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policy is a residual MLP, so the reference already supplies task structure. The untrained comparison also retains that reference. The ball fixture remains active to 2.90 s, approach contact starts at 1.48 s, and weight compensation continues briefly to 3.00 s. These curriculum aids are part of the task. The experiment does not demonstrate unsupported whole-body manipulation.</a:t>
            </a:r>
          </a:p>
          <a:p>
            <a:endParaRPr/>
          </a:p>
          <a:p>
            <a:r>
              <a:t>Sources</a:t>
            </a:r>
          </a:p>
          <a:p>
            <a:r>
              <a:t>/Users/cesarpascal/Documents/Training/week 23 research/scripts/neural_policy.py</a:t>
            </a:r>
          </a:p>
          <a:p>
            <a:r>
              <a:t>/Users/cesarpascal/Documents/Training/week 23 research/scripts/r1_revo2_env.py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Behavioral cloning minimizes weighted imitation error against a scripted teacher. DAgger adds teacher labels on states visited by a mixture of teacher and network actions. The baseline used batch size 512 and arm/hand output weights 4.0/1.5. Demonstrations randomize geometry, ball properties, control gains, delay and observations. These counts refer to the established baseline, not the later failed challengers.</a:t>
            </a:r>
          </a:p>
          <a:p>
            <a:endParaRPr/>
          </a:p>
          <a:p>
            <a:r>
              <a:t>Sources</a:t>
            </a:r>
          </a:p>
          <a:p>
            <a:r>
              <a:t>/Users/cesarpascal/Documents/Training/week 23 research/results/training_summary.json</a:t>
            </a:r>
          </a:p>
          <a:p>
            <a:r>
              <a:t>/Users/cesarpascal/Documents/Training/week 23 research/scripts/train_policy.py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the video in Slide Show view. This is a newly recorded MuJoCo rollout of the random seed-23 MLP, using the same randomized environment seed 53002 as the next two recordings. It is a single example, not a measured 0% population rate. The reference trajectory remains active.</a:t>
            </a:r>
          </a:p>
          <a:p>
            <a:endParaRPr/>
          </a:p>
          <a:p>
            <a:r>
              <a:t>Sources</a:t>
            </a:r>
          </a:p>
          <a:p>
            <a:r>
              <a:t>/Users/cesarpascal/Documents/Training/r1_improvement_presentation/build/media/evidence.json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192-unit run used 300 teacher episodes and three 70-episode DAgger rounds. The hand-weighted run used 260 teacher episodes and three 75-episode rounds, with hand weight 3.2 instead of 1.5. Both started from initialization rather than fine-tuning baseline weights. Their score drops cannot be attributed to a single changed hyperparameter. The hand-weighted run also reduced reach success to 72%.</a:t>
            </a:r>
          </a:p>
          <a:p>
            <a:endParaRPr/>
          </a:p>
          <a:p>
            <a:r>
              <a:t>Sources</a:t>
            </a:r>
          </a:p>
          <a:p>
            <a:r>
              <a:t>/Users/cesarpascal/Documents/Training/week 23 research/results/challenger_training_summary.json</a:t>
            </a:r>
          </a:p>
          <a:p>
            <a:r>
              <a:t>/Users/cesarpascal/Documents/Training/week 23 research/results/hand_tuned_training_summary.json</a:t>
            </a:r>
          </a:p>
          <a:p>
            <a:r>
              <a:t>/Users/cesarpascal/Documents/Training/week 23 research/results/reward_aligned_evaluation.json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stage flags are marginal metrics and are not all a nested funnel. Full success requires reach, grasp, hold and throw. Release is a forward-speed criterion (&gt;0.35 m/s), not an independent contact-based confirmation of release. Throw also requires &gt;0.16 m forward displacement and target distance &lt;0.50 m.</a:t>
            </a:r>
          </a:p>
          <a:p>
            <a:endParaRPr/>
          </a:p>
          <a:p>
            <a:r>
              <a:t>Sources</a:t>
            </a:r>
          </a:p>
          <a:p>
            <a:r>
              <a:t>/Users/cesarpascal/Documents/Training/week 23 research/results/training_summary.json</a:t>
            </a:r>
          </a:p>
          <a:p>
            <a:r>
              <a:t>/Users/cesarpascal/Documents/Training/week 23 research/scripts/r1_revo2_env.py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baseline succeeds on 81/100 benchmark trials, but this selected recovered case at seed 53002 fails. It reaches, grasps, holds and passes the forward-speed criterion, but throws only 0.142511 m. The adjusted rollout on slide 13 uses the exact same seed, randomization and camera. Selection is illustrative and intentional, not a representative random sample.</a:t>
            </a:r>
          </a:p>
          <a:p>
            <a:endParaRPr/>
          </a:p>
          <a:p>
            <a:r>
              <a:t>Sources</a:t>
            </a:r>
          </a:p>
          <a:p>
            <a:r>
              <a:t>/Users/cesarpascal/Documents/Training/r1_improvement_presentation/build/media/evidence.json</a:t>
            </a:r>
          </a:p>
          <a:p>
            <a:r>
              <a:t>/Users/cesarpascal/Documents/Training/week 23 research/scripts/r1_revo2_env.py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validation baseline was 80%, not 0%. The first ES update collapsed to 0%; the second reached 20%; the remaining updates scored 0%. The checkpoint selection retained the original baseline. This diagnoses an unsuccessful optimizer configuration, not a fundamental limit of reward learning. Reward: 12*success + 2*hold + 1.5*release + bounded distance/contact terms. Search used 6 antithetic directions, 3 episodes per direction, sigma 0.04 and learning rate 0.055.</a:t>
            </a:r>
          </a:p>
          <a:p>
            <a:endParaRPr/>
          </a:p>
          <a:p>
            <a:r>
              <a:t>Sources</a:t>
            </a:r>
          </a:p>
          <a:p>
            <a:r>
              <a:t>/Users/cesarpascal/Documents/Training/week 23 research/results/reward_alignment.json</a:t>
            </a:r>
          </a:p>
          <a:p>
            <a:r>
              <a:t>/Users/cesarpascal/Documents/Training/week 23 research/scripts/reward_finetune.py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sweeps used seeds 53000–53049. Damping all residuals weakened performance, and the tested larger global gain performed much worse. The hand-only sweep matched but did not exceed the corresponding 76% baseline. This is evidence about the tested gain values, not proof of an optimum.</a:t>
            </a:r>
          </a:p>
          <a:p>
            <a:endParaRPr/>
          </a:p>
          <a:p>
            <a:r>
              <a:t>Sources</a:t>
            </a:r>
          </a:p>
          <a:p>
            <a:r>
              <a:t>/Users/cesarpascal/Documents/Training/week 23 research/results/residual_gain_0.70.json</a:t>
            </a:r>
          </a:p>
          <a:p>
            <a:r>
              <a:t>/Users/cesarpascal/Documents/Training/week 23 research/results/residual_gain_0.85.json</a:t>
            </a:r>
          </a:p>
          <a:p>
            <a:r>
              <a:t>/Users/cesarpascal/Documents/Training/week 23 research/results/residual_gain_1.00.json</a:t>
            </a:r>
          </a:p>
          <a:p>
            <a:r>
              <a:t>/Users/cesarpascal/Documents/Training/week 23 research/results/residual_gain_1.15.json</a:t>
            </a:r>
          </a:p>
          <a:p>
            <a:r>
              <a:t>/Users/cesarpascal/Documents/Training/week 23 research/results/hand_gain_0.75.json</a:t>
            </a:r>
          </a:p>
          <a:p>
            <a:r>
              <a:t>/Users/cesarpascal/Documents/Training/week 23 research/results/hand_gain_0.90.json</a:t>
            </a:r>
          </a:p>
          <a:p>
            <a:r>
              <a:t>/Users/cesarpascal/Documents/Training/week 23 research/results/hand_gain_1.10.json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decode_actions adds grasp_bias to outputs 5–10 when argmax(observation[1:7]) is 1, 2 or 3, then clips actions to [-1,1]. Nominal phase boundaries are 1.45, 3.00, 3.45 and 3.80 s. The extra bias ends at windup_end=3.80 s; the existing hand opening schedule begins at 3.88 s. No arm output offset is applied, but changed contacts can alter future state and therefore later network outputs. 0.08/2=0.04 of joint span, approximately 0.042–0.061 rad for the active hand ranges, before saturation. Checkpoint arrays verified identical.</a:t>
            </a:r>
          </a:p>
          <a:p>
            <a:endParaRPr/>
          </a:p>
          <a:p>
            <a:r>
              <a:t>Sources</a:t>
            </a:r>
          </a:p>
          <a:p>
            <a:r>
              <a:t>/Users/cesarpascal/Documents/Training/r1_improvement_presentation/build/media/evidence.json</a:t>
            </a:r>
          </a:p>
          <a:p>
            <a:r>
              <a:t>/Users/cesarpascal/Documents/Training/week 23 research/scripts/neural_policy.py</a:t>
            </a:r>
          </a:p>
          <a:p>
            <a:r>
              <a:t>/Users/cesarpascal/Documents/Training/week 23 research/scripts/r1_revo2_env.py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positive-bias sweep provides direct evidence for the small closure adjustment on these tested seeds. Selection used task success from MuJoCo rollouts, not gradients that trained new network weights. The winning +0.08 setting then scored 85/100 on the overlapping full benchmark.</a:t>
            </a:r>
          </a:p>
          <a:p>
            <a:endParaRPr/>
          </a:p>
          <a:p>
            <a:r>
              <a:t>Sources</a:t>
            </a:r>
          </a:p>
          <a:p>
            <a:r>
              <a:t>/Users/cesarpascal/Documents/Training/week 23 research/results/grasp_bias_-0.04.json</a:t>
            </a:r>
          </a:p>
          <a:p>
            <a:r>
              <a:t>/Users/cesarpascal/Documents/Training/week 23 research/results/grasp_bias_0.04.json</a:t>
            </a:r>
          </a:p>
          <a:p>
            <a:r>
              <a:t>/Users/cesarpascal/Documents/Training/week 23 research/results/grasp_bias_0.08.json</a:t>
            </a:r>
          </a:p>
          <a:p>
            <a:r>
              <a:t>/Users/cesarpascal/Documents/Training/week 23 research/results/grasp_bias_0.12.json</a:t>
            </a:r>
          </a:p>
          <a:p>
            <a:r>
              <a:t>/Users/cesarpascal/Documents/Training/week 23 research/results/residual_gain_1.00.json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Avoid claiming that every stage improves. Full-benchmark reach declines 100→99% and grasp 97→96%. Hold/release improve 88→91%, average peak forward speed 0.5808→0.6060 m/s and average forward distance 0.1971→0.2088 m. The contact-retention mechanism is a plausible interpretation, not a force measurement. The recorded seed 53002 already held successfully before the change, but its throw crosses the distance threshold afterward.</a:t>
            </a:r>
          </a:p>
          <a:p>
            <a:endParaRPr/>
          </a:p>
          <a:p>
            <a:r>
              <a:t>Sources</a:t>
            </a:r>
          </a:p>
          <a:p>
            <a:r>
              <a:t>/Users/cesarpascal/Documents/Training/week 23 research/results/reward_aligned_evaluation.json</a:t>
            </a:r>
          </a:p>
          <a:p>
            <a:r>
              <a:t>/Users/cesarpascal/Documents/Training/week 23 research/results/final_policy_evaluation.json</a:t>
            </a:r>
          </a:p>
          <a:p>
            <a:r>
              <a:t>/Users/cesarpascal/Documents/Training/week 23 research/scripts/neural_policy.py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improved checkpoint has bias +0.08 and the same w1/b1/w2/b2/w3/b3 arrays as the saved 81% baseline. This video is a fresh MuJoCo recording, not the older 81% video relabeled. It throws 0.167201 m on seed 53002 versus the baseline 0.142511 m. Both have successful reach, grasp, hold and forward-speed release flags. The clip is a selected recovered case.</a:t>
            </a:r>
          </a:p>
          <a:p>
            <a:endParaRPr/>
          </a:p>
          <a:p>
            <a:r>
              <a:t>Sources</a:t>
            </a:r>
          </a:p>
          <a:p>
            <a:r>
              <a:t>/Users/cesarpascal/Documents/Training/r1_improvement_presentation/build/media/evidence.json</a:t>
            </a:r>
          </a:p>
          <a:p>
            <a:r>
              <a:t>/Users/cesarpascal/Documents/Training/week 23 research/results/final_policy_evaluation.json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Paired comparison uses identical seeds 53000–53099. Recovered: 53002, 53017, 53018, 53033, 53036, 53039. Regressed: 53005, 53010. This is a net 4/100 improvement and a descriptive 21.1% reduction in failures (19 to 15). Do not call the reused tuning benchmark an independent held-out final test, claim statistical significance, or report improved reach/grasp. Sources include both per-episode arrays and the derived pair counts.</a:t>
            </a:r>
          </a:p>
          <a:p>
            <a:endParaRPr/>
          </a:p>
          <a:p>
            <a:r>
              <a:t>Sources</a:t>
            </a:r>
          </a:p>
          <a:p>
            <a:r>
              <a:t>/Users/cesarpascal/Documents/Training/week 23 research/results/reward_aligned_evaluation.json</a:t>
            </a:r>
          </a:p>
          <a:p>
            <a:r>
              <a:t>/Users/cesarpascal/Documents/Training/week 23 research/results/final_policy_evaluation.json</a:t>
            </a:r>
          </a:p>
          <a:p>
            <a:r>
              <a:t>/Users/cesarpascal/Documents/Training/r1_improvement_presentation/build/paired_results.json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Joint logs and their summaries correspond exactly to the embedded videos. They include 5 controlled R1 arm joints and 6 active hand joints at 40 Hz, not every passive joint or every physics substep. The maximum recorded limit excess is 0.000972537 rad across the three clips; this is within the earlier declared 0.001 rad simulation tolerance, but it is still a small strict limit exceedance. Real hardware signs, calibration, velocity/torque limits, and the approximate flange remain unverified. The fixed-pelvis and curriculum fixture also limit transfer claims.</a:t>
            </a:r>
          </a:p>
          <a:p>
            <a:endParaRPr/>
          </a:p>
          <a:p>
            <a:r>
              <a:t>Reproduction: build/render_evidence.py generates the videos and build/media/evidence.json records checkpoint SHA-256 hashes. No new training or promotion occurred for this presentation.</a:t>
            </a:r>
          </a:p>
          <a:p>
            <a:endParaRPr/>
          </a:p>
          <a:p>
            <a:r>
              <a:t>Sources</a:t>
            </a:r>
          </a:p>
          <a:p>
            <a:r>
              <a:t>/Users/cesarpascal/Documents/Training/r1_improvement_presentation/build/media/evidence.json</a:t>
            </a:r>
          </a:p>
          <a:p>
            <a:r>
              <a:t>/Users/cesarpascal/Documents/Training/r1_improvement_presentation/build/media/improved_joints.csv</a:t>
            </a:r>
          </a:p>
          <a:p>
            <a:r>
              <a:t>/Users/cesarpascal/Documents/Training/week 23 research/model/r1_revo2_reach_throw.xml</a:t>
            </a:r>
          </a:p>
          <a:p>
            <a:r>
              <a:t>/Users/cesarpascal/Documents/Training/week 23 research/README.md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week-title">
            <a:extLst>
              <a:ext uri="{FF2B5EF4-FFF2-40B4-BE49-F238E27FC236}">
                <a16:creationId xmlns:a16="http://schemas.microsoft.com/office/drawing/2014/main" id="{EA03E4E4-7525-42F3-A5AA-8D615ACDAE98}"/>
              </a:ext>
            </a:extLst>
          </p:cNvPr>
          <p:cNvSpPr>
            <a:spLocks noGrp="1"/>
          </p:cNvSpPr>
          <p:nvPr/>
        </p:nvSpPr>
        <p:spPr>
          <a:xfrm>
            <a:off x="2286000" y="2381250"/>
            <a:ext cx="7620000" cy="857250"/>
          </a:xfrm>
          <a:prstGeom prst="rect">
            <a:avLst/>
          </a:prstGeom>
          <a:noFill/>
          <a:ln w="0">
            <a:noFill/>
            <a:prstDash val="solid"/>
          </a:ln>
        </p:spPr>
        <p:txBody>
          <a:bodyPr lIns="0" tIns="0" rIns="0" bIns="0" anchor="ctr">
            <a:noAutofit/>
          </a:bodyPr>
          <a:lstStyle/>
          <a:p>
            <a:pPr algn="ctr">
              <a:buNone/>
              <a:defRPr sz="3900" b="1" i="0">
                <a:solidFill>
                  <a:srgbClr val="17365D"/>
                </a:solidFill>
                <a:latin typeface="Times New Roman"/>
                <a:ea typeface="Times New Roman"/>
                <a:cs typeface="Times New Roman"/>
              </a:defRPr>
            </a:pPr>
            <a:r>
              <a:rPr sz="3900" b="1" i="0">
                <a:solidFill>
                  <a:srgbClr val="17365D"/>
                </a:solidFill>
                <a:latin typeface="Times New Roman"/>
                <a:ea typeface="Times New Roman"/>
                <a:cs typeface="Times New Roman"/>
              </a:rPr>
              <a:t>R1 TRAINING UPDATE</a:t>
            </a:r>
          </a:p>
        </p:txBody>
      </p:sp>
      <p:sp>
        <p:nvSpPr>
          <p:cNvPr id="2" name="subtitle">
            <a:extLst>
              <a:ext uri="{FF2B5EF4-FFF2-40B4-BE49-F238E27FC236}">
                <a16:creationId xmlns:a16="http://schemas.microsoft.com/office/drawing/2014/main" id="{F21B08F8-B1DC-4635-8C31-12AD6E64A701}"/>
              </a:ext>
            </a:extLst>
          </p:cNvPr>
          <p:cNvSpPr>
            <a:spLocks noGrp="1"/>
          </p:cNvSpPr>
          <p:nvPr/>
        </p:nvSpPr>
        <p:spPr>
          <a:xfrm>
            <a:off x="2095500" y="3333750"/>
            <a:ext cx="8001000" cy="523875"/>
          </a:xfrm>
          <a:prstGeom prst="rect">
            <a:avLst/>
          </a:prstGeom>
          <a:noFill/>
          <a:ln w="0">
            <a:noFill/>
            <a:prstDash val="solid"/>
          </a:ln>
        </p:spPr>
        <p:txBody>
          <a:bodyPr lIns="0" tIns="0" rIns="0" bIns="0" anchor="t">
            <a:noAutofit/>
          </a:bodyPr>
          <a:lstStyle/>
          <a:p>
            <a:pPr algn="ctr">
              <a:buNone/>
              <a:defRPr sz="2175" b="0" i="0">
                <a:solidFill>
                  <a:srgbClr val="161616"/>
                </a:solidFill>
                <a:latin typeface="Times New Roman"/>
                <a:ea typeface="Times New Roman"/>
                <a:cs typeface="Times New Roman"/>
              </a:defRPr>
            </a:pPr>
            <a:r>
              <a:rPr sz="2175" b="0" i="0">
                <a:solidFill>
                  <a:srgbClr val="161616"/>
                </a:solidFill>
                <a:latin typeface="Times New Roman"/>
                <a:ea typeface="Times New Roman"/>
                <a:cs typeface="Times New Roman"/>
              </a:rPr>
              <a:t>How a grasp adjustment raised benchmark success from 81% to 85%</a:t>
            </a:r>
          </a:p>
        </p:txBody>
      </p:sp>
      <p:sp>
        <p:nvSpPr>
          <p:cNvPr id="3" name="author">
            <a:extLst>
              <a:ext uri="{FF2B5EF4-FFF2-40B4-BE49-F238E27FC236}">
                <a16:creationId xmlns:a16="http://schemas.microsoft.com/office/drawing/2014/main" id="{878C14DA-53BB-47FA-A68F-BD47B88EECC0}"/>
              </a:ext>
            </a:extLst>
          </p:cNvPr>
          <p:cNvSpPr>
            <a:spLocks noGrp="1"/>
          </p:cNvSpPr>
          <p:nvPr/>
        </p:nvSpPr>
        <p:spPr>
          <a:xfrm>
            <a:off x="3429000" y="4095750"/>
            <a:ext cx="5334000" cy="714375"/>
          </a:xfrm>
          <a:prstGeom prst="rect">
            <a:avLst/>
          </a:prstGeom>
          <a:noFill/>
          <a:ln w="0">
            <a:noFill/>
            <a:prstDash val="solid"/>
          </a:ln>
        </p:spPr>
        <p:txBody>
          <a:bodyPr lIns="0" tIns="0" rIns="0" bIns="0" anchor="t">
            <a:noAutofit/>
          </a:bodyPr>
          <a:lstStyle/>
          <a:p>
            <a:pPr algn="ctr">
              <a:buNone/>
              <a:defRPr sz="1725" b="0" i="0">
                <a:solidFill>
                  <a:srgbClr val="666666"/>
                </a:solidFill>
                <a:latin typeface="Times New Roman"/>
                <a:ea typeface="Times New Roman"/>
                <a:cs typeface="Times New Roman"/>
              </a:defRPr>
            </a:pPr>
            <a:r>
              <a:rPr sz="1725" b="0" i="0">
                <a:solidFill>
                  <a:srgbClr val="666666"/>
                </a:solidFill>
                <a:latin typeface="Times New Roman"/>
                <a:ea typeface="Times New Roman"/>
                <a:cs typeface="Times New Roman"/>
              </a:rPr>
              <a:t>Cesar A. Pascal Vasquez</a:t>
            </a:r>
          </a:p>
          <a:p>
            <a:pPr algn="ctr">
              <a:buNone/>
              <a:defRPr sz="1725" b="0" i="0">
                <a:solidFill>
                  <a:srgbClr val="666666"/>
                </a:solidFill>
                <a:latin typeface="Times New Roman"/>
                <a:ea typeface="Times New Roman"/>
                <a:cs typeface="Times New Roman"/>
              </a:defRPr>
            </a:pPr>
            <a:r>
              <a:rPr sz="1725" b="0" i="0">
                <a:solidFill>
                  <a:srgbClr val="666666"/>
                </a:solidFill>
                <a:latin typeface="Times New Roman"/>
                <a:ea typeface="Times New Roman"/>
                <a:cs typeface="Times New Roman"/>
              </a:rPr>
              <a:t>October 1, 2026</a:t>
            </a:r>
          </a:p>
        </p:txBody>
      </p:sp>
      <p:sp>
        <p:nvSpPr>
          <p:cNvPr id="4" name="footer">
            <a:extLst>
              <a:ext uri="{FF2B5EF4-FFF2-40B4-BE49-F238E27FC236}">
                <a16:creationId xmlns:a16="http://schemas.microsoft.com/office/drawing/2014/main" id="{3630E2CB-9F40-4014-BE03-8C34CD17495F}"/>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1</a:t>
            </a:r>
          </a:p>
        </p:txBody>
      </p:sp>
    </p:spTree>
    <p:extLst>
      <p:ext uri="{BB962C8B-B14F-4D97-AF65-F5344CB8AC3E}">
        <p14:creationId xmlns:p14="http://schemas.microsoft.com/office/powerpoint/2010/main" val="1620139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13EA7CC9-2658-411E-A996-C873C7A925ED}"/>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The R1 learns corrections to a reference motion</a:t>
            </a:r>
          </a:p>
        </p:txBody>
      </p:sp>
      <p:sp>
        <p:nvSpPr>
          <p:cNvPr id="2" name="outcome-body">
            <a:extLst>
              <a:ext uri="{FF2B5EF4-FFF2-40B4-BE49-F238E27FC236}">
                <a16:creationId xmlns:a16="http://schemas.microsoft.com/office/drawing/2014/main" id="{816D87B6-A8AD-418A-8158-EC2A6AD79007}"/>
              </a:ext>
            </a:extLst>
          </p:cNvPr>
          <p:cNvSpPr>
            <a:spLocks noGrp="1"/>
          </p:cNvSpPr>
          <p:nvPr/>
        </p:nvSpPr>
        <p:spPr>
          <a:xfrm>
            <a:off x="762000" y="1476375"/>
            <a:ext cx="5143500" cy="195262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The fixed-pelvis R1 uses its right arm and Revo 2 hand to reach, grasp, hold, and throw a ball.</a:t>
            </a:r>
          </a:p>
          <a:p>
            <a:pPr algn="l">
              <a:buNone/>
              <a:defRPr sz="2250" b="0" i="0">
                <a:solidFill>
                  <a:srgbClr val="161616"/>
                </a:solidFill>
                <a:latin typeface="Times New Roman"/>
                <a:ea typeface="Times New Roman"/>
                <a:cs typeface="Times New Roman"/>
              </a:defRPr>
            </a:pPr>
            <a:endParaRPr sz="2100" b="0" i="0">
              <a:solidFill>
                <a:srgbClr val="161616"/>
              </a:solidFill>
              <a:latin typeface="Times New Roman"/>
              <a:ea typeface="Times New Roman"/>
              <a:cs typeface="Times New Roman"/>
            </a:endParaRPr>
          </a:p>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The CPU-trained network controls 5 arm joints and 6 active hand joints.</a:t>
            </a:r>
          </a:p>
        </p:txBody>
      </p:sp>
      <p:sp>
        <p:nvSpPr>
          <p:cNvPr id="3" name="outcome-callout">
            <a:extLst>
              <a:ext uri="{FF2B5EF4-FFF2-40B4-BE49-F238E27FC236}">
                <a16:creationId xmlns:a16="http://schemas.microsoft.com/office/drawing/2014/main" id="{950CDB9B-2447-40C1-812A-ACB0F6293F5A}"/>
              </a:ext>
            </a:extLst>
          </p:cNvPr>
          <p:cNvSpPr>
            <a:spLocks noGrp="1"/>
          </p:cNvSpPr>
          <p:nvPr/>
        </p:nvSpPr>
        <p:spPr>
          <a:xfrm>
            <a:off x="762000" y="3667125"/>
            <a:ext cx="5143500" cy="1485900"/>
          </a:xfrm>
          <a:prstGeom prst="rect">
            <a:avLst/>
          </a:prstGeom>
          <a:noFill/>
          <a:ln w="0">
            <a:noFill/>
            <a:prstDash val="solid"/>
          </a:ln>
        </p:spPr>
        <p:txBody>
          <a:bodyPr lIns="0" tIns="0" rIns="0" bIns="0" anchor="t">
            <a:noAutofit/>
          </a:bodyPr>
          <a:lstStyle/>
          <a:p>
            <a:pPr algn="l">
              <a:buNone/>
              <a:defRPr sz="2025" b="1" i="0">
                <a:solidFill>
                  <a:srgbClr val="315A9E"/>
                </a:solidFill>
                <a:latin typeface="Times New Roman"/>
                <a:ea typeface="Times New Roman"/>
                <a:cs typeface="Times New Roman"/>
              </a:defRPr>
            </a:pPr>
            <a:r>
              <a:rPr sz="2025" b="1" i="0">
                <a:solidFill>
                  <a:srgbClr val="315A9E"/>
                </a:solidFill>
                <a:latin typeface="Times New Roman"/>
                <a:ea typeface="Times New Roman"/>
                <a:cs typeface="Times New Roman"/>
              </a:rPr>
              <a:t>51 inputs, two 128-unit tanh layers, 11 outputs.</a:t>
            </a:r>
          </a:p>
          <a:p>
            <a:pPr algn="l">
              <a:buNone/>
              <a:defRPr sz="2100" b="1" i="0">
                <a:solidFill>
                  <a:srgbClr val="2F5597"/>
                </a:solidFill>
                <a:latin typeface="Times New Roman"/>
                <a:ea typeface="Times New Roman"/>
                <a:cs typeface="Times New Roman"/>
              </a:defRPr>
            </a:pPr>
            <a:endParaRPr sz="2025" b="1" i="0">
              <a:solidFill>
                <a:srgbClr val="315A9E"/>
              </a:solidFill>
              <a:latin typeface="Times New Roman"/>
              <a:ea typeface="Times New Roman"/>
              <a:cs typeface="Times New Roman"/>
            </a:endParaRPr>
          </a:p>
          <a:p>
            <a:pPr algn="l">
              <a:buNone/>
              <a:defRPr sz="2025" b="1" i="0">
                <a:solidFill>
                  <a:srgbClr val="315A9E"/>
                </a:solidFill>
                <a:latin typeface="Times New Roman"/>
                <a:ea typeface="Times New Roman"/>
                <a:cs typeface="Times New Roman"/>
              </a:defRPr>
            </a:pPr>
            <a:r>
              <a:rPr sz="2025" b="1" i="0">
                <a:solidFill>
                  <a:srgbClr val="315A9E"/>
                </a:solidFill>
                <a:latin typeface="Times New Roman"/>
                <a:ea typeface="Times New Roman"/>
                <a:cs typeface="Times New Roman"/>
              </a:rPr>
              <a:t>The learned corrections adjust a timed reference at 40 Hz.</a:t>
            </a:r>
          </a:p>
        </p:txBody>
      </p:sp>
      <p:pic>
        <p:nvPicPr>
          <p:cNvPr id="12" name="Picture 11"/>
          <p:cNvPicPr>
            <a:picLocks noChangeAspect="1"/>
          </p:cNvPicPr>
          <p:nvPr/>
        </p:nvPicPr>
        <p:blipFill>
          <a:blip r:embed="rId3"/>
          <a:stretch/>
        </p:blipFill>
        <p:spPr>
          <a:xfrm>
            <a:off x="6572250" y="1619250"/>
            <a:ext cx="4762500" cy="3571875"/>
          </a:xfrm>
          <a:prstGeom prst="rect">
            <a:avLst/>
          </a:prstGeom>
        </p:spPr>
      </p:pic>
      <p:sp>
        <p:nvSpPr>
          <p:cNvPr id="5" name="Rectangle 4">
            <a:extLst>
              <a:ext uri="{FF2B5EF4-FFF2-40B4-BE49-F238E27FC236}">
                <a16:creationId xmlns:a16="http://schemas.microsoft.com/office/drawing/2014/main" id="{E66D4FB7-5E90-4941-B502-BEC1D13C9E5B}"/>
              </a:ext>
            </a:extLst>
          </p:cNvPr>
          <p:cNvSpPr>
            <a:spLocks noGrp="1"/>
          </p:cNvSpPr>
          <p:nvPr/>
        </p:nvSpPr>
        <p:spPr>
          <a:xfrm>
            <a:off x="6572250" y="5543550"/>
            <a:ext cx="4762500" cy="266700"/>
          </a:xfrm>
          <a:prstGeom prst="rect">
            <a:avLst/>
          </a:prstGeom>
          <a:noFill/>
          <a:ln w="0">
            <a:noFill/>
            <a:prstDash val="solid"/>
          </a:ln>
        </p:spPr>
        <p:txBody>
          <a:bodyPr lIns="0" tIns="0" rIns="0" bIns="0" anchor="t">
            <a:normAutofit/>
          </a:bodyPr>
          <a:lstStyle/>
          <a:p>
            <a:pPr algn="ctr">
              <a:buNone/>
              <a:defRPr sz="1500" b="0" i="1">
                <a:solidFill>
                  <a:srgbClr val="666666"/>
                </a:solidFill>
                <a:latin typeface="Times New Roman"/>
                <a:ea typeface="Times New Roman"/>
                <a:cs typeface="Times New Roman"/>
              </a:defRPr>
            </a:pPr>
            <a:r>
              <a:rPr sz="1500" b="0" i="1">
                <a:solidFill>
                  <a:srgbClr val="666666"/>
                </a:solidFill>
                <a:latin typeface="Times New Roman"/>
                <a:ea typeface="Times New Roman"/>
                <a:cs typeface="Times New Roman"/>
              </a:rPr>
              <a:t>Right-arm model, rendered in MuJoCo</a:t>
            </a:r>
          </a:p>
        </p:txBody>
      </p:sp>
      <p:sp>
        <p:nvSpPr>
          <p:cNvPr id="6" name="footer">
            <a:extLst>
              <a:ext uri="{FF2B5EF4-FFF2-40B4-BE49-F238E27FC236}">
                <a16:creationId xmlns:a16="http://schemas.microsoft.com/office/drawing/2014/main" id="{6D9ADE48-D478-4D93-8A8C-965E5FE0710E}"/>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2</a:t>
            </a:r>
          </a:p>
        </p:txBody>
      </p:sp>
    </p:spTree>
    <p:extLst>
      <p:ext uri="{BB962C8B-B14F-4D97-AF65-F5344CB8AC3E}">
        <p14:creationId xmlns:p14="http://schemas.microsoft.com/office/powerpoint/2010/main" val="1107151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9565148-4EF2-40B4-820D-2643A4AE4EB5}"/>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The baseline learns from demonstrations and corrections</a:t>
            </a:r>
          </a:p>
        </p:txBody>
      </p:sp>
      <p:sp>
        <p:nvSpPr>
          <p:cNvPr id="2" name="Rectangle 1">
            <a:extLst>
              <a:ext uri="{FF2B5EF4-FFF2-40B4-BE49-F238E27FC236}">
                <a16:creationId xmlns:a16="http://schemas.microsoft.com/office/drawing/2014/main" id="{94051B74-1FDA-4046-A9BD-2211F439B67B}"/>
              </a:ext>
            </a:extLst>
          </p:cNvPr>
          <p:cNvSpPr>
            <a:spLocks noGrp="1"/>
          </p:cNvSpPr>
          <p:nvPr/>
        </p:nvSpPr>
        <p:spPr>
          <a:xfrm>
            <a:off x="952500" y="1428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1</a:t>
            </a:r>
          </a:p>
        </p:txBody>
      </p:sp>
      <p:sp>
        <p:nvSpPr>
          <p:cNvPr id="3" name="training-step-1">
            <a:extLst>
              <a:ext uri="{FF2B5EF4-FFF2-40B4-BE49-F238E27FC236}">
                <a16:creationId xmlns:a16="http://schemas.microsoft.com/office/drawing/2014/main" id="{931ED5D0-6C8E-498A-811E-6C6C55CE2F9A}"/>
              </a:ext>
            </a:extLst>
          </p:cNvPr>
          <p:cNvSpPr>
            <a:spLocks noGrp="1"/>
          </p:cNvSpPr>
          <p:nvPr/>
        </p:nvSpPr>
        <p:spPr>
          <a:xfrm>
            <a:off x="1809750" y="1457325"/>
            <a:ext cx="9334500" cy="52387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Collect 240 randomized teacher episodes with scripted IK actions.</a:t>
            </a:r>
          </a:p>
        </p:txBody>
      </p:sp>
      <p:sp>
        <p:nvSpPr>
          <p:cNvPr id="4" name="Rectangle 3">
            <a:extLst>
              <a:ext uri="{FF2B5EF4-FFF2-40B4-BE49-F238E27FC236}">
                <a16:creationId xmlns:a16="http://schemas.microsoft.com/office/drawing/2014/main" id="{5C3D9081-30A7-4527-B690-6069EF4EE283}"/>
              </a:ext>
            </a:extLst>
          </p:cNvPr>
          <p:cNvSpPr>
            <a:spLocks noGrp="1"/>
          </p:cNvSpPr>
          <p:nvPr/>
        </p:nvSpPr>
        <p:spPr>
          <a:xfrm>
            <a:off x="952500" y="2381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2</a:t>
            </a:r>
          </a:p>
        </p:txBody>
      </p:sp>
      <p:sp>
        <p:nvSpPr>
          <p:cNvPr id="5" name="training-step-2">
            <a:extLst>
              <a:ext uri="{FF2B5EF4-FFF2-40B4-BE49-F238E27FC236}">
                <a16:creationId xmlns:a16="http://schemas.microsoft.com/office/drawing/2014/main" id="{883B8CFB-A20D-48D0-8756-B7B45880EE3F}"/>
              </a:ext>
            </a:extLst>
          </p:cNvPr>
          <p:cNvSpPr>
            <a:spLocks noGrp="1"/>
          </p:cNvSpPr>
          <p:nvPr/>
        </p:nvSpPr>
        <p:spPr>
          <a:xfrm>
            <a:off x="1809750" y="2409825"/>
            <a:ext cx="9334500" cy="52387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Fit the residual network with 3,600 Adam updates on CPU.</a:t>
            </a:r>
          </a:p>
        </p:txBody>
      </p:sp>
      <p:sp>
        <p:nvSpPr>
          <p:cNvPr id="6" name="Rectangle 5">
            <a:extLst>
              <a:ext uri="{FF2B5EF4-FFF2-40B4-BE49-F238E27FC236}">
                <a16:creationId xmlns:a16="http://schemas.microsoft.com/office/drawing/2014/main" id="{1274C684-0237-48F4-BE67-1048B64327F5}"/>
              </a:ext>
            </a:extLst>
          </p:cNvPr>
          <p:cNvSpPr>
            <a:spLocks noGrp="1"/>
          </p:cNvSpPr>
          <p:nvPr/>
        </p:nvSpPr>
        <p:spPr>
          <a:xfrm>
            <a:off x="952500" y="3333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3</a:t>
            </a:r>
          </a:p>
        </p:txBody>
      </p:sp>
      <p:sp>
        <p:nvSpPr>
          <p:cNvPr id="7" name="training-step-3">
            <a:extLst>
              <a:ext uri="{FF2B5EF4-FFF2-40B4-BE49-F238E27FC236}">
                <a16:creationId xmlns:a16="http://schemas.microsoft.com/office/drawing/2014/main" id="{3615F39E-43A1-4D78-B1CA-B14942EC498B}"/>
              </a:ext>
            </a:extLst>
          </p:cNvPr>
          <p:cNvSpPr>
            <a:spLocks noGrp="1"/>
          </p:cNvSpPr>
          <p:nvPr/>
        </p:nvSpPr>
        <p:spPr>
          <a:xfrm>
            <a:off x="1809750" y="3362325"/>
            <a:ext cx="9334500" cy="52387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Add two DAgger rounds with 60 episodes and 1,800 updates each.</a:t>
            </a:r>
          </a:p>
        </p:txBody>
      </p:sp>
      <p:sp>
        <p:nvSpPr>
          <p:cNvPr id="8" name="Rectangle 7">
            <a:extLst>
              <a:ext uri="{FF2B5EF4-FFF2-40B4-BE49-F238E27FC236}">
                <a16:creationId xmlns:a16="http://schemas.microsoft.com/office/drawing/2014/main" id="{DC2AC943-BB28-4F10-B649-20DE4563811D}"/>
              </a:ext>
            </a:extLst>
          </p:cNvPr>
          <p:cNvSpPr>
            <a:spLocks noGrp="1"/>
          </p:cNvSpPr>
          <p:nvPr/>
        </p:nvSpPr>
        <p:spPr>
          <a:xfrm>
            <a:off x="952500" y="4286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4</a:t>
            </a:r>
          </a:p>
        </p:txBody>
      </p:sp>
      <p:sp>
        <p:nvSpPr>
          <p:cNvPr id="9" name="training-step-4">
            <a:extLst>
              <a:ext uri="{FF2B5EF4-FFF2-40B4-BE49-F238E27FC236}">
                <a16:creationId xmlns:a16="http://schemas.microsoft.com/office/drawing/2014/main" id="{4D711129-EDA4-4206-AD87-30D6A2B6800B}"/>
              </a:ext>
            </a:extLst>
          </p:cNvPr>
          <p:cNvSpPr>
            <a:spLocks noGrp="1"/>
          </p:cNvSpPr>
          <p:nvPr/>
        </p:nvSpPr>
        <p:spPr>
          <a:xfrm>
            <a:off x="1809750" y="4314825"/>
            <a:ext cx="9334500" cy="52387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Balance the six motion phases when sampling training batches.</a:t>
            </a:r>
          </a:p>
        </p:txBody>
      </p:sp>
      <p:sp>
        <p:nvSpPr>
          <p:cNvPr id="10" name="Rectangle 9">
            <a:extLst>
              <a:ext uri="{FF2B5EF4-FFF2-40B4-BE49-F238E27FC236}">
                <a16:creationId xmlns:a16="http://schemas.microsoft.com/office/drawing/2014/main" id="{5FFEA5B4-5337-4794-83F4-EB07021C5BC0}"/>
              </a:ext>
            </a:extLst>
          </p:cNvPr>
          <p:cNvSpPr>
            <a:spLocks noGrp="1"/>
          </p:cNvSpPr>
          <p:nvPr/>
        </p:nvSpPr>
        <p:spPr>
          <a:xfrm>
            <a:off x="952500" y="5381625"/>
            <a:ext cx="10287000" cy="704850"/>
          </a:xfrm>
          <a:prstGeom prst="rect">
            <a:avLst/>
          </a:prstGeom>
          <a:noFill/>
          <a:ln w="0">
            <a:noFill/>
            <a:prstDash val="solid"/>
          </a:ln>
        </p:spPr>
        <p:txBody>
          <a:bodyPr lIns="0" tIns="0" rIns="0" bIns="0" anchor="t">
            <a:normAutofit/>
          </a:bodyPr>
          <a:lstStyle/>
          <a:p>
            <a:pPr algn="ctr">
              <a:buNone/>
              <a:defRPr sz="2025" b="1" i="0">
                <a:solidFill>
                  <a:srgbClr val="17365D"/>
                </a:solidFill>
                <a:latin typeface="Times New Roman"/>
                <a:ea typeface="Times New Roman"/>
                <a:cs typeface="Times New Roman"/>
              </a:defRPr>
            </a:pPr>
            <a:r>
              <a:rPr sz="2025" b="1" i="0">
                <a:solidFill>
                  <a:srgbClr val="17365D"/>
                </a:solidFill>
                <a:latin typeface="Times New Roman"/>
                <a:ea typeface="Times New Roman"/>
                <a:cs typeface="Times New Roman"/>
              </a:rPr>
              <a:t>63,985 state/action samples produced the 81% baseline</a:t>
            </a:r>
          </a:p>
        </p:txBody>
      </p:sp>
      <p:sp>
        <p:nvSpPr>
          <p:cNvPr id="11" name="footer">
            <a:extLst>
              <a:ext uri="{FF2B5EF4-FFF2-40B4-BE49-F238E27FC236}">
                <a16:creationId xmlns:a16="http://schemas.microsoft.com/office/drawing/2014/main" id="{03D0C70F-75E1-4FC8-9B85-23EC88BD6139}"/>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3</a:t>
            </a:r>
          </a:p>
        </p:txBody>
      </p:sp>
    </p:spTree>
    <p:extLst>
      <p:ext uri="{BB962C8B-B14F-4D97-AF65-F5344CB8AC3E}">
        <p14:creationId xmlns:p14="http://schemas.microsoft.com/office/powerpoint/2010/main" val="395702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2C4BAC05-2014-4342-9B5B-8C51DCB9D2FC}"/>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Before training: the random network loses the ball</a:t>
            </a:r>
          </a:p>
        </p:txBody>
      </p:sp>
      <p:sp>
        <p:nvSpPr>
          <p:cNvPr id="9" name="footer">
            <a:extLst>
              <a:ext uri="{FF2B5EF4-FFF2-40B4-BE49-F238E27FC236}">
                <a16:creationId xmlns:a16="http://schemas.microsoft.com/office/drawing/2014/main" id="{A9ACB5E6-3FA5-400B-A678-F07D14070FE7}"/>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4</a:t>
            </a:r>
          </a:p>
        </p:txBody>
      </p:sp>
      <p:pic>
        <p:nvPicPr>
          <p:cNvPr id="20" name="Picture 1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571500" y="1333500"/>
            <a:ext cx="6858000" cy="5143500"/>
          </a:xfrm>
          <a:prstGeom prst="rect">
            <a:avLst/>
          </a:prstGeom>
        </p:spPr>
      </p:pic>
      <p:sp>
        <p:nvSpPr>
          <p:cNvPr id="12" name="Rectangle 11">
            <a:extLst>
              <a:ext uri="{FF2B5EF4-FFF2-40B4-BE49-F238E27FC236}">
                <a16:creationId xmlns:a16="http://schemas.microsoft.com/office/drawing/2014/main" id="{E4AFBABB-86EF-40B0-8C8D-A586CDFFAFAD}"/>
              </a:ext>
            </a:extLst>
          </p:cNvPr>
          <p:cNvSpPr>
            <a:spLocks noGrp="1"/>
          </p:cNvSpPr>
          <p:nvPr/>
        </p:nvSpPr>
        <p:spPr>
          <a:xfrm>
            <a:off x="7858125" y="1600200"/>
            <a:ext cx="3429000" cy="762000"/>
          </a:xfrm>
          <a:prstGeom prst="rect">
            <a:avLst/>
          </a:prstGeom>
          <a:noFill/>
          <a:ln w="0">
            <a:noFill/>
          </a:ln>
        </p:spPr>
        <p:txBody>
          <a:bodyPr anchor="ctr">
            <a:noAutofit/>
          </a:bodyPr>
          <a:lstStyle/>
          <a:p>
            <a:pPr algn="ctr">
              <a:defRPr sz="4650" b="1">
                <a:solidFill>
                  <a:srgbClr val="315A9E"/>
                </a:solidFill>
                <a:latin typeface="Times New Roman"/>
                <a:ea typeface="Times New Roman"/>
                <a:cs typeface="Times New Roman"/>
              </a:defRPr>
            </a:pPr>
            <a:r>
              <a:rPr sz="4650" b="1">
                <a:solidFill>
                  <a:srgbClr val="315A9E"/>
                </a:solidFill>
                <a:latin typeface="Times New Roman"/>
                <a:ea typeface="Times New Roman"/>
                <a:cs typeface="Times New Roman"/>
              </a:rPr>
              <a:t>FAIL</a:t>
            </a:r>
          </a:p>
        </p:txBody>
      </p:sp>
      <p:sp>
        <p:nvSpPr>
          <p:cNvPr id="13" name="Rectangle 12">
            <a:extLst>
              <a:ext uri="{FF2B5EF4-FFF2-40B4-BE49-F238E27FC236}">
                <a16:creationId xmlns:a16="http://schemas.microsoft.com/office/drawing/2014/main" id="{5141539C-AA95-4DA9-A6B1-2DBB234DF4C6}"/>
              </a:ext>
            </a:extLst>
          </p:cNvPr>
          <p:cNvSpPr>
            <a:spLocks noGrp="1"/>
          </p:cNvSpPr>
          <p:nvPr/>
        </p:nvSpPr>
        <p:spPr>
          <a:xfrm>
            <a:off x="7667625" y="2381250"/>
            <a:ext cx="3714750" cy="552450"/>
          </a:xfrm>
          <a:prstGeom prst="rect">
            <a:avLst/>
          </a:prstGeom>
          <a:noFill/>
          <a:ln w="0">
            <a:noFill/>
          </a:ln>
        </p:spPr>
        <p:txBody>
          <a:bodyPr anchor="ctr">
            <a:noAutofit/>
          </a:bodyPr>
          <a:lstStyle/>
          <a:p>
            <a:pPr algn="ctr">
              <a:defRPr sz="1875" b="0">
                <a:solidFill>
                  <a:srgbClr val="161616"/>
                </a:solidFill>
                <a:latin typeface="Times New Roman"/>
                <a:ea typeface="Times New Roman"/>
                <a:cs typeface="Times New Roman"/>
              </a:defRPr>
            </a:pPr>
            <a:r>
              <a:rPr sz="1875" b="0">
                <a:solidFill>
                  <a:srgbClr val="161616"/>
                </a:solidFill>
                <a:latin typeface="Times New Roman"/>
                <a:ea typeface="Times New Roman"/>
                <a:cs typeface="Times New Roman"/>
              </a:rPr>
              <a:t>one illustrative episode</a:t>
            </a:r>
          </a:p>
        </p:txBody>
      </p:sp>
      <p:sp>
        <p:nvSpPr>
          <p:cNvPr id="14" name="Rectangle 13">
            <a:extLst>
              <a:ext uri="{FF2B5EF4-FFF2-40B4-BE49-F238E27FC236}">
                <a16:creationId xmlns:a16="http://schemas.microsoft.com/office/drawing/2014/main" id="{D17B2632-79C0-4ADB-8321-33B6DD7D869D}"/>
              </a:ext>
            </a:extLst>
          </p:cNvPr>
          <p:cNvSpPr>
            <a:spLocks noGrp="1"/>
          </p:cNvSpPr>
          <p:nvPr/>
        </p:nvSpPr>
        <p:spPr>
          <a:xfrm>
            <a:off x="7762875" y="3209925"/>
            <a:ext cx="3619500" cy="619125"/>
          </a:xfrm>
          <a:prstGeom prst="rect">
            <a:avLst/>
          </a:prstGeom>
          <a:noFill/>
          <a:ln w="0">
            <a:noFill/>
          </a:ln>
        </p:spPr>
        <p:txBody>
          <a:bodyPr anchor="ctr">
            <a:noAutofit/>
          </a:bodyPr>
          <a:lstStyle/>
          <a:p>
            <a:pPr algn="ctr">
              <a:defRPr sz="3150" b="1">
                <a:solidFill>
                  <a:srgbClr val="17365D"/>
                </a:solidFill>
                <a:latin typeface="Times New Roman"/>
                <a:ea typeface="Times New Roman"/>
                <a:cs typeface="Times New Roman"/>
              </a:defRPr>
            </a:pPr>
            <a:r>
              <a:rPr sz="3150" b="1">
                <a:solidFill>
                  <a:srgbClr val="17365D"/>
                </a:solidFill>
                <a:latin typeface="Times New Roman"/>
                <a:ea typeface="Times New Roman"/>
                <a:cs typeface="Times New Roman"/>
              </a:rPr>
              <a:t>33.0 mm</a:t>
            </a:r>
          </a:p>
        </p:txBody>
      </p:sp>
      <p:sp>
        <p:nvSpPr>
          <p:cNvPr id="15" name="Rectangle 14">
            <a:extLst>
              <a:ext uri="{FF2B5EF4-FFF2-40B4-BE49-F238E27FC236}">
                <a16:creationId xmlns:a16="http://schemas.microsoft.com/office/drawing/2014/main" id="{1B701326-116C-4D4D-ADAC-AE913E88C0A3}"/>
              </a:ext>
            </a:extLst>
          </p:cNvPr>
          <p:cNvSpPr>
            <a:spLocks noGrp="1"/>
          </p:cNvSpPr>
          <p:nvPr/>
        </p:nvSpPr>
        <p:spPr>
          <a:xfrm>
            <a:off x="7667625" y="3838575"/>
            <a:ext cx="3714750" cy="619125"/>
          </a:xfrm>
          <a:prstGeom prst="rect">
            <a:avLst/>
          </a:prstGeom>
          <a:noFill/>
          <a:ln w="0">
            <a:noFill/>
          </a:ln>
        </p:spPr>
        <p:txBody>
          <a:bodyPr anchor="ctr">
            <a:noAutofit/>
          </a:bodyPr>
          <a:lstStyle/>
          <a:p>
            <a:pPr algn="ctr">
              <a:defRPr sz="1875" b="0">
                <a:solidFill>
                  <a:srgbClr val="161616"/>
                </a:solidFill>
                <a:latin typeface="Times New Roman"/>
                <a:ea typeface="Times New Roman"/>
                <a:cs typeface="Times New Roman"/>
              </a:defRPr>
            </a:pPr>
            <a:r>
              <a:rPr sz="1875" b="0">
                <a:solidFill>
                  <a:srgbClr val="161616"/>
                </a:solidFill>
                <a:latin typeface="Times New Roman"/>
                <a:ea typeface="Times New Roman"/>
                <a:cs typeface="Times New Roman"/>
              </a:rPr>
              <a:t>minimum reach error</a:t>
            </a:r>
          </a:p>
        </p:txBody>
      </p:sp>
      <p:sp>
        <p:nvSpPr>
          <p:cNvPr id="16" name="Rectangle 15">
            <a:extLst>
              <a:ext uri="{FF2B5EF4-FFF2-40B4-BE49-F238E27FC236}">
                <a16:creationId xmlns:a16="http://schemas.microsoft.com/office/drawing/2014/main" id="{7A23E7CA-1CE2-4D29-A374-AC7AEFFDA9F3}"/>
              </a:ext>
            </a:extLst>
          </p:cNvPr>
          <p:cNvSpPr>
            <a:spLocks noGrp="1"/>
          </p:cNvSpPr>
          <p:nvPr/>
        </p:nvSpPr>
        <p:spPr>
          <a:xfrm>
            <a:off x="7762875" y="4762500"/>
            <a:ext cx="3619500" cy="971550"/>
          </a:xfrm>
          <a:prstGeom prst="rect">
            <a:avLst/>
          </a:prstGeom>
          <a:noFill/>
          <a:ln w="0">
            <a:noFill/>
          </a:ln>
        </p:spPr>
        <p:txBody>
          <a:bodyPr anchor="ctr">
            <a:noAutofit/>
          </a:bodyPr>
          <a:lstStyle/>
          <a:p>
            <a:pPr algn="ctr">
              <a:defRPr sz="1800" b="1">
                <a:solidFill>
                  <a:srgbClr val="17365D"/>
                </a:solidFill>
                <a:latin typeface="Times New Roman"/>
                <a:ea typeface="Times New Roman"/>
                <a:cs typeface="Times New Roman"/>
              </a:defRPr>
            </a:pPr>
            <a:r>
              <a:rPr sz="1800" b="1">
                <a:solidFill>
                  <a:srgbClr val="17365D"/>
                </a:solidFill>
                <a:latin typeface="Times New Roman"/>
                <a:ea typeface="Times New Roman"/>
                <a:cs typeface="Times New Roman"/>
              </a:rPr>
              <a:t>No grasp or throw</a:t>
            </a:r>
          </a:p>
          <a:p>
            <a:pPr algn="ctr">
              <a:defRPr sz="1800" b="1">
                <a:solidFill>
                  <a:srgbClr val="17365D"/>
                </a:solidFill>
                <a:latin typeface="Times New Roman"/>
                <a:ea typeface="Times New Roman"/>
                <a:cs typeface="Times New Roman"/>
              </a:defRPr>
            </a:pPr>
            <a:r>
              <a:rPr sz="1800" b="1">
                <a:solidFill>
                  <a:srgbClr val="17365D"/>
                </a:solidFill>
                <a:latin typeface="Times New Roman"/>
                <a:ea typeface="Times New Roman"/>
                <a:cs typeface="Times New Roman"/>
              </a:rPr>
              <a:t>Randomized seed 53002</a:t>
            </a:r>
          </a:p>
        </p:txBody>
      </p:sp>
      <p:sp>
        <p:nvSpPr>
          <p:cNvPr id="17" name="Rectangle 16">
            <a:extLst>
              <a:ext uri="{FF2B5EF4-FFF2-40B4-BE49-F238E27FC236}">
                <a16:creationId xmlns:a16="http://schemas.microsoft.com/office/drawing/2014/main" id="{0F8A2BF2-3BD8-4C23-BF7B-6C9825985FF4}"/>
              </a:ext>
            </a:extLst>
          </p:cNvPr>
          <p:cNvSpPr>
            <a:spLocks noGrp="1"/>
          </p:cNvSpPr>
          <p:nvPr/>
        </p:nvSpPr>
        <p:spPr>
          <a:xfrm>
            <a:off x="7905750" y="5905500"/>
            <a:ext cx="3333750" cy="304800"/>
          </a:xfrm>
          <a:prstGeom prst="rect">
            <a:avLst/>
          </a:prstGeom>
          <a:noFill/>
          <a:ln w="0">
            <a:noFill/>
          </a:ln>
        </p:spPr>
        <p:txBody>
          <a:bodyPr anchor="ctr">
            <a:noAutofit/>
          </a:bodyPr>
          <a:lstStyle/>
          <a:p>
            <a:pPr algn="ctr">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Click video to play</a:t>
            </a:r>
          </a:p>
        </p:txBody>
      </p:sp>
    </p:spTree>
    <p:extLst>
      <p:ext uri="{BB962C8B-B14F-4D97-AF65-F5344CB8AC3E}">
        <p14:creationId xmlns:p14="http://schemas.microsoft.com/office/powerpoint/2010/main" val="1250237655"/>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75"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0"/>
                </p:tgtEl>
              </p:cMediaNode>
            </p:video>
            <p:seq concurrent="1" prevAc="none"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2C4BAC05-2014-4342-9B5B-8C51DCB9D2FC}"/>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The training challengers did not improve the baseline</a:t>
            </a:r>
          </a:p>
        </p:txBody>
      </p:sp>
      <p:sp>
        <p:nvSpPr>
          <p:cNvPr id="9" name="footer">
            <a:extLst>
              <a:ext uri="{FF2B5EF4-FFF2-40B4-BE49-F238E27FC236}">
                <a16:creationId xmlns:a16="http://schemas.microsoft.com/office/drawing/2014/main" id="{A9ACB5E6-3FA5-400B-A678-F07D14070FE7}"/>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5</a:t>
            </a:r>
          </a:p>
        </p:txBody>
      </p:sp>
      <p:graphicFrame>
        <p:nvGraphicFramePr>
          <p:cNvPr id="15" name="Table 14"/>
          <p:cNvGraphicFramePr/>
          <p:nvPr/>
        </p:nvGraphicFramePr>
        <p:xfrm>
          <a:off x="762000" y="1504950"/>
          <a:ext cx="10668000" cy="3524250"/>
        </p:xfrm>
        <a:graphic>
          <a:graphicData uri="http://schemas.openxmlformats.org/drawingml/2006/table">
            <a:tbl>
              <a:tblPr/>
              <a:tblGrid>
                <a:gridCol w="276225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704850">
                <a:tc>
                  <a:txBody>
                    <a:bodyPr/>
                    <a:lstStyle/>
                    <a:p>
                      <a:r>
                        <a:rPr sz="1875" b="1">
                          <a:solidFill>
                            <a:srgbClr val="FFFFFF"/>
                          </a:solidFill>
                          <a:latin typeface="Times New Roman"/>
                          <a:ea typeface="Times New Roman"/>
                          <a:cs typeface="Times New Roman"/>
                        </a:rPr>
                        <a:t>Experiment</a:t>
                      </a:r>
                    </a:p>
                  </a:txBody>
                  <a:tcPr marL="114300" marR="114300" marT="95250" marB="95250">
                    <a:solidFill>
                      <a:srgbClr val="17365D"/>
                    </a:solidFill>
                  </a:tcPr>
                </a:tc>
                <a:tc>
                  <a:txBody>
                    <a:bodyPr/>
                    <a:lstStyle/>
                    <a:p>
                      <a:r>
                        <a:rPr sz="1875" b="1">
                          <a:solidFill>
                            <a:srgbClr val="FFFFFF"/>
                          </a:solidFill>
                          <a:latin typeface="Times New Roman"/>
                          <a:ea typeface="Times New Roman"/>
                          <a:cs typeface="Times New Roman"/>
                        </a:rPr>
                        <a:t>Training / adjustment</a:t>
                      </a:r>
                    </a:p>
                  </a:txBody>
                  <a:tcPr marL="114300" marR="114300" marT="95250" marB="95250">
                    <a:solidFill>
                      <a:srgbClr val="17365D"/>
                    </a:solidFill>
                  </a:tcPr>
                </a:tc>
                <a:tc>
                  <a:txBody>
                    <a:bodyPr/>
                    <a:lstStyle/>
                    <a:p>
                      <a:r>
                        <a:rPr sz="1875" b="1">
                          <a:solidFill>
                            <a:srgbClr val="FFFFFF"/>
                          </a:solidFill>
                          <a:latin typeface="Times New Roman"/>
                          <a:ea typeface="Times New Roman"/>
                          <a:cs typeface="Times New Roman"/>
                        </a:rPr>
                        <a:t>Success</a:t>
                      </a:r>
                    </a:p>
                  </a:txBody>
                  <a:tcPr marL="114300" marR="114300" marT="95250" marB="95250">
                    <a:solidFill>
                      <a:srgbClr val="17365D"/>
                    </a:solidFill>
                  </a:tcPr>
                </a:tc>
                <a:extLst>
                  <a:ext uri="{0D108BD9-81ED-4DB2-BD59-A6C34878D82A}">
                    <a16:rowId xmlns:a16="http://schemas.microsoft.com/office/drawing/2014/main" val="10000"/>
                  </a:ext>
                </a:extLst>
              </a:tr>
              <a:tr h="704850">
                <a:tc>
                  <a:txBody>
                    <a:bodyPr/>
                    <a:lstStyle/>
                    <a:p>
                      <a:r>
                        <a:rPr sz="1875" b="0">
                          <a:solidFill>
                            <a:srgbClr val="161616"/>
                          </a:solidFill>
                          <a:latin typeface="Times New Roman"/>
                          <a:ea typeface="Times New Roman"/>
                          <a:cs typeface="Times New Roman"/>
                        </a:rPr>
                        <a:t>Baseline</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128-unit layers, 63,985 samples</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81 / 100</a:t>
                      </a:r>
                    </a:p>
                  </a:txBody>
                  <a:tcPr marL="114300" marR="114300" marT="95250" marB="95250">
                    <a:solidFill>
                      <a:srgbClr val="FFFFFF"/>
                    </a:solidFill>
                  </a:tcPr>
                </a:tc>
                <a:extLst>
                  <a:ext uri="{0D108BD9-81ED-4DB2-BD59-A6C34878D82A}">
                    <a16:rowId xmlns:a16="http://schemas.microsoft.com/office/drawing/2014/main" val="10001"/>
                  </a:ext>
                </a:extLst>
              </a:tr>
              <a:tr h="704850">
                <a:tc>
                  <a:txBody>
                    <a:bodyPr/>
                    <a:lstStyle/>
                    <a:p>
                      <a:r>
                        <a:rPr sz="1875" b="0">
                          <a:solidFill>
                            <a:srgbClr val="161616"/>
                          </a:solidFill>
                          <a:latin typeface="Times New Roman"/>
                          <a:ea typeface="Times New Roman"/>
                          <a:cs typeface="Times New Roman"/>
                        </a:rPr>
                        <a:t>Larger network</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192-unit layers, 91,091 samples</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69 / 100</a:t>
                      </a:r>
                    </a:p>
                  </a:txBody>
                  <a:tcPr marL="114300" marR="114300" marT="95250" marB="95250">
                    <a:solidFill>
                      <a:srgbClr val="F2F5F9"/>
                    </a:solidFill>
                  </a:tcPr>
                </a:tc>
                <a:extLst>
                  <a:ext uri="{0D108BD9-81ED-4DB2-BD59-A6C34878D82A}">
                    <a16:rowId xmlns:a16="http://schemas.microsoft.com/office/drawing/2014/main" val="10002"/>
                  </a:ext>
                </a:extLst>
              </a:tr>
              <a:tr h="704850">
                <a:tc>
                  <a:txBody>
                    <a:bodyPr/>
                    <a:lstStyle/>
                    <a:p>
                      <a:r>
                        <a:rPr sz="1875" b="0">
                          <a:solidFill>
                            <a:srgbClr val="161616"/>
                          </a:solidFill>
                          <a:latin typeface="Times New Roman"/>
                          <a:ea typeface="Times New Roman"/>
                          <a:cs typeface="Times New Roman"/>
                        </a:rPr>
                        <a:t>More hand loss weight</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128-unit layers, 87,121 samples</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45 / 100</a:t>
                      </a:r>
                    </a:p>
                  </a:txBody>
                  <a:tcPr marL="114300" marR="114300" marT="95250" marB="95250">
                    <a:solidFill>
                      <a:srgbClr val="FFFFFF"/>
                    </a:solidFill>
                  </a:tcPr>
                </a:tc>
                <a:extLst>
                  <a:ext uri="{0D108BD9-81ED-4DB2-BD59-A6C34878D82A}">
                    <a16:rowId xmlns:a16="http://schemas.microsoft.com/office/drawing/2014/main" val="10003"/>
                  </a:ext>
                </a:extLst>
              </a:tr>
              <a:tr h="704850">
                <a:tc>
                  <a:txBody>
                    <a:bodyPr/>
                    <a:lstStyle/>
                    <a:p>
                      <a:r>
                        <a:rPr sz="1875" b="0">
                          <a:solidFill>
                            <a:srgbClr val="161616"/>
                          </a:solidFill>
                          <a:latin typeface="Times New Roman"/>
                          <a:ea typeface="Times New Roman"/>
                          <a:cs typeface="Times New Roman"/>
                        </a:rPr>
                        <a:t>Reward search, best saved</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Original weights retained</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81 / 100</a:t>
                      </a:r>
                    </a:p>
                  </a:txBody>
                  <a:tcPr marL="114300" marR="114300" marT="95250" marB="95250">
                    <a:solidFill>
                      <a:srgbClr val="F2F5F9"/>
                    </a:solidFill>
                  </a:tcPr>
                </a:tc>
                <a:extLst>
                  <a:ext uri="{0D108BD9-81ED-4DB2-BD59-A6C34878D82A}">
                    <a16:rowId xmlns:a16="http://schemas.microsoft.com/office/drawing/2014/main" val="10004"/>
                  </a:ext>
                </a:extLst>
              </a:tr>
            </a:tbl>
          </a:graphicData>
        </a:graphic>
      </p:graphicFrame>
      <p:sp>
        <p:nvSpPr>
          <p:cNvPr id="12" name="Rectangle 11">
            <a:extLst>
              <a:ext uri="{FF2B5EF4-FFF2-40B4-BE49-F238E27FC236}">
                <a16:creationId xmlns:a16="http://schemas.microsoft.com/office/drawing/2014/main" id="{4BC703BD-48CC-4301-902A-35D756DCF195}"/>
              </a:ext>
            </a:extLst>
          </p:cNvPr>
          <p:cNvSpPr>
            <a:spLocks noGrp="1"/>
          </p:cNvSpPr>
          <p:nvPr/>
        </p:nvSpPr>
        <p:spPr>
          <a:xfrm>
            <a:off x="762000" y="5791200"/>
            <a:ext cx="10668000" cy="457200"/>
          </a:xfrm>
          <a:prstGeom prst="rect">
            <a:avLst/>
          </a:prstGeom>
          <a:noFill/>
          <a:ln w="0">
            <a:noFill/>
          </a:ln>
        </p:spPr>
        <p:txBody>
          <a:bodyPr anchor="ctr">
            <a:noAutofit/>
          </a:bodyPr>
          <a:lstStyle/>
          <a:p>
            <a:pPr algn="l">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Same 100 randomized benchmark seeds. The challengers changed multiple settings.</a:t>
            </a:r>
          </a:p>
        </p:txBody>
      </p:sp>
    </p:spTree>
    <p:extLst>
      <p:ext uri="{BB962C8B-B14F-4D97-AF65-F5344CB8AC3E}">
        <p14:creationId xmlns:p14="http://schemas.microsoft.com/office/powerpoint/2010/main" val="1250237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13EA7CC9-2658-411E-A996-C873C7A925ED}"/>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The baseline reaches well but loses task completion</a:t>
            </a:r>
          </a:p>
        </p:txBody>
      </p:sp>
      <p:sp>
        <p:nvSpPr>
          <p:cNvPr id="2" name="outcome-body">
            <a:extLst>
              <a:ext uri="{FF2B5EF4-FFF2-40B4-BE49-F238E27FC236}">
                <a16:creationId xmlns:a16="http://schemas.microsoft.com/office/drawing/2014/main" id="{816D87B6-A8AD-418A-8158-EC2A6AD79007}"/>
              </a:ext>
            </a:extLst>
          </p:cNvPr>
          <p:cNvSpPr>
            <a:spLocks noGrp="1"/>
          </p:cNvSpPr>
          <p:nvPr/>
        </p:nvSpPr>
        <p:spPr>
          <a:xfrm>
            <a:off x="762000" y="1476375"/>
            <a:ext cx="5143500" cy="195262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On the 100-episode benchmark, the baseline reaches in 100% of trials and grasps in 97%.</a:t>
            </a:r>
          </a:p>
          <a:p>
            <a:pPr algn="l">
              <a:buNone/>
              <a:defRPr sz="2250" b="0" i="0">
                <a:solidFill>
                  <a:srgbClr val="161616"/>
                </a:solidFill>
                <a:latin typeface="Times New Roman"/>
                <a:ea typeface="Times New Roman"/>
                <a:cs typeface="Times New Roman"/>
              </a:defRPr>
            </a:pPr>
            <a:endParaRPr sz="2100" b="0" i="0">
              <a:solidFill>
                <a:srgbClr val="161616"/>
              </a:solidFill>
              <a:latin typeface="Times New Roman"/>
              <a:ea typeface="Times New Roman"/>
              <a:cs typeface="Times New Roman"/>
            </a:endParaRPr>
          </a:p>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Hold and release each reach 88%. Full task success falls to 81%.</a:t>
            </a:r>
          </a:p>
        </p:txBody>
      </p:sp>
      <p:sp>
        <p:nvSpPr>
          <p:cNvPr id="3" name="outcome-callout">
            <a:extLst>
              <a:ext uri="{FF2B5EF4-FFF2-40B4-BE49-F238E27FC236}">
                <a16:creationId xmlns:a16="http://schemas.microsoft.com/office/drawing/2014/main" id="{950CDB9B-2447-40C1-812A-ACB0F6293F5A}"/>
              </a:ext>
            </a:extLst>
          </p:cNvPr>
          <p:cNvSpPr>
            <a:spLocks noGrp="1"/>
          </p:cNvSpPr>
          <p:nvPr/>
        </p:nvSpPr>
        <p:spPr>
          <a:xfrm>
            <a:off x="762000" y="3524250"/>
            <a:ext cx="5143500" cy="1190625"/>
          </a:xfrm>
          <a:prstGeom prst="rect">
            <a:avLst/>
          </a:prstGeom>
          <a:noFill/>
          <a:ln w="0">
            <a:noFill/>
            <a:prstDash val="solid"/>
          </a:ln>
        </p:spPr>
        <p:txBody>
          <a:bodyPr lIns="0" tIns="0" rIns="0" bIns="0" anchor="t">
            <a:noAutofit/>
          </a:bodyPr>
          <a:lstStyle/>
          <a:p>
            <a:pPr algn="l">
              <a:buNone/>
              <a:defRPr sz="2100" b="1" i="0">
                <a:solidFill>
                  <a:srgbClr val="315A9E"/>
                </a:solidFill>
                <a:latin typeface="Times New Roman"/>
                <a:ea typeface="Times New Roman"/>
                <a:cs typeface="Times New Roman"/>
              </a:defRPr>
            </a:pPr>
            <a:r>
              <a:rPr sz="2100" b="1" i="0">
                <a:solidFill>
                  <a:srgbClr val="315A9E"/>
                </a:solidFill>
                <a:latin typeface="Times New Roman"/>
                <a:ea typeface="Times New Roman"/>
                <a:cs typeface="Times New Roman"/>
              </a:rPr>
              <a:t>The evidence points toward retention and the throw stage as useful tuning targets.</a:t>
            </a:r>
          </a:p>
        </p:txBody>
      </p:sp>
      <p:pic>
        <p:nvPicPr>
          <p:cNvPr id="12" name="Picture 11"/>
          <p:cNvPicPr>
            <a:picLocks noChangeAspect="1"/>
          </p:cNvPicPr>
          <p:nvPr/>
        </p:nvPicPr>
        <p:blipFill>
          <a:blip r:embed="rId3"/>
          <a:stretch/>
        </p:blipFill>
        <p:spPr>
          <a:xfrm>
            <a:off x="6572250" y="1619250"/>
            <a:ext cx="4762500" cy="3571875"/>
          </a:xfrm>
          <a:prstGeom prst="rect">
            <a:avLst/>
          </a:prstGeom>
        </p:spPr>
      </p:pic>
      <p:sp>
        <p:nvSpPr>
          <p:cNvPr id="5" name="Rectangle 4">
            <a:extLst>
              <a:ext uri="{FF2B5EF4-FFF2-40B4-BE49-F238E27FC236}">
                <a16:creationId xmlns:a16="http://schemas.microsoft.com/office/drawing/2014/main" id="{E66D4FB7-5E90-4941-B502-BEC1D13C9E5B}"/>
              </a:ext>
            </a:extLst>
          </p:cNvPr>
          <p:cNvSpPr>
            <a:spLocks noGrp="1"/>
          </p:cNvSpPr>
          <p:nvPr/>
        </p:nvSpPr>
        <p:spPr>
          <a:xfrm>
            <a:off x="6572250" y="5543550"/>
            <a:ext cx="4762500" cy="266700"/>
          </a:xfrm>
          <a:prstGeom prst="rect">
            <a:avLst/>
          </a:prstGeom>
          <a:noFill/>
          <a:ln w="0">
            <a:noFill/>
            <a:prstDash val="solid"/>
          </a:ln>
        </p:spPr>
        <p:txBody>
          <a:bodyPr lIns="0" tIns="0" rIns="0" bIns="0" anchor="t">
            <a:normAutofit/>
          </a:bodyPr>
          <a:lstStyle/>
          <a:p>
            <a:pPr algn="ctr">
              <a:buNone/>
              <a:defRPr sz="1500" b="0" i="1">
                <a:solidFill>
                  <a:srgbClr val="666666"/>
                </a:solidFill>
                <a:latin typeface="Times New Roman"/>
                <a:ea typeface="Times New Roman"/>
                <a:cs typeface="Times New Roman"/>
              </a:defRPr>
            </a:pPr>
            <a:r>
              <a:rPr sz="1500" b="0" i="1">
                <a:solidFill>
                  <a:srgbClr val="666666"/>
                </a:solidFill>
                <a:latin typeface="Times New Roman"/>
                <a:ea typeface="Times New Roman"/>
                <a:cs typeface="Times New Roman"/>
              </a:rPr>
              <a:t>Baseline grasp in the recorded example</a:t>
            </a:r>
          </a:p>
        </p:txBody>
      </p:sp>
      <p:sp>
        <p:nvSpPr>
          <p:cNvPr id="6" name="footer">
            <a:extLst>
              <a:ext uri="{FF2B5EF4-FFF2-40B4-BE49-F238E27FC236}">
                <a16:creationId xmlns:a16="http://schemas.microsoft.com/office/drawing/2014/main" id="{6D9ADE48-D478-4D93-8A8C-965E5FE0710E}"/>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6</a:t>
            </a:r>
          </a:p>
        </p:txBody>
      </p:sp>
    </p:spTree>
    <p:extLst>
      <p:ext uri="{BB962C8B-B14F-4D97-AF65-F5344CB8AC3E}">
        <p14:creationId xmlns:p14="http://schemas.microsoft.com/office/powerpoint/2010/main" val="1107151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D08DBE3F-C285-4A18-AE6A-58FCB2521ED2}"/>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Before adjustment: the baseline throw falls short</a:t>
            </a:r>
          </a:p>
        </p:txBody>
      </p:sp>
      <p:sp>
        <p:nvSpPr>
          <p:cNvPr id="8" name="footer">
            <a:extLst>
              <a:ext uri="{FF2B5EF4-FFF2-40B4-BE49-F238E27FC236}">
                <a16:creationId xmlns:a16="http://schemas.microsoft.com/office/drawing/2014/main" id="{B11A8BE7-0AB7-427E-B894-00E949701934}"/>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7</a:t>
            </a:r>
          </a:p>
        </p:txBody>
      </p:sp>
      <p:pic>
        <p:nvPicPr>
          <p:cNvPr id="19" name="Picture 1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571500" y="1333500"/>
            <a:ext cx="6858000" cy="5143500"/>
          </a:xfrm>
          <a:prstGeom prst="rect">
            <a:avLst/>
          </a:prstGeom>
        </p:spPr>
      </p:pic>
      <p:sp>
        <p:nvSpPr>
          <p:cNvPr id="11" name="Rectangle 10">
            <a:extLst>
              <a:ext uri="{FF2B5EF4-FFF2-40B4-BE49-F238E27FC236}">
                <a16:creationId xmlns:a16="http://schemas.microsoft.com/office/drawing/2014/main" id="{0662B53F-075B-4156-B5FE-FC3362EFEC04}"/>
              </a:ext>
            </a:extLst>
          </p:cNvPr>
          <p:cNvSpPr>
            <a:spLocks noGrp="1"/>
          </p:cNvSpPr>
          <p:nvPr/>
        </p:nvSpPr>
        <p:spPr>
          <a:xfrm>
            <a:off x="7858125" y="1600200"/>
            <a:ext cx="3429000" cy="762000"/>
          </a:xfrm>
          <a:prstGeom prst="rect">
            <a:avLst/>
          </a:prstGeom>
          <a:noFill/>
          <a:ln w="0">
            <a:noFill/>
          </a:ln>
        </p:spPr>
        <p:txBody>
          <a:bodyPr anchor="ctr">
            <a:noAutofit/>
          </a:bodyPr>
          <a:lstStyle/>
          <a:p>
            <a:pPr algn="ctr">
              <a:defRPr sz="4650" b="1">
                <a:solidFill>
                  <a:srgbClr val="315A9E"/>
                </a:solidFill>
                <a:latin typeface="Times New Roman"/>
                <a:ea typeface="Times New Roman"/>
                <a:cs typeface="Times New Roman"/>
              </a:defRPr>
            </a:pPr>
            <a:r>
              <a:rPr sz="4650" b="1">
                <a:solidFill>
                  <a:srgbClr val="315A9E"/>
                </a:solidFill>
                <a:latin typeface="Times New Roman"/>
                <a:ea typeface="Times New Roman"/>
                <a:cs typeface="Times New Roman"/>
              </a:rPr>
              <a:t>14.3 cm</a:t>
            </a:r>
          </a:p>
        </p:txBody>
      </p:sp>
      <p:sp>
        <p:nvSpPr>
          <p:cNvPr id="12" name="Rectangle 11">
            <a:extLst>
              <a:ext uri="{FF2B5EF4-FFF2-40B4-BE49-F238E27FC236}">
                <a16:creationId xmlns:a16="http://schemas.microsoft.com/office/drawing/2014/main" id="{ADEADA80-0A11-4C87-BBBC-51C46A152585}"/>
              </a:ext>
            </a:extLst>
          </p:cNvPr>
          <p:cNvSpPr>
            <a:spLocks noGrp="1"/>
          </p:cNvSpPr>
          <p:nvPr/>
        </p:nvSpPr>
        <p:spPr>
          <a:xfrm>
            <a:off x="7667625" y="2381250"/>
            <a:ext cx="3714750" cy="552450"/>
          </a:xfrm>
          <a:prstGeom prst="rect">
            <a:avLst/>
          </a:prstGeom>
          <a:noFill/>
          <a:ln w="0">
            <a:noFill/>
          </a:ln>
        </p:spPr>
        <p:txBody>
          <a:bodyPr anchor="ctr">
            <a:noAutofit/>
          </a:bodyPr>
          <a:lstStyle/>
          <a:p>
            <a:pPr algn="ctr">
              <a:defRPr sz="1875" b="0">
                <a:solidFill>
                  <a:srgbClr val="161616"/>
                </a:solidFill>
                <a:latin typeface="Times New Roman"/>
                <a:ea typeface="Times New Roman"/>
                <a:cs typeface="Times New Roman"/>
              </a:defRPr>
            </a:pPr>
            <a:r>
              <a:rPr sz="1875" b="0">
                <a:solidFill>
                  <a:srgbClr val="161616"/>
                </a:solidFill>
                <a:latin typeface="Times New Roman"/>
                <a:ea typeface="Times New Roman"/>
                <a:cs typeface="Times New Roman"/>
              </a:rPr>
              <a:t>forward distance in this clip</a:t>
            </a:r>
          </a:p>
        </p:txBody>
      </p:sp>
      <p:sp>
        <p:nvSpPr>
          <p:cNvPr id="13" name="Rectangle 12">
            <a:extLst>
              <a:ext uri="{FF2B5EF4-FFF2-40B4-BE49-F238E27FC236}">
                <a16:creationId xmlns:a16="http://schemas.microsoft.com/office/drawing/2014/main" id="{CDC65FD3-2C0A-4649-97EC-5CE0034B43F2}"/>
              </a:ext>
            </a:extLst>
          </p:cNvPr>
          <p:cNvSpPr>
            <a:spLocks noGrp="1"/>
          </p:cNvSpPr>
          <p:nvPr/>
        </p:nvSpPr>
        <p:spPr>
          <a:xfrm>
            <a:off x="7762875" y="3209925"/>
            <a:ext cx="3619500" cy="619125"/>
          </a:xfrm>
          <a:prstGeom prst="rect">
            <a:avLst/>
          </a:prstGeom>
          <a:noFill/>
          <a:ln w="0">
            <a:noFill/>
          </a:ln>
        </p:spPr>
        <p:txBody>
          <a:bodyPr anchor="ctr">
            <a:noAutofit/>
          </a:bodyPr>
          <a:lstStyle/>
          <a:p>
            <a:pPr algn="ctr">
              <a:defRPr sz="3150" b="1">
                <a:solidFill>
                  <a:srgbClr val="17365D"/>
                </a:solidFill>
                <a:latin typeface="Times New Roman"/>
                <a:ea typeface="Times New Roman"/>
                <a:cs typeface="Times New Roman"/>
              </a:defRPr>
            </a:pPr>
            <a:r>
              <a:rPr sz="3150" b="1">
                <a:solidFill>
                  <a:srgbClr val="17365D"/>
                </a:solidFill>
                <a:latin typeface="Times New Roman"/>
                <a:ea typeface="Times New Roman"/>
                <a:cs typeface="Times New Roman"/>
              </a:rPr>
              <a:t>16 cm</a:t>
            </a:r>
          </a:p>
        </p:txBody>
      </p:sp>
      <p:sp>
        <p:nvSpPr>
          <p:cNvPr id="14" name="Rectangle 13">
            <a:extLst>
              <a:ext uri="{FF2B5EF4-FFF2-40B4-BE49-F238E27FC236}">
                <a16:creationId xmlns:a16="http://schemas.microsoft.com/office/drawing/2014/main" id="{15A17AF8-1A3C-40E4-998D-72F20761F0F2}"/>
              </a:ext>
            </a:extLst>
          </p:cNvPr>
          <p:cNvSpPr>
            <a:spLocks noGrp="1"/>
          </p:cNvSpPr>
          <p:nvPr/>
        </p:nvSpPr>
        <p:spPr>
          <a:xfrm>
            <a:off x="7667625" y="3838575"/>
            <a:ext cx="3714750" cy="619125"/>
          </a:xfrm>
          <a:prstGeom prst="rect">
            <a:avLst/>
          </a:prstGeom>
          <a:noFill/>
          <a:ln w="0">
            <a:noFill/>
          </a:ln>
        </p:spPr>
        <p:txBody>
          <a:bodyPr anchor="ctr">
            <a:noAutofit/>
          </a:bodyPr>
          <a:lstStyle/>
          <a:p>
            <a:pPr algn="ctr">
              <a:defRPr sz="1875" b="0">
                <a:solidFill>
                  <a:srgbClr val="161616"/>
                </a:solidFill>
                <a:latin typeface="Times New Roman"/>
                <a:ea typeface="Times New Roman"/>
                <a:cs typeface="Times New Roman"/>
              </a:defRPr>
            </a:pPr>
            <a:r>
              <a:rPr sz="1875" b="0">
                <a:solidFill>
                  <a:srgbClr val="161616"/>
                </a:solidFill>
                <a:latin typeface="Times New Roman"/>
                <a:ea typeface="Times New Roman"/>
                <a:cs typeface="Times New Roman"/>
              </a:rPr>
              <a:t>required distance threshold</a:t>
            </a:r>
          </a:p>
        </p:txBody>
      </p:sp>
      <p:sp>
        <p:nvSpPr>
          <p:cNvPr id="15" name="Rectangle 14">
            <a:extLst>
              <a:ext uri="{FF2B5EF4-FFF2-40B4-BE49-F238E27FC236}">
                <a16:creationId xmlns:a16="http://schemas.microsoft.com/office/drawing/2014/main" id="{38386927-5198-4804-9758-A9FD3A6F9DB5}"/>
              </a:ext>
            </a:extLst>
          </p:cNvPr>
          <p:cNvSpPr>
            <a:spLocks noGrp="1"/>
          </p:cNvSpPr>
          <p:nvPr/>
        </p:nvSpPr>
        <p:spPr>
          <a:xfrm>
            <a:off x="7762875" y="4762500"/>
            <a:ext cx="3619500" cy="971550"/>
          </a:xfrm>
          <a:prstGeom prst="rect">
            <a:avLst/>
          </a:prstGeom>
          <a:noFill/>
          <a:ln w="0">
            <a:noFill/>
          </a:ln>
        </p:spPr>
        <p:txBody>
          <a:bodyPr anchor="ctr">
            <a:noAutofit/>
          </a:bodyPr>
          <a:lstStyle/>
          <a:p>
            <a:pPr algn="ctr">
              <a:defRPr sz="1800" b="1">
                <a:solidFill>
                  <a:srgbClr val="17365D"/>
                </a:solidFill>
                <a:latin typeface="Times New Roman"/>
                <a:ea typeface="Times New Roman"/>
                <a:cs typeface="Times New Roman"/>
              </a:defRPr>
            </a:pPr>
            <a:r>
              <a:rPr sz="1800" b="1">
                <a:solidFill>
                  <a:srgbClr val="17365D"/>
                </a:solidFill>
                <a:latin typeface="Times New Roman"/>
                <a:ea typeface="Times New Roman"/>
                <a:cs typeface="Times New Roman"/>
              </a:rPr>
              <a:t>Grasp and hold pass</a:t>
            </a:r>
          </a:p>
          <a:p>
            <a:pPr algn="ctr">
              <a:defRPr sz="1800" b="1">
                <a:solidFill>
                  <a:srgbClr val="17365D"/>
                </a:solidFill>
                <a:latin typeface="Times New Roman"/>
                <a:ea typeface="Times New Roman"/>
                <a:cs typeface="Times New Roman"/>
              </a:defRPr>
            </a:pPr>
            <a:r>
              <a:rPr sz="1800" b="1">
                <a:solidFill>
                  <a:srgbClr val="17365D"/>
                </a:solidFill>
                <a:latin typeface="Times New Roman"/>
                <a:ea typeface="Times New Roman"/>
                <a:cs typeface="Times New Roman"/>
              </a:rPr>
              <a:t>The throw criterion fails</a:t>
            </a:r>
          </a:p>
        </p:txBody>
      </p:sp>
      <p:sp>
        <p:nvSpPr>
          <p:cNvPr id="16" name="Rectangle 15">
            <a:extLst>
              <a:ext uri="{FF2B5EF4-FFF2-40B4-BE49-F238E27FC236}">
                <a16:creationId xmlns:a16="http://schemas.microsoft.com/office/drawing/2014/main" id="{BF72BD75-A3E0-4856-A9B0-E86EDFE02BF1}"/>
              </a:ext>
            </a:extLst>
          </p:cNvPr>
          <p:cNvSpPr>
            <a:spLocks noGrp="1"/>
          </p:cNvSpPr>
          <p:nvPr/>
        </p:nvSpPr>
        <p:spPr>
          <a:xfrm>
            <a:off x="7905750" y="5905500"/>
            <a:ext cx="3333750" cy="304800"/>
          </a:xfrm>
          <a:prstGeom prst="rect">
            <a:avLst/>
          </a:prstGeom>
          <a:noFill/>
          <a:ln w="0">
            <a:noFill/>
          </a:ln>
        </p:spPr>
        <p:txBody>
          <a:bodyPr anchor="ctr">
            <a:noAutofit/>
          </a:bodyPr>
          <a:lstStyle/>
          <a:p>
            <a:pPr algn="ctr">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Click video to play</a:t>
            </a:r>
          </a:p>
        </p:txBody>
      </p:sp>
    </p:spTree>
    <p:extLst>
      <p:ext uri="{BB962C8B-B14F-4D97-AF65-F5344CB8AC3E}">
        <p14:creationId xmlns:p14="http://schemas.microsoft.com/office/powerpoint/2010/main" val="1158511663"/>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60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9"/>
                </p:tgtEl>
              </p:cMediaNode>
            </p:video>
            <p:seq concurrent="1" prevAc="none"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9565148-4EF2-40B4-820D-2643A4AE4EB5}"/>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Reward-based weight updates destabilized the policy</a:t>
            </a:r>
          </a:p>
        </p:txBody>
      </p:sp>
      <p:sp>
        <p:nvSpPr>
          <p:cNvPr id="2" name="Rectangle 1">
            <a:extLst>
              <a:ext uri="{FF2B5EF4-FFF2-40B4-BE49-F238E27FC236}">
                <a16:creationId xmlns:a16="http://schemas.microsoft.com/office/drawing/2014/main" id="{94051B74-1FDA-4046-A9BD-2211F439B67B}"/>
              </a:ext>
            </a:extLst>
          </p:cNvPr>
          <p:cNvSpPr>
            <a:spLocks noGrp="1"/>
          </p:cNvSpPr>
          <p:nvPr/>
        </p:nvSpPr>
        <p:spPr>
          <a:xfrm>
            <a:off x="952500" y="1428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1</a:t>
            </a:r>
          </a:p>
        </p:txBody>
      </p:sp>
      <p:sp>
        <p:nvSpPr>
          <p:cNvPr id="3" name="training-step-1">
            <a:extLst>
              <a:ext uri="{FF2B5EF4-FFF2-40B4-BE49-F238E27FC236}">
                <a16:creationId xmlns:a16="http://schemas.microsoft.com/office/drawing/2014/main" id="{931ED5D0-6C8E-498A-811E-6C6C55CE2F9A}"/>
              </a:ext>
            </a:extLst>
          </p:cNvPr>
          <p:cNvSpPr>
            <a:spLocks noGrp="1"/>
          </p:cNvSpPr>
          <p:nvPr/>
        </p:nvSpPr>
        <p:spPr>
          <a:xfrm>
            <a:off x="1809750" y="1457325"/>
            <a:ext cx="9334500" cy="52387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Start with the baseline and perturb only the final neural layer.</a:t>
            </a:r>
          </a:p>
        </p:txBody>
      </p:sp>
      <p:sp>
        <p:nvSpPr>
          <p:cNvPr id="4" name="Rectangle 3">
            <a:extLst>
              <a:ext uri="{FF2B5EF4-FFF2-40B4-BE49-F238E27FC236}">
                <a16:creationId xmlns:a16="http://schemas.microsoft.com/office/drawing/2014/main" id="{5C3D9081-30A7-4527-B690-6069EF4EE283}"/>
              </a:ext>
            </a:extLst>
          </p:cNvPr>
          <p:cNvSpPr>
            <a:spLocks noGrp="1"/>
          </p:cNvSpPr>
          <p:nvPr/>
        </p:nvSpPr>
        <p:spPr>
          <a:xfrm>
            <a:off x="952500" y="2381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2</a:t>
            </a:r>
          </a:p>
        </p:txBody>
      </p:sp>
      <p:sp>
        <p:nvSpPr>
          <p:cNvPr id="5" name="training-step-2">
            <a:extLst>
              <a:ext uri="{FF2B5EF4-FFF2-40B4-BE49-F238E27FC236}">
                <a16:creationId xmlns:a16="http://schemas.microsoft.com/office/drawing/2014/main" id="{883B8CFB-A20D-48D0-8756-B7B45880EE3F}"/>
              </a:ext>
            </a:extLst>
          </p:cNvPr>
          <p:cNvSpPr>
            <a:spLocks noGrp="1"/>
          </p:cNvSpPr>
          <p:nvPr/>
        </p:nvSpPr>
        <p:spPr>
          <a:xfrm>
            <a:off x="1809750" y="2409825"/>
            <a:ext cx="9334500" cy="52387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Run positive and negative perturbations on matched MuJoCo seeds.</a:t>
            </a:r>
          </a:p>
        </p:txBody>
      </p:sp>
      <p:sp>
        <p:nvSpPr>
          <p:cNvPr id="6" name="Rectangle 5">
            <a:extLst>
              <a:ext uri="{FF2B5EF4-FFF2-40B4-BE49-F238E27FC236}">
                <a16:creationId xmlns:a16="http://schemas.microsoft.com/office/drawing/2014/main" id="{1274C684-0237-48F4-BE67-1048B64327F5}"/>
              </a:ext>
            </a:extLst>
          </p:cNvPr>
          <p:cNvSpPr>
            <a:spLocks noGrp="1"/>
          </p:cNvSpPr>
          <p:nvPr/>
        </p:nvSpPr>
        <p:spPr>
          <a:xfrm>
            <a:off x="952500" y="3333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3</a:t>
            </a:r>
          </a:p>
        </p:txBody>
      </p:sp>
      <p:sp>
        <p:nvSpPr>
          <p:cNvPr id="7" name="training-step-3">
            <a:extLst>
              <a:ext uri="{FF2B5EF4-FFF2-40B4-BE49-F238E27FC236}">
                <a16:creationId xmlns:a16="http://schemas.microsoft.com/office/drawing/2014/main" id="{3615F39E-43A1-4D78-B1CA-B14942EC498B}"/>
              </a:ext>
            </a:extLst>
          </p:cNvPr>
          <p:cNvSpPr>
            <a:spLocks noGrp="1"/>
          </p:cNvSpPr>
          <p:nvPr/>
        </p:nvSpPr>
        <p:spPr>
          <a:xfrm>
            <a:off x="1809750" y="3362325"/>
            <a:ext cx="9334500" cy="52387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Reward full success most, then hold, release, distance, and contact.</a:t>
            </a:r>
          </a:p>
        </p:txBody>
      </p:sp>
      <p:sp>
        <p:nvSpPr>
          <p:cNvPr id="8" name="Rectangle 7">
            <a:extLst>
              <a:ext uri="{FF2B5EF4-FFF2-40B4-BE49-F238E27FC236}">
                <a16:creationId xmlns:a16="http://schemas.microsoft.com/office/drawing/2014/main" id="{DC2AC943-BB28-4F10-B649-20DE4563811D}"/>
              </a:ext>
            </a:extLst>
          </p:cNvPr>
          <p:cNvSpPr>
            <a:spLocks noGrp="1"/>
          </p:cNvSpPr>
          <p:nvPr/>
        </p:nvSpPr>
        <p:spPr>
          <a:xfrm>
            <a:off x="952500" y="4286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4</a:t>
            </a:r>
          </a:p>
        </p:txBody>
      </p:sp>
      <p:sp>
        <p:nvSpPr>
          <p:cNvPr id="9" name="training-step-4">
            <a:extLst>
              <a:ext uri="{FF2B5EF4-FFF2-40B4-BE49-F238E27FC236}">
                <a16:creationId xmlns:a16="http://schemas.microsoft.com/office/drawing/2014/main" id="{4D711129-EDA4-4206-AD87-30D6A2B6800B}"/>
              </a:ext>
            </a:extLst>
          </p:cNvPr>
          <p:cNvSpPr>
            <a:spLocks noGrp="1"/>
          </p:cNvSpPr>
          <p:nvPr/>
        </p:nvSpPr>
        <p:spPr>
          <a:xfrm>
            <a:off x="1809750" y="4314825"/>
            <a:ext cx="9334500" cy="523875"/>
          </a:xfrm>
          <a:prstGeom prst="rect">
            <a:avLst/>
          </a:prstGeom>
          <a:noFill/>
          <a:ln w="0">
            <a:noFill/>
            <a:prstDash val="solid"/>
          </a:ln>
        </p:spPr>
        <p:txBody>
          <a:bodyPr lIns="0" tIns="0" rIns="0" bIns="0" anchor="t">
            <a:noAutofit/>
          </a:bodyPr>
          <a:lstStyle/>
          <a:p>
            <a:pPr algn="l">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Keep the best policy from eight evolution-strategy iterations.</a:t>
            </a:r>
          </a:p>
        </p:txBody>
      </p:sp>
      <p:sp>
        <p:nvSpPr>
          <p:cNvPr id="10" name="Rectangle 9">
            <a:extLst>
              <a:ext uri="{FF2B5EF4-FFF2-40B4-BE49-F238E27FC236}">
                <a16:creationId xmlns:a16="http://schemas.microsoft.com/office/drawing/2014/main" id="{5FFEA5B4-5337-4794-83F4-EB07021C5BC0}"/>
              </a:ext>
            </a:extLst>
          </p:cNvPr>
          <p:cNvSpPr>
            <a:spLocks noGrp="1"/>
          </p:cNvSpPr>
          <p:nvPr/>
        </p:nvSpPr>
        <p:spPr>
          <a:xfrm>
            <a:off x="952500" y="5381625"/>
            <a:ext cx="10287000" cy="704850"/>
          </a:xfrm>
          <a:prstGeom prst="rect">
            <a:avLst/>
          </a:prstGeom>
          <a:noFill/>
          <a:ln w="0">
            <a:noFill/>
            <a:prstDash val="solid"/>
          </a:ln>
        </p:spPr>
        <p:txBody>
          <a:bodyPr lIns="0" tIns="0" rIns="0" bIns="0" anchor="t">
            <a:normAutofit/>
          </a:bodyPr>
          <a:lstStyle/>
          <a:p>
            <a:pPr algn="ctr">
              <a:buNone/>
              <a:defRPr sz="2025" b="1" i="0">
                <a:solidFill>
                  <a:srgbClr val="17365D"/>
                </a:solidFill>
                <a:latin typeface="Times New Roman"/>
                <a:ea typeface="Times New Roman"/>
                <a:cs typeface="Times New Roman"/>
              </a:defRPr>
            </a:pPr>
            <a:r>
              <a:rPr sz="2025" b="1" i="0">
                <a:solidFill>
                  <a:srgbClr val="17365D"/>
                </a:solidFill>
                <a:latin typeface="Times New Roman"/>
                <a:ea typeface="Times New Roman"/>
                <a:cs typeface="Times New Roman"/>
              </a:rPr>
              <a:t>Baseline: 80% on 20 selection seeds. Updates: 0–20%. No gain.</a:t>
            </a:r>
          </a:p>
        </p:txBody>
      </p:sp>
      <p:sp>
        <p:nvSpPr>
          <p:cNvPr id="11" name="footer">
            <a:extLst>
              <a:ext uri="{FF2B5EF4-FFF2-40B4-BE49-F238E27FC236}">
                <a16:creationId xmlns:a16="http://schemas.microsoft.com/office/drawing/2014/main" id="{03D0C70F-75E1-4FC8-9B85-23EC88BD6139}"/>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8</a:t>
            </a:r>
          </a:p>
        </p:txBody>
      </p:sp>
    </p:spTree>
    <p:extLst>
      <p:ext uri="{BB962C8B-B14F-4D97-AF65-F5344CB8AC3E}">
        <p14:creationId xmlns:p14="http://schemas.microsoft.com/office/powerpoint/2010/main" val="39570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9565148-4EF2-40B4-820D-2643A4AE4EB5}"/>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Residual-gain tuning did not beat the trained setting</a:t>
            </a:r>
          </a:p>
        </p:txBody>
      </p:sp>
      <p:sp>
        <p:nvSpPr>
          <p:cNvPr id="11" name="footer">
            <a:extLst>
              <a:ext uri="{FF2B5EF4-FFF2-40B4-BE49-F238E27FC236}">
                <a16:creationId xmlns:a16="http://schemas.microsoft.com/office/drawing/2014/main" id="{03D0C70F-75E1-4FC8-9B85-23EC88BD6139}"/>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9</a:t>
            </a:r>
          </a:p>
        </p:txBody>
      </p:sp>
      <p:graphicFrame>
        <p:nvGraphicFramePr>
          <p:cNvPr id="17" name="Table 16"/>
          <p:cNvGraphicFramePr/>
          <p:nvPr/>
        </p:nvGraphicFramePr>
        <p:xfrm>
          <a:off x="762000" y="1714500"/>
          <a:ext cx="10668000" cy="3000376"/>
        </p:xfrm>
        <a:graphic>
          <a:graphicData uri="http://schemas.openxmlformats.org/drawingml/2006/table">
            <a:tbl>
              <a:tblPr/>
              <a:tblGrid>
                <a:gridCol w="300037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52875">
                  <a:extLst>
                    <a:ext uri="{9D8B030D-6E8A-4147-A177-3AD203B41FA5}">
                      <a16:colId xmlns:a16="http://schemas.microsoft.com/office/drawing/2014/main" val="20002"/>
                    </a:ext>
                  </a:extLst>
                </a:gridCol>
              </a:tblGrid>
              <a:tr h="750094">
                <a:tc>
                  <a:txBody>
                    <a:bodyPr/>
                    <a:lstStyle/>
                    <a:p>
                      <a:r>
                        <a:rPr sz="1950" b="1">
                          <a:solidFill>
                            <a:srgbClr val="FFFFFF"/>
                          </a:solidFill>
                          <a:latin typeface="Times New Roman"/>
                          <a:ea typeface="Times New Roman"/>
                          <a:cs typeface="Times New Roman"/>
                        </a:rPr>
                        <a:t>Change</a:t>
                      </a:r>
                    </a:p>
                  </a:txBody>
                  <a:tcPr marL="114300" marR="114300" marT="95250" marB="95250">
                    <a:solidFill>
                      <a:srgbClr val="17365D"/>
                    </a:solidFill>
                  </a:tcPr>
                </a:tc>
                <a:tc>
                  <a:txBody>
                    <a:bodyPr/>
                    <a:lstStyle/>
                    <a:p>
                      <a:r>
                        <a:rPr sz="1950" b="1">
                          <a:solidFill>
                            <a:srgbClr val="FFFFFF"/>
                          </a:solidFill>
                          <a:latin typeface="Times New Roman"/>
                          <a:ea typeface="Times New Roman"/>
                          <a:cs typeface="Times New Roman"/>
                        </a:rPr>
                        <a:t>Gains tested</a:t>
                      </a:r>
                    </a:p>
                  </a:txBody>
                  <a:tcPr marL="114300" marR="114300" marT="95250" marB="95250">
                    <a:solidFill>
                      <a:srgbClr val="17365D"/>
                    </a:solidFill>
                  </a:tcPr>
                </a:tc>
                <a:tc>
                  <a:txBody>
                    <a:bodyPr/>
                    <a:lstStyle/>
                    <a:p>
                      <a:r>
                        <a:rPr sz="1950" b="1">
                          <a:solidFill>
                            <a:srgbClr val="FFFFFF"/>
                          </a:solidFill>
                          <a:latin typeface="Times New Roman"/>
                          <a:ea typeface="Times New Roman"/>
                          <a:cs typeface="Times New Roman"/>
                        </a:rPr>
                        <a:t>Success on 50 seeds</a:t>
                      </a:r>
                    </a:p>
                  </a:txBody>
                  <a:tcPr marL="114300" marR="114300" marT="95250" marB="95250">
                    <a:solidFill>
                      <a:srgbClr val="17365D"/>
                    </a:solidFill>
                  </a:tcPr>
                </a:tc>
                <a:extLst>
                  <a:ext uri="{0D108BD9-81ED-4DB2-BD59-A6C34878D82A}">
                    <a16:rowId xmlns:a16="http://schemas.microsoft.com/office/drawing/2014/main" val="10000"/>
                  </a:ext>
                </a:extLst>
              </a:tr>
              <a:tr h="750094">
                <a:tc>
                  <a:txBody>
                    <a:bodyPr/>
                    <a:lstStyle/>
                    <a:p>
                      <a:r>
                        <a:rPr sz="1950" b="0">
                          <a:solidFill>
                            <a:srgbClr val="161616"/>
                          </a:solidFill>
                          <a:latin typeface="Times New Roman"/>
                          <a:ea typeface="Times New Roman"/>
                          <a:cs typeface="Times New Roman"/>
                        </a:rPr>
                        <a:t>All learned corrections</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0.70 / 0.85 / 1.00 / 1.15</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54% / 60% / 76% / 22%</a:t>
                      </a:r>
                    </a:p>
                  </a:txBody>
                  <a:tcPr marL="114300" marR="114300" marT="95250" marB="95250">
                    <a:solidFill>
                      <a:srgbClr val="FFFFFF"/>
                    </a:solidFill>
                  </a:tcPr>
                </a:tc>
                <a:extLst>
                  <a:ext uri="{0D108BD9-81ED-4DB2-BD59-A6C34878D82A}">
                    <a16:rowId xmlns:a16="http://schemas.microsoft.com/office/drawing/2014/main" val="10001"/>
                  </a:ext>
                </a:extLst>
              </a:tr>
              <a:tr h="750094">
                <a:tc>
                  <a:txBody>
                    <a:bodyPr/>
                    <a:lstStyle/>
                    <a:p>
                      <a:r>
                        <a:rPr sz="1950" b="0">
                          <a:solidFill>
                            <a:srgbClr val="161616"/>
                          </a:solidFill>
                          <a:latin typeface="Times New Roman"/>
                          <a:ea typeface="Times New Roman"/>
                          <a:cs typeface="Times New Roman"/>
                        </a:rPr>
                        <a:t>Hand corrections only</a:t>
                      </a:r>
                    </a:p>
                  </a:txBody>
                  <a:tcPr marL="114300" marR="114300" marT="95250" marB="95250">
                    <a:solidFill>
                      <a:srgbClr val="F2F5F9"/>
                    </a:solidFill>
                  </a:tcPr>
                </a:tc>
                <a:tc>
                  <a:txBody>
                    <a:bodyPr/>
                    <a:lstStyle/>
                    <a:p>
                      <a:r>
                        <a:rPr sz="1950" b="0">
                          <a:solidFill>
                            <a:srgbClr val="161616"/>
                          </a:solidFill>
                          <a:latin typeface="Times New Roman"/>
                          <a:ea typeface="Times New Roman"/>
                          <a:cs typeface="Times New Roman"/>
                        </a:rPr>
                        <a:t>0.75 / 0.90 / 1.10</a:t>
                      </a:r>
                    </a:p>
                  </a:txBody>
                  <a:tcPr marL="114300" marR="114300" marT="95250" marB="95250">
                    <a:solidFill>
                      <a:srgbClr val="F2F5F9"/>
                    </a:solidFill>
                  </a:tcPr>
                </a:tc>
                <a:tc>
                  <a:txBody>
                    <a:bodyPr/>
                    <a:lstStyle/>
                    <a:p>
                      <a:r>
                        <a:rPr sz="1950" b="0">
                          <a:solidFill>
                            <a:srgbClr val="161616"/>
                          </a:solidFill>
                          <a:latin typeface="Times New Roman"/>
                          <a:ea typeface="Times New Roman"/>
                          <a:cs typeface="Times New Roman"/>
                        </a:rPr>
                        <a:t>72% / 74% / 76%</a:t>
                      </a:r>
                    </a:p>
                  </a:txBody>
                  <a:tcPr marL="114300" marR="114300" marT="95250" marB="95250">
                    <a:solidFill>
                      <a:srgbClr val="F2F5F9"/>
                    </a:solidFill>
                  </a:tcPr>
                </a:tc>
                <a:extLst>
                  <a:ext uri="{0D108BD9-81ED-4DB2-BD59-A6C34878D82A}">
                    <a16:rowId xmlns:a16="http://schemas.microsoft.com/office/drawing/2014/main" val="10002"/>
                  </a:ext>
                </a:extLst>
              </a:tr>
              <a:tr h="750094">
                <a:tc>
                  <a:txBody>
                    <a:bodyPr/>
                    <a:lstStyle/>
                    <a:p>
                      <a:r>
                        <a:rPr sz="1950" b="0">
                          <a:solidFill>
                            <a:srgbClr val="161616"/>
                          </a:solidFill>
                          <a:latin typeface="Times New Roman"/>
                          <a:ea typeface="Times New Roman"/>
                          <a:cs typeface="Times New Roman"/>
                        </a:rPr>
                        <a:t>Reference baseline</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Arm gain 1.0, hand gain 1.0</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76%</a:t>
                      </a:r>
                    </a:p>
                  </a:txBody>
                  <a:tcPr marL="114300" marR="114300" marT="95250" marB="95250">
                    <a:solidFill>
                      <a:srgbClr val="FFFFFF"/>
                    </a:solidFill>
                  </a:tcPr>
                </a:tc>
                <a:extLst>
                  <a:ext uri="{0D108BD9-81ED-4DB2-BD59-A6C34878D82A}">
                    <a16:rowId xmlns:a16="http://schemas.microsoft.com/office/drawing/2014/main" val="10003"/>
                  </a:ext>
                </a:extLst>
              </a:tr>
            </a:tbl>
          </a:graphicData>
        </a:graphic>
      </p:graphicFrame>
      <p:sp>
        <p:nvSpPr>
          <p:cNvPr id="14" name="Rectangle 13">
            <a:extLst>
              <a:ext uri="{FF2B5EF4-FFF2-40B4-BE49-F238E27FC236}">
                <a16:creationId xmlns:a16="http://schemas.microsoft.com/office/drawing/2014/main" id="{C329CE6B-642B-4B24-B7CD-E4EA5BAE5830}"/>
              </a:ext>
            </a:extLst>
          </p:cNvPr>
          <p:cNvSpPr>
            <a:spLocks noGrp="1"/>
          </p:cNvSpPr>
          <p:nvPr/>
        </p:nvSpPr>
        <p:spPr>
          <a:xfrm>
            <a:off x="762000" y="5791200"/>
            <a:ext cx="10668000" cy="457200"/>
          </a:xfrm>
          <a:prstGeom prst="rect">
            <a:avLst/>
          </a:prstGeom>
          <a:noFill/>
          <a:ln w="0">
            <a:noFill/>
          </a:ln>
        </p:spPr>
        <p:txBody>
          <a:bodyPr anchor="ctr">
            <a:noAutofit/>
          </a:bodyPr>
          <a:lstStyle/>
          <a:p>
            <a:pPr algn="l">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Compare each sweep against 76% on its 50 seeds, not 81% on the full 100.</a:t>
            </a:r>
          </a:p>
        </p:txBody>
      </p:sp>
    </p:spTree>
    <p:extLst>
      <p:ext uri="{BB962C8B-B14F-4D97-AF65-F5344CB8AC3E}">
        <p14:creationId xmlns:p14="http://schemas.microsoft.com/office/powerpoint/2010/main" val="395702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2C4BAC05-2014-4342-9B5B-8C51DCB9D2FC}"/>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The improvement adds closure during three phases</a:t>
            </a:r>
          </a:p>
        </p:txBody>
      </p:sp>
      <p:sp>
        <p:nvSpPr>
          <p:cNvPr id="9" name="footer">
            <a:extLst>
              <a:ext uri="{FF2B5EF4-FFF2-40B4-BE49-F238E27FC236}">
                <a16:creationId xmlns:a16="http://schemas.microsoft.com/office/drawing/2014/main" id="{A9ACB5E6-3FA5-400B-A678-F07D14070FE7}"/>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10</a:t>
            </a:r>
          </a:p>
        </p:txBody>
      </p:sp>
      <p:sp>
        <p:nvSpPr>
          <p:cNvPr id="11" name="Rectangle 10">
            <a:extLst>
              <a:ext uri="{FF2B5EF4-FFF2-40B4-BE49-F238E27FC236}">
                <a16:creationId xmlns:a16="http://schemas.microsoft.com/office/drawing/2014/main" id="{3B266DA7-4CC5-492D-A2C4-A5BBC9213D27}"/>
              </a:ext>
            </a:extLst>
          </p:cNvPr>
          <p:cNvSpPr>
            <a:spLocks noGrp="1"/>
          </p:cNvSpPr>
          <p:nvPr/>
        </p:nvSpPr>
        <p:spPr>
          <a:xfrm>
            <a:off x="762000" y="1476375"/>
            <a:ext cx="3238500" cy="428625"/>
          </a:xfrm>
          <a:prstGeom prst="rect">
            <a:avLst/>
          </a:prstGeom>
          <a:noFill/>
          <a:ln w="0">
            <a:noFill/>
          </a:ln>
        </p:spPr>
        <p:txBody>
          <a:bodyPr anchor="ctr">
            <a:noAutofit/>
          </a:bodyPr>
          <a:lstStyle/>
          <a:p>
            <a:pPr algn="l">
              <a:defRPr sz="2250" b="1">
                <a:solidFill>
                  <a:srgbClr val="315A9E"/>
                </a:solidFill>
                <a:latin typeface="Times New Roman"/>
                <a:ea typeface="Times New Roman"/>
                <a:cs typeface="Times New Roman"/>
              </a:defRPr>
            </a:pPr>
            <a:r>
              <a:rPr sz="2250" b="1">
                <a:solidFill>
                  <a:srgbClr val="315A9E"/>
                </a:solidFill>
                <a:latin typeface="Times New Roman"/>
                <a:ea typeface="Times New Roman"/>
                <a:cs typeface="Times New Roman"/>
              </a:rPr>
              <a:t>Adjustment</a:t>
            </a:r>
          </a:p>
        </p:txBody>
      </p:sp>
      <p:sp>
        <p:nvSpPr>
          <p:cNvPr id="12" name="Rectangle 11">
            <a:extLst>
              <a:ext uri="{FF2B5EF4-FFF2-40B4-BE49-F238E27FC236}">
                <a16:creationId xmlns:a16="http://schemas.microsoft.com/office/drawing/2014/main" id="{38FF2E10-C744-43B4-A036-DE80E3844CAA}"/>
              </a:ext>
            </a:extLst>
          </p:cNvPr>
          <p:cNvSpPr>
            <a:spLocks noGrp="1"/>
          </p:cNvSpPr>
          <p:nvPr/>
        </p:nvSpPr>
        <p:spPr>
          <a:xfrm>
            <a:off x="762000" y="2047875"/>
            <a:ext cx="4762500" cy="1428750"/>
          </a:xfrm>
          <a:prstGeom prst="rect">
            <a:avLst/>
          </a:prstGeom>
          <a:noFill/>
          <a:ln w="0">
            <a:noFill/>
          </a:ln>
        </p:spPr>
        <p:txBody>
          <a:bodyPr anchor="ctr">
            <a:noAutofit/>
          </a:bodyPr>
          <a:lstStyle/>
          <a:p>
            <a:pPr algn="l">
              <a:defRPr sz="2400" b="0">
                <a:solidFill>
                  <a:srgbClr val="161616"/>
                </a:solidFill>
                <a:latin typeface="Times New Roman"/>
                <a:ea typeface="Times New Roman"/>
                <a:cs typeface="Times New Roman"/>
              </a:defRPr>
            </a:pPr>
            <a:r>
              <a:rPr sz="2400" b="0">
                <a:solidFill>
                  <a:srgbClr val="161616"/>
                </a:solidFill>
                <a:latin typeface="Times New Roman"/>
                <a:ea typeface="Times New Roman"/>
                <a:cs typeface="Times New Roman"/>
              </a:rPr>
              <a:t>Add +0.08 to the six normalized hand commands during close, lift, and windup.</a:t>
            </a:r>
          </a:p>
        </p:txBody>
      </p:sp>
      <p:sp>
        <p:nvSpPr>
          <p:cNvPr id="13" name="Rectangle 12">
            <a:extLst>
              <a:ext uri="{FF2B5EF4-FFF2-40B4-BE49-F238E27FC236}">
                <a16:creationId xmlns:a16="http://schemas.microsoft.com/office/drawing/2014/main" id="{273F0325-6527-4946-88FA-96D3E0C4E30A}"/>
              </a:ext>
            </a:extLst>
          </p:cNvPr>
          <p:cNvSpPr>
            <a:spLocks noGrp="1"/>
          </p:cNvSpPr>
          <p:nvPr/>
        </p:nvSpPr>
        <p:spPr>
          <a:xfrm>
            <a:off x="762000" y="3914775"/>
            <a:ext cx="4762500" cy="1285875"/>
          </a:xfrm>
          <a:prstGeom prst="rect">
            <a:avLst/>
          </a:prstGeom>
          <a:noFill/>
          <a:ln w="0">
            <a:noFill/>
          </a:ln>
        </p:spPr>
        <p:txBody>
          <a:bodyPr anchor="ctr">
            <a:noAutofit/>
          </a:bodyPr>
          <a:lstStyle/>
          <a:p>
            <a:pPr algn="l">
              <a:defRPr sz="2100" b="1">
                <a:solidFill>
                  <a:srgbClr val="17365D"/>
                </a:solidFill>
                <a:latin typeface="Times New Roman"/>
                <a:ea typeface="Times New Roman"/>
                <a:cs typeface="Times New Roman"/>
              </a:defRPr>
            </a:pPr>
            <a:r>
              <a:rPr sz="2100" b="1">
                <a:solidFill>
                  <a:srgbClr val="17365D"/>
                </a:solidFill>
                <a:latin typeface="Times New Roman"/>
                <a:ea typeface="Times New Roman"/>
                <a:cs typeface="Times New Roman"/>
              </a:rPr>
              <a:t>The checkpoint keeps identical neural weights. It stores the bias as an extra policy parameter.</a:t>
            </a:r>
          </a:p>
        </p:txBody>
      </p:sp>
      <p:graphicFrame>
        <p:nvGraphicFramePr>
          <p:cNvPr id="21" name="Table 20"/>
          <p:cNvGraphicFramePr/>
          <p:nvPr/>
        </p:nvGraphicFramePr>
        <p:xfrm>
          <a:off x="6000750" y="1638300"/>
          <a:ext cx="5429250" cy="3048000"/>
        </p:xfrm>
        <a:graphic>
          <a:graphicData uri="http://schemas.openxmlformats.org/drawingml/2006/table">
            <a:tbl>
              <a:tblPr/>
              <a:tblGrid>
                <a:gridCol w="3381375">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tblGrid>
              <a:tr h="762000">
                <a:tc>
                  <a:txBody>
                    <a:bodyPr/>
                    <a:lstStyle/>
                    <a:p>
                      <a:r>
                        <a:rPr sz="1875" b="1">
                          <a:solidFill>
                            <a:srgbClr val="FFFFFF"/>
                          </a:solidFill>
                          <a:latin typeface="Times New Roman"/>
                          <a:ea typeface="Times New Roman"/>
                          <a:cs typeface="Times New Roman"/>
                        </a:rPr>
                        <a:t>Phase</a:t>
                      </a:r>
                    </a:p>
                  </a:txBody>
                  <a:tcPr marL="114300" marR="114300" marT="95250" marB="95250">
                    <a:solidFill>
                      <a:srgbClr val="17365D"/>
                    </a:solidFill>
                  </a:tcPr>
                </a:tc>
                <a:tc>
                  <a:txBody>
                    <a:bodyPr/>
                    <a:lstStyle/>
                    <a:p>
                      <a:r>
                        <a:rPr sz="1875" b="1">
                          <a:solidFill>
                            <a:srgbClr val="FFFFFF"/>
                          </a:solidFill>
                          <a:latin typeface="Times New Roman"/>
                          <a:ea typeface="Times New Roman"/>
                          <a:cs typeface="Times New Roman"/>
                        </a:rPr>
                        <a:t>Extra closure</a:t>
                      </a:r>
                    </a:p>
                  </a:txBody>
                  <a:tcPr marL="114300" marR="114300" marT="95250" marB="95250">
                    <a:solidFill>
                      <a:srgbClr val="17365D"/>
                    </a:solidFill>
                  </a:tcPr>
                </a:tc>
                <a:extLst>
                  <a:ext uri="{0D108BD9-81ED-4DB2-BD59-A6C34878D82A}">
                    <a16:rowId xmlns:a16="http://schemas.microsoft.com/office/drawing/2014/main" val="10000"/>
                  </a:ext>
                </a:extLst>
              </a:tr>
              <a:tr h="762000">
                <a:tc>
                  <a:txBody>
                    <a:bodyPr/>
                    <a:lstStyle/>
                    <a:p>
                      <a:r>
                        <a:rPr sz="1875" b="0">
                          <a:solidFill>
                            <a:srgbClr val="161616"/>
                          </a:solidFill>
                          <a:latin typeface="Times New Roman"/>
                          <a:ea typeface="Times New Roman"/>
                          <a:cs typeface="Times New Roman"/>
                        </a:rPr>
                        <a:t>Reach</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0</a:t>
                      </a:r>
                    </a:p>
                  </a:txBody>
                  <a:tcPr marL="114300" marR="114300" marT="95250" marB="95250">
                    <a:solidFill>
                      <a:srgbClr val="FFFFFF"/>
                    </a:solidFill>
                  </a:tcPr>
                </a:tc>
                <a:extLst>
                  <a:ext uri="{0D108BD9-81ED-4DB2-BD59-A6C34878D82A}">
                    <a16:rowId xmlns:a16="http://schemas.microsoft.com/office/drawing/2014/main" val="10001"/>
                  </a:ext>
                </a:extLst>
              </a:tr>
              <a:tr h="762000">
                <a:tc>
                  <a:txBody>
                    <a:bodyPr/>
                    <a:lstStyle/>
                    <a:p>
                      <a:r>
                        <a:rPr sz="1875" b="0">
                          <a:solidFill>
                            <a:srgbClr val="161616"/>
                          </a:solidFill>
                          <a:latin typeface="Times New Roman"/>
                          <a:ea typeface="Times New Roman"/>
                          <a:cs typeface="Times New Roman"/>
                        </a:rPr>
                        <a:t>Close, lift, windup</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+0.08</a:t>
                      </a:r>
                    </a:p>
                  </a:txBody>
                  <a:tcPr marL="114300" marR="114300" marT="95250" marB="95250">
                    <a:solidFill>
                      <a:srgbClr val="F2F5F9"/>
                    </a:solidFill>
                  </a:tcPr>
                </a:tc>
                <a:extLst>
                  <a:ext uri="{0D108BD9-81ED-4DB2-BD59-A6C34878D82A}">
                    <a16:rowId xmlns:a16="http://schemas.microsoft.com/office/drawing/2014/main" val="10002"/>
                  </a:ext>
                </a:extLst>
              </a:tr>
              <a:tr h="762000">
                <a:tc>
                  <a:txBody>
                    <a:bodyPr/>
                    <a:lstStyle/>
                    <a:p>
                      <a:r>
                        <a:rPr sz="1875" b="0">
                          <a:solidFill>
                            <a:srgbClr val="161616"/>
                          </a:solidFill>
                          <a:latin typeface="Times New Roman"/>
                          <a:ea typeface="Times New Roman"/>
                          <a:cs typeface="Times New Roman"/>
                        </a:rPr>
                        <a:t>Throw and follow-through</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0</a:t>
                      </a:r>
                    </a:p>
                  </a:txBody>
                  <a:tcPr marL="114300" marR="114300" marT="95250" marB="95250">
                    <a:solidFill>
                      <a:srgbClr val="FFFFFF"/>
                    </a:solidFill>
                  </a:tcPr>
                </a:tc>
                <a:extLst>
                  <a:ext uri="{0D108BD9-81ED-4DB2-BD59-A6C34878D82A}">
                    <a16:rowId xmlns:a16="http://schemas.microsoft.com/office/drawing/2014/main" val="10003"/>
                  </a:ext>
                </a:extLst>
              </a:tr>
            </a:tbl>
          </a:graphicData>
        </a:graphic>
      </p:graphicFrame>
      <p:sp>
        <p:nvSpPr>
          <p:cNvPr id="15" name="Rectangle 14">
            <a:extLst>
              <a:ext uri="{FF2B5EF4-FFF2-40B4-BE49-F238E27FC236}">
                <a16:creationId xmlns:a16="http://schemas.microsoft.com/office/drawing/2014/main" id="{41845C54-DC5C-4810-AD9F-421448AF7E60}"/>
              </a:ext>
            </a:extLst>
          </p:cNvPr>
          <p:cNvSpPr>
            <a:spLocks noGrp="1"/>
          </p:cNvSpPr>
          <p:nvPr/>
        </p:nvSpPr>
        <p:spPr>
          <a:xfrm>
            <a:off x="6000750" y="4972050"/>
            <a:ext cx="5429250" cy="742950"/>
          </a:xfrm>
          <a:prstGeom prst="rect">
            <a:avLst/>
          </a:prstGeom>
          <a:noFill/>
          <a:ln w="0">
            <a:noFill/>
          </a:ln>
        </p:spPr>
        <p:txBody>
          <a:bodyPr anchor="ctr">
            <a:noAutofit/>
          </a:bodyPr>
          <a:lstStyle/>
          <a:p>
            <a:pPr algn="l">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+0.08 in [−1, +1] equals 4% of the joint target range before clipping.</a:t>
            </a:r>
          </a:p>
        </p:txBody>
      </p:sp>
    </p:spTree>
    <p:extLst>
      <p:ext uri="{BB962C8B-B14F-4D97-AF65-F5344CB8AC3E}">
        <p14:creationId xmlns:p14="http://schemas.microsoft.com/office/powerpoint/2010/main" val="1250237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9565148-4EF2-40B4-820D-2643A4AE4EB5}"/>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A modest grasp bias gave the best sweep result</a:t>
            </a:r>
          </a:p>
        </p:txBody>
      </p:sp>
      <p:sp>
        <p:nvSpPr>
          <p:cNvPr id="11" name="footer">
            <a:extLst>
              <a:ext uri="{FF2B5EF4-FFF2-40B4-BE49-F238E27FC236}">
                <a16:creationId xmlns:a16="http://schemas.microsoft.com/office/drawing/2014/main" id="{03D0C70F-75E1-4FC8-9B85-23EC88BD6139}"/>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11</a:t>
            </a:r>
          </a:p>
        </p:txBody>
      </p:sp>
      <p:graphicFrame>
        <p:nvGraphicFramePr>
          <p:cNvPr id="17" name="Table 16"/>
          <p:cNvGraphicFramePr/>
          <p:nvPr/>
        </p:nvGraphicFramePr>
        <p:xfrm>
          <a:off x="762000" y="1476375"/>
          <a:ext cx="10668000" cy="3714750"/>
        </p:xfrm>
        <a:graphic>
          <a:graphicData uri="http://schemas.openxmlformats.org/drawingml/2006/table">
            <a:tbl>
              <a:tblPr/>
              <a:tblGrid>
                <a:gridCol w="4762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19125">
                <a:tc>
                  <a:txBody>
                    <a:bodyPr/>
                    <a:lstStyle/>
                    <a:p>
                      <a:r>
                        <a:rPr sz="1950" b="1">
                          <a:solidFill>
                            <a:srgbClr val="FFFFFF"/>
                          </a:solidFill>
                          <a:latin typeface="Times New Roman"/>
                          <a:ea typeface="Times New Roman"/>
                          <a:cs typeface="Times New Roman"/>
                        </a:rPr>
                        <a:t>Extra hand command</a:t>
                      </a:r>
                    </a:p>
                  </a:txBody>
                  <a:tcPr marL="114300" marR="114300" marT="95250" marB="95250">
                    <a:solidFill>
                      <a:srgbClr val="17365D"/>
                    </a:solidFill>
                  </a:tcPr>
                </a:tc>
                <a:tc>
                  <a:txBody>
                    <a:bodyPr/>
                    <a:lstStyle/>
                    <a:p>
                      <a:r>
                        <a:rPr sz="1950" b="1">
                          <a:solidFill>
                            <a:srgbClr val="FFFFFF"/>
                          </a:solidFill>
                          <a:latin typeface="Times New Roman"/>
                          <a:ea typeface="Times New Roman"/>
                          <a:cs typeface="Times New Roman"/>
                        </a:rPr>
                        <a:t>Success</a:t>
                      </a:r>
                    </a:p>
                  </a:txBody>
                  <a:tcPr marL="114300" marR="114300" marT="95250" marB="95250">
                    <a:solidFill>
                      <a:srgbClr val="17365D"/>
                    </a:solidFill>
                  </a:tcPr>
                </a:tc>
                <a:tc>
                  <a:txBody>
                    <a:bodyPr/>
                    <a:lstStyle/>
                    <a:p>
                      <a:r>
                        <a:rPr sz="1950" b="1">
                          <a:solidFill>
                            <a:srgbClr val="FFFFFF"/>
                          </a:solidFill>
                          <a:latin typeface="Times New Roman"/>
                          <a:ea typeface="Times New Roman"/>
                          <a:cs typeface="Times New Roman"/>
                        </a:rPr>
                        <a:t>Hold / release</a:t>
                      </a:r>
                    </a:p>
                  </a:txBody>
                  <a:tcPr marL="114300" marR="114300" marT="95250" marB="95250">
                    <a:solidFill>
                      <a:srgbClr val="17365D"/>
                    </a:solidFill>
                  </a:tcPr>
                </a:tc>
                <a:extLst>
                  <a:ext uri="{0D108BD9-81ED-4DB2-BD59-A6C34878D82A}">
                    <a16:rowId xmlns:a16="http://schemas.microsoft.com/office/drawing/2014/main" val="10000"/>
                  </a:ext>
                </a:extLst>
              </a:tr>
              <a:tr h="619125">
                <a:tc>
                  <a:txBody>
                    <a:bodyPr/>
                    <a:lstStyle/>
                    <a:p>
                      <a:r>
                        <a:rPr sz="1950" b="0">
                          <a:solidFill>
                            <a:srgbClr val="161616"/>
                          </a:solidFill>
                          <a:latin typeface="Times New Roman"/>
                          <a:ea typeface="Times New Roman"/>
                          <a:cs typeface="Times New Roman"/>
                        </a:rPr>
                        <a:t>−0.04</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74%</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82%</a:t>
                      </a:r>
                    </a:p>
                  </a:txBody>
                  <a:tcPr marL="114300" marR="114300" marT="95250" marB="95250">
                    <a:solidFill>
                      <a:srgbClr val="FFFFFF"/>
                    </a:solidFill>
                  </a:tcPr>
                </a:tc>
                <a:extLst>
                  <a:ext uri="{0D108BD9-81ED-4DB2-BD59-A6C34878D82A}">
                    <a16:rowId xmlns:a16="http://schemas.microsoft.com/office/drawing/2014/main" val="10001"/>
                  </a:ext>
                </a:extLst>
              </a:tr>
              <a:tr h="619125">
                <a:tc>
                  <a:txBody>
                    <a:bodyPr/>
                    <a:lstStyle/>
                    <a:p>
                      <a:r>
                        <a:rPr sz="1950" b="0">
                          <a:solidFill>
                            <a:srgbClr val="161616"/>
                          </a:solidFill>
                          <a:latin typeface="Times New Roman"/>
                          <a:ea typeface="Times New Roman"/>
                          <a:cs typeface="Times New Roman"/>
                        </a:rPr>
                        <a:t>0.00 baseline</a:t>
                      </a:r>
                    </a:p>
                  </a:txBody>
                  <a:tcPr marL="114300" marR="114300" marT="95250" marB="95250">
                    <a:solidFill>
                      <a:srgbClr val="F2F5F9"/>
                    </a:solidFill>
                  </a:tcPr>
                </a:tc>
                <a:tc>
                  <a:txBody>
                    <a:bodyPr/>
                    <a:lstStyle/>
                    <a:p>
                      <a:r>
                        <a:rPr sz="1950" b="0">
                          <a:solidFill>
                            <a:srgbClr val="161616"/>
                          </a:solidFill>
                          <a:latin typeface="Times New Roman"/>
                          <a:ea typeface="Times New Roman"/>
                          <a:cs typeface="Times New Roman"/>
                        </a:rPr>
                        <a:t>76%</a:t>
                      </a:r>
                    </a:p>
                  </a:txBody>
                  <a:tcPr marL="114300" marR="114300" marT="95250" marB="95250">
                    <a:solidFill>
                      <a:srgbClr val="F2F5F9"/>
                    </a:solidFill>
                  </a:tcPr>
                </a:tc>
                <a:tc>
                  <a:txBody>
                    <a:bodyPr/>
                    <a:lstStyle/>
                    <a:p>
                      <a:r>
                        <a:rPr sz="1950" b="0">
                          <a:solidFill>
                            <a:srgbClr val="161616"/>
                          </a:solidFill>
                          <a:latin typeface="Times New Roman"/>
                          <a:ea typeface="Times New Roman"/>
                          <a:cs typeface="Times New Roman"/>
                        </a:rPr>
                        <a:t>86%</a:t>
                      </a:r>
                    </a:p>
                  </a:txBody>
                  <a:tcPr marL="114300" marR="114300" marT="95250" marB="95250">
                    <a:solidFill>
                      <a:srgbClr val="F2F5F9"/>
                    </a:solidFill>
                  </a:tcPr>
                </a:tc>
                <a:extLst>
                  <a:ext uri="{0D108BD9-81ED-4DB2-BD59-A6C34878D82A}">
                    <a16:rowId xmlns:a16="http://schemas.microsoft.com/office/drawing/2014/main" val="10002"/>
                  </a:ext>
                </a:extLst>
              </a:tr>
              <a:tr h="619125">
                <a:tc>
                  <a:txBody>
                    <a:bodyPr/>
                    <a:lstStyle/>
                    <a:p>
                      <a:r>
                        <a:rPr sz="1950" b="0">
                          <a:solidFill>
                            <a:srgbClr val="161616"/>
                          </a:solidFill>
                          <a:latin typeface="Times New Roman"/>
                          <a:ea typeface="Times New Roman"/>
                          <a:cs typeface="Times New Roman"/>
                        </a:rPr>
                        <a:t>+0.04</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82%</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90%</a:t>
                      </a:r>
                    </a:p>
                  </a:txBody>
                  <a:tcPr marL="114300" marR="114300" marT="95250" marB="95250">
                    <a:solidFill>
                      <a:srgbClr val="FFFFFF"/>
                    </a:solidFill>
                  </a:tcPr>
                </a:tc>
                <a:extLst>
                  <a:ext uri="{0D108BD9-81ED-4DB2-BD59-A6C34878D82A}">
                    <a16:rowId xmlns:a16="http://schemas.microsoft.com/office/drawing/2014/main" val="10003"/>
                  </a:ext>
                </a:extLst>
              </a:tr>
              <a:tr h="619125">
                <a:tc>
                  <a:txBody>
                    <a:bodyPr/>
                    <a:lstStyle/>
                    <a:p>
                      <a:r>
                        <a:rPr sz="1950" b="0">
                          <a:solidFill>
                            <a:srgbClr val="161616"/>
                          </a:solidFill>
                          <a:latin typeface="Times New Roman"/>
                          <a:ea typeface="Times New Roman"/>
                          <a:cs typeface="Times New Roman"/>
                        </a:rPr>
                        <a:t>+0.08 selected</a:t>
                      </a:r>
                    </a:p>
                  </a:txBody>
                  <a:tcPr marL="114300" marR="114300" marT="95250" marB="95250">
                    <a:solidFill>
                      <a:srgbClr val="F2F5F9"/>
                    </a:solidFill>
                  </a:tcPr>
                </a:tc>
                <a:tc>
                  <a:txBody>
                    <a:bodyPr/>
                    <a:lstStyle/>
                    <a:p>
                      <a:r>
                        <a:rPr sz="1950" b="0">
                          <a:solidFill>
                            <a:srgbClr val="161616"/>
                          </a:solidFill>
                          <a:latin typeface="Times New Roman"/>
                          <a:ea typeface="Times New Roman"/>
                          <a:cs typeface="Times New Roman"/>
                        </a:rPr>
                        <a:t>84%</a:t>
                      </a:r>
                    </a:p>
                  </a:txBody>
                  <a:tcPr marL="114300" marR="114300" marT="95250" marB="95250">
                    <a:solidFill>
                      <a:srgbClr val="F2F5F9"/>
                    </a:solidFill>
                  </a:tcPr>
                </a:tc>
                <a:tc>
                  <a:txBody>
                    <a:bodyPr/>
                    <a:lstStyle/>
                    <a:p>
                      <a:r>
                        <a:rPr sz="1950" b="0">
                          <a:solidFill>
                            <a:srgbClr val="161616"/>
                          </a:solidFill>
                          <a:latin typeface="Times New Roman"/>
                          <a:ea typeface="Times New Roman"/>
                          <a:cs typeface="Times New Roman"/>
                        </a:rPr>
                        <a:t>92%</a:t>
                      </a:r>
                    </a:p>
                  </a:txBody>
                  <a:tcPr marL="114300" marR="114300" marT="95250" marB="95250">
                    <a:solidFill>
                      <a:srgbClr val="F2F5F9"/>
                    </a:solidFill>
                  </a:tcPr>
                </a:tc>
                <a:extLst>
                  <a:ext uri="{0D108BD9-81ED-4DB2-BD59-A6C34878D82A}">
                    <a16:rowId xmlns:a16="http://schemas.microsoft.com/office/drawing/2014/main" val="10004"/>
                  </a:ext>
                </a:extLst>
              </a:tr>
              <a:tr h="619125">
                <a:tc>
                  <a:txBody>
                    <a:bodyPr/>
                    <a:lstStyle/>
                    <a:p>
                      <a:r>
                        <a:rPr sz="1950" b="0">
                          <a:solidFill>
                            <a:srgbClr val="161616"/>
                          </a:solidFill>
                          <a:latin typeface="Times New Roman"/>
                          <a:ea typeface="Times New Roman"/>
                          <a:cs typeface="Times New Roman"/>
                        </a:rPr>
                        <a:t>+0.12</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82%</a:t>
                      </a:r>
                    </a:p>
                  </a:txBody>
                  <a:tcPr marL="114300" marR="114300" marT="95250" marB="95250">
                    <a:solidFill>
                      <a:srgbClr val="FFFFFF"/>
                    </a:solidFill>
                  </a:tcPr>
                </a:tc>
                <a:tc>
                  <a:txBody>
                    <a:bodyPr/>
                    <a:lstStyle/>
                    <a:p>
                      <a:r>
                        <a:rPr sz="1950" b="0">
                          <a:solidFill>
                            <a:srgbClr val="161616"/>
                          </a:solidFill>
                          <a:latin typeface="Times New Roman"/>
                          <a:ea typeface="Times New Roman"/>
                          <a:cs typeface="Times New Roman"/>
                        </a:rPr>
                        <a:t>92%</a:t>
                      </a:r>
                    </a:p>
                  </a:txBody>
                  <a:tcPr marL="114300" marR="114300" marT="95250" marB="95250">
                    <a:solidFill>
                      <a:srgbClr val="FFFFFF"/>
                    </a:solidFill>
                  </a:tcPr>
                </a:tc>
                <a:extLst>
                  <a:ext uri="{0D108BD9-81ED-4DB2-BD59-A6C34878D82A}">
                    <a16:rowId xmlns:a16="http://schemas.microsoft.com/office/drawing/2014/main" val="10005"/>
                  </a:ext>
                </a:extLst>
              </a:tr>
            </a:tbl>
          </a:graphicData>
        </a:graphic>
      </p:graphicFrame>
      <p:sp>
        <p:nvSpPr>
          <p:cNvPr id="14" name="Rectangle 13">
            <a:extLst>
              <a:ext uri="{FF2B5EF4-FFF2-40B4-BE49-F238E27FC236}">
                <a16:creationId xmlns:a16="http://schemas.microsoft.com/office/drawing/2014/main" id="{D0628CB3-79B0-4913-9B63-33816001C66F}"/>
              </a:ext>
            </a:extLst>
          </p:cNvPr>
          <p:cNvSpPr>
            <a:spLocks noGrp="1"/>
          </p:cNvSpPr>
          <p:nvPr/>
        </p:nvSpPr>
        <p:spPr>
          <a:xfrm>
            <a:off x="762000" y="5791200"/>
            <a:ext cx="10668000" cy="457200"/>
          </a:xfrm>
          <a:prstGeom prst="rect">
            <a:avLst/>
          </a:prstGeom>
          <a:noFill/>
          <a:ln w="0">
            <a:noFill/>
          </a:ln>
        </p:spPr>
        <p:txBody>
          <a:bodyPr anchor="ctr">
            <a:noAutofit/>
          </a:bodyPr>
          <a:lstStyle/>
          <a:p>
            <a:pPr algn="l">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50 matched seeds per setting. Larger closure did not keep improving success.</a:t>
            </a:r>
          </a:p>
        </p:txBody>
      </p:sp>
    </p:spTree>
    <p:extLst>
      <p:ext uri="{BB962C8B-B14F-4D97-AF65-F5344CB8AC3E}">
        <p14:creationId xmlns:p14="http://schemas.microsoft.com/office/powerpoint/2010/main" val="395702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8F177A31-33A1-4C13-9534-843391A4B219}"/>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Why the grasp adjustment helped</a:t>
            </a:r>
          </a:p>
        </p:txBody>
      </p:sp>
      <p:sp>
        <p:nvSpPr>
          <p:cNvPr id="4" name="footer">
            <a:extLst>
              <a:ext uri="{FF2B5EF4-FFF2-40B4-BE49-F238E27FC236}">
                <a16:creationId xmlns:a16="http://schemas.microsoft.com/office/drawing/2014/main" id="{F014CE0D-FDA9-40C8-B651-A77F57843CF3}"/>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12</a:t>
            </a:r>
          </a:p>
        </p:txBody>
      </p:sp>
      <p:sp>
        <p:nvSpPr>
          <p:cNvPr id="6" name="Rectangle 5">
            <a:extLst>
              <a:ext uri="{FF2B5EF4-FFF2-40B4-BE49-F238E27FC236}">
                <a16:creationId xmlns:a16="http://schemas.microsoft.com/office/drawing/2014/main" id="{98C221B4-BA62-49F4-B28B-67F0A0CDDE30}"/>
              </a:ext>
            </a:extLst>
          </p:cNvPr>
          <p:cNvSpPr>
            <a:spLocks noGrp="1"/>
          </p:cNvSpPr>
          <p:nvPr/>
        </p:nvSpPr>
        <p:spPr>
          <a:xfrm>
            <a:off x="762000" y="1524000"/>
            <a:ext cx="10477500" cy="428625"/>
          </a:xfrm>
          <a:prstGeom prst="rect">
            <a:avLst/>
          </a:prstGeom>
          <a:noFill/>
          <a:ln w="0">
            <a:noFill/>
          </a:ln>
        </p:spPr>
        <p:txBody>
          <a:bodyPr anchor="ctr">
            <a:noAutofit/>
          </a:bodyPr>
          <a:lstStyle/>
          <a:p>
            <a:pPr algn="l">
              <a:defRPr sz="2325" b="1">
                <a:solidFill>
                  <a:srgbClr val="315A9E"/>
                </a:solidFill>
                <a:latin typeface="Times New Roman"/>
                <a:ea typeface="Times New Roman"/>
                <a:cs typeface="Times New Roman"/>
              </a:defRPr>
            </a:pPr>
            <a:r>
              <a:rPr sz="2325" b="1">
                <a:solidFill>
                  <a:srgbClr val="315A9E"/>
                </a:solidFill>
                <a:latin typeface="Times New Roman"/>
                <a:ea typeface="Times New Roman"/>
                <a:cs typeface="Times New Roman"/>
              </a:rPr>
              <a:t>More closure while carrying the ball</a:t>
            </a:r>
          </a:p>
        </p:txBody>
      </p:sp>
      <p:sp>
        <p:nvSpPr>
          <p:cNvPr id="7" name="Rectangle 6">
            <a:extLst>
              <a:ext uri="{FF2B5EF4-FFF2-40B4-BE49-F238E27FC236}">
                <a16:creationId xmlns:a16="http://schemas.microsoft.com/office/drawing/2014/main" id="{EF5F3978-99E4-4E25-B4D1-3013D99D19DC}"/>
              </a:ext>
            </a:extLst>
          </p:cNvPr>
          <p:cNvSpPr>
            <a:spLocks noGrp="1"/>
          </p:cNvSpPr>
          <p:nvPr/>
        </p:nvSpPr>
        <p:spPr>
          <a:xfrm>
            <a:off x="762000" y="2028825"/>
            <a:ext cx="10477500" cy="876300"/>
          </a:xfrm>
          <a:prstGeom prst="rect">
            <a:avLst/>
          </a:prstGeom>
          <a:noFill/>
          <a:ln w="0">
            <a:noFill/>
          </a:ln>
        </p:spPr>
        <p:txBody>
          <a:bodyPr anchor="ctr">
            <a:noAutofit/>
          </a:bodyPr>
          <a:lstStyle/>
          <a:p>
            <a:pPr algn="l">
              <a:defRPr sz="2175" b="0">
                <a:solidFill>
                  <a:srgbClr val="161616"/>
                </a:solidFill>
                <a:latin typeface="Times New Roman"/>
                <a:ea typeface="Times New Roman"/>
                <a:cs typeface="Times New Roman"/>
              </a:defRPr>
            </a:pPr>
            <a:r>
              <a:rPr sz="2175" b="0">
                <a:solidFill>
                  <a:srgbClr val="161616"/>
                </a:solidFill>
                <a:latin typeface="Times New Roman"/>
                <a:ea typeface="Times New Roman"/>
                <a:cs typeface="Times New Roman"/>
              </a:rPr>
              <a:t>The added position target can tighten finger contact during lift and windup. Hold and release pass in 91 trials instead of 88.</a:t>
            </a:r>
          </a:p>
        </p:txBody>
      </p:sp>
      <p:sp>
        <p:nvSpPr>
          <p:cNvPr id="8" name="Rectangle 7">
            <a:extLst>
              <a:ext uri="{FF2B5EF4-FFF2-40B4-BE49-F238E27FC236}">
                <a16:creationId xmlns:a16="http://schemas.microsoft.com/office/drawing/2014/main" id="{BB1A6245-BB6B-4B65-BA67-327F33C4B33D}"/>
              </a:ext>
            </a:extLst>
          </p:cNvPr>
          <p:cNvSpPr>
            <a:spLocks noGrp="1"/>
          </p:cNvSpPr>
          <p:nvPr/>
        </p:nvSpPr>
        <p:spPr>
          <a:xfrm>
            <a:off x="762000" y="3257550"/>
            <a:ext cx="10477500" cy="428625"/>
          </a:xfrm>
          <a:prstGeom prst="rect">
            <a:avLst/>
          </a:prstGeom>
          <a:noFill/>
          <a:ln w="0">
            <a:noFill/>
          </a:ln>
        </p:spPr>
        <p:txBody>
          <a:bodyPr anchor="ctr">
            <a:noAutofit/>
          </a:bodyPr>
          <a:lstStyle/>
          <a:p>
            <a:pPr algn="l">
              <a:defRPr sz="2325" b="1">
                <a:solidFill>
                  <a:srgbClr val="315A9E"/>
                </a:solidFill>
                <a:latin typeface="Times New Roman"/>
                <a:ea typeface="Times New Roman"/>
                <a:cs typeface="Times New Roman"/>
              </a:defRPr>
            </a:pPr>
            <a:r>
              <a:rPr sz="2325" b="1">
                <a:solidFill>
                  <a:srgbClr val="315A9E"/>
                </a:solidFill>
                <a:latin typeface="Times New Roman"/>
                <a:ea typeface="Times New Roman"/>
                <a:cs typeface="Times New Roman"/>
              </a:rPr>
              <a:t>The existing throw schedule remains available</a:t>
            </a:r>
          </a:p>
        </p:txBody>
      </p:sp>
      <p:sp>
        <p:nvSpPr>
          <p:cNvPr id="9" name="Rectangle 8">
            <a:extLst>
              <a:ext uri="{FF2B5EF4-FFF2-40B4-BE49-F238E27FC236}">
                <a16:creationId xmlns:a16="http://schemas.microsoft.com/office/drawing/2014/main" id="{A04F0C59-5AD2-4C19-B0CD-B5C3A6F2BE38}"/>
              </a:ext>
            </a:extLst>
          </p:cNvPr>
          <p:cNvSpPr>
            <a:spLocks noGrp="1"/>
          </p:cNvSpPr>
          <p:nvPr/>
        </p:nvSpPr>
        <p:spPr>
          <a:xfrm>
            <a:off x="762000" y="3762375"/>
            <a:ext cx="10477500" cy="876300"/>
          </a:xfrm>
          <a:prstGeom prst="rect">
            <a:avLst/>
          </a:prstGeom>
          <a:noFill/>
          <a:ln w="0">
            <a:noFill/>
          </a:ln>
        </p:spPr>
        <p:txBody>
          <a:bodyPr anchor="ctr">
            <a:noAutofit/>
          </a:bodyPr>
          <a:lstStyle/>
          <a:p>
            <a:pPr algn="l">
              <a:defRPr sz="2175" b="0">
                <a:solidFill>
                  <a:srgbClr val="161616"/>
                </a:solidFill>
                <a:latin typeface="Times New Roman"/>
                <a:ea typeface="Times New Roman"/>
                <a:cs typeface="Times New Roman"/>
              </a:defRPr>
            </a:pPr>
            <a:r>
              <a:rPr sz="2175" b="0">
                <a:solidFill>
                  <a:srgbClr val="161616"/>
                </a:solidFill>
                <a:latin typeface="Times New Roman"/>
                <a:ea typeface="Times New Roman"/>
                <a:cs typeface="Times New Roman"/>
              </a:rPr>
              <a:t>The extra closure ends before the scheduled opening. Mean forward distance increases from 19.7 cm to 20.9 cm.</a:t>
            </a:r>
          </a:p>
        </p:txBody>
      </p:sp>
      <p:sp>
        <p:nvSpPr>
          <p:cNvPr id="10" name="Rectangle 9">
            <a:extLst>
              <a:ext uri="{FF2B5EF4-FFF2-40B4-BE49-F238E27FC236}">
                <a16:creationId xmlns:a16="http://schemas.microsoft.com/office/drawing/2014/main" id="{4935FA5A-8869-469E-AE99-1B0FF3845CB2}"/>
              </a:ext>
            </a:extLst>
          </p:cNvPr>
          <p:cNvSpPr>
            <a:spLocks noGrp="1"/>
          </p:cNvSpPr>
          <p:nvPr/>
        </p:nvSpPr>
        <p:spPr>
          <a:xfrm>
            <a:off x="762000" y="5257800"/>
            <a:ext cx="10477500" cy="685800"/>
          </a:xfrm>
          <a:prstGeom prst="rect">
            <a:avLst/>
          </a:prstGeom>
          <a:noFill/>
          <a:ln w="0">
            <a:noFill/>
          </a:ln>
        </p:spPr>
        <p:txBody>
          <a:bodyPr anchor="ctr">
            <a:noAutofit/>
          </a:bodyPr>
          <a:lstStyle/>
          <a:p>
            <a:pPr algn="l">
              <a:defRPr sz="1875" b="0">
                <a:solidFill>
                  <a:srgbClr val="666666"/>
                </a:solidFill>
                <a:latin typeface="Times New Roman"/>
                <a:ea typeface="Times New Roman"/>
                <a:cs typeface="Times New Roman"/>
              </a:defRPr>
            </a:pPr>
            <a:r>
              <a:rPr sz="1875" b="0">
                <a:solidFill>
                  <a:srgbClr val="666666"/>
                </a:solidFill>
                <a:latin typeface="Times New Roman"/>
                <a:ea typeface="Times New Roman"/>
                <a:cs typeface="Times New Roman"/>
              </a:rPr>
              <a:t>This is a plausible contact-mechanics explanation supported by the outcome changes. The logs do not establish a measured force increase.</a:t>
            </a:r>
          </a:p>
        </p:txBody>
      </p:sp>
    </p:spTree>
    <p:extLst>
      <p:ext uri="{BB962C8B-B14F-4D97-AF65-F5344CB8AC3E}">
        <p14:creationId xmlns:p14="http://schemas.microsoft.com/office/powerpoint/2010/main" val="476060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D08DBE3F-C285-4A18-AE6A-58FCB2521ED2}"/>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After adjustment: the same episode passes</a:t>
            </a:r>
          </a:p>
        </p:txBody>
      </p:sp>
      <p:sp>
        <p:nvSpPr>
          <p:cNvPr id="8" name="footer">
            <a:extLst>
              <a:ext uri="{FF2B5EF4-FFF2-40B4-BE49-F238E27FC236}">
                <a16:creationId xmlns:a16="http://schemas.microsoft.com/office/drawing/2014/main" id="{B11A8BE7-0AB7-427E-B894-00E949701934}"/>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13</a:t>
            </a:r>
          </a:p>
        </p:txBody>
      </p:sp>
      <p:pic>
        <p:nvPicPr>
          <p:cNvPr id="19" name="Picture 1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571500" y="1333500"/>
            <a:ext cx="6858000" cy="5143500"/>
          </a:xfrm>
          <a:prstGeom prst="rect">
            <a:avLst/>
          </a:prstGeom>
        </p:spPr>
      </p:pic>
      <p:sp>
        <p:nvSpPr>
          <p:cNvPr id="11" name="Rectangle 10">
            <a:extLst>
              <a:ext uri="{FF2B5EF4-FFF2-40B4-BE49-F238E27FC236}">
                <a16:creationId xmlns:a16="http://schemas.microsoft.com/office/drawing/2014/main" id="{FC6EE4D6-92C0-4A81-8F50-B14236273554}"/>
              </a:ext>
            </a:extLst>
          </p:cNvPr>
          <p:cNvSpPr>
            <a:spLocks noGrp="1"/>
          </p:cNvSpPr>
          <p:nvPr/>
        </p:nvSpPr>
        <p:spPr>
          <a:xfrm>
            <a:off x="7858125" y="1600200"/>
            <a:ext cx="3429000" cy="762000"/>
          </a:xfrm>
          <a:prstGeom prst="rect">
            <a:avLst/>
          </a:prstGeom>
          <a:noFill/>
          <a:ln w="0">
            <a:noFill/>
          </a:ln>
        </p:spPr>
        <p:txBody>
          <a:bodyPr anchor="ctr">
            <a:noAutofit/>
          </a:bodyPr>
          <a:lstStyle/>
          <a:p>
            <a:pPr algn="ctr">
              <a:defRPr sz="4650" b="1">
                <a:solidFill>
                  <a:srgbClr val="315A9E"/>
                </a:solidFill>
                <a:latin typeface="Times New Roman"/>
                <a:ea typeface="Times New Roman"/>
                <a:cs typeface="Times New Roman"/>
              </a:defRPr>
            </a:pPr>
            <a:r>
              <a:rPr sz="4650" b="1">
                <a:solidFill>
                  <a:srgbClr val="315A9E"/>
                </a:solidFill>
                <a:latin typeface="Times New Roman"/>
                <a:ea typeface="Times New Roman"/>
                <a:cs typeface="Times New Roman"/>
              </a:rPr>
              <a:t>16.7 cm</a:t>
            </a:r>
          </a:p>
        </p:txBody>
      </p:sp>
      <p:sp>
        <p:nvSpPr>
          <p:cNvPr id="12" name="Rectangle 11">
            <a:extLst>
              <a:ext uri="{FF2B5EF4-FFF2-40B4-BE49-F238E27FC236}">
                <a16:creationId xmlns:a16="http://schemas.microsoft.com/office/drawing/2014/main" id="{57FB3BC0-570B-4D16-B90F-9886B5F937A7}"/>
              </a:ext>
            </a:extLst>
          </p:cNvPr>
          <p:cNvSpPr>
            <a:spLocks noGrp="1"/>
          </p:cNvSpPr>
          <p:nvPr/>
        </p:nvSpPr>
        <p:spPr>
          <a:xfrm>
            <a:off x="7667625" y="2381250"/>
            <a:ext cx="3714750" cy="552450"/>
          </a:xfrm>
          <a:prstGeom prst="rect">
            <a:avLst/>
          </a:prstGeom>
          <a:noFill/>
          <a:ln w="0">
            <a:noFill/>
          </a:ln>
        </p:spPr>
        <p:txBody>
          <a:bodyPr anchor="ctr">
            <a:noAutofit/>
          </a:bodyPr>
          <a:lstStyle/>
          <a:p>
            <a:pPr algn="ctr">
              <a:defRPr sz="1875" b="0">
                <a:solidFill>
                  <a:srgbClr val="161616"/>
                </a:solidFill>
                <a:latin typeface="Times New Roman"/>
                <a:ea typeface="Times New Roman"/>
                <a:cs typeface="Times New Roman"/>
              </a:defRPr>
            </a:pPr>
            <a:r>
              <a:rPr sz="1875" b="0">
                <a:solidFill>
                  <a:srgbClr val="161616"/>
                </a:solidFill>
                <a:latin typeface="Times New Roman"/>
                <a:ea typeface="Times New Roman"/>
                <a:cs typeface="Times New Roman"/>
              </a:rPr>
              <a:t>forward distance in this clip</a:t>
            </a:r>
          </a:p>
        </p:txBody>
      </p:sp>
      <p:sp>
        <p:nvSpPr>
          <p:cNvPr id="13" name="Rectangle 12">
            <a:extLst>
              <a:ext uri="{FF2B5EF4-FFF2-40B4-BE49-F238E27FC236}">
                <a16:creationId xmlns:a16="http://schemas.microsoft.com/office/drawing/2014/main" id="{ADF1431B-974F-4691-B7A5-5C031FA8CA00}"/>
              </a:ext>
            </a:extLst>
          </p:cNvPr>
          <p:cNvSpPr>
            <a:spLocks noGrp="1"/>
          </p:cNvSpPr>
          <p:nvPr/>
        </p:nvSpPr>
        <p:spPr>
          <a:xfrm>
            <a:off x="7762875" y="3209925"/>
            <a:ext cx="3619500" cy="619125"/>
          </a:xfrm>
          <a:prstGeom prst="rect">
            <a:avLst/>
          </a:prstGeom>
          <a:noFill/>
          <a:ln w="0">
            <a:noFill/>
          </a:ln>
        </p:spPr>
        <p:txBody>
          <a:bodyPr anchor="ctr">
            <a:noAutofit/>
          </a:bodyPr>
          <a:lstStyle/>
          <a:p>
            <a:pPr algn="ctr">
              <a:defRPr sz="3150" b="1">
                <a:solidFill>
                  <a:srgbClr val="17365D"/>
                </a:solidFill>
                <a:latin typeface="Times New Roman"/>
                <a:ea typeface="Times New Roman"/>
                <a:cs typeface="Times New Roman"/>
              </a:defRPr>
            </a:pPr>
            <a:r>
              <a:rPr sz="3150" b="1">
                <a:solidFill>
                  <a:srgbClr val="17365D"/>
                </a:solidFill>
                <a:latin typeface="Times New Roman"/>
                <a:ea typeface="Times New Roman"/>
                <a:cs typeface="Times New Roman"/>
              </a:rPr>
              <a:t>PASS</a:t>
            </a:r>
          </a:p>
        </p:txBody>
      </p:sp>
      <p:sp>
        <p:nvSpPr>
          <p:cNvPr id="14" name="Rectangle 13">
            <a:extLst>
              <a:ext uri="{FF2B5EF4-FFF2-40B4-BE49-F238E27FC236}">
                <a16:creationId xmlns:a16="http://schemas.microsoft.com/office/drawing/2014/main" id="{BF2FB837-45C5-409C-85C8-46F547C57AE4}"/>
              </a:ext>
            </a:extLst>
          </p:cNvPr>
          <p:cNvSpPr>
            <a:spLocks noGrp="1"/>
          </p:cNvSpPr>
          <p:nvPr/>
        </p:nvSpPr>
        <p:spPr>
          <a:xfrm>
            <a:off x="7667625" y="3838575"/>
            <a:ext cx="3714750" cy="619125"/>
          </a:xfrm>
          <a:prstGeom prst="rect">
            <a:avLst/>
          </a:prstGeom>
          <a:noFill/>
          <a:ln w="0">
            <a:noFill/>
          </a:ln>
        </p:spPr>
        <p:txBody>
          <a:bodyPr anchor="ctr">
            <a:noAutofit/>
          </a:bodyPr>
          <a:lstStyle/>
          <a:p>
            <a:pPr algn="ctr">
              <a:defRPr sz="1875" b="0">
                <a:solidFill>
                  <a:srgbClr val="161616"/>
                </a:solidFill>
                <a:latin typeface="Times New Roman"/>
                <a:ea typeface="Times New Roman"/>
                <a:cs typeface="Times New Roman"/>
              </a:defRPr>
            </a:pPr>
            <a:r>
              <a:rPr sz="1875" b="0">
                <a:solidFill>
                  <a:srgbClr val="161616"/>
                </a:solidFill>
                <a:latin typeface="Times New Roman"/>
                <a:ea typeface="Times New Roman"/>
                <a:cs typeface="Times New Roman"/>
              </a:rPr>
              <a:t>all task criteria in this clip</a:t>
            </a:r>
          </a:p>
        </p:txBody>
      </p:sp>
      <p:sp>
        <p:nvSpPr>
          <p:cNvPr id="15" name="Rectangle 14">
            <a:extLst>
              <a:ext uri="{FF2B5EF4-FFF2-40B4-BE49-F238E27FC236}">
                <a16:creationId xmlns:a16="http://schemas.microsoft.com/office/drawing/2014/main" id="{243C0B2A-8342-42E6-A054-A040657F178D}"/>
              </a:ext>
            </a:extLst>
          </p:cNvPr>
          <p:cNvSpPr>
            <a:spLocks noGrp="1"/>
          </p:cNvSpPr>
          <p:nvPr/>
        </p:nvSpPr>
        <p:spPr>
          <a:xfrm>
            <a:off x="7762875" y="4762500"/>
            <a:ext cx="3619500" cy="971550"/>
          </a:xfrm>
          <a:prstGeom prst="rect">
            <a:avLst/>
          </a:prstGeom>
          <a:noFill/>
          <a:ln w="0">
            <a:noFill/>
          </a:ln>
        </p:spPr>
        <p:txBody>
          <a:bodyPr anchor="ctr">
            <a:noAutofit/>
          </a:bodyPr>
          <a:lstStyle/>
          <a:p>
            <a:pPr algn="ctr">
              <a:defRPr sz="1800" b="1">
                <a:solidFill>
                  <a:srgbClr val="17365D"/>
                </a:solidFill>
                <a:latin typeface="Times New Roman"/>
                <a:ea typeface="Times New Roman"/>
                <a:cs typeface="Times New Roman"/>
              </a:defRPr>
            </a:pPr>
            <a:r>
              <a:rPr sz="1800" b="1">
                <a:solidFill>
                  <a:srgbClr val="17365D"/>
                </a:solidFill>
                <a:latin typeface="Times New Roman"/>
                <a:ea typeface="Times New Roman"/>
                <a:cs typeface="Times New Roman"/>
              </a:rPr>
              <a:t>Same seed 53002</a:t>
            </a:r>
          </a:p>
          <a:p>
            <a:pPr algn="ctr">
              <a:defRPr sz="1800" b="1">
                <a:solidFill>
                  <a:srgbClr val="17365D"/>
                </a:solidFill>
                <a:latin typeface="Times New Roman"/>
                <a:ea typeface="Times New Roman"/>
                <a:cs typeface="Times New Roman"/>
              </a:defRPr>
            </a:pPr>
            <a:r>
              <a:rPr sz="1800" b="1">
                <a:solidFill>
                  <a:srgbClr val="17365D"/>
                </a:solidFill>
                <a:latin typeface="Times New Roman"/>
                <a:ea typeface="Times New Roman"/>
                <a:cs typeface="Times New Roman"/>
              </a:rPr>
              <a:t>85 / 100 on the benchmark</a:t>
            </a:r>
          </a:p>
        </p:txBody>
      </p:sp>
      <p:sp>
        <p:nvSpPr>
          <p:cNvPr id="16" name="Rectangle 15">
            <a:extLst>
              <a:ext uri="{FF2B5EF4-FFF2-40B4-BE49-F238E27FC236}">
                <a16:creationId xmlns:a16="http://schemas.microsoft.com/office/drawing/2014/main" id="{6D86134B-355E-4C0D-BD37-078F252E4437}"/>
              </a:ext>
            </a:extLst>
          </p:cNvPr>
          <p:cNvSpPr>
            <a:spLocks noGrp="1"/>
          </p:cNvSpPr>
          <p:nvPr/>
        </p:nvSpPr>
        <p:spPr>
          <a:xfrm>
            <a:off x="7905750" y="5905500"/>
            <a:ext cx="3333750" cy="304800"/>
          </a:xfrm>
          <a:prstGeom prst="rect">
            <a:avLst/>
          </a:prstGeom>
          <a:noFill/>
          <a:ln w="0">
            <a:noFill/>
          </a:ln>
        </p:spPr>
        <p:txBody>
          <a:bodyPr anchor="ctr">
            <a:noAutofit/>
          </a:bodyPr>
          <a:lstStyle/>
          <a:p>
            <a:pPr algn="ctr">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Click video to play</a:t>
            </a:r>
          </a:p>
        </p:txBody>
      </p:sp>
    </p:spTree>
    <p:extLst>
      <p:ext uri="{BB962C8B-B14F-4D97-AF65-F5344CB8AC3E}">
        <p14:creationId xmlns:p14="http://schemas.microsoft.com/office/powerpoint/2010/main" val="1158511663"/>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9"/>
                </p:tgtEl>
              </p:cMediaNode>
            </p:video>
            <p:seq concurrent="1" prevAc="none"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13EA7CC9-2658-411E-A996-C873C7A925ED}"/>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The benchmark improves by four percentage points</a:t>
            </a:r>
          </a:p>
        </p:txBody>
      </p:sp>
      <p:sp>
        <p:nvSpPr>
          <p:cNvPr id="6" name="footer">
            <a:extLst>
              <a:ext uri="{FF2B5EF4-FFF2-40B4-BE49-F238E27FC236}">
                <a16:creationId xmlns:a16="http://schemas.microsoft.com/office/drawing/2014/main" id="{6D9ADE48-D478-4D93-8A8C-965E5FE0710E}"/>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14</a:t>
            </a:r>
          </a:p>
        </p:txBody>
      </p:sp>
      <p:graphicFrame>
        <p:nvGraphicFramePr>
          <p:cNvPr id="13" name="Table 12"/>
          <p:cNvGraphicFramePr/>
          <p:nvPr/>
        </p:nvGraphicFramePr>
        <p:xfrm>
          <a:off x="762000" y="1381125"/>
          <a:ext cx="10668000" cy="3524250"/>
        </p:xfrm>
        <a:graphic>
          <a:graphicData uri="http://schemas.openxmlformats.org/drawingml/2006/table">
            <a:tbl>
              <a:tblPr/>
              <a:tblGrid>
                <a:gridCol w="5334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587375">
                <a:tc>
                  <a:txBody>
                    <a:bodyPr/>
                    <a:lstStyle/>
                    <a:p>
                      <a:r>
                        <a:rPr sz="1875" b="1">
                          <a:solidFill>
                            <a:srgbClr val="FFFFFF"/>
                          </a:solidFill>
                          <a:latin typeface="Times New Roman"/>
                          <a:ea typeface="Times New Roman"/>
                          <a:cs typeface="Times New Roman"/>
                        </a:rPr>
                        <a:t>Metric</a:t>
                      </a:r>
                    </a:p>
                  </a:txBody>
                  <a:tcPr marL="114300" marR="114300" marT="95250" marB="95250">
                    <a:solidFill>
                      <a:srgbClr val="17365D"/>
                    </a:solidFill>
                  </a:tcPr>
                </a:tc>
                <a:tc>
                  <a:txBody>
                    <a:bodyPr/>
                    <a:lstStyle/>
                    <a:p>
                      <a:r>
                        <a:rPr sz="1875" b="1">
                          <a:solidFill>
                            <a:srgbClr val="FFFFFF"/>
                          </a:solidFill>
                          <a:latin typeface="Times New Roman"/>
                          <a:ea typeface="Times New Roman"/>
                          <a:cs typeface="Times New Roman"/>
                        </a:rPr>
                        <a:t>Baseline</a:t>
                      </a:r>
                    </a:p>
                  </a:txBody>
                  <a:tcPr marL="114300" marR="114300" marT="95250" marB="95250">
                    <a:solidFill>
                      <a:srgbClr val="17365D"/>
                    </a:solidFill>
                  </a:tcPr>
                </a:tc>
                <a:tc>
                  <a:txBody>
                    <a:bodyPr/>
                    <a:lstStyle/>
                    <a:p>
                      <a:r>
                        <a:rPr sz="1875" b="1">
                          <a:solidFill>
                            <a:srgbClr val="FFFFFF"/>
                          </a:solidFill>
                          <a:latin typeface="Times New Roman"/>
                          <a:ea typeface="Times New Roman"/>
                          <a:cs typeface="Times New Roman"/>
                        </a:rPr>
                        <a:t>Adjusted</a:t>
                      </a:r>
                    </a:p>
                  </a:txBody>
                  <a:tcPr marL="114300" marR="114300" marT="95250" marB="95250">
                    <a:solidFill>
                      <a:srgbClr val="17365D"/>
                    </a:solidFill>
                  </a:tcPr>
                </a:tc>
                <a:extLst>
                  <a:ext uri="{0D108BD9-81ED-4DB2-BD59-A6C34878D82A}">
                    <a16:rowId xmlns:a16="http://schemas.microsoft.com/office/drawing/2014/main" val="10000"/>
                  </a:ext>
                </a:extLst>
              </a:tr>
              <a:tr h="587375">
                <a:tc>
                  <a:txBody>
                    <a:bodyPr/>
                    <a:lstStyle/>
                    <a:p>
                      <a:r>
                        <a:rPr sz="1875" b="0">
                          <a:solidFill>
                            <a:srgbClr val="161616"/>
                          </a:solidFill>
                          <a:latin typeface="Times New Roman"/>
                          <a:ea typeface="Times New Roman"/>
                          <a:cs typeface="Times New Roman"/>
                        </a:rPr>
                        <a:t>Full success</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81 / 100</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85 / 100</a:t>
                      </a:r>
                    </a:p>
                  </a:txBody>
                  <a:tcPr marL="114300" marR="114300" marT="95250" marB="95250">
                    <a:solidFill>
                      <a:srgbClr val="FFFFFF"/>
                    </a:solidFill>
                  </a:tcPr>
                </a:tc>
                <a:extLst>
                  <a:ext uri="{0D108BD9-81ED-4DB2-BD59-A6C34878D82A}">
                    <a16:rowId xmlns:a16="http://schemas.microsoft.com/office/drawing/2014/main" val="10001"/>
                  </a:ext>
                </a:extLst>
              </a:tr>
              <a:tr h="587375">
                <a:tc>
                  <a:txBody>
                    <a:bodyPr/>
                    <a:lstStyle/>
                    <a:p>
                      <a:r>
                        <a:rPr sz="1875" b="0">
                          <a:solidFill>
                            <a:srgbClr val="161616"/>
                          </a:solidFill>
                          <a:latin typeface="Times New Roman"/>
                          <a:ea typeface="Times New Roman"/>
                          <a:cs typeface="Times New Roman"/>
                        </a:rPr>
                        <a:t>Reach / grasp</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100% / 97%</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99% / 96%</a:t>
                      </a:r>
                    </a:p>
                  </a:txBody>
                  <a:tcPr marL="114300" marR="114300" marT="95250" marB="95250">
                    <a:solidFill>
                      <a:srgbClr val="F2F5F9"/>
                    </a:solidFill>
                  </a:tcPr>
                </a:tc>
                <a:extLst>
                  <a:ext uri="{0D108BD9-81ED-4DB2-BD59-A6C34878D82A}">
                    <a16:rowId xmlns:a16="http://schemas.microsoft.com/office/drawing/2014/main" val="10002"/>
                  </a:ext>
                </a:extLst>
              </a:tr>
              <a:tr h="587375">
                <a:tc>
                  <a:txBody>
                    <a:bodyPr/>
                    <a:lstStyle/>
                    <a:p>
                      <a:r>
                        <a:rPr sz="1875" b="0">
                          <a:solidFill>
                            <a:srgbClr val="161616"/>
                          </a:solidFill>
                          <a:latin typeface="Times New Roman"/>
                          <a:ea typeface="Times New Roman"/>
                          <a:cs typeface="Times New Roman"/>
                        </a:rPr>
                        <a:t>Hold / release</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88% / 88%</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91% / 91%</a:t>
                      </a:r>
                    </a:p>
                  </a:txBody>
                  <a:tcPr marL="114300" marR="114300" marT="95250" marB="95250">
                    <a:solidFill>
                      <a:srgbClr val="FFFFFF"/>
                    </a:solidFill>
                  </a:tcPr>
                </a:tc>
                <a:extLst>
                  <a:ext uri="{0D108BD9-81ED-4DB2-BD59-A6C34878D82A}">
                    <a16:rowId xmlns:a16="http://schemas.microsoft.com/office/drawing/2014/main" val="10003"/>
                  </a:ext>
                </a:extLst>
              </a:tr>
              <a:tr h="587375">
                <a:tc>
                  <a:txBody>
                    <a:bodyPr/>
                    <a:lstStyle/>
                    <a:p>
                      <a:r>
                        <a:rPr sz="1875" b="0">
                          <a:solidFill>
                            <a:srgbClr val="161616"/>
                          </a:solidFill>
                          <a:latin typeface="Times New Roman"/>
                          <a:ea typeface="Times New Roman"/>
                          <a:cs typeface="Times New Roman"/>
                        </a:rPr>
                        <a:t>Mean forward distance</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19.7 cm</a:t>
                      </a:r>
                    </a:p>
                  </a:txBody>
                  <a:tcPr marL="114300" marR="114300" marT="95250" marB="95250">
                    <a:solidFill>
                      <a:srgbClr val="F2F5F9"/>
                    </a:solidFill>
                  </a:tcPr>
                </a:tc>
                <a:tc>
                  <a:txBody>
                    <a:bodyPr/>
                    <a:lstStyle/>
                    <a:p>
                      <a:r>
                        <a:rPr sz="1875" b="0">
                          <a:solidFill>
                            <a:srgbClr val="161616"/>
                          </a:solidFill>
                          <a:latin typeface="Times New Roman"/>
                          <a:ea typeface="Times New Roman"/>
                          <a:cs typeface="Times New Roman"/>
                        </a:rPr>
                        <a:t>20.9 cm</a:t>
                      </a:r>
                    </a:p>
                  </a:txBody>
                  <a:tcPr marL="114300" marR="114300" marT="95250" marB="95250">
                    <a:solidFill>
                      <a:srgbClr val="F2F5F9"/>
                    </a:solidFill>
                  </a:tcPr>
                </a:tc>
                <a:extLst>
                  <a:ext uri="{0D108BD9-81ED-4DB2-BD59-A6C34878D82A}">
                    <a16:rowId xmlns:a16="http://schemas.microsoft.com/office/drawing/2014/main" val="10004"/>
                  </a:ext>
                </a:extLst>
              </a:tr>
              <a:tr h="587375">
                <a:tc>
                  <a:txBody>
                    <a:bodyPr/>
                    <a:lstStyle/>
                    <a:p>
                      <a:r>
                        <a:rPr sz="1875" b="0">
                          <a:solidFill>
                            <a:srgbClr val="161616"/>
                          </a:solidFill>
                          <a:latin typeface="Times New Roman"/>
                          <a:ea typeface="Times New Roman"/>
                          <a:cs typeface="Times New Roman"/>
                        </a:rPr>
                        <a:t>Mean peak forward speed</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0.581 m/s</a:t>
                      </a:r>
                    </a:p>
                  </a:txBody>
                  <a:tcPr marL="114300" marR="114300" marT="95250" marB="95250">
                    <a:solidFill>
                      <a:srgbClr val="FFFFFF"/>
                    </a:solidFill>
                  </a:tcPr>
                </a:tc>
                <a:tc>
                  <a:txBody>
                    <a:bodyPr/>
                    <a:lstStyle/>
                    <a:p>
                      <a:r>
                        <a:rPr sz="1875" b="0">
                          <a:solidFill>
                            <a:srgbClr val="161616"/>
                          </a:solidFill>
                          <a:latin typeface="Times New Roman"/>
                          <a:ea typeface="Times New Roman"/>
                          <a:cs typeface="Times New Roman"/>
                        </a:rPr>
                        <a:t>0.606 m/s</a:t>
                      </a:r>
                    </a:p>
                  </a:txBody>
                  <a:tcPr marL="114300" marR="114300" marT="95250" marB="95250">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C5DDCDCA-FDF5-4E2D-A5D8-604964EB4529}"/>
              </a:ext>
            </a:extLst>
          </p:cNvPr>
          <p:cNvSpPr>
            <a:spLocks noGrp="1"/>
          </p:cNvSpPr>
          <p:nvPr/>
        </p:nvSpPr>
        <p:spPr>
          <a:xfrm>
            <a:off x="762000" y="5219700"/>
            <a:ext cx="10668000" cy="438150"/>
          </a:xfrm>
          <a:prstGeom prst="rect">
            <a:avLst/>
          </a:prstGeom>
          <a:noFill/>
          <a:ln w="0">
            <a:noFill/>
          </a:ln>
        </p:spPr>
        <p:txBody>
          <a:bodyPr anchor="ctr">
            <a:noAutofit/>
          </a:bodyPr>
          <a:lstStyle/>
          <a:p>
            <a:pPr algn="l">
              <a:defRPr sz="1950" b="1">
                <a:solidFill>
                  <a:srgbClr val="17365D"/>
                </a:solidFill>
                <a:latin typeface="Times New Roman"/>
                <a:ea typeface="Times New Roman"/>
                <a:cs typeface="Times New Roman"/>
              </a:defRPr>
            </a:pPr>
            <a:r>
              <a:rPr sz="1950" b="1">
                <a:solidFill>
                  <a:srgbClr val="17365D"/>
                </a:solidFill>
                <a:latin typeface="Times New Roman"/>
                <a:ea typeface="Times New Roman"/>
                <a:cs typeface="Times New Roman"/>
              </a:rPr>
              <a:t>6 recovered cases, 2 regressions, 79 successes in both, 13 failures in both</a:t>
            </a:r>
          </a:p>
        </p:txBody>
      </p:sp>
      <p:sp>
        <p:nvSpPr>
          <p:cNvPr id="10" name="Rectangle 9">
            <a:extLst>
              <a:ext uri="{FF2B5EF4-FFF2-40B4-BE49-F238E27FC236}">
                <a16:creationId xmlns:a16="http://schemas.microsoft.com/office/drawing/2014/main" id="{F61EC325-E4D7-4E7E-A25A-2310CF1D0B15}"/>
              </a:ext>
            </a:extLst>
          </p:cNvPr>
          <p:cNvSpPr>
            <a:spLocks noGrp="1"/>
          </p:cNvSpPr>
          <p:nvPr/>
        </p:nvSpPr>
        <p:spPr>
          <a:xfrm>
            <a:off x="762000" y="5762625"/>
            <a:ext cx="10668000" cy="438150"/>
          </a:xfrm>
          <a:prstGeom prst="rect">
            <a:avLst/>
          </a:prstGeom>
          <a:noFill/>
          <a:ln w="0">
            <a:noFill/>
          </a:ln>
        </p:spPr>
        <p:txBody>
          <a:bodyPr anchor="ctr">
            <a:noAutofit/>
          </a:bodyPr>
          <a:lstStyle/>
          <a:p>
            <a:pPr algn="l">
              <a:defRPr sz="1725" b="0">
                <a:solidFill>
                  <a:srgbClr val="666666"/>
                </a:solidFill>
                <a:latin typeface="Times New Roman"/>
                <a:ea typeface="Times New Roman"/>
                <a:cs typeface="Times New Roman"/>
              </a:defRPr>
            </a:pPr>
            <a:r>
              <a:rPr sz="1725" b="0">
                <a:solidFill>
                  <a:srgbClr val="666666"/>
                </a:solidFill>
                <a:latin typeface="Times New Roman"/>
                <a:ea typeface="Times New Roman"/>
                <a:cs typeface="Times New Roman"/>
              </a:rPr>
              <a:t>These seeds informed tuning. A fresh randomized test set is still needed to confirm generalization.</a:t>
            </a:r>
          </a:p>
        </p:txBody>
      </p:sp>
    </p:spTree>
    <p:extLst>
      <p:ext uri="{BB962C8B-B14F-4D97-AF65-F5344CB8AC3E}">
        <p14:creationId xmlns:p14="http://schemas.microsoft.com/office/powerpoint/2010/main" val="1107151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8F177A31-33A1-4C13-9534-843391A4B219}"/>
              </a:ext>
            </a:extLst>
          </p:cNvPr>
          <p:cNvSpPr>
            <a:spLocks noGrp="1"/>
          </p:cNvSpPr>
          <p:nvPr/>
        </p:nvSpPr>
        <p:spPr>
          <a:xfrm>
            <a:off x="666750" y="419100"/>
            <a:ext cx="10858500" cy="628650"/>
          </a:xfrm>
          <a:prstGeom prst="rect">
            <a:avLst/>
          </a:prstGeom>
          <a:noFill/>
          <a:ln w="0">
            <a:noFill/>
            <a:prstDash val="solid"/>
          </a:ln>
        </p:spPr>
        <p:txBody>
          <a:bodyPr lIns="0" tIns="0" rIns="0" bIns="0" anchor="t">
            <a:no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The improvement is specific and measurable</a:t>
            </a:r>
          </a:p>
        </p:txBody>
      </p:sp>
      <p:sp>
        <p:nvSpPr>
          <p:cNvPr id="4" name="footer">
            <a:extLst>
              <a:ext uri="{FF2B5EF4-FFF2-40B4-BE49-F238E27FC236}">
                <a16:creationId xmlns:a16="http://schemas.microsoft.com/office/drawing/2014/main" id="{F014CE0D-FDA9-40C8-B651-A77F57843CF3}"/>
              </a:ext>
            </a:extLst>
          </p:cNvPr>
          <p:cNvSpPr>
            <a:spLocks noGrp="1"/>
          </p:cNvSpPr>
          <p:nvPr/>
        </p:nvSpPr>
        <p:spPr>
          <a:xfrm>
            <a:off x="10287000" y="6486525"/>
            <a:ext cx="1238250" cy="209550"/>
          </a:xfrm>
          <a:prstGeom prst="rect">
            <a:avLst/>
          </a:prstGeom>
          <a:noFill/>
          <a:ln w="0">
            <a:noFill/>
            <a:prstDash val="solid"/>
          </a:ln>
        </p:spPr>
        <p:txBody>
          <a:bodyPr lIns="0" tIns="0" rIns="0" bIns="0" anchor="t">
            <a:noAutofit/>
          </a:bodyPr>
          <a:lstStyle/>
          <a:p>
            <a:pPr algn="r">
              <a:buNone/>
              <a:defRPr sz="1125" b="0" i="0">
                <a:solidFill>
                  <a:srgbClr val="666666"/>
                </a:solidFill>
                <a:latin typeface="Times New Roman"/>
                <a:ea typeface="Times New Roman"/>
                <a:cs typeface="Times New Roman"/>
              </a:defRPr>
            </a:pPr>
            <a:r>
              <a:rPr sz="1125" b="0" i="0">
                <a:solidFill>
                  <a:srgbClr val="666666"/>
                </a:solidFill>
                <a:latin typeface="Times New Roman"/>
                <a:ea typeface="Times New Roman"/>
                <a:cs typeface="Times New Roman"/>
              </a:rPr>
              <a:t>R1 improvement  15</a:t>
            </a:r>
          </a:p>
        </p:txBody>
      </p:sp>
      <p:sp>
        <p:nvSpPr>
          <p:cNvPr id="6" name="Rectangle 5">
            <a:extLst>
              <a:ext uri="{FF2B5EF4-FFF2-40B4-BE49-F238E27FC236}">
                <a16:creationId xmlns:a16="http://schemas.microsoft.com/office/drawing/2014/main" id="{D2134F3E-014E-4382-A52F-E551A35377BB}"/>
              </a:ext>
            </a:extLst>
          </p:cNvPr>
          <p:cNvSpPr>
            <a:spLocks noGrp="1"/>
          </p:cNvSpPr>
          <p:nvPr/>
        </p:nvSpPr>
        <p:spPr>
          <a:xfrm>
            <a:off x="762000" y="1428750"/>
            <a:ext cx="10477500" cy="428625"/>
          </a:xfrm>
          <a:prstGeom prst="rect">
            <a:avLst/>
          </a:prstGeom>
          <a:noFill/>
          <a:ln w="0">
            <a:noFill/>
          </a:ln>
        </p:spPr>
        <p:txBody>
          <a:bodyPr anchor="ctr">
            <a:noAutofit/>
          </a:bodyPr>
          <a:lstStyle/>
          <a:p>
            <a:pPr algn="l">
              <a:defRPr sz="2325" b="1">
                <a:solidFill>
                  <a:srgbClr val="315A9E"/>
                </a:solidFill>
                <a:latin typeface="Times New Roman"/>
                <a:ea typeface="Times New Roman"/>
                <a:cs typeface="Times New Roman"/>
              </a:defRPr>
            </a:pPr>
            <a:r>
              <a:rPr sz="2325" b="1">
                <a:solidFill>
                  <a:srgbClr val="315A9E"/>
                </a:solidFill>
                <a:latin typeface="Times New Roman"/>
                <a:ea typeface="Times New Roman"/>
                <a:cs typeface="Times New Roman"/>
              </a:rPr>
              <a:t>What changed</a:t>
            </a:r>
          </a:p>
        </p:txBody>
      </p:sp>
      <p:sp>
        <p:nvSpPr>
          <p:cNvPr id="7" name="Rectangle 6">
            <a:extLst>
              <a:ext uri="{FF2B5EF4-FFF2-40B4-BE49-F238E27FC236}">
                <a16:creationId xmlns:a16="http://schemas.microsoft.com/office/drawing/2014/main" id="{06515A97-A3F3-4D85-A211-48AB6BAD201E}"/>
              </a:ext>
            </a:extLst>
          </p:cNvPr>
          <p:cNvSpPr>
            <a:spLocks noGrp="1"/>
          </p:cNvSpPr>
          <p:nvPr/>
        </p:nvSpPr>
        <p:spPr>
          <a:xfrm>
            <a:off x="762000" y="1952625"/>
            <a:ext cx="10572750" cy="876300"/>
          </a:xfrm>
          <a:prstGeom prst="rect">
            <a:avLst/>
          </a:prstGeom>
          <a:noFill/>
          <a:ln w="0">
            <a:noFill/>
          </a:ln>
        </p:spPr>
        <p:txBody>
          <a:bodyPr anchor="ctr">
            <a:noAutofit/>
          </a:bodyPr>
          <a:lstStyle/>
          <a:p>
            <a:pPr algn="l">
              <a:defRPr sz="2175" b="0">
                <a:solidFill>
                  <a:srgbClr val="161616"/>
                </a:solidFill>
                <a:latin typeface="Times New Roman"/>
                <a:ea typeface="Times New Roman"/>
                <a:cs typeface="Times New Roman"/>
              </a:defRPr>
            </a:pPr>
            <a:r>
              <a:rPr sz="2175" b="0">
                <a:solidFill>
                  <a:srgbClr val="161616"/>
                </a:solidFill>
                <a:latin typeface="Times New Roman"/>
                <a:ea typeface="Times New Roman"/>
                <a:cs typeface="Times New Roman"/>
              </a:rPr>
              <a:t>A +0.08 hand command bias during close, lift, and windup raises the recorded benchmark from 81% to 85%. Neural weights remain identical.</a:t>
            </a:r>
          </a:p>
        </p:txBody>
      </p:sp>
      <p:sp>
        <p:nvSpPr>
          <p:cNvPr id="8" name="Rectangle 7">
            <a:extLst>
              <a:ext uri="{FF2B5EF4-FFF2-40B4-BE49-F238E27FC236}">
                <a16:creationId xmlns:a16="http://schemas.microsoft.com/office/drawing/2014/main" id="{A7AAB05F-8751-422F-ADE2-672FD80521D2}"/>
              </a:ext>
            </a:extLst>
          </p:cNvPr>
          <p:cNvSpPr>
            <a:spLocks noGrp="1"/>
          </p:cNvSpPr>
          <p:nvPr/>
        </p:nvSpPr>
        <p:spPr>
          <a:xfrm>
            <a:off x="762000" y="3143250"/>
            <a:ext cx="10477500" cy="428625"/>
          </a:xfrm>
          <a:prstGeom prst="rect">
            <a:avLst/>
          </a:prstGeom>
          <a:noFill/>
          <a:ln w="0">
            <a:noFill/>
          </a:ln>
        </p:spPr>
        <p:txBody>
          <a:bodyPr anchor="ctr">
            <a:noAutofit/>
          </a:bodyPr>
          <a:lstStyle/>
          <a:p>
            <a:pPr algn="l">
              <a:defRPr sz="2325" b="1">
                <a:solidFill>
                  <a:srgbClr val="315A9E"/>
                </a:solidFill>
                <a:latin typeface="Times New Roman"/>
                <a:ea typeface="Times New Roman"/>
                <a:cs typeface="Times New Roman"/>
              </a:defRPr>
            </a:pPr>
            <a:r>
              <a:rPr sz="2325" b="1">
                <a:solidFill>
                  <a:srgbClr val="315A9E"/>
                </a:solidFill>
                <a:latin typeface="Times New Roman"/>
                <a:ea typeface="Times New Roman"/>
                <a:cs typeface="Times New Roman"/>
              </a:rPr>
              <a:t>Joint-range evidence</a:t>
            </a:r>
          </a:p>
        </p:txBody>
      </p:sp>
      <p:sp>
        <p:nvSpPr>
          <p:cNvPr id="9" name="Rectangle 8">
            <a:extLst>
              <a:ext uri="{FF2B5EF4-FFF2-40B4-BE49-F238E27FC236}">
                <a16:creationId xmlns:a16="http://schemas.microsoft.com/office/drawing/2014/main" id="{82DD0E0D-D517-4498-9B3E-4C7F94526E83}"/>
              </a:ext>
            </a:extLst>
          </p:cNvPr>
          <p:cNvSpPr>
            <a:spLocks noGrp="1"/>
          </p:cNvSpPr>
          <p:nvPr/>
        </p:nvSpPr>
        <p:spPr>
          <a:xfrm>
            <a:off x="762000" y="3667125"/>
            <a:ext cx="10572750" cy="876300"/>
          </a:xfrm>
          <a:prstGeom prst="rect">
            <a:avLst/>
          </a:prstGeom>
          <a:noFill/>
          <a:ln w="0">
            <a:noFill/>
          </a:ln>
        </p:spPr>
        <p:txBody>
          <a:bodyPr anchor="ctr">
            <a:noAutofit/>
          </a:bodyPr>
          <a:lstStyle/>
          <a:p>
            <a:pPr algn="l">
              <a:defRPr sz="2175" b="0">
                <a:solidFill>
                  <a:srgbClr val="161616"/>
                </a:solidFill>
                <a:latin typeface="Times New Roman"/>
                <a:ea typeface="Times New Roman"/>
                <a:cs typeface="Times New Roman"/>
              </a:defRPr>
            </a:pPr>
            <a:r>
              <a:rPr sz="2175" b="0">
                <a:solidFill>
                  <a:srgbClr val="161616"/>
                </a:solidFill>
                <a:latin typeface="Times New Roman"/>
                <a:ea typeface="Times New Roman"/>
                <a:cs typeface="Times New Roman"/>
              </a:rPr>
              <a:t>All 11 commanded joints stay inside the model limits in the three videos. Measured positions exceed a limit by up to 0.000973 rad (0.056°).</a:t>
            </a:r>
          </a:p>
        </p:txBody>
      </p:sp>
      <p:sp>
        <p:nvSpPr>
          <p:cNvPr id="10" name="Rectangle 9">
            <a:extLst>
              <a:ext uri="{FF2B5EF4-FFF2-40B4-BE49-F238E27FC236}">
                <a16:creationId xmlns:a16="http://schemas.microsoft.com/office/drawing/2014/main" id="{5AFCD8DC-4903-409D-B416-A285E582E0D3}"/>
              </a:ext>
            </a:extLst>
          </p:cNvPr>
          <p:cNvSpPr>
            <a:spLocks noGrp="1"/>
          </p:cNvSpPr>
          <p:nvPr/>
        </p:nvSpPr>
        <p:spPr>
          <a:xfrm>
            <a:off x="762000" y="4857750"/>
            <a:ext cx="10477500" cy="428625"/>
          </a:xfrm>
          <a:prstGeom prst="rect">
            <a:avLst/>
          </a:prstGeom>
          <a:noFill/>
          <a:ln w="0">
            <a:noFill/>
          </a:ln>
        </p:spPr>
        <p:txBody>
          <a:bodyPr anchor="ctr">
            <a:noAutofit/>
          </a:bodyPr>
          <a:lstStyle/>
          <a:p>
            <a:pPr algn="l">
              <a:defRPr sz="2325" b="1">
                <a:solidFill>
                  <a:srgbClr val="315A9E"/>
                </a:solidFill>
                <a:latin typeface="Times New Roman"/>
                <a:ea typeface="Times New Roman"/>
                <a:cs typeface="Times New Roman"/>
              </a:defRPr>
            </a:pPr>
            <a:r>
              <a:rPr sz="2325" b="1">
                <a:solidFill>
                  <a:srgbClr val="315A9E"/>
                </a:solidFill>
                <a:latin typeface="Times New Roman"/>
                <a:ea typeface="Times New Roman"/>
                <a:cs typeface="Times New Roman"/>
              </a:rPr>
              <a:t>Next evidence needed</a:t>
            </a:r>
          </a:p>
        </p:txBody>
      </p:sp>
      <p:sp>
        <p:nvSpPr>
          <p:cNvPr id="11" name="Rectangle 10">
            <a:extLst>
              <a:ext uri="{FF2B5EF4-FFF2-40B4-BE49-F238E27FC236}">
                <a16:creationId xmlns:a16="http://schemas.microsoft.com/office/drawing/2014/main" id="{2D51B2DD-A461-4C8B-8B98-404E9D73521B}"/>
              </a:ext>
            </a:extLst>
          </p:cNvPr>
          <p:cNvSpPr>
            <a:spLocks noGrp="1"/>
          </p:cNvSpPr>
          <p:nvPr/>
        </p:nvSpPr>
        <p:spPr>
          <a:xfrm>
            <a:off x="762000" y="5381625"/>
            <a:ext cx="10572750" cy="742950"/>
          </a:xfrm>
          <a:prstGeom prst="rect">
            <a:avLst/>
          </a:prstGeom>
          <a:noFill/>
          <a:ln w="0">
            <a:noFill/>
          </a:ln>
        </p:spPr>
        <p:txBody>
          <a:bodyPr anchor="ctr">
            <a:noAutofit/>
          </a:bodyPr>
          <a:lstStyle/>
          <a:p>
            <a:pPr algn="l">
              <a:defRPr sz="2025" b="0">
                <a:solidFill>
                  <a:srgbClr val="161616"/>
                </a:solidFill>
                <a:latin typeface="Times New Roman"/>
                <a:ea typeface="Times New Roman"/>
                <a:cs typeface="Times New Roman"/>
              </a:defRPr>
            </a:pPr>
            <a:r>
              <a:rPr sz="2025" b="0">
                <a:solidFill>
                  <a:srgbClr val="161616"/>
                </a:solidFill>
                <a:latin typeface="Times New Roman"/>
                <a:ea typeface="Times New Roman"/>
                <a:cs typeface="Times New Roman"/>
              </a:rPr>
              <a:t>Fresh evaluation seeds and hardware-calibrated limits. These logs sample the simulation at 40 Hz and do not certify physical hardware safety.</a:t>
            </a:r>
          </a:p>
        </p:txBody>
      </p:sp>
    </p:spTree>
    <p:extLst>
      <p:ext uri="{BB962C8B-B14F-4D97-AF65-F5344CB8AC3E}">
        <p14:creationId xmlns:p14="http://schemas.microsoft.com/office/powerpoint/2010/main" val="4760601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3025</Words>
  <Application>Microsoft Macintosh PowerPoint</Application>
  <DocSecurity>0</DocSecurity>
  <PresentationFormat>Widescreen</PresentationFormat>
  <Paragraphs>265</Paragraphs>
  <Slides>15</Slides>
  <Notes>15</Notes>
  <HiddenSlides>0</HiddenSlides>
  <MMClips>3</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Calibri</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Cesar Pascal</cp:lastModifiedBy>
  <cp:revision>1</cp:revision>
  <dcterms:created xsi:type="dcterms:W3CDTF">2026-10-01T16:03:47Z</dcterms:created>
  <dcterms:modified xsi:type="dcterms:W3CDTF">2026-10-01T16:17:27Z</dcterms:modified>
</cp:coreProperties>
</file>