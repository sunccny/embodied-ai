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4" d="100"/>
          <a:sy n="64" d="100"/>
        </p:scale>
        <p:origin x="200" y="5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4488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1440" y="73152"/>
            <a:ext cx="2926080" cy="2926080"/>
          </a:xfrm>
          <a:prstGeom prst="arc">
            <a:avLst/>
          </a:prstGeom>
          <a:solidFill>
            <a:srgbClr val="FFFFFF">
              <a:alpha val="0"/>
            </a:srgbClr>
          </a:solidFill>
          <a:ln w="38100">
            <a:solidFill>
              <a:srgbClr val="F1F1F1"/>
            </a:solidFill>
            <a:prstDash val="solid"/>
          </a:ln>
        </p:spPr>
      </p:sp>
      <p:sp>
        <p:nvSpPr>
          <p:cNvPr id="3" name="Text 1"/>
          <p:cNvSpPr/>
          <p:nvPr/>
        </p:nvSpPr>
        <p:spPr>
          <a:xfrm>
            <a:off x="2560320" y="3456432"/>
            <a:ext cx="13167360" cy="1554480"/>
          </a:xfrm>
          <a:prstGeom prst="rect">
            <a:avLst/>
          </a:prstGeom>
          <a:noFill/>
          <a:ln/>
        </p:spPr>
        <p:txBody>
          <a:bodyPr wrap="square" lIns="0" tIns="0" rIns="0" bIns="0" rtlCol="0" anchor="ctr">
            <a:normAutofit/>
          </a:bodyPr>
          <a:lstStyle/>
          <a:p>
            <a:pPr marL="0" indent="0" algn="ctr">
              <a:buNone/>
            </a:pPr>
            <a:r>
              <a:rPr lang="en-US" sz="10200" dirty="0">
                <a:solidFill>
                  <a:srgbClr val="111111"/>
                </a:solidFill>
                <a:latin typeface="Georgia" pitchFamily="34" charset="0"/>
                <a:ea typeface="Georgia" pitchFamily="34" charset="-122"/>
                <a:cs typeface="Georgia" pitchFamily="34" charset="-120"/>
              </a:rPr>
              <a:t>WEEK 17</a:t>
            </a:r>
            <a:endParaRPr lang="en-US" sz="10200" dirty="0"/>
          </a:p>
        </p:txBody>
      </p:sp>
      <p:sp>
        <p:nvSpPr>
          <p:cNvPr id="4" name="Text 2"/>
          <p:cNvSpPr/>
          <p:nvPr/>
        </p:nvSpPr>
        <p:spPr>
          <a:xfrm>
            <a:off x="5806440" y="8732520"/>
            <a:ext cx="6675120" cy="502920"/>
          </a:xfrm>
          <a:prstGeom prst="rect">
            <a:avLst/>
          </a:prstGeom>
          <a:noFill/>
          <a:ln/>
        </p:spPr>
        <p:txBody>
          <a:bodyPr wrap="square" lIns="0" tIns="0" rIns="0" bIns="0" rtlCol="0" anchor="ctr"/>
          <a:lstStyle/>
          <a:p>
            <a:pPr marL="0" indent="0" algn="ctr">
              <a:buNone/>
            </a:pPr>
            <a:r>
              <a:rPr lang="en-US" sz="3000" dirty="0">
                <a:solidFill>
                  <a:srgbClr val="111111"/>
                </a:solidFill>
                <a:latin typeface="Open Sans" pitchFamily="34" charset="0"/>
                <a:ea typeface="Open Sans" pitchFamily="34" charset="-122"/>
                <a:cs typeface="Open Sans" pitchFamily="34" charset="-120"/>
              </a:rPr>
              <a:t>CESAR A. PASCAL VASQUEZ</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71800"/>
            <a:ext cx="17282160" cy="4114800"/>
          </a:xfrm>
          <a:prstGeom prst="rect">
            <a:avLst/>
          </a:prstGeom>
          <a:noFill/>
          <a:ln/>
        </p:spPr>
        <p:txBody>
          <a:bodyPr wrap="square" lIns="635" tIns="635" rIns="635" bIns="635" rtlCol="0" anchor="ctr">
            <a:normAutofit/>
          </a:bodyPr>
          <a:lstStyle/>
          <a:p>
            <a:pPr marL="0" indent="0" algn="l">
              <a:buNone/>
            </a:pPr>
            <a:r>
              <a:rPr lang="en-US" sz="3200" dirty="0">
                <a:solidFill>
                  <a:srgbClr val="111111"/>
                </a:solidFill>
                <a:latin typeface="Open Sans" pitchFamily="34" charset="0"/>
                <a:ea typeface="Open Sans" pitchFamily="34" charset="-122"/>
                <a:cs typeface="Open Sans" pitchFamily="34" charset="-120"/>
              </a:rPr>
              <a:t>This week, I focused on extending the Unitree R1 work from basic locomotion toward manipulation tasks. The main goal was to create training environments where the R1 could use its right arm to reach, grasp, and perform a door-opening motion in MuJoCo.</a:t>
            </a: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7190720" cy="685800"/>
          </a:xfrm>
          <a:prstGeom prst="rect">
            <a:avLst/>
          </a:prstGeom>
          <a:noFill/>
          <a:ln/>
        </p:spPr>
        <p:txBody>
          <a:bodyPr wrap="square" lIns="635" tIns="635" rIns="635" bIns="635" rtlCol="0" anchor="t">
            <a:normAutofit/>
          </a:bodyPr>
          <a:lstStyle/>
          <a:p>
            <a:pPr marL="0" indent="0" algn="l">
              <a:buNone/>
            </a:pPr>
            <a:r>
              <a:rPr lang="en-US" sz="3400" dirty="0">
                <a:solidFill>
                  <a:srgbClr val="111111"/>
                </a:solidFill>
                <a:latin typeface="Open Sans" pitchFamily="34" charset="0"/>
                <a:ea typeface="Open Sans" pitchFamily="34" charset="-122"/>
                <a:cs typeface="Open Sans" pitchFamily="34" charset="-120"/>
              </a:rPr>
              <a:t>Repository and model setup</a:t>
            </a:r>
            <a:endParaRPr lang="en-US" sz="3400" dirty="0"/>
          </a:p>
        </p:txBody>
      </p:sp>
      <p:sp>
        <p:nvSpPr>
          <p:cNvPr id="3" name="Text 1"/>
          <p:cNvSpPr txBox="1"/>
          <p:nvPr/>
        </p:nvSpPr>
        <p:spPr>
          <a:xfrm>
            <a:off x="640080" y="1965960"/>
            <a:ext cx="17007840" cy="1417320"/>
          </a:xfrm>
          <a:prstGeom prst="rect">
            <a:avLst/>
          </a:prstGeom>
          <a:noFill/>
          <a:ln/>
        </p:spPr>
        <p:txBody>
          <a:bodyPr wrap="square" lIns="635" tIns="635" rIns="635" bIns="635" rtlCol="0" anchor="ctr">
            <a:normAutofit/>
          </a:bodyPr>
          <a:lstStyle/>
          <a:p>
            <a:pPr marL="0" indent="0" algn="l">
              <a:buNone/>
            </a:pPr>
            <a:r>
              <a:rPr lang="en-US" sz="3000" dirty="0">
                <a:solidFill>
                  <a:srgbClr val="111111"/>
                </a:solidFill>
                <a:latin typeface="Open Sans" pitchFamily="34" charset="0"/>
                <a:ea typeface="Open Sans" pitchFamily="34" charset="-122"/>
                <a:cs typeface="Open Sans" pitchFamily="34" charset="-120"/>
              </a:rPr>
              <a:t>The first step was to make sure the correct R1 MuJoCo model was being used. The local repository was found under the Embodie AI Reports folder, and the scripts were updated to handle paths with spaces correctly.</a:t>
            </a:r>
            <a:endParaRPr lang="en-US" sz="3000" dirty="0"/>
          </a:p>
        </p:txBody>
      </p:sp>
      <p:sp>
        <p:nvSpPr>
          <p:cNvPr id="4" name="Shape 2"/>
          <p:cNvSpPr/>
          <p:nvPr/>
        </p:nvSpPr>
        <p:spPr>
          <a:xfrm>
            <a:off x="1051560" y="4617720"/>
            <a:ext cx="3749040" cy="1051560"/>
          </a:xfrm>
          <a:prstGeom prst="roundRect">
            <a:avLst>
              <a:gd name="adj" fmla="val 13043"/>
            </a:avLst>
          </a:prstGeom>
          <a:solidFill>
            <a:srgbClr val="F2F2F2"/>
          </a:solidFill>
          <a:ln w="13970">
            <a:solidFill>
              <a:srgbClr val="111111"/>
            </a:solidFill>
            <a:prstDash val="solid"/>
          </a:ln>
        </p:spPr>
      </p:sp>
      <p:sp>
        <p:nvSpPr>
          <p:cNvPr id="5" name="Text 3"/>
          <p:cNvSpPr/>
          <p:nvPr/>
        </p:nvSpPr>
        <p:spPr>
          <a:xfrm>
            <a:off x="1188720" y="4727448"/>
            <a:ext cx="3474720" cy="832104"/>
          </a:xfrm>
          <a:prstGeom prst="rect">
            <a:avLst/>
          </a:prstGeom>
          <a:noFill/>
          <a:ln/>
        </p:spPr>
        <p:txBody>
          <a:bodyPr wrap="square" lIns="0" tIns="0" rIns="0" bIns="0" rtlCol="0" anchor="ctr">
            <a:normAutofit/>
          </a:bodyPr>
          <a:lstStyle/>
          <a:p>
            <a:pPr marL="0" indent="0" algn="ctr">
              <a:buNone/>
            </a:pPr>
            <a:r>
              <a:rPr lang="en-US" sz="2200" dirty="0">
                <a:solidFill>
                  <a:srgbClr val="111111"/>
                </a:solidFill>
                <a:latin typeface="Open Sans" pitchFamily="34" charset="0"/>
                <a:ea typeface="Open Sans" pitchFamily="34" charset="-122"/>
                <a:cs typeface="Open Sans" pitchFamily="34" charset="-120"/>
              </a:rPr>
              <a:t>Locate</a:t>
            </a:r>
            <a:endParaRPr lang="en-US" sz="2200" dirty="0"/>
          </a:p>
          <a:p>
            <a:pPr marL="0" indent="0" algn="ctr">
              <a:buNone/>
            </a:pPr>
            <a:r>
              <a:rPr lang="en-US" sz="2200" dirty="0">
                <a:solidFill>
                  <a:srgbClr val="111111"/>
                </a:solidFill>
                <a:latin typeface="Open Sans" pitchFamily="34" charset="0"/>
                <a:ea typeface="Open Sans" pitchFamily="34" charset="-122"/>
                <a:cs typeface="Open Sans" pitchFamily="34" charset="-120"/>
              </a:rPr>
              <a:t>repository</a:t>
            </a:r>
            <a:endParaRPr lang="en-US" sz="2200" dirty="0"/>
          </a:p>
        </p:txBody>
      </p:sp>
      <p:sp>
        <p:nvSpPr>
          <p:cNvPr id="6" name="Shape 4"/>
          <p:cNvSpPr/>
          <p:nvPr/>
        </p:nvSpPr>
        <p:spPr>
          <a:xfrm>
            <a:off x="5440680" y="4617720"/>
            <a:ext cx="3749040" cy="1051560"/>
          </a:xfrm>
          <a:prstGeom prst="roundRect">
            <a:avLst>
              <a:gd name="adj" fmla="val 13043"/>
            </a:avLst>
          </a:prstGeom>
          <a:solidFill>
            <a:srgbClr val="F2F2F2"/>
          </a:solidFill>
          <a:ln w="13970">
            <a:solidFill>
              <a:srgbClr val="111111"/>
            </a:solidFill>
            <a:prstDash val="solid"/>
          </a:ln>
        </p:spPr>
      </p:sp>
      <p:sp>
        <p:nvSpPr>
          <p:cNvPr id="7" name="Text 5"/>
          <p:cNvSpPr/>
          <p:nvPr/>
        </p:nvSpPr>
        <p:spPr>
          <a:xfrm>
            <a:off x="5577840" y="4727448"/>
            <a:ext cx="3474720" cy="832104"/>
          </a:xfrm>
          <a:prstGeom prst="rect">
            <a:avLst/>
          </a:prstGeom>
          <a:noFill/>
          <a:ln/>
        </p:spPr>
        <p:txBody>
          <a:bodyPr wrap="square" lIns="0" tIns="0" rIns="0" bIns="0" rtlCol="0" anchor="ctr">
            <a:normAutofit/>
          </a:bodyPr>
          <a:lstStyle/>
          <a:p>
            <a:pPr marL="0" indent="0" algn="ctr">
              <a:buNone/>
            </a:pPr>
            <a:r>
              <a:rPr lang="en-US" sz="2200" dirty="0">
                <a:solidFill>
                  <a:srgbClr val="111111"/>
                </a:solidFill>
                <a:latin typeface="Open Sans" pitchFamily="34" charset="0"/>
                <a:ea typeface="Open Sans" pitchFamily="34" charset="-122"/>
                <a:cs typeface="Open Sans" pitchFamily="34" charset="-120"/>
              </a:rPr>
              <a:t>Find</a:t>
            </a:r>
            <a:endParaRPr lang="en-US" sz="2200" dirty="0"/>
          </a:p>
          <a:p>
            <a:pPr marL="0" indent="0" algn="ctr">
              <a:buNone/>
            </a:pPr>
            <a:r>
              <a:rPr lang="en-US" sz="2200" dirty="0">
                <a:solidFill>
                  <a:srgbClr val="111111"/>
                </a:solidFill>
                <a:latin typeface="Open Sans" pitchFamily="34" charset="0"/>
                <a:ea typeface="Open Sans" pitchFamily="34" charset="-122"/>
                <a:cs typeface="Open Sans" pitchFamily="34" charset="-120"/>
              </a:rPr>
              <a:t>r1.xml</a:t>
            </a:r>
            <a:endParaRPr lang="en-US" sz="2200" dirty="0"/>
          </a:p>
        </p:txBody>
      </p:sp>
      <p:sp>
        <p:nvSpPr>
          <p:cNvPr id="8" name="Shape 6"/>
          <p:cNvSpPr/>
          <p:nvPr/>
        </p:nvSpPr>
        <p:spPr>
          <a:xfrm>
            <a:off x="9829800" y="4617720"/>
            <a:ext cx="3749040" cy="1051560"/>
          </a:xfrm>
          <a:prstGeom prst="roundRect">
            <a:avLst>
              <a:gd name="adj" fmla="val 13043"/>
            </a:avLst>
          </a:prstGeom>
          <a:solidFill>
            <a:srgbClr val="F2F2F2"/>
          </a:solidFill>
          <a:ln w="13970">
            <a:solidFill>
              <a:srgbClr val="111111"/>
            </a:solidFill>
            <a:prstDash val="solid"/>
          </a:ln>
        </p:spPr>
      </p:sp>
      <p:sp>
        <p:nvSpPr>
          <p:cNvPr id="9" name="Text 7"/>
          <p:cNvSpPr/>
          <p:nvPr/>
        </p:nvSpPr>
        <p:spPr>
          <a:xfrm>
            <a:off x="9966960" y="4727448"/>
            <a:ext cx="3474720" cy="832104"/>
          </a:xfrm>
          <a:prstGeom prst="rect">
            <a:avLst/>
          </a:prstGeom>
          <a:noFill/>
          <a:ln/>
        </p:spPr>
        <p:txBody>
          <a:bodyPr wrap="square" lIns="0" tIns="0" rIns="0" bIns="0" rtlCol="0" anchor="ctr">
            <a:normAutofit/>
          </a:bodyPr>
          <a:lstStyle/>
          <a:p>
            <a:pPr marL="0" indent="0" algn="ctr">
              <a:buNone/>
            </a:pPr>
            <a:r>
              <a:rPr lang="en-US" sz="2200" dirty="0">
                <a:solidFill>
                  <a:srgbClr val="111111"/>
                </a:solidFill>
                <a:latin typeface="Open Sans" pitchFamily="34" charset="0"/>
                <a:ea typeface="Open Sans" pitchFamily="34" charset="-122"/>
                <a:cs typeface="Open Sans" pitchFamily="34" charset="-120"/>
              </a:rPr>
              <a:t>Patch invalid</a:t>
            </a:r>
            <a:endParaRPr lang="en-US" sz="2200" dirty="0"/>
          </a:p>
          <a:p>
            <a:pPr marL="0" indent="0" algn="ctr">
              <a:buNone/>
            </a:pPr>
            <a:r>
              <a:rPr lang="en-US" sz="2200" dirty="0">
                <a:solidFill>
                  <a:srgbClr val="111111"/>
                </a:solidFill>
                <a:latin typeface="Open Sans" pitchFamily="34" charset="0"/>
                <a:ea typeface="Open Sans" pitchFamily="34" charset="-122"/>
                <a:cs typeface="Open Sans" pitchFamily="34" charset="-120"/>
              </a:rPr>
              <a:t>XML exclusions</a:t>
            </a:r>
            <a:endParaRPr lang="en-US" sz="2200" dirty="0"/>
          </a:p>
        </p:txBody>
      </p:sp>
      <p:sp>
        <p:nvSpPr>
          <p:cNvPr id="10" name="Shape 8"/>
          <p:cNvSpPr/>
          <p:nvPr/>
        </p:nvSpPr>
        <p:spPr>
          <a:xfrm>
            <a:off x="14218920" y="4617720"/>
            <a:ext cx="3017520" cy="1051560"/>
          </a:xfrm>
          <a:prstGeom prst="roundRect">
            <a:avLst>
              <a:gd name="adj" fmla="val 13043"/>
            </a:avLst>
          </a:prstGeom>
          <a:solidFill>
            <a:srgbClr val="F2F2F2"/>
          </a:solidFill>
          <a:ln w="13970">
            <a:solidFill>
              <a:srgbClr val="111111"/>
            </a:solidFill>
            <a:prstDash val="solid"/>
          </a:ln>
        </p:spPr>
      </p:sp>
      <p:sp>
        <p:nvSpPr>
          <p:cNvPr id="11" name="Text 9"/>
          <p:cNvSpPr/>
          <p:nvPr/>
        </p:nvSpPr>
        <p:spPr>
          <a:xfrm>
            <a:off x="14356080" y="4727448"/>
            <a:ext cx="2743200" cy="832104"/>
          </a:xfrm>
          <a:prstGeom prst="rect">
            <a:avLst/>
          </a:prstGeom>
          <a:noFill/>
          <a:ln/>
        </p:spPr>
        <p:txBody>
          <a:bodyPr wrap="square" lIns="0" tIns="0" rIns="0" bIns="0" rtlCol="0" anchor="ctr">
            <a:normAutofit/>
          </a:bodyPr>
          <a:lstStyle/>
          <a:p>
            <a:pPr marL="0" indent="0" algn="ctr">
              <a:buNone/>
            </a:pPr>
            <a:r>
              <a:rPr lang="en-US" sz="2200" dirty="0">
                <a:solidFill>
                  <a:srgbClr val="111111"/>
                </a:solidFill>
                <a:latin typeface="Open Sans" pitchFamily="34" charset="0"/>
                <a:ea typeface="Open Sans" pitchFamily="34" charset="-122"/>
                <a:cs typeface="Open Sans" pitchFamily="34" charset="-120"/>
              </a:rPr>
              <a:t>Inspect</a:t>
            </a:r>
            <a:endParaRPr lang="en-US" sz="2200" dirty="0"/>
          </a:p>
          <a:p>
            <a:pPr marL="0" indent="0" algn="ctr">
              <a:buNone/>
            </a:pPr>
            <a:r>
              <a:rPr lang="en-US" sz="2200" dirty="0">
                <a:solidFill>
                  <a:srgbClr val="111111"/>
                </a:solidFill>
                <a:latin typeface="Open Sans" pitchFamily="34" charset="0"/>
                <a:ea typeface="Open Sans" pitchFamily="34" charset="-122"/>
                <a:cs typeface="Open Sans" pitchFamily="34" charset="-120"/>
              </a:rPr>
              <a:t>R1 arm</a:t>
            </a:r>
            <a:endParaRPr lang="en-US" sz="2200" dirty="0"/>
          </a:p>
        </p:txBody>
      </p:sp>
      <p:sp>
        <p:nvSpPr>
          <p:cNvPr id="12" name="Shape 10"/>
          <p:cNvSpPr/>
          <p:nvPr/>
        </p:nvSpPr>
        <p:spPr>
          <a:xfrm>
            <a:off x="4892040" y="5138928"/>
            <a:ext cx="457200" cy="0"/>
          </a:xfrm>
          <a:prstGeom prst="line">
            <a:avLst/>
          </a:prstGeom>
          <a:noFill/>
          <a:ln w="22860">
            <a:solidFill>
              <a:srgbClr val="244C9C"/>
            </a:solidFill>
            <a:prstDash val="solid"/>
            <a:headEnd type="none"/>
            <a:tailEnd type="triangle"/>
          </a:ln>
        </p:spPr>
      </p:sp>
      <p:sp>
        <p:nvSpPr>
          <p:cNvPr id="13" name="Shape 11"/>
          <p:cNvSpPr/>
          <p:nvPr/>
        </p:nvSpPr>
        <p:spPr>
          <a:xfrm>
            <a:off x="9281160" y="5138928"/>
            <a:ext cx="457200" cy="0"/>
          </a:xfrm>
          <a:prstGeom prst="line">
            <a:avLst/>
          </a:prstGeom>
          <a:noFill/>
          <a:ln w="22860">
            <a:solidFill>
              <a:srgbClr val="244C9C"/>
            </a:solidFill>
            <a:prstDash val="solid"/>
            <a:headEnd type="none"/>
            <a:tailEnd type="triangle"/>
          </a:ln>
        </p:spPr>
      </p:sp>
      <p:sp>
        <p:nvSpPr>
          <p:cNvPr id="14" name="Shape 12"/>
          <p:cNvSpPr/>
          <p:nvPr/>
        </p:nvSpPr>
        <p:spPr>
          <a:xfrm>
            <a:off x="13670280" y="5138928"/>
            <a:ext cx="457200" cy="0"/>
          </a:xfrm>
          <a:prstGeom prst="line">
            <a:avLst/>
          </a:prstGeom>
          <a:noFill/>
          <a:ln w="22860">
            <a:solidFill>
              <a:srgbClr val="244C9C"/>
            </a:solidFill>
            <a:prstDash val="solid"/>
            <a:headEnd type="none"/>
            <a:tailEnd type="triangle"/>
          </a:ln>
        </p:spPr>
      </p:sp>
      <p:sp>
        <p:nvSpPr>
          <p:cNvPr id="15" name="Text 13"/>
          <p:cNvSpPr txBox="1"/>
          <p:nvPr/>
        </p:nvSpPr>
        <p:spPr>
          <a:xfrm>
            <a:off x="1188720" y="6903720"/>
            <a:ext cx="15910560" cy="1097280"/>
          </a:xfrm>
          <a:prstGeom prst="rect">
            <a:avLst/>
          </a:prstGeom>
          <a:noFill/>
          <a:ln/>
        </p:spPr>
        <p:txBody>
          <a:bodyPr wrap="square" lIns="635" tIns="635" rIns="635" bIns="635" rtlCol="0" anchor="ctr">
            <a:normAutofit/>
          </a:bodyPr>
          <a:lstStyle/>
          <a:p>
            <a:pPr marL="0" indent="0" algn="ctr">
              <a:buNone/>
            </a:pPr>
            <a:r>
              <a:rPr lang="en-US" sz="2800" dirty="0">
                <a:solidFill>
                  <a:srgbClr val="111111"/>
                </a:solidFill>
                <a:latin typeface="Open Sans" pitchFamily="34" charset="0"/>
                <a:ea typeface="Open Sans" pitchFamily="34" charset="-122"/>
                <a:cs typeface="Open Sans" pitchFamily="34" charset="-120"/>
              </a:rPr>
              <a:t>The inspection confirmed 24 generalized coordinates, 24 actuators, and the five right-arm joints needed for the manipulation policy.</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7190720" cy="685800"/>
          </a:xfrm>
          <a:prstGeom prst="rect">
            <a:avLst/>
          </a:prstGeom>
          <a:noFill/>
          <a:ln/>
        </p:spPr>
        <p:txBody>
          <a:bodyPr wrap="square" lIns="635" tIns="635" rIns="635" bIns="635" rtlCol="0" anchor="t">
            <a:normAutofit/>
          </a:bodyPr>
          <a:lstStyle/>
          <a:p>
            <a:pPr marL="0" indent="0" algn="l">
              <a:buNone/>
            </a:pPr>
            <a:r>
              <a:rPr lang="en-US" sz="3400" dirty="0">
                <a:solidFill>
                  <a:srgbClr val="111111"/>
                </a:solidFill>
                <a:latin typeface="Open Sans" pitchFamily="34" charset="0"/>
                <a:ea typeface="Open Sans" pitchFamily="34" charset="-122"/>
                <a:cs typeface="Open Sans" pitchFamily="34" charset="-120"/>
              </a:rPr>
              <a:t>R1 right-arm reaching task</a:t>
            </a:r>
            <a:endParaRPr lang="en-US" sz="3400" dirty="0"/>
          </a:p>
        </p:txBody>
      </p:sp>
      <p:sp>
        <p:nvSpPr>
          <p:cNvPr id="3" name="Text 1"/>
          <p:cNvSpPr txBox="1"/>
          <p:nvPr/>
        </p:nvSpPr>
        <p:spPr>
          <a:xfrm>
            <a:off x="548640" y="1325880"/>
            <a:ext cx="17190720" cy="1325880"/>
          </a:xfrm>
          <a:prstGeom prst="rect">
            <a:avLst/>
          </a:prstGeom>
          <a:noFill/>
          <a:ln/>
        </p:spPr>
        <p:txBody>
          <a:bodyPr wrap="square" lIns="635" tIns="635" rIns="635" bIns="635" rtlCol="0" anchor="ctr">
            <a:normAutofit/>
          </a:bodyPr>
          <a:lstStyle/>
          <a:p>
            <a:pPr marL="0" indent="0" algn="l">
              <a:buNone/>
            </a:pPr>
            <a:r>
              <a:rPr lang="en-US" sz="3000" dirty="0">
                <a:solidFill>
                  <a:srgbClr val="111111"/>
                </a:solidFill>
                <a:latin typeface="Open Sans" pitchFamily="34" charset="0"/>
                <a:ea typeface="Open Sans" pitchFamily="34" charset="-122"/>
                <a:cs typeface="Open Sans" pitchFamily="34" charset="-120"/>
              </a:rPr>
              <a:t>A fixed-base reaching environment was created first. In this task, the robot body remains stable while PPO controls the right shoulder, elbow, and wrist-roll joints to move the palm toward a red target.</a:t>
            </a:r>
            <a:endParaRPr lang="en-US" sz="3000" dirty="0"/>
          </a:p>
        </p:txBody>
      </p:sp>
      <p:sp>
        <p:nvSpPr>
          <p:cNvPr id="4" name="Shape 2"/>
          <p:cNvSpPr/>
          <p:nvPr/>
        </p:nvSpPr>
        <p:spPr>
          <a:xfrm>
            <a:off x="2011680" y="4069080"/>
            <a:ext cx="2743200" cy="914400"/>
          </a:xfrm>
          <a:prstGeom prst="roundRect">
            <a:avLst>
              <a:gd name="adj" fmla="val 15000"/>
            </a:avLst>
          </a:prstGeom>
          <a:solidFill>
            <a:srgbClr val="F2F2F2"/>
          </a:solidFill>
          <a:ln w="13970">
            <a:solidFill>
              <a:srgbClr val="111111"/>
            </a:solidFill>
            <a:prstDash val="solid"/>
          </a:ln>
        </p:spPr>
      </p:sp>
      <p:sp>
        <p:nvSpPr>
          <p:cNvPr id="5" name="Text 3"/>
          <p:cNvSpPr/>
          <p:nvPr/>
        </p:nvSpPr>
        <p:spPr>
          <a:xfrm>
            <a:off x="2148840" y="4178808"/>
            <a:ext cx="2468880" cy="694944"/>
          </a:xfrm>
          <a:prstGeom prst="rect">
            <a:avLst/>
          </a:prstGeom>
          <a:noFill/>
          <a:ln/>
        </p:spPr>
        <p:txBody>
          <a:bodyPr wrap="square" lIns="0" tIns="0" rIns="0" bIns="0" rtlCol="0" anchor="ctr">
            <a:normAutofit/>
          </a:bodyPr>
          <a:lstStyle/>
          <a:p>
            <a:pPr marL="0" indent="0" algn="ctr">
              <a:buNone/>
            </a:pPr>
            <a:r>
              <a:rPr lang="en-US" sz="2200" dirty="0">
                <a:solidFill>
                  <a:srgbClr val="111111"/>
                </a:solidFill>
                <a:latin typeface="Open Sans" pitchFamily="34" charset="0"/>
                <a:ea typeface="Open Sans" pitchFamily="34" charset="-122"/>
                <a:cs typeface="Open Sans" pitchFamily="34" charset="-120"/>
              </a:rPr>
              <a:t>R1 shoulder</a:t>
            </a:r>
            <a:endParaRPr lang="en-US" sz="2200" dirty="0"/>
          </a:p>
        </p:txBody>
      </p:sp>
      <p:sp>
        <p:nvSpPr>
          <p:cNvPr id="6" name="Shape 4"/>
          <p:cNvSpPr/>
          <p:nvPr/>
        </p:nvSpPr>
        <p:spPr>
          <a:xfrm>
            <a:off x="5577840" y="4069080"/>
            <a:ext cx="2743200" cy="914400"/>
          </a:xfrm>
          <a:prstGeom prst="roundRect">
            <a:avLst>
              <a:gd name="adj" fmla="val 15000"/>
            </a:avLst>
          </a:prstGeom>
          <a:solidFill>
            <a:srgbClr val="F2F2F2"/>
          </a:solidFill>
          <a:ln w="13970">
            <a:solidFill>
              <a:srgbClr val="111111"/>
            </a:solidFill>
            <a:prstDash val="solid"/>
          </a:ln>
        </p:spPr>
      </p:sp>
      <p:sp>
        <p:nvSpPr>
          <p:cNvPr id="7" name="Text 5"/>
          <p:cNvSpPr/>
          <p:nvPr/>
        </p:nvSpPr>
        <p:spPr>
          <a:xfrm>
            <a:off x="5715000" y="4178808"/>
            <a:ext cx="2468880" cy="694944"/>
          </a:xfrm>
          <a:prstGeom prst="rect">
            <a:avLst/>
          </a:prstGeom>
          <a:noFill/>
          <a:ln/>
        </p:spPr>
        <p:txBody>
          <a:bodyPr wrap="square" lIns="0" tIns="0" rIns="0" bIns="0" rtlCol="0" anchor="ctr">
            <a:normAutofit/>
          </a:bodyPr>
          <a:lstStyle/>
          <a:p>
            <a:pPr marL="0" indent="0" algn="ctr">
              <a:buNone/>
            </a:pPr>
            <a:r>
              <a:rPr lang="en-US" sz="2200" dirty="0">
                <a:solidFill>
                  <a:srgbClr val="111111"/>
                </a:solidFill>
                <a:latin typeface="Open Sans" pitchFamily="34" charset="0"/>
                <a:ea typeface="Open Sans" pitchFamily="34" charset="-122"/>
                <a:cs typeface="Open Sans" pitchFamily="34" charset="-120"/>
              </a:rPr>
              <a:t>elbow / wrist</a:t>
            </a:r>
            <a:endParaRPr lang="en-US" sz="2200" dirty="0"/>
          </a:p>
        </p:txBody>
      </p:sp>
      <p:sp>
        <p:nvSpPr>
          <p:cNvPr id="8" name="Shape 6"/>
          <p:cNvSpPr/>
          <p:nvPr/>
        </p:nvSpPr>
        <p:spPr>
          <a:xfrm>
            <a:off x="9144000" y="4069080"/>
            <a:ext cx="2743200" cy="914400"/>
          </a:xfrm>
          <a:prstGeom prst="roundRect">
            <a:avLst>
              <a:gd name="adj" fmla="val 15000"/>
            </a:avLst>
          </a:prstGeom>
          <a:solidFill>
            <a:srgbClr val="F2F2F2"/>
          </a:solidFill>
          <a:ln w="13970">
            <a:solidFill>
              <a:srgbClr val="111111"/>
            </a:solidFill>
            <a:prstDash val="solid"/>
          </a:ln>
        </p:spPr>
      </p:sp>
      <p:sp>
        <p:nvSpPr>
          <p:cNvPr id="9" name="Text 7"/>
          <p:cNvSpPr/>
          <p:nvPr/>
        </p:nvSpPr>
        <p:spPr>
          <a:xfrm>
            <a:off x="9281160" y="4178808"/>
            <a:ext cx="2468880" cy="694944"/>
          </a:xfrm>
          <a:prstGeom prst="rect">
            <a:avLst/>
          </a:prstGeom>
          <a:noFill/>
          <a:ln/>
        </p:spPr>
        <p:txBody>
          <a:bodyPr wrap="square" lIns="0" tIns="0" rIns="0" bIns="0" rtlCol="0" anchor="ctr">
            <a:normAutofit/>
          </a:bodyPr>
          <a:lstStyle/>
          <a:p>
            <a:pPr marL="0" indent="0" algn="ctr">
              <a:buNone/>
            </a:pPr>
            <a:r>
              <a:rPr lang="en-US" sz="2200" dirty="0">
                <a:solidFill>
                  <a:srgbClr val="111111"/>
                </a:solidFill>
                <a:latin typeface="Open Sans" pitchFamily="34" charset="0"/>
                <a:ea typeface="Open Sans" pitchFamily="34" charset="-122"/>
                <a:cs typeface="Open Sans" pitchFamily="34" charset="-120"/>
              </a:rPr>
              <a:t>right_palm</a:t>
            </a:r>
            <a:endParaRPr lang="en-US" sz="2200" dirty="0"/>
          </a:p>
        </p:txBody>
      </p:sp>
      <p:sp>
        <p:nvSpPr>
          <p:cNvPr id="10" name="Shape 8"/>
          <p:cNvSpPr/>
          <p:nvPr/>
        </p:nvSpPr>
        <p:spPr>
          <a:xfrm>
            <a:off x="13716000" y="4160520"/>
            <a:ext cx="777240" cy="777240"/>
          </a:xfrm>
          <a:prstGeom prst="ellipse">
            <a:avLst/>
          </a:prstGeom>
          <a:solidFill>
            <a:srgbClr val="C00000"/>
          </a:solidFill>
          <a:ln w="12700">
            <a:solidFill>
              <a:srgbClr val="C00000"/>
            </a:solidFill>
            <a:prstDash val="solid"/>
          </a:ln>
        </p:spPr>
      </p:sp>
      <p:sp>
        <p:nvSpPr>
          <p:cNvPr id="11" name="Text 9"/>
          <p:cNvSpPr txBox="1"/>
          <p:nvPr/>
        </p:nvSpPr>
        <p:spPr>
          <a:xfrm>
            <a:off x="13030200" y="5074920"/>
            <a:ext cx="2103120" cy="320040"/>
          </a:xfrm>
          <a:prstGeom prst="rect">
            <a:avLst/>
          </a:prstGeom>
          <a:noFill/>
          <a:ln/>
        </p:spPr>
        <p:txBody>
          <a:bodyPr wrap="square" lIns="635" tIns="635" rIns="635" bIns="635" rtlCol="0" anchor="ctr">
            <a:normAutofit/>
          </a:bodyPr>
          <a:lstStyle/>
          <a:p>
            <a:pPr marL="0" indent="0" algn="ctr">
              <a:buNone/>
            </a:pPr>
            <a:r>
              <a:rPr lang="en-US" sz="1800" dirty="0">
                <a:solidFill>
                  <a:srgbClr val="C00000"/>
                </a:solidFill>
                <a:latin typeface="Open Sans" pitchFamily="34" charset="0"/>
                <a:ea typeface="Open Sans" pitchFamily="34" charset="-122"/>
                <a:cs typeface="Open Sans" pitchFamily="34" charset="-120"/>
              </a:rPr>
              <a:t>target</a:t>
            </a:r>
            <a:endParaRPr lang="en-US" sz="1800" dirty="0"/>
          </a:p>
        </p:txBody>
      </p:sp>
      <p:sp>
        <p:nvSpPr>
          <p:cNvPr id="12" name="Shape 10"/>
          <p:cNvSpPr/>
          <p:nvPr/>
        </p:nvSpPr>
        <p:spPr>
          <a:xfrm>
            <a:off x="4892040" y="4526280"/>
            <a:ext cx="548640" cy="0"/>
          </a:xfrm>
          <a:prstGeom prst="line">
            <a:avLst/>
          </a:prstGeom>
          <a:noFill/>
          <a:ln w="21590">
            <a:solidFill>
              <a:srgbClr val="244C9C"/>
            </a:solidFill>
            <a:prstDash val="solid"/>
            <a:headEnd type="none"/>
            <a:tailEnd type="triangle"/>
          </a:ln>
        </p:spPr>
      </p:sp>
      <p:sp>
        <p:nvSpPr>
          <p:cNvPr id="13" name="Shape 11"/>
          <p:cNvSpPr/>
          <p:nvPr/>
        </p:nvSpPr>
        <p:spPr>
          <a:xfrm>
            <a:off x="8458200" y="4526280"/>
            <a:ext cx="548640" cy="0"/>
          </a:xfrm>
          <a:prstGeom prst="line">
            <a:avLst/>
          </a:prstGeom>
          <a:noFill/>
          <a:ln w="21590">
            <a:solidFill>
              <a:srgbClr val="244C9C"/>
            </a:solidFill>
            <a:prstDash val="solid"/>
            <a:headEnd type="none"/>
            <a:tailEnd type="triangle"/>
          </a:ln>
        </p:spPr>
      </p:sp>
      <p:sp>
        <p:nvSpPr>
          <p:cNvPr id="14" name="Shape 12"/>
          <p:cNvSpPr/>
          <p:nvPr/>
        </p:nvSpPr>
        <p:spPr>
          <a:xfrm>
            <a:off x="12024360" y="4526280"/>
            <a:ext cx="1508760" cy="0"/>
          </a:xfrm>
          <a:prstGeom prst="line">
            <a:avLst/>
          </a:prstGeom>
          <a:noFill/>
          <a:ln w="24130">
            <a:solidFill>
              <a:srgbClr val="C00000"/>
            </a:solidFill>
            <a:prstDash val="solid"/>
            <a:headEnd type="none"/>
            <a:tailEnd type="triangle"/>
          </a:ln>
        </p:spPr>
      </p:sp>
      <p:sp>
        <p:nvSpPr>
          <p:cNvPr id="15" name="Text 13"/>
          <p:cNvSpPr txBox="1"/>
          <p:nvPr/>
        </p:nvSpPr>
        <p:spPr>
          <a:xfrm>
            <a:off x="10789920" y="3474720"/>
            <a:ext cx="4389120" cy="411480"/>
          </a:xfrm>
          <a:prstGeom prst="rect">
            <a:avLst/>
          </a:prstGeom>
          <a:noFill/>
          <a:ln/>
        </p:spPr>
        <p:txBody>
          <a:bodyPr wrap="square" lIns="635" tIns="635" rIns="635" bIns="635" rtlCol="0" anchor="ctr">
            <a:normAutofit/>
          </a:bodyPr>
          <a:lstStyle/>
          <a:p>
            <a:pPr marL="0" indent="0" algn="ctr">
              <a:buNone/>
            </a:pPr>
            <a:r>
              <a:rPr lang="en-US" sz="2000" dirty="0">
                <a:solidFill>
                  <a:srgbClr val="C00000"/>
                </a:solidFill>
                <a:latin typeface="Open Sans" pitchFamily="34" charset="0"/>
                <a:ea typeface="Open Sans" pitchFamily="34" charset="-122"/>
                <a:cs typeface="Open Sans" pitchFamily="34" charset="-120"/>
              </a:rPr>
              <a:t>right_palm → target</a:t>
            </a:r>
            <a:endParaRPr lang="en-US" sz="2000" dirty="0"/>
          </a:p>
        </p:txBody>
      </p:sp>
      <p:sp>
        <p:nvSpPr>
          <p:cNvPr id="16" name="Text 14"/>
          <p:cNvSpPr txBox="1"/>
          <p:nvPr/>
        </p:nvSpPr>
        <p:spPr>
          <a:xfrm>
            <a:off x="822960" y="7040880"/>
            <a:ext cx="16642080" cy="1143000"/>
          </a:xfrm>
          <a:prstGeom prst="rect">
            <a:avLst/>
          </a:prstGeom>
          <a:noFill/>
          <a:ln/>
        </p:spPr>
        <p:txBody>
          <a:bodyPr wrap="square" lIns="635" tIns="635" rIns="635" bIns="635" rtlCol="0" anchor="ctr">
            <a:normAutofit/>
          </a:bodyPr>
          <a:lstStyle/>
          <a:p>
            <a:pPr marL="0" indent="0" algn="ctr">
              <a:buNone/>
            </a:pPr>
            <a:r>
              <a:rPr lang="en-US" sz="3000" dirty="0">
                <a:solidFill>
                  <a:srgbClr val="111111"/>
                </a:solidFill>
                <a:latin typeface="Open Sans" pitchFamily="34" charset="0"/>
                <a:ea typeface="Open Sans" pitchFamily="34" charset="-122"/>
                <a:cs typeface="Open Sans" pitchFamily="34" charset="-120"/>
              </a:rPr>
              <a:t>This reaching stage was useful because it isolated arm control before adding grasping, object contact, or door interaction.</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7190720" cy="685800"/>
          </a:xfrm>
          <a:prstGeom prst="rect">
            <a:avLst/>
          </a:prstGeom>
          <a:noFill/>
          <a:ln/>
        </p:spPr>
        <p:txBody>
          <a:bodyPr wrap="square" lIns="635" tIns="635" rIns="635" bIns="635" rtlCol="0" anchor="t">
            <a:normAutofit/>
          </a:bodyPr>
          <a:lstStyle/>
          <a:p>
            <a:pPr marL="0" indent="0" algn="l">
              <a:buNone/>
            </a:pPr>
            <a:r>
              <a:rPr lang="en-US" sz="3400" dirty="0">
                <a:solidFill>
                  <a:srgbClr val="111111"/>
                </a:solidFill>
                <a:latin typeface="Open Sans" pitchFamily="34" charset="0"/>
                <a:ea typeface="Open Sans" pitchFamily="34" charset="-122"/>
                <a:cs typeface="Open Sans" pitchFamily="34" charset="-120"/>
              </a:rPr>
              <a:t>Validation of the reaching environment</a:t>
            </a:r>
            <a:endParaRPr lang="en-US" sz="3400" dirty="0"/>
          </a:p>
        </p:txBody>
      </p:sp>
      <p:sp>
        <p:nvSpPr>
          <p:cNvPr id="3" name="Text 1"/>
          <p:cNvSpPr txBox="1"/>
          <p:nvPr/>
        </p:nvSpPr>
        <p:spPr>
          <a:xfrm>
            <a:off x="594360" y="1417320"/>
            <a:ext cx="17099280" cy="1645920"/>
          </a:xfrm>
          <a:prstGeom prst="rect">
            <a:avLst/>
          </a:prstGeom>
          <a:noFill/>
          <a:ln/>
        </p:spPr>
        <p:txBody>
          <a:bodyPr wrap="square" lIns="635" tIns="635" rIns="635" bIns="635" rtlCol="0" anchor="ctr">
            <a:normAutofit/>
          </a:bodyPr>
          <a:lstStyle/>
          <a:p>
            <a:pPr marL="0" indent="0" algn="l">
              <a:buNone/>
            </a:pPr>
            <a:r>
              <a:rPr lang="en-US" sz="3000" dirty="0">
                <a:solidFill>
                  <a:srgbClr val="111111"/>
                </a:solidFill>
                <a:latin typeface="Open Sans" pitchFamily="34" charset="0"/>
                <a:ea typeface="Open Sans" pitchFamily="34" charset="-122"/>
                <a:cs typeface="Open Sans" pitchFamily="34" charset="-120"/>
              </a:rPr>
              <a:t>The inspection and smoke test both passed. The smoke test used random actions, so the final distance was not expected to be small; its purpose was only to verify that the model, actuators, observations, and rewards were stable.</a:t>
            </a:r>
            <a:endParaRPr lang="en-US" sz="3000" dirty="0"/>
          </a:p>
        </p:txBody>
      </p:sp>
      <p:sp>
        <p:nvSpPr>
          <p:cNvPr id="4" name="Shape 2"/>
          <p:cNvSpPr/>
          <p:nvPr/>
        </p:nvSpPr>
        <p:spPr>
          <a:xfrm>
            <a:off x="1828800" y="3886200"/>
            <a:ext cx="14630400" cy="2926080"/>
          </a:xfrm>
          <a:prstGeom prst="roundRect">
            <a:avLst>
              <a:gd name="adj" fmla="val 2500"/>
            </a:avLst>
          </a:prstGeom>
          <a:solidFill>
            <a:srgbClr val="1E1E1E"/>
          </a:solidFill>
          <a:ln w="12700">
            <a:solidFill>
              <a:srgbClr val="1E1E1E"/>
            </a:solidFill>
            <a:prstDash val="solid"/>
          </a:ln>
        </p:spPr>
      </p:sp>
      <p:sp>
        <p:nvSpPr>
          <p:cNvPr id="5" name="Text 3"/>
          <p:cNvSpPr/>
          <p:nvPr/>
        </p:nvSpPr>
        <p:spPr>
          <a:xfrm>
            <a:off x="2084832" y="4114800"/>
            <a:ext cx="14118336" cy="2468880"/>
          </a:xfrm>
          <a:prstGeom prst="rect">
            <a:avLst/>
          </a:prstGeom>
          <a:noFill/>
          <a:ln/>
        </p:spPr>
        <p:txBody>
          <a:bodyPr wrap="square" lIns="254" tIns="254" rIns="254" bIns="254" rtlCol="0" anchor="t">
            <a:normAutofit/>
          </a:bodyPr>
          <a:lstStyle/>
          <a:p>
            <a:pPr marL="0" indent="0">
              <a:buNone/>
            </a:pPr>
            <a:r>
              <a:rPr lang="en-US" sz="1800" dirty="0">
                <a:solidFill>
                  <a:srgbClr val="FFFFFF"/>
                </a:solidFill>
                <a:latin typeface="Courier New" pitchFamily="34" charset="0"/>
                <a:ea typeface="Courier New" pitchFamily="34" charset="-122"/>
                <a:cs typeface="Courier New" pitchFamily="34" charset="-120"/>
              </a:rPr>
              <a:t>Removing invalid contact exclusion: body1='left_elbow_link', body2='left_wrist_pitch_link'</a:t>
            </a:r>
            <a:endParaRPr lang="en-US" sz="1800" dirty="0"/>
          </a:p>
          <a:p>
            <a:pPr marL="0" indent="0">
              <a:buNone/>
            </a:pPr>
            <a:r>
              <a:rPr lang="en-US" sz="1800" dirty="0">
                <a:solidFill>
                  <a:srgbClr val="FFFFFF"/>
                </a:solidFill>
                <a:latin typeface="Courier New" pitchFamily="34" charset="0"/>
                <a:ea typeface="Courier New" pitchFamily="34" charset="-122"/>
                <a:cs typeface="Courier New" pitchFamily="34" charset="-120"/>
              </a:rPr>
              <a:t>Removing invalid contact exclusion: body1='right_elbow_link', body2='right_wrist_pitch_link'</a:t>
            </a:r>
            <a:endParaRPr lang="en-US" sz="1800" dirty="0"/>
          </a:p>
          <a:p>
            <a:pPr marL="0" indent="0">
              <a:buNone/>
            </a:pPr>
            <a:r>
              <a:rPr lang="en-US" sz="1800" dirty="0">
                <a:solidFill>
                  <a:srgbClr val="FFFFFF"/>
                </a:solidFill>
                <a:latin typeface="Courier New" pitchFamily="34" charset="0"/>
                <a:ea typeface="Courier New" pitchFamily="34" charset="-122"/>
                <a:cs typeface="Courier New" pitchFamily="34" charset="-120"/>
              </a:rPr>
              <a:t>Smoke test passed. Final palm-to-target distance: 0.1911 m</a:t>
            </a:r>
            <a:endParaRPr lang="en-US" sz="1800" dirty="0"/>
          </a:p>
        </p:txBody>
      </p:sp>
      <p:sp>
        <p:nvSpPr>
          <p:cNvPr id="6" name="Text 4"/>
          <p:cNvSpPr txBox="1"/>
          <p:nvPr/>
        </p:nvSpPr>
        <p:spPr>
          <a:xfrm>
            <a:off x="1097280" y="7543800"/>
            <a:ext cx="16093440" cy="822960"/>
          </a:xfrm>
          <a:prstGeom prst="rect">
            <a:avLst/>
          </a:prstGeom>
          <a:noFill/>
          <a:ln/>
        </p:spPr>
        <p:txBody>
          <a:bodyPr wrap="square" lIns="635" tIns="635" rIns="635" bIns="635" rtlCol="0" anchor="ctr">
            <a:normAutofit/>
          </a:bodyPr>
          <a:lstStyle/>
          <a:p>
            <a:pPr marL="0" indent="0" algn="ctr">
              <a:buNone/>
            </a:pPr>
            <a:r>
              <a:rPr lang="en-US" sz="3000" dirty="0">
                <a:solidFill>
                  <a:srgbClr val="111111"/>
                </a:solidFill>
                <a:latin typeface="Open Sans" pitchFamily="34" charset="0"/>
                <a:ea typeface="Open Sans" pitchFamily="34" charset="-122"/>
                <a:cs typeface="Open Sans" pitchFamily="34" charset="-120"/>
              </a:rPr>
              <a:t>This confirmed that the arm-reaching environment was ready for PPO training.</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7190720" cy="685800"/>
          </a:xfrm>
          <a:prstGeom prst="rect">
            <a:avLst/>
          </a:prstGeom>
          <a:noFill/>
          <a:ln/>
        </p:spPr>
        <p:txBody>
          <a:bodyPr wrap="square" lIns="635" tIns="635" rIns="635" bIns="635" rtlCol="0" anchor="t">
            <a:normAutofit/>
          </a:bodyPr>
          <a:lstStyle/>
          <a:p>
            <a:pPr marL="0" indent="0" algn="l">
              <a:buNone/>
            </a:pPr>
            <a:r>
              <a:rPr lang="en-US" sz="3400" dirty="0">
                <a:solidFill>
                  <a:srgbClr val="111111"/>
                </a:solidFill>
                <a:latin typeface="Open Sans" pitchFamily="34" charset="0"/>
                <a:ea typeface="Open Sans" pitchFamily="34" charset="-122"/>
                <a:cs typeface="Open Sans" pitchFamily="34" charset="-120"/>
              </a:rPr>
              <a:t>Untrained door policy visualization</a:t>
            </a:r>
            <a:endParaRPr lang="en-US" sz="3400" dirty="0"/>
          </a:p>
        </p:txBody>
      </p:sp>
      <p:sp>
        <p:nvSpPr>
          <p:cNvPr id="3" name="Text 1"/>
          <p:cNvSpPr txBox="1"/>
          <p:nvPr/>
        </p:nvSpPr>
        <p:spPr>
          <a:xfrm>
            <a:off x="594360" y="1325880"/>
            <a:ext cx="17099280" cy="1143000"/>
          </a:xfrm>
          <a:prstGeom prst="rect">
            <a:avLst/>
          </a:prstGeom>
          <a:noFill/>
          <a:ln/>
        </p:spPr>
        <p:txBody>
          <a:bodyPr wrap="square" lIns="635" tIns="635" rIns="635" bIns="635" rtlCol="0" anchor="ctr">
            <a:normAutofit/>
          </a:bodyPr>
          <a:lstStyle/>
          <a:p>
            <a:pPr marL="0" indent="0" algn="l">
              <a:buNone/>
            </a:pPr>
            <a:r>
              <a:rPr lang="en-US" sz="2900" dirty="0">
                <a:solidFill>
                  <a:srgbClr val="111111"/>
                </a:solidFill>
                <a:latin typeface="Open Sans" pitchFamily="34" charset="0"/>
                <a:ea typeface="Open Sans" pitchFamily="34" charset="-122"/>
                <a:cs typeface="Open Sans" pitchFamily="34" charset="-120"/>
              </a:rPr>
              <a:t>Before training, the policy did not understand the door task. The arm motion was mostly random, so the gripper did not consistently approach or pull the handle.</a:t>
            </a:r>
            <a:endParaRPr lang="en-US" sz="2900" dirty="0"/>
          </a:p>
        </p:txBody>
      </p:sp>
      <p:sp>
        <p:nvSpPr>
          <p:cNvPr id="5" name="Text 2"/>
          <p:cNvSpPr txBox="1"/>
          <p:nvPr/>
        </p:nvSpPr>
        <p:spPr>
          <a:xfrm>
            <a:off x="3246120" y="9710928"/>
            <a:ext cx="11795760" cy="347472"/>
          </a:xfrm>
          <a:prstGeom prst="rect">
            <a:avLst/>
          </a:prstGeom>
          <a:noFill/>
          <a:ln/>
        </p:spPr>
        <p:txBody>
          <a:bodyPr wrap="square" lIns="635" tIns="635" rIns="635" bIns="635" rtlCol="0" anchor="ctr">
            <a:normAutofit/>
          </a:bodyPr>
          <a:lstStyle/>
          <a:p>
            <a:pPr marL="0" indent="0" algn="ctr">
              <a:buNone/>
            </a:pPr>
            <a:r>
              <a:rPr lang="en-US" sz="1700" dirty="0">
                <a:solidFill>
                  <a:srgbClr val="666666"/>
                </a:solidFill>
                <a:latin typeface="Open Sans" pitchFamily="34" charset="0"/>
                <a:ea typeface="Open Sans" pitchFamily="34" charset="-122"/>
                <a:cs typeface="Open Sans" pitchFamily="34" charset="-120"/>
              </a:rPr>
              <a:t>Untrained policy: random actions before learning the door-opening reward.</a:t>
            </a:r>
            <a:endParaRPr lang="en-US" sz="1700" dirty="0"/>
          </a:p>
        </p:txBody>
      </p:sp>
      <p:pic>
        <p:nvPicPr>
          <p:cNvPr id="6" name="Intermediate trained policy visualization">
            <a:hlinkClick r:id="" action="ppaction://media"/>
            <a:extLst>
              <a:ext uri="{FF2B5EF4-FFF2-40B4-BE49-F238E27FC236}">
                <a16:creationId xmlns:a16="http://schemas.microsoft.com/office/drawing/2014/main" id="{FA68E9EB-0611-8C07-BDBD-733307383087}"/>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007580" y="2606040"/>
            <a:ext cx="11795760" cy="74523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7190720" cy="685800"/>
          </a:xfrm>
          <a:prstGeom prst="rect">
            <a:avLst/>
          </a:prstGeom>
          <a:noFill/>
          <a:ln/>
        </p:spPr>
        <p:txBody>
          <a:bodyPr wrap="square" lIns="635" tIns="635" rIns="635" bIns="635" rtlCol="0" anchor="t">
            <a:normAutofit/>
          </a:bodyPr>
          <a:lstStyle/>
          <a:p>
            <a:pPr marL="0" indent="0" algn="l">
              <a:buNone/>
            </a:pPr>
            <a:r>
              <a:rPr lang="en-US" sz="3400" dirty="0">
                <a:solidFill>
                  <a:srgbClr val="111111"/>
                </a:solidFill>
                <a:latin typeface="Open Sans" pitchFamily="34" charset="0"/>
                <a:ea typeface="Open Sans" pitchFamily="34" charset="-122"/>
                <a:cs typeface="Open Sans" pitchFamily="34" charset="-120"/>
              </a:rPr>
              <a:t>Intermediate trained policy visualization</a:t>
            </a:r>
            <a:endParaRPr lang="en-US" sz="3400" dirty="0"/>
          </a:p>
        </p:txBody>
      </p:sp>
      <p:sp>
        <p:nvSpPr>
          <p:cNvPr id="3" name="Text 1"/>
          <p:cNvSpPr txBox="1"/>
          <p:nvPr/>
        </p:nvSpPr>
        <p:spPr>
          <a:xfrm>
            <a:off x="594360" y="1325880"/>
            <a:ext cx="17099280" cy="1143000"/>
          </a:xfrm>
          <a:prstGeom prst="rect">
            <a:avLst/>
          </a:prstGeom>
          <a:noFill/>
          <a:ln/>
        </p:spPr>
        <p:txBody>
          <a:bodyPr wrap="square" lIns="635" tIns="635" rIns="635" bIns="635" rtlCol="0" anchor="ctr">
            <a:normAutofit/>
          </a:bodyPr>
          <a:lstStyle/>
          <a:p>
            <a:pPr marL="0" indent="0" algn="l">
              <a:buNone/>
            </a:pPr>
            <a:r>
              <a:rPr lang="en-US" sz="2900" dirty="0">
                <a:solidFill>
                  <a:srgbClr val="111111"/>
                </a:solidFill>
                <a:latin typeface="Open Sans" pitchFamily="34" charset="0"/>
                <a:ea typeface="Open Sans" pitchFamily="34" charset="-122"/>
                <a:cs typeface="Open Sans" pitchFamily="34" charset="-120"/>
              </a:rPr>
              <a:t>After training on the easier door task, the policy began to produce more organized arm motion. The gripper started moving toward the handle and showed the early structure of the opening behavior.</a:t>
            </a:r>
            <a:endParaRPr lang="en-US" sz="2900" dirty="0"/>
          </a:p>
        </p:txBody>
      </p:sp>
      <p:sp>
        <p:nvSpPr>
          <p:cNvPr id="5" name="Text 2"/>
          <p:cNvSpPr txBox="1"/>
          <p:nvPr/>
        </p:nvSpPr>
        <p:spPr>
          <a:xfrm>
            <a:off x="3246120" y="9710928"/>
            <a:ext cx="11795760" cy="347472"/>
          </a:xfrm>
          <a:prstGeom prst="rect">
            <a:avLst/>
          </a:prstGeom>
          <a:noFill/>
          <a:ln/>
        </p:spPr>
        <p:txBody>
          <a:bodyPr wrap="square" lIns="635" tIns="635" rIns="635" bIns="635" rtlCol="0" anchor="ctr">
            <a:normAutofit/>
          </a:bodyPr>
          <a:lstStyle/>
          <a:p>
            <a:pPr marL="0" indent="0" algn="ctr">
              <a:buNone/>
            </a:pPr>
            <a:r>
              <a:rPr lang="en-US" sz="1700" dirty="0">
                <a:solidFill>
                  <a:srgbClr val="666666"/>
                </a:solidFill>
                <a:latin typeface="Open Sans" pitchFamily="34" charset="0"/>
                <a:ea typeface="Open Sans" pitchFamily="34" charset="-122"/>
                <a:cs typeface="Open Sans" pitchFamily="34" charset="-120"/>
              </a:rPr>
              <a:t>Intermediate policy: arm motion became more directed after the first training stage.</a:t>
            </a:r>
            <a:endParaRPr lang="en-US" sz="1700" dirty="0"/>
          </a:p>
        </p:txBody>
      </p:sp>
      <p:pic>
        <p:nvPicPr>
          <p:cNvPr id="6" name="Untrained policy visualization">
            <a:hlinkClick r:id="" action="ppaction://media"/>
            <a:extLst>
              <a:ext uri="{FF2B5EF4-FFF2-40B4-BE49-F238E27FC236}">
                <a16:creationId xmlns:a16="http://schemas.microsoft.com/office/drawing/2014/main" id="{F42E60DA-8FBD-E6BB-1C31-1B2D71599E3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530503" y="2697480"/>
            <a:ext cx="11795760" cy="7452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7190720" cy="685800"/>
          </a:xfrm>
          <a:prstGeom prst="rect">
            <a:avLst/>
          </a:prstGeom>
          <a:noFill/>
          <a:ln/>
        </p:spPr>
        <p:txBody>
          <a:bodyPr wrap="square" lIns="635" tIns="635" rIns="635" bIns="635" rtlCol="0" anchor="t">
            <a:normAutofit/>
          </a:bodyPr>
          <a:lstStyle/>
          <a:p>
            <a:pPr marL="0" indent="0" algn="l">
              <a:buNone/>
            </a:pPr>
            <a:r>
              <a:rPr lang="en-US" sz="3400" dirty="0">
                <a:solidFill>
                  <a:srgbClr val="111111"/>
                </a:solidFill>
                <a:latin typeface="Open Sans" pitchFamily="34" charset="0"/>
                <a:ea typeface="Open Sans" pitchFamily="34" charset="-122"/>
                <a:cs typeface="Open Sans" pitchFamily="34" charset="-120"/>
              </a:rPr>
              <a:t>Training curriculum</a:t>
            </a:r>
            <a:endParaRPr lang="en-US" sz="3400" dirty="0"/>
          </a:p>
        </p:txBody>
      </p:sp>
      <p:sp>
        <p:nvSpPr>
          <p:cNvPr id="3" name="Text 1"/>
          <p:cNvSpPr txBox="1"/>
          <p:nvPr/>
        </p:nvSpPr>
        <p:spPr>
          <a:xfrm>
            <a:off x="640080" y="1280160"/>
            <a:ext cx="17007840" cy="1417320"/>
          </a:xfrm>
          <a:prstGeom prst="rect">
            <a:avLst/>
          </a:prstGeom>
          <a:noFill/>
          <a:ln/>
        </p:spPr>
        <p:txBody>
          <a:bodyPr wrap="square" lIns="635" tIns="635" rIns="635" bIns="635" rtlCol="0" anchor="ctr">
            <a:normAutofit/>
          </a:bodyPr>
          <a:lstStyle/>
          <a:p>
            <a:pPr marL="0" indent="0" algn="l">
              <a:buNone/>
            </a:pPr>
            <a:r>
              <a:rPr lang="en-US" sz="3000" dirty="0">
                <a:solidFill>
                  <a:srgbClr val="111111"/>
                </a:solidFill>
                <a:latin typeface="Open Sans" pitchFamily="34" charset="0"/>
                <a:ea typeface="Open Sans" pitchFamily="34" charset="-122"/>
                <a:cs typeface="Open Sans" pitchFamily="34" charset="-120"/>
              </a:rPr>
              <a:t>The door task was trained in stages. The easier version used a closer handle and a smaller success angle. After that policy finished, it was resumed with a farther handle and a larger required opening angle.</a:t>
            </a:r>
            <a:endParaRPr lang="en-US" sz="3000" dirty="0"/>
          </a:p>
        </p:txBody>
      </p:sp>
      <p:sp>
        <p:nvSpPr>
          <p:cNvPr id="4" name="Shape 2"/>
          <p:cNvSpPr/>
          <p:nvPr/>
        </p:nvSpPr>
        <p:spPr>
          <a:xfrm>
            <a:off x="1188720" y="4023360"/>
            <a:ext cx="4572000" cy="1188720"/>
          </a:xfrm>
          <a:prstGeom prst="roundRect">
            <a:avLst>
              <a:gd name="adj" fmla="val 11538"/>
            </a:avLst>
          </a:prstGeom>
          <a:solidFill>
            <a:srgbClr val="F2F2F2"/>
          </a:solidFill>
          <a:ln w="13970">
            <a:solidFill>
              <a:srgbClr val="111111"/>
            </a:solidFill>
            <a:prstDash val="solid"/>
          </a:ln>
        </p:spPr>
      </p:sp>
      <p:sp>
        <p:nvSpPr>
          <p:cNvPr id="5" name="Text 3"/>
          <p:cNvSpPr/>
          <p:nvPr/>
        </p:nvSpPr>
        <p:spPr>
          <a:xfrm>
            <a:off x="1325880" y="4133088"/>
            <a:ext cx="4297680" cy="969264"/>
          </a:xfrm>
          <a:prstGeom prst="rect">
            <a:avLst/>
          </a:prstGeom>
          <a:noFill/>
          <a:ln/>
        </p:spPr>
        <p:txBody>
          <a:bodyPr wrap="square" lIns="0" tIns="0" rIns="0" bIns="0" rtlCol="0" anchor="ctr">
            <a:normAutofit/>
          </a:bodyPr>
          <a:lstStyle/>
          <a:p>
            <a:pPr marL="0" indent="0" algn="ctr">
              <a:buNone/>
            </a:pPr>
            <a:r>
              <a:rPr lang="en-US" sz="2100" dirty="0">
                <a:solidFill>
                  <a:srgbClr val="111111"/>
                </a:solidFill>
                <a:latin typeface="Open Sans" pitchFamily="34" charset="0"/>
                <a:ea typeface="Open Sans" pitchFamily="34" charset="-122"/>
                <a:cs typeface="Open Sans" pitchFamily="34" charset="-120"/>
              </a:rPr>
              <a:t>Stage 1</a:t>
            </a:r>
            <a:endParaRPr lang="en-US" sz="2100" dirty="0"/>
          </a:p>
          <a:p>
            <a:pPr marL="0" indent="0" algn="ctr">
              <a:buNone/>
            </a:pPr>
            <a:r>
              <a:rPr lang="en-US" sz="2100" dirty="0">
                <a:solidFill>
                  <a:srgbClr val="111111"/>
                </a:solidFill>
                <a:latin typeface="Open Sans" pitchFamily="34" charset="0"/>
                <a:ea typeface="Open Sans" pitchFamily="34" charset="-122"/>
                <a:cs typeface="Open Sans" pitchFamily="34" charset="-120"/>
              </a:rPr>
              <a:t>3,000,000 steps</a:t>
            </a:r>
            <a:endParaRPr lang="en-US" sz="2100" dirty="0"/>
          </a:p>
          <a:p>
            <a:pPr marL="0" indent="0" algn="ctr">
              <a:buNone/>
            </a:pPr>
            <a:r>
              <a:rPr lang="en-US" sz="2100" dirty="0">
                <a:solidFill>
                  <a:srgbClr val="111111"/>
                </a:solidFill>
                <a:latin typeface="Open Sans" pitchFamily="34" charset="0"/>
                <a:ea typeface="Open Sans" pitchFamily="34" charset="-122"/>
                <a:cs typeface="Open Sans" pitchFamily="34" charset="-120"/>
              </a:rPr>
              <a:t>0.12 m handle</a:t>
            </a:r>
            <a:endParaRPr lang="en-US" sz="2100" dirty="0"/>
          </a:p>
        </p:txBody>
      </p:sp>
      <p:sp>
        <p:nvSpPr>
          <p:cNvPr id="6" name="Shape 4"/>
          <p:cNvSpPr/>
          <p:nvPr/>
        </p:nvSpPr>
        <p:spPr>
          <a:xfrm>
            <a:off x="6858000" y="4023360"/>
            <a:ext cx="4572000" cy="1188720"/>
          </a:xfrm>
          <a:prstGeom prst="roundRect">
            <a:avLst>
              <a:gd name="adj" fmla="val 11538"/>
            </a:avLst>
          </a:prstGeom>
          <a:solidFill>
            <a:srgbClr val="F2F2F2"/>
          </a:solidFill>
          <a:ln w="13970">
            <a:solidFill>
              <a:srgbClr val="111111"/>
            </a:solidFill>
            <a:prstDash val="solid"/>
          </a:ln>
        </p:spPr>
      </p:sp>
      <p:sp>
        <p:nvSpPr>
          <p:cNvPr id="7" name="Text 5"/>
          <p:cNvSpPr/>
          <p:nvPr/>
        </p:nvSpPr>
        <p:spPr>
          <a:xfrm>
            <a:off x="6995160" y="4133088"/>
            <a:ext cx="4297680" cy="969264"/>
          </a:xfrm>
          <a:prstGeom prst="rect">
            <a:avLst/>
          </a:prstGeom>
          <a:noFill/>
          <a:ln/>
        </p:spPr>
        <p:txBody>
          <a:bodyPr wrap="square" lIns="0" tIns="0" rIns="0" bIns="0" rtlCol="0" anchor="ctr">
            <a:normAutofit/>
          </a:bodyPr>
          <a:lstStyle/>
          <a:p>
            <a:pPr marL="0" indent="0" algn="ctr">
              <a:buNone/>
            </a:pPr>
            <a:r>
              <a:rPr lang="en-US" sz="2100" dirty="0">
                <a:solidFill>
                  <a:srgbClr val="111111"/>
                </a:solidFill>
                <a:latin typeface="Open Sans" pitchFamily="34" charset="0"/>
                <a:ea typeface="Open Sans" pitchFamily="34" charset="-122"/>
                <a:cs typeface="Open Sans" pitchFamily="34" charset="-120"/>
              </a:rPr>
              <a:t>Resume policy</a:t>
            </a:r>
            <a:endParaRPr lang="en-US" sz="2100" dirty="0"/>
          </a:p>
          <a:p>
            <a:pPr marL="0" indent="0" algn="ctr">
              <a:buNone/>
            </a:pPr>
            <a:r>
              <a:rPr lang="en-US" sz="2100" dirty="0">
                <a:solidFill>
                  <a:srgbClr val="111111"/>
                </a:solidFill>
                <a:latin typeface="Open Sans" pitchFamily="34" charset="0"/>
                <a:ea typeface="Open Sans" pitchFamily="34" charset="-122"/>
                <a:cs typeface="Open Sans" pitchFamily="34" charset="-120"/>
              </a:rPr>
              <a:t>from final .zip</a:t>
            </a:r>
            <a:endParaRPr lang="en-US" sz="2100" dirty="0"/>
          </a:p>
          <a:p>
            <a:pPr marL="0" indent="0" algn="ctr">
              <a:buNone/>
            </a:pPr>
            <a:r>
              <a:rPr lang="en-US" sz="2100" dirty="0">
                <a:solidFill>
                  <a:srgbClr val="111111"/>
                </a:solidFill>
                <a:latin typeface="Open Sans" pitchFamily="34" charset="0"/>
                <a:ea typeface="Open Sans" pitchFamily="34" charset="-122"/>
                <a:cs typeface="Open Sans" pitchFamily="34" charset="-120"/>
              </a:rPr>
              <a:t>previous run</a:t>
            </a:r>
            <a:endParaRPr lang="en-US" sz="2100" dirty="0"/>
          </a:p>
        </p:txBody>
      </p:sp>
      <p:sp>
        <p:nvSpPr>
          <p:cNvPr id="8" name="Shape 6"/>
          <p:cNvSpPr/>
          <p:nvPr/>
        </p:nvSpPr>
        <p:spPr>
          <a:xfrm>
            <a:off x="12527280" y="4023360"/>
            <a:ext cx="4572000" cy="1188720"/>
          </a:xfrm>
          <a:prstGeom prst="roundRect">
            <a:avLst>
              <a:gd name="adj" fmla="val 11538"/>
            </a:avLst>
          </a:prstGeom>
          <a:solidFill>
            <a:srgbClr val="F2F2F2"/>
          </a:solidFill>
          <a:ln w="13970">
            <a:solidFill>
              <a:srgbClr val="111111"/>
            </a:solidFill>
            <a:prstDash val="solid"/>
          </a:ln>
        </p:spPr>
      </p:sp>
      <p:sp>
        <p:nvSpPr>
          <p:cNvPr id="9" name="Text 7"/>
          <p:cNvSpPr/>
          <p:nvPr/>
        </p:nvSpPr>
        <p:spPr>
          <a:xfrm>
            <a:off x="12664440" y="4133088"/>
            <a:ext cx="4297680" cy="969264"/>
          </a:xfrm>
          <a:prstGeom prst="rect">
            <a:avLst/>
          </a:prstGeom>
          <a:noFill/>
          <a:ln/>
        </p:spPr>
        <p:txBody>
          <a:bodyPr wrap="square" lIns="0" tIns="0" rIns="0" bIns="0" rtlCol="0" anchor="ctr">
            <a:normAutofit/>
          </a:bodyPr>
          <a:lstStyle/>
          <a:p>
            <a:pPr marL="0" indent="0" algn="ctr">
              <a:buNone/>
            </a:pPr>
            <a:r>
              <a:rPr lang="en-US" sz="2100" dirty="0">
                <a:solidFill>
                  <a:srgbClr val="111111"/>
                </a:solidFill>
                <a:latin typeface="Open Sans" pitchFamily="34" charset="0"/>
                <a:ea typeface="Open Sans" pitchFamily="34" charset="-122"/>
                <a:cs typeface="Open Sans" pitchFamily="34" charset="-120"/>
              </a:rPr>
              <a:t>Stage 2</a:t>
            </a:r>
            <a:endParaRPr lang="en-US" sz="2100" dirty="0"/>
          </a:p>
          <a:p>
            <a:pPr marL="0" indent="0" algn="ctr">
              <a:buNone/>
            </a:pPr>
            <a:r>
              <a:rPr lang="en-US" sz="2100" dirty="0">
                <a:solidFill>
                  <a:srgbClr val="111111"/>
                </a:solidFill>
                <a:latin typeface="Open Sans" pitchFamily="34" charset="0"/>
                <a:ea typeface="Open Sans" pitchFamily="34" charset="-122"/>
                <a:cs typeface="Open Sans" pitchFamily="34" charset="-120"/>
              </a:rPr>
              <a:t>2,000,000 steps</a:t>
            </a:r>
            <a:endParaRPr lang="en-US" sz="2100" dirty="0"/>
          </a:p>
          <a:p>
            <a:pPr marL="0" indent="0" algn="ctr">
              <a:buNone/>
            </a:pPr>
            <a:r>
              <a:rPr lang="en-US" sz="2100" dirty="0">
                <a:solidFill>
                  <a:srgbClr val="111111"/>
                </a:solidFill>
                <a:latin typeface="Open Sans" pitchFamily="34" charset="0"/>
                <a:ea typeface="Open Sans" pitchFamily="34" charset="-122"/>
                <a:cs typeface="Open Sans" pitchFamily="34" charset="-120"/>
              </a:rPr>
              <a:t>0.14 m handle</a:t>
            </a:r>
            <a:endParaRPr lang="en-US" sz="2100" dirty="0"/>
          </a:p>
        </p:txBody>
      </p:sp>
      <p:sp>
        <p:nvSpPr>
          <p:cNvPr id="10" name="Shape 8"/>
          <p:cNvSpPr/>
          <p:nvPr/>
        </p:nvSpPr>
        <p:spPr>
          <a:xfrm>
            <a:off x="5897880" y="4617720"/>
            <a:ext cx="822960" cy="0"/>
          </a:xfrm>
          <a:prstGeom prst="line">
            <a:avLst/>
          </a:prstGeom>
          <a:noFill/>
          <a:ln w="25400">
            <a:solidFill>
              <a:srgbClr val="244C9C"/>
            </a:solidFill>
            <a:prstDash val="solid"/>
            <a:headEnd type="none"/>
            <a:tailEnd type="triangle"/>
          </a:ln>
        </p:spPr>
      </p:sp>
      <p:sp>
        <p:nvSpPr>
          <p:cNvPr id="11" name="Shape 9"/>
          <p:cNvSpPr/>
          <p:nvPr/>
        </p:nvSpPr>
        <p:spPr>
          <a:xfrm>
            <a:off x="11567160" y="4617720"/>
            <a:ext cx="822960" cy="0"/>
          </a:xfrm>
          <a:prstGeom prst="line">
            <a:avLst/>
          </a:prstGeom>
          <a:noFill/>
          <a:ln w="25400">
            <a:solidFill>
              <a:srgbClr val="244C9C"/>
            </a:solidFill>
            <a:prstDash val="solid"/>
            <a:headEnd type="none"/>
            <a:tailEnd type="triangle"/>
          </a:ln>
        </p:spPr>
      </p:sp>
      <p:sp>
        <p:nvSpPr>
          <p:cNvPr id="12" name="Text 10"/>
          <p:cNvSpPr txBox="1"/>
          <p:nvPr/>
        </p:nvSpPr>
        <p:spPr>
          <a:xfrm>
            <a:off x="1143000" y="6903720"/>
            <a:ext cx="16002000" cy="914400"/>
          </a:xfrm>
          <a:prstGeom prst="rect">
            <a:avLst/>
          </a:prstGeom>
          <a:noFill/>
          <a:ln/>
        </p:spPr>
        <p:txBody>
          <a:bodyPr wrap="square" lIns="635" tIns="635" rIns="635" bIns="635" rtlCol="0" anchor="ctr">
            <a:normAutofit/>
          </a:bodyPr>
          <a:lstStyle/>
          <a:p>
            <a:pPr marL="0" indent="0" algn="ctr">
              <a:buNone/>
            </a:pPr>
            <a:r>
              <a:rPr lang="en-US" sz="2800" dirty="0">
                <a:solidFill>
                  <a:srgbClr val="111111"/>
                </a:solidFill>
                <a:latin typeface="Open Sans" pitchFamily="34" charset="0"/>
                <a:ea typeface="Open Sans" pitchFamily="34" charset="-122"/>
                <a:cs typeface="Open Sans" pitchFamily="34" charset="-120"/>
              </a:rPr>
              <a:t>The success angle increased from 0.45 rad to 0.65 rad, which means the harder task required the door to open more.</a:t>
            </a: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7190720" cy="685800"/>
          </a:xfrm>
          <a:prstGeom prst="rect">
            <a:avLst/>
          </a:prstGeom>
          <a:noFill/>
          <a:ln/>
        </p:spPr>
        <p:txBody>
          <a:bodyPr wrap="square" lIns="635" tIns="635" rIns="635" bIns="635" rtlCol="0" anchor="t">
            <a:normAutofit/>
          </a:bodyPr>
          <a:lstStyle/>
          <a:p>
            <a:pPr marL="0" indent="0" algn="l">
              <a:buNone/>
            </a:pPr>
            <a:r>
              <a:rPr lang="en-US" sz="3400" dirty="0">
                <a:solidFill>
                  <a:srgbClr val="111111"/>
                </a:solidFill>
                <a:latin typeface="Open Sans" pitchFamily="34" charset="0"/>
                <a:ea typeface="Open Sans" pitchFamily="34" charset="-122"/>
                <a:cs typeface="Open Sans" pitchFamily="34" charset="-120"/>
              </a:rPr>
              <a:t>Final trained policy visualization and evaluation</a:t>
            </a:r>
            <a:endParaRPr lang="en-US" sz="3400" dirty="0"/>
          </a:p>
        </p:txBody>
      </p:sp>
      <p:sp>
        <p:nvSpPr>
          <p:cNvPr id="3" name="Text 1"/>
          <p:cNvSpPr txBox="1"/>
          <p:nvPr/>
        </p:nvSpPr>
        <p:spPr>
          <a:xfrm>
            <a:off x="594360" y="1143000"/>
            <a:ext cx="17099280" cy="1005840"/>
          </a:xfrm>
          <a:prstGeom prst="rect">
            <a:avLst/>
          </a:prstGeom>
          <a:noFill/>
          <a:ln/>
        </p:spPr>
        <p:txBody>
          <a:bodyPr wrap="square" lIns="635" tIns="635" rIns="635" bIns="635" rtlCol="0" anchor="ctr">
            <a:normAutofit/>
          </a:bodyPr>
          <a:lstStyle/>
          <a:p>
            <a:pPr marL="0" indent="0" algn="l">
              <a:buNone/>
            </a:pPr>
            <a:r>
              <a:rPr lang="en-US" sz="2900" dirty="0">
                <a:solidFill>
                  <a:srgbClr val="111111"/>
                </a:solidFill>
                <a:latin typeface="Open Sans" pitchFamily="34" charset="0"/>
                <a:ea typeface="Open Sans" pitchFamily="34" charset="-122"/>
                <a:cs typeface="Open Sans" pitchFamily="34" charset="-120"/>
              </a:rPr>
              <a:t>The harder training stage completed successfully and the final policy was visualized. In the first evaluation run, the policy reached a 3/10 success rate while keeping the final hand distance close to the handle.</a:t>
            </a:r>
            <a:endParaRPr lang="en-US" sz="2900" dirty="0"/>
          </a:p>
        </p:txBody>
      </p:sp>
      <p:pic>
        <p:nvPicPr>
          <p:cNvPr id="4" name="Final trained policy visualiz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68680" y="2697480"/>
            <a:ext cx="8778240" cy="5532120"/>
          </a:xfrm>
          <a:prstGeom prst="rect">
            <a:avLst/>
          </a:prstGeom>
        </p:spPr>
      </p:pic>
      <p:pic>
        <p:nvPicPr>
          <p:cNvPr id="5" name="Image 0" descr="/mnt/data/first 10 episodes success rate.png"/>
          <p:cNvPicPr>
            <a:picLocks noChangeAspect="1"/>
          </p:cNvPicPr>
          <p:nvPr/>
        </p:nvPicPr>
        <p:blipFill>
          <a:blip r:embed="rId6"/>
          <a:stretch>
            <a:fillRect/>
          </a:stretch>
        </p:blipFill>
        <p:spPr>
          <a:xfrm>
            <a:off x="10195560" y="2834640"/>
            <a:ext cx="7406640" cy="3703320"/>
          </a:xfrm>
          <a:prstGeom prst="rect">
            <a:avLst/>
          </a:prstGeom>
        </p:spPr>
      </p:pic>
      <p:sp>
        <p:nvSpPr>
          <p:cNvPr id="6" name="Text 2"/>
          <p:cNvSpPr txBox="1"/>
          <p:nvPr/>
        </p:nvSpPr>
        <p:spPr>
          <a:xfrm>
            <a:off x="914400" y="8412480"/>
            <a:ext cx="8686800" cy="320040"/>
          </a:xfrm>
          <a:prstGeom prst="rect">
            <a:avLst/>
          </a:prstGeom>
          <a:noFill/>
          <a:ln/>
        </p:spPr>
        <p:txBody>
          <a:bodyPr wrap="square" lIns="635" tIns="635" rIns="635" bIns="635" rtlCol="0" anchor="ctr">
            <a:normAutofit/>
          </a:bodyPr>
          <a:lstStyle/>
          <a:p>
            <a:pPr marL="0" indent="0" algn="ctr">
              <a:buNone/>
            </a:pPr>
            <a:r>
              <a:rPr lang="en-US" sz="1800" dirty="0">
                <a:solidFill>
                  <a:srgbClr val="666666"/>
                </a:solidFill>
                <a:latin typeface="Open Sans" pitchFamily="34" charset="0"/>
                <a:ea typeface="Open Sans" pitchFamily="34" charset="-122"/>
                <a:cs typeface="Open Sans" pitchFamily="34" charset="-120"/>
              </a:rPr>
              <a:t>Final policy visualization</a:t>
            </a:r>
            <a:endParaRPr lang="en-US" sz="1800" dirty="0"/>
          </a:p>
        </p:txBody>
      </p:sp>
      <p:sp>
        <p:nvSpPr>
          <p:cNvPr id="7" name="Text 3"/>
          <p:cNvSpPr txBox="1"/>
          <p:nvPr/>
        </p:nvSpPr>
        <p:spPr>
          <a:xfrm>
            <a:off x="10104120" y="6903720"/>
            <a:ext cx="7589520" cy="502920"/>
          </a:xfrm>
          <a:prstGeom prst="rect">
            <a:avLst/>
          </a:prstGeom>
          <a:noFill/>
          <a:ln/>
        </p:spPr>
        <p:txBody>
          <a:bodyPr wrap="square" lIns="635" tIns="635" rIns="635" bIns="635" rtlCol="0" anchor="ctr">
            <a:normAutofit/>
          </a:bodyPr>
          <a:lstStyle/>
          <a:p>
            <a:pPr marL="0" indent="0" algn="ctr">
              <a:buNone/>
            </a:pPr>
            <a:r>
              <a:rPr lang="en-US" sz="2000" dirty="0">
                <a:solidFill>
                  <a:srgbClr val="111111"/>
                </a:solidFill>
                <a:latin typeface="Open Sans" pitchFamily="34" charset="0"/>
                <a:ea typeface="Open Sans" pitchFamily="34" charset="-122"/>
                <a:cs typeface="Open Sans" pitchFamily="34" charset="-120"/>
              </a:rPr>
              <a:t>First 10-episode evaluation: 3 successful episodes out of 10.</a:t>
            </a:r>
            <a:endParaRPr lang="en-US" sz="2000" dirty="0"/>
          </a:p>
        </p:txBody>
      </p:sp>
      <p:sp>
        <p:nvSpPr>
          <p:cNvPr id="8" name="Text 4"/>
          <p:cNvSpPr txBox="1"/>
          <p:nvPr/>
        </p:nvSpPr>
        <p:spPr>
          <a:xfrm>
            <a:off x="1188720" y="9144000"/>
            <a:ext cx="15910560" cy="502920"/>
          </a:xfrm>
          <a:prstGeom prst="rect">
            <a:avLst/>
          </a:prstGeom>
          <a:noFill/>
          <a:ln/>
        </p:spPr>
        <p:txBody>
          <a:bodyPr wrap="square" lIns="635" tIns="635" rIns="635" bIns="635" rtlCol="0" anchor="ctr">
            <a:normAutofit/>
          </a:bodyPr>
          <a:lstStyle/>
          <a:p>
            <a:pPr marL="0" indent="0" algn="ctr">
              <a:buNone/>
            </a:pPr>
            <a:r>
              <a:rPr lang="en-US" sz="2400" dirty="0">
                <a:solidFill>
                  <a:srgbClr val="111111"/>
                </a:solidFill>
                <a:latin typeface="Open Sans" pitchFamily="34" charset="0"/>
                <a:ea typeface="Open Sans" pitchFamily="34" charset="-122"/>
                <a:cs typeface="Open Sans" pitchFamily="34" charset="-120"/>
              </a:rPr>
              <a:t>The result shows clear progress, but more training and reward tuning are still needed for consistent door opening.</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7190720" cy="685800"/>
          </a:xfrm>
          <a:prstGeom prst="rect">
            <a:avLst/>
          </a:prstGeom>
          <a:noFill/>
          <a:ln/>
        </p:spPr>
        <p:txBody>
          <a:bodyPr wrap="square" lIns="635" tIns="635" rIns="635" bIns="635" rtlCol="0" anchor="t">
            <a:normAutofit/>
          </a:bodyPr>
          <a:lstStyle/>
          <a:p>
            <a:pPr marL="0" indent="0" algn="l">
              <a:buNone/>
            </a:pPr>
            <a:r>
              <a:rPr lang="en-US" sz="3400" dirty="0">
                <a:solidFill>
                  <a:srgbClr val="111111"/>
                </a:solidFill>
                <a:latin typeface="Open Sans" pitchFamily="34" charset="0"/>
                <a:ea typeface="Open Sans" pitchFamily="34" charset="-122"/>
                <a:cs typeface="Open Sans" pitchFamily="34" charset="-120"/>
              </a:rPr>
              <a:t>Next steps</a:t>
            </a:r>
            <a:endParaRPr lang="en-US" sz="3400" dirty="0"/>
          </a:p>
        </p:txBody>
      </p:sp>
      <p:sp>
        <p:nvSpPr>
          <p:cNvPr id="3" name="Text 1"/>
          <p:cNvSpPr txBox="1"/>
          <p:nvPr/>
        </p:nvSpPr>
        <p:spPr>
          <a:xfrm>
            <a:off x="594360" y="2057400"/>
            <a:ext cx="17099280" cy="1828800"/>
          </a:xfrm>
          <a:prstGeom prst="rect">
            <a:avLst/>
          </a:prstGeom>
          <a:noFill/>
          <a:ln/>
        </p:spPr>
        <p:txBody>
          <a:bodyPr wrap="square" lIns="635" tIns="635" rIns="635" bIns="635" rtlCol="0" anchor="ctr">
            <a:normAutofit/>
          </a:bodyPr>
          <a:lstStyle/>
          <a:p>
            <a:pPr marL="0" indent="0" algn="l">
              <a:buNone/>
            </a:pPr>
            <a:r>
              <a:rPr lang="en-US" sz="3200" dirty="0">
                <a:solidFill>
                  <a:srgbClr val="111111"/>
                </a:solidFill>
                <a:latin typeface="Open Sans" pitchFamily="34" charset="0"/>
                <a:ea typeface="Open Sans" pitchFamily="34" charset="-122"/>
                <a:cs typeface="Open Sans" pitchFamily="34" charset="-120"/>
              </a:rPr>
              <a:t>The next steps are to visualize the harder policy, record successful and failed episodes, and adjust the reward if the robot reaches the handle but does not consistently pull the door open. Once the arm behavior is stable, the task can be combined with standing or walking control.</a:t>
            </a:r>
            <a:endParaRPr lang="en-US" sz="3200" dirty="0"/>
          </a:p>
        </p:txBody>
      </p:sp>
      <p:sp>
        <p:nvSpPr>
          <p:cNvPr id="4" name="Shape 2"/>
          <p:cNvSpPr/>
          <p:nvPr/>
        </p:nvSpPr>
        <p:spPr>
          <a:xfrm>
            <a:off x="1463040" y="5074920"/>
            <a:ext cx="3931920" cy="1051560"/>
          </a:xfrm>
          <a:prstGeom prst="roundRect">
            <a:avLst>
              <a:gd name="adj" fmla="val 13043"/>
            </a:avLst>
          </a:prstGeom>
          <a:solidFill>
            <a:srgbClr val="F2F2F2"/>
          </a:solidFill>
          <a:ln w="13970">
            <a:solidFill>
              <a:srgbClr val="111111"/>
            </a:solidFill>
            <a:prstDash val="solid"/>
          </a:ln>
        </p:spPr>
      </p:sp>
      <p:sp>
        <p:nvSpPr>
          <p:cNvPr id="5" name="Text 3"/>
          <p:cNvSpPr/>
          <p:nvPr/>
        </p:nvSpPr>
        <p:spPr>
          <a:xfrm>
            <a:off x="1600200" y="5184648"/>
            <a:ext cx="3657600" cy="832104"/>
          </a:xfrm>
          <a:prstGeom prst="rect">
            <a:avLst/>
          </a:prstGeom>
          <a:noFill/>
          <a:ln/>
        </p:spPr>
        <p:txBody>
          <a:bodyPr wrap="square" lIns="0" tIns="0" rIns="0" bIns="0" rtlCol="0" anchor="ctr">
            <a:normAutofit/>
          </a:bodyPr>
          <a:lstStyle/>
          <a:p>
            <a:pPr marL="0" indent="0" algn="ctr">
              <a:buNone/>
            </a:pPr>
            <a:r>
              <a:rPr lang="en-US" sz="2200" dirty="0">
                <a:solidFill>
                  <a:srgbClr val="111111"/>
                </a:solidFill>
                <a:latin typeface="Open Sans" pitchFamily="34" charset="0"/>
                <a:ea typeface="Open Sans" pitchFamily="34" charset="-122"/>
                <a:cs typeface="Open Sans" pitchFamily="34" charset="-120"/>
              </a:rPr>
              <a:t>visualize</a:t>
            </a:r>
            <a:endParaRPr lang="en-US" sz="2200" dirty="0"/>
          </a:p>
          <a:p>
            <a:pPr marL="0" indent="0" algn="ctr">
              <a:buNone/>
            </a:pPr>
            <a:r>
              <a:rPr lang="en-US" sz="2200" dirty="0">
                <a:solidFill>
                  <a:srgbClr val="111111"/>
                </a:solidFill>
                <a:latin typeface="Open Sans" pitchFamily="34" charset="0"/>
                <a:ea typeface="Open Sans" pitchFamily="34" charset="-122"/>
                <a:cs typeface="Open Sans" pitchFamily="34" charset="-120"/>
              </a:rPr>
              <a:t>trained policy</a:t>
            </a:r>
            <a:endParaRPr lang="en-US" sz="2200" dirty="0"/>
          </a:p>
        </p:txBody>
      </p:sp>
      <p:sp>
        <p:nvSpPr>
          <p:cNvPr id="6" name="Shape 4"/>
          <p:cNvSpPr/>
          <p:nvPr/>
        </p:nvSpPr>
        <p:spPr>
          <a:xfrm>
            <a:off x="5852160" y="5074920"/>
            <a:ext cx="3931920" cy="1051560"/>
          </a:xfrm>
          <a:prstGeom prst="roundRect">
            <a:avLst>
              <a:gd name="adj" fmla="val 13043"/>
            </a:avLst>
          </a:prstGeom>
          <a:solidFill>
            <a:srgbClr val="F2F2F2"/>
          </a:solidFill>
          <a:ln w="13970">
            <a:solidFill>
              <a:srgbClr val="111111"/>
            </a:solidFill>
            <a:prstDash val="solid"/>
          </a:ln>
        </p:spPr>
      </p:sp>
      <p:sp>
        <p:nvSpPr>
          <p:cNvPr id="7" name="Text 5"/>
          <p:cNvSpPr/>
          <p:nvPr/>
        </p:nvSpPr>
        <p:spPr>
          <a:xfrm>
            <a:off x="5989320" y="5184648"/>
            <a:ext cx="3657600" cy="832104"/>
          </a:xfrm>
          <a:prstGeom prst="rect">
            <a:avLst/>
          </a:prstGeom>
          <a:noFill/>
          <a:ln/>
        </p:spPr>
        <p:txBody>
          <a:bodyPr wrap="square" lIns="0" tIns="0" rIns="0" bIns="0" rtlCol="0" anchor="ctr">
            <a:normAutofit/>
          </a:bodyPr>
          <a:lstStyle/>
          <a:p>
            <a:pPr marL="0" indent="0" algn="ctr">
              <a:buNone/>
            </a:pPr>
            <a:r>
              <a:rPr lang="en-US" sz="2200" dirty="0">
                <a:solidFill>
                  <a:srgbClr val="111111"/>
                </a:solidFill>
                <a:latin typeface="Open Sans" pitchFamily="34" charset="0"/>
                <a:ea typeface="Open Sans" pitchFamily="34" charset="-122"/>
                <a:cs typeface="Open Sans" pitchFamily="34" charset="-120"/>
              </a:rPr>
              <a:t>measure</a:t>
            </a:r>
            <a:endParaRPr lang="en-US" sz="2200" dirty="0"/>
          </a:p>
          <a:p>
            <a:pPr marL="0" indent="0" algn="ctr">
              <a:buNone/>
            </a:pPr>
            <a:r>
              <a:rPr lang="en-US" sz="2200" dirty="0">
                <a:solidFill>
                  <a:srgbClr val="111111"/>
                </a:solidFill>
                <a:latin typeface="Open Sans" pitchFamily="34" charset="0"/>
                <a:ea typeface="Open Sans" pitchFamily="34" charset="-122"/>
                <a:cs typeface="Open Sans" pitchFamily="34" charset="-120"/>
              </a:rPr>
              <a:t>success rate</a:t>
            </a:r>
            <a:endParaRPr lang="en-US" sz="2200" dirty="0"/>
          </a:p>
        </p:txBody>
      </p:sp>
      <p:sp>
        <p:nvSpPr>
          <p:cNvPr id="8" name="Shape 6"/>
          <p:cNvSpPr/>
          <p:nvPr/>
        </p:nvSpPr>
        <p:spPr>
          <a:xfrm>
            <a:off x="10241280" y="5074920"/>
            <a:ext cx="3931920" cy="1051560"/>
          </a:xfrm>
          <a:prstGeom prst="roundRect">
            <a:avLst>
              <a:gd name="adj" fmla="val 13043"/>
            </a:avLst>
          </a:prstGeom>
          <a:solidFill>
            <a:srgbClr val="F2F2F2"/>
          </a:solidFill>
          <a:ln w="13970">
            <a:solidFill>
              <a:srgbClr val="111111"/>
            </a:solidFill>
            <a:prstDash val="solid"/>
          </a:ln>
        </p:spPr>
      </p:sp>
      <p:sp>
        <p:nvSpPr>
          <p:cNvPr id="9" name="Text 7"/>
          <p:cNvSpPr/>
          <p:nvPr/>
        </p:nvSpPr>
        <p:spPr>
          <a:xfrm>
            <a:off x="10378440" y="5184648"/>
            <a:ext cx="3657600" cy="832104"/>
          </a:xfrm>
          <a:prstGeom prst="rect">
            <a:avLst/>
          </a:prstGeom>
          <a:noFill/>
          <a:ln/>
        </p:spPr>
        <p:txBody>
          <a:bodyPr wrap="square" lIns="0" tIns="0" rIns="0" bIns="0" rtlCol="0" anchor="ctr">
            <a:normAutofit/>
          </a:bodyPr>
          <a:lstStyle/>
          <a:p>
            <a:pPr marL="0" indent="0" algn="ctr">
              <a:buNone/>
            </a:pPr>
            <a:r>
              <a:rPr lang="en-US" sz="2200" dirty="0">
                <a:solidFill>
                  <a:srgbClr val="111111"/>
                </a:solidFill>
                <a:latin typeface="Open Sans" pitchFamily="34" charset="0"/>
                <a:ea typeface="Open Sans" pitchFamily="34" charset="-122"/>
                <a:cs typeface="Open Sans" pitchFamily="34" charset="-120"/>
              </a:rPr>
              <a:t>tune reward</a:t>
            </a:r>
            <a:endParaRPr lang="en-US" sz="2200" dirty="0"/>
          </a:p>
          <a:p>
            <a:pPr marL="0" indent="0" algn="ctr">
              <a:buNone/>
            </a:pPr>
            <a:r>
              <a:rPr lang="en-US" sz="2200" dirty="0">
                <a:solidFill>
                  <a:srgbClr val="111111"/>
                </a:solidFill>
                <a:latin typeface="Open Sans" pitchFamily="34" charset="0"/>
                <a:ea typeface="Open Sans" pitchFamily="34" charset="-122"/>
                <a:cs typeface="Open Sans" pitchFamily="34" charset="-120"/>
              </a:rPr>
              <a:t>and curriculum</a:t>
            </a:r>
            <a:endParaRPr lang="en-US" sz="2200" dirty="0"/>
          </a:p>
        </p:txBody>
      </p:sp>
      <p:sp>
        <p:nvSpPr>
          <p:cNvPr id="10" name="Shape 8"/>
          <p:cNvSpPr/>
          <p:nvPr/>
        </p:nvSpPr>
        <p:spPr>
          <a:xfrm>
            <a:off x="14630400" y="5074920"/>
            <a:ext cx="2194560" cy="1051560"/>
          </a:xfrm>
          <a:prstGeom prst="roundRect">
            <a:avLst>
              <a:gd name="adj" fmla="val 13043"/>
            </a:avLst>
          </a:prstGeom>
          <a:solidFill>
            <a:srgbClr val="F2F2F2"/>
          </a:solidFill>
          <a:ln w="13970">
            <a:solidFill>
              <a:srgbClr val="111111"/>
            </a:solidFill>
            <a:prstDash val="solid"/>
          </a:ln>
        </p:spPr>
      </p:sp>
      <p:sp>
        <p:nvSpPr>
          <p:cNvPr id="11" name="Text 9"/>
          <p:cNvSpPr/>
          <p:nvPr/>
        </p:nvSpPr>
        <p:spPr>
          <a:xfrm>
            <a:off x="14767560" y="5184648"/>
            <a:ext cx="1920240" cy="832104"/>
          </a:xfrm>
          <a:prstGeom prst="rect">
            <a:avLst/>
          </a:prstGeom>
          <a:noFill/>
          <a:ln/>
        </p:spPr>
        <p:txBody>
          <a:bodyPr wrap="square" lIns="0" tIns="0" rIns="0" bIns="0" rtlCol="0" anchor="ctr">
            <a:normAutofit/>
          </a:bodyPr>
          <a:lstStyle/>
          <a:p>
            <a:pPr marL="0" indent="0" algn="ctr">
              <a:buNone/>
            </a:pPr>
            <a:r>
              <a:rPr lang="en-US" sz="2000" dirty="0">
                <a:solidFill>
                  <a:srgbClr val="111111"/>
                </a:solidFill>
                <a:latin typeface="Open Sans" pitchFamily="34" charset="0"/>
                <a:ea typeface="Open Sans" pitchFamily="34" charset="-122"/>
                <a:cs typeface="Open Sans" pitchFamily="34" charset="-120"/>
              </a:rPr>
              <a:t>combine</a:t>
            </a:r>
            <a:endParaRPr lang="en-US" sz="2000" dirty="0"/>
          </a:p>
          <a:p>
            <a:pPr marL="0" indent="0" algn="ctr">
              <a:buNone/>
            </a:pPr>
            <a:r>
              <a:rPr lang="en-US" sz="2000" dirty="0">
                <a:solidFill>
                  <a:srgbClr val="111111"/>
                </a:solidFill>
                <a:latin typeface="Open Sans" pitchFamily="34" charset="0"/>
                <a:ea typeface="Open Sans" pitchFamily="34" charset="-122"/>
                <a:cs typeface="Open Sans" pitchFamily="34" charset="-120"/>
              </a:rPr>
              <a:t>with gait</a:t>
            </a:r>
            <a:endParaRPr lang="en-US" sz="2000" dirty="0"/>
          </a:p>
        </p:txBody>
      </p:sp>
      <p:sp>
        <p:nvSpPr>
          <p:cNvPr id="12" name="Shape 10"/>
          <p:cNvSpPr/>
          <p:nvPr/>
        </p:nvSpPr>
        <p:spPr>
          <a:xfrm>
            <a:off x="5440680" y="5596128"/>
            <a:ext cx="274320" cy="0"/>
          </a:xfrm>
          <a:prstGeom prst="line">
            <a:avLst/>
          </a:prstGeom>
          <a:noFill/>
          <a:ln w="21590">
            <a:solidFill>
              <a:srgbClr val="244C9C"/>
            </a:solidFill>
            <a:prstDash val="solid"/>
            <a:headEnd type="none"/>
            <a:tailEnd type="triangle"/>
          </a:ln>
        </p:spPr>
      </p:sp>
      <p:sp>
        <p:nvSpPr>
          <p:cNvPr id="13" name="Shape 11"/>
          <p:cNvSpPr/>
          <p:nvPr/>
        </p:nvSpPr>
        <p:spPr>
          <a:xfrm>
            <a:off x="9829800" y="5596128"/>
            <a:ext cx="274320" cy="0"/>
          </a:xfrm>
          <a:prstGeom prst="line">
            <a:avLst/>
          </a:prstGeom>
          <a:noFill/>
          <a:ln w="21590">
            <a:solidFill>
              <a:srgbClr val="244C9C"/>
            </a:solidFill>
            <a:prstDash val="solid"/>
            <a:headEnd type="none"/>
            <a:tailEnd type="triangle"/>
          </a:ln>
        </p:spPr>
      </p:sp>
      <p:sp>
        <p:nvSpPr>
          <p:cNvPr id="14" name="Shape 12"/>
          <p:cNvSpPr/>
          <p:nvPr/>
        </p:nvSpPr>
        <p:spPr>
          <a:xfrm>
            <a:off x="14218920" y="5596128"/>
            <a:ext cx="274320" cy="0"/>
          </a:xfrm>
          <a:prstGeom prst="line">
            <a:avLst/>
          </a:prstGeom>
          <a:noFill/>
          <a:ln w="21590">
            <a:solidFill>
              <a:srgbClr val="244C9C"/>
            </a:solidFill>
            <a:prstDash val="solid"/>
            <a:headEnd type="none"/>
            <a:tailEnd type="triangle"/>
          </a:ln>
        </p:spPr>
      </p:sp>
      <p:sp>
        <p:nvSpPr>
          <p:cNvPr id="15" name="Text 13"/>
          <p:cNvSpPr txBox="1"/>
          <p:nvPr/>
        </p:nvSpPr>
        <p:spPr>
          <a:xfrm>
            <a:off x="1097280" y="7543800"/>
            <a:ext cx="16093440" cy="777240"/>
          </a:xfrm>
          <a:prstGeom prst="rect">
            <a:avLst/>
          </a:prstGeom>
          <a:noFill/>
          <a:ln/>
        </p:spPr>
        <p:txBody>
          <a:bodyPr wrap="square" lIns="635" tIns="635" rIns="635" bIns="635" rtlCol="0" anchor="ctr">
            <a:normAutofit/>
          </a:bodyPr>
          <a:lstStyle/>
          <a:p>
            <a:pPr marL="0" indent="0" algn="ctr">
              <a:buNone/>
            </a:pPr>
            <a:r>
              <a:rPr lang="en-US" sz="2800" dirty="0">
                <a:solidFill>
                  <a:srgbClr val="111111"/>
                </a:solidFill>
                <a:latin typeface="Open Sans" pitchFamily="34" charset="0"/>
                <a:ea typeface="Open Sans" pitchFamily="34" charset="-122"/>
                <a:cs typeface="Open Sans" pitchFamily="34" charset="-120"/>
              </a:rPr>
              <a:t>A GPU or multiple parallel environments would likely improve training speed and stability for future manipulation policies.</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2331720"/>
            <a:ext cx="17099280" cy="5120640"/>
          </a:xfrm>
          <a:prstGeom prst="rect">
            <a:avLst/>
          </a:prstGeom>
          <a:noFill/>
          <a:ln/>
        </p:spPr>
        <p:txBody>
          <a:bodyPr wrap="square" lIns="635" tIns="635" rIns="635" bIns="635" rtlCol="0" anchor="t">
            <a:normAutofit/>
          </a:bodyPr>
          <a:lstStyle/>
          <a:p>
            <a:pPr marL="0" indent="0" algn="l">
              <a:buNone/>
            </a:pPr>
            <a:r>
              <a:rPr lang="en-US" sz="3000" b="1" dirty="0">
                <a:solidFill>
                  <a:srgbClr val="111111"/>
                </a:solidFill>
                <a:latin typeface="Open Sans" pitchFamily="34" charset="0"/>
                <a:ea typeface="Open Sans" pitchFamily="34" charset="-122"/>
                <a:cs typeface="Open Sans" pitchFamily="34" charset="-120"/>
              </a:rPr>
              <a:t>Reference</a:t>
            </a:r>
            <a:endParaRPr lang="en-US" sz="3000" dirty="0"/>
          </a:p>
          <a:p>
            <a:pPr marL="0" indent="0" algn="l">
              <a:buNone/>
            </a:pPr>
            <a:endParaRPr lang="en-US" sz="3000" dirty="0"/>
          </a:p>
          <a:p>
            <a:pPr marL="0" indent="0" algn="l">
              <a:buNone/>
            </a:pPr>
            <a:r>
              <a:rPr lang="en-US" sz="3000" b="1" dirty="0">
                <a:solidFill>
                  <a:srgbClr val="111111"/>
                </a:solidFill>
                <a:latin typeface="Open Sans" pitchFamily="34" charset="0"/>
                <a:ea typeface="Open Sans" pitchFamily="34" charset="-122"/>
                <a:cs typeface="Open Sans" pitchFamily="34" charset="-120"/>
              </a:rPr>
              <a:t>Todorov, E., Erez, T., &amp; Tassa, Y. (2012). MuJoCo: A physics engine for model-based control. IEEE/RSJ International Conference on Intelligent Robots and Systems (IROS), 5026–5033.</a:t>
            </a:r>
            <a:endParaRPr lang="en-US" sz="3000" dirty="0"/>
          </a:p>
          <a:p>
            <a:pPr marL="0" indent="0" algn="l">
              <a:buNone/>
            </a:pPr>
            <a:endParaRPr lang="en-US" sz="3000" dirty="0"/>
          </a:p>
          <a:p>
            <a:pPr marL="0" indent="0" algn="l">
              <a:buNone/>
            </a:pPr>
            <a:r>
              <a:rPr lang="en-US" sz="3000" b="1" dirty="0">
                <a:solidFill>
                  <a:srgbClr val="111111"/>
                </a:solidFill>
                <a:latin typeface="Open Sans" pitchFamily="34" charset="0"/>
                <a:ea typeface="Open Sans" pitchFamily="34" charset="-122"/>
                <a:cs typeface="Open Sans" pitchFamily="34" charset="-120"/>
              </a:rPr>
              <a:t>Unitree Robotics. Unitree RL Mjlab: Reinforcement learning project built on mjlab with MuJoCo physics simulation backend. Retrieved from https://github.com/unitreerobotics/unitree_rl_mjlab</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Ope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e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TotalTime>
  <Words>762</Words>
  <Application>Microsoft Macintosh PowerPoint</Application>
  <PresentationFormat>Custom</PresentationFormat>
  <Paragraphs>78</Paragraphs>
  <Slides>11</Slides>
  <Notes>11</Notes>
  <HiddenSlides>0</HiddenSlides>
  <MMClips>3</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Courier New</vt:lpstr>
      <vt:lpstr>Georgia</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16 - R1 Manipulation Policies</dc:title>
  <dc:subject>Unitree R1 manipulation policies in MuJoCo</dc:subject>
  <dc:creator>Cesar A. Pascal Vasquez</dc:creator>
  <cp:lastModifiedBy>Cesar Pascal</cp:lastModifiedBy>
  <cp:revision>3</cp:revision>
  <dcterms:created xsi:type="dcterms:W3CDTF">2026-06-17T01:37:49Z</dcterms:created>
  <dcterms:modified xsi:type="dcterms:W3CDTF">2026-06-26T20:47:32Z</dcterms:modified>
</cp:coreProperties>
</file>