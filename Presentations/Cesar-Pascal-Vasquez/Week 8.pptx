
<file path=[Content_Types].xml><?xml version="1.0" encoding="utf-8"?>
<Types xmlns="http://schemas.openxmlformats.org/package/2006/content-types">
  <Default ContentType="application/x-fontdata" Extension="fntdata"/>
  <Default ContentType="image/jpeg" Extension="jpeg"/>
  <Default ContentType="video/mp4" Extension="mp4"/>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Lst>
  <p:sldSz cx="18288000" cy="10287000"/>
  <p:notesSz cx="6858000" cy="9144000"/>
  <p:embeddedFontLst>
    <p:embeddedFont>
      <p:font typeface="Le Jour Serif" charset="1" panose="02000500000000000000"/>
      <p:regular r:id="rId14"/>
    </p:embeddedFont>
    <p:embeddedFont>
      <p:font typeface="Alta" charset="1" panose="02000503000000000000"/>
      <p:regular r:id="rId15"/>
    </p:embeddedFont>
    <p:embeddedFont>
      <p:font typeface="Open Sans" charset="1" panose="020B0606030504020204"/>
      <p:regular r:id="rId16"/>
    </p:embeddedFont>
    <p:embeddedFont>
      <p:font typeface="Open Sans Bold" charset="1" panose="020B0806030504020204"/>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fonts/font14.fntdata" Type="http://schemas.openxmlformats.org/officeDocument/2006/relationships/font"/><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 Id="rId3" Target="../media/VAHGamM0iFg.mp4" Type="http://schemas.openxmlformats.org/officeDocument/2006/relationships/video"/><Relationship Id="rId4" Target="../media/VAHGamM0iFg.mp4" Type="http://schemas.microsoft.com/office/2007/relationships/media"/></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https://onnx.ai" TargetMode="External" Type="http://schemas.openxmlformats.org/officeDocument/2006/relationships/hyperlink"/><Relationship Id="rId3" Target="https://threejs.org" TargetMode="External" Type="http://schemas.openxmlformats.org/officeDocument/2006/relationships/hyperlink"/></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sp>
        <p:nvSpPr>
          <p:cNvPr name="TextBox 3" id="3"/>
          <p:cNvSpPr txBox="true"/>
          <p:nvPr/>
        </p:nvSpPr>
        <p:spPr>
          <a:xfrm rot="0">
            <a:off x="2548782" y="3638133"/>
            <a:ext cx="13190436" cy="1524835"/>
          </a:xfrm>
          <a:prstGeom prst="rect">
            <a:avLst/>
          </a:prstGeom>
        </p:spPr>
        <p:txBody>
          <a:bodyPr anchor="t" rtlCol="false" tIns="0" lIns="0" bIns="0" rIns="0">
            <a:spAutoFit/>
          </a:bodyPr>
          <a:lstStyle/>
          <a:p>
            <a:pPr algn="ctr">
              <a:lnSpc>
                <a:spcPts val="11956"/>
              </a:lnSpc>
            </a:pPr>
            <a:r>
              <a:rPr lang="en-US" sz="10219" spc="1400">
                <a:solidFill>
                  <a:srgbClr val="FFFFFF"/>
                </a:solidFill>
                <a:latin typeface="Le Jour Serif"/>
                <a:ea typeface="Le Jour Serif"/>
                <a:cs typeface="Le Jour Serif"/>
                <a:sym typeface="Le Jour Serif"/>
              </a:rPr>
              <a:t>WEEK 8</a:t>
            </a:r>
          </a:p>
        </p:txBody>
      </p:sp>
      <p:sp>
        <p:nvSpPr>
          <p:cNvPr name="TextBox 4" id="4"/>
          <p:cNvSpPr txBox="true"/>
          <p:nvPr/>
        </p:nvSpPr>
        <p:spPr>
          <a:xfrm rot="0">
            <a:off x="5819851" y="8770620"/>
            <a:ext cx="6648299" cy="487680"/>
          </a:xfrm>
          <a:prstGeom prst="rect">
            <a:avLst/>
          </a:prstGeom>
        </p:spPr>
        <p:txBody>
          <a:bodyPr anchor="t" rtlCol="false" tIns="0" lIns="0" bIns="0" rIns="0">
            <a:spAutoFit/>
          </a:bodyPr>
          <a:lstStyle/>
          <a:p>
            <a:pPr algn="ctr">
              <a:lnSpc>
                <a:spcPts val="3509"/>
              </a:lnSpc>
            </a:pPr>
            <a:r>
              <a:rPr lang="en-US" sz="3000" spc="410">
                <a:solidFill>
                  <a:srgbClr val="FFFFFF"/>
                </a:solidFill>
                <a:latin typeface="Alta"/>
                <a:ea typeface="Alta"/>
                <a:cs typeface="Alta"/>
                <a:sym typeface="Alta"/>
              </a:rPr>
              <a:t>CESAR A. PASCAL</a:t>
            </a:r>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111111"/>
        </a:solidFill>
      </p:bgPr>
    </p:bg>
    <p:spTree>
      <p:nvGrpSpPr>
        <p:cNvPr id="1" name=""/>
        <p:cNvGrpSpPr/>
        <p:nvPr/>
      </p:nvGrpSpPr>
      <p:grpSpPr>
        <a:xfrm>
          <a:off x="0" y="0"/>
          <a:ext cx="0" cy="0"/>
          <a:chOff x="0" y="0"/>
          <a:chExt cx="0" cy="0"/>
        </a:xfrm>
      </p:grpSpPr>
      <p:sp>
        <p:nvSpPr>
          <p:cNvPr name="TextBox 2" id="2"/>
          <p:cNvSpPr txBox="true"/>
          <p:nvPr/>
        </p:nvSpPr>
        <p:spPr>
          <a:xfrm rot="0">
            <a:off x="514350" y="4370679"/>
            <a:ext cx="17259300" cy="2240931"/>
          </a:xfrm>
          <a:prstGeom prst="rect">
            <a:avLst/>
          </a:prstGeom>
        </p:spPr>
        <p:txBody>
          <a:bodyPr anchor="t" rtlCol="false" tIns="0" lIns="0" bIns="0" rIns="0">
            <a:spAutoFit/>
          </a:bodyPr>
          <a:lstStyle/>
          <a:p>
            <a:pPr algn="ctr">
              <a:lnSpc>
                <a:spcPts val="4492"/>
              </a:lnSpc>
            </a:pPr>
            <a:r>
              <a:rPr lang="en-US" sz="3208">
                <a:solidFill>
                  <a:srgbClr val="FFFFFF"/>
                </a:solidFill>
                <a:latin typeface="Open Sans"/>
                <a:ea typeface="Open Sans"/>
                <a:cs typeface="Open Sans"/>
                <a:sym typeface="Open Sans"/>
              </a:rPr>
              <a:t>This week, my plan was to continue </a:t>
            </a:r>
            <a:r>
              <a:rPr lang="en-US" sz="3208">
                <a:solidFill>
                  <a:srgbClr val="FFFFFF"/>
                </a:solidFill>
                <a:latin typeface="Open Sans"/>
                <a:ea typeface="Open Sans"/>
                <a:cs typeface="Open Sans"/>
                <a:sym typeface="Open Sans"/>
              </a:rPr>
              <a:t>advancing the web-based implementation of the G1 simulations, following the progress established in the previous week. The focus remained on refining the deployment and improving accessibility through a browser-based environment.</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111111"/>
        </a:solidFill>
      </p:bgPr>
    </p:bg>
    <p:spTree>
      <p:nvGrpSpPr>
        <p:cNvPr id="1" name=""/>
        <p:cNvGrpSpPr/>
        <p:nvPr/>
      </p:nvGrpSpPr>
      <p:grpSpPr>
        <a:xfrm>
          <a:off x="0" y="0"/>
          <a:ext cx="0" cy="0"/>
          <a:chOff x="0" y="0"/>
          <a:chExt cx="0" cy="0"/>
        </a:xfrm>
      </p:grpSpPr>
      <p:sp>
        <p:nvSpPr>
          <p:cNvPr name="Freeform 2" id="2"/>
          <p:cNvSpPr/>
          <p:nvPr/>
        </p:nvSpPr>
        <p:spPr>
          <a:xfrm flipH="false" flipV="false" rot="0">
            <a:off x="4746406" y="2658752"/>
            <a:ext cx="8795187" cy="7142822"/>
          </a:xfrm>
          <a:custGeom>
            <a:avLst/>
            <a:gdLst/>
            <a:ahLst/>
            <a:cxnLst/>
            <a:rect r="r" b="b" t="t" l="l"/>
            <a:pathLst>
              <a:path h="7142822" w="8795187">
                <a:moveTo>
                  <a:pt x="0" y="0"/>
                </a:moveTo>
                <a:lnTo>
                  <a:pt x="8795188" y="0"/>
                </a:lnTo>
                <a:lnTo>
                  <a:pt x="8795188" y="7142821"/>
                </a:lnTo>
                <a:lnTo>
                  <a:pt x="0" y="7142821"/>
                </a:lnTo>
                <a:lnTo>
                  <a:pt x="0" y="0"/>
                </a:lnTo>
                <a:close/>
              </a:path>
            </a:pathLst>
          </a:custGeom>
          <a:blipFill>
            <a:blip r:embed="rId2"/>
            <a:stretch>
              <a:fillRect l="0" t="0" r="0" b="0"/>
            </a:stretch>
          </a:blipFill>
        </p:spPr>
      </p:sp>
      <p:sp>
        <p:nvSpPr>
          <p:cNvPr name="TextBox 3" id="3"/>
          <p:cNvSpPr txBox="true"/>
          <p:nvPr/>
        </p:nvSpPr>
        <p:spPr>
          <a:xfrm rot="0">
            <a:off x="321007" y="700175"/>
            <a:ext cx="17645986" cy="2289857"/>
          </a:xfrm>
          <a:prstGeom prst="rect">
            <a:avLst/>
          </a:prstGeom>
        </p:spPr>
        <p:txBody>
          <a:bodyPr anchor="t" rtlCol="false" tIns="0" lIns="0" bIns="0" rIns="0">
            <a:spAutoFit/>
          </a:bodyPr>
          <a:lstStyle/>
          <a:p>
            <a:pPr algn="ctr">
              <a:lnSpc>
                <a:spcPts val="4592"/>
              </a:lnSpc>
            </a:pPr>
            <a:r>
              <a:rPr lang="en-US" sz="3280">
                <a:solidFill>
                  <a:srgbClr val="FFFFFF"/>
                </a:solidFill>
                <a:latin typeface="Open Sans"/>
                <a:ea typeface="Open Sans"/>
                <a:cs typeface="Open Sans"/>
                <a:sym typeface="Open Sans"/>
              </a:rPr>
              <a:t>I observed th</a:t>
            </a:r>
            <a:r>
              <a:rPr lang="en-US" sz="3280">
                <a:solidFill>
                  <a:srgbClr val="FFFFFF"/>
                </a:solidFill>
                <a:latin typeface="Open Sans"/>
                <a:ea typeface="Open Sans"/>
                <a:cs typeface="Open Sans"/>
                <a:sym typeface="Open Sans"/>
              </a:rPr>
              <a:t>at the policy implementation is relatively straightforward, as it primarily involves converting the trained model into ONNX format for compatibility with the web environment, rather than relying on a Python-based execution pipeline.</a:t>
            </a:r>
          </a:p>
          <a:p>
            <a:pPr algn="ctr">
              <a:lnSpc>
                <a:spcPts val="4592"/>
              </a:lnSpc>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111111"/>
        </a:solidFill>
      </p:bgPr>
    </p:bg>
    <p:spTree>
      <p:nvGrpSpPr>
        <p:cNvPr id="1" name=""/>
        <p:cNvGrpSpPr/>
        <p:nvPr/>
      </p:nvGrpSpPr>
      <p:grpSpPr>
        <a:xfrm>
          <a:off x="0" y="0"/>
          <a:ext cx="0" cy="0"/>
          <a:chOff x="0" y="0"/>
          <a:chExt cx="0" cy="0"/>
        </a:xfrm>
      </p:grpSpPr>
      <p:sp>
        <p:nvSpPr>
          <p:cNvPr name="Freeform 2" id="2"/>
          <p:cNvSpPr/>
          <p:nvPr/>
        </p:nvSpPr>
        <p:spPr>
          <a:xfrm flipH="false" flipV="false" rot="0">
            <a:off x="7222058" y="3567383"/>
            <a:ext cx="3843884" cy="6156299"/>
          </a:xfrm>
          <a:custGeom>
            <a:avLst/>
            <a:gdLst/>
            <a:ahLst/>
            <a:cxnLst/>
            <a:rect r="r" b="b" t="t" l="l"/>
            <a:pathLst>
              <a:path h="6156299" w="3843884">
                <a:moveTo>
                  <a:pt x="0" y="0"/>
                </a:moveTo>
                <a:lnTo>
                  <a:pt x="3843884" y="0"/>
                </a:lnTo>
                <a:lnTo>
                  <a:pt x="3843884" y="6156299"/>
                </a:lnTo>
                <a:lnTo>
                  <a:pt x="0" y="6156299"/>
                </a:lnTo>
                <a:lnTo>
                  <a:pt x="0" y="0"/>
                </a:lnTo>
                <a:close/>
              </a:path>
            </a:pathLst>
          </a:custGeom>
          <a:blipFill>
            <a:blip r:embed="rId2"/>
            <a:stretch>
              <a:fillRect l="0" t="0" r="0" b="0"/>
            </a:stretch>
          </a:blipFill>
        </p:spPr>
      </p:sp>
      <p:sp>
        <p:nvSpPr>
          <p:cNvPr name="TextBox 3" id="3"/>
          <p:cNvSpPr txBox="true"/>
          <p:nvPr/>
        </p:nvSpPr>
        <p:spPr>
          <a:xfrm rot="0">
            <a:off x="889426" y="337955"/>
            <a:ext cx="16509148" cy="3229429"/>
          </a:xfrm>
          <a:prstGeom prst="rect">
            <a:avLst/>
          </a:prstGeom>
        </p:spPr>
        <p:txBody>
          <a:bodyPr anchor="t" rtlCol="false" tIns="0" lIns="0" bIns="0" rIns="0">
            <a:spAutoFit/>
          </a:bodyPr>
          <a:lstStyle/>
          <a:p>
            <a:pPr algn="ctr">
              <a:lnSpc>
                <a:spcPts val="4296"/>
              </a:lnSpc>
            </a:pPr>
            <a:r>
              <a:rPr lang="en-US" sz="3069">
                <a:solidFill>
                  <a:srgbClr val="FFFFFF"/>
                </a:solidFill>
                <a:latin typeface="Open Sans"/>
                <a:ea typeface="Open Sans"/>
                <a:cs typeface="Open Sans"/>
                <a:sym typeface="Open Sans"/>
              </a:rPr>
              <a:t>On the other h</a:t>
            </a:r>
            <a:r>
              <a:rPr lang="en-US" sz="3069">
                <a:solidFill>
                  <a:srgbClr val="FFFFFF"/>
                </a:solidFill>
                <a:latin typeface="Open Sans"/>
                <a:ea typeface="Open Sans"/>
                <a:cs typeface="Open Sans"/>
                <a:sym typeface="Open Sans"/>
              </a:rPr>
              <a:t>and, I observed that aligning the robot assets and correctly configuring joint parameters is considerably more complex and time-intensive. This presents a bottleneck when testing multiple policies, as each iteration may require additional adjustments to the model. Furthermore, implementing these configurations in JavaScript adds another layer of complexity compared to traditional Python-based workflows.</a:t>
            </a:r>
          </a:p>
          <a:p>
            <a:pPr algn="ctr">
              <a:lnSpc>
                <a:spcPts val="4296"/>
              </a:lnSpc>
            </a:pPr>
          </a:p>
        </p:txBody>
      </p:sp>
    </p:spTree>
  </p:cSld>
  <p:clrMapOvr>
    <a:masterClrMapping/>
  </p:clrMapOvr>
</p:sld>
</file>

<file path=ppt/slides/slide5.xml><?xml version="1.0" encoding="utf-8"?>
<p:sld xmlns:p="http://schemas.openxmlformats.org/presentationml/2006/main" xmlns:a="http://schemas.openxmlformats.org/drawingml/2006/main">
  <p:cSld>
    <p:bg>
      <p:bgPr>
        <a:solidFill>
          <a:srgbClr val="111111"/>
        </a:solidFill>
      </p:bgPr>
    </p:bg>
    <p:spTree>
      <p:nvGrpSpPr>
        <p:cNvPr id="1" name=""/>
        <p:cNvGrpSpPr/>
        <p:nvPr/>
      </p:nvGrpSpPr>
      <p:grpSpPr>
        <a:xfrm>
          <a:off x="0" y="0"/>
          <a:ext cx="0" cy="0"/>
          <a:chOff x="0" y="0"/>
          <a:chExt cx="0" cy="0"/>
        </a:xfrm>
      </p:grpSpPr>
      <p:sp>
        <p:nvSpPr>
          <p:cNvPr name="TextBox 2" id="2"/>
          <p:cNvSpPr txBox="true"/>
          <p:nvPr/>
        </p:nvSpPr>
        <p:spPr>
          <a:xfrm rot="0">
            <a:off x="361024" y="3965535"/>
            <a:ext cx="17565952" cy="2289256"/>
          </a:xfrm>
          <a:prstGeom prst="rect">
            <a:avLst/>
          </a:prstGeom>
        </p:spPr>
        <p:txBody>
          <a:bodyPr anchor="t" rtlCol="false" tIns="0" lIns="0" bIns="0" rIns="0">
            <a:spAutoFit/>
          </a:bodyPr>
          <a:lstStyle/>
          <a:p>
            <a:pPr algn="ctr">
              <a:lnSpc>
                <a:spcPts val="4572"/>
              </a:lnSpc>
            </a:pPr>
            <a:r>
              <a:rPr lang="en-US" sz="3265">
                <a:solidFill>
                  <a:srgbClr val="FFFFFF"/>
                </a:solidFill>
                <a:latin typeface="Open Sans"/>
                <a:ea typeface="Open Sans"/>
                <a:cs typeface="Open Sans"/>
                <a:sym typeface="Open Sans"/>
              </a:rPr>
              <a:t>In light of these ch</a:t>
            </a:r>
            <a:r>
              <a:rPr lang="en-US" sz="3265">
                <a:solidFill>
                  <a:srgbClr val="FFFFFF"/>
                </a:solidFill>
                <a:latin typeface="Open Sans"/>
                <a:ea typeface="Open Sans"/>
                <a:cs typeface="Open Sans"/>
                <a:sym typeface="Open Sans"/>
              </a:rPr>
              <a:t>allenges, I chose to utilize the MJSwan libraries for the web implementation. This approach significantly simplifies the process of loading and aligning meshes, as well as integrating the full robot model, compared to building the pipeline from scratch in JavaScript.</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111111"/>
        </a:solidFill>
      </p:bgPr>
    </p:bg>
    <p:spTree>
      <p:nvGrpSpPr>
        <p:cNvPr id="1" name=""/>
        <p:cNvGrpSpPr/>
        <p:nvPr/>
      </p:nvGrpSpPr>
      <p:grpSpPr>
        <a:xfrm>
          <a:off x="0" y="0"/>
          <a:ext cx="0" cy="0"/>
          <a:chOff x="0" y="0"/>
          <a:chExt cx="0" cy="0"/>
        </a:xfrm>
      </p:grpSpPr>
      <p:pic>
        <p:nvPicPr>
          <p:cNvPr name="Picture 2" id="2">
            <a:hlinkClick action="ppaction://media"/>
          </p:cNvPr>
          <p:cNvPicPr>
            <a:picLocks noChangeAspect="true"/>
          </p:cNvPicPr>
          <p:nvPr>
            <a:videoFile r:link="rId3"/>
            <p:extLst>
              <p:ext uri="{DAA4B4D4-6D71-4841-9C94-3DE7FCFB9230}">
                <p14:media xmlns:p14="http://schemas.microsoft.com/office/powerpoint/2010/main" r:embed="rId4"/>
              </p:ext>
            </p:extLst>
          </p:nvPr>
        </p:nvPicPr>
        <p:blipFill>
          <a:blip r:embed="rId2"/>
          <a:srcRect l="0" t="0" r="0" b="0"/>
          <a:stretch>
            <a:fillRect/>
          </a:stretch>
        </p:blipFill>
        <p:spPr>
          <a:xfrm flipH="false" flipV="false" rot="0">
            <a:off x="3243852" y="2356843"/>
            <a:ext cx="11800296" cy="7625663"/>
          </a:xfrm>
          <a:prstGeom prst="rect">
            <a:avLst/>
          </a:prstGeom>
        </p:spPr>
      </p:pic>
      <p:sp>
        <p:nvSpPr>
          <p:cNvPr name="TextBox 3" id="3"/>
          <p:cNvSpPr txBox="true"/>
          <p:nvPr/>
        </p:nvSpPr>
        <p:spPr>
          <a:xfrm rot="0">
            <a:off x="514350" y="458695"/>
            <a:ext cx="17259300" cy="2240931"/>
          </a:xfrm>
          <a:prstGeom prst="rect">
            <a:avLst/>
          </a:prstGeom>
        </p:spPr>
        <p:txBody>
          <a:bodyPr anchor="t" rtlCol="false" tIns="0" lIns="0" bIns="0" rIns="0">
            <a:spAutoFit/>
          </a:bodyPr>
          <a:lstStyle/>
          <a:p>
            <a:pPr algn="ctr">
              <a:lnSpc>
                <a:spcPts val="4492"/>
              </a:lnSpc>
              <a:spcBef>
                <a:spcPct val="0"/>
              </a:spcBef>
            </a:pPr>
            <a:r>
              <a:rPr lang="en-US" sz="3208">
                <a:solidFill>
                  <a:srgbClr val="FFFFFF"/>
                </a:solidFill>
                <a:latin typeface="Open Sans"/>
                <a:ea typeface="Open Sans"/>
                <a:cs typeface="Open Sans"/>
                <a:sym typeface="Open Sans"/>
              </a:rPr>
              <a:t>An </a:t>
            </a:r>
            <a:r>
              <a:rPr lang="en-US" sz="3208">
                <a:solidFill>
                  <a:srgbClr val="FFFFFF"/>
                </a:solidFill>
                <a:latin typeface="Open Sans"/>
                <a:ea typeface="Open Sans"/>
                <a:cs typeface="Open Sans"/>
                <a:sym typeface="Open Sans"/>
              </a:rPr>
              <a:t>example of this implementation is shown here. However, further work is required to improve the integration of the policies, particularly to ensure stable and accurate behavior of the robot within the simulation environment.</a:t>
            </a:r>
          </a:p>
          <a:p>
            <a:pPr algn="ctr">
              <a:lnSpc>
                <a:spcPts val="4492"/>
              </a:lnSpc>
              <a:spcBef>
                <a:spcPct val="0"/>
              </a:spcBef>
            </a:pPr>
          </a:p>
        </p:txBody>
      </p:sp>
    </p:spTree>
  </p:cSld>
  <p:clrMapOvr>
    <a:masterClrMapping/>
  </p:clrMapOvr>
  <p:timing>
    <p:tnLst>
      <p:par>
        <p:cTn dur="indefinite" restart="never" nodeType="tmRoot">
          <p:childTnLst>
            <p:video>
              <p:cMediaNode vol="100000">
                <p:cTn fill="hold" display="false">
                  <p:stCondLst>
                    <p:cond delay="indefinite"/>
                  </p:stCondLst>
                </p:cTn>
                <p:tgtEl>
                  <p:spTgt spid="2"/>
                </p:tgtEl>
              </p:cMediaNode>
            </p:video>
          </p:childTnLst>
        </p:cTn>
      </p:par>
    </p:tnLst>
  </p:timing>
</p:sld>
</file>

<file path=ppt/slides/slide7.xml><?xml version="1.0" encoding="utf-8"?>
<p:sld xmlns:p="http://schemas.openxmlformats.org/presentationml/2006/main" xmlns:a="http://schemas.openxmlformats.org/drawingml/2006/main">
  <p:cSld>
    <p:bg>
      <p:bgPr>
        <a:solidFill>
          <a:srgbClr val="111111"/>
        </a:solidFill>
      </p:bgPr>
    </p:bg>
    <p:spTree>
      <p:nvGrpSpPr>
        <p:cNvPr id="1" name=""/>
        <p:cNvGrpSpPr/>
        <p:nvPr/>
      </p:nvGrpSpPr>
      <p:grpSpPr>
        <a:xfrm>
          <a:off x="0" y="0"/>
          <a:ext cx="0" cy="0"/>
          <a:chOff x="0" y="0"/>
          <a:chExt cx="0" cy="0"/>
        </a:xfrm>
      </p:grpSpPr>
      <p:sp>
        <p:nvSpPr>
          <p:cNvPr name="TextBox 2" id="2"/>
          <p:cNvSpPr txBox="true"/>
          <p:nvPr/>
        </p:nvSpPr>
        <p:spPr>
          <a:xfrm rot="0">
            <a:off x="193284" y="4409451"/>
            <a:ext cx="17901432" cy="2226956"/>
          </a:xfrm>
          <a:prstGeom prst="rect">
            <a:avLst/>
          </a:prstGeom>
        </p:spPr>
        <p:txBody>
          <a:bodyPr anchor="t" rtlCol="false" tIns="0" lIns="0" bIns="0" rIns="0">
            <a:spAutoFit/>
          </a:bodyPr>
          <a:lstStyle/>
          <a:p>
            <a:pPr algn="ctr">
              <a:lnSpc>
                <a:spcPts val="4443"/>
              </a:lnSpc>
            </a:pPr>
            <a:r>
              <a:rPr lang="en-US" sz="3174">
                <a:solidFill>
                  <a:srgbClr val="FFFFFF"/>
                </a:solidFill>
                <a:latin typeface="Open Sans"/>
                <a:ea typeface="Open Sans"/>
                <a:cs typeface="Open Sans"/>
                <a:sym typeface="Open Sans"/>
              </a:rPr>
              <a:t>I</a:t>
            </a:r>
            <a:r>
              <a:rPr lang="en-US" sz="3174">
                <a:solidFill>
                  <a:srgbClr val="FFFFFF"/>
                </a:solidFill>
                <a:latin typeface="Open Sans"/>
                <a:ea typeface="Open Sans"/>
                <a:cs typeface="Open Sans"/>
                <a:sym typeface="Open Sans"/>
              </a:rPr>
              <a:t> believe the next logical step is to develop a generalized platform that requires only a trained policy or model as input to run the simulation. Although this approach may be more complex to implement initially, it offers substantial long-term benefits in terms of scalability, usability, and potential integration into a future course or student-led club.</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111111"/>
        </a:solidFill>
      </p:bgPr>
    </p:bg>
    <p:spTree>
      <p:nvGrpSpPr>
        <p:cNvPr id="1" name=""/>
        <p:cNvGrpSpPr/>
        <p:nvPr/>
      </p:nvGrpSpPr>
      <p:grpSpPr>
        <a:xfrm>
          <a:off x="0" y="0"/>
          <a:ext cx="0" cy="0"/>
          <a:chOff x="0" y="0"/>
          <a:chExt cx="0" cy="0"/>
        </a:xfrm>
      </p:grpSpPr>
      <p:sp>
        <p:nvSpPr>
          <p:cNvPr name="TextBox 2" id="2"/>
          <p:cNvSpPr txBox="true"/>
          <p:nvPr/>
        </p:nvSpPr>
        <p:spPr>
          <a:xfrm rot="0">
            <a:off x="5161994" y="1906647"/>
            <a:ext cx="9035916" cy="6397505"/>
          </a:xfrm>
          <a:prstGeom prst="rect">
            <a:avLst/>
          </a:prstGeom>
        </p:spPr>
        <p:txBody>
          <a:bodyPr anchor="t" rtlCol="false" tIns="0" lIns="0" bIns="0" rIns="0">
            <a:spAutoFit/>
          </a:bodyPr>
          <a:lstStyle/>
          <a:p>
            <a:pPr algn="ctr">
              <a:lnSpc>
                <a:spcPts val="5661"/>
              </a:lnSpc>
            </a:pPr>
            <a:r>
              <a:rPr lang="en-US" sz="4044" b="true">
                <a:solidFill>
                  <a:srgbClr val="FFFFFF"/>
                </a:solidFill>
                <a:latin typeface="Open Sans Bold"/>
                <a:ea typeface="Open Sans Bold"/>
                <a:cs typeface="Open Sans Bold"/>
                <a:sym typeface="Open Sans Bold"/>
              </a:rPr>
              <a:t>References</a:t>
            </a:r>
          </a:p>
          <a:p>
            <a:pPr algn="l">
              <a:lnSpc>
                <a:spcPts val="5661"/>
              </a:lnSpc>
            </a:pPr>
            <a:r>
              <a:rPr lang="en-US" sz="4044" b="true">
                <a:solidFill>
                  <a:srgbClr val="FFFFFF"/>
                </a:solidFill>
                <a:latin typeface="Open Sans Bold"/>
                <a:ea typeface="Open Sans Bold"/>
                <a:cs typeface="Open Sans Bold"/>
                <a:sym typeface="Open Sans Bold"/>
              </a:rPr>
              <a:t>1.</a:t>
            </a:r>
            <a:r>
              <a:rPr lang="en-US" sz="4044">
                <a:solidFill>
                  <a:srgbClr val="FFFFFF"/>
                </a:solidFill>
                <a:latin typeface="Open Sans"/>
                <a:ea typeface="Open Sans"/>
                <a:cs typeface="Open Sans"/>
                <a:sym typeface="Open Sans"/>
              </a:rPr>
              <a:t>MJSwan</a:t>
            </a:r>
          </a:p>
          <a:p>
            <a:pPr algn="l">
              <a:lnSpc>
                <a:spcPts val="5661"/>
              </a:lnSpc>
            </a:pPr>
            <a:r>
              <a:rPr lang="en-US" sz="4044">
                <a:solidFill>
                  <a:srgbClr val="FFFFFF"/>
                </a:solidFill>
                <a:latin typeface="Open Sans"/>
                <a:ea typeface="Open Sans"/>
                <a:cs typeface="Open Sans"/>
                <a:sym typeface="Open Sans"/>
              </a:rPr>
              <a:t>         </a:t>
            </a:r>
            <a:r>
              <a:rPr lang="en-US" sz="4044">
                <a:solidFill>
                  <a:srgbClr val="FFFFFF"/>
                </a:solidFill>
                <a:latin typeface="Open Sans"/>
                <a:ea typeface="Open Sans"/>
                <a:cs typeface="Open Sans"/>
                <a:sym typeface="Open Sans"/>
              </a:rPr>
              <a:t>https://ttktjmt.github.io/mjswan/</a:t>
            </a:r>
          </a:p>
          <a:p>
            <a:pPr algn="l">
              <a:lnSpc>
                <a:spcPts val="5661"/>
              </a:lnSpc>
            </a:pPr>
            <a:r>
              <a:rPr lang="en-US" sz="4044">
                <a:solidFill>
                  <a:srgbClr val="FFFFFF"/>
                </a:solidFill>
                <a:latin typeface="Open Sans"/>
                <a:ea typeface="Open Sans"/>
                <a:cs typeface="Open Sans"/>
                <a:sym typeface="Open Sans"/>
              </a:rPr>
              <a:t>2.</a:t>
            </a:r>
            <a:r>
              <a:rPr lang="en-US" sz="4044">
                <a:solidFill>
                  <a:srgbClr val="FFFFFF"/>
                </a:solidFill>
                <a:latin typeface="Open Sans"/>
                <a:ea typeface="Open Sans"/>
                <a:cs typeface="Open Sans"/>
                <a:sym typeface="Open Sans"/>
              </a:rPr>
              <a:t>ONNX</a:t>
            </a:r>
          </a:p>
          <a:p>
            <a:pPr algn="l">
              <a:lnSpc>
                <a:spcPts val="5661"/>
              </a:lnSpc>
            </a:pPr>
            <a:r>
              <a:rPr lang="en-US" sz="4044">
                <a:solidFill>
                  <a:srgbClr val="FFFFFF"/>
                </a:solidFill>
                <a:latin typeface="Open Sans"/>
                <a:ea typeface="Open Sans"/>
                <a:cs typeface="Open Sans"/>
                <a:sym typeface="Open Sans"/>
              </a:rPr>
              <a:t>         </a:t>
            </a:r>
            <a:r>
              <a:rPr lang="en-US" sz="4044" u="sng">
                <a:solidFill>
                  <a:srgbClr val="FFFFFF"/>
                </a:solidFill>
                <a:latin typeface="Open Sans"/>
                <a:ea typeface="Open Sans"/>
                <a:cs typeface="Open Sans"/>
                <a:sym typeface="Open Sans"/>
                <a:hlinkClick r:id="rId2" tooltip="https://onnx.ai"/>
              </a:rPr>
              <a:t>https://onnx.ai/</a:t>
            </a:r>
          </a:p>
          <a:p>
            <a:pPr algn="l">
              <a:lnSpc>
                <a:spcPts val="5661"/>
              </a:lnSpc>
            </a:pPr>
            <a:r>
              <a:rPr lang="en-US" sz="4044">
                <a:solidFill>
                  <a:srgbClr val="FFFFFF"/>
                </a:solidFill>
                <a:latin typeface="Open Sans"/>
                <a:ea typeface="Open Sans"/>
                <a:cs typeface="Open Sans"/>
                <a:sym typeface="Open Sans"/>
              </a:rPr>
              <a:t>3.</a:t>
            </a:r>
            <a:r>
              <a:rPr lang="en-US" sz="4044">
                <a:solidFill>
                  <a:srgbClr val="FFFFFF"/>
                </a:solidFill>
                <a:latin typeface="Open Sans"/>
                <a:ea typeface="Open Sans"/>
                <a:cs typeface="Open Sans"/>
                <a:sym typeface="Open Sans"/>
              </a:rPr>
              <a:t>Three.js</a:t>
            </a:r>
          </a:p>
          <a:p>
            <a:pPr algn="l">
              <a:lnSpc>
                <a:spcPts val="5661"/>
              </a:lnSpc>
            </a:pPr>
            <a:r>
              <a:rPr lang="en-US" sz="4044">
                <a:solidFill>
                  <a:srgbClr val="FFFFFF"/>
                </a:solidFill>
                <a:latin typeface="Open Sans"/>
                <a:ea typeface="Open Sans"/>
                <a:cs typeface="Open Sans"/>
                <a:sym typeface="Open Sans"/>
              </a:rPr>
              <a:t>          </a:t>
            </a:r>
            <a:r>
              <a:rPr lang="en-US" sz="4044" u="sng">
                <a:solidFill>
                  <a:srgbClr val="FFFFFF"/>
                </a:solidFill>
                <a:latin typeface="Open Sans"/>
                <a:ea typeface="Open Sans"/>
                <a:cs typeface="Open Sans"/>
                <a:sym typeface="Open Sans"/>
                <a:hlinkClick r:id="rId3" tooltip="https://threejs.org"/>
              </a:rPr>
              <a:t>https://threejs.org/</a:t>
            </a:r>
          </a:p>
          <a:p>
            <a:pPr algn="l">
              <a:lnSpc>
                <a:spcPts val="5661"/>
              </a:lnSpc>
            </a:pPr>
          </a:p>
          <a:p>
            <a:pPr algn="ctr">
              <a:lnSpc>
                <a:spcPts val="5661"/>
              </a:lnSpc>
            </a:p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DAHGaUVy48o</dc:identifier>
  <dcterms:modified xsi:type="dcterms:W3CDTF">2011-08-01T06:04:30Z</dcterms:modified>
  <cp:revision>1</cp:revision>
  <dc:title>Week 8</dc:title>
</cp:coreProperties>
</file>