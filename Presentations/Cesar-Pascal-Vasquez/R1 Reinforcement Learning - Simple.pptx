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7"/>
  </p:normalViewPr>
  <p:slideViewPr>
    <p:cSldViewPr snapToGrid="0">
      <p:cViewPr varScale="1">
        <p:scale>
          <a:sx n="96" d="100"/>
          <a:sy n="96" d="100"/>
        </p:scale>
        <p:origin x="20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/Users/cesarpascal/Documents/Training/real_r1_arm_policy/rl_wave/experiment.py</a:t>
            </a:r>
          </a:p>
          <a:p>
            <a:r>
              <a:t>/Users/cesarpascal/Documents/Training/real_r1_arm_policy/rl_wave/final_report.json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/Users/cesarpascal/Documents/Training/real_r1_arm_policy/rl_wave/experiment.py</a:t>
            </a:r>
          </a:p>
          <a:p>
            <a:r>
              <a:t>The experiment fixes the base and other joints. Whole-body stability and hand articulation are outside this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/Users/cesarpascal/Documents/Training/real_r1_arm_policy/rl_wave/experiment.py</a:t>
            </a:r>
          </a:p>
          <a:p>
            <a:r>
              <a:t>The reward scores target distance, palm orientation, six reach events and return. Penalties discourage abrupt actions, velocity and arm-to-torso contact. No scripted joint trajectory or demonstration policy supplies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/Users/cesarpascal/Documents/Training/real_r1_arm_policy/rl_wave/experiment.py</a:t>
            </a:r>
          </a:p>
          <a:p>
            <a:r>
              <a:t>/Users/cesarpascal/Documents/Training/real_r1_arm_policy/rl_wave/training.jsonl</a:t>
            </a:r>
          </a:p>
          <a:p>
            <a:r>
              <a:t>/Users/cesarpascal/Documents/Training/real_r1_arm_policy/rl_wave/before_training_joints.csv</a:t>
            </a:r>
          </a:p>
          <a:p>
            <a:r>
              <a:t>/Users/cesarpascal/Documents/Training/real_r1_arm_policy/rl_wave/after_training_joints.csv</a:t>
            </a:r>
          </a:p>
          <a:p>
            <a:r>
              <a:t>Raw training transitions were not archived. Saved evaluation CSVs contain 200 timestamps per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/Users/cesarpascal/Documents/Training/real_r1_arm_policy/rl_wave/experiment.py</a:t>
            </a:r>
          </a:p>
          <a:p>
            <a:r>
              <a:t>/Users/cesarpascal/Documents/Training/real_r1_arm_policy/rl_wave/training.jsonl</a:t>
            </a:r>
          </a:p>
          <a:p>
            <a:r>
              <a:t>/Users/cesarpascal/Documents/Training/real_r1_arm_policy/rl_wave/final_report.json</a:t>
            </a:r>
          </a:p>
          <a:p>
            <a:r>
              <a:t>PPO seed 614, two 128-unit hidden layers, 29 observations and 5 actions. First 716,800 steps used reach/return bonuses 8/5. Final 307,200 used intermediate/sixth/return bonuses 30/120/120. Learning rate 0.0003, batch 256, 6 epochs, gamma .98. Evaluation seeds 1500–1519.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/Users/cesarpascal/Documents/Training/real_r1_arm_policy/rl_wave/before_training.mp4</a:t>
            </a:r>
          </a:p>
          <a:p>
            <a:r>
              <a:t>/Users/cesarpascal/Documents/Training/real_r1_arm_policy/rl_wave/final_report.json</a:t>
            </a:r>
          </a:p>
          <a:p>
            <a:r>
              <a:t>Video seed 910, 10 seconds at 20 fps. Metrics are 20 fresh test episodes. The final policy completes six reaches but does not complete return to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/Users/cesarpascal/Documents/Training/real_r1_arm_policy/rl_wave/after_training.mp4</a:t>
            </a:r>
          </a:p>
          <a:p>
            <a:r>
              <a:t>/Users/cesarpascal/Documents/Training/real_r1_arm_policy/rl_wave/final_report.json</a:t>
            </a:r>
          </a:p>
          <a:p>
            <a:r>
              <a:t>Video seed 910, 10 seconds at 20 fps. Metrics are 20 fresh test episodes. The final policy completes six reaches but does not complete return to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/Users/cesarpascal/Documents/Training/real_r1_arm_policy/rl_wave/after_training_joints.csv</a:t>
            </a:r>
          </a:p>
          <a:p>
            <a:r>
              <a:t>/Users/cesarpascal/Documents/Training/real_r1_arm_policy/rl_wave/after_training_audit.json</a:t>
            </a:r>
          </a:p>
          <a:p>
            <a:r>
              <a:t>200 timestamps × 5 joints from a 10-second simulated rollout. All saved commands also fit model bounds. Rounded display values; calculations use full precision. Minimum margin 0.120149 rad. This is a sampled model position-bound check, not a physical hardware safety certification. Physical speed/torque limits, calibration, balance, collisions, latency and inter-sample peaks remain unverified.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/Users/cesarpascal/Documents/Training/real_r1_arm_policy/rl_wave/final_report.json</a:t>
            </a:r>
          </a:p>
          <a:p>
            <a:r>
              <a:t>/Users/cesarpascal/Documents/Training/real_r1_arm_policy/rl_wave/after_training_audit.json</a:t>
            </a:r>
          </a:p>
          <a:p>
            <a:r>
              <a:t>Return completion 0/20. No physical robot execution has been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eek-title">
            <a:extLst>
              <a:ext uri="{FF2B5EF4-FFF2-40B4-BE49-F238E27FC236}">
                <a16:creationId xmlns:a16="http://schemas.microsoft.com/office/drawing/2014/main" id="{EA03E4E4-7525-42F3-A5AA-8D615ACDAE98}"/>
              </a:ext>
            </a:extLst>
          </p:cNvPr>
          <p:cNvSpPr>
            <a:spLocks noGrp="1"/>
          </p:cNvSpPr>
          <p:nvPr/>
        </p:nvSpPr>
        <p:spPr>
          <a:xfrm>
            <a:off x="2286000" y="2381250"/>
            <a:ext cx="7620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36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R1 REINFORCEMENT LEARNING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21B08F8-B1DC-4635-8C31-12AD6E64A701}"/>
              </a:ext>
            </a:extLst>
          </p:cNvPr>
          <p:cNvSpPr>
            <a:spLocks noGrp="1"/>
          </p:cNvSpPr>
          <p:nvPr/>
        </p:nvSpPr>
        <p:spPr>
          <a:xfrm>
            <a:off x="2095500" y="3333750"/>
            <a:ext cx="8001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Learning a greeting in MuJoCo</a:t>
            </a:r>
          </a:p>
        </p:txBody>
      </p:sp>
      <p:sp>
        <p:nvSpPr>
          <p:cNvPr id="3" name="author">
            <a:extLst>
              <a:ext uri="{FF2B5EF4-FFF2-40B4-BE49-F238E27FC236}">
                <a16:creationId xmlns:a16="http://schemas.microsoft.com/office/drawing/2014/main" id="{878C14DA-53BB-47FA-A68F-BD47B88EECC0}"/>
              </a:ext>
            </a:extLst>
          </p:cNvPr>
          <p:cNvSpPr>
            <a:spLocks noGrp="1"/>
          </p:cNvSpPr>
          <p:nvPr/>
        </p:nvSpPr>
        <p:spPr>
          <a:xfrm>
            <a:off x="3810000" y="40957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Cesar A. Pascal Vasquez</a:t>
            </a:r>
          </a:p>
        </p:txBody>
      </p:sp>
    </p:spTree>
    <p:extLst>
      <p:ext uri="{BB962C8B-B14F-4D97-AF65-F5344CB8AC3E}">
        <p14:creationId xmlns:p14="http://schemas.microsoft.com/office/powerpoint/2010/main" val="1620139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13EA7CC9-2658-411E-A996-C873C7A925ED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1085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 learned greeting</a:t>
            </a:r>
          </a:p>
        </p:txBody>
      </p:sp>
      <p:sp>
        <p:nvSpPr>
          <p:cNvPr id="2" name="outcome-body">
            <a:extLst>
              <a:ext uri="{FF2B5EF4-FFF2-40B4-BE49-F238E27FC236}">
                <a16:creationId xmlns:a16="http://schemas.microsoft.com/office/drawing/2014/main" id="{816D87B6-A8AD-418A-8158-EC2A6AD79007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5143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 new policy learns to raise the right hand and make six alternating reaches.</a:t>
            </a:r>
          </a:p>
        </p:txBody>
      </p:sp>
      <p:sp>
        <p:nvSpPr>
          <p:cNvPr id="3" name="outcome-callout">
            <a:extLst>
              <a:ext uri="{FF2B5EF4-FFF2-40B4-BE49-F238E27FC236}">
                <a16:creationId xmlns:a16="http://schemas.microsoft.com/office/drawing/2014/main" id="{950CDB9B-2447-40C1-812A-ACB0F6293F5A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5143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Five arm joints move.</a:t>
            </a:r>
          </a:p>
          <a:p>
            <a:pPr algn="l">
              <a:buNone/>
              <a:defRPr sz="2325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The body and open hand stay fixed.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92515" y="1760637"/>
            <a:ext cx="4321969" cy="324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51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49565148-4EF2-40B4-820D-2643A4AE4EB5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1085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How the policy learns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051B74-1FDA-4046-A9BD-2211F439B67B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training-step-1">
            <a:extLst>
              <a:ext uri="{FF2B5EF4-FFF2-40B4-BE49-F238E27FC236}">
                <a16:creationId xmlns:a16="http://schemas.microsoft.com/office/drawing/2014/main" id="{931ED5D0-6C8E-498A-811E-6C6C55CE2F9A}"/>
              </a:ext>
            </a:extLst>
          </p:cNvPr>
          <p:cNvSpPr>
            <a:spLocks noGrp="1"/>
          </p:cNvSpPr>
          <p:nvPr/>
        </p:nvSpPr>
        <p:spPr>
          <a:xfrm>
            <a:off x="1809750" y="145732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The policy observes the arm and the hand’s target.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3D9081-30A7-4527-B690-6069EF4EE283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raining-step-2">
            <a:extLst>
              <a:ext uri="{FF2B5EF4-FFF2-40B4-BE49-F238E27FC236}">
                <a16:creationId xmlns:a16="http://schemas.microsoft.com/office/drawing/2014/main" id="{883B8CFB-A20D-48D0-8756-B7B45880EE3F}"/>
              </a:ext>
            </a:extLst>
          </p:cNvPr>
          <p:cNvSpPr>
            <a:spLocks noGrp="1"/>
          </p:cNvSpPr>
          <p:nvPr/>
        </p:nvSpPr>
        <p:spPr>
          <a:xfrm>
            <a:off x="1809750" y="240982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It chooses a movement for each of the five joints.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74C684-0237-48F4-BE67-1048B64327F5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" name="training-step-3">
            <a:extLst>
              <a:ext uri="{FF2B5EF4-FFF2-40B4-BE49-F238E27FC236}">
                <a16:creationId xmlns:a16="http://schemas.microsoft.com/office/drawing/2014/main" id="{3615F39E-43A1-4D78-B1CA-B14942EC498B}"/>
              </a:ext>
            </a:extLst>
          </p:cNvPr>
          <p:cNvSpPr>
            <a:spLocks noGrp="1"/>
          </p:cNvSpPr>
          <p:nvPr/>
        </p:nvSpPr>
        <p:spPr>
          <a:xfrm>
            <a:off x="1809750" y="336232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MuJoCo simulates the movement and calculates a reward.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2AC943-BB28-4F10-B649-20DE4563811D}"/>
              </a:ext>
            </a:extLst>
          </p:cNvPr>
          <p:cNvSpPr>
            <a:spLocks noGrp="1"/>
          </p:cNvSpPr>
          <p:nvPr/>
        </p:nvSpPr>
        <p:spPr>
          <a:xfrm>
            <a:off x="952500" y="42862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training-step-4">
            <a:extLst>
              <a:ext uri="{FF2B5EF4-FFF2-40B4-BE49-F238E27FC236}">
                <a16:creationId xmlns:a16="http://schemas.microsoft.com/office/drawing/2014/main" id="{4D711129-EDA4-4206-AD87-30D6A2B6800B}"/>
              </a:ext>
            </a:extLst>
          </p:cNvPr>
          <p:cNvSpPr>
            <a:spLocks noGrp="1"/>
          </p:cNvSpPr>
          <p:nvPr/>
        </p:nvSpPr>
        <p:spPr>
          <a:xfrm>
            <a:off x="1809750" y="431482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PPO updates the policy to improve the next attempt.</a:t>
            </a:r>
          </a:p>
        </p:txBody>
      </p:sp>
    </p:spTree>
    <p:extLst>
      <p:ext uri="{BB962C8B-B14F-4D97-AF65-F5344CB8AC3E}">
        <p14:creationId xmlns:p14="http://schemas.microsoft.com/office/powerpoint/2010/main" val="395702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49565148-4EF2-40B4-820D-2643A4AE4EB5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1085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Training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051B74-1FDA-4046-A9BD-2211F439B67B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training-step-1">
            <a:extLst>
              <a:ext uri="{FF2B5EF4-FFF2-40B4-BE49-F238E27FC236}">
                <a16:creationId xmlns:a16="http://schemas.microsoft.com/office/drawing/2014/main" id="{931ED5D0-6C8E-498A-811E-6C6C55CE2F9A}"/>
              </a:ext>
            </a:extLst>
          </p:cNvPr>
          <p:cNvSpPr>
            <a:spLocks noGrp="1"/>
          </p:cNvSpPr>
          <p:nvPr/>
        </p:nvSpPr>
        <p:spPr>
          <a:xfrm>
            <a:off x="1809750" y="145732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1,024,000 interactions generated in MuJoCo.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3D9081-30A7-4527-B690-6069EF4EE283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raining-step-2">
            <a:extLst>
              <a:ext uri="{FF2B5EF4-FFF2-40B4-BE49-F238E27FC236}">
                <a16:creationId xmlns:a16="http://schemas.microsoft.com/office/drawing/2014/main" id="{883B8CFB-A20D-48D0-8756-B7B45880EE3F}"/>
              </a:ext>
            </a:extLst>
          </p:cNvPr>
          <p:cNvSpPr>
            <a:spLocks noGrp="1"/>
          </p:cNvSpPr>
          <p:nvPr/>
        </p:nvSpPr>
        <p:spPr>
          <a:xfrm>
            <a:off x="1809750" y="240982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No real-R1 recordings or demonstration trajectories.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74C684-0237-48F4-BE67-1048B64327F5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" name="training-step-3">
            <a:extLst>
              <a:ext uri="{FF2B5EF4-FFF2-40B4-BE49-F238E27FC236}">
                <a16:creationId xmlns:a16="http://schemas.microsoft.com/office/drawing/2014/main" id="{3615F39E-43A1-4D78-B1CA-B14942EC498B}"/>
              </a:ext>
            </a:extLst>
          </p:cNvPr>
          <p:cNvSpPr>
            <a:spLocks noGrp="1"/>
          </p:cNvSpPr>
          <p:nvPr/>
        </p:nvSpPr>
        <p:spPr>
          <a:xfrm>
            <a:off x="1809750" y="336232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Four environments collect experience at 20 Hz.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2AC943-BB28-4F10-B649-20DE4563811D}"/>
              </a:ext>
            </a:extLst>
          </p:cNvPr>
          <p:cNvSpPr>
            <a:spLocks noGrp="1"/>
          </p:cNvSpPr>
          <p:nvPr/>
        </p:nvSpPr>
        <p:spPr>
          <a:xfrm>
            <a:off x="952500" y="42862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training-step-4">
            <a:extLst>
              <a:ext uri="{FF2B5EF4-FFF2-40B4-BE49-F238E27FC236}">
                <a16:creationId xmlns:a16="http://schemas.microsoft.com/office/drawing/2014/main" id="{4D711129-EDA4-4206-AD87-30D6A2B6800B}"/>
              </a:ext>
            </a:extLst>
          </p:cNvPr>
          <p:cNvSpPr>
            <a:spLocks noGrp="1"/>
          </p:cNvSpPr>
          <p:nvPr/>
        </p:nvSpPr>
        <p:spPr>
          <a:xfrm>
            <a:off x="1809750" y="431482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Saved checkpoints, training logs and joint recordings.</a:t>
            </a:r>
          </a:p>
        </p:txBody>
      </p:sp>
    </p:spTree>
    <p:extLst>
      <p:ext uri="{BB962C8B-B14F-4D97-AF65-F5344CB8AC3E}">
        <p14:creationId xmlns:p14="http://schemas.microsoft.com/office/powerpoint/2010/main" val="395702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49565148-4EF2-40B4-820D-2643A4AE4EB5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1085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Training setup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051B74-1FDA-4046-A9BD-2211F439B67B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training-step-1">
            <a:extLst>
              <a:ext uri="{FF2B5EF4-FFF2-40B4-BE49-F238E27FC236}">
                <a16:creationId xmlns:a16="http://schemas.microsoft.com/office/drawing/2014/main" id="{931ED5D0-6C8E-498A-811E-6C6C55CE2F9A}"/>
              </a:ext>
            </a:extLst>
          </p:cNvPr>
          <p:cNvSpPr>
            <a:spLocks noGrp="1"/>
          </p:cNvSpPr>
          <p:nvPr/>
        </p:nvSpPr>
        <p:spPr>
          <a:xfrm>
            <a:off x="1809750" y="145732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Start with a randomly initialized neural policy.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3D9081-30A7-4527-B690-6069EF4EE283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raining-step-2">
            <a:extLst>
              <a:ext uri="{FF2B5EF4-FFF2-40B4-BE49-F238E27FC236}">
                <a16:creationId xmlns:a16="http://schemas.microsoft.com/office/drawing/2014/main" id="{883B8CFB-A20D-48D0-8756-B7B45880EE3F}"/>
              </a:ext>
            </a:extLst>
          </p:cNvPr>
          <p:cNvSpPr>
            <a:spLocks noGrp="1"/>
          </p:cNvSpPr>
          <p:nvPr/>
        </p:nvSpPr>
        <p:spPr>
          <a:xfrm>
            <a:off x="1809750" y="240982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Reward reaching alternating targets near head height.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74C684-0237-48F4-BE67-1048B64327F5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" name="training-step-3">
            <a:extLst>
              <a:ext uri="{FF2B5EF4-FFF2-40B4-BE49-F238E27FC236}">
                <a16:creationId xmlns:a16="http://schemas.microsoft.com/office/drawing/2014/main" id="{3615F39E-43A1-4D78-B1CA-B14942EC498B}"/>
              </a:ext>
            </a:extLst>
          </p:cNvPr>
          <p:cNvSpPr>
            <a:spLocks noGrp="1"/>
          </p:cNvSpPr>
          <p:nvPr/>
        </p:nvSpPr>
        <p:spPr>
          <a:xfrm>
            <a:off x="1809750" y="336232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Increase completion bonuses after 716,800 steps.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2AC943-BB28-4F10-B649-20DE4563811D}"/>
              </a:ext>
            </a:extLst>
          </p:cNvPr>
          <p:cNvSpPr>
            <a:spLocks noGrp="1"/>
          </p:cNvSpPr>
          <p:nvPr/>
        </p:nvSpPr>
        <p:spPr>
          <a:xfrm>
            <a:off x="952500" y="42862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training-step-4">
            <a:extLst>
              <a:ext uri="{FF2B5EF4-FFF2-40B4-BE49-F238E27FC236}">
                <a16:creationId xmlns:a16="http://schemas.microsoft.com/office/drawing/2014/main" id="{4D711129-EDA4-4206-AD87-30D6A2B6800B}"/>
              </a:ext>
            </a:extLst>
          </p:cNvPr>
          <p:cNvSpPr>
            <a:spLocks noGrp="1"/>
          </p:cNvSpPr>
          <p:nvPr/>
        </p:nvSpPr>
        <p:spPr>
          <a:xfrm>
            <a:off x="1809750" y="4314825"/>
            <a:ext cx="933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Evaluate the final policy in 20 new test episodes.</a:t>
            </a:r>
          </a:p>
        </p:txBody>
      </p:sp>
    </p:spTree>
    <p:extLst>
      <p:ext uri="{BB962C8B-B14F-4D97-AF65-F5344CB8AC3E}">
        <p14:creationId xmlns:p14="http://schemas.microsoft.com/office/powerpoint/2010/main" val="395702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D08DBE3F-C285-4A18-AE6A-58FCB2521ED2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1085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Before training</a:t>
            </a:r>
          </a:p>
        </p:txBody>
      </p:sp>
      <p:pic>
        <p:nvPicPr>
          <p:cNvPr id="12" name="before_training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/>
        </p:blipFill>
        <p:spPr>
          <a:xfrm>
            <a:off x="649034" y="1286875"/>
            <a:ext cx="6702932" cy="5027199"/>
          </a:xfrm>
          <a:prstGeom prst="rect">
            <a:avLst/>
          </a:prstGeom>
          <a:ln w="12700">
            <a:miter/>
          </a:ln>
        </p:spPr>
      </p:pic>
      <p:sp>
        <p:nvSpPr>
          <p:cNvPr id="3" name="success-rate">
            <a:extLst>
              <a:ext uri="{FF2B5EF4-FFF2-40B4-BE49-F238E27FC236}">
                <a16:creationId xmlns:a16="http://schemas.microsoft.com/office/drawing/2014/main" id="{4C8D3EE0-5160-4CB4-8CF6-B4FACD63B8E8}"/>
              </a:ext>
            </a:extLst>
          </p:cNvPr>
          <p:cNvSpPr>
            <a:spLocks noGrp="1"/>
          </p:cNvSpPr>
          <p:nvPr/>
        </p:nvSpPr>
        <p:spPr>
          <a:xfrm>
            <a:off x="8048625" y="1571625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42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0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BA8491-3C40-43FA-90E6-D29DEB69A5D9}"/>
              </a:ext>
            </a:extLst>
          </p:cNvPr>
          <p:cNvSpPr>
            <a:spLocks noGrp="1"/>
          </p:cNvSpPr>
          <p:nvPr/>
        </p:nvSpPr>
        <p:spPr>
          <a:xfrm>
            <a:off x="8048625" y="23812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tests completing six reaches</a:t>
            </a:r>
          </a:p>
        </p:txBody>
      </p:sp>
      <p:sp>
        <p:nvSpPr>
          <p:cNvPr id="5" name="hold-error">
            <a:extLst>
              <a:ext uri="{FF2B5EF4-FFF2-40B4-BE49-F238E27FC236}">
                <a16:creationId xmlns:a16="http://schemas.microsoft.com/office/drawing/2014/main" id="{E451175D-8F75-4D1C-A421-24069EB1C5C8}"/>
              </a:ext>
            </a:extLst>
          </p:cNvPr>
          <p:cNvSpPr>
            <a:spLocks noGrp="1"/>
          </p:cNvSpPr>
          <p:nvPr/>
        </p:nvSpPr>
        <p:spPr>
          <a:xfrm>
            <a:off x="8048625" y="3286125"/>
            <a:ext cx="2857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42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0 /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C6CA2B-08ED-4B9D-AEC8-09C753BDC2C8}"/>
              </a:ext>
            </a:extLst>
          </p:cNvPr>
          <p:cNvSpPr>
            <a:spLocks noGrp="1"/>
          </p:cNvSpPr>
          <p:nvPr/>
        </p:nvSpPr>
        <p:spPr>
          <a:xfrm>
            <a:off x="7858125" y="400050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mean completed reaches</a:t>
            </a:r>
          </a:p>
        </p:txBody>
      </p:sp>
    </p:spTree>
    <p:extLst>
      <p:ext uri="{BB962C8B-B14F-4D97-AF65-F5344CB8AC3E}">
        <p14:creationId xmlns:p14="http://schemas.microsoft.com/office/powerpoint/2010/main" val="115851166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D08DBE3F-C285-4A18-AE6A-58FCB2521ED2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1085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After training</a:t>
            </a:r>
          </a:p>
        </p:txBody>
      </p:sp>
      <p:pic>
        <p:nvPicPr>
          <p:cNvPr id="12" name="after_training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/>
        </p:blipFill>
        <p:spPr>
          <a:xfrm>
            <a:off x="649034" y="1286875"/>
            <a:ext cx="6702932" cy="5027199"/>
          </a:xfrm>
          <a:prstGeom prst="rect">
            <a:avLst/>
          </a:prstGeom>
          <a:ln w="12700">
            <a:miter/>
          </a:ln>
        </p:spPr>
      </p:pic>
      <p:sp>
        <p:nvSpPr>
          <p:cNvPr id="3" name="success-rate">
            <a:extLst>
              <a:ext uri="{FF2B5EF4-FFF2-40B4-BE49-F238E27FC236}">
                <a16:creationId xmlns:a16="http://schemas.microsoft.com/office/drawing/2014/main" id="{4C8D3EE0-5160-4CB4-8CF6-B4FACD63B8E8}"/>
              </a:ext>
            </a:extLst>
          </p:cNvPr>
          <p:cNvSpPr>
            <a:spLocks noGrp="1"/>
          </p:cNvSpPr>
          <p:nvPr/>
        </p:nvSpPr>
        <p:spPr>
          <a:xfrm>
            <a:off x="8048625" y="1571625"/>
            <a:ext cx="285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42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20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BA8491-3C40-43FA-90E6-D29DEB69A5D9}"/>
              </a:ext>
            </a:extLst>
          </p:cNvPr>
          <p:cNvSpPr>
            <a:spLocks noGrp="1"/>
          </p:cNvSpPr>
          <p:nvPr/>
        </p:nvSpPr>
        <p:spPr>
          <a:xfrm>
            <a:off x="8048625" y="23812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tests completing six reaches</a:t>
            </a:r>
          </a:p>
        </p:txBody>
      </p:sp>
      <p:sp>
        <p:nvSpPr>
          <p:cNvPr id="5" name="hold-error">
            <a:extLst>
              <a:ext uri="{FF2B5EF4-FFF2-40B4-BE49-F238E27FC236}">
                <a16:creationId xmlns:a16="http://schemas.microsoft.com/office/drawing/2014/main" id="{E451175D-8F75-4D1C-A421-24069EB1C5C8}"/>
              </a:ext>
            </a:extLst>
          </p:cNvPr>
          <p:cNvSpPr>
            <a:spLocks noGrp="1"/>
          </p:cNvSpPr>
          <p:nvPr/>
        </p:nvSpPr>
        <p:spPr>
          <a:xfrm>
            <a:off x="8048625" y="3286125"/>
            <a:ext cx="2857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42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6 /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C6CA2B-08ED-4B9D-AEC8-09C753BDC2C8}"/>
              </a:ext>
            </a:extLst>
          </p:cNvPr>
          <p:cNvSpPr>
            <a:spLocks noGrp="1"/>
          </p:cNvSpPr>
          <p:nvPr/>
        </p:nvSpPr>
        <p:spPr>
          <a:xfrm>
            <a:off x="7858125" y="400050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mean completed reaches</a:t>
            </a:r>
          </a:p>
        </p:txBody>
      </p:sp>
    </p:spTree>
    <p:extLst>
      <p:ext uri="{BB962C8B-B14F-4D97-AF65-F5344CB8AC3E}">
        <p14:creationId xmlns:p14="http://schemas.microsoft.com/office/powerpoint/2010/main" val="115851166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8F177A31-33A1-4C13-9534-843391A4B219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1085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Recorded joint movements stay within model boundaries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762000" y="1762125"/>
          <a:ext cx="10668000" cy="34290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Right-arm joint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limits (rad)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Recorded range (rad)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Shoulder pitch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-3.142 to 2.094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-0.676 to 0.597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Shoulder roll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-2.478 to 0.227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-1.246 to -0.199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Shoulder yaw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-1.920 to 1.920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-1.079 to -0.051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Elbow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-0.976 to 2.185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-0.842 to -0.038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Wrist roll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-1.920 to 1.920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-1.800 to -0.033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42763B1-F80A-4111-B959-3C682C86ECCF}"/>
              </a:ext>
            </a:extLst>
          </p:cNvPr>
          <p:cNvSpPr>
            <a:spLocks noGrp="1"/>
          </p:cNvSpPr>
          <p:nvPr/>
        </p:nvSpPr>
        <p:spPr>
          <a:xfrm>
            <a:off x="762000" y="557212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All 1,000 recorded joint positions are within the model limits.</a:t>
            </a:r>
          </a:p>
        </p:txBody>
      </p:sp>
    </p:spTree>
    <p:extLst>
      <p:ext uri="{BB962C8B-B14F-4D97-AF65-F5344CB8AC3E}">
        <p14:creationId xmlns:p14="http://schemas.microsoft.com/office/powerpoint/2010/main" val="476060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13EA7CC9-2658-411E-A996-C873C7A925ED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1085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Results</a:t>
            </a:r>
          </a:p>
        </p:txBody>
      </p:sp>
      <p:sp>
        <p:nvSpPr>
          <p:cNvPr id="2" name="outcome-body">
            <a:extLst>
              <a:ext uri="{FF2B5EF4-FFF2-40B4-BE49-F238E27FC236}">
                <a16:creationId xmlns:a16="http://schemas.microsoft.com/office/drawing/2014/main" id="{816D87B6-A8AD-418A-8158-EC2A6AD79007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5143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The trained policy completes six greeting reaches in all 20 test episodes.</a:t>
            </a:r>
          </a:p>
        </p:txBody>
      </p:sp>
      <p:sp>
        <p:nvSpPr>
          <p:cNvPr id="3" name="outcome-callout">
            <a:extLst>
              <a:ext uri="{FF2B5EF4-FFF2-40B4-BE49-F238E27FC236}">
                <a16:creationId xmlns:a16="http://schemas.microsoft.com/office/drawing/2014/main" id="{950CDB9B-2447-40C1-812A-ACB0F6293F5A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5143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Return to rest still needs improvement.</a:t>
            </a:r>
          </a:p>
          <a:p>
            <a:pPr algn="l">
              <a:buNone/>
              <a:defRPr sz="2325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Real-robot validation is the next step.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92515" y="1760637"/>
            <a:ext cx="4321969" cy="324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515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1081</Words>
  <Application>Microsoft Macintosh PowerPoint</Application>
  <DocSecurity>0</DocSecurity>
  <PresentationFormat>Widescreen</PresentationFormat>
  <Paragraphs>104</Paragraphs>
  <Slides>9</Slides>
  <Notes>9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Cesar Pascal</cp:lastModifiedBy>
  <cp:revision>1</cp:revision>
  <dcterms:created xsi:type="dcterms:W3CDTF">2026-09-23T02:03:49Z</dcterms:created>
  <dcterms:modified xsi:type="dcterms:W3CDTF">2026-09-23T02:10:32Z</dcterms:modified>
</cp:coreProperties>
</file>