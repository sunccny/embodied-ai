
<file path=[Content_Types].xml><?xml version="1.0" encoding="utf-8"?>
<Types xmlns="http://schemas.openxmlformats.org/package/2006/content-types">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9" r:id="rId4"/>
    <p:sldId id="258" r:id="rId5"/>
    <p:sldId id="262" r:id="rId6"/>
    <p:sldId id="264" r:id="rId7"/>
    <p:sldId id="268" r:id="rId8"/>
    <p:sldId id="266" r:id="rId9"/>
    <p:sldId id="267" r:id="rId10"/>
    <p:sldId id="269" r:id="rId11"/>
    <p:sldId id="270"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97"/>
  </p:normalViewPr>
  <p:slideViewPr>
    <p:cSldViewPr snapToGrid="0">
      <p:cViewPr varScale="1">
        <p:scale>
          <a:sx n="96" d="100"/>
          <a:sy n="96" d="100"/>
        </p:scale>
        <p:origin x="200" y="4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Objective: learn to reproduce the supplied real R1 arm routine. The policy is specialized to one time-indexed sequence. It is not yet a general policy that reacts to a new scene or live state.</a:t>
            </a:r>
          </a:p>
          <a:p>
            <a:r>
              <a:t>Local sources: imitation/code and imitation/results.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adapter does deterministic preparation of input. Policy training fits model parameters from examples. The previous task used a 51-input ball-task policy without retraining; the current primary model is a time-conditioned five-output routine learned from real positions. This change addresses the user’s stated objective.</a:t>
            </a:r>
          </a:p>
          <a:p>
            <a:r>
              <a:t>Local sources: imitation/code and imitation/results.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Qualitative comparison by objective, not a controlled accuracy benchmark against the old ball policy. The old fixed policy was designed for ball-task behavior and needed synthetic missing fields in the replay. The new routine trains on real measured five-joint positions and requires no synthetic hand or ball inputs. Direct replay uses saved positions and can reproduce sample values exactly as numerical targets. A trained model is not automatically a superior way to repeat a fixed trajectory. Our test found interpolation better on withheld gaps. Hardware tracking accuracy is untested for every option.</a:t>
            </a:r>
          </a:p>
          <a:p>
            <a:r>
              <a:t>Local sources: imitation/code and imitation/results.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Technical details: Gaussian radial-basis network with1077 fixed centers. Validation MSE selected width0.6seconds and regularization0.1. Evaluation uses2160training,269validation,260test samples in complete one-second time gaps. The final policy refits on all2689frames after model selection. The evaluation checkpoint remains separate. Source action duplicates current measured positions, so it does not supply an independent command target.</a:t>
            </a:r>
          </a:p>
          <a:p>
            <a:r>
              <a:t>Local sources: imitation/code and imitation/results.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Publisher identifies Unitree R1 A5 hand-guided joint validation. Original camera frames show a physical room, operator and robot parts. Pinned revision f36329a96a1e26127772e06350c692b7dfd0556b. Actual timestamp duration268.7999878seconds. Source units and signs are assumed compatible with the model; camera evidence does not certify calibration. The number-pointing dataset was excluded as simulated. Source URL https://huggingface.co/datasets/vasco281204/r1_kinesthetic_joint_check_09.</a:t>
            </a:r>
          </a:p>
          <a:p>
            <a:r>
              <a:t>Local sources: imitation/code and imitation/results.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RoutineAdapter normalizes elapsed playback seconds by268.8seconds. RoutinePolicy maps phase to five joint position targets using learned coefficients only, without loading recorded frames at inference. Actual hardware commands and closed-loop tracking are not implemented. The body remains static visual context and the hand is omitted.</a:t>
            </a:r>
          </a:p>
          <a:p>
            <a:r>
              <a:t>Local sources: imitation/code and imitation/results.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Left: real recorded joint values placed in the display model. Right: final routine policy output at matching time. This video uses a movement included in final training. Source interval83.3–91.3seconds,81frames at5fps, half speed. The excerpt selects shoulder movement for visibility without changing the recorded values. The whole-recording average remains0.1789degrees. Both displays are kinematic; no dynamics or robot execution is shown. No hand measurements or hand learning are included. Standalone video: imitation/results/learned_routine.mp4.</a:t>
            </a:r>
          </a:p>
          <a:p>
            <a:r>
              <a:t>Local sources: imitation/code and imitation/results.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Values rounded from routine_metrics.json. Final full-fit mean absolute joint error0.178946degrees. Separate training-only evaluation model error on260withheld samples2.598103degrees. Linear interpolation from surrounding training samples gives0.637138degrees on exactly the same test samples. These gap results measure interpolation within the same recording, not a new demonstration. The first number is a training reconstruction score and must not be compared as if it used the same held-out test. Smaller is better. No direct hardware accuracy claim.</a:t>
            </a:r>
          </a:p>
          <a:p>
            <a:r>
              <a:t>Local sources: imitation/code and imitation/results.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Why the approach is more appropriate than fixed ball-policy inference: it optimizes the intended measured movement, rather than a different task, and trains parameters from the real arm observations. Why it is not established as better than playback: direct playback already repeats stored targets, while interpolation beat the learned gap model. Learning additional context and feedback is future work, not a current capability. The separate causal policy also failed to establish reliable autonomous imitation and remains documented in imitation/README.md rather than the main narrative.</a:t>
            </a:r>
          </a:p>
          <a:p>
            <a:r>
              <a:t>Local sources: imitation/code and imitation/results.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Current scope: repeat one arm sequence from elapsed time. No learned hand commands, camera conditioning, generalized intent prediction, closed-loop robot control or verified joint calibration. Next experiments should use multiple independent demonstrations and actual feedback. Original ball-task adapter and checkpoint remain unchanged in code/ for reference.</a:t>
            </a:r>
          </a:p>
          <a:p>
            <a:r>
              <a:t>Local sources: imitation/code and imitation/results.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All claims derive from the local saved metrics and code. The dataset source, pinned revision and hashes are in recorded_test/source/. Full causal and routine metrics are included in imitation/results/. Source URL https://huggingface.co/datasets/vasco281204/r1_kinesthetic_joint_check_09.</a:t>
            </a:r>
          </a:p>
          <a:p>
            <a:r>
              <a:t>Local sources: imitation/code and imitation/results.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png"/><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week-title">
            <a:extLst>
              <a:ext uri="{FF2B5EF4-FFF2-40B4-BE49-F238E27FC236}">
                <a16:creationId xmlns:a16="http://schemas.microsoft.com/office/drawing/2014/main" id="{EA03E4E4-7525-42F3-A5AA-8D615ACDAE98}"/>
              </a:ext>
            </a:extLst>
          </p:cNvPr>
          <p:cNvSpPr>
            <a:spLocks noGrp="1"/>
          </p:cNvSpPr>
          <p:nvPr/>
        </p:nvSpPr>
        <p:spPr>
          <a:xfrm>
            <a:off x="2286000" y="2381250"/>
            <a:ext cx="7620000" cy="857250"/>
          </a:xfrm>
          <a:prstGeom prst="rect">
            <a:avLst/>
          </a:prstGeom>
          <a:noFill/>
          <a:ln w="0">
            <a:noFill/>
            <a:prstDash val="solid"/>
          </a:ln>
        </p:spPr>
        <p:txBody>
          <a:bodyPr lIns="0" tIns="0" rIns="0" bIns="0" anchor="ctr">
            <a:normAutofit/>
          </a:bodyPr>
          <a:lstStyle/>
          <a:p>
            <a:pPr algn="ctr">
              <a:buNone/>
              <a:defRPr sz="4350" b="1" i="0">
                <a:solidFill>
                  <a:srgbClr val="17365D"/>
                </a:solidFill>
                <a:latin typeface="Times New Roman"/>
                <a:ea typeface="Times New Roman"/>
                <a:cs typeface="Times New Roman"/>
              </a:defRPr>
            </a:pPr>
            <a:r>
              <a:rPr sz="4350" b="1" i="0">
                <a:solidFill>
                  <a:srgbClr val="17365D"/>
                </a:solidFill>
                <a:latin typeface="Times New Roman"/>
                <a:ea typeface="Times New Roman"/>
                <a:cs typeface="Times New Roman"/>
              </a:rPr>
              <a:t>Learning an R1 arm movement</a:t>
            </a:r>
          </a:p>
        </p:txBody>
      </p:sp>
      <p:sp>
        <p:nvSpPr>
          <p:cNvPr id="2" name="subtitle">
            <a:extLst>
              <a:ext uri="{FF2B5EF4-FFF2-40B4-BE49-F238E27FC236}">
                <a16:creationId xmlns:a16="http://schemas.microsoft.com/office/drawing/2014/main" id="{F21B08F8-B1DC-4635-8C31-12AD6E64A701}"/>
              </a:ext>
            </a:extLst>
          </p:cNvPr>
          <p:cNvSpPr>
            <a:spLocks noGrp="1"/>
          </p:cNvSpPr>
          <p:nvPr/>
        </p:nvSpPr>
        <p:spPr>
          <a:xfrm>
            <a:off x="2095500" y="3333750"/>
            <a:ext cx="8001000" cy="523875"/>
          </a:xfrm>
          <a:prstGeom prst="rect">
            <a:avLst/>
          </a:prstGeom>
          <a:noFill/>
          <a:ln w="0">
            <a:noFill/>
            <a:prstDash val="solid"/>
          </a:ln>
        </p:spPr>
        <p:txBody>
          <a:bodyPr lIns="0" tIns="0" rIns="0" bIns="0" anchor="t">
            <a:normAutofit/>
          </a:bodyPr>
          <a:lstStyle/>
          <a:p>
            <a:pPr algn="ctr">
              <a:buNone/>
              <a:defRPr sz="2100" b="0" i="0">
                <a:solidFill>
                  <a:srgbClr val="161616"/>
                </a:solidFill>
                <a:latin typeface="Times New Roman"/>
                <a:ea typeface="Times New Roman"/>
                <a:cs typeface="Times New Roman"/>
              </a:defRPr>
            </a:pPr>
            <a:r>
              <a:rPr sz="2100" b="0" i="0">
                <a:solidFill>
                  <a:srgbClr val="161616"/>
                </a:solidFill>
                <a:latin typeface="Times New Roman"/>
                <a:ea typeface="Times New Roman"/>
                <a:cs typeface="Times New Roman"/>
              </a:rPr>
              <a:t>How the policy learns to repeat a real recording</a:t>
            </a:r>
          </a:p>
        </p:txBody>
      </p:sp>
      <p:sp>
        <p:nvSpPr>
          <p:cNvPr id="3" name="author">
            <a:extLst>
              <a:ext uri="{FF2B5EF4-FFF2-40B4-BE49-F238E27FC236}">
                <a16:creationId xmlns:a16="http://schemas.microsoft.com/office/drawing/2014/main" id="{878C14DA-53BB-47FA-A68F-BD47B88EECC0}"/>
              </a:ext>
            </a:extLst>
          </p:cNvPr>
          <p:cNvSpPr>
            <a:spLocks noGrp="1"/>
          </p:cNvSpPr>
          <p:nvPr/>
        </p:nvSpPr>
        <p:spPr>
          <a:xfrm>
            <a:off x="3810000" y="4095750"/>
            <a:ext cx="4572000" cy="323850"/>
          </a:xfrm>
          <a:prstGeom prst="rect">
            <a:avLst/>
          </a:prstGeom>
          <a:noFill/>
          <a:ln w="0">
            <a:noFill/>
            <a:prstDash val="solid"/>
          </a:ln>
        </p:spPr>
        <p:txBody>
          <a:bodyPr lIns="0" tIns="0" rIns="0" bIns="0" anchor="t">
            <a:normAutofit/>
          </a:bodyPr>
          <a:lstStyle/>
          <a:p>
            <a:pPr algn="ctr">
              <a:buNone/>
              <a:defRPr sz="1650" b="0" i="0">
                <a:solidFill>
                  <a:srgbClr val="666666"/>
                </a:solidFill>
                <a:latin typeface="Times New Roman"/>
                <a:ea typeface="Times New Roman"/>
                <a:cs typeface="Times New Roman"/>
              </a:defRPr>
            </a:pPr>
            <a:r>
              <a:rPr sz="1650" b="0" i="0">
                <a:solidFill>
                  <a:srgbClr val="666666"/>
                </a:solidFill>
                <a:latin typeface="Times New Roman"/>
                <a:ea typeface="Times New Roman"/>
                <a:cs typeface="Times New Roman"/>
              </a:rPr>
              <a:t>Cesar A. Pascal Vasquez</a:t>
            </a:r>
          </a:p>
        </p:txBody>
      </p:sp>
      <p:sp>
        <p:nvSpPr>
          <p:cNvPr id="4" name="footer">
            <a:extLst>
              <a:ext uri="{FF2B5EF4-FFF2-40B4-BE49-F238E27FC236}">
                <a16:creationId xmlns:a16="http://schemas.microsoft.com/office/drawing/2014/main" id="{3630E2CB-9F40-4014-BE03-8C34CD17495F}"/>
              </a:ext>
            </a:extLst>
          </p:cNvPr>
          <p:cNvSpPr>
            <a:spLocks noGrp="1"/>
          </p:cNvSpPr>
          <p:nvPr/>
        </p:nvSpPr>
        <p:spPr>
          <a:xfrm>
            <a:off x="10287000" y="6486525"/>
            <a:ext cx="1238250" cy="209550"/>
          </a:xfrm>
          <a:prstGeom prst="rect">
            <a:avLst/>
          </a:prstGeom>
          <a:noFill/>
          <a:ln w="0">
            <a:noFill/>
            <a:prstDash val="solid"/>
          </a:ln>
        </p:spPr>
        <p:txBody>
          <a:bodyPr lIns="0" tIns="0" rIns="0" bIns="0" anchor="t">
            <a:normAutofit/>
          </a:bodyPr>
          <a:lstStyle/>
          <a:p>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imitation  1</a:t>
            </a:r>
          </a:p>
        </p:txBody>
      </p:sp>
    </p:spTree>
    <p:extLst>
      <p:ext uri="{BB962C8B-B14F-4D97-AF65-F5344CB8AC3E}">
        <p14:creationId xmlns:p14="http://schemas.microsoft.com/office/powerpoint/2010/main" val="16201394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13EA7CC9-2658-411E-A996-C873C7A925ED}"/>
              </a:ext>
            </a:extLst>
          </p:cNvPr>
          <p:cNvSpPr>
            <a:spLocks noGrp="1"/>
          </p:cNvSpPr>
          <p:nvPr/>
        </p:nvSpPr>
        <p:spPr>
          <a:xfrm>
            <a:off x="666750" y="419100"/>
            <a:ext cx="10858500" cy="628650"/>
          </a:xfrm>
          <a:prstGeom prst="rect">
            <a:avLst/>
          </a:prstGeom>
          <a:noFill/>
          <a:ln w="0">
            <a:noFill/>
            <a:prstDash val="solid"/>
          </a:ln>
        </p:spPr>
        <p:txBody>
          <a:bodyPr lIns="0" tIns="0" rIns="0" bIns="0" anchor="t">
            <a:norm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Our goal: repeat the recorded arm movement</a:t>
            </a:r>
          </a:p>
        </p:txBody>
      </p:sp>
      <p:sp>
        <p:nvSpPr>
          <p:cNvPr id="2" name="outcome-body">
            <a:extLst>
              <a:ext uri="{FF2B5EF4-FFF2-40B4-BE49-F238E27FC236}">
                <a16:creationId xmlns:a16="http://schemas.microsoft.com/office/drawing/2014/main" id="{816D87B6-A8AD-418A-8158-EC2A6AD79007}"/>
              </a:ext>
            </a:extLst>
          </p:cNvPr>
          <p:cNvSpPr>
            <a:spLocks noGrp="1"/>
          </p:cNvSpPr>
          <p:nvPr/>
        </p:nvSpPr>
        <p:spPr>
          <a:xfrm>
            <a:off x="762000" y="1524000"/>
            <a:ext cx="10477500" cy="1619250"/>
          </a:xfrm>
          <a:prstGeom prst="rect">
            <a:avLst/>
          </a:prstGeom>
          <a:noFill/>
          <a:ln w="0">
            <a:noFill/>
            <a:prstDash val="solid"/>
          </a:ln>
        </p:spPr>
        <p:txBody>
          <a:bodyPr lIns="0" tIns="0" rIns="0" bIns="0" anchor="t">
            <a:noAutofit/>
          </a:bodyPr>
          <a:lstStyle/>
          <a:p>
            <a:pPr algn="l">
              <a:buNone/>
              <a:defRPr sz="2400" b="0" i="0">
                <a:solidFill>
                  <a:srgbClr val="161616"/>
                </a:solidFill>
                <a:latin typeface="Times New Roman"/>
                <a:ea typeface="Times New Roman"/>
                <a:cs typeface="Times New Roman"/>
              </a:defRPr>
            </a:pPr>
            <a:r>
              <a:rPr sz="2400" b="0" i="0">
                <a:solidFill>
                  <a:srgbClr val="161616"/>
                </a:solidFill>
                <a:latin typeface="Times New Roman"/>
                <a:ea typeface="Times New Roman"/>
                <a:cs typeface="Times New Roman"/>
              </a:rPr>
              <a:t>A policy is the model that chooses the robot’s next target position. Training teaches it which positions to produce.</a:t>
            </a:r>
          </a:p>
        </p:txBody>
      </p:sp>
      <p:sp>
        <p:nvSpPr>
          <p:cNvPr id="3" name="outcome-callout">
            <a:extLst>
              <a:ext uri="{FF2B5EF4-FFF2-40B4-BE49-F238E27FC236}">
                <a16:creationId xmlns:a16="http://schemas.microsoft.com/office/drawing/2014/main" id="{950CDB9B-2447-40C1-812A-ACB0F6293F5A}"/>
              </a:ext>
            </a:extLst>
          </p:cNvPr>
          <p:cNvSpPr>
            <a:spLocks noGrp="1"/>
          </p:cNvSpPr>
          <p:nvPr/>
        </p:nvSpPr>
        <p:spPr>
          <a:xfrm>
            <a:off x="762000" y="3571875"/>
            <a:ext cx="10477500" cy="1238250"/>
          </a:xfrm>
          <a:prstGeom prst="rect">
            <a:avLst/>
          </a:prstGeom>
          <a:noFill/>
          <a:ln w="0">
            <a:noFill/>
            <a:prstDash val="solid"/>
          </a:ln>
        </p:spPr>
        <p:txBody>
          <a:bodyPr lIns="0" tIns="0" rIns="0" bIns="0" anchor="t">
            <a:noAutofit/>
          </a:bodyPr>
          <a:lstStyle/>
          <a:p>
            <a:pPr algn="l">
              <a:buNone/>
              <a:defRPr sz="2400" b="1" i="0">
                <a:solidFill>
                  <a:srgbClr val="2F5597"/>
                </a:solidFill>
                <a:latin typeface="Times New Roman"/>
                <a:ea typeface="Times New Roman"/>
                <a:cs typeface="Times New Roman"/>
              </a:defRPr>
            </a:pPr>
            <a:r>
              <a:rPr sz="2400" b="1" i="0">
                <a:solidFill>
                  <a:srgbClr val="2F5597"/>
                </a:solidFill>
                <a:latin typeface="Times New Roman"/>
                <a:ea typeface="Times New Roman"/>
                <a:cs typeface="Times New Roman"/>
              </a:rPr>
              <a:t>The adapter prepares the input. The policy learns the movement.</a:t>
            </a:r>
          </a:p>
        </p:txBody>
      </p:sp>
      <p:sp>
        <p:nvSpPr>
          <p:cNvPr id="5" name="Rectangle 4">
            <a:extLst>
              <a:ext uri="{FF2B5EF4-FFF2-40B4-BE49-F238E27FC236}">
                <a16:creationId xmlns:a16="http://schemas.microsoft.com/office/drawing/2014/main" id="{E66D4FB7-5E90-4941-B502-BEC1D13C9E5B}"/>
              </a:ext>
            </a:extLst>
          </p:cNvPr>
          <p:cNvSpPr>
            <a:spLocks noGrp="1"/>
          </p:cNvSpPr>
          <p:nvPr/>
        </p:nvSpPr>
        <p:spPr>
          <a:xfrm>
            <a:off x="762000" y="5381625"/>
            <a:ext cx="10477500" cy="619125"/>
          </a:xfrm>
          <a:prstGeom prst="rect">
            <a:avLst/>
          </a:prstGeom>
          <a:noFill/>
          <a:ln w="0">
            <a:noFill/>
            <a:prstDash val="solid"/>
          </a:ln>
        </p:spPr>
        <p:txBody>
          <a:bodyPr lIns="0" tIns="0" rIns="0" bIns="0" anchor="t">
            <a:noAutofit/>
          </a:bodyPr>
          <a:lstStyle/>
          <a:p>
            <a:pPr algn="l">
              <a:buNone/>
              <a:defRPr sz="1950" b="0" i="1">
                <a:solidFill>
                  <a:srgbClr val="666666"/>
                </a:solidFill>
                <a:latin typeface="Times New Roman"/>
                <a:ea typeface="Times New Roman"/>
                <a:cs typeface="Times New Roman"/>
              </a:defRPr>
            </a:pPr>
            <a:r>
              <a:rPr sz="1950" b="0" i="1">
                <a:solidFill>
                  <a:srgbClr val="666666"/>
                </a:solidFill>
                <a:latin typeface="Times New Roman"/>
                <a:ea typeface="Times New Roman"/>
                <a:cs typeface="Times New Roman"/>
              </a:rPr>
              <a:t>This version learns one recorded routine.</a:t>
            </a:r>
          </a:p>
        </p:txBody>
      </p:sp>
      <p:sp>
        <p:nvSpPr>
          <p:cNvPr id="6" name="footer">
            <a:extLst>
              <a:ext uri="{FF2B5EF4-FFF2-40B4-BE49-F238E27FC236}">
                <a16:creationId xmlns:a16="http://schemas.microsoft.com/office/drawing/2014/main" id="{6D9ADE48-D478-4D93-8A8C-965E5FE0710E}"/>
              </a:ext>
            </a:extLst>
          </p:cNvPr>
          <p:cNvSpPr>
            <a:spLocks noGrp="1"/>
          </p:cNvSpPr>
          <p:nvPr/>
        </p:nvSpPr>
        <p:spPr>
          <a:xfrm>
            <a:off x="10287000" y="6486525"/>
            <a:ext cx="1238250" cy="209550"/>
          </a:xfrm>
          <a:prstGeom prst="rect">
            <a:avLst/>
          </a:prstGeom>
          <a:noFill/>
          <a:ln w="0">
            <a:noFill/>
            <a:prstDash val="solid"/>
          </a:ln>
        </p:spPr>
        <p:txBody>
          <a:bodyPr lIns="0" tIns="0" rIns="0" bIns="0" anchor="t">
            <a:normAutofit/>
          </a:bodyPr>
          <a:lstStyle/>
          <a:p>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imitation  2</a:t>
            </a:r>
          </a:p>
        </p:txBody>
      </p:sp>
    </p:spTree>
    <p:extLst>
      <p:ext uri="{BB962C8B-B14F-4D97-AF65-F5344CB8AC3E}">
        <p14:creationId xmlns:p14="http://schemas.microsoft.com/office/powerpoint/2010/main" val="110715153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 name="slide-title">
            <a:extLst>
              <a:ext uri="{FF2B5EF4-FFF2-40B4-BE49-F238E27FC236}">
                <a16:creationId xmlns:a16="http://schemas.microsoft.com/office/drawing/2014/main" id="{2C4BAC05-2014-4342-9B5B-8C51DCB9D2FC}"/>
              </a:ext>
            </a:extLst>
          </p:cNvPr>
          <p:cNvSpPr>
            <a:spLocks noGrp="1"/>
          </p:cNvSpPr>
          <p:nvPr/>
        </p:nvSpPr>
        <p:spPr>
          <a:xfrm>
            <a:off x="666750" y="419100"/>
            <a:ext cx="10858500" cy="628650"/>
          </a:xfrm>
          <a:prstGeom prst="rect">
            <a:avLst/>
          </a:prstGeom>
          <a:noFill/>
          <a:ln w="0">
            <a:noFill/>
            <a:prstDash val="solid"/>
          </a:ln>
        </p:spPr>
        <p:txBody>
          <a:bodyPr lIns="0" tIns="0" rIns="0" bIns="0" anchor="t">
            <a:norm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Three ways to use the same recording</a:t>
            </a:r>
          </a:p>
        </p:txBody>
      </p:sp>
      <p:sp>
        <p:nvSpPr>
          <p:cNvPr id="2" name="Rectangle 1">
            <a:extLst>
              <a:ext uri="{FF2B5EF4-FFF2-40B4-BE49-F238E27FC236}">
                <a16:creationId xmlns:a16="http://schemas.microsoft.com/office/drawing/2014/main" id="{A16FF790-4D7C-4693-9CA1-DC15D9A6A048}"/>
              </a:ext>
            </a:extLst>
          </p:cNvPr>
          <p:cNvSpPr>
            <a:spLocks noGrp="1"/>
          </p:cNvSpPr>
          <p:nvPr/>
        </p:nvSpPr>
        <p:spPr>
          <a:xfrm>
            <a:off x="762000" y="1857375"/>
            <a:ext cx="3048000" cy="666750"/>
          </a:xfrm>
          <a:prstGeom prst="rect">
            <a:avLst/>
          </a:prstGeom>
          <a:noFill/>
          <a:ln w="0">
            <a:noFill/>
            <a:prstDash val="solid"/>
          </a:ln>
        </p:spPr>
        <p:txBody>
          <a:bodyPr lIns="0" tIns="0" rIns="0" bIns="0" anchor="t">
            <a:noAutofit/>
          </a:bodyPr>
          <a:lstStyle/>
          <a:p>
            <a:pPr algn="l">
              <a:buNone/>
              <a:defRPr sz="2100" b="1" i="0">
                <a:solidFill>
                  <a:srgbClr val="305A98"/>
                </a:solidFill>
                <a:latin typeface="Times New Roman"/>
                <a:ea typeface="Times New Roman"/>
                <a:cs typeface="Times New Roman"/>
              </a:defRPr>
            </a:pPr>
            <a:r>
              <a:rPr sz="2100" b="1" i="0">
                <a:solidFill>
                  <a:srgbClr val="305A98"/>
                </a:solidFill>
                <a:latin typeface="Times New Roman"/>
                <a:ea typeface="Times New Roman"/>
                <a:cs typeface="Times New Roman"/>
              </a:rPr>
              <a:t>OLD TEST</a:t>
            </a:r>
          </a:p>
        </p:txBody>
      </p:sp>
      <p:sp>
        <p:nvSpPr>
          <p:cNvPr id="3" name="policy-inputs">
            <a:extLst>
              <a:ext uri="{FF2B5EF4-FFF2-40B4-BE49-F238E27FC236}">
                <a16:creationId xmlns:a16="http://schemas.microsoft.com/office/drawing/2014/main" id="{0010DA2C-F188-4B0A-BB03-20F01BD993D6}"/>
              </a:ext>
            </a:extLst>
          </p:cNvPr>
          <p:cNvSpPr>
            <a:spLocks noGrp="1"/>
          </p:cNvSpPr>
          <p:nvPr/>
        </p:nvSpPr>
        <p:spPr>
          <a:xfrm>
            <a:off x="762000" y="2619375"/>
            <a:ext cx="3048000" cy="2143125"/>
          </a:xfrm>
          <a:prstGeom prst="rect">
            <a:avLst/>
          </a:prstGeom>
          <a:noFill/>
          <a:ln w="0">
            <a:noFill/>
            <a:prstDash val="solid"/>
          </a:ln>
        </p:spPr>
        <p:txBody>
          <a:bodyPr lIns="0" tIns="0" rIns="0" bIns="0" anchor="ctr">
            <a:noAutofit/>
          </a:bodyPr>
          <a:lstStyle/>
          <a:p>
            <a:pPr algn="l">
              <a:buNone/>
              <a:defRPr sz="2100" b="0" i="0">
                <a:solidFill>
                  <a:srgbClr val="222222"/>
                </a:solidFill>
                <a:latin typeface="Times New Roman"/>
                <a:ea typeface="Times New Roman"/>
                <a:cs typeface="Times New Roman"/>
              </a:defRPr>
            </a:pPr>
            <a:r>
              <a:rPr sz="2100" b="0" i="0">
                <a:solidFill>
                  <a:srgbClr val="222222"/>
                </a:solidFill>
                <a:latin typeface="Times New Roman"/>
                <a:ea typeface="Times New Roman"/>
                <a:cs typeface="Times New Roman"/>
              </a:rPr>
              <a:t>Fed data to a ball-task policy.</a:t>
            </a:r>
          </a:p>
          <a:p>
            <a:pPr algn="l">
              <a:buNone/>
              <a:defRPr sz="2100" b="0" i="0">
                <a:solidFill>
                  <a:srgbClr val="222222"/>
                </a:solidFill>
                <a:latin typeface="Times New Roman"/>
                <a:ea typeface="Times New Roman"/>
                <a:cs typeface="Times New Roman"/>
              </a:defRPr>
            </a:pPr>
            <a:r>
              <a:rPr sz="2100" b="0" i="0">
                <a:solidFill>
                  <a:srgbClr val="222222"/>
                </a:solidFill>
                <a:latin typeface="Times New Roman"/>
                <a:ea typeface="Times New Roman"/>
                <a:cs typeface="Times New Roman"/>
              </a:rPr>
              <a:t>Did not train on the recording.</a:t>
            </a:r>
          </a:p>
          <a:p>
            <a:pPr algn="l">
              <a:buNone/>
              <a:defRPr sz="2100" b="0" i="0">
                <a:solidFill>
                  <a:srgbClr val="222222"/>
                </a:solidFill>
                <a:latin typeface="Times New Roman"/>
                <a:ea typeface="Times New Roman"/>
                <a:cs typeface="Times New Roman"/>
              </a:defRPr>
            </a:pPr>
            <a:r>
              <a:rPr sz="2100" b="0" i="0">
                <a:solidFill>
                  <a:srgbClr val="222222"/>
                </a:solidFill>
                <a:latin typeface="Times New Roman"/>
                <a:ea typeface="Times New Roman"/>
                <a:cs typeface="Times New Roman"/>
              </a:rPr>
              <a:t>Useful for checking conversion.</a:t>
            </a:r>
          </a:p>
        </p:txBody>
      </p:sp>
      <p:sp>
        <p:nvSpPr>
          <p:cNvPr id="4" name="Rectangle 3">
            <a:extLst>
              <a:ext uri="{FF2B5EF4-FFF2-40B4-BE49-F238E27FC236}">
                <a16:creationId xmlns:a16="http://schemas.microsoft.com/office/drawing/2014/main" id="{380F8B93-8088-4B93-95FB-A6DBB3829F41}"/>
              </a:ext>
            </a:extLst>
          </p:cNvPr>
          <p:cNvSpPr>
            <a:spLocks noGrp="1"/>
          </p:cNvSpPr>
          <p:nvPr/>
        </p:nvSpPr>
        <p:spPr>
          <a:xfrm>
            <a:off x="4572000" y="1857375"/>
            <a:ext cx="3048000" cy="666750"/>
          </a:xfrm>
          <a:prstGeom prst="rect">
            <a:avLst/>
          </a:prstGeom>
          <a:noFill/>
          <a:ln w="0">
            <a:noFill/>
            <a:prstDash val="solid"/>
          </a:ln>
        </p:spPr>
        <p:txBody>
          <a:bodyPr lIns="0" tIns="0" rIns="0" bIns="0" anchor="t">
            <a:noAutofit/>
          </a:bodyPr>
          <a:lstStyle/>
          <a:p>
            <a:pPr algn="l">
              <a:buNone/>
              <a:defRPr sz="2100" b="1" i="0">
                <a:solidFill>
                  <a:srgbClr val="305A98"/>
                </a:solidFill>
                <a:latin typeface="Times New Roman"/>
                <a:ea typeface="Times New Roman"/>
                <a:cs typeface="Times New Roman"/>
              </a:defRPr>
            </a:pPr>
            <a:r>
              <a:rPr sz="2100" b="1" i="0">
                <a:solidFill>
                  <a:srgbClr val="305A98"/>
                </a:solidFill>
                <a:latin typeface="Times New Roman"/>
                <a:ea typeface="Times New Roman"/>
                <a:cs typeface="Times New Roman"/>
              </a:rPr>
              <a:t>NEW POLICY</a:t>
            </a:r>
          </a:p>
        </p:txBody>
      </p:sp>
      <p:sp>
        <p:nvSpPr>
          <p:cNvPr id="5" name="Rectangle 4">
            <a:extLst>
              <a:ext uri="{FF2B5EF4-FFF2-40B4-BE49-F238E27FC236}">
                <a16:creationId xmlns:a16="http://schemas.microsoft.com/office/drawing/2014/main" id="{66A5B058-7255-4253-9E92-A5145C420364}"/>
              </a:ext>
            </a:extLst>
          </p:cNvPr>
          <p:cNvSpPr>
            <a:spLocks noGrp="1"/>
          </p:cNvSpPr>
          <p:nvPr/>
        </p:nvSpPr>
        <p:spPr>
          <a:xfrm>
            <a:off x="4572000" y="2619375"/>
            <a:ext cx="3048000" cy="2143125"/>
          </a:xfrm>
          <a:prstGeom prst="rect">
            <a:avLst/>
          </a:prstGeom>
          <a:noFill/>
          <a:ln w="0">
            <a:noFill/>
            <a:prstDash val="solid"/>
          </a:ln>
        </p:spPr>
        <p:txBody>
          <a:bodyPr lIns="0" tIns="0" rIns="0" bIns="0" anchor="ctr">
            <a:noAutofit/>
          </a:bodyPr>
          <a:lstStyle/>
          <a:p>
            <a:pPr algn="l">
              <a:buNone/>
              <a:defRPr sz="2100" b="0" i="0">
                <a:solidFill>
                  <a:srgbClr val="222222"/>
                </a:solidFill>
                <a:latin typeface="Times New Roman"/>
                <a:ea typeface="Times New Roman"/>
                <a:cs typeface="Times New Roman"/>
              </a:defRPr>
            </a:pPr>
            <a:r>
              <a:rPr sz="2100" b="0" i="0">
                <a:solidFill>
                  <a:srgbClr val="222222"/>
                </a:solidFill>
                <a:latin typeface="Times New Roman"/>
                <a:ea typeface="Times New Roman"/>
                <a:cs typeface="Times New Roman"/>
              </a:rPr>
              <a:t>Learns the arm sequence.</a:t>
            </a:r>
          </a:p>
          <a:p>
            <a:pPr algn="l">
              <a:buNone/>
              <a:defRPr sz="2100" b="0" i="0">
                <a:solidFill>
                  <a:srgbClr val="222222"/>
                </a:solidFill>
                <a:latin typeface="Times New Roman"/>
                <a:ea typeface="Times New Roman"/>
                <a:cs typeface="Times New Roman"/>
              </a:defRPr>
            </a:pPr>
            <a:r>
              <a:rPr sz="2100" b="0" i="0">
                <a:solidFill>
                  <a:srgbClr val="222222"/>
                </a:solidFill>
                <a:latin typeface="Times New Roman"/>
                <a:ea typeface="Times New Roman"/>
                <a:cs typeface="Times New Roman"/>
              </a:rPr>
              <a:t>Uses real positions as targets.</a:t>
            </a:r>
          </a:p>
          <a:p>
            <a:pPr algn="l">
              <a:buNone/>
              <a:defRPr sz="2100" b="0" i="0">
                <a:solidFill>
                  <a:srgbClr val="222222"/>
                </a:solidFill>
                <a:latin typeface="Times New Roman"/>
                <a:ea typeface="Times New Roman"/>
                <a:cs typeface="Times New Roman"/>
              </a:defRPr>
            </a:pPr>
            <a:r>
              <a:rPr sz="2100" b="0" i="0">
                <a:solidFill>
                  <a:srgbClr val="222222"/>
                </a:solidFill>
                <a:latin typeface="Times New Roman"/>
                <a:ea typeface="Times New Roman"/>
                <a:cs typeface="Times New Roman"/>
              </a:rPr>
              <a:t>Fits the imitation goal.</a:t>
            </a:r>
          </a:p>
        </p:txBody>
      </p:sp>
      <p:sp>
        <p:nvSpPr>
          <p:cNvPr id="6" name="Rectangle 5">
            <a:extLst>
              <a:ext uri="{FF2B5EF4-FFF2-40B4-BE49-F238E27FC236}">
                <a16:creationId xmlns:a16="http://schemas.microsoft.com/office/drawing/2014/main" id="{27A95B75-3F35-4EA0-B015-959F7FCFF300}"/>
              </a:ext>
            </a:extLst>
          </p:cNvPr>
          <p:cNvSpPr>
            <a:spLocks noGrp="1"/>
          </p:cNvSpPr>
          <p:nvPr/>
        </p:nvSpPr>
        <p:spPr>
          <a:xfrm>
            <a:off x="8382000" y="1857375"/>
            <a:ext cx="3048000" cy="666750"/>
          </a:xfrm>
          <a:prstGeom prst="rect">
            <a:avLst/>
          </a:prstGeom>
          <a:noFill/>
          <a:ln w="0">
            <a:noFill/>
            <a:prstDash val="solid"/>
          </a:ln>
        </p:spPr>
        <p:txBody>
          <a:bodyPr lIns="0" tIns="0" rIns="0" bIns="0" anchor="t">
            <a:noAutofit/>
          </a:bodyPr>
          <a:lstStyle/>
          <a:p>
            <a:pPr algn="l">
              <a:buNone/>
              <a:defRPr sz="2100" b="1" i="0">
                <a:solidFill>
                  <a:srgbClr val="305A98"/>
                </a:solidFill>
                <a:latin typeface="Times New Roman"/>
                <a:ea typeface="Times New Roman"/>
                <a:cs typeface="Times New Roman"/>
              </a:defRPr>
            </a:pPr>
            <a:r>
              <a:rPr sz="2100" b="1" i="0">
                <a:solidFill>
                  <a:srgbClr val="305A98"/>
                </a:solidFill>
                <a:latin typeface="Times New Roman"/>
                <a:ea typeface="Times New Roman"/>
                <a:cs typeface="Times New Roman"/>
              </a:rPr>
              <a:t>PLAYBACK</a:t>
            </a:r>
          </a:p>
        </p:txBody>
      </p:sp>
      <p:sp>
        <p:nvSpPr>
          <p:cNvPr id="7" name="policy-outputs">
            <a:extLst>
              <a:ext uri="{FF2B5EF4-FFF2-40B4-BE49-F238E27FC236}">
                <a16:creationId xmlns:a16="http://schemas.microsoft.com/office/drawing/2014/main" id="{C0FA5EF2-ACC8-4373-824E-13262C19CF83}"/>
              </a:ext>
            </a:extLst>
          </p:cNvPr>
          <p:cNvSpPr>
            <a:spLocks noGrp="1"/>
          </p:cNvSpPr>
          <p:nvPr/>
        </p:nvSpPr>
        <p:spPr>
          <a:xfrm>
            <a:off x="8382000" y="2619375"/>
            <a:ext cx="3048000" cy="2143125"/>
          </a:xfrm>
          <a:prstGeom prst="rect">
            <a:avLst/>
          </a:prstGeom>
          <a:noFill/>
          <a:ln w="0">
            <a:noFill/>
            <a:prstDash val="solid"/>
          </a:ln>
        </p:spPr>
        <p:txBody>
          <a:bodyPr lIns="0" tIns="0" rIns="0" bIns="0" anchor="ctr">
            <a:noAutofit/>
          </a:bodyPr>
          <a:lstStyle/>
          <a:p>
            <a:pPr algn="l">
              <a:buNone/>
              <a:defRPr sz="2100" b="0" i="0">
                <a:solidFill>
                  <a:srgbClr val="222222"/>
                </a:solidFill>
                <a:latin typeface="Times New Roman"/>
                <a:ea typeface="Times New Roman"/>
                <a:cs typeface="Times New Roman"/>
              </a:defRPr>
            </a:pPr>
            <a:r>
              <a:rPr sz="2100" b="0" i="0">
                <a:solidFill>
                  <a:srgbClr val="222222"/>
                </a:solidFill>
                <a:latin typeface="Times New Roman"/>
                <a:ea typeface="Times New Roman"/>
                <a:cs typeface="Times New Roman"/>
              </a:rPr>
              <a:t>Reads saved positions in order.</a:t>
            </a:r>
          </a:p>
          <a:p>
            <a:pPr algn="l">
              <a:buNone/>
              <a:defRPr sz="2100" b="0" i="0">
                <a:solidFill>
                  <a:srgbClr val="222222"/>
                </a:solidFill>
                <a:latin typeface="Times New Roman"/>
                <a:ea typeface="Times New Roman"/>
                <a:cs typeface="Times New Roman"/>
              </a:defRPr>
            </a:pPr>
            <a:r>
              <a:rPr sz="2100" b="0" i="0">
                <a:solidFill>
                  <a:srgbClr val="222222"/>
                </a:solidFill>
                <a:latin typeface="Times New Roman"/>
                <a:ea typeface="Times New Roman"/>
                <a:cs typeface="Times New Roman"/>
              </a:rPr>
              <a:t>Needs no policy training.</a:t>
            </a:r>
          </a:p>
          <a:p>
            <a:pPr algn="l">
              <a:buNone/>
              <a:defRPr sz="2100" b="0" i="0">
                <a:solidFill>
                  <a:srgbClr val="222222"/>
                </a:solidFill>
                <a:latin typeface="Times New Roman"/>
                <a:ea typeface="Times New Roman"/>
                <a:cs typeface="Times New Roman"/>
              </a:defRPr>
            </a:pPr>
            <a:r>
              <a:rPr sz="2100" b="0" i="0">
                <a:solidFill>
                  <a:srgbClr val="222222"/>
                </a:solidFill>
                <a:latin typeface="Times New Roman"/>
                <a:ea typeface="Times New Roman"/>
                <a:cs typeface="Times New Roman"/>
              </a:rPr>
              <a:t>Already repeats the recording.</a:t>
            </a:r>
          </a:p>
        </p:txBody>
      </p:sp>
      <p:sp>
        <p:nvSpPr>
          <p:cNvPr id="8" name="policy-flow">
            <a:extLst>
              <a:ext uri="{FF2B5EF4-FFF2-40B4-BE49-F238E27FC236}">
                <a16:creationId xmlns:a16="http://schemas.microsoft.com/office/drawing/2014/main" id="{E77996CB-2894-4F99-8B15-A3B6B2AAD470}"/>
              </a:ext>
            </a:extLst>
          </p:cNvPr>
          <p:cNvSpPr>
            <a:spLocks noGrp="1"/>
          </p:cNvSpPr>
          <p:nvPr/>
        </p:nvSpPr>
        <p:spPr>
          <a:xfrm>
            <a:off x="1619250" y="5000625"/>
            <a:ext cx="8953500" cy="514350"/>
          </a:xfrm>
          <a:prstGeom prst="rect">
            <a:avLst/>
          </a:prstGeom>
          <a:noFill/>
          <a:ln w="0">
            <a:noFill/>
            <a:prstDash val="solid"/>
          </a:ln>
        </p:spPr>
        <p:txBody>
          <a:bodyPr lIns="0" tIns="0" rIns="0" bIns="0" anchor="t">
            <a:normAutofit fontScale="75000"/>
          </a:bodyPr>
          <a:lstStyle/>
          <a:p>
            <a:pPr algn="ctr">
              <a:buNone/>
              <a:defRPr sz="2250" b="1" i="0">
                <a:solidFill>
                  <a:srgbClr val="17365D"/>
                </a:solidFill>
                <a:latin typeface="Times New Roman"/>
                <a:ea typeface="Times New Roman"/>
                <a:cs typeface="Times New Roman"/>
              </a:defRPr>
            </a:pPr>
            <a:r>
              <a:rPr sz="2250" b="1" i="0">
                <a:solidFill>
                  <a:srgbClr val="17365D"/>
                </a:solidFill>
                <a:latin typeface="Times New Roman"/>
                <a:ea typeface="Times New Roman"/>
                <a:cs typeface="Times New Roman"/>
              </a:rPr>
              <a:t>LEARNING FITS OUR GOAL, BUT HAS NOT PROVED MORE ACCURATE THAN REPLAY</a:t>
            </a:r>
          </a:p>
        </p:txBody>
      </p:sp>
      <p:sp>
        <p:nvSpPr>
          <p:cNvPr id="9" name="footer">
            <a:extLst>
              <a:ext uri="{FF2B5EF4-FFF2-40B4-BE49-F238E27FC236}">
                <a16:creationId xmlns:a16="http://schemas.microsoft.com/office/drawing/2014/main" id="{A9ACB5E6-3FA5-400B-A678-F07D14070FE7}"/>
              </a:ext>
            </a:extLst>
          </p:cNvPr>
          <p:cNvSpPr>
            <a:spLocks noGrp="1"/>
          </p:cNvSpPr>
          <p:nvPr/>
        </p:nvSpPr>
        <p:spPr>
          <a:xfrm>
            <a:off x="10287000" y="6486525"/>
            <a:ext cx="1238250" cy="209550"/>
          </a:xfrm>
          <a:prstGeom prst="rect">
            <a:avLst/>
          </a:prstGeom>
          <a:noFill/>
          <a:ln w="0">
            <a:noFill/>
            <a:prstDash val="solid"/>
          </a:ln>
        </p:spPr>
        <p:txBody>
          <a:bodyPr lIns="0" tIns="0" rIns="0" bIns="0" anchor="t">
            <a:normAutofit/>
          </a:bodyPr>
          <a:lstStyle/>
          <a:p>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imitation  3</a:t>
            </a:r>
          </a:p>
        </p:txBody>
      </p:sp>
    </p:spTree>
    <p:extLst>
      <p:ext uri="{BB962C8B-B14F-4D97-AF65-F5344CB8AC3E}">
        <p14:creationId xmlns:p14="http://schemas.microsoft.com/office/powerpoint/2010/main" val="1250237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49565148-4EF2-40B4-820D-2643A4AE4EB5}"/>
              </a:ext>
            </a:extLst>
          </p:cNvPr>
          <p:cNvSpPr>
            <a:spLocks noGrp="1"/>
          </p:cNvSpPr>
          <p:nvPr/>
        </p:nvSpPr>
        <p:spPr>
          <a:xfrm>
            <a:off x="666750" y="419100"/>
            <a:ext cx="10858500" cy="628650"/>
          </a:xfrm>
          <a:prstGeom prst="rect">
            <a:avLst/>
          </a:prstGeom>
          <a:noFill/>
          <a:ln w="0">
            <a:noFill/>
            <a:prstDash val="solid"/>
          </a:ln>
        </p:spPr>
        <p:txBody>
          <a:bodyPr lIns="0" tIns="0" rIns="0" bIns="0" anchor="t">
            <a:norm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How the policy learns</a:t>
            </a:r>
          </a:p>
        </p:txBody>
      </p:sp>
      <p:sp>
        <p:nvSpPr>
          <p:cNvPr id="2" name="Rectangle 1">
            <a:extLst>
              <a:ext uri="{FF2B5EF4-FFF2-40B4-BE49-F238E27FC236}">
                <a16:creationId xmlns:a16="http://schemas.microsoft.com/office/drawing/2014/main" id="{94051B74-1FDA-4046-A9BD-2211F439B67B}"/>
              </a:ext>
            </a:extLst>
          </p:cNvPr>
          <p:cNvSpPr>
            <a:spLocks noGrp="1"/>
          </p:cNvSpPr>
          <p:nvPr/>
        </p:nvSpPr>
        <p:spPr>
          <a:xfrm>
            <a:off x="952500" y="14287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1</a:t>
            </a:r>
          </a:p>
        </p:txBody>
      </p:sp>
      <p:sp>
        <p:nvSpPr>
          <p:cNvPr id="3" name="training-step-1">
            <a:extLst>
              <a:ext uri="{FF2B5EF4-FFF2-40B4-BE49-F238E27FC236}">
                <a16:creationId xmlns:a16="http://schemas.microsoft.com/office/drawing/2014/main" id="{931ED5D0-6C8E-498A-811E-6C6C55CE2F9A}"/>
              </a:ext>
            </a:extLst>
          </p:cNvPr>
          <p:cNvSpPr>
            <a:spLocks noGrp="1"/>
          </p:cNvSpPr>
          <p:nvPr/>
        </p:nvSpPr>
        <p:spPr>
          <a:xfrm>
            <a:off x="1809750" y="1457325"/>
            <a:ext cx="9334500" cy="523875"/>
          </a:xfrm>
          <a:prstGeom prst="rect">
            <a:avLst/>
          </a:prstGeom>
          <a:noFill/>
          <a:ln w="0">
            <a:noFill/>
            <a:prstDash val="solid"/>
          </a:ln>
        </p:spPr>
        <p:txBody>
          <a:bodyPr lIns="0" tIns="0" rIns="0" bIns="0" anchor="t">
            <a:noAutofit/>
          </a:bodyPr>
          <a:lstStyle/>
          <a:p>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Read the real robot’s five arm positions and their timestamps.</a:t>
            </a:r>
          </a:p>
        </p:txBody>
      </p:sp>
      <p:sp>
        <p:nvSpPr>
          <p:cNvPr id="4" name="Rectangle 3">
            <a:extLst>
              <a:ext uri="{FF2B5EF4-FFF2-40B4-BE49-F238E27FC236}">
                <a16:creationId xmlns:a16="http://schemas.microsoft.com/office/drawing/2014/main" id="{5C3D9081-30A7-4527-B690-6069EF4EE283}"/>
              </a:ext>
            </a:extLst>
          </p:cNvPr>
          <p:cNvSpPr>
            <a:spLocks noGrp="1"/>
          </p:cNvSpPr>
          <p:nvPr/>
        </p:nvSpPr>
        <p:spPr>
          <a:xfrm>
            <a:off x="952500" y="23812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2</a:t>
            </a:r>
          </a:p>
        </p:txBody>
      </p:sp>
      <p:sp>
        <p:nvSpPr>
          <p:cNvPr id="5" name="training-step-2">
            <a:extLst>
              <a:ext uri="{FF2B5EF4-FFF2-40B4-BE49-F238E27FC236}">
                <a16:creationId xmlns:a16="http://schemas.microsoft.com/office/drawing/2014/main" id="{883B8CFB-A20D-48D0-8756-B7B45880EE3F}"/>
              </a:ext>
            </a:extLst>
          </p:cNvPr>
          <p:cNvSpPr>
            <a:spLocks noGrp="1"/>
          </p:cNvSpPr>
          <p:nvPr/>
        </p:nvSpPr>
        <p:spPr>
          <a:xfrm>
            <a:off x="1809750" y="2409825"/>
            <a:ext cx="9334500" cy="523875"/>
          </a:xfrm>
          <a:prstGeom prst="rect">
            <a:avLst/>
          </a:prstGeom>
          <a:noFill/>
          <a:ln w="0">
            <a:noFill/>
            <a:prstDash val="solid"/>
          </a:ln>
        </p:spPr>
        <p:txBody>
          <a:bodyPr lIns="0" tIns="0" rIns="0" bIns="0" anchor="t">
            <a:noAutofit/>
          </a:bodyPr>
          <a:lstStyle/>
          <a:p>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Give the model examples of the position at each time.</a:t>
            </a:r>
          </a:p>
        </p:txBody>
      </p:sp>
      <p:sp>
        <p:nvSpPr>
          <p:cNvPr id="6" name="Rectangle 5">
            <a:extLst>
              <a:ext uri="{FF2B5EF4-FFF2-40B4-BE49-F238E27FC236}">
                <a16:creationId xmlns:a16="http://schemas.microsoft.com/office/drawing/2014/main" id="{1274C684-0237-48F4-BE67-1048B64327F5}"/>
              </a:ext>
            </a:extLst>
          </p:cNvPr>
          <p:cNvSpPr>
            <a:spLocks noGrp="1"/>
          </p:cNvSpPr>
          <p:nvPr/>
        </p:nvSpPr>
        <p:spPr>
          <a:xfrm>
            <a:off x="952500" y="33337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3</a:t>
            </a:r>
          </a:p>
        </p:txBody>
      </p:sp>
      <p:sp>
        <p:nvSpPr>
          <p:cNvPr id="7" name="training-step-3">
            <a:extLst>
              <a:ext uri="{FF2B5EF4-FFF2-40B4-BE49-F238E27FC236}">
                <a16:creationId xmlns:a16="http://schemas.microsoft.com/office/drawing/2014/main" id="{3615F39E-43A1-4D78-B1CA-B14942EC498B}"/>
              </a:ext>
            </a:extLst>
          </p:cNvPr>
          <p:cNvSpPr>
            <a:spLocks noGrp="1"/>
          </p:cNvSpPr>
          <p:nvPr/>
        </p:nvSpPr>
        <p:spPr>
          <a:xfrm>
            <a:off x="1809750" y="3362325"/>
            <a:ext cx="9334500" cy="523875"/>
          </a:xfrm>
          <a:prstGeom prst="rect">
            <a:avLst/>
          </a:prstGeom>
          <a:noFill/>
          <a:ln w="0">
            <a:noFill/>
            <a:prstDash val="solid"/>
          </a:ln>
        </p:spPr>
        <p:txBody>
          <a:bodyPr lIns="0" tIns="0" rIns="0" bIns="0" anchor="t">
            <a:noAutofit/>
          </a:bodyPr>
          <a:lstStyle/>
          <a:p>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Adjust its learned values to reduce the position error.</a:t>
            </a:r>
          </a:p>
        </p:txBody>
      </p:sp>
      <p:sp>
        <p:nvSpPr>
          <p:cNvPr id="8" name="Rectangle 7">
            <a:extLst>
              <a:ext uri="{FF2B5EF4-FFF2-40B4-BE49-F238E27FC236}">
                <a16:creationId xmlns:a16="http://schemas.microsoft.com/office/drawing/2014/main" id="{DC2AC943-BB28-4F10-B649-20DE4563811D}"/>
              </a:ext>
            </a:extLst>
          </p:cNvPr>
          <p:cNvSpPr>
            <a:spLocks noGrp="1"/>
          </p:cNvSpPr>
          <p:nvPr/>
        </p:nvSpPr>
        <p:spPr>
          <a:xfrm>
            <a:off x="952500" y="42862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4</a:t>
            </a:r>
          </a:p>
        </p:txBody>
      </p:sp>
      <p:sp>
        <p:nvSpPr>
          <p:cNvPr id="9" name="training-step-4">
            <a:extLst>
              <a:ext uri="{FF2B5EF4-FFF2-40B4-BE49-F238E27FC236}">
                <a16:creationId xmlns:a16="http://schemas.microsoft.com/office/drawing/2014/main" id="{4D711129-EDA4-4206-AD87-30D6A2B6800B}"/>
              </a:ext>
            </a:extLst>
          </p:cNvPr>
          <p:cNvSpPr>
            <a:spLocks noGrp="1"/>
          </p:cNvSpPr>
          <p:nvPr/>
        </p:nvSpPr>
        <p:spPr>
          <a:xfrm>
            <a:off x="1809750" y="4314825"/>
            <a:ext cx="9334500" cy="523875"/>
          </a:xfrm>
          <a:prstGeom prst="rect">
            <a:avLst/>
          </a:prstGeom>
          <a:noFill/>
          <a:ln w="0">
            <a:noFill/>
            <a:prstDash val="solid"/>
          </a:ln>
        </p:spPr>
        <p:txBody>
          <a:bodyPr lIns="0" tIns="0" rIns="0" bIns="0" anchor="t">
            <a:noAutofit/>
          </a:bodyPr>
          <a:lstStyle/>
          <a:p>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Check missing portions, then train the final model on the full recording.</a:t>
            </a:r>
          </a:p>
        </p:txBody>
      </p:sp>
      <p:sp>
        <p:nvSpPr>
          <p:cNvPr id="10" name="Rectangle 9">
            <a:extLst>
              <a:ext uri="{FF2B5EF4-FFF2-40B4-BE49-F238E27FC236}">
                <a16:creationId xmlns:a16="http://schemas.microsoft.com/office/drawing/2014/main" id="{5FFEA5B4-5337-4794-83F4-EB07021C5BC0}"/>
              </a:ext>
            </a:extLst>
          </p:cNvPr>
          <p:cNvSpPr>
            <a:spLocks noGrp="1"/>
          </p:cNvSpPr>
          <p:nvPr/>
        </p:nvSpPr>
        <p:spPr>
          <a:xfrm>
            <a:off x="952500" y="5381625"/>
            <a:ext cx="10287000" cy="704850"/>
          </a:xfrm>
          <a:prstGeom prst="rect">
            <a:avLst/>
          </a:prstGeom>
          <a:noFill/>
          <a:ln w="0">
            <a:noFill/>
            <a:prstDash val="solid"/>
          </a:ln>
        </p:spPr>
        <p:txBody>
          <a:bodyPr lIns="0" tIns="0" rIns="0" bIns="0" anchor="t">
            <a:normAutofit/>
          </a:bodyPr>
          <a:lstStyle/>
          <a:p>
            <a:pPr algn="ctr">
              <a:buNone/>
              <a:defRPr sz="2025" b="1" i="0">
                <a:solidFill>
                  <a:srgbClr val="17365D"/>
                </a:solidFill>
                <a:latin typeface="Times New Roman"/>
                <a:ea typeface="Times New Roman"/>
                <a:cs typeface="Times New Roman"/>
              </a:defRPr>
            </a:pPr>
            <a:r>
              <a:rPr sz="2025" b="1" i="0">
                <a:solidFill>
                  <a:srgbClr val="17365D"/>
                </a:solidFill>
                <a:latin typeface="Times New Roman"/>
                <a:ea typeface="Times New Roman"/>
                <a:cs typeface="Times New Roman"/>
              </a:rPr>
              <a:t>Training changes the policy. Data conversion alone does not.</a:t>
            </a:r>
          </a:p>
        </p:txBody>
      </p:sp>
      <p:sp>
        <p:nvSpPr>
          <p:cNvPr id="11" name="footer">
            <a:extLst>
              <a:ext uri="{FF2B5EF4-FFF2-40B4-BE49-F238E27FC236}">
                <a16:creationId xmlns:a16="http://schemas.microsoft.com/office/drawing/2014/main" id="{03D0C70F-75E1-4FC8-9B85-23EC88BD6139}"/>
              </a:ext>
            </a:extLst>
          </p:cNvPr>
          <p:cNvSpPr>
            <a:spLocks noGrp="1"/>
          </p:cNvSpPr>
          <p:nvPr/>
        </p:nvSpPr>
        <p:spPr>
          <a:xfrm>
            <a:off x="10287000" y="6486525"/>
            <a:ext cx="1238250" cy="209550"/>
          </a:xfrm>
          <a:prstGeom prst="rect">
            <a:avLst/>
          </a:prstGeom>
          <a:noFill/>
          <a:ln w="0">
            <a:noFill/>
            <a:prstDash val="solid"/>
          </a:ln>
        </p:spPr>
        <p:txBody>
          <a:bodyPr lIns="0" tIns="0" rIns="0" bIns="0" anchor="t">
            <a:normAutofit/>
          </a:bodyPr>
          <a:lstStyle/>
          <a:p>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imitation  4</a:t>
            </a:r>
          </a:p>
        </p:txBody>
      </p:sp>
    </p:spTree>
    <p:extLst>
      <p:ext uri="{BB962C8B-B14F-4D97-AF65-F5344CB8AC3E}">
        <p14:creationId xmlns:p14="http://schemas.microsoft.com/office/powerpoint/2010/main" val="39570284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D08DBE3F-C285-4A18-AE6A-58FCB2521ED2}"/>
              </a:ext>
            </a:extLst>
          </p:cNvPr>
          <p:cNvSpPr>
            <a:spLocks noGrp="1"/>
          </p:cNvSpPr>
          <p:nvPr/>
        </p:nvSpPr>
        <p:spPr>
          <a:xfrm>
            <a:off x="666750" y="419100"/>
            <a:ext cx="10858500" cy="628650"/>
          </a:xfrm>
          <a:prstGeom prst="rect">
            <a:avLst/>
          </a:prstGeom>
          <a:noFill/>
          <a:ln w="0">
            <a:noFill/>
            <a:prstDash val="solid"/>
          </a:ln>
        </p:spPr>
        <p:txBody>
          <a:bodyPr lIns="0" tIns="0" rIns="0" bIns="0" anchor="t">
            <a:norm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The real recording used for training</a:t>
            </a:r>
          </a:p>
        </p:txBody>
      </p:sp>
      <p:pic>
        <p:nvPicPr>
          <p:cNvPr id="12" name="original_r1_camera.mp4" descr="original_r1_camera.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649034" y="1286875"/>
            <a:ext cx="6702932" cy="5027199"/>
          </a:xfrm>
          <a:prstGeom prst="rect">
            <a:avLst/>
          </a:prstGeom>
          <a:ln w="12700">
            <a:miter/>
          </a:ln>
        </p:spPr>
      </p:pic>
      <p:sp>
        <p:nvSpPr>
          <p:cNvPr id="3" name="success-rate">
            <a:extLst>
              <a:ext uri="{FF2B5EF4-FFF2-40B4-BE49-F238E27FC236}">
                <a16:creationId xmlns:a16="http://schemas.microsoft.com/office/drawing/2014/main" id="{4C8D3EE0-5160-4CB4-8CF6-B4FACD63B8E8}"/>
              </a:ext>
            </a:extLst>
          </p:cNvPr>
          <p:cNvSpPr>
            <a:spLocks noGrp="1"/>
          </p:cNvSpPr>
          <p:nvPr/>
        </p:nvSpPr>
        <p:spPr>
          <a:xfrm>
            <a:off x="8048625" y="1571625"/>
            <a:ext cx="2857500" cy="781050"/>
          </a:xfrm>
          <a:prstGeom prst="rect">
            <a:avLst/>
          </a:prstGeom>
          <a:noFill/>
          <a:ln w="0">
            <a:noFill/>
            <a:prstDash val="solid"/>
          </a:ln>
        </p:spPr>
        <p:txBody>
          <a:bodyPr lIns="0" tIns="0" rIns="0" bIns="0" anchor="t">
            <a:normAutofit/>
          </a:bodyPr>
          <a:lstStyle/>
          <a:p>
            <a:pPr algn="ctr">
              <a:buNone/>
              <a:defRPr sz="4650" b="1" i="0">
                <a:solidFill>
                  <a:srgbClr val="2F5597"/>
                </a:solidFill>
                <a:latin typeface="Times New Roman"/>
                <a:ea typeface="Times New Roman"/>
                <a:cs typeface="Times New Roman"/>
              </a:defRPr>
            </a:pPr>
            <a:r>
              <a:rPr sz="4650" b="1" i="0">
                <a:solidFill>
                  <a:srgbClr val="2F5597"/>
                </a:solidFill>
                <a:latin typeface="Times New Roman"/>
                <a:ea typeface="Times New Roman"/>
                <a:cs typeface="Times New Roman"/>
              </a:rPr>
              <a:t>2,689</a:t>
            </a:r>
          </a:p>
        </p:txBody>
      </p:sp>
      <p:sp>
        <p:nvSpPr>
          <p:cNvPr id="4" name="Rectangle 3">
            <a:extLst>
              <a:ext uri="{FF2B5EF4-FFF2-40B4-BE49-F238E27FC236}">
                <a16:creationId xmlns:a16="http://schemas.microsoft.com/office/drawing/2014/main" id="{20BA8491-3C40-43FA-90E6-D29DEB69A5D9}"/>
              </a:ext>
            </a:extLst>
          </p:cNvPr>
          <p:cNvSpPr>
            <a:spLocks noGrp="1"/>
          </p:cNvSpPr>
          <p:nvPr/>
        </p:nvSpPr>
        <p:spPr>
          <a:xfrm>
            <a:off x="8048625" y="2381250"/>
            <a:ext cx="2857500" cy="361950"/>
          </a:xfrm>
          <a:prstGeom prst="rect">
            <a:avLst/>
          </a:prstGeom>
          <a:noFill/>
          <a:ln w="0">
            <a:noFill/>
            <a:prstDash val="solid"/>
          </a:ln>
        </p:spPr>
        <p:txBody>
          <a:bodyPr lIns="0" tIns="0" rIns="0" bIns="0" anchor="t">
            <a:normAutofit/>
          </a:bodyPr>
          <a:lstStyle/>
          <a:p>
            <a:pPr algn="ctr">
              <a:buNone/>
              <a:defRPr sz="2100" b="0" i="0">
                <a:solidFill>
                  <a:srgbClr val="161616"/>
                </a:solidFill>
                <a:latin typeface="Times New Roman"/>
                <a:ea typeface="Times New Roman"/>
                <a:cs typeface="Times New Roman"/>
              </a:defRPr>
            </a:pPr>
            <a:r>
              <a:rPr sz="2100" b="0" i="0">
                <a:solidFill>
                  <a:srgbClr val="161616"/>
                </a:solidFill>
                <a:latin typeface="Times New Roman"/>
                <a:ea typeface="Times New Roman"/>
                <a:cs typeface="Times New Roman"/>
              </a:rPr>
              <a:t>recorded samples</a:t>
            </a:r>
          </a:p>
        </p:txBody>
      </p:sp>
      <p:sp>
        <p:nvSpPr>
          <p:cNvPr id="5" name="hold-error">
            <a:extLst>
              <a:ext uri="{FF2B5EF4-FFF2-40B4-BE49-F238E27FC236}">
                <a16:creationId xmlns:a16="http://schemas.microsoft.com/office/drawing/2014/main" id="{E451175D-8F75-4D1C-A421-24069EB1C5C8}"/>
              </a:ext>
            </a:extLst>
          </p:cNvPr>
          <p:cNvSpPr>
            <a:spLocks noGrp="1"/>
          </p:cNvSpPr>
          <p:nvPr/>
        </p:nvSpPr>
        <p:spPr>
          <a:xfrm>
            <a:off x="8048625" y="3286125"/>
            <a:ext cx="2857500" cy="619125"/>
          </a:xfrm>
          <a:prstGeom prst="rect">
            <a:avLst/>
          </a:prstGeom>
          <a:noFill/>
          <a:ln w="0">
            <a:noFill/>
            <a:prstDash val="solid"/>
          </a:ln>
        </p:spPr>
        <p:txBody>
          <a:bodyPr lIns="0" tIns="0" rIns="0" bIns="0" anchor="t">
            <a:normAutofit/>
          </a:bodyPr>
          <a:lstStyle/>
          <a:p>
            <a:pPr algn="ctr">
              <a:buNone/>
              <a:defRPr sz="3450" b="1" i="0">
                <a:solidFill>
                  <a:srgbClr val="17365D"/>
                </a:solidFill>
                <a:latin typeface="Times New Roman"/>
                <a:ea typeface="Times New Roman"/>
                <a:cs typeface="Times New Roman"/>
              </a:defRPr>
            </a:pPr>
            <a:r>
              <a:rPr sz="3450" b="1" i="0">
                <a:solidFill>
                  <a:srgbClr val="17365D"/>
                </a:solidFill>
                <a:latin typeface="Times New Roman"/>
                <a:ea typeface="Times New Roman"/>
                <a:cs typeface="Times New Roman"/>
              </a:rPr>
              <a:t>10 Hz</a:t>
            </a:r>
          </a:p>
        </p:txBody>
      </p:sp>
      <p:sp>
        <p:nvSpPr>
          <p:cNvPr id="6" name="Rectangle 5">
            <a:extLst>
              <a:ext uri="{FF2B5EF4-FFF2-40B4-BE49-F238E27FC236}">
                <a16:creationId xmlns:a16="http://schemas.microsoft.com/office/drawing/2014/main" id="{95C6CA2B-08ED-4B9D-AEC8-09C753BDC2C8}"/>
              </a:ext>
            </a:extLst>
          </p:cNvPr>
          <p:cNvSpPr>
            <a:spLocks noGrp="1"/>
          </p:cNvSpPr>
          <p:nvPr/>
        </p:nvSpPr>
        <p:spPr>
          <a:xfrm>
            <a:off x="7858125" y="4000500"/>
            <a:ext cx="3238500" cy="666750"/>
          </a:xfrm>
          <a:prstGeom prst="rect">
            <a:avLst/>
          </a:prstGeom>
          <a:noFill/>
          <a:ln w="0">
            <a:noFill/>
            <a:prstDash val="solid"/>
          </a:ln>
        </p:spPr>
        <p:txBody>
          <a:bodyPr lIns="0" tIns="0" rIns="0" bIns="0" anchor="t">
            <a:normAutofit/>
          </a:bodyPr>
          <a:lstStyle/>
          <a:p>
            <a:pPr algn="ctr">
              <a:buNone/>
              <a:defRPr sz="1875" b="0" i="0">
                <a:solidFill>
                  <a:srgbClr val="161616"/>
                </a:solidFill>
                <a:latin typeface="Times New Roman"/>
                <a:ea typeface="Times New Roman"/>
                <a:cs typeface="Times New Roman"/>
              </a:defRPr>
            </a:pPr>
            <a:r>
              <a:rPr sz="1875" b="0" i="0">
                <a:solidFill>
                  <a:srgbClr val="161616"/>
                </a:solidFill>
                <a:latin typeface="Times New Roman"/>
                <a:ea typeface="Times New Roman"/>
                <a:cs typeface="Times New Roman"/>
              </a:rPr>
              <a:t>10 samples each second</a:t>
            </a:r>
          </a:p>
        </p:txBody>
      </p:sp>
      <p:sp>
        <p:nvSpPr>
          <p:cNvPr id="7" name="Rectangle 6">
            <a:extLst>
              <a:ext uri="{FF2B5EF4-FFF2-40B4-BE49-F238E27FC236}">
                <a16:creationId xmlns:a16="http://schemas.microsoft.com/office/drawing/2014/main" id="{4E4CF754-F417-4050-8EB8-18A58CAD8535}"/>
              </a:ext>
            </a:extLst>
          </p:cNvPr>
          <p:cNvSpPr>
            <a:spLocks noGrp="1"/>
          </p:cNvSpPr>
          <p:nvPr/>
        </p:nvSpPr>
        <p:spPr>
          <a:xfrm>
            <a:off x="7858125" y="5095875"/>
            <a:ext cx="3238500" cy="666750"/>
          </a:xfrm>
          <a:prstGeom prst="rect">
            <a:avLst/>
          </a:prstGeom>
          <a:noFill/>
          <a:ln w="0">
            <a:noFill/>
            <a:prstDash val="solid"/>
          </a:ln>
        </p:spPr>
        <p:txBody>
          <a:bodyPr lIns="0" tIns="0" rIns="0" bIns="0" anchor="t">
            <a:normAutofit/>
          </a:bodyPr>
          <a:lstStyle/>
          <a:p>
            <a:pPr algn="ctr">
              <a:buNone/>
              <a:defRPr sz="1800" b="1" i="0">
                <a:solidFill>
                  <a:srgbClr val="17365D"/>
                </a:solidFill>
                <a:latin typeface="Times New Roman"/>
                <a:ea typeface="Times New Roman"/>
                <a:cs typeface="Times New Roman"/>
              </a:defRPr>
            </a:pPr>
            <a:r>
              <a:rPr sz="1800" b="1" i="0">
                <a:solidFill>
                  <a:srgbClr val="17365D"/>
                </a:solidFill>
                <a:latin typeface="Times New Roman"/>
                <a:ea typeface="Times New Roman"/>
                <a:cs typeface="Times New Roman"/>
              </a:rPr>
              <a:t>Original robot camera video</a:t>
            </a:r>
          </a:p>
          <a:p>
            <a:pPr algn="ctr">
              <a:buNone/>
              <a:defRPr sz="1800" b="1" i="0">
                <a:solidFill>
                  <a:srgbClr val="17365D"/>
                </a:solidFill>
                <a:latin typeface="Times New Roman"/>
                <a:ea typeface="Times New Roman"/>
                <a:cs typeface="Times New Roman"/>
              </a:defRPr>
            </a:pPr>
            <a:r>
              <a:rPr sz="1800" b="1" i="0">
                <a:solidFill>
                  <a:srgbClr val="17365D"/>
                </a:solidFill>
                <a:latin typeface="Times New Roman"/>
                <a:ea typeface="Times New Roman"/>
                <a:cs typeface="Times New Roman"/>
              </a:rPr>
              <a:t>Plays in Slide Show mode</a:t>
            </a:r>
          </a:p>
        </p:txBody>
      </p:sp>
      <p:sp>
        <p:nvSpPr>
          <p:cNvPr id="8" name="footer">
            <a:extLst>
              <a:ext uri="{FF2B5EF4-FFF2-40B4-BE49-F238E27FC236}">
                <a16:creationId xmlns:a16="http://schemas.microsoft.com/office/drawing/2014/main" id="{B11A8BE7-0AB7-427E-B894-00E949701934}"/>
              </a:ext>
            </a:extLst>
          </p:cNvPr>
          <p:cNvSpPr>
            <a:spLocks noGrp="1"/>
          </p:cNvSpPr>
          <p:nvPr/>
        </p:nvSpPr>
        <p:spPr>
          <a:xfrm>
            <a:off x="10287000" y="6486525"/>
            <a:ext cx="1238250" cy="209550"/>
          </a:xfrm>
          <a:prstGeom prst="rect">
            <a:avLst/>
          </a:prstGeom>
          <a:noFill/>
          <a:ln w="0">
            <a:noFill/>
            <a:prstDash val="solid"/>
          </a:ln>
        </p:spPr>
        <p:txBody>
          <a:bodyPr lIns="0" tIns="0" rIns="0" bIns="0" anchor="t">
            <a:normAutofit/>
          </a:bodyPr>
          <a:lstStyle/>
          <a:p>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imitation  5</a:t>
            </a:r>
          </a:p>
        </p:txBody>
      </p:sp>
    </p:spTree>
    <p:extLst>
      <p:ext uri="{BB962C8B-B14F-4D97-AF65-F5344CB8AC3E}">
        <p14:creationId xmlns:p14="http://schemas.microsoft.com/office/powerpoint/2010/main" val="1158511663"/>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0"/>
                  </p:stCondLst>
                </p:cTn>
                <p:tgtEl>
                  <p:spTgt spid="12"/>
                </p:tgtEl>
              </p:cMediaNode>
            </p:video>
            <p:seq concurrent="1" prevAc="none"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49565148-4EF2-40B4-820D-2643A4AE4EB5}"/>
              </a:ext>
            </a:extLst>
          </p:cNvPr>
          <p:cNvSpPr>
            <a:spLocks noGrp="1"/>
          </p:cNvSpPr>
          <p:nvPr/>
        </p:nvSpPr>
        <p:spPr>
          <a:xfrm>
            <a:off x="666750" y="419100"/>
            <a:ext cx="10858500" cy="628650"/>
          </a:xfrm>
          <a:prstGeom prst="rect">
            <a:avLst/>
          </a:prstGeom>
          <a:noFill/>
          <a:ln w="0">
            <a:noFill/>
            <a:prstDash val="solid"/>
          </a:ln>
        </p:spPr>
        <p:txBody>
          <a:bodyPr lIns="0" tIns="0" rIns="0" bIns="0" anchor="t">
            <a:norm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How the learned movement runs</a:t>
            </a:r>
          </a:p>
        </p:txBody>
      </p:sp>
      <p:sp>
        <p:nvSpPr>
          <p:cNvPr id="2" name="Rectangle 1">
            <a:extLst>
              <a:ext uri="{FF2B5EF4-FFF2-40B4-BE49-F238E27FC236}">
                <a16:creationId xmlns:a16="http://schemas.microsoft.com/office/drawing/2014/main" id="{94051B74-1FDA-4046-A9BD-2211F439B67B}"/>
              </a:ext>
            </a:extLst>
          </p:cNvPr>
          <p:cNvSpPr>
            <a:spLocks noGrp="1"/>
          </p:cNvSpPr>
          <p:nvPr/>
        </p:nvSpPr>
        <p:spPr>
          <a:xfrm>
            <a:off x="952500" y="14287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1</a:t>
            </a:r>
          </a:p>
        </p:txBody>
      </p:sp>
      <p:sp>
        <p:nvSpPr>
          <p:cNvPr id="3" name="training-step-1">
            <a:extLst>
              <a:ext uri="{FF2B5EF4-FFF2-40B4-BE49-F238E27FC236}">
                <a16:creationId xmlns:a16="http://schemas.microsoft.com/office/drawing/2014/main" id="{931ED5D0-6C8E-498A-811E-6C6C55CE2F9A}"/>
              </a:ext>
            </a:extLst>
          </p:cNvPr>
          <p:cNvSpPr>
            <a:spLocks noGrp="1"/>
          </p:cNvSpPr>
          <p:nvPr/>
        </p:nvSpPr>
        <p:spPr>
          <a:xfrm>
            <a:off x="1809750" y="1457325"/>
            <a:ext cx="9334500" cy="523875"/>
          </a:xfrm>
          <a:prstGeom prst="rect">
            <a:avLst/>
          </a:prstGeom>
          <a:noFill/>
          <a:ln w="0">
            <a:noFill/>
            <a:prstDash val="solid"/>
          </a:ln>
        </p:spPr>
        <p:txBody>
          <a:bodyPr lIns="0" tIns="0" rIns="0" bIns="0" anchor="t">
            <a:noAutofit/>
          </a:bodyPr>
          <a:lstStyle/>
          <a:p>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A clock tells us how far we are through the recorded routine.</a:t>
            </a:r>
          </a:p>
        </p:txBody>
      </p:sp>
      <p:sp>
        <p:nvSpPr>
          <p:cNvPr id="4" name="Rectangle 3">
            <a:extLst>
              <a:ext uri="{FF2B5EF4-FFF2-40B4-BE49-F238E27FC236}">
                <a16:creationId xmlns:a16="http://schemas.microsoft.com/office/drawing/2014/main" id="{5C3D9081-30A7-4527-B690-6069EF4EE283}"/>
              </a:ext>
            </a:extLst>
          </p:cNvPr>
          <p:cNvSpPr>
            <a:spLocks noGrp="1"/>
          </p:cNvSpPr>
          <p:nvPr/>
        </p:nvSpPr>
        <p:spPr>
          <a:xfrm>
            <a:off x="952500" y="23812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2</a:t>
            </a:r>
          </a:p>
        </p:txBody>
      </p:sp>
      <p:sp>
        <p:nvSpPr>
          <p:cNvPr id="5" name="training-step-2">
            <a:extLst>
              <a:ext uri="{FF2B5EF4-FFF2-40B4-BE49-F238E27FC236}">
                <a16:creationId xmlns:a16="http://schemas.microsoft.com/office/drawing/2014/main" id="{883B8CFB-A20D-48D0-8756-B7B45880EE3F}"/>
              </a:ext>
            </a:extLst>
          </p:cNvPr>
          <p:cNvSpPr>
            <a:spLocks noGrp="1"/>
          </p:cNvSpPr>
          <p:nvPr/>
        </p:nvSpPr>
        <p:spPr>
          <a:xfrm>
            <a:off x="1809750" y="2409825"/>
            <a:ext cx="9334500" cy="523875"/>
          </a:xfrm>
          <a:prstGeom prst="rect">
            <a:avLst/>
          </a:prstGeom>
          <a:noFill/>
          <a:ln w="0">
            <a:noFill/>
            <a:prstDash val="solid"/>
          </a:ln>
        </p:spPr>
        <p:txBody>
          <a:bodyPr lIns="0" tIns="0" rIns="0" bIns="0" anchor="t">
            <a:noAutofit/>
          </a:bodyPr>
          <a:lstStyle/>
          <a:p>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The adapter converts that time into the policy’s input.</a:t>
            </a:r>
          </a:p>
        </p:txBody>
      </p:sp>
      <p:sp>
        <p:nvSpPr>
          <p:cNvPr id="6" name="Rectangle 5">
            <a:extLst>
              <a:ext uri="{FF2B5EF4-FFF2-40B4-BE49-F238E27FC236}">
                <a16:creationId xmlns:a16="http://schemas.microsoft.com/office/drawing/2014/main" id="{1274C684-0237-48F4-BE67-1048B64327F5}"/>
              </a:ext>
            </a:extLst>
          </p:cNvPr>
          <p:cNvSpPr>
            <a:spLocks noGrp="1"/>
          </p:cNvSpPr>
          <p:nvPr/>
        </p:nvSpPr>
        <p:spPr>
          <a:xfrm>
            <a:off x="952500" y="33337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3</a:t>
            </a:r>
          </a:p>
        </p:txBody>
      </p:sp>
      <p:sp>
        <p:nvSpPr>
          <p:cNvPr id="7" name="training-step-3">
            <a:extLst>
              <a:ext uri="{FF2B5EF4-FFF2-40B4-BE49-F238E27FC236}">
                <a16:creationId xmlns:a16="http://schemas.microsoft.com/office/drawing/2014/main" id="{3615F39E-43A1-4D78-B1CA-B14942EC498B}"/>
              </a:ext>
            </a:extLst>
          </p:cNvPr>
          <p:cNvSpPr>
            <a:spLocks noGrp="1"/>
          </p:cNvSpPr>
          <p:nvPr/>
        </p:nvSpPr>
        <p:spPr>
          <a:xfrm>
            <a:off x="1809750" y="3362325"/>
            <a:ext cx="9334500" cy="523875"/>
          </a:xfrm>
          <a:prstGeom prst="rect">
            <a:avLst/>
          </a:prstGeom>
          <a:noFill/>
          <a:ln w="0">
            <a:noFill/>
            <a:prstDash val="solid"/>
          </a:ln>
        </p:spPr>
        <p:txBody>
          <a:bodyPr lIns="0" tIns="0" rIns="0" bIns="0" anchor="t">
            <a:noAutofit/>
          </a:bodyPr>
          <a:lstStyle/>
          <a:p>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The trained policy outputs five target arm positions.</a:t>
            </a:r>
          </a:p>
        </p:txBody>
      </p:sp>
      <p:sp>
        <p:nvSpPr>
          <p:cNvPr id="8" name="Rectangle 7">
            <a:extLst>
              <a:ext uri="{FF2B5EF4-FFF2-40B4-BE49-F238E27FC236}">
                <a16:creationId xmlns:a16="http://schemas.microsoft.com/office/drawing/2014/main" id="{DC2AC943-BB28-4F10-B649-20DE4563811D}"/>
              </a:ext>
            </a:extLst>
          </p:cNvPr>
          <p:cNvSpPr>
            <a:spLocks noGrp="1"/>
          </p:cNvSpPr>
          <p:nvPr/>
        </p:nvSpPr>
        <p:spPr>
          <a:xfrm>
            <a:off x="952500" y="42862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4</a:t>
            </a:r>
          </a:p>
        </p:txBody>
      </p:sp>
      <p:sp>
        <p:nvSpPr>
          <p:cNvPr id="9" name="training-step-4">
            <a:extLst>
              <a:ext uri="{FF2B5EF4-FFF2-40B4-BE49-F238E27FC236}">
                <a16:creationId xmlns:a16="http://schemas.microsoft.com/office/drawing/2014/main" id="{4D711129-EDA4-4206-AD87-30D6A2B6800B}"/>
              </a:ext>
            </a:extLst>
          </p:cNvPr>
          <p:cNvSpPr>
            <a:spLocks noGrp="1"/>
          </p:cNvSpPr>
          <p:nvPr/>
        </p:nvSpPr>
        <p:spPr>
          <a:xfrm>
            <a:off x="1809750" y="4314825"/>
            <a:ext cx="9334500" cy="523875"/>
          </a:xfrm>
          <a:prstGeom prst="rect">
            <a:avLst/>
          </a:prstGeom>
          <a:noFill/>
          <a:ln w="0">
            <a:noFill/>
            <a:prstDash val="solid"/>
          </a:ln>
        </p:spPr>
        <p:txBody>
          <a:bodyPr lIns="0" tIns="0" rIns="0" bIns="0" anchor="t">
            <a:noAutofit/>
          </a:bodyPr>
          <a:lstStyle/>
          <a:p>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The model displays those positions beside the recorded movement.</a:t>
            </a:r>
          </a:p>
        </p:txBody>
      </p:sp>
      <p:sp>
        <p:nvSpPr>
          <p:cNvPr id="10" name="Rectangle 9">
            <a:extLst>
              <a:ext uri="{FF2B5EF4-FFF2-40B4-BE49-F238E27FC236}">
                <a16:creationId xmlns:a16="http://schemas.microsoft.com/office/drawing/2014/main" id="{5FFEA5B4-5337-4794-83F4-EB07021C5BC0}"/>
              </a:ext>
            </a:extLst>
          </p:cNvPr>
          <p:cNvSpPr>
            <a:spLocks noGrp="1"/>
          </p:cNvSpPr>
          <p:nvPr/>
        </p:nvSpPr>
        <p:spPr>
          <a:xfrm>
            <a:off x="952500" y="5381625"/>
            <a:ext cx="10287000" cy="704850"/>
          </a:xfrm>
          <a:prstGeom prst="rect">
            <a:avLst/>
          </a:prstGeom>
          <a:noFill/>
          <a:ln w="0">
            <a:noFill/>
            <a:prstDash val="solid"/>
          </a:ln>
        </p:spPr>
        <p:txBody>
          <a:bodyPr lIns="0" tIns="0" rIns="0" bIns="0" anchor="t">
            <a:normAutofit/>
          </a:bodyPr>
          <a:lstStyle/>
          <a:p>
            <a:pPr algn="ctr">
              <a:buNone/>
              <a:defRPr sz="2025" b="1" i="0">
                <a:solidFill>
                  <a:srgbClr val="17365D"/>
                </a:solidFill>
                <a:latin typeface="Times New Roman"/>
                <a:ea typeface="Times New Roman"/>
                <a:cs typeface="Times New Roman"/>
              </a:defRPr>
            </a:pPr>
            <a:r>
              <a:rPr sz="2025" b="1" i="0">
                <a:solidFill>
                  <a:srgbClr val="17365D"/>
                </a:solidFill>
                <a:latin typeface="Times New Roman"/>
                <a:ea typeface="Times New Roman"/>
                <a:cs typeface="Times New Roman"/>
              </a:rPr>
              <a:t>This version follows time. It does not yet react to live robot feedback.</a:t>
            </a:r>
          </a:p>
        </p:txBody>
      </p:sp>
      <p:sp>
        <p:nvSpPr>
          <p:cNvPr id="11" name="footer">
            <a:extLst>
              <a:ext uri="{FF2B5EF4-FFF2-40B4-BE49-F238E27FC236}">
                <a16:creationId xmlns:a16="http://schemas.microsoft.com/office/drawing/2014/main" id="{03D0C70F-75E1-4FC8-9B85-23EC88BD6139}"/>
              </a:ext>
            </a:extLst>
          </p:cNvPr>
          <p:cNvSpPr>
            <a:spLocks noGrp="1"/>
          </p:cNvSpPr>
          <p:nvPr/>
        </p:nvSpPr>
        <p:spPr>
          <a:xfrm>
            <a:off x="10287000" y="6486525"/>
            <a:ext cx="1238250" cy="209550"/>
          </a:xfrm>
          <a:prstGeom prst="rect">
            <a:avLst/>
          </a:prstGeom>
          <a:noFill/>
          <a:ln w="0">
            <a:noFill/>
            <a:prstDash val="solid"/>
          </a:ln>
        </p:spPr>
        <p:txBody>
          <a:bodyPr lIns="0" tIns="0" rIns="0" bIns="0" anchor="t">
            <a:normAutofit/>
          </a:bodyPr>
          <a:lstStyle/>
          <a:p>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imitation  6</a:t>
            </a:r>
          </a:p>
        </p:txBody>
      </p:sp>
    </p:spTree>
    <p:extLst>
      <p:ext uri="{BB962C8B-B14F-4D97-AF65-F5344CB8AC3E}">
        <p14:creationId xmlns:p14="http://schemas.microsoft.com/office/powerpoint/2010/main" val="39570284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slide-title">
            <a:extLst>
              <a:ext uri="{FF2B5EF4-FFF2-40B4-BE49-F238E27FC236}">
                <a16:creationId xmlns:a16="http://schemas.microsoft.com/office/drawing/2014/main" id="{D08DBE3F-C285-4A18-AE6A-58FCB2521ED2}"/>
              </a:ext>
            </a:extLst>
          </p:cNvPr>
          <p:cNvSpPr>
            <a:spLocks noGrp="1"/>
          </p:cNvSpPr>
          <p:nvPr/>
        </p:nvSpPr>
        <p:spPr>
          <a:xfrm>
            <a:off x="666750" y="419100"/>
            <a:ext cx="10858500" cy="628650"/>
          </a:xfrm>
          <a:prstGeom prst="rect">
            <a:avLst/>
          </a:prstGeom>
          <a:noFill/>
          <a:ln w="0">
            <a:noFill/>
            <a:prstDash val="solid"/>
          </a:ln>
        </p:spPr>
        <p:txBody>
          <a:bodyPr lIns="0" tIns="0" rIns="0" bIns="0" anchor="t">
            <a:norm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Recorded movement and learned movement</a:t>
            </a:r>
          </a:p>
        </p:txBody>
      </p:sp>
      <p:pic>
        <p:nvPicPr>
          <p:cNvPr id="12" name="learned_routine.mp4" descr="learned_routine.mp4">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p:blipFill>
        <p:spPr>
          <a:xfrm>
            <a:off x="1047750" y="1238250"/>
            <a:ext cx="10096500" cy="5048250"/>
          </a:xfrm>
          <a:prstGeom prst="rect">
            <a:avLst/>
          </a:prstGeom>
          <a:ln w="12700">
            <a:miter/>
          </a:ln>
        </p:spPr>
      </p:pic>
      <p:sp>
        <p:nvSpPr>
          <p:cNvPr id="3" name="success-rate">
            <a:extLst>
              <a:ext uri="{FF2B5EF4-FFF2-40B4-BE49-F238E27FC236}">
                <a16:creationId xmlns:a16="http://schemas.microsoft.com/office/drawing/2014/main" id="{4C8D3EE0-5160-4CB4-8CF6-B4FACD63B8E8}"/>
              </a:ext>
            </a:extLst>
          </p:cNvPr>
          <p:cNvSpPr>
            <a:spLocks noGrp="1"/>
          </p:cNvSpPr>
          <p:nvPr/>
        </p:nvSpPr>
        <p:spPr>
          <a:xfrm>
            <a:off x="8048625" y="1571625"/>
            <a:ext cx="2857500" cy="781050"/>
          </a:xfrm>
          <a:prstGeom prst="rect">
            <a:avLst/>
          </a:prstGeom>
          <a:noFill/>
          <a:ln w="0">
            <a:noFill/>
            <a:prstDash val="solid"/>
          </a:ln>
        </p:spPr>
        <p:txBody>
          <a:bodyPr lIns="0" tIns="0" rIns="0" bIns="0" anchor="t">
            <a:normAutofit/>
          </a:bodyPr>
          <a:lstStyle/>
          <a:p>
            <a:pPr algn="ctr">
              <a:buNone/>
              <a:defRPr sz="4650" b="1" i="0">
                <a:solidFill>
                  <a:srgbClr val="2F5597"/>
                </a:solidFill>
                <a:latin typeface="Times New Roman"/>
                <a:ea typeface="Times New Roman"/>
                <a:cs typeface="Times New Roman"/>
              </a:defRPr>
            </a:pPr>
            <a:endParaRPr/>
          </a:p>
        </p:txBody>
      </p:sp>
      <p:sp>
        <p:nvSpPr>
          <p:cNvPr id="4" name="Rectangle 3">
            <a:extLst>
              <a:ext uri="{FF2B5EF4-FFF2-40B4-BE49-F238E27FC236}">
                <a16:creationId xmlns:a16="http://schemas.microsoft.com/office/drawing/2014/main" id="{20BA8491-3C40-43FA-90E6-D29DEB69A5D9}"/>
              </a:ext>
            </a:extLst>
          </p:cNvPr>
          <p:cNvSpPr>
            <a:spLocks noGrp="1"/>
          </p:cNvSpPr>
          <p:nvPr/>
        </p:nvSpPr>
        <p:spPr>
          <a:xfrm>
            <a:off x="8048625" y="2381250"/>
            <a:ext cx="2857500" cy="361950"/>
          </a:xfrm>
          <a:prstGeom prst="rect">
            <a:avLst/>
          </a:prstGeom>
          <a:noFill/>
          <a:ln w="0">
            <a:noFill/>
            <a:prstDash val="solid"/>
          </a:ln>
        </p:spPr>
        <p:txBody>
          <a:bodyPr lIns="0" tIns="0" rIns="0" bIns="0" anchor="t">
            <a:normAutofit/>
          </a:bodyPr>
          <a:lstStyle/>
          <a:p>
            <a:pPr algn="ctr">
              <a:buNone/>
              <a:defRPr sz="2100" b="0" i="0">
                <a:solidFill>
                  <a:srgbClr val="161616"/>
                </a:solidFill>
                <a:latin typeface="Times New Roman"/>
                <a:ea typeface="Times New Roman"/>
                <a:cs typeface="Times New Roman"/>
              </a:defRPr>
            </a:pPr>
            <a:endParaRPr/>
          </a:p>
        </p:txBody>
      </p:sp>
      <p:sp>
        <p:nvSpPr>
          <p:cNvPr id="5" name="hold-error">
            <a:extLst>
              <a:ext uri="{FF2B5EF4-FFF2-40B4-BE49-F238E27FC236}">
                <a16:creationId xmlns:a16="http://schemas.microsoft.com/office/drawing/2014/main" id="{E451175D-8F75-4D1C-A421-24069EB1C5C8}"/>
              </a:ext>
            </a:extLst>
          </p:cNvPr>
          <p:cNvSpPr>
            <a:spLocks noGrp="1"/>
          </p:cNvSpPr>
          <p:nvPr/>
        </p:nvSpPr>
        <p:spPr>
          <a:xfrm>
            <a:off x="8048625" y="3286125"/>
            <a:ext cx="2857500" cy="619125"/>
          </a:xfrm>
          <a:prstGeom prst="rect">
            <a:avLst/>
          </a:prstGeom>
          <a:noFill/>
          <a:ln w="0">
            <a:noFill/>
            <a:prstDash val="solid"/>
          </a:ln>
        </p:spPr>
        <p:txBody>
          <a:bodyPr lIns="0" tIns="0" rIns="0" bIns="0" anchor="t">
            <a:normAutofit/>
          </a:bodyPr>
          <a:lstStyle/>
          <a:p>
            <a:pPr algn="ctr">
              <a:buNone/>
              <a:defRPr sz="3450" b="1" i="0">
                <a:solidFill>
                  <a:srgbClr val="17365D"/>
                </a:solidFill>
                <a:latin typeface="Times New Roman"/>
                <a:ea typeface="Times New Roman"/>
                <a:cs typeface="Times New Roman"/>
              </a:defRPr>
            </a:pPr>
            <a:endParaRPr/>
          </a:p>
        </p:txBody>
      </p:sp>
      <p:sp>
        <p:nvSpPr>
          <p:cNvPr id="6" name="Rectangle 5">
            <a:extLst>
              <a:ext uri="{FF2B5EF4-FFF2-40B4-BE49-F238E27FC236}">
                <a16:creationId xmlns:a16="http://schemas.microsoft.com/office/drawing/2014/main" id="{95C6CA2B-08ED-4B9D-AEC8-09C753BDC2C8}"/>
              </a:ext>
            </a:extLst>
          </p:cNvPr>
          <p:cNvSpPr>
            <a:spLocks noGrp="1"/>
          </p:cNvSpPr>
          <p:nvPr/>
        </p:nvSpPr>
        <p:spPr>
          <a:xfrm>
            <a:off x="7858125" y="4000500"/>
            <a:ext cx="3238500" cy="666750"/>
          </a:xfrm>
          <a:prstGeom prst="rect">
            <a:avLst/>
          </a:prstGeom>
          <a:noFill/>
          <a:ln w="0">
            <a:noFill/>
            <a:prstDash val="solid"/>
          </a:ln>
        </p:spPr>
        <p:txBody>
          <a:bodyPr lIns="0" tIns="0" rIns="0" bIns="0" anchor="t">
            <a:normAutofit/>
          </a:bodyPr>
          <a:lstStyle/>
          <a:p>
            <a:pPr algn="ctr">
              <a:buNone/>
              <a:defRPr sz="1875" b="0" i="0">
                <a:solidFill>
                  <a:srgbClr val="161616"/>
                </a:solidFill>
                <a:latin typeface="Times New Roman"/>
                <a:ea typeface="Times New Roman"/>
                <a:cs typeface="Times New Roman"/>
              </a:defRPr>
            </a:pPr>
            <a:endParaRPr/>
          </a:p>
        </p:txBody>
      </p:sp>
      <p:sp>
        <p:nvSpPr>
          <p:cNvPr id="7" name="Rectangle 6">
            <a:extLst>
              <a:ext uri="{FF2B5EF4-FFF2-40B4-BE49-F238E27FC236}">
                <a16:creationId xmlns:a16="http://schemas.microsoft.com/office/drawing/2014/main" id="{4E4CF754-F417-4050-8EB8-18A58CAD8535}"/>
              </a:ext>
            </a:extLst>
          </p:cNvPr>
          <p:cNvSpPr>
            <a:spLocks noGrp="1"/>
          </p:cNvSpPr>
          <p:nvPr/>
        </p:nvSpPr>
        <p:spPr>
          <a:xfrm>
            <a:off x="7858125" y="5095875"/>
            <a:ext cx="3238500" cy="666750"/>
          </a:xfrm>
          <a:prstGeom prst="rect">
            <a:avLst/>
          </a:prstGeom>
          <a:noFill/>
          <a:ln w="0">
            <a:noFill/>
            <a:prstDash val="solid"/>
          </a:ln>
        </p:spPr>
        <p:txBody>
          <a:bodyPr lIns="0" tIns="0" rIns="0" bIns="0" anchor="t">
            <a:normAutofit/>
          </a:bodyPr>
          <a:lstStyle/>
          <a:p>
            <a:pPr algn="ctr">
              <a:buNone/>
              <a:defRPr sz="1800" b="1" i="0">
                <a:solidFill>
                  <a:srgbClr val="17365D"/>
                </a:solidFill>
                <a:latin typeface="Times New Roman"/>
                <a:ea typeface="Times New Roman"/>
                <a:cs typeface="Times New Roman"/>
              </a:defRPr>
            </a:pPr>
            <a:endParaRPr/>
          </a:p>
        </p:txBody>
      </p:sp>
      <p:sp>
        <p:nvSpPr>
          <p:cNvPr id="8" name="footer">
            <a:extLst>
              <a:ext uri="{FF2B5EF4-FFF2-40B4-BE49-F238E27FC236}">
                <a16:creationId xmlns:a16="http://schemas.microsoft.com/office/drawing/2014/main" id="{B11A8BE7-0AB7-427E-B894-00E949701934}"/>
              </a:ext>
            </a:extLst>
          </p:cNvPr>
          <p:cNvSpPr>
            <a:spLocks noGrp="1"/>
          </p:cNvSpPr>
          <p:nvPr/>
        </p:nvSpPr>
        <p:spPr>
          <a:xfrm>
            <a:off x="10287000" y="6486525"/>
            <a:ext cx="1238250" cy="209550"/>
          </a:xfrm>
          <a:prstGeom prst="rect">
            <a:avLst/>
          </a:prstGeom>
          <a:noFill/>
          <a:ln w="0">
            <a:noFill/>
            <a:prstDash val="solid"/>
          </a:ln>
        </p:spPr>
        <p:txBody>
          <a:bodyPr lIns="0" tIns="0" rIns="0" bIns="0" anchor="t">
            <a:normAutofit/>
          </a:bodyPr>
          <a:lstStyle/>
          <a:p>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imitation  7</a:t>
            </a:r>
          </a:p>
        </p:txBody>
      </p:sp>
    </p:spTree>
    <p:extLst>
      <p:ext uri="{BB962C8B-B14F-4D97-AF65-F5344CB8AC3E}">
        <p14:creationId xmlns:p14="http://schemas.microsoft.com/office/powerpoint/2010/main" val="1158511663"/>
      </p:ext>
    </p:extLst>
  </p:cSld>
  <p:clrMapOvr>
    <a:masterClrMapping/>
  </p:clrMapOvr>
  <p:timing>
    <p:tnLst>
      <p:par>
        <p:cTn id="1" dur="indefinite" restart="never" fill="hold" nodeType="tmRoot">
          <p:childTnLst>
            <p:seq concurrent="1" prevAc="none" nextAc="seek">
              <p:cTn id="2" dur="indefinite" fill="hold" nodeType="mainSeq">
                <p:childTnLst>
                  <p:par>
                    <p:cTn id="3" fill="hold">
                      <p:stCondLst>
                        <p:cond delay="0"/>
                      </p:stCondLst>
                      <p:childTnLst>
                        <p:par>
                          <p:cTn id="4" fill="hold">
                            <p:stCondLst>
                              <p:cond delay="0"/>
                            </p:stCondLst>
                            <p:childTnLst>
                              <p:par>
                                <p:cTn id="5" presetID="1" presetClass="mediacall" presetSubtype="0" fill="hold" nodeType="withEffect">
                                  <p:stCondLst>
                                    <p:cond delay="0"/>
                                  </p:stCondLst>
                                  <p:childTnLst>
                                    <p:cmd type="call" cmd="playFrom(0.0)">
                                      <p:cBhvr>
                                        <p:cTn id="6" dur="1" fill="hold"/>
                                        <p:tgtEl>
                                          <p:spTgt spid="1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100000">
                <p:cTn id="7" fill="hold" display="0">
                  <p:stCondLst>
                    <p:cond delay="0"/>
                  </p:stCondLst>
                </p:cTn>
                <p:tgtEl>
                  <p:spTgt spid="12"/>
                </p:tgtEl>
              </p:cMediaNode>
            </p:video>
            <p:seq concurrent="1" prevAc="none" nextAc="seek">
              <p:cTn id="8" restart="whenNotActive" fill="hold" evtFilter="cancelBubble" nodeType="interactiveSeq">
                <p:stCondLst>
                  <p:cond evt="onClick" delay="0">
                    <p:tgtEl>
                      <p:spTgt spid="1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12"/>
                                        </p:tgtEl>
                                      </p:cBhvr>
                                    </p:cmd>
                                  </p:childTnLst>
                                </p:cTn>
                              </p:par>
                            </p:childTnLst>
                          </p:cTn>
                        </p:par>
                      </p:childTnLst>
                    </p:cTn>
                  </p:par>
                </p:childTnLst>
              </p:cTn>
              <p:nextCondLst>
                <p:cond evt="onClick" delay="0">
                  <p:tgtEl>
                    <p:spTgt spid="12"/>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2" name="slide-title">
            <a:extLst>
              <a:ext uri="{FF2B5EF4-FFF2-40B4-BE49-F238E27FC236}">
                <a16:creationId xmlns:a16="http://schemas.microsoft.com/office/drawing/2014/main" id="{49565148-4EF2-40B4-820D-2643A4AE4EB5}"/>
              </a:ext>
            </a:extLst>
          </p:cNvPr>
          <p:cNvSpPr>
            <a:spLocks noGrp="1"/>
          </p:cNvSpPr>
          <p:nvPr/>
        </p:nvSpPr>
        <p:spPr>
          <a:xfrm>
            <a:off x="666750" y="419100"/>
            <a:ext cx="10858500" cy="628650"/>
          </a:xfrm>
          <a:prstGeom prst="rect">
            <a:avLst/>
          </a:prstGeom>
          <a:noFill/>
          <a:ln w="0">
            <a:noFill/>
            <a:prstDash val="solid"/>
          </a:ln>
        </p:spPr>
        <p:txBody>
          <a:bodyPr lIns="0" tIns="0" rIns="0" bIns="0" anchor="t">
            <a:norm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What the results show</a:t>
            </a:r>
          </a:p>
        </p:txBody>
      </p:sp>
      <p:sp>
        <p:nvSpPr>
          <p:cNvPr id="2" name="Rectangle 1">
            <a:extLst>
              <a:ext uri="{FF2B5EF4-FFF2-40B4-BE49-F238E27FC236}">
                <a16:creationId xmlns:a16="http://schemas.microsoft.com/office/drawing/2014/main" id="{94051B74-1FDA-4046-A9BD-2211F439B67B}"/>
              </a:ext>
            </a:extLst>
          </p:cNvPr>
          <p:cNvSpPr>
            <a:spLocks noGrp="1"/>
          </p:cNvSpPr>
          <p:nvPr/>
        </p:nvSpPr>
        <p:spPr>
          <a:xfrm>
            <a:off x="952500" y="14287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1</a:t>
            </a:r>
          </a:p>
        </p:txBody>
      </p:sp>
      <p:sp>
        <p:nvSpPr>
          <p:cNvPr id="3" name="training-step-1">
            <a:extLst>
              <a:ext uri="{FF2B5EF4-FFF2-40B4-BE49-F238E27FC236}">
                <a16:creationId xmlns:a16="http://schemas.microsoft.com/office/drawing/2014/main" id="{931ED5D0-6C8E-498A-811E-6C6C55CE2F9A}"/>
              </a:ext>
            </a:extLst>
          </p:cNvPr>
          <p:cNvSpPr>
            <a:spLocks noGrp="1"/>
          </p:cNvSpPr>
          <p:nvPr/>
        </p:nvSpPr>
        <p:spPr>
          <a:xfrm>
            <a:off x="1809750" y="1457325"/>
            <a:ext cx="9334500" cy="523875"/>
          </a:xfrm>
          <a:prstGeom prst="rect">
            <a:avLst/>
          </a:prstGeom>
          <a:noFill/>
          <a:ln w="0">
            <a:noFill/>
            <a:prstDash val="solid"/>
          </a:ln>
        </p:spPr>
        <p:txBody>
          <a:bodyPr lIns="0" tIns="0" rIns="0" bIns="0" anchor="t">
            <a:noAutofit/>
          </a:bodyPr>
          <a:lstStyle/>
          <a:p>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Repeating the training recording: 0.18° average joint error.</a:t>
            </a:r>
          </a:p>
        </p:txBody>
      </p:sp>
      <p:sp>
        <p:nvSpPr>
          <p:cNvPr id="4" name="Rectangle 3">
            <a:extLst>
              <a:ext uri="{FF2B5EF4-FFF2-40B4-BE49-F238E27FC236}">
                <a16:creationId xmlns:a16="http://schemas.microsoft.com/office/drawing/2014/main" id="{5C3D9081-30A7-4527-B690-6069EF4EE283}"/>
              </a:ext>
            </a:extLst>
          </p:cNvPr>
          <p:cNvSpPr>
            <a:spLocks noGrp="1"/>
          </p:cNvSpPr>
          <p:nvPr/>
        </p:nvSpPr>
        <p:spPr>
          <a:xfrm>
            <a:off x="952500" y="23812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2</a:t>
            </a:r>
          </a:p>
        </p:txBody>
      </p:sp>
      <p:sp>
        <p:nvSpPr>
          <p:cNvPr id="5" name="training-step-2">
            <a:extLst>
              <a:ext uri="{FF2B5EF4-FFF2-40B4-BE49-F238E27FC236}">
                <a16:creationId xmlns:a16="http://schemas.microsoft.com/office/drawing/2014/main" id="{883B8CFB-A20D-48D0-8756-B7B45880EE3F}"/>
              </a:ext>
            </a:extLst>
          </p:cNvPr>
          <p:cNvSpPr>
            <a:spLocks noGrp="1"/>
          </p:cNvSpPr>
          <p:nvPr/>
        </p:nvSpPr>
        <p:spPr>
          <a:xfrm>
            <a:off x="1809750" y="2409825"/>
            <a:ext cx="9334500" cy="523875"/>
          </a:xfrm>
          <a:prstGeom prst="rect">
            <a:avLst/>
          </a:prstGeom>
          <a:noFill/>
          <a:ln w="0">
            <a:noFill/>
            <a:prstDash val="solid"/>
          </a:ln>
        </p:spPr>
        <p:txBody>
          <a:bodyPr lIns="0" tIns="0" rIns="0" bIns="0" anchor="t">
            <a:noAutofit/>
          </a:bodyPr>
          <a:lstStyle/>
          <a:p>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Predicting portions left out of training: 2.60° average error.</a:t>
            </a:r>
          </a:p>
        </p:txBody>
      </p:sp>
      <p:sp>
        <p:nvSpPr>
          <p:cNvPr id="6" name="Rectangle 5">
            <a:extLst>
              <a:ext uri="{FF2B5EF4-FFF2-40B4-BE49-F238E27FC236}">
                <a16:creationId xmlns:a16="http://schemas.microsoft.com/office/drawing/2014/main" id="{1274C684-0237-48F4-BE67-1048B64327F5}"/>
              </a:ext>
            </a:extLst>
          </p:cNvPr>
          <p:cNvSpPr>
            <a:spLocks noGrp="1"/>
          </p:cNvSpPr>
          <p:nvPr/>
        </p:nvSpPr>
        <p:spPr>
          <a:xfrm>
            <a:off x="952500" y="33337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3</a:t>
            </a:r>
          </a:p>
        </p:txBody>
      </p:sp>
      <p:sp>
        <p:nvSpPr>
          <p:cNvPr id="7" name="training-step-3">
            <a:extLst>
              <a:ext uri="{FF2B5EF4-FFF2-40B4-BE49-F238E27FC236}">
                <a16:creationId xmlns:a16="http://schemas.microsoft.com/office/drawing/2014/main" id="{3615F39E-43A1-4D78-B1CA-B14942EC498B}"/>
              </a:ext>
            </a:extLst>
          </p:cNvPr>
          <p:cNvSpPr>
            <a:spLocks noGrp="1"/>
          </p:cNvSpPr>
          <p:nvPr/>
        </p:nvSpPr>
        <p:spPr>
          <a:xfrm>
            <a:off x="1809750" y="3362325"/>
            <a:ext cx="9334500" cy="523875"/>
          </a:xfrm>
          <a:prstGeom prst="rect">
            <a:avLst/>
          </a:prstGeom>
          <a:noFill/>
          <a:ln w="0">
            <a:noFill/>
            <a:prstDash val="solid"/>
          </a:ln>
        </p:spPr>
        <p:txBody>
          <a:bodyPr lIns="0" tIns="0" rIns="0" bIns="0" anchor="t">
            <a:noAutofit/>
          </a:bodyPr>
          <a:lstStyle/>
          <a:p>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Joining known positions with straight lines: 0.64° on the same gaps.</a:t>
            </a:r>
          </a:p>
        </p:txBody>
      </p:sp>
      <p:sp>
        <p:nvSpPr>
          <p:cNvPr id="8" name="Rectangle 7">
            <a:extLst>
              <a:ext uri="{FF2B5EF4-FFF2-40B4-BE49-F238E27FC236}">
                <a16:creationId xmlns:a16="http://schemas.microsoft.com/office/drawing/2014/main" id="{DC2AC943-BB28-4F10-B649-20DE4563811D}"/>
              </a:ext>
            </a:extLst>
          </p:cNvPr>
          <p:cNvSpPr>
            <a:spLocks noGrp="1"/>
          </p:cNvSpPr>
          <p:nvPr/>
        </p:nvSpPr>
        <p:spPr>
          <a:xfrm>
            <a:off x="952500" y="4286250"/>
            <a:ext cx="571500" cy="523875"/>
          </a:xfrm>
          <a:prstGeom prst="rect">
            <a:avLst/>
          </a:prstGeom>
          <a:noFill/>
          <a:ln w="0">
            <a:noFill/>
            <a:prstDash val="solid"/>
          </a:ln>
        </p:spPr>
        <p:txBody>
          <a:bodyPr lIns="0" tIns="0" rIns="0" bIns="0" anchor="t">
            <a:normAutofit/>
          </a:bodyPr>
          <a:lstStyle/>
          <a:p>
            <a:pPr algn="ctr">
              <a:buNone/>
              <a:defRPr sz="2850" b="1" i="0">
                <a:solidFill>
                  <a:srgbClr val="2F5597"/>
                </a:solidFill>
                <a:latin typeface="Times New Roman"/>
                <a:ea typeface="Times New Roman"/>
                <a:cs typeface="Times New Roman"/>
              </a:defRPr>
            </a:pPr>
            <a:r>
              <a:rPr sz="2850" b="1" i="0">
                <a:solidFill>
                  <a:srgbClr val="2F5597"/>
                </a:solidFill>
                <a:latin typeface="Times New Roman"/>
                <a:ea typeface="Times New Roman"/>
                <a:cs typeface="Times New Roman"/>
              </a:rPr>
              <a:t>4</a:t>
            </a:r>
          </a:p>
        </p:txBody>
      </p:sp>
      <p:sp>
        <p:nvSpPr>
          <p:cNvPr id="9" name="training-step-4">
            <a:extLst>
              <a:ext uri="{FF2B5EF4-FFF2-40B4-BE49-F238E27FC236}">
                <a16:creationId xmlns:a16="http://schemas.microsoft.com/office/drawing/2014/main" id="{4D711129-EDA4-4206-AD87-30D6A2B6800B}"/>
              </a:ext>
            </a:extLst>
          </p:cNvPr>
          <p:cNvSpPr>
            <a:spLocks noGrp="1"/>
          </p:cNvSpPr>
          <p:nvPr/>
        </p:nvSpPr>
        <p:spPr>
          <a:xfrm>
            <a:off x="1809750" y="4314825"/>
            <a:ext cx="9334500" cy="523875"/>
          </a:xfrm>
          <a:prstGeom prst="rect">
            <a:avLst/>
          </a:prstGeom>
          <a:noFill/>
          <a:ln w="0">
            <a:noFill/>
            <a:prstDash val="solid"/>
          </a:ln>
        </p:spPr>
        <p:txBody>
          <a:bodyPr lIns="0" tIns="0" rIns="0" bIns="0" anchor="t">
            <a:noAutofit/>
          </a:bodyPr>
          <a:lstStyle/>
          <a:p>
            <a:pPr algn="l">
              <a:buNone/>
              <a:defRPr sz="2025" b="0" i="0">
                <a:solidFill>
                  <a:srgbClr val="161616"/>
                </a:solidFill>
                <a:latin typeface="Times New Roman"/>
                <a:ea typeface="Times New Roman"/>
                <a:cs typeface="Times New Roman"/>
              </a:defRPr>
            </a:pPr>
            <a:r>
              <a:rPr sz="2025" b="0" i="0">
                <a:solidFill>
                  <a:srgbClr val="161616"/>
                </a:solidFill>
                <a:latin typeface="Times New Roman"/>
                <a:ea typeface="Times New Roman"/>
                <a:cs typeface="Times New Roman"/>
              </a:rPr>
              <a:t>The model repeats the known routine. Simple gap filling is more accurate.</a:t>
            </a:r>
          </a:p>
        </p:txBody>
      </p:sp>
      <p:sp>
        <p:nvSpPr>
          <p:cNvPr id="10" name="Rectangle 9">
            <a:extLst>
              <a:ext uri="{FF2B5EF4-FFF2-40B4-BE49-F238E27FC236}">
                <a16:creationId xmlns:a16="http://schemas.microsoft.com/office/drawing/2014/main" id="{5FFEA5B4-5337-4794-83F4-EB07021C5BC0}"/>
              </a:ext>
            </a:extLst>
          </p:cNvPr>
          <p:cNvSpPr>
            <a:spLocks noGrp="1"/>
          </p:cNvSpPr>
          <p:nvPr/>
        </p:nvSpPr>
        <p:spPr>
          <a:xfrm>
            <a:off x="952500" y="5381625"/>
            <a:ext cx="10287000" cy="704850"/>
          </a:xfrm>
          <a:prstGeom prst="rect">
            <a:avLst/>
          </a:prstGeom>
          <a:noFill/>
          <a:ln w="0">
            <a:noFill/>
            <a:prstDash val="solid"/>
          </a:ln>
        </p:spPr>
        <p:txBody>
          <a:bodyPr lIns="0" tIns="0" rIns="0" bIns="0" anchor="t">
            <a:normAutofit/>
          </a:bodyPr>
          <a:lstStyle/>
          <a:p>
            <a:pPr algn="ctr">
              <a:buNone/>
              <a:defRPr sz="2025" b="1" i="0">
                <a:solidFill>
                  <a:srgbClr val="17365D"/>
                </a:solidFill>
                <a:latin typeface="Times New Roman"/>
                <a:ea typeface="Times New Roman"/>
                <a:cs typeface="Times New Roman"/>
              </a:defRPr>
            </a:pPr>
            <a:r>
              <a:rPr sz="2025" b="1" i="0">
                <a:solidFill>
                  <a:srgbClr val="17365D"/>
                </a:solidFill>
                <a:latin typeface="Times New Roman"/>
                <a:ea typeface="Times New Roman"/>
                <a:cs typeface="Times New Roman"/>
              </a:rPr>
              <a:t>Lower error means closer positions. The first result measures training fit.</a:t>
            </a:r>
          </a:p>
        </p:txBody>
      </p:sp>
      <p:sp>
        <p:nvSpPr>
          <p:cNvPr id="11" name="footer">
            <a:extLst>
              <a:ext uri="{FF2B5EF4-FFF2-40B4-BE49-F238E27FC236}">
                <a16:creationId xmlns:a16="http://schemas.microsoft.com/office/drawing/2014/main" id="{03D0C70F-75E1-4FC8-9B85-23EC88BD6139}"/>
              </a:ext>
            </a:extLst>
          </p:cNvPr>
          <p:cNvSpPr>
            <a:spLocks noGrp="1"/>
          </p:cNvSpPr>
          <p:nvPr/>
        </p:nvSpPr>
        <p:spPr>
          <a:xfrm>
            <a:off x="10287000" y="6486525"/>
            <a:ext cx="1238250" cy="209550"/>
          </a:xfrm>
          <a:prstGeom prst="rect">
            <a:avLst/>
          </a:prstGeom>
          <a:noFill/>
          <a:ln w="0">
            <a:noFill/>
            <a:prstDash val="solid"/>
          </a:ln>
        </p:spPr>
        <p:txBody>
          <a:bodyPr lIns="0" tIns="0" rIns="0" bIns="0" anchor="t">
            <a:normAutofit/>
          </a:bodyPr>
          <a:lstStyle/>
          <a:p>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imitation  8</a:t>
            </a:r>
          </a:p>
        </p:txBody>
      </p:sp>
    </p:spTree>
    <p:extLst>
      <p:ext uri="{BB962C8B-B14F-4D97-AF65-F5344CB8AC3E}">
        <p14:creationId xmlns:p14="http://schemas.microsoft.com/office/powerpoint/2010/main" val="39570284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lide-title">
            <a:extLst>
              <a:ext uri="{FF2B5EF4-FFF2-40B4-BE49-F238E27FC236}">
                <a16:creationId xmlns:a16="http://schemas.microsoft.com/office/drawing/2014/main" id="{8F177A31-33A1-4C13-9534-843391A4B219}"/>
              </a:ext>
            </a:extLst>
          </p:cNvPr>
          <p:cNvSpPr>
            <a:spLocks noGrp="1"/>
          </p:cNvSpPr>
          <p:nvPr/>
        </p:nvSpPr>
        <p:spPr>
          <a:xfrm>
            <a:off x="666750" y="419100"/>
            <a:ext cx="10858500" cy="628650"/>
          </a:xfrm>
          <a:prstGeom prst="rect">
            <a:avLst/>
          </a:prstGeom>
          <a:noFill/>
          <a:ln w="0">
            <a:noFill/>
            <a:prstDash val="solid"/>
          </a:ln>
        </p:spPr>
        <p:txBody>
          <a:bodyPr lIns="0" tIns="0" rIns="0" bIns="0" anchor="t">
            <a:norm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Why choose learning rather than only playback?</a:t>
            </a:r>
          </a:p>
        </p:txBody>
      </p:sp>
      <p:sp>
        <p:nvSpPr>
          <p:cNvPr id="2" name="next-steps">
            <a:extLst>
              <a:ext uri="{FF2B5EF4-FFF2-40B4-BE49-F238E27FC236}">
                <a16:creationId xmlns:a16="http://schemas.microsoft.com/office/drawing/2014/main" id="{CA5549E8-9493-4A7C-9081-AEB971FC3822}"/>
              </a:ext>
            </a:extLst>
          </p:cNvPr>
          <p:cNvSpPr>
            <a:spLocks noGrp="1"/>
          </p:cNvSpPr>
          <p:nvPr/>
        </p:nvSpPr>
        <p:spPr>
          <a:xfrm>
            <a:off x="1238250" y="1619250"/>
            <a:ext cx="9715500" cy="3143250"/>
          </a:xfrm>
          <a:prstGeom prst="rect">
            <a:avLst/>
          </a:prstGeom>
          <a:noFill/>
          <a:ln w="0">
            <a:noFill/>
            <a:prstDash val="solid"/>
          </a:ln>
        </p:spPr>
        <p:txBody>
          <a:bodyPr lIns="0" tIns="0" rIns="0" bIns="0" anchor="ctr">
            <a:normAutofit/>
          </a:bodyPr>
          <a:lstStyle/>
          <a:p>
            <a:pPr algn="l">
              <a:buNone/>
              <a:defRPr sz="2175" b="0" i="0">
                <a:solidFill>
                  <a:srgbClr val="161616"/>
                </a:solidFill>
                <a:latin typeface="Times New Roman"/>
                <a:ea typeface="Times New Roman"/>
                <a:cs typeface="Times New Roman"/>
              </a:defRPr>
            </a:pPr>
            <a:r>
              <a:rPr sz="2175" b="0" i="0">
                <a:solidFill>
                  <a:srgbClr val="161616"/>
                </a:solidFill>
                <a:latin typeface="Times New Roman"/>
                <a:ea typeface="Times New Roman"/>
                <a:cs typeface="Times New Roman"/>
              </a:rPr>
              <a:t>The earlier ball policy learned a different task. Training on this recording gives the new policy the correct movement target.</a:t>
            </a:r>
          </a:p>
          <a:p>
            <a:endParaRPr sz="2175" b="0" i="0">
              <a:solidFill>
                <a:srgbClr val="161616"/>
              </a:solidFill>
              <a:latin typeface="Times New Roman"/>
              <a:ea typeface="Times New Roman"/>
              <a:cs typeface="Times New Roman"/>
            </a:endParaRPr>
          </a:p>
          <a:p>
            <a:pPr algn="l">
              <a:buNone/>
              <a:defRPr sz="2175" b="0" i="0">
                <a:solidFill>
                  <a:srgbClr val="161616"/>
                </a:solidFill>
                <a:latin typeface="Times New Roman"/>
                <a:ea typeface="Times New Roman"/>
                <a:cs typeface="Times New Roman"/>
              </a:defRPr>
            </a:pPr>
            <a:r>
              <a:rPr sz="2175" b="0" i="0">
                <a:solidFill>
                  <a:srgbClr val="161616"/>
                </a:solidFill>
                <a:latin typeface="Times New Roman"/>
                <a:ea typeface="Times New Roman"/>
                <a:cs typeface="Times New Roman"/>
              </a:rPr>
              <a:t>A learned model produces targets from a clock and saved learned values. It can later support experiments with additional inputs.</a:t>
            </a:r>
          </a:p>
          <a:p>
            <a:endParaRPr sz="2175" b="0" i="0">
              <a:solidFill>
                <a:srgbClr val="161616"/>
              </a:solidFill>
              <a:latin typeface="Times New Roman"/>
              <a:ea typeface="Times New Roman"/>
              <a:cs typeface="Times New Roman"/>
            </a:endParaRPr>
          </a:p>
          <a:p>
            <a:pPr algn="l">
              <a:buNone/>
              <a:defRPr sz="2175" b="0" i="0">
                <a:solidFill>
                  <a:srgbClr val="161616"/>
                </a:solidFill>
                <a:latin typeface="Times New Roman"/>
                <a:ea typeface="Times New Roman"/>
                <a:cs typeface="Times New Roman"/>
              </a:defRPr>
            </a:pPr>
            <a:r>
              <a:rPr sz="2175" b="0" i="0">
                <a:solidFill>
                  <a:srgbClr val="161616"/>
                </a:solidFill>
                <a:latin typeface="Times New Roman"/>
                <a:ea typeface="Times New Roman"/>
                <a:cs typeface="Times New Roman"/>
              </a:rPr>
              <a:t>For simply repeating this recording, direct playback remains a strong, simpler option.</a:t>
            </a:r>
          </a:p>
        </p:txBody>
      </p:sp>
      <p:sp>
        <p:nvSpPr>
          <p:cNvPr id="3" name="Rectangle 2">
            <a:extLst>
              <a:ext uri="{FF2B5EF4-FFF2-40B4-BE49-F238E27FC236}">
                <a16:creationId xmlns:a16="http://schemas.microsoft.com/office/drawing/2014/main" id="{19B82CE8-AF6B-41C4-A9B2-9D2C516832D2}"/>
              </a:ext>
            </a:extLst>
          </p:cNvPr>
          <p:cNvSpPr>
            <a:spLocks noGrp="1"/>
          </p:cNvSpPr>
          <p:nvPr/>
        </p:nvSpPr>
        <p:spPr>
          <a:xfrm>
            <a:off x="1428750" y="5191125"/>
            <a:ext cx="9334500" cy="742950"/>
          </a:xfrm>
          <a:prstGeom prst="rect">
            <a:avLst/>
          </a:prstGeom>
          <a:noFill/>
          <a:ln w="0">
            <a:noFill/>
            <a:prstDash val="solid"/>
          </a:ln>
        </p:spPr>
        <p:txBody>
          <a:bodyPr lIns="0" tIns="0" rIns="0" bIns="0" anchor="t">
            <a:normAutofit/>
          </a:bodyPr>
          <a:lstStyle/>
          <a:p>
            <a:pPr algn="ctr">
              <a:buNone/>
              <a:defRPr sz="2100" b="1" i="0">
                <a:solidFill>
                  <a:srgbClr val="17365D"/>
                </a:solidFill>
                <a:latin typeface="Times New Roman"/>
                <a:ea typeface="Times New Roman"/>
                <a:cs typeface="Times New Roman"/>
              </a:defRPr>
            </a:pPr>
            <a:r>
              <a:rPr sz="2100" b="1" i="0">
                <a:solidFill>
                  <a:srgbClr val="17365D"/>
                </a:solidFill>
                <a:latin typeface="Times New Roman"/>
                <a:ea typeface="Times New Roman"/>
                <a:cs typeface="Times New Roman"/>
              </a:rPr>
              <a:t>The benefit is learning the intended behavior. Better accuracy is not established.</a:t>
            </a:r>
          </a:p>
        </p:txBody>
      </p:sp>
      <p:sp>
        <p:nvSpPr>
          <p:cNvPr id="4" name="footer">
            <a:extLst>
              <a:ext uri="{FF2B5EF4-FFF2-40B4-BE49-F238E27FC236}">
                <a16:creationId xmlns:a16="http://schemas.microsoft.com/office/drawing/2014/main" id="{F014CE0D-FDA9-40C8-B651-A77F57843CF3}"/>
              </a:ext>
            </a:extLst>
          </p:cNvPr>
          <p:cNvSpPr>
            <a:spLocks noGrp="1"/>
          </p:cNvSpPr>
          <p:nvPr/>
        </p:nvSpPr>
        <p:spPr>
          <a:xfrm>
            <a:off x="10287000" y="6486525"/>
            <a:ext cx="1238250" cy="209550"/>
          </a:xfrm>
          <a:prstGeom prst="rect">
            <a:avLst/>
          </a:prstGeom>
          <a:noFill/>
          <a:ln w="0">
            <a:noFill/>
            <a:prstDash val="solid"/>
          </a:ln>
        </p:spPr>
        <p:txBody>
          <a:bodyPr lIns="0" tIns="0" rIns="0" bIns="0" anchor="t">
            <a:normAutofit/>
          </a:bodyPr>
          <a:lstStyle/>
          <a:p>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imitation  9</a:t>
            </a:r>
          </a:p>
        </p:txBody>
      </p:sp>
    </p:spTree>
    <p:extLst>
      <p:ext uri="{BB962C8B-B14F-4D97-AF65-F5344CB8AC3E}">
        <p14:creationId xmlns:p14="http://schemas.microsoft.com/office/powerpoint/2010/main" val="4760601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slide-title">
            <a:extLst>
              <a:ext uri="{FF2B5EF4-FFF2-40B4-BE49-F238E27FC236}">
                <a16:creationId xmlns:a16="http://schemas.microsoft.com/office/drawing/2014/main" id="{13EA7CC9-2658-411E-A996-C873C7A925ED}"/>
              </a:ext>
            </a:extLst>
          </p:cNvPr>
          <p:cNvSpPr>
            <a:spLocks noGrp="1"/>
          </p:cNvSpPr>
          <p:nvPr/>
        </p:nvSpPr>
        <p:spPr>
          <a:xfrm>
            <a:off x="666750" y="419100"/>
            <a:ext cx="10858500" cy="628650"/>
          </a:xfrm>
          <a:prstGeom prst="rect">
            <a:avLst/>
          </a:prstGeom>
          <a:noFill/>
          <a:ln w="0">
            <a:noFill/>
            <a:prstDash val="solid"/>
          </a:ln>
        </p:spPr>
        <p:txBody>
          <a:bodyPr lIns="0" tIns="0" rIns="0" bIns="0" anchor="t">
            <a:norm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What we have, and what comes next</a:t>
            </a:r>
          </a:p>
        </p:txBody>
      </p:sp>
      <p:sp>
        <p:nvSpPr>
          <p:cNvPr id="2" name="outcome-body">
            <a:extLst>
              <a:ext uri="{FF2B5EF4-FFF2-40B4-BE49-F238E27FC236}">
                <a16:creationId xmlns:a16="http://schemas.microsoft.com/office/drawing/2014/main" id="{816D87B6-A8AD-418A-8158-EC2A6AD79007}"/>
              </a:ext>
            </a:extLst>
          </p:cNvPr>
          <p:cNvSpPr>
            <a:spLocks noGrp="1"/>
          </p:cNvSpPr>
          <p:nvPr/>
        </p:nvSpPr>
        <p:spPr>
          <a:xfrm>
            <a:off x="762000" y="1524000"/>
            <a:ext cx="10477500" cy="1619250"/>
          </a:xfrm>
          <a:prstGeom prst="rect">
            <a:avLst/>
          </a:prstGeom>
          <a:noFill/>
          <a:ln w="0">
            <a:noFill/>
            <a:prstDash val="solid"/>
          </a:ln>
        </p:spPr>
        <p:txBody>
          <a:bodyPr lIns="0" tIns="0" rIns="0" bIns="0" anchor="t">
            <a:noAutofit/>
          </a:bodyPr>
          <a:lstStyle/>
          <a:p>
            <a:pPr algn="l">
              <a:buNone/>
              <a:defRPr sz="2400" b="0" i="0">
                <a:solidFill>
                  <a:srgbClr val="161616"/>
                </a:solidFill>
                <a:latin typeface="Times New Roman"/>
                <a:ea typeface="Times New Roman"/>
                <a:cs typeface="Times New Roman"/>
              </a:defRPr>
            </a:pPr>
            <a:r>
              <a:rPr sz="2400" b="0" i="0">
                <a:solidFill>
                  <a:srgbClr val="161616"/>
                </a:solidFill>
                <a:latin typeface="Times New Roman"/>
                <a:ea typeface="Times New Roman"/>
                <a:cs typeface="Times New Roman"/>
              </a:rPr>
              <a:t>We have a policy that repeats this recorded arm routine. The video shows positions in a model, not physical robot execution.</a:t>
            </a:r>
          </a:p>
        </p:txBody>
      </p:sp>
      <p:sp>
        <p:nvSpPr>
          <p:cNvPr id="3" name="outcome-callout">
            <a:extLst>
              <a:ext uri="{FF2B5EF4-FFF2-40B4-BE49-F238E27FC236}">
                <a16:creationId xmlns:a16="http://schemas.microsoft.com/office/drawing/2014/main" id="{950CDB9B-2447-40C1-812A-ACB0F6293F5A}"/>
              </a:ext>
            </a:extLst>
          </p:cNvPr>
          <p:cNvSpPr>
            <a:spLocks noGrp="1"/>
          </p:cNvSpPr>
          <p:nvPr/>
        </p:nvSpPr>
        <p:spPr>
          <a:xfrm>
            <a:off x="762000" y="3571875"/>
            <a:ext cx="10477500" cy="1238250"/>
          </a:xfrm>
          <a:prstGeom prst="rect">
            <a:avLst/>
          </a:prstGeom>
          <a:noFill/>
          <a:ln w="0">
            <a:noFill/>
            <a:prstDash val="solid"/>
          </a:ln>
        </p:spPr>
        <p:txBody>
          <a:bodyPr lIns="0" tIns="0" rIns="0" bIns="0" anchor="t">
            <a:noAutofit/>
          </a:bodyPr>
          <a:lstStyle/>
          <a:p>
            <a:pPr algn="l">
              <a:buNone/>
              <a:defRPr sz="2400" b="1" i="0">
                <a:solidFill>
                  <a:srgbClr val="2F5597"/>
                </a:solidFill>
                <a:latin typeface="Times New Roman"/>
                <a:ea typeface="Times New Roman"/>
                <a:cs typeface="Times New Roman"/>
              </a:defRPr>
            </a:pPr>
            <a:r>
              <a:rPr sz="2400" b="1" i="0">
                <a:solidFill>
                  <a:srgbClr val="2F5597"/>
                </a:solidFill>
                <a:latin typeface="Times New Roman"/>
                <a:ea typeface="Times New Roman"/>
                <a:cs typeface="Times New Roman"/>
              </a:rPr>
              <a:t>Next: learn from more recordings and test with measured robot feedback. Verify joint calibration before live use.</a:t>
            </a:r>
          </a:p>
        </p:txBody>
      </p:sp>
      <p:sp>
        <p:nvSpPr>
          <p:cNvPr id="5" name="Rectangle 4">
            <a:extLst>
              <a:ext uri="{FF2B5EF4-FFF2-40B4-BE49-F238E27FC236}">
                <a16:creationId xmlns:a16="http://schemas.microsoft.com/office/drawing/2014/main" id="{E66D4FB7-5E90-4941-B502-BEC1D13C9E5B}"/>
              </a:ext>
            </a:extLst>
          </p:cNvPr>
          <p:cNvSpPr>
            <a:spLocks noGrp="1"/>
          </p:cNvSpPr>
          <p:nvPr/>
        </p:nvSpPr>
        <p:spPr>
          <a:xfrm>
            <a:off x="762000" y="5381625"/>
            <a:ext cx="10477500" cy="619125"/>
          </a:xfrm>
          <a:prstGeom prst="rect">
            <a:avLst/>
          </a:prstGeom>
          <a:noFill/>
          <a:ln w="0">
            <a:noFill/>
            <a:prstDash val="solid"/>
          </a:ln>
        </p:spPr>
        <p:txBody>
          <a:bodyPr lIns="0" tIns="0" rIns="0" bIns="0" anchor="t">
            <a:noAutofit/>
          </a:bodyPr>
          <a:lstStyle/>
          <a:p>
            <a:pPr algn="l">
              <a:buNone/>
              <a:defRPr sz="1950" b="0" i="1">
                <a:solidFill>
                  <a:srgbClr val="666666"/>
                </a:solidFill>
                <a:latin typeface="Times New Roman"/>
                <a:ea typeface="Times New Roman"/>
                <a:cs typeface="Times New Roman"/>
              </a:defRPr>
            </a:pPr>
            <a:r>
              <a:rPr sz="1950" b="0" i="1">
                <a:solidFill>
                  <a:srgbClr val="666666"/>
                </a:solidFill>
                <a:latin typeface="Times New Roman"/>
                <a:ea typeface="Times New Roman"/>
                <a:cs typeface="Times New Roman"/>
              </a:rPr>
              <a:t>The hand was not recorded, so this policy does not learn hand motion</a:t>
            </a:r>
          </a:p>
        </p:txBody>
      </p:sp>
      <p:sp>
        <p:nvSpPr>
          <p:cNvPr id="6" name="footer">
            <a:extLst>
              <a:ext uri="{FF2B5EF4-FFF2-40B4-BE49-F238E27FC236}">
                <a16:creationId xmlns:a16="http://schemas.microsoft.com/office/drawing/2014/main" id="{6D9ADE48-D478-4D93-8A8C-965E5FE0710E}"/>
              </a:ext>
            </a:extLst>
          </p:cNvPr>
          <p:cNvSpPr>
            <a:spLocks noGrp="1"/>
          </p:cNvSpPr>
          <p:nvPr/>
        </p:nvSpPr>
        <p:spPr>
          <a:xfrm>
            <a:off x="10287000" y="6486525"/>
            <a:ext cx="1238250" cy="209550"/>
          </a:xfrm>
          <a:prstGeom prst="rect">
            <a:avLst/>
          </a:prstGeom>
          <a:noFill/>
          <a:ln w="0">
            <a:noFill/>
            <a:prstDash val="solid"/>
          </a:ln>
        </p:spPr>
        <p:txBody>
          <a:bodyPr lIns="0" tIns="0" rIns="0" bIns="0" anchor="t">
            <a:normAutofit/>
          </a:bodyPr>
          <a:lstStyle/>
          <a:p>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imitation  10</a:t>
            </a:r>
          </a:p>
        </p:txBody>
      </p:sp>
    </p:spTree>
    <p:extLst>
      <p:ext uri="{BB962C8B-B14F-4D97-AF65-F5344CB8AC3E}">
        <p14:creationId xmlns:p14="http://schemas.microsoft.com/office/powerpoint/2010/main" val="110715153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slide-title">
            <a:extLst>
              <a:ext uri="{FF2B5EF4-FFF2-40B4-BE49-F238E27FC236}">
                <a16:creationId xmlns:a16="http://schemas.microsoft.com/office/drawing/2014/main" id="{8F177A31-33A1-4C13-9534-843391A4B219}"/>
              </a:ext>
            </a:extLst>
          </p:cNvPr>
          <p:cNvSpPr>
            <a:spLocks noGrp="1"/>
          </p:cNvSpPr>
          <p:nvPr/>
        </p:nvSpPr>
        <p:spPr>
          <a:xfrm>
            <a:off x="666750" y="419100"/>
            <a:ext cx="10858500" cy="628650"/>
          </a:xfrm>
          <a:prstGeom prst="rect">
            <a:avLst/>
          </a:prstGeom>
          <a:noFill/>
          <a:ln w="0">
            <a:noFill/>
            <a:prstDash val="solid"/>
          </a:ln>
        </p:spPr>
        <p:txBody>
          <a:bodyPr lIns="0" tIns="0" rIns="0" bIns="0" anchor="t">
            <a:normAutofit/>
          </a:bodyPr>
          <a:lstStyle/>
          <a:p>
            <a:pPr algn="l">
              <a:buNone/>
              <a:defRPr sz="3000" b="1" i="0">
                <a:solidFill>
                  <a:srgbClr val="17365D"/>
                </a:solidFill>
                <a:latin typeface="Times New Roman"/>
                <a:ea typeface="Times New Roman"/>
                <a:cs typeface="Times New Roman"/>
              </a:defRPr>
            </a:pPr>
            <a:r>
              <a:rPr sz="3000" b="1" i="0">
                <a:solidFill>
                  <a:srgbClr val="17365D"/>
                </a:solidFill>
                <a:latin typeface="Times New Roman"/>
                <a:ea typeface="Times New Roman"/>
                <a:cs typeface="Times New Roman"/>
              </a:rPr>
              <a:t>Sources and files</a:t>
            </a:r>
          </a:p>
        </p:txBody>
      </p:sp>
      <p:sp>
        <p:nvSpPr>
          <p:cNvPr id="2" name="next-steps">
            <a:extLst>
              <a:ext uri="{FF2B5EF4-FFF2-40B4-BE49-F238E27FC236}">
                <a16:creationId xmlns:a16="http://schemas.microsoft.com/office/drawing/2014/main" id="{CA5549E8-9493-4A7C-9081-AEB971FC3822}"/>
              </a:ext>
            </a:extLst>
          </p:cNvPr>
          <p:cNvSpPr>
            <a:spLocks noGrp="1"/>
          </p:cNvSpPr>
          <p:nvPr/>
        </p:nvSpPr>
        <p:spPr>
          <a:xfrm>
            <a:off x="800100" y="1123950"/>
            <a:ext cx="10591800" cy="4953000"/>
          </a:xfrm>
          <a:prstGeom prst="rect">
            <a:avLst/>
          </a:prstGeom>
          <a:noFill/>
          <a:ln w="0">
            <a:noFill/>
            <a:prstDash val="solid"/>
          </a:ln>
        </p:spPr>
        <p:txBody>
          <a:bodyPr lIns="0" tIns="0" rIns="0" bIns="0" anchor="t">
            <a:normAutofit/>
          </a:bodyPr>
          <a:lstStyle/>
          <a:p>
            <a:pPr algn="l">
              <a:buNone/>
              <a:defRPr sz="1575" b="0" i="0">
                <a:solidFill>
                  <a:srgbClr val="161616"/>
                </a:solidFill>
                <a:latin typeface="Times New Roman"/>
                <a:ea typeface="Times New Roman"/>
                <a:cs typeface="Times New Roman"/>
              </a:defRPr>
            </a:pPr>
            <a:r>
              <a:rPr sz="1575" b="0" i="0" dirty="0">
                <a:solidFill>
                  <a:srgbClr val="161616"/>
                </a:solidFill>
                <a:latin typeface="Times New Roman"/>
                <a:ea typeface="Times New Roman"/>
                <a:cs typeface="Times New Roman"/>
              </a:rPr>
              <a:t>Real R1 recording and original camera footage</a:t>
            </a:r>
          </a:p>
          <a:p>
            <a:pPr algn="l">
              <a:buNone/>
              <a:defRPr sz="1800">
                <a:solidFill>
                  <a:srgbClr val="161616"/>
                </a:solidFill>
                <a:latin typeface="Times New Roman"/>
                <a:ea typeface="Times New Roman"/>
                <a:cs typeface="Times New Roman"/>
              </a:defRPr>
            </a:pPr>
            <a:r>
              <a:rPr sz="1800" dirty="0">
                <a:solidFill>
                  <a:srgbClr val="161616"/>
                </a:solidFill>
                <a:latin typeface="Times New Roman"/>
                <a:ea typeface="Times New Roman"/>
                <a:cs typeface="Times New Roman"/>
              </a:rPr>
              <a:t>https://</a:t>
            </a:r>
            <a:r>
              <a:rPr sz="1800" dirty="0" err="1">
                <a:solidFill>
                  <a:srgbClr val="161616"/>
                </a:solidFill>
                <a:latin typeface="Times New Roman"/>
                <a:ea typeface="Times New Roman"/>
                <a:cs typeface="Times New Roman"/>
              </a:rPr>
              <a:t>huggingface.co</a:t>
            </a:r>
            <a:r>
              <a:rPr sz="1800" dirty="0">
                <a:solidFill>
                  <a:srgbClr val="161616"/>
                </a:solidFill>
                <a:latin typeface="Times New Roman"/>
                <a:ea typeface="Times New Roman"/>
                <a:cs typeface="Times New Roman"/>
              </a:rPr>
              <a:t>/datasets/vasco281204/r1_kinesthetic_joint_check_09</a:t>
            </a:r>
          </a:p>
          <a:p>
            <a:pPr algn="l">
              <a:buNone/>
              <a:defRPr sz="1575" b="0" i="0">
                <a:solidFill>
                  <a:srgbClr val="161616"/>
                </a:solidFill>
                <a:latin typeface="Times New Roman"/>
                <a:ea typeface="Times New Roman"/>
                <a:cs typeface="Times New Roman"/>
              </a:defRPr>
            </a:pPr>
            <a:endParaRPr sz="1800" dirty="0">
              <a:solidFill>
                <a:srgbClr val="161616"/>
              </a:solidFill>
              <a:latin typeface="Times New Roman"/>
              <a:ea typeface="Times New Roman"/>
              <a:cs typeface="Times New Roman"/>
            </a:endParaRPr>
          </a:p>
        </p:txBody>
      </p:sp>
      <p:sp>
        <p:nvSpPr>
          <p:cNvPr id="4" name="footer">
            <a:extLst>
              <a:ext uri="{FF2B5EF4-FFF2-40B4-BE49-F238E27FC236}">
                <a16:creationId xmlns:a16="http://schemas.microsoft.com/office/drawing/2014/main" id="{F014CE0D-FDA9-40C8-B651-A77F57843CF3}"/>
              </a:ext>
            </a:extLst>
          </p:cNvPr>
          <p:cNvSpPr>
            <a:spLocks noGrp="1"/>
          </p:cNvSpPr>
          <p:nvPr/>
        </p:nvSpPr>
        <p:spPr>
          <a:xfrm>
            <a:off x="10287000" y="6486525"/>
            <a:ext cx="1238250" cy="209550"/>
          </a:xfrm>
          <a:prstGeom prst="rect">
            <a:avLst/>
          </a:prstGeom>
          <a:noFill/>
          <a:ln w="0">
            <a:noFill/>
            <a:prstDash val="solid"/>
          </a:ln>
        </p:spPr>
        <p:txBody>
          <a:bodyPr lIns="0" tIns="0" rIns="0" bIns="0" anchor="t">
            <a:normAutofit/>
          </a:bodyPr>
          <a:lstStyle/>
          <a:p>
            <a:pPr algn="r">
              <a:buNone/>
              <a:defRPr sz="1200" b="0" i="0">
                <a:solidFill>
                  <a:srgbClr val="666666"/>
                </a:solidFill>
                <a:latin typeface="Times New Roman"/>
                <a:ea typeface="Times New Roman"/>
                <a:cs typeface="Times New Roman"/>
              </a:defRPr>
            </a:pPr>
            <a:r>
              <a:rPr sz="1200" b="0" i="0">
                <a:solidFill>
                  <a:srgbClr val="666666"/>
                </a:solidFill>
                <a:latin typeface="Times New Roman"/>
                <a:ea typeface="Times New Roman"/>
                <a:cs typeface="Times New Roman"/>
              </a:rPr>
              <a:t>R1 imitation  11</a:t>
            </a:r>
          </a:p>
        </p:txBody>
      </p:sp>
    </p:spTree>
    <p:extLst>
      <p:ext uri="{BB962C8B-B14F-4D97-AF65-F5344CB8AC3E}">
        <p14:creationId xmlns:p14="http://schemas.microsoft.com/office/powerpoint/2010/main" val="476060162"/>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1475</Words>
  <Application>Microsoft Macintosh PowerPoint</Application>
  <DocSecurity>0</DocSecurity>
  <PresentationFormat>Widescreen</PresentationFormat>
  <Paragraphs>106</Paragraphs>
  <Slides>11</Slides>
  <Notes>11</Notes>
  <HiddenSlides>0</HiddenSlides>
  <MMClips>2</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Calibri</vt:lpstr>
      <vt:lpstr>Times New Roman</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Cesar Pascal</cp:lastModifiedBy>
  <cp:revision>1</cp:revision>
  <dcterms:created xsi:type="dcterms:W3CDTF">2026-09-14T23:27:22Z</dcterms:created>
  <dcterms:modified xsi:type="dcterms:W3CDTF">2026-09-14T23:49:51Z</dcterms:modified>
</cp:coreProperties>
</file>