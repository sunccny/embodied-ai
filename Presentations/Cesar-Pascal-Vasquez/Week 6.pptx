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Le Jour Serif" charset="1" panose="02000500000000000000"/>
      <p:regular r:id="rId15"/>
    </p:embeddedFont>
    <p:embeddedFont>
      <p:font typeface="Alta" charset="1" panose="02000503000000000000"/>
      <p:regular r:id="rId16"/>
    </p:embeddedFont>
    <p:embeddedFont>
      <p:font typeface="Open Sans" charset="1" panose="020B060603050402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VAHEE1yxDpc.mp4" Type="http://schemas.openxmlformats.org/officeDocument/2006/relationships/video"/><Relationship Id="rId4" Target="../media/VAHEE1yxDpc.mp4" Type="http://schemas.microsoft.com/office/2007/relationships/media"/></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VAHEE6E4NkM.mp4" Type="http://schemas.openxmlformats.org/officeDocument/2006/relationships/video"/><Relationship Id="rId4" Target="../media/VAHEE6E4NkM.mp4" Type="http://schemas.microsoft.com/office/2007/relationships/media"/></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548782" y="3638133"/>
            <a:ext cx="13190436" cy="1524835"/>
          </a:xfrm>
          <a:prstGeom prst="rect">
            <a:avLst/>
          </a:prstGeom>
        </p:spPr>
        <p:txBody>
          <a:bodyPr anchor="t" rtlCol="false" tIns="0" lIns="0" bIns="0" rIns="0">
            <a:spAutoFit/>
          </a:bodyPr>
          <a:lstStyle/>
          <a:p>
            <a:pPr algn="ctr">
              <a:lnSpc>
                <a:spcPts val="11956"/>
              </a:lnSpc>
            </a:pPr>
            <a:r>
              <a:rPr lang="en-US" sz="10219" spc="1400">
                <a:solidFill>
                  <a:srgbClr val="FFFFFF"/>
                </a:solidFill>
                <a:latin typeface="Le Jour Serif"/>
                <a:ea typeface="Le Jour Serif"/>
                <a:cs typeface="Le Jour Serif"/>
                <a:sym typeface="Le Jour Serif"/>
              </a:rPr>
              <a:t>WEEK 6</a:t>
            </a:r>
          </a:p>
        </p:txBody>
      </p:sp>
      <p:sp>
        <p:nvSpPr>
          <p:cNvPr name="TextBox 4" id="4"/>
          <p:cNvSpPr txBox="true"/>
          <p:nvPr/>
        </p:nvSpPr>
        <p:spPr>
          <a:xfrm rot="0">
            <a:off x="5819851" y="8770620"/>
            <a:ext cx="6648299" cy="487680"/>
          </a:xfrm>
          <a:prstGeom prst="rect">
            <a:avLst/>
          </a:prstGeom>
        </p:spPr>
        <p:txBody>
          <a:bodyPr anchor="t" rtlCol="false" tIns="0" lIns="0" bIns="0" rIns="0">
            <a:spAutoFit/>
          </a:bodyPr>
          <a:lstStyle/>
          <a:p>
            <a:pPr algn="ctr">
              <a:lnSpc>
                <a:spcPts val="3509"/>
              </a:lnSpc>
            </a:pPr>
            <a:r>
              <a:rPr lang="en-US" sz="3000" spc="410">
                <a:solidFill>
                  <a:srgbClr val="FFFFFF"/>
                </a:solidFill>
                <a:latin typeface="Alta"/>
                <a:ea typeface="Alta"/>
                <a:cs typeface="Alta"/>
                <a:sym typeface="Alta"/>
              </a:rPr>
              <a:t>CESAR A. PASCAL</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0" y="3984311"/>
            <a:ext cx="18288000" cy="3373572"/>
          </a:xfrm>
          <a:prstGeom prst="rect">
            <a:avLst/>
          </a:prstGeom>
        </p:spPr>
        <p:txBody>
          <a:bodyPr anchor="t" rtlCol="false" tIns="0" lIns="0" bIns="0" rIns="0">
            <a:spAutoFit/>
          </a:bodyPr>
          <a:lstStyle/>
          <a:p>
            <a:pPr algn="ctr">
              <a:lnSpc>
                <a:spcPts val="4492"/>
              </a:lnSpc>
            </a:pPr>
            <a:r>
              <a:rPr lang="en-US" sz="3208">
                <a:solidFill>
                  <a:srgbClr val="FFFFFF"/>
                </a:solidFill>
                <a:latin typeface="Open Sans"/>
                <a:ea typeface="Open Sans"/>
                <a:cs typeface="Open Sans"/>
                <a:sym typeface="Open Sans"/>
              </a:rPr>
              <a:t>This week, the focus was on following the MJSw</a:t>
            </a:r>
            <a:r>
              <a:rPr lang="en-US" sz="3208">
                <a:solidFill>
                  <a:srgbClr val="FFFFFF"/>
                </a:solidFill>
                <a:latin typeface="Open Sans"/>
                <a:ea typeface="Open Sans"/>
                <a:cs typeface="Open Sans"/>
                <a:sym typeface="Open Sans"/>
              </a:rPr>
              <a:t>an workflow with the objective of understanding how a browser interface can load and run a MuJoCo simulation. The first step consisted of ensuring that the MuJoCo model values could be accessed and displayed in the browser, allowing them to be used later during the implementation stage.</a:t>
            </a:r>
          </a:p>
          <a:p>
            <a:pPr algn="ctr">
              <a:lnSpc>
                <a:spcPts val="4492"/>
              </a:lnSpc>
            </a:pPr>
          </a:p>
          <a:p>
            <a:pPr algn="ctr">
              <a:lnSpc>
                <a:spcPts val="4492"/>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Freeform 2" id="2"/>
          <p:cNvSpPr/>
          <p:nvPr/>
        </p:nvSpPr>
        <p:spPr>
          <a:xfrm flipH="false" flipV="false" rot="0">
            <a:off x="4140720" y="2361788"/>
            <a:ext cx="10006560" cy="7302084"/>
          </a:xfrm>
          <a:custGeom>
            <a:avLst/>
            <a:gdLst/>
            <a:ahLst/>
            <a:cxnLst/>
            <a:rect r="r" b="b" t="t" l="l"/>
            <a:pathLst>
              <a:path h="7302084" w="10006560">
                <a:moveTo>
                  <a:pt x="0" y="0"/>
                </a:moveTo>
                <a:lnTo>
                  <a:pt x="10006560" y="0"/>
                </a:lnTo>
                <a:lnTo>
                  <a:pt x="10006560" y="7302084"/>
                </a:lnTo>
                <a:lnTo>
                  <a:pt x="0" y="7302084"/>
                </a:lnTo>
                <a:lnTo>
                  <a:pt x="0" y="0"/>
                </a:lnTo>
                <a:close/>
              </a:path>
            </a:pathLst>
          </a:custGeom>
          <a:blipFill>
            <a:blip r:embed="rId2"/>
            <a:stretch>
              <a:fillRect l="0" t="0" r="0" b="0"/>
            </a:stretch>
          </a:blipFill>
        </p:spPr>
      </p:sp>
      <p:sp>
        <p:nvSpPr>
          <p:cNvPr name="TextBox 3" id="3"/>
          <p:cNvSpPr txBox="true"/>
          <p:nvPr/>
        </p:nvSpPr>
        <p:spPr>
          <a:xfrm rot="0">
            <a:off x="4140720" y="348493"/>
            <a:ext cx="10006560" cy="178054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Initi</a:t>
            </a:r>
            <a:r>
              <a:rPr lang="en-US" sz="3399">
                <a:solidFill>
                  <a:srgbClr val="FFFFFF"/>
                </a:solidFill>
                <a:latin typeface="Open Sans"/>
                <a:ea typeface="Open Sans"/>
                <a:cs typeface="Open Sans"/>
                <a:sym typeface="Open Sans"/>
              </a:rPr>
              <a:t>ally, the MuJoCo model values were successfully exposed in the browser console, as shown below.</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Freeform 2" id="2"/>
          <p:cNvSpPr/>
          <p:nvPr/>
        </p:nvSpPr>
        <p:spPr>
          <a:xfrm flipH="false" flipV="false" rot="0">
            <a:off x="4880616" y="2747964"/>
            <a:ext cx="8236991" cy="6510336"/>
          </a:xfrm>
          <a:custGeom>
            <a:avLst/>
            <a:gdLst/>
            <a:ahLst/>
            <a:cxnLst/>
            <a:rect r="r" b="b" t="t" l="l"/>
            <a:pathLst>
              <a:path h="6510336" w="8236991">
                <a:moveTo>
                  <a:pt x="0" y="0"/>
                </a:moveTo>
                <a:lnTo>
                  <a:pt x="8236991" y="0"/>
                </a:lnTo>
                <a:lnTo>
                  <a:pt x="8236991" y="6510336"/>
                </a:lnTo>
                <a:lnTo>
                  <a:pt x="0" y="6510336"/>
                </a:lnTo>
                <a:lnTo>
                  <a:pt x="0" y="0"/>
                </a:lnTo>
                <a:close/>
              </a:path>
            </a:pathLst>
          </a:custGeom>
          <a:blipFill>
            <a:blip r:embed="rId2"/>
            <a:stretch>
              <a:fillRect l="0" t="0" r="0" b="0"/>
            </a:stretch>
          </a:blipFill>
        </p:spPr>
      </p:sp>
      <p:sp>
        <p:nvSpPr>
          <p:cNvPr name="TextBox 3" id="3"/>
          <p:cNvSpPr txBox="true"/>
          <p:nvPr/>
        </p:nvSpPr>
        <p:spPr>
          <a:xfrm rot="0">
            <a:off x="0" y="1197759"/>
            <a:ext cx="17998223" cy="1180465"/>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Afterward, it became possible to display these values on the main webpage and create a section that can later be used for running simulations</a:t>
            </a:r>
            <a:r>
              <a:rPr lang="en-US" sz="3399">
                <a:solidFill>
                  <a:srgbClr val="000000"/>
                </a:solidFill>
                <a:latin typeface="Open Sans"/>
                <a:ea typeface="Open Sans"/>
                <a:cs typeface="Open Sans"/>
                <a:sym typeface="Open Sans"/>
              </a:rPr>
              <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3631962" y="3555157"/>
            <a:ext cx="10629942" cy="5703143"/>
          </a:xfrm>
          <a:prstGeom prst="rect">
            <a:avLst/>
          </a:prstGeom>
        </p:spPr>
      </p:pic>
      <p:sp>
        <p:nvSpPr>
          <p:cNvPr name="TextBox 3" id="3"/>
          <p:cNvSpPr txBox="true"/>
          <p:nvPr/>
        </p:nvSpPr>
        <p:spPr>
          <a:xfrm rot="0">
            <a:off x="356659" y="738946"/>
            <a:ext cx="17574683" cy="2290361"/>
          </a:xfrm>
          <a:prstGeom prst="rect">
            <a:avLst/>
          </a:prstGeom>
        </p:spPr>
        <p:txBody>
          <a:bodyPr anchor="t" rtlCol="false" tIns="0" lIns="0" bIns="0" rIns="0">
            <a:spAutoFit/>
          </a:bodyPr>
          <a:lstStyle/>
          <a:p>
            <a:pPr algn="ctr">
              <a:lnSpc>
                <a:spcPts val="4574"/>
              </a:lnSpc>
            </a:pPr>
            <a:r>
              <a:rPr lang="en-US" sz="3267">
                <a:solidFill>
                  <a:srgbClr val="FFFFFF"/>
                </a:solidFill>
                <a:latin typeface="Open Sans"/>
                <a:ea typeface="Open Sans"/>
                <a:cs typeface="Open Sans"/>
                <a:sym typeface="Open Sans"/>
              </a:rPr>
              <a:t>To test how the visu</a:t>
            </a:r>
            <a:r>
              <a:rPr lang="en-US" sz="3267">
                <a:solidFill>
                  <a:srgbClr val="FFFFFF"/>
                </a:solidFill>
                <a:latin typeface="Open Sans"/>
                <a:ea typeface="Open Sans"/>
                <a:cs typeface="Open Sans"/>
                <a:sym typeface="Open Sans"/>
              </a:rPr>
              <a:t>alizer would function, I began with a simple moving blue box. This test was successful and confirmed that the visualization pipeline was working correctly. It is important to note that the model used was not trained, which explains the irregular movement observed.</a:t>
            </a: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2580319" y="2477583"/>
            <a:ext cx="13127362" cy="7043051"/>
          </a:xfrm>
          <a:prstGeom prst="rect">
            <a:avLst/>
          </a:prstGeom>
        </p:spPr>
      </p:pic>
      <p:sp>
        <p:nvSpPr>
          <p:cNvPr name="TextBox 3" id="3"/>
          <p:cNvSpPr txBox="true"/>
          <p:nvPr/>
        </p:nvSpPr>
        <p:spPr>
          <a:xfrm rot="0">
            <a:off x="2580319" y="962025"/>
            <a:ext cx="13127362" cy="1180465"/>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Following this, I worked on integrating </a:t>
            </a:r>
            <a:r>
              <a:rPr lang="en-US" sz="3399">
                <a:solidFill>
                  <a:srgbClr val="FFFFFF"/>
                </a:solidFill>
                <a:latin typeface="Open Sans"/>
                <a:ea typeface="Open Sans"/>
                <a:cs typeface="Open Sans"/>
                <a:sym typeface="Open Sans"/>
              </a:rPr>
              <a:t>a more humanoid model into the visualizer.</a:t>
            </a: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7.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315533" y="3525498"/>
            <a:ext cx="17656934" cy="2870611"/>
          </a:xfrm>
          <a:prstGeom prst="rect">
            <a:avLst/>
          </a:prstGeom>
        </p:spPr>
        <p:txBody>
          <a:bodyPr anchor="t" rtlCol="false" tIns="0" lIns="0" bIns="0" rIns="0">
            <a:spAutoFit/>
          </a:bodyPr>
          <a:lstStyle/>
          <a:p>
            <a:pPr algn="ctr">
              <a:lnSpc>
                <a:spcPts val="4595"/>
              </a:lnSpc>
            </a:pPr>
            <a:r>
              <a:rPr lang="en-US" sz="3282">
                <a:solidFill>
                  <a:srgbClr val="FFFFFF"/>
                </a:solidFill>
                <a:latin typeface="Open Sans"/>
                <a:ea typeface="Open Sans"/>
                <a:cs typeface="Open Sans"/>
                <a:sym typeface="Open Sans"/>
              </a:rPr>
              <a:t>For future work, I will use GitHub to m</a:t>
            </a:r>
            <a:r>
              <a:rPr lang="en-US" sz="3282">
                <a:solidFill>
                  <a:srgbClr val="FFFFFF"/>
                </a:solidFill>
                <a:latin typeface="Open Sans"/>
                <a:ea typeface="Open Sans"/>
                <a:cs typeface="Open Sans"/>
                <a:sym typeface="Open Sans"/>
              </a:rPr>
              <a:t>ake the project function more like the original MJSwan and create a shareable link. In the current version, the browser interface runs on a local server, which means it can only be accessed from my computer.</a:t>
            </a:r>
          </a:p>
          <a:p>
            <a:pPr algn="ctr">
              <a:lnSpc>
                <a:spcPts val="4595"/>
              </a:lnSpc>
            </a:pPr>
          </a:p>
          <a:p>
            <a:pPr algn="ctr">
              <a:lnSpc>
                <a:spcPts val="4595"/>
              </a:lnSpc>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144888" y="962025"/>
            <a:ext cx="18288000" cy="898144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Next Steps</a:t>
            </a:r>
          </a:p>
          <a:p>
            <a:pPr algn="ctr" marL="734059" indent="-367030" lvl="1">
              <a:lnSpc>
                <a:spcPts val="4759"/>
              </a:lnSpc>
              <a:buAutoNum type="arabicPeriod" startAt="1"/>
            </a:pPr>
            <a:r>
              <a:rPr lang="en-US" sz="3399">
                <a:solidFill>
                  <a:srgbClr val="FFFFFF"/>
                </a:solidFill>
                <a:latin typeface="Open Sans"/>
                <a:ea typeface="Open Sans"/>
                <a:cs typeface="Open Sans"/>
                <a:sym typeface="Open Sans"/>
              </a:rPr>
              <a:t>Create a GitHub repository to host the project and make the browser simulation accessible online instead of running only on a local server.</a:t>
            </a:r>
          </a:p>
          <a:p>
            <a:pPr algn="ctr" marL="734059" indent="-367030" lvl="1">
              <a:lnSpc>
                <a:spcPts val="4759"/>
              </a:lnSpc>
              <a:buAutoNum type="arabicPeriod" startAt="1"/>
            </a:pPr>
            <a:r>
              <a:rPr lang="en-US" sz="3399">
                <a:solidFill>
                  <a:srgbClr val="FFFFFF"/>
                </a:solidFill>
                <a:latin typeface="Open Sans"/>
                <a:ea typeface="Open Sans"/>
                <a:cs typeface="Open Sans"/>
                <a:sym typeface="Open Sans"/>
              </a:rPr>
              <a:t>Deploy the project using GitHub Pages to generate a shareable URL similar to the original MJSwan demos.</a:t>
            </a:r>
          </a:p>
          <a:p>
            <a:pPr algn="ctr" marL="734059" indent="-367030" lvl="1">
              <a:lnSpc>
                <a:spcPts val="4759"/>
              </a:lnSpc>
              <a:buAutoNum type="arabicPeriod" startAt="1"/>
            </a:pPr>
            <a:r>
              <a:rPr lang="en-US" sz="3399">
                <a:solidFill>
                  <a:srgbClr val="FFFFFF"/>
                </a:solidFill>
                <a:latin typeface="Open Sans"/>
                <a:ea typeface="Open Sans"/>
                <a:cs typeface="Open Sans"/>
                <a:sym typeface="Open Sans"/>
              </a:rPr>
              <a:t>Improve the visualizer interface to make the simulation more interactive, allowing users to better observe and control the behavior of the model.</a:t>
            </a:r>
          </a:p>
          <a:p>
            <a:pPr algn="ctr" marL="734059" indent="-367030" lvl="1">
              <a:lnSpc>
                <a:spcPts val="4759"/>
              </a:lnSpc>
              <a:buAutoNum type="arabicPeriod" startAt="1"/>
            </a:pPr>
            <a:r>
              <a:rPr lang="en-US" sz="3399">
                <a:solidFill>
                  <a:srgbClr val="FFFFFF"/>
                </a:solidFill>
                <a:latin typeface="Open Sans"/>
                <a:ea typeface="Open Sans"/>
                <a:cs typeface="Open Sans"/>
                <a:sym typeface="Open Sans"/>
              </a:rPr>
              <a:t>Continue studying the </a:t>
            </a:r>
            <a:r>
              <a:rPr lang="en-US" sz="3399">
                <a:solidFill>
                  <a:srgbClr val="FFFFFF"/>
                </a:solidFill>
                <a:latin typeface="Open Sans"/>
                <a:ea typeface="Open Sans"/>
                <a:cs typeface="Open Sans"/>
                <a:sym typeface="Open Sans"/>
              </a:rPr>
              <a:t>architecture of MJSwan to better understand how its simulation pipeline and browser integration work.</a:t>
            </a:r>
          </a:p>
          <a:p>
            <a:pPr algn="ctr" marL="734059" indent="-367030" lvl="1">
              <a:lnSpc>
                <a:spcPts val="4759"/>
              </a:lnSpc>
              <a:buAutoNum type="arabicPeriod" startAt="1"/>
            </a:pPr>
            <a:r>
              <a:rPr lang="en-US" sz="3399">
                <a:solidFill>
                  <a:srgbClr val="FFFFFF"/>
                </a:solidFill>
                <a:latin typeface="Open Sans"/>
                <a:ea typeface="Open Sans"/>
                <a:cs typeface="Open Sans"/>
                <a:sym typeface="Open Sans"/>
              </a:rPr>
              <a:t>Work on training and improving the locomotion model, with the goal of integrating a trained policy that produces more stable and realistic movements.</a:t>
            </a:r>
          </a:p>
          <a:p>
            <a:pPr algn="ctr" marL="734059" indent="-367030" lvl="1">
              <a:lnSpc>
                <a:spcPts val="4759"/>
              </a:lnSpc>
              <a:buAutoNum type="arabicPeriod" startAt="1"/>
            </a:pPr>
            <a:r>
              <a:rPr lang="en-US" sz="3399">
                <a:solidFill>
                  <a:srgbClr val="FFFFFF"/>
                </a:solidFill>
                <a:latin typeface="Open Sans"/>
                <a:ea typeface="Open Sans"/>
                <a:cs typeface="Open Sans"/>
                <a:sym typeface="Open Sans"/>
              </a:rPr>
              <a:t>Test the full pipeline (model → ONNX → browser inference → MuJoCo simulation) to ensure smooth real-time interaction.</a:t>
            </a:r>
          </a:p>
          <a:p>
            <a:pPr algn="ctr">
              <a:lnSpc>
                <a:spcPts val="4759"/>
              </a:lnSpc>
            </a:pPr>
          </a:p>
          <a:p>
            <a:pPr algn="ctr">
              <a:lnSpc>
                <a:spcPts val="4759"/>
              </a:lnSpc>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1231820" y="544047"/>
            <a:ext cx="14512262" cy="8659969"/>
          </a:xfrm>
          <a:prstGeom prst="rect">
            <a:avLst/>
          </a:prstGeom>
        </p:spPr>
        <p:txBody>
          <a:bodyPr anchor="t" rtlCol="false" tIns="0" lIns="0" bIns="0" rIns="0">
            <a:spAutoFit/>
          </a:bodyPr>
          <a:lstStyle/>
          <a:p>
            <a:pPr algn="ctr">
              <a:lnSpc>
                <a:spcPts val="3821"/>
              </a:lnSpc>
            </a:pPr>
            <a:r>
              <a:rPr lang="en-US" sz="2729">
                <a:solidFill>
                  <a:srgbClr val="FFFFFF"/>
                </a:solidFill>
                <a:latin typeface="Open Sans"/>
                <a:ea typeface="Open Sans"/>
                <a:cs typeface="Open Sans"/>
                <a:sym typeface="Open Sans"/>
              </a:rPr>
              <a:t>References</a:t>
            </a:r>
          </a:p>
          <a:p>
            <a:pPr algn="ctr">
              <a:lnSpc>
                <a:spcPts val="3821"/>
              </a:lnSpc>
            </a:pPr>
          </a:p>
          <a:p>
            <a:pPr algn="ctr">
              <a:lnSpc>
                <a:spcPts val="3821"/>
              </a:lnSpc>
            </a:pPr>
            <a:r>
              <a:rPr lang="en-US" sz="2729">
                <a:solidFill>
                  <a:srgbClr val="FFFFFF"/>
                </a:solidFill>
                <a:latin typeface="Open Sans"/>
                <a:ea typeface="Open Sans"/>
                <a:cs typeface="Open Sans"/>
                <a:sym typeface="Open Sans"/>
              </a:rPr>
              <a:t>MuJoCo. MuJoCo Physics Engine. https://mujoco.org/</a:t>
            </a:r>
          </a:p>
          <a:p>
            <a:pPr algn="ctr">
              <a:lnSpc>
                <a:spcPts val="3821"/>
              </a:lnSpc>
            </a:pPr>
          </a:p>
          <a:p>
            <a:pPr algn="ctr">
              <a:lnSpc>
                <a:spcPts val="3821"/>
              </a:lnSpc>
            </a:pPr>
            <a:r>
              <a:rPr lang="en-US" sz="2729">
                <a:solidFill>
                  <a:srgbClr val="FFFFFF"/>
                </a:solidFill>
                <a:latin typeface="Open Sans"/>
                <a:ea typeface="Open Sans"/>
                <a:cs typeface="Open Sans"/>
                <a:sym typeface="Open Sans"/>
              </a:rPr>
              <a:t>ONNX. Open Neural Network Exchange (ONNX). https://onnx.ai/</a:t>
            </a:r>
          </a:p>
          <a:p>
            <a:pPr algn="ctr">
              <a:lnSpc>
                <a:spcPts val="3821"/>
              </a:lnSpc>
            </a:pPr>
          </a:p>
          <a:p>
            <a:pPr algn="ctr">
              <a:lnSpc>
                <a:spcPts val="3821"/>
              </a:lnSpc>
            </a:pPr>
            <a:r>
              <a:rPr lang="en-US" sz="2729">
                <a:solidFill>
                  <a:srgbClr val="FFFFFF"/>
                </a:solidFill>
                <a:latin typeface="Open Sans"/>
                <a:ea typeface="Open Sans"/>
                <a:cs typeface="Open Sans"/>
                <a:sym typeface="Open Sans"/>
              </a:rPr>
              <a:t>ONNX Runtime Web. https://www.npmjs.com/package/onnxruntime-web</a:t>
            </a:r>
          </a:p>
          <a:p>
            <a:pPr algn="ctr">
              <a:lnSpc>
                <a:spcPts val="3821"/>
              </a:lnSpc>
            </a:pPr>
          </a:p>
          <a:p>
            <a:pPr algn="ctr">
              <a:lnSpc>
                <a:spcPts val="3821"/>
              </a:lnSpc>
            </a:pPr>
            <a:r>
              <a:rPr lang="en-US" sz="2729">
                <a:solidFill>
                  <a:srgbClr val="FFFFFF"/>
                </a:solidFill>
                <a:latin typeface="Open Sans"/>
                <a:ea typeface="Open Sans"/>
                <a:cs typeface="Open Sans"/>
                <a:sym typeface="Open Sans"/>
              </a:rPr>
              <a:t>Three.js JavaScript 3D Library. https://threejs.org/</a:t>
            </a:r>
          </a:p>
          <a:p>
            <a:pPr algn="ctr">
              <a:lnSpc>
                <a:spcPts val="3821"/>
              </a:lnSpc>
            </a:pPr>
          </a:p>
          <a:p>
            <a:pPr algn="ctr">
              <a:lnSpc>
                <a:spcPts val="3821"/>
              </a:lnSpc>
            </a:pPr>
            <a:r>
              <a:rPr lang="en-US" sz="2729">
                <a:solidFill>
                  <a:srgbClr val="FFFFFF"/>
                </a:solidFill>
                <a:latin typeface="Open Sans"/>
                <a:ea typeface="Open Sans"/>
                <a:cs typeface="Open Sans"/>
                <a:sym typeface="Open Sans"/>
              </a:rPr>
              <a:t>MuJoCo Web</a:t>
            </a:r>
            <a:r>
              <a:rPr lang="en-US" sz="2729">
                <a:solidFill>
                  <a:srgbClr val="FFFFFF"/>
                </a:solidFill>
                <a:latin typeface="Open Sans"/>
                <a:ea typeface="Open Sans"/>
                <a:cs typeface="Open Sans"/>
                <a:sym typeface="Open Sans"/>
              </a:rPr>
              <a:t>Assembly (mujoco-js / mujoco_wasm). https://github.com/zalo/mujoco_wasm</a:t>
            </a:r>
          </a:p>
          <a:p>
            <a:pPr algn="ctr">
              <a:lnSpc>
                <a:spcPts val="3821"/>
              </a:lnSpc>
            </a:pPr>
          </a:p>
          <a:p>
            <a:pPr algn="ctr">
              <a:lnSpc>
                <a:spcPts val="3821"/>
              </a:lnSpc>
            </a:pPr>
            <a:r>
              <a:rPr lang="en-US" sz="2729">
                <a:solidFill>
                  <a:srgbClr val="FFFFFF"/>
                </a:solidFill>
                <a:latin typeface="Open Sans"/>
                <a:ea typeface="Open Sans"/>
                <a:cs typeface="Open Sans"/>
                <a:sym typeface="Open Sans"/>
              </a:rPr>
              <a:t>MJSwan: MuJoCo Web Simulation Framework. https://github.com/ttktjmt/mjswan</a:t>
            </a:r>
          </a:p>
          <a:p>
            <a:pPr algn="ctr">
              <a:lnSpc>
                <a:spcPts val="3821"/>
              </a:lnSpc>
            </a:pPr>
          </a:p>
          <a:p>
            <a:pPr algn="ctr">
              <a:lnSpc>
                <a:spcPts val="3821"/>
              </a:lnSpc>
            </a:pPr>
            <a:r>
              <a:rPr lang="en-US" sz="2729">
                <a:solidFill>
                  <a:srgbClr val="FFFFFF"/>
                </a:solidFill>
                <a:latin typeface="Open Sans"/>
                <a:ea typeface="Open Sans"/>
                <a:cs typeface="Open Sans"/>
                <a:sym typeface="Open Sans"/>
              </a:rPr>
              <a:t>MJSwan Web Demo. https://ttktjmt.github.io/mjswan/</a:t>
            </a:r>
          </a:p>
          <a:p>
            <a:pPr algn="ctr">
              <a:lnSpc>
                <a:spcPts val="3821"/>
              </a:lnSpc>
            </a:pPr>
          </a:p>
          <a:p>
            <a:pPr algn="ctr">
              <a:lnSpc>
                <a:spcPts val="3821"/>
              </a:lnSpc>
            </a:pPr>
            <a:r>
              <a:rPr lang="en-US" sz="2729">
                <a:solidFill>
                  <a:srgbClr val="FFFFFF"/>
                </a:solidFill>
                <a:latin typeface="Open Sans"/>
                <a:ea typeface="Open Sans"/>
                <a:cs typeface="Open Sans"/>
                <a:sym typeface="Open Sans"/>
              </a:rPr>
              <a:t>Unitree Robotics. Unitree G1 Humanoid Robot. https://www.unitree.com/</a:t>
            </a:r>
          </a:p>
          <a:p>
            <a:pPr algn="ctr">
              <a:lnSpc>
                <a:spcPts val="3821"/>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DAHEE4xmUkI</dc:identifier>
  <dcterms:modified xsi:type="dcterms:W3CDTF">2011-08-01T06:04:30Z</dcterms:modified>
  <cp:revision>1</cp:revision>
  <dc:title>Week 6</dc:title>
</cp:coreProperties>
</file>