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 Jour Serif" charset="1" panose="02000500000000000000"/>
      <p:regular r:id="rId15"/>
    </p:embeddedFont>
    <p:embeddedFont>
      <p:font typeface="Alta" charset="1" panose="02000503000000000000"/>
      <p:regular r:id="rId16"/>
    </p:embeddedFont>
    <p:embeddedFont>
      <p:font typeface="Times New Roman" charset="1" panose="02020603050405020304"/>
      <p:regular r:id="rId17"/>
    </p:embeddedFont>
    <p:embeddedFont>
      <p:font typeface="Times New Roman Bold" charset="1" panose="020208030705050203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VAHB00nTQoI.mp4" Type="http://schemas.openxmlformats.org/officeDocument/2006/relationships/video"/><Relationship Id="rId4" Target="../media/VAHB00nTQoI.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VAHB0wAEo6c.mp4" Type="http://schemas.openxmlformats.org/officeDocument/2006/relationships/video"/><Relationship Id="rId4" Target="../media/VAHB0wAEo6c.mp4" Type="http://schemas.microsoft.com/office/2007/relationships/media"/></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VAHB0_a8wa0.mp4" Type="http://schemas.openxmlformats.org/officeDocument/2006/relationships/video"/><Relationship Id="rId4" Target="../media/VAHB0_a8wa0.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https://mujoco.readthedocs.io" TargetMode="External" Type="http://schemas.openxmlformats.org/officeDocument/2006/relationships/hyperlink"/><Relationship Id="rId3" Target="https://github.com/unitreerobotic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3</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2483301"/>
            <a:ext cx="18288000" cy="3699760"/>
          </a:xfrm>
          <a:prstGeom prst="rect">
            <a:avLst/>
          </a:prstGeom>
        </p:spPr>
        <p:txBody>
          <a:bodyPr anchor="t" rtlCol="false" tIns="0" lIns="0" bIns="0" rIns="0">
            <a:spAutoFit/>
          </a:bodyPr>
          <a:lstStyle/>
          <a:p>
            <a:pPr algn="ctr">
              <a:lnSpc>
                <a:spcPts val="4171"/>
              </a:lnSpc>
              <a:spcBef>
                <a:spcPct val="0"/>
              </a:spcBef>
            </a:pPr>
            <a:r>
              <a:rPr lang="en-US" sz="3565" spc="338">
                <a:solidFill>
                  <a:srgbClr val="FFFFFF"/>
                </a:solidFill>
                <a:latin typeface="Times New Roman"/>
                <a:ea typeface="Times New Roman"/>
                <a:cs typeface="Times New Roman"/>
                <a:sym typeface="Times New Roman"/>
              </a:rPr>
              <a:t>This week, I prioritized evaluating whether the Unitree G1 model is capable of reproducing movement patterns from the dataset collected last week. Once the replication workflow was tested, I used the dataset to train a neural network model that maps recorded inputs to motion outputs. The next step was implementing the trained model inside MuJoCo, with the goal of running inference in simulation and using the model’s outputs to drive the G1’s control commands.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4203902" y="1004964"/>
            <a:ext cx="9880195" cy="8253336"/>
          </a:xfrm>
          <a:custGeom>
            <a:avLst/>
            <a:gdLst/>
            <a:ahLst/>
            <a:cxnLst/>
            <a:rect r="r" b="b" t="t" l="l"/>
            <a:pathLst>
              <a:path h="8253336" w="9880195">
                <a:moveTo>
                  <a:pt x="0" y="0"/>
                </a:moveTo>
                <a:lnTo>
                  <a:pt x="9880196" y="0"/>
                </a:lnTo>
                <a:lnTo>
                  <a:pt x="9880196" y="8253336"/>
                </a:lnTo>
                <a:lnTo>
                  <a:pt x="0" y="8253336"/>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4209659" y="2984375"/>
            <a:ext cx="9868683" cy="7095664"/>
          </a:xfrm>
          <a:prstGeom prst="rect">
            <a:avLst/>
          </a:prstGeom>
        </p:spPr>
      </p:pic>
      <p:sp>
        <p:nvSpPr>
          <p:cNvPr name="TextBox 3" id="3"/>
          <p:cNvSpPr txBox="true"/>
          <p:nvPr/>
        </p:nvSpPr>
        <p:spPr>
          <a:xfrm rot="0">
            <a:off x="594160" y="397365"/>
            <a:ext cx="17099681" cy="2888764"/>
          </a:xfrm>
          <a:prstGeom prst="rect">
            <a:avLst/>
          </a:prstGeom>
        </p:spPr>
        <p:txBody>
          <a:bodyPr anchor="t" rtlCol="false" tIns="0" lIns="0" bIns="0" rIns="0">
            <a:spAutoFit/>
          </a:bodyPr>
          <a:lstStyle/>
          <a:p>
            <a:pPr algn="ctr">
              <a:lnSpc>
                <a:spcPts val="3750"/>
              </a:lnSpc>
              <a:spcBef>
                <a:spcPct val="0"/>
              </a:spcBef>
            </a:pPr>
            <a:r>
              <a:rPr lang="en-US" sz="3205" spc="439">
                <a:solidFill>
                  <a:srgbClr val="FFFFFF"/>
                </a:solidFill>
                <a:latin typeface="Times New Roman"/>
                <a:ea typeface="Times New Roman"/>
                <a:cs typeface="Times New Roman"/>
                <a:sym typeface="Times New Roman"/>
              </a:rPr>
              <a:t>This approach worked perfectly, as the robot was able to replicate the exact same behavior by simply reading the motion data from the CSV file. This confirms that the recorded data is consistent and correctly mapped to the G1 model, validating the data pipeline before moving on to neural network training and simulation deployment.</a:t>
            </a:r>
          </a:p>
          <a:p>
            <a:pPr algn="ctr">
              <a:lnSpc>
                <a:spcPts val="3750"/>
              </a:lnSpc>
              <a:spcBef>
                <a:spcPct val="0"/>
              </a:spcBef>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4721094" y="2898088"/>
            <a:ext cx="8845811" cy="6360212"/>
          </a:xfrm>
          <a:prstGeom prst="rect">
            <a:avLst/>
          </a:prstGeom>
        </p:spPr>
      </p:pic>
      <p:sp>
        <p:nvSpPr>
          <p:cNvPr name="TextBox 3" id="3"/>
          <p:cNvSpPr txBox="true"/>
          <p:nvPr/>
        </p:nvSpPr>
        <p:spPr>
          <a:xfrm rot="0">
            <a:off x="0" y="368324"/>
            <a:ext cx="18288000" cy="1690768"/>
          </a:xfrm>
          <a:prstGeom prst="rect">
            <a:avLst/>
          </a:prstGeom>
        </p:spPr>
        <p:txBody>
          <a:bodyPr anchor="t" rtlCol="false" tIns="0" lIns="0" bIns="0" rIns="0">
            <a:spAutoFit/>
          </a:bodyPr>
          <a:lstStyle/>
          <a:p>
            <a:pPr algn="ctr">
              <a:lnSpc>
                <a:spcPts val="4458"/>
              </a:lnSpc>
            </a:pPr>
            <a:r>
              <a:rPr lang="en-US" sz="3184">
                <a:solidFill>
                  <a:srgbClr val="FFFFFF"/>
                </a:solidFill>
                <a:latin typeface="Times New Roman"/>
                <a:ea typeface="Times New Roman"/>
                <a:cs typeface="Times New Roman"/>
                <a:sym typeface="Times New Roman"/>
              </a:rPr>
              <a:t>With the dat</a:t>
            </a:r>
            <a:r>
              <a:rPr lang="en-US" sz="3184">
                <a:solidFill>
                  <a:srgbClr val="FFFFFF"/>
                </a:solidFill>
                <a:latin typeface="Times New Roman"/>
                <a:ea typeface="Times New Roman"/>
                <a:cs typeface="Times New Roman"/>
                <a:sym typeface="Times New Roman"/>
              </a:rPr>
              <a:t>a validated, I proceeded to train a neural network model using the recorded motion data as input. The goal was to learn the underlying movement patterns so the model could reproduce the behavior without explicitly reading from the CSV file.</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4363359" y="2960758"/>
            <a:ext cx="9561283" cy="6874641"/>
          </a:xfrm>
          <a:prstGeom prst="rect">
            <a:avLst/>
          </a:prstGeom>
        </p:spPr>
      </p:pic>
      <p:sp>
        <p:nvSpPr>
          <p:cNvPr name="TextBox 3" id="3"/>
          <p:cNvSpPr txBox="true"/>
          <p:nvPr/>
        </p:nvSpPr>
        <p:spPr>
          <a:xfrm rot="0">
            <a:off x="388391" y="952500"/>
            <a:ext cx="17511219" cy="1723938"/>
          </a:xfrm>
          <a:prstGeom prst="rect">
            <a:avLst/>
          </a:prstGeom>
        </p:spPr>
        <p:txBody>
          <a:bodyPr anchor="t" rtlCol="false" tIns="0" lIns="0" bIns="0" rIns="0">
            <a:spAutoFit/>
          </a:bodyPr>
          <a:lstStyle/>
          <a:p>
            <a:pPr algn="ctr">
              <a:lnSpc>
                <a:spcPts val="4557"/>
              </a:lnSpc>
            </a:pPr>
            <a:r>
              <a:rPr lang="en-US" sz="3255">
                <a:solidFill>
                  <a:srgbClr val="FFFFFF"/>
                </a:solidFill>
                <a:latin typeface="Times New Roman"/>
                <a:ea typeface="Times New Roman"/>
                <a:cs typeface="Times New Roman"/>
                <a:sym typeface="Times New Roman"/>
              </a:rPr>
              <a:t>This more </a:t>
            </a:r>
            <a:r>
              <a:rPr lang="en-US" sz="3255">
                <a:solidFill>
                  <a:srgbClr val="FFFFFF"/>
                </a:solidFill>
                <a:latin typeface="Times New Roman"/>
                <a:ea typeface="Times New Roman"/>
                <a:cs typeface="Times New Roman"/>
                <a:sym typeface="Times New Roman"/>
              </a:rPr>
              <a:t>advanced model required approximately 16 hours of training and was trained to infer the correct next action based on the current state of the system, learning the underlying motion dynamics from the dataset instead of replaying the recorded trajectories.</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7.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374000" y="1208388"/>
            <a:ext cx="17539999" cy="1714850"/>
          </a:xfrm>
          <a:prstGeom prst="rect">
            <a:avLst/>
          </a:prstGeom>
        </p:spPr>
        <p:txBody>
          <a:bodyPr anchor="t" rtlCol="false" tIns="0" lIns="0" bIns="0" rIns="0">
            <a:spAutoFit/>
          </a:bodyPr>
          <a:lstStyle/>
          <a:p>
            <a:pPr algn="ctr">
              <a:lnSpc>
                <a:spcPts val="4585"/>
              </a:lnSpc>
            </a:pPr>
            <a:r>
              <a:rPr lang="en-US" sz="3275">
                <a:solidFill>
                  <a:srgbClr val="FFFFFF"/>
                </a:solidFill>
                <a:latin typeface="Times New Roman"/>
                <a:ea typeface="Times New Roman"/>
                <a:cs typeface="Times New Roman"/>
                <a:sym typeface="Times New Roman"/>
              </a:rPr>
              <a:t>As observed in the video, the policy’s behavior remains imperfect. These inaccuracies stem primarily from the model’s limited perception of MuJoCo’s physical dynamics, including contact interactions and system constraints, rather than deficiencies in the learned motion representation itself.</a:t>
            </a:r>
          </a:p>
        </p:txBody>
      </p:sp>
      <p:sp>
        <p:nvSpPr>
          <p:cNvPr name="TextBox 3" id="3"/>
          <p:cNvSpPr txBox="true"/>
          <p:nvPr/>
        </p:nvSpPr>
        <p:spPr>
          <a:xfrm rot="0">
            <a:off x="0" y="4573461"/>
            <a:ext cx="18288000" cy="2252123"/>
          </a:xfrm>
          <a:prstGeom prst="rect">
            <a:avLst/>
          </a:prstGeom>
        </p:spPr>
        <p:txBody>
          <a:bodyPr anchor="t" rtlCol="false" tIns="0" lIns="0" bIns="0" rIns="0">
            <a:spAutoFit/>
          </a:bodyPr>
          <a:lstStyle/>
          <a:p>
            <a:pPr algn="ctr">
              <a:lnSpc>
                <a:spcPts val="4492"/>
              </a:lnSpc>
            </a:pPr>
            <a:r>
              <a:rPr lang="en-US" sz="3208">
                <a:solidFill>
                  <a:srgbClr val="FFFFFF"/>
                </a:solidFill>
                <a:latin typeface="Times New Roman"/>
                <a:ea typeface="Times New Roman"/>
                <a:cs typeface="Times New Roman"/>
                <a:sym typeface="Times New Roman"/>
              </a:rPr>
              <a:t>The model consists of </a:t>
            </a:r>
            <a:r>
              <a:rPr lang="en-US" sz="3208">
                <a:solidFill>
                  <a:srgbClr val="FFFFFF"/>
                </a:solidFill>
                <a:latin typeface="Times New Roman"/>
                <a:ea typeface="Times New Roman"/>
                <a:cs typeface="Times New Roman"/>
                <a:sym typeface="Times New Roman"/>
              </a:rPr>
              <a:t>a 2-layer GRU with 512 hidden units, followed by a small multi-layer perceptron that outputs 12 joint position commands. It takes a 47-dimensional observation vector—including joint states, base motion, and gait phase—and predicts the next action. The GRU allows the model to learn temporal patterns in walking, enabling it to generate sequential movements rather than independent frame-by-frame predictions.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210822" y="3777365"/>
            <a:ext cx="17866357" cy="2253061"/>
          </a:xfrm>
          <a:prstGeom prst="rect">
            <a:avLst/>
          </a:prstGeom>
        </p:spPr>
        <p:txBody>
          <a:bodyPr anchor="t" rtlCol="false" tIns="0" lIns="0" bIns="0" rIns="0">
            <a:spAutoFit/>
          </a:bodyPr>
          <a:lstStyle/>
          <a:p>
            <a:pPr algn="ctr">
              <a:lnSpc>
                <a:spcPts val="4440"/>
              </a:lnSpc>
            </a:pPr>
            <a:r>
              <a:rPr lang="en-US" sz="3171">
                <a:solidFill>
                  <a:srgbClr val="FFFFFF"/>
                </a:solidFill>
                <a:latin typeface="Times New Roman"/>
                <a:ea typeface="Times New Roman"/>
                <a:cs typeface="Times New Roman"/>
                <a:sym typeface="Times New Roman"/>
              </a:rPr>
              <a:t>Next Steps:</a:t>
            </a:r>
          </a:p>
          <a:p>
            <a:pPr algn="ctr">
              <a:lnSpc>
                <a:spcPts val="4440"/>
              </a:lnSpc>
            </a:pPr>
            <a:r>
              <a:rPr lang="en-US" sz="3171">
                <a:solidFill>
                  <a:srgbClr val="FFFFFF"/>
                </a:solidFill>
                <a:latin typeface="Times New Roman"/>
                <a:ea typeface="Times New Roman"/>
                <a:cs typeface="Times New Roman"/>
                <a:sym typeface="Times New Roman"/>
              </a:rPr>
              <a:t> Further explore MuJoCo </a:t>
            </a:r>
            <a:r>
              <a:rPr lang="en-US" sz="3171">
                <a:solidFill>
                  <a:srgbClr val="FFFFFF"/>
                </a:solidFill>
                <a:latin typeface="Times New Roman"/>
                <a:ea typeface="Times New Roman"/>
                <a:cs typeface="Times New Roman"/>
                <a:sym typeface="Times New Roman"/>
              </a:rPr>
              <a:t>and Unitree G1 functionalities while testing alternative training strategies, such as improved state representations and physics-aware learning methods, to achieve more accurate and stable behaviors.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236823" y="501321"/>
            <a:ext cx="17814354" cy="9217683"/>
          </a:xfrm>
          <a:prstGeom prst="rect">
            <a:avLst/>
          </a:prstGeom>
        </p:spPr>
        <p:txBody>
          <a:bodyPr anchor="t" rtlCol="false" tIns="0" lIns="0" bIns="0" rIns="0">
            <a:spAutoFit/>
          </a:bodyPr>
          <a:lstStyle/>
          <a:p>
            <a:pPr algn="ctr">
              <a:lnSpc>
                <a:spcPts val="3573"/>
              </a:lnSpc>
            </a:pPr>
            <a:r>
              <a:rPr lang="en-US" sz="2552" b="true">
                <a:solidFill>
                  <a:srgbClr val="FFFFFF"/>
                </a:solidFill>
                <a:latin typeface="Times New Roman Bold"/>
                <a:ea typeface="Times New Roman Bold"/>
                <a:cs typeface="Times New Roman Bold"/>
                <a:sym typeface="Times New Roman Bold"/>
              </a:rPr>
              <a:t>References</a:t>
            </a:r>
          </a:p>
          <a:p>
            <a:pPr algn="just">
              <a:lnSpc>
                <a:spcPts val="3300"/>
              </a:lnSpc>
              <a:spcBef>
                <a:spcPct val="0"/>
              </a:spcBef>
            </a:pPr>
            <a:r>
              <a:rPr lang="en-US" sz="2357">
                <a:solidFill>
                  <a:srgbClr val="FFFFFF"/>
                </a:solidFill>
                <a:latin typeface="Times New Roman"/>
                <a:ea typeface="Times New Roman"/>
                <a:cs typeface="Times New Roman"/>
                <a:sym typeface="Times New Roman"/>
              </a:rPr>
              <a:t>Ha, S., Coros, S., &amp; Lee, J. (2020). Learning to walk in minutes using massively parallel deep reinforcement learning. ACM </a:t>
            </a:r>
            <a:r>
              <a:rPr lang="en-US" sz="2357">
                <a:solidFill>
                  <a:srgbClr val="FFFFFF"/>
                </a:solidFill>
                <a:latin typeface="Times New Roman"/>
                <a:ea typeface="Times New Roman"/>
                <a:cs typeface="Times New Roman"/>
                <a:sym typeface="Times New Roman"/>
              </a:rPr>
              <a:t>Transactions on Graphics (TOG), 39(4).</a:t>
            </a:r>
          </a:p>
          <a:p>
            <a:pPr algn="just">
              <a:lnSpc>
                <a:spcPts val="3300"/>
              </a:lnSpc>
              <a:spcBef>
                <a:spcPct val="0"/>
              </a:spcBef>
            </a:pPr>
          </a:p>
          <a:p>
            <a:pPr algn="just">
              <a:lnSpc>
                <a:spcPts val="3300"/>
              </a:lnSpc>
              <a:spcBef>
                <a:spcPct val="0"/>
              </a:spcBef>
            </a:pPr>
            <a:r>
              <a:rPr lang="en-US" sz="2357">
                <a:solidFill>
                  <a:srgbClr val="FFFFFF"/>
                </a:solidFill>
                <a:latin typeface="Times New Roman"/>
                <a:ea typeface="Times New Roman"/>
                <a:cs typeface="Times New Roman"/>
                <a:sym typeface="Times New Roman"/>
              </a:rPr>
              <a:t>OpenAI. (2024). MuJoCo physics engine documentation. </a:t>
            </a:r>
            <a:r>
              <a:rPr lang="en-US" sz="2357" u="sng">
                <a:solidFill>
                  <a:srgbClr val="FFFFFF"/>
                </a:solidFill>
                <a:latin typeface="Times New Roman"/>
                <a:ea typeface="Times New Roman"/>
                <a:cs typeface="Times New Roman"/>
                <a:sym typeface="Times New Roman"/>
                <a:hlinkClick r:id="rId2" tooltip="https://mujoco.readthedocs.io"/>
              </a:rPr>
              <a:t>https://mujoco.readthedocs.io</a:t>
            </a:r>
          </a:p>
          <a:p>
            <a:pPr algn="just">
              <a:lnSpc>
                <a:spcPts val="3300"/>
              </a:lnSpc>
              <a:spcBef>
                <a:spcPct val="0"/>
              </a:spcBef>
            </a:pPr>
          </a:p>
          <a:p>
            <a:pPr algn="just">
              <a:lnSpc>
                <a:spcPts val="3300"/>
              </a:lnSpc>
              <a:spcBef>
                <a:spcPct val="0"/>
              </a:spcBef>
            </a:pPr>
            <a:r>
              <a:rPr lang="en-US" sz="2357">
                <a:solidFill>
                  <a:srgbClr val="FFFFFF"/>
                </a:solidFill>
                <a:latin typeface="Times New Roman"/>
                <a:ea typeface="Times New Roman"/>
                <a:cs typeface="Times New Roman"/>
                <a:sym typeface="Times New Roman"/>
              </a:rPr>
              <a:t>Todorov, E., Erez, T., &amp; Tassa, Y. (2012). MuJoCo: A physics engine for model-based control. IEEE/RSJ International Conference on Intelligent Robots and Systems (IROS).</a:t>
            </a:r>
          </a:p>
          <a:p>
            <a:pPr algn="just">
              <a:lnSpc>
                <a:spcPts val="3300"/>
              </a:lnSpc>
              <a:spcBef>
                <a:spcPct val="0"/>
              </a:spcBef>
            </a:pPr>
          </a:p>
          <a:p>
            <a:pPr algn="just">
              <a:lnSpc>
                <a:spcPts val="3300"/>
              </a:lnSpc>
              <a:spcBef>
                <a:spcPct val="0"/>
              </a:spcBef>
            </a:pPr>
            <a:r>
              <a:rPr lang="en-US" sz="2357">
                <a:solidFill>
                  <a:srgbClr val="FFFFFF"/>
                </a:solidFill>
                <a:latin typeface="Times New Roman"/>
                <a:ea typeface="Times New Roman"/>
                <a:cs typeface="Times New Roman"/>
                <a:sym typeface="Times New Roman"/>
              </a:rPr>
              <a:t>Unitree Robotics. (2023). Unitree G1 humanoid robot model and SDK. </a:t>
            </a:r>
            <a:r>
              <a:rPr lang="en-US" sz="2357" u="sng">
                <a:solidFill>
                  <a:srgbClr val="FFFFFF"/>
                </a:solidFill>
                <a:latin typeface="Times New Roman"/>
                <a:ea typeface="Times New Roman"/>
                <a:cs typeface="Times New Roman"/>
                <a:sym typeface="Times New Roman"/>
                <a:hlinkClick r:id="rId3" tooltip="https://github.com/unitreerobotics"/>
              </a:rPr>
              <a:t>https://github.com/unitreerobotics</a:t>
            </a:r>
          </a:p>
          <a:p>
            <a:pPr algn="just">
              <a:lnSpc>
                <a:spcPts val="3300"/>
              </a:lnSpc>
              <a:spcBef>
                <a:spcPct val="0"/>
              </a:spcBef>
            </a:pPr>
          </a:p>
          <a:p>
            <a:pPr algn="just">
              <a:lnSpc>
                <a:spcPts val="3300"/>
              </a:lnSpc>
              <a:spcBef>
                <a:spcPct val="0"/>
              </a:spcBef>
            </a:pPr>
            <a:r>
              <a:rPr lang="en-US" sz="2357">
                <a:solidFill>
                  <a:srgbClr val="FFFFFF"/>
                </a:solidFill>
                <a:latin typeface="Times New Roman"/>
                <a:ea typeface="Times New Roman"/>
                <a:cs typeface="Times New Roman"/>
                <a:sym typeface="Times New Roman"/>
              </a:rPr>
              <a:t>Paszke, A., Gross, S., Massa, F., et al. (2019). PyTorch: An imperative style, high-performance deep learning library. Advances in Neural Information Processing Systems (NeurIPS).</a:t>
            </a:r>
          </a:p>
          <a:p>
            <a:pPr algn="just">
              <a:lnSpc>
                <a:spcPts val="3300"/>
              </a:lnSpc>
              <a:spcBef>
                <a:spcPct val="0"/>
              </a:spcBef>
            </a:pPr>
          </a:p>
          <a:p>
            <a:pPr algn="just">
              <a:lnSpc>
                <a:spcPts val="3300"/>
              </a:lnSpc>
              <a:spcBef>
                <a:spcPct val="0"/>
              </a:spcBef>
            </a:pPr>
            <a:r>
              <a:rPr lang="en-US" sz="2357">
                <a:solidFill>
                  <a:srgbClr val="FFFFFF"/>
                </a:solidFill>
                <a:latin typeface="Times New Roman"/>
                <a:ea typeface="Times New Roman"/>
                <a:cs typeface="Times New Roman"/>
                <a:sym typeface="Times New Roman"/>
              </a:rPr>
              <a:t>Cho, K., van Merriënboer, B., Bahdanau, D., &amp; Bengio, Y. (2014). Learning phrase representations using RNN encoder–decoder for statistical machine translation. arXiv:1406.1078.</a:t>
            </a:r>
          </a:p>
          <a:p>
            <a:pPr algn="just">
              <a:lnSpc>
                <a:spcPts val="3300"/>
              </a:lnSpc>
              <a:spcBef>
                <a:spcPct val="0"/>
              </a:spcBef>
            </a:pPr>
          </a:p>
          <a:p>
            <a:pPr algn="just">
              <a:lnSpc>
                <a:spcPts val="3300"/>
              </a:lnSpc>
              <a:spcBef>
                <a:spcPct val="0"/>
              </a:spcBef>
            </a:pPr>
            <a:r>
              <a:rPr lang="en-US" sz="2357">
                <a:solidFill>
                  <a:srgbClr val="FFFFFF"/>
                </a:solidFill>
                <a:latin typeface="Times New Roman"/>
                <a:ea typeface="Times New Roman"/>
                <a:cs typeface="Times New Roman"/>
                <a:sym typeface="Times New Roman"/>
              </a:rPr>
              <a:t>Ross, S., Gordon, G., &amp; Bagnell, D. (2011). A reduction of imitation learning and structured prediction to no-regret online learning (DAgger). Proceedings of the International Conference on Artificial Intelligence and Statistics (AISTATS).</a:t>
            </a:r>
          </a:p>
          <a:p>
            <a:pPr algn="just">
              <a:lnSpc>
                <a:spcPts val="3300"/>
              </a:lnSpc>
              <a:spcBef>
                <a:spcPct val="0"/>
              </a:spcBef>
            </a:pPr>
          </a:p>
          <a:p>
            <a:pPr algn="just">
              <a:lnSpc>
                <a:spcPts val="3300"/>
              </a:lnSpc>
              <a:spcBef>
                <a:spcPct val="0"/>
              </a:spcBef>
            </a:pPr>
            <a:r>
              <a:rPr lang="en-US" sz="2357">
                <a:solidFill>
                  <a:srgbClr val="FFFFFF"/>
                </a:solidFill>
                <a:latin typeface="Times New Roman"/>
                <a:ea typeface="Times New Roman"/>
                <a:cs typeface="Times New Roman"/>
                <a:sym typeface="Times New Roman"/>
              </a:rPr>
              <a:t>Sutton, R. S., &amp; Barto, A. G. (2018). Reinforcement learning: An introduction (2nd ed.). MIT Press.</a:t>
            </a:r>
          </a:p>
          <a:p>
            <a:pPr algn="ctr">
              <a:lnSpc>
                <a:spcPts val="330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DAHB008JjD8</dc:identifier>
  <dcterms:modified xsi:type="dcterms:W3CDTF">2011-08-01T06:04:30Z</dcterms:modified>
  <cp:revision>1</cp:revision>
  <dc:title>Week 3</dc:title>
</cp:coreProperties>
</file>