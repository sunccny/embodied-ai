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1fac7380804842" /><Relationship Type="http://schemas.openxmlformats.org/officeDocument/2006/relationships/extended-properties" Target="/docProps/app.xml" Id="R9902a25273fe45b3" /><Relationship Type="http://schemas.openxmlformats.org/officeDocument/2006/relationships/officeDocument" Target="/ppt/presentation.xml" Id="R151473a2ea8747fc" /></Relationships>
</file>

<file path=ppt/presentation.xml><?xml version="1.0" encoding="utf-8"?>
<p:presentation xmlns:p="http://schemas.openxmlformats.org/presentationml/2006/main">
  <p:sldMasterIdLst>
    <p:sldMasterId xmlns:r="http://schemas.openxmlformats.org/officeDocument/2006/relationships" id="2147483648" r:id="R2623dd4712a04c6c"/>
  </p:sldMasterIdLst>
  <p:notesMasterIdLst>
    <p:notesMasterId xmlns:r="http://schemas.openxmlformats.org/officeDocument/2006/relationships" r:id="R6c86e106036e4e45"/>
  </p:notesMasterIdLst>
  <p:sldIdLst>
    <p:sldId xmlns:r="http://schemas.openxmlformats.org/officeDocument/2006/relationships" id="256" r:id="R8f26412b2ef44e63"/>
    <p:sldId xmlns:r="http://schemas.openxmlformats.org/officeDocument/2006/relationships" id="257" r:id="Rbe57c3b8c853440f"/>
    <p:sldId xmlns:r="http://schemas.openxmlformats.org/officeDocument/2006/relationships" id="258" r:id="R7f57a604cb7a4b69"/>
    <p:sldId xmlns:r="http://schemas.openxmlformats.org/officeDocument/2006/relationships" id="259" r:id="R63803048ffd042ff"/>
    <p:sldId xmlns:r="http://schemas.openxmlformats.org/officeDocument/2006/relationships" id="260" r:id="R8c15ad29f1374154"/>
    <p:sldId xmlns:r="http://schemas.openxmlformats.org/officeDocument/2006/relationships" id="261" r:id="Rfc50f04b20984e8a"/>
    <p:sldId xmlns:r="http://schemas.openxmlformats.org/officeDocument/2006/relationships" id="262" r:id="Rfc17d4f7aa3148c4"/>
    <p:sldId xmlns:r="http://schemas.openxmlformats.org/officeDocument/2006/relationships" id="263" r:id="Rc099ba12f3004467"/>
    <p:sldId xmlns:r="http://schemas.openxmlformats.org/officeDocument/2006/relationships" id="264" r:id="R9cfa3f467bb74843"/>
    <p:sldId xmlns:r="http://schemas.openxmlformats.org/officeDocument/2006/relationships" id="265" r:id="Rf05d165fc63f46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6067526ec7481b" /><Relationship Type="http://schemas.openxmlformats.org/officeDocument/2006/relationships/slideMaster" Target="/ppt/slideMasters/slideMaster1.xml" Id="R2623dd4712a04c6c" /><Relationship Type="http://schemas.openxmlformats.org/officeDocument/2006/relationships/notesMaster" Target="/ppt/notesMasters/notesMaster1.xml" Id="R6c86e106036e4e45" /><Relationship Type="http://schemas.openxmlformats.org/officeDocument/2006/relationships/presProps" Target="/ppt/presProps.xml" Id="Rc9d3bffbb15d4a0d" /><Relationship Type="http://schemas.openxmlformats.org/officeDocument/2006/relationships/tableStyles" Target="/ppt/tableStyles.xml" Id="R9518553f47f14c25" /><Relationship Type="http://schemas.openxmlformats.org/officeDocument/2006/relationships/slide" Target="/ppt/slides/slide1.xml" Id="R8f26412b2ef44e63" /><Relationship Type="http://schemas.openxmlformats.org/officeDocument/2006/relationships/slide" Target="/ppt/slides/slide2.xml" Id="Rbe57c3b8c853440f" /><Relationship Type="http://schemas.openxmlformats.org/officeDocument/2006/relationships/slide" Target="/ppt/slides/slide3.xml" Id="R7f57a604cb7a4b69" /><Relationship Type="http://schemas.openxmlformats.org/officeDocument/2006/relationships/slide" Target="/ppt/slides/slide4.xml" Id="R63803048ffd042ff" /><Relationship Type="http://schemas.openxmlformats.org/officeDocument/2006/relationships/slide" Target="/ppt/slides/slide5.xml" Id="R8c15ad29f1374154" /><Relationship Type="http://schemas.openxmlformats.org/officeDocument/2006/relationships/slide" Target="/ppt/slides/slide6.xml" Id="Rfc50f04b20984e8a" /><Relationship Type="http://schemas.openxmlformats.org/officeDocument/2006/relationships/slide" Target="/ppt/slides/slide7.xml" Id="Rfc17d4f7aa3148c4" /><Relationship Type="http://schemas.openxmlformats.org/officeDocument/2006/relationships/slide" Target="/ppt/slides/slide8.xml" Id="Rc099ba12f3004467" /><Relationship Type="http://schemas.openxmlformats.org/officeDocument/2006/relationships/slide" Target="/ppt/slides/slide9.xml" Id="R9cfa3f467bb74843" /><Relationship Type="http://schemas.openxmlformats.org/officeDocument/2006/relationships/slide" Target="/ppt/slides/slide10.xml" Id="Rf05d165fc63f46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3f36ddf76847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fdd4aa777e40f9" /><Relationship Type="http://schemas.openxmlformats.org/officeDocument/2006/relationships/notesMaster" Target="/ppt/notesMasters/notesMaster1.xml" Id="Re5a1ad8b63cf45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540ed59f09442f" /><Relationship Type="http://schemas.openxmlformats.org/officeDocument/2006/relationships/notesMaster" Target="/ppt/notesMasters/notesMaster1.xml" Id="R2d1ba72ebba64d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22d32297b34e68" /><Relationship Type="http://schemas.openxmlformats.org/officeDocument/2006/relationships/notesMaster" Target="/ppt/notesMasters/notesMaster1.xml" Id="R1b17e67c98ea4d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df8cc05c584096" /><Relationship Type="http://schemas.openxmlformats.org/officeDocument/2006/relationships/notesMaster" Target="/ppt/notesMasters/notesMaster1.xml" Id="R0939632c4f8b4d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a79d8b57833747a7" /><Relationship Type="http://schemas.openxmlformats.org/officeDocument/2006/relationships/notesMaster" Target="/ppt/notesMasters/notesMaster1.xml" Id="Rf01f365ed2d846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25699b124e4cd7" /><Relationship Type="http://schemas.openxmlformats.org/officeDocument/2006/relationships/notesMaster" Target="/ppt/notesMasters/notesMaster1.xml" Id="Ra2235b0a316649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2d6d5dc734597" /><Relationship Type="http://schemas.openxmlformats.org/officeDocument/2006/relationships/notesMaster" Target="/ppt/notesMasters/notesMaster1.xml" Id="Ra828228ba8ce49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083862481e4cae" /><Relationship Type="http://schemas.openxmlformats.org/officeDocument/2006/relationships/notesMaster" Target="/ppt/notesMasters/notesMaster1.xml" Id="R55313310f3b74d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3e779b2a1c4c0c" /><Relationship Type="http://schemas.openxmlformats.org/officeDocument/2006/relationships/notesMaster" Target="/ppt/notesMasters/notesMaster1.xml" Id="Ra1e5a0511a8646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41e6c264bf9465a" /><Relationship Type="http://schemas.openxmlformats.org/officeDocument/2006/relationships/notesMaster" Target="/ppt/notesMasters/notesMaster1.xml" Id="R878c28a8bd5148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this presentation, We will explain how We plan to move our trained MuJoCo policy onto the physical Unitree R1. We will focus on the folders We need, the hardware connections, the runtime software, and the order in which We will test everything.</a:t>
            </a:r>
          </a:p>
          <a:p xmlns:a="http://schemas.openxmlformats.org/drawingml/2006/main">
            <a:r>
              <a:t/>
            </a:r>
          </a:p>
          <a:p xmlns:a="http://schemas.openxmlformats.org/drawingml/2006/main">
            <a:r>
              <a:t>[Sources]</a:t>
            </a:r>
          </a:p>
          <a:p xmlns:a="http://schemas.openxmlformats.org/drawingml/2006/main">
            <a:r>
              <a:t>- Local Manual 3 and Manual 4 project documentation.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neural network does not need direct motor access. We will keep the trained NPZ policy and build four supporting layers around it: hardware drivers, perception, data adapters, and an independent safety layer.</a:t>
            </a:r>
          </a:p>
          <a:p xmlns:a="http://schemas.openxmlformats.org/drawingml/2006/main">
            <a:r>
              <a:t/>
            </a:r>
          </a:p>
          <a:p xmlns:a="http://schemas.openxmlformats.org/drawingml/2006/main">
            <a:r>
              <a:t>[Sources]</a:t>
            </a:r>
          </a:p>
          <a:p xmlns:a="http://schemas.openxmlformats.org/drawingml/2006/main">
            <a:r>
              <a:t>- Local Manual 3 and Manual 4 observation/action definitions.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create one deployment project and keep each responsibility in a separate folder. This will let me test the robot interfaces without changing the trained model, and it will keep safety code outside the neural policy.</a:t>
            </a:r>
          </a:p>
          <a:p xmlns:a="http://schemas.openxmlformats.org/drawingml/2006/main">
            <a:r>
              <a:t/>
            </a:r>
          </a:p>
          <a:p xmlns:a="http://schemas.openxmlformats.org/drawingml/2006/main">
            <a:r>
              <a:t>[Sources]</a:t>
            </a:r>
          </a:p>
          <a:p xmlns:a="http://schemas.openxmlformats.org/drawingml/2006/main">
            <a:r>
              <a:t>- Folder structure is our proposed implementation architecture based on the local policy code and vendor interfaces.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configuration files will define the joint map, limits, calibration, and policy path. Our interface files will communicate with the R1, Revo2 hands, and camera. Our runtime and safety files will build observations, run the policy, filter commands, and stop the system when necessary.</a:t>
            </a:r>
          </a:p>
          <a:p xmlns:a="http://schemas.openxmlformats.org/drawingml/2006/main">
            <a:r>
              <a:t/>
            </a:r>
          </a:p>
          <a:p xmlns:a="http://schemas.openxmlformats.org/drawingml/2006/main">
            <a:r>
              <a:t>[Sources]</a:t>
            </a:r>
          </a:p>
          <a:p xmlns:a="http://schemas.openxmlformats.org/drawingml/2006/main">
            <a:r>
              <a:t>- Local Manual 3 and Manual 4 code organization.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one Ubuntu and ROS 2 computer to synchronize three streams. The R1 will connect over Ethernet through SDK2. The Revo2 hands will use their supported hardware bus and ROS 2 driver. The RGB-D camera will provide the ball pose in the R1 base coordinate frame.</a:t>
            </a:r>
          </a:p>
          <a:p xmlns:a="http://schemas.openxmlformats.org/drawingml/2006/main">
            <a:r>
              <a:t/>
            </a:r>
          </a:p>
          <a:p xmlns:a="http://schemas.openxmlformats.org/drawingml/2006/main">
            <a:r>
              <a:t>[Sources]</a:t>
            </a:r>
          </a:p>
          <a:p xmlns:a="http://schemas.openxmlformats.org/drawingml/2006/main">
            <a:r>
              <a:t>- https://github.com/unitreerobotics/unitree_sdk2/blob/main/example/r1/high_level/r1_arm_sdk_dds_example.cpp</a:t>
            </a:r>
          </a:p>
          <a:p xmlns:a="http://schemas.openxmlformats.org/drawingml/2006/main">
            <a:r>
              <a:t>- https://github.com/BrainCoTech/brainco_hand_ros2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25 milliseconds, We will read the robot, hand, camera, task-phase, and previous-action data. We will build the same 51- or 94-value observation used in training, run the NPZ policy, apply the safety filter, and then publish bounded targets.</a:t>
            </a:r>
          </a:p>
          <a:p xmlns:a="http://schemas.openxmlformats.org/drawingml/2006/main">
            <a:r>
              <a:t/>
            </a:r>
          </a:p>
          <a:p xmlns:a="http://schemas.openxmlformats.org/drawingml/2006/main">
            <a:r>
              <a:t>[Sources]</a:t>
            </a:r>
          </a:p>
          <a:p xmlns:a="http://schemas.openxmlformats.org/drawingml/2006/main">
            <a:r>
              <a:t>- Local Manual 3: 51 observations, 11 actions, 40 Hz.</a:t>
            </a:r>
          </a:p>
          <a:p xmlns:a="http://schemas.openxmlformats.org/drawingml/2006/main">
            <a:r>
              <a:t>- Local Manual 4: 94 observations, 22 actions, 40 Hz.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load the neural policy, We will prove that We can read and command every subsystem manually. We will test the R1 arms, then each Revo2 hand, then the camera and calibration. This prevents a software mapping error from becoming an unsafe robot motion.</a:t>
            </a:r>
          </a:p>
          <a:p xmlns:a="http://schemas.openxmlformats.org/drawingml/2006/main">
            <a:r>
              <a:t/>
            </a:r>
          </a:p>
          <a:p xmlns:a="http://schemas.openxmlformats.org/drawingml/2006/main">
            <a:r>
              <a:t>[Sources]</a:t>
            </a:r>
          </a:p>
          <a:p xmlns:a="http://schemas.openxmlformats.org/drawingml/2006/main">
            <a:r>
              <a:t>- https://github.com/unitreerobotics/unitree_sdk2</a:t>
            </a:r>
          </a:p>
          <a:p xmlns:a="http://schemas.openxmlformats.org/drawingml/2006/main">
            <a:r>
              <a:t>- https://github.com/BrainCoTech/brainco_hand_ros2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not switch directly from simulation to full motion. In observe mode We only inspect sensors. In shadow mode We run the policy without movement. In simulated mode real sensor data drives MuJoCo. Only after those modes pass will We enable reduced hardware motion.</a:t>
            </a:r>
          </a:p>
          <a:p xmlns:a="http://schemas.openxmlformats.org/drawingml/2006/main">
            <a:r>
              <a:t/>
            </a:r>
          </a:p>
          <a:p xmlns:a="http://schemas.openxmlformats.org/drawingml/2006/main">
            <a:r>
              <a:t>[Sources]</a:t>
            </a:r>
          </a:p>
          <a:p xmlns:a="http://schemas.openxmlformats.org/drawingml/2006/main">
            <a:r>
              <a:t>- Staged commissioning workflow derived from the official SDK examples and local policy constraints.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physical objective is intentionally small. We will use the single-arm Manual 3 policy, mechanically support the R1, disable throwing, and test one step at a time. We will only continue after each earlier step succeeds repeatedly.</a:t>
            </a:r>
          </a:p>
          <a:p xmlns:a="http://schemas.openxmlformats.org/drawingml/2006/main">
            <a:r>
              <a:t/>
            </a:r>
          </a:p>
          <a:p xmlns:a="http://schemas.openxmlformats.org/drawingml/2006/main">
            <a:r>
              <a:t>[Sources]</a:t>
            </a:r>
          </a:p>
          <a:p xmlns:a="http://schemas.openxmlformats.org/drawingml/2006/main">
            <a:r>
              <a:t>- Local Manual 3 fixed-pelvis task definition.</a:t>
            </a:r>
          </a:p>
          <a:p xmlns:a="http://schemas.openxmlformats.org/drawingml/2006/main">
            <a:r>
              <a:t>- Existing simulation image retained from the source deck.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official Unitree and BrainCo resources We used, together with our Manual 3 and Manual 4 project documentation.</a:t>
            </a:r>
          </a:p>
          <a:p xmlns:a="http://schemas.openxmlformats.org/drawingml/2006/main">
            <a:r>
              <a:t/>
            </a:r>
          </a:p>
          <a:p xmlns:a="http://schemas.openxmlformats.org/drawingml/2006/main">
            <a:r>
              <a:t>[Sources]</a:t>
            </a:r>
          </a:p>
          <a:p xmlns:a="http://schemas.openxmlformats.org/drawingml/2006/main">
            <a:r>
              <a:t>- https://github.com/unitreerobotics/unitree_sdk2/blob/main/example/r1/high_level/r1_arm_sdk_dds_example.cpp</a:t>
            </a:r>
          </a:p>
          <a:p xmlns:a="http://schemas.openxmlformats.org/drawingml/2006/main">
            <a:r>
              <a:t>- https://github.com/unitreerobotics/unitree_mujoco</a:t>
            </a:r>
          </a:p>
          <a:p xmlns:a="http://schemas.openxmlformats.org/drawingml/2006/main">
            <a:r>
              <a:t>- https://github.com/BrainCoTech/brainco_hand_ros2</a:t>
            </a:r>
          </a:p>
          <a:p xmlns:a="http://schemas.openxmlformats.org/drawingml/2006/main">
            <a:r>
              <a:t>- https://github.com/BrainCoTech/brainco_hand_ros2/blob/master/brainco_hardware/brainco_hand_driver/README.md</a:t>
            </a:r>
          </a:p>
          <a:p xmlns:a="http://schemas.openxmlformats.org/drawingml/2006/main">
            <a:r>
              <a:t>- Local Manual 3 and Manual 4 project documentation.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952ad5980f4b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3f33e1eda2435f" /><Relationship Type="http://schemas.openxmlformats.org/officeDocument/2006/relationships/slideLayout" Target="/ppt/slideLayouts/slideLayout1.xml" Id="R8bec541a586045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ec541a586045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c08aad4a544e03" /><Relationship Type="http://schemas.openxmlformats.org/officeDocument/2006/relationships/notesSlide" Target="/ppt/notesSlides/notesSlide1.xml" Id="R619aebcf18764c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2bc6dd1698e4d21" /><Relationship Type="http://schemas.openxmlformats.org/officeDocument/2006/relationships/notesSlide" Target="/ppt/notesSlides/notesSlide2.xml" Id="R65c9def1e56746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1f30f6076943b6" /><Relationship Type="http://schemas.openxmlformats.org/officeDocument/2006/relationships/notesSlide" Target="/ppt/notesSlides/notesSlide3.xml" Id="Ree7390ec9739405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3c9d19d78d4ab7" /><Relationship Type="http://schemas.openxmlformats.org/officeDocument/2006/relationships/notesSlide" Target="/ppt/notesSlides/notesSlide4.xml" Id="R152456dc567745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84863fc5254200" /><Relationship Type="http://schemas.openxmlformats.org/officeDocument/2006/relationships/notesSlide" Target="/ppt/notesSlides/notesSlide5.xml" Id="R55f5a4da43c74c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d729a42b19465d" /><Relationship Type="http://schemas.openxmlformats.org/officeDocument/2006/relationships/notesSlide" Target="/ppt/notesSlides/notesSlide6.xml" Id="R6c8a64dc1ec940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4aa58353c44e42" /><Relationship Type="http://schemas.openxmlformats.org/officeDocument/2006/relationships/notesSlide" Target="/ppt/notesSlides/notesSlide7.xml" Id="R8ca42724542d43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e5badce9bc413f" /><Relationship Type="http://schemas.openxmlformats.org/officeDocument/2006/relationships/notesSlide" Target="/ppt/notesSlides/notesSlide8.xml" Id="Rcf1ae4d82b6143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2248ef461b4ba4" /><Relationship Type="http://schemas.openxmlformats.org/officeDocument/2006/relationships/image" Target="/ppt/media/image.png" Id="R170a645d99924f6e" /><Relationship Type="http://schemas.openxmlformats.org/officeDocument/2006/relationships/notesSlide" Target="/ppt/notesSlides/notesSlide9.xml" Id="R384c6a43330a4b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a84d52841c143e5" /><Relationship Type="http://schemas.openxmlformats.org/officeDocument/2006/relationships/notesSlide" Target="/ppt/notesSlides/notesSlide10.xml" Id="R6345daaef9e7481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week-title">
            <a:extLst xmlns:a="http://schemas.openxmlformats.org/drawingml/2006/main">
              <a:ext uri="{FF2B5EF4-FFF2-40B4-BE49-F238E27FC236}">
                <a16:creationId xmlns:a16="http://schemas.microsoft.com/office/drawing/2014/main" id="{EA03E4E4-7525-42F3-A5AA-8D615ACDAE98}"/>
              </a:ext>
            </a:extLst>
          </p:cNvPr>
          <p:cNvSpPr>
            <a:spLocks xmlns:a="http://schemas.openxmlformats.org/drawingml/2006/main" noGrp="1"/>
          </p:cNvSpPr>
          <p:nvPr/>
        </p:nvSpPr>
        <p:spPr>
          <a:xfrm xmlns:a="http://schemas.openxmlformats.org/drawingml/2006/main">
            <a:off x="2286000" y="2381250"/>
            <a:ext cx="7620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4350" b="1" i="0">
                <a:solidFill>
                  <a:srgbClr val="17365D"/>
                </a:solidFill>
                <a:latin typeface="Times New Roman"/>
                <a:ea typeface="Times New Roman"/>
                <a:cs typeface="Times New Roman"/>
              </a:defRPr>
            </a:pPr>
            <a:r>
              <a:rPr sz="4350" b="1" i="0">
                <a:solidFill>
                  <a:srgbClr val="17365D"/>
                </a:solidFill>
                <a:latin typeface="Times New Roman"/>
                <a:ea typeface="Times New Roman"/>
                <a:cs typeface="Times New Roman"/>
              </a:rPr>
              <a:t>OUR SOFTWARE TO R1</a:t>
            </a:r>
          </a:p>
        </p:txBody>
      </p:sp>
      <p:sp>
        <p:nvSpPr>
          <p:cNvPr id="2" name="subtitle">
            <a:extLst xmlns:a="http://schemas.openxmlformats.org/drawingml/2006/main">
              <a:ext uri="{FF2B5EF4-FFF2-40B4-BE49-F238E27FC236}">
                <a16:creationId xmlns:a16="http://schemas.microsoft.com/office/drawing/2014/main" id="{F21B08F8-B1DC-4635-8C31-12AD6E64A701}"/>
              </a:ext>
            </a:extLst>
          </p:cNvPr>
          <p:cNvSpPr>
            <a:spLocks xmlns:a="http://schemas.openxmlformats.org/drawingml/2006/main" noGrp="1"/>
          </p:cNvSpPr>
          <p:nvPr/>
        </p:nvSpPr>
        <p:spPr>
          <a:xfrm xmlns:a="http://schemas.openxmlformats.org/drawingml/2006/main">
            <a:off x="2095500" y="3333750"/>
            <a:ext cx="800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How We will organize, connect, test, and safely deploy our trained policy</a:t>
            </a:r>
          </a:p>
        </p:txBody>
      </p:sp>
      <p:sp>
        <p:nvSpPr>
          <p:cNvPr id="3" name="author">
            <a:extLst xmlns:a="http://schemas.openxmlformats.org/drawingml/2006/main">
              <a:ext uri="{FF2B5EF4-FFF2-40B4-BE49-F238E27FC236}">
                <a16:creationId xmlns:a16="http://schemas.microsoft.com/office/drawing/2014/main" id="{878C14DA-53BB-47FA-A68F-BD47B88EECC0}"/>
              </a:ext>
            </a:extLst>
          </p:cNvPr>
          <p:cNvSpPr>
            <a:spLocks xmlns:a="http://schemas.openxmlformats.org/drawingml/2006/main" noGrp="1"/>
          </p:cNvSpPr>
          <p:nvPr/>
        </p:nvSpPr>
        <p:spPr>
          <a:xfrm xmlns:a="http://schemas.openxmlformats.org/drawingml/2006/main">
            <a:off x="3810000" y="409575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i="0">
                <a:solidFill>
                  <a:srgbClr val="666666"/>
                </a:solidFill>
                <a:latin typeface="Times New Roman"/>
                <a:ea typeface="Times New Roman"/>
                <a:cs typeface="Times New Roman"/>
              </a:defRPr>
            </a:pPr>
            <a:r>
              <a:rPr sz="1650" b="0" i="0">
                <a:solidFill>
                  <a:srgbClr val="666666"/>
                </a:solidFill>
                <a:latin typeface="Times New Roman"/>
                <a:ea typeface="Times New Roman"/>
                <a:cs typeface="Times New Roman"/>
              </a:rPr>
              <a:t>Cesar A. Pascal Vasquez</a:t>
            </a:r>
          </a:p>
        </p:txBody>
      </p:sp>
      <p:sp>
        <p:nvSpPr>
          <p:cNvPr id="4" name="footer">
            <a:extLst xmlns:a="http://schemas.openxmlformats.org/drawingml/2006/main">
              <a:ext uri="{FF2B5EF4-FFF2-40B4-BE49-F238E27FC236}">
                <a16:creationId xmlns:a16="http://schemas.microsoft.com/office/drawing/2014/main" id="{3630E2CB-9F40-4014-BE03-8C34CD17495F}"/>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1</a:t>
            </a:r>
          </a:p>
        </p:txBody>
      </p:sp>
    </p:spTree>
    <p:extLst>
      <p:ext uri="{BB962C8B-B14F-4D97-AF65-F5344CB8AC3E}">
        <p14:creationId xmlns:p14="http://schemas.microsoft.com/office/powerpoint/2010/main" val="16201394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9565148-4EF2-40B4-820D-2643A4AE4EB5}"/>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To move our policy to R1, We need four new layers.</a:t>
            </a:r>
          </a:p>
        </p:txBody>
      </p:sp>
      <p:sp>
        <p:nvSpPr>
          <p:cNvPr id="2" name="">
            <a:extLst xmlns:a="http://schemas.openxmlformats.org/drawingml/2006/main">
              <a:ext uri="{FF2B5EF4-FFF2-40B4-BE49-F238E27FC236}">
                <a16:creationId xmlns:a16="http://schemas.microsoft.com/office/drawing/2014/main" id="{94051B74-1FDA-4046-A9BD-2211F439B67B}"/>
              </a:ext>
            </a:extLst>
          </p:cNvPr>
          <p:cNvSpPr>
            <a:spLocks xmlns:a="http://schemas.openxmlformats.org/drawingml/2006/main" noGrp="1"/>
          </p:cNvSpPr>
          <p:nvPr/>
        </p:nvSpPr>
        <p:spPr>
          <a:xfrm xmlns:a="http://schemas.openxmlformats.org/drawingml/2006/main">
            <a:off x="952500" y="1428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xmlns:a="http://schemas.openxmlformats.org/drawingml/2006/main">
              <a:ext uri="{FF2B5EF4-FFF2-40B4-BE49-F238E27FC236}">
                <a16:creationId xmlns:a16="http://schemas.microsoft.com/office/drawing/2014/main" id="{931ED5D0-6C8E-498A-811E-6C6C55CE2F9A}"/>
              </a:ext>
            </a:extLst>
          </p:cNvPr>
          <p:cNvSpPr>
            <a:spLocks xmlns:a="http://schemas.openxmlformats.org/drawingml/2006/main" noGrp="1"/>
          </p:cNvSpPr>
          <p:nvPr/>
        </p:nvSpPr>
        <p:spPr>
          <a:xfrm xmlns:a="http://schemas.openxmlformats.org/drawingml/2006/main">
            <a:off x="1809750" y="1457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use Unitree SDK2 for the arms and BrainCo ROS 2 for the hands.</a:t>
            </a:r>
          </a:p>
        </p:txBody>
      </p:sp>
      <p:sp>
        <p:nvSpPr>
          <p:cNvPr id="4" name="">
            <a:extLst xmlns:a="http://schemas.openxmlformats.org/drawingml/2006/main">
              <a:ext uri="{FF2B5EF4-FFF2-40B4-BE49-F238E27FC236}">
                <a16:creationId xmlns:a16="http://schemas.microsoft.com/office/drawing/2014/main" id="{5C3D9081-30A7-4527-B690-6069EF4EE283}"/>
              </a:ext>
            </a:extLst>
          </p:cNvPr>
          <p:cNvSpPr>
            <a:spLocks xmlns:a="http://schemas.openxmlformats.org/drawingml/2006/main" noGrp="1"/>
          </p:cNvSpPr>
          <p:nvPr/>
        </p:nvSpPr>
        <p:spPr>
          <a:xfrm xmlns:a="http://schemas.openxmlformats.org/drawingml/2006/main">
            <a:off x="952500" y="2381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xmlns:a="http://schemas.openxmlformats.org/drawingml/2006/main">
              <a:ext uri="{FF2B5EF4-FFF2-40B4-BE49-F238E27FC236}">
                <a16:creationId xmlns:a16="http://schemas.microsoft.com/office/drawing/2014/main" id="{883B8CFB-A20D-48D0-8756-B7B45880EE3F}"/>
              </a:ext>
            </a:extLst>
          </p:cNvPr>
          <p:cNvSpPr>
            <a:spLocks xmlns:a="http://schemas.openxmlformats.org/drawingml/2006/main" noGrp="1"/>
          </p:cNvSpPr>
          <p:nvPr/>
        </p:nvSpPr>
        <p:spPr>
          <a:xfrm xmlns:a="http://schemas.openxmlformats.org/drawingml/2006/main">
            <a:off x="1809750" y="2409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measure the real ball and palm instead of reading MuJoCo state.</a:t>
            </a:r>
          </a:p>
        </p:txBody>
      </p:sp>
      <p:sp>
        <p:nvSpPr>
          <p:cNvPr id="6" name="">
            <a:extLst xmlns:a="http://schemas.openxmlformats.org/drawingml/2006/main">
              <a:ext uri="{FF2B5EF4-FFF2-40B4-BE49-F238E27FC236}">
                <a16:creationId xmlns:a16="http://schemas.microsoft.com/office/drawing/2014/main" id="{1274C684-0237-48F4-BE67-1048B64327F5}"/>
              </a:ext>
            </a:extLst>
          </p:cNvPr>
          <p:cNvSpPr>
            <a:spLocks xmlns:a="http://schemas.openxmlformats.org/drawingml/2006/main" noGrp="1"/>
          </p:cNvSpPr>
          <p:nvPr/>
        </p:nvSpPr>
        <p:spPr>
          <a:xfrm xmlns:a="http://schemas.openxmlformats.org/drawingml/2006/main">
            <a:off x="952500" y="3333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xmlns:a="http://schemas.openxmlformats.org/drawingml/2006/main">
              <a:ext uri="{FF2B5EF4-FFF2-40B4-BE49-F238E27FC236}">
                <a16:creationId xmlns:a16="http://schemas.microsoft.com/office/drawing/2014/main" id="{3615F39E-43A1-4D78-B1CA-B14942EC498B}"/>
              </a:ext>
            </a:extLst>
          </p:cNvPr>
          <p:cNvSpPr>
            <a:spLocks xmlns:a="http://schemas.openxmlformats.org/drawingml/2006/main" noGrp="1"/>
          </p:cNvSpPr>
          <p:nvPr/>
        </p:nvSpPr>
        <p:spPr>
          <a:xfrm xmlns:a="http://schemas.openxmlformats.org/drawingml/2006/main">
            <a:off x="1809750" y="3362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preserve the exact observation and action ordering used in training.</a:t>
            </a:r>
          </a:p>
        </p:txBody>
      </p:sp>
      <p:sp>
        <p:nvSpPr>
          <p:cNvPr id="8" name="">
            <a:extLst xmlns:a="http://schemas.openxmlformats.org/drawingml/2006/main">
              <a:ext uri="{FF2B5EF4-FFF2-40B4-BE49-F238E27FC236}">
                <a16:creationId xmlns:a16="http://schemas.microsoft.com/office/drawing/2014/main" id="{DC2AC943-BB28-4F10-B649-20DE4563811D}"/>
              </a:ext>
            </a:extLst>
          </p:cNvPr>
          <p:cNvSpPr>
            <a:spLocks xmlns:a="http://schemas.openxmlformats.org/drawingml/2006/main" noGrp="1"/>
          </p:cNvSpPr>
          <p:nvPr/>
        </p:nvSpPr>
        <p:spPr>
          <a:xfrm xmlns:a="http://schemas.openxmlformats.org/drawingml/2006/main">
            <a:off x="952500" y="4286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xmlns:a="http://schemas.openxmlformats.org/drawingml/2006/main">
              <a:ext uri="{FF2B5EF4-FFF2-40B4-BE49-F238E27FC236}">
                <a16:creationId xmlns:a16="http://schemas.microsoft.com/office/drawing/2014/main" id="{4D711129-EDA4-4206-AD87-30D6A2B6800B}"/>
              </a:ext>
            </a:extLst>
          </p:cNvPr>
          <p:cNvSpPr>
            <a:spLocks xmlns:a="http://schemas.openxmlformats.org/drawingml/2006/main" noGrp="1"/>
          </p:cNvSpPr>
          <p:nvPr/>
        </p:nvSpPr>
        <p:spPr>
          <a:xfrm xmlns:a="http://schemas.openxmlformats.org/drawingml/2006/main">
            <a:off x="1809750" y="4314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92"/>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enforce motion limits, stale-data checks, a watchdog, and an emergency stop.</a:t>
            </a:r>
          </a:p>
        </p:txBody>
      </p:sp>
      <p:sp>
        <p:nvSpPr>
          <p:cNvPr id="10" name="">
            <a:extLst xmlns:a="http://schemas.openxmlformats.org/drawingml/2006/main">
              <a:ext uri="{FF2B5EF4-FFF2-40B4-BE49-F238E27FC236}">
                <a16:creationId xmlns:a16="http://schemas.microsoft.com/office/drawing/2014/main" id="{5FFEA5B4-5337-4794-83F4-EB07021C5BC0}"/>
              </a:ext>
            </a:extLst>
          </p:cNvPr>
          <p:cNvSpPr>
            <a:spLocks xmlns:a="http://schemas.openxmlformats.org/drawingml/2006/main" noGrp="1"/>
          </p:cNvSpPr>
          <p:nvPr/>
        </p:nvSpPr>
        <p:spPr>
          <a:xfrm xmlns:a="http://schemas.openxmlformats.org/drawingml/2006/main">
            <a:off x="952500" y="5381625"/>
            <a:ext cx="1028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OUR TRAINED .NPZ STAYS; We REPLACE SIMULATED INPUTS AND OUTPUTS</a:t>
            </a:r>
          </a:p>
        </p:txBody>
      </p:sp>
      <p:sp>
        <p:nvSpPr>
          <p:cNvPr id="11" name="footer">
            <a:extLst xmlns:a="http://schemas.openxmlformats.org/drawingml/2006/main">
              <a:ext uri="{FF2B5EF4-FFF2-40B4-BE49-F238E27FC236}">
                <a16:creationId xmlns:a16="http://schemas.microsoft.com/office/drawing/2014/main" id="{03D0C70F-75E1-4FC8-9B85-23EC88BD6139}"/>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2</a:t>
            </a:r>
          </a:p>
        </p:txBody>
      </p:sp>
    </p:spTree>
    <p:extLst>
      <p:ext uri="{BB962C8B-B14F-4D97-AF65-F5344CB8AC3E}">
        <p14:creationId xmlns:p14="http://schemas.microsoft.com/office/powerpoint/2010/main" val="3957028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F177A31-33A1-4C13-9534-843391A4B219}"/>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We will organize our deployment code into seven folders.</a:t>
            </a:r>
          </a:p>
        </p:txBody>
      </p:sp>
      <p:sp>
        <p:nvSpPr>
          <p:cNvPr id="2" name="next-steps">
            <a:extLst xmlns:a="http://schemas.openxmlformats.org/drawingml/2006/main">
              <a:ext uri="{FF2B5EF4-FFF2-40B4-BE49-F238E27FC236}">
                <a16:creationId xmlns:a16="http://schemas.microsoft.com/office/drawing/2014/main" id="{CA5549E8-9493-4A7C-9081-AEB971FC3822}"/>
              </a:ext>
            </a:extLst>
          </p:cNvPr>
          <p:cNvSpPr>
            <a:spLocks xmlns:a="http://schemas.openxmlformats.org/drawingml/2006/main" noGrp="1"/>
          </p:cNvSpPr>
          <p:nvPr/>
        </p:nvSpPr>
        <p:spPr>
          <a:xfrm xmlns:a="http://schemas.openxmlformats.org/drawingml/2006/main">
            <a:off x="1238250" y="1619250"/>
            <a:ext cx="97155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 config/ — joint maps, limits, calibration, and policy settings.</a:t>
            </a:r>
          </a:p>
          <a:p xmlns:a="http://schemas.openxmlformats.org/drawingml/2006/main">
            <a:r>
              <a:t>• policies/ — trained .npz files and version information.</a:t>
            </a:r>
          </a:p>
          <a:p xmlns:a="http://schemas.openxmlformats.org/drawingml/2006/main">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 interfaces/ — R1, Revo2, and camera drivers.</a:t>
            </a:r>
          </a:p>
          <a:p xmlns:a="http://schemas.openxmlformats.org/drawingml/2006/main">
            <a:r>
              <a:t>• runtime/ — observation adapter, policy runner, and action mapper.</a:t>
            </a:r>
          </a:p>
          <a:p xmlns:a="http://schemas.openxmlformats.org/drawingml/2006/main">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 safety/ — command limits, watchdog, and emergency stop.</a:t>
            </a:r>
          </a:p>
          <a:p xmlns:a="http://schemas.openxmlformats.org/drawingml/2006/main">
            <a:pPr algn="l">
              <a:buNone/>
              <a:defRPr sz="2400" b="0" i="0">
                <a:solidFill>
                  <a:srgbClr val="161616"/>
                </a:solidFill>
                <a:latin typeface="Times New Roman"/>
                <a:ea typeface="Times New Roman"/>
                <a:cs typeface="Times New Roman"/>
              </a:defRPr>
            </a:pPr>
            <a:r>
              <a:rPr sz="2400" b="0" i="0">
                <a:solidFill>
                  <a:srgbClr val="161616"/>
                </a:solidFill>
                <a:latin typeface="Times New Roman"/>
                <a:ea typeface="Times New Roman"/>
                <a:cs typeface="Times New Roman"/>
              </a:rPr>
              <a:t>• launch/ — observe, shadow, simulated, and hardware entry points.</a:t>
            </a:r>
          </a:p>
          <a:p xmlns:a="http://schemas.openxmlformats.org/drawingml/2006/main">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 logs/ + tests/ — recorded runs and automatic checks.</a:t>
            </a:r>
          </a:p>
        </p:txBody>
      </p:sp>
      <p:sp>
        <p:nvSpPr>
          <p:cNvPr id="3" name="">
            <a:extLst xmlns:a="http://schemas.openxmlformats.org/drawingml/2006/main">
              <a:ext uri="{FF2B5EF4-FFF2-40B4-BE49-F238E27FC236}">
                <a16:creationId xmlns:a16="http://schemas.microsoft.com/office/drawing/2014/main" id="{19B82CE8-AF6B-41C4-A9B2-9D2C516832D2}"/>
              </a:ext>
            </a:extLst>
          </p:cNvPr>
          <p:cNvSpPr>
            <a:spLocks xmlns:a="http://schemas.openxmlformats.org/drawingml/2006/main" noGrp="1"/>
          </p:cNvSpPr>
          <p:nvPr/>
        </p:nvSpPr>
        <p:spPr>
          <a:xfrm xmlns:a="http://schemas.openxmlformats.org/drawingml/2006/main">
            <a:off x="1428750" y="5191125"/>
            <a:ext cx="933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7365D"/>
                </a:solidFill>
                <a:latin typeface="Times New Roman"/>
                <a:ea typeface="Times New Roman"/>
                <a:cs typeface="Times New Roman"/>
              </a:defRPr>
            </a:pPr>
            <a:r>
              <a:rPr sz="2100" b="1" i="0">
                <a:solidFill>
                  <a:srgbClr val="17365D"/>
                </a:solidFill>
                <a:latin typeface="Times New Roman"/>
                <a:ea typeface="Times New Roman"/>
                <a:cs typeface="Times New Roman"/>
              </a:rPr>
              <a:t>We WILL KEEP TRAINING CODE SEPARATE FROM DEPLOYMENT CODE</a:t>
            </a:r>
          </a:p>
        </p:txBody>
      </p:sp>
      <p:sp>
        <p:nvSpPr>
          <p:cNvPr id="4" name="footer">
            <a:extLst xmlns:a="http://schemas.openxmlformats.org/drawingml/2006/main">
              <a:ext uri="{FF2B5EF4-FFF2-40B4-BE49-F238E27FC236}">
                <a16:creationId xmlns:a16="http://schemas.microsoft.com/office/drawing/2014/main" id="{F014CE0D-FDA9-40C8-B651-A77F57843CF3}"/>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3</a:t>
            </a:r>
          </a:p>
        </p:txBody>
      </p:sp>
    </p:spTree>
    <p:extLst>
      <p:ext uri="{BB962C8B-B14F-4D97-AF65-F5344CB8AC3E}">
        <p14:creationId xmlns:p14="http://schemas.microsoft.com/office/powerpoint/2010/main" val="47606016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C4BAC05-2014-4342-9B5B-8C51DCB9D2FC}"/>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We will give each folder one clear responsibility.</a:t>
            </a:r>
          </a:p>
        </p:txBody>
      </p:sp>
      <p:sp>
        <p:nvSpPr>
          <p:cNvPr id="2" name="">
            <a:extLst xmlns:a="http://schemas.openxmlformats.org/drawingml/2006/main">
              <a:ext uri="{FF2B5EF4-FFF2-40B4-BE49-F238E27FC236}">
                <a16:creationId xmlns:a16="http://schemas.microsoft.com/office/drawing/2014/main" id="{A16FF790-4D7C-4693-9CA1-DC15D9A6A048}"/>
              </a:ext>
            </a:extLst>
          </p:cNvPr>
          <p:cNvSpPr>
            <a:spLocks xmlns:a="http://schemas.openxmlformats.org/drawingml/2006/main" noGrp="1"/>
          </p:cNvSpPr>
          <p:nvPr/>
        </p:nvSpPr>
        <p:spPr>
          <a:xfrm xmlns:a="http://schemas.openxmlformats.org/drawingml/2006/main">
            <a:off x="8572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102"/>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CONFIG + POLICY</a:t>
            </a:r>
          </a:p>
        </p:txBody>
      </p:sp>
      <p:sp>
        <p:nvSpPr>
          <p:cNvPr id="3" name="policy-inputs">
            <a:extLst xmlns:a="http://schemas.openxmlformats.org/drawingml/2006/main">
              <a:ext uri="{FF2B5EF4-FFF2-40B4-BE49-F238E27FC236}">
                <a16:creationId xmlns:a16="http://schemas.microsoft.com/office/drawing/2014/main" id="{0010DA2C-F188-4B0A-BB03-20F01BD993D6}"/>
              </a:ext>
            </a:extLst>
          </p:cNvPr>
          <p:cNvSpPr>
            <a:spLocks xmlns:a="http://schemas.openxmlformats.org/drawingml/2006/main" noGrp="1"/>
          </p:cNvSpPr>
          <p:nvPr/>
        </p:nvSpPr>
        <p:spPr>
          <a:xfrm xmlns:a="http://schemas.openxmlformats.org/drawingml/2006/main">
            <a:off x="857250" y="2047875"/>
            <a:ext cx="4191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config/joint_map.yaml</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config/limits.yaml</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config/camera.yaml</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policies/manual3.npz</a:t>
            </a:r>
          </a:p>
        </p:txBody>
      </p:sp>
      <p:sp>
        <p:nvSpPr>
          <p:cNvPr id="4" name="">
            <a:extLst xmlns:a="http://schemas.openxmlformats.org/drawingml/2006/main">
              <a:ext uri="{FF2B5EF4-FFF2-40B4-BE49-F238E27FC236}">
                <a16:creationId xmlns:a16="http://schemas.microsoft.com/office/drawing/2014/main" id="{380F8B93-8088-4B93-95FB-A6DBB3829F41}"/>
              </a:ext>
            </a:extLst>
          </p:cNvPr>
          <p:cNvSpPr>
            <a:spLocks xmlns:a="http://schemas.openxmlformats.org/drawingml/2006/main" noGrp="1"/>
          </p:cNvSpPr>
          <p:nvPr/>
        </p:nvSpPr>
        <p:spPr>
          <a:xfrm xmlns:a="http://schemas.openxmlformats.org/drawingml/2006/main">
            <a:off x="5095875" y="2476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7365D"/>
                </a:solidFill>
                <a:latin typeface="Times New Roman"/>
                <a:ea typeface="Times New Roman"/>
                <a:cs typeface="Times New Roman"/>
              </a:defRPr>
            </a:pPr>
            <a:r>
              <a:rPr sz="2100" b="1" i="0">
                <a:solidFill>
                  <a:srgbClr val="17365D"/>
                </a:solidFill>
                <a:latin typeface="Times New Roman"/>
                <a:ea typeface="Times New Roman"/>
                <a:cs typeface="Times New Roman"/>
              </a:rPr>
              <a:t>INTERFACES</a:t>
            </a:r>
          </a:p>
        </p:txBody>
      </p:sp>
      <p:sp>
        <p:nvSpPr>
          <p:cNvPr id="5" name="">
            <a:extLst xmlns:a="http://schemas.openxmlformats.org/drawingml/2006/main">
              <a:ext uri="{FF2B5EF4-FFF2-40B4-BE49-F238E27FC236}">
                <a16:creationId xmlns:a16="http://schemas.microsoft.com/office/drawing/2014/main" id="{66A5B058-7255-4253-9E92-A5145C420364}"/>
              </a:ext>
            </a:extLst>
          </p:cNvPr>
          <p:cNvSpPr>
            <a:spLocks xmlns:a="http://schemas.openxmlformats.org/drawingml/2006/main" noGrp="1"/>
          </p:cNvSpPr>
          <p:nvPr/>
        </p:nvSpPr>
        <p:spPr>
          <a:xfrm xmlns:a="http://schemas.openxmlformats.org/drawingml/2006/main">
            <a:off x="5095875" y="3095625"/>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556"/>
          </a:bodyPr>
          <a:lstStyle xmlns:a="http://schemas.openxmlformats.org/drawingml/2006/main"/>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interfaces/r1_arm.py</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interfaces/revo2_hand.py</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interfaces/ball_camera.py</a:t>
            </a:r>
          </a:p>
        </p:txBody>
      </p:sp>
      <p:sp>
        <p:nvSpPr>
          <p:cNvPr id="6" name="">
            <a:extLst xmlns:a="http://schemas.openxmlformats.org/drawingml/2006/main">
              <a:ext uri="{FF2B5EF4-FFF2-40B4-BE49-F238E27FC236}">
                <a16:creationId xmlns:a16="http://schemas.microsoft.com/office/drawing/2014/main" id="{27A95B75-3F35-4EA0-B015-959F7FCFF300}"/>
              </a:ext>
            </a:extLst>
          </p:cNvPr>
          <p:cNvSpPr>
            <a:spLocks xmlns:a="http://schemas.openxmlformats.org/drawingml/2006/main" noGrp="1"/>
          </p:cNvSpPr>
          <p:nvPr/>
        </p:nvSpPr>
        <p:spPr>
          <a:xfrm xmlns:a="http://schemas.openxmlformats.org/drawingml/2006/main">
            <a:off x="857250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0529"/>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RUNTIME + SAFETY</a:t>
            </a:r>
          </a:p>
        </p:txBody>
      </p:sp>
      <p:sp>
        <p:nvSpPr>
          <p:cNvPr id="7" name="policy-outputs">
            <a:extLst xmlns:a="http://schemas.openxmlformats.org/drawingml/2006/main">
              <a:ext uri="{FF2B5EF4-FFF2-40B4-BE49-F238E27FC236}">
                <a16:creationId xmlns:a16="http://schemas.microsoft.com/office/drawing/2014/main" id="{C0FA5EF2-ACC8-4373-824E-13262C19CF83}"/>
              </a:ext>
            </a:extLst>
          </p:cNvPr>
          <p:cNvSpPr>
            <a:spLocks xmlns:a="http://schemas.openxmlformats.org/drawingml/2006/main" noGrp="1"/>
          </p:cNvSpPr>
          <p:nvPr/>
        </p:nvSpPr>
        <p:spPr>
          <a:xfrm xmlns:a="http://schemas.openxmlformats.org/drawingml/2006/main">
            <a:off x="8572500" y="2047875"/>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runtime/observe.py</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runtime/policy_runner.py</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safety/filter.py</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safety/watchdog.py</a:t>
            </a:r>
          </a:p>
        </p:txBody>
      </p:sp>
      <p:sp>
        <p:nvSpPr>
          <p:cNvPr id="8" name="policy-flow">
            <a:extLst xmlns:a="http://schemas.openxmlformats.org/drawingml/2006/main">
              <a:ext uri="{FF2B5EF4-FFF2-40B4-BE49-F238E27FC236}">
                <a16:creationId xmlns:a16="http://schemas.microsoft.com/office/drawing/2014/main" id="{E77996CB-2894-4F99-8B15-A3B6B2AAD470}"/>
              </a:ext>
            </a:extLst>
          </p:cNvPr>
          <p:cNvSpPr>
            <a:spLocks xmlns:a="http://schemas.openxmlformats.org/drawingml/2006/main" noGrp="1"/>
          </p:cNvSpPr>
          <p:nvPr/>
        </p:nvSpPr>
        <p:spPr>
          <a:xfrm xmlns:a="http://schemas.openxmlformats.org/drawingml/2006/main">
            <a:off x="1619250" y="5000625"/>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000"/>
          </a:bodyPr>
          <a:lstStyle xmlns:a="http://schemas.openxmlformats.org/drawingml/2006/main"/>
          <a:p xmlns:a="http://schemas.openxmlformats.org/drawingml/2006/main">
            <a:pPr algn="ctr">
              <a:buNone/>
              <a:defRPr sz="2250" b="1" i="0">
                <a:solidFill>
                  <a:srgbClr val="17365D"/>
                </a:solidFill>
                <a:latin typeface="Times New Roman"/>
                <a:ea typeface="Times New Roman"/>
                <a:cs typeface="Times New Roman"/>
              </a:defRPr>
            </a:pPr>
            <a:r>
              <a:rPr sz="2250" b="1" i="0">
                <a:solidFill>
                  <a:srgbClr val="17365D"/>
                </a:solidFill>
                <a:latin typeface="Times New Roman"/>
                <a:ea typeface="Times New Roman"/>
                <a:cs typeface="Times New Roman"/>
              </a:rPr>
              <a:t>OUR FILES DEFINE DATA  →  OUR INTERFACES CONNECT  →  OUR RUNTIME EXECUTES</a:t>
            </a:r>
          </a:p>
        </p:txBody>
      </p:sp>
      <p:sp>
        <p:nvSpPr>
          <p:cNvPr id="9" name="footer">
            <a:extLst xmlns:a="http://schemas.openxmlformats.org/drawingml/2006/main">
              <a:ext uri="{FF2B5EF4-FFF2-40B4-BE49-F238E27FC236}">
                <a16:creationId xmlns:a16="http://schemas.microsoft.com/office/drawing/2014/main" id="{A9ACB5E6-3FA5-400B-A678-F07D14070FE7}"/>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4</a:t>
            </a:r>
          </a:p>
        </p:txBody>
      </p:sp>
    </p:spTree>
    <p:extLst>
      <p:ext uri="{BB962C8B-B14F-4D97-AF65-F5344CB8AC3E}">
        <p14:creationId xmlns:p14="http://schemas.microsoft.com/office/powerpoint/2010/main" val="1250237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C4BAC05-2014-4342-9B5B-8C51DCB9D2FC}"/>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We will connect three data paths to one control computer.</a:t>
            </a:r>
          </a:p>
        </p:txBody>
      </p:sp>
      <p:sp>
        <p:nvSpPr>
          <p:cNvPr id="2" name="">
            <a:extLst xmlns:a="http://schemas.openxmlformats.org/drawingml/2006/main">
              <a:ext uri="{FF2B5EF4-FFF2-40B4-BE49-F238E27FC236}">
                <a16:creationId xmlns:a16="http://schemas.microsoft.com/office/drawing/2014/main" id="{A16FF790-4D7C-4693-9CA1-DC15D9A6A048}"/>
              </a:ext>
            </a:extLst>
          </p:cNvPr>
          <p:cNvSpPr>
            <a:spLocks xmlns:a="http://schemas.openxmlformats.org/drawingml/2006/main" noGrp="1"/>
          </p:cNvSpPr>
          <p:nvPr/>
        </p:nvSpPr>
        <p:spPr>
          <a:xfrm xmlns:a="http://schemas.openxmlformats.org/drawingml/2006/main">
            <a:off x="8572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R1 NETWORK</a:t>
            </a:r>
          </a:p>
        </p:txBody>
      </p:sp>
      <p:sp>
        <p:nvSpPr>
          <p:cNvPr id="3" name="policy-inputs">
            <a:extLst xmlns:a="http://schemas.openxmlformats.org/drawingml/2006/main">
              <a:ext uri="{FF2B5EF4-FFF2-40B4-BE49-F238E27FC236}">
                <a16:creationId xmlns:a16="http://schemas.microsoft.com/office/drawing/2014/main" id="{0010DA2C-F188-4B0A-BB03-20F01BD993D6}"/>
              </a:ext>
            </a:extLst>
          </p:cNvPr>
          <p:cNvSpPr>
            <a:spLocks xmlns:a="http://schemas.openxmlformats.org/drawingml/2006/main" noGrp="1"/>
          </p:cNvSpPr>
          <p:nvPr/>
        </p:nvSpPr>
        <p:spPr>
          <a:xfrm xmlns:a="http://schemas.openxmlformats.org/drawingml/2006/main">
            <a:off x="857250" y="2047875"/>
            <a:ext cx="4191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We connect R1 Ethernet</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Use the SDK2 DDS interface</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Read joint state</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Send arm targets</a:t>
            </a:r>
          </a:p>
        </p:txBody>
      </p:sp>
      <p:sp>
        <p:nvSpPr>
          <p:cNvPr id="4" name="">
            <a:extLst xmlns:a="http://schemas.openxmlformats.org/drawingml/2006/main">
              <a:ext uri="{FF2B5EF4-FFF2-40B4-BE49-F238E27FC236}">
                <a16:creationId xmlns:a16="http://schemas.microsoft.com/office/drawing/2014/main" id="{380F8B93-8088-4B93-95FB-A6DBB3829F41}"/>
              </a:ext>
            </a:extLst>
          </p:cNvPr>
          <p:cNvSpPr>
            <a:spLocks xmlns:a="http://schemas.openxmlformats.org/drawingml/2006/main" noGrp="1"/>
          </p:cNvSpPr>
          <p:nvPr/>
        </p:nvSpPr>
        <p:spPr>
          <a:xfrm xmlns:a="http://schemas.openxmlformats.org/drawingml/2006/main">
            <a:off x="5095875" y="2476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7365D"/>
                </a:solidFill>
                <a:latin typeface="Times New Roman"/>
                <a:ea typeface="Times New Roman"/>
                <a:cs typeface="Times New Roman"/>
              </a:defRPr>
            </a:pPr>
            <a:r>
              <a:rPr sz="2100" b="1" i="0">
                <a:solidFill>
                  <a:srgbClr val="17365D"/>
                </a:solidFill>
                <a:latin typeface="Times New Roman"/>
                <a:ea typeface="Times New Roman"/>
                <a:cs typeface="Times New Roman"/>
              </a:rPr>
              <a:t>REVO2 BUS</a:t>
            </a:r>
          </a:p>
        </p:txBody>
      </p:sp>
      <p:sp>
        <p:nvSpPr>
          <p:cNvPr id="5" name="">
            <a:extLst xmlns:a="http://schemas.openxmlformats.org/drawingml/2006/main">
              <a:ext uri="{FF2B5EF4-FFF2-40B4-BE49-F238E27FC236}">
                <a16:creationId xmlns:a16="http://schemas.microsoft.com/office/drawing/2014/main" id="{66A5B058-7255-4253-9E92-A5145C420364}"/>
              </a:ext>
            </a:extLst>
          </p:cNvPr>
          <p:cNvSpPr>
            <a:spLocks xmlns:a="http://schemas.openxmlformats.org/drawingml/2006/main" noGrp="1"/>
          </p:cNvSpPr>
          <p:nvPr/>
        </p:nvSpPr>
        <p:spPr>
          <a:xfrm xmlns:a="http://schemas.openxmlformats.org/drawingml/2006/main">
            <a:off x="5095875" y="3095625"/>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667"/>
          </a:bodyPr>
          <a:lstStyle xmlns:a="http://schemas.openxmlformats.org/drawingml/2006/main"/>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We connect the hands by</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USB-RS485, CAN FD,</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or EtherCAT</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Use BrainCo ROS 2</a:t>
            </a:r>
          </a:p>
        </p:txBody>
      </p:sp>
      <p:sp>
        <p:nvSpPr>
          <p:cNvPr id="6" name="">
            <a:extLst xmlns:a="http://schemas.openxmlformats.org/drawingml/2006/main">
              <a:ext uri="{FF2B5EF4-FFF2-40B4-BE49-F238E27FC236}">
                <a16:creationId xmlns:a16="http://schemas.microsoft.com/office/drawing/2014/main" id="{27A95B75-3F35-4EA0-B015-959F7FCFF300}"/>
              </a:ext>
            </a:extLst>
          </p:cNvPr>
          <p:cNvSpPr>
            <a:spLocks xmlns:a="http://schemas.openxmlformats.org/drawingml/2006/main" noGrp="1"/>
          </p:cNvSpPr>
          <p:nvPr/>
        </p:nvSpPr>
        <p:spPr>
          <a:xfrm xmlns:a="http://schemas.openxmlformats.org/drawingml/2006/main">
            <a:off x="857250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956"/>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RGB-D CAMERA</a:t>
            </a:r>
          </a:p>
        </p:txBody>
      </p:sp>
      <p:sp>
        <p:nvSpPr>
          <p:cNvPr id="7" name="policy-outputs">
            <a:extLst xmlns:a="http://schemas.openxmlformats.org/drawingml/2006/main">
              <a:ext uri="{FF2B5EF4-FFF2-40B4-BE49-F238E27FC236}">
                <a16:creationId xmlns:a16="http://schemas.microsoft.com/office/drawing/2014/main" id="{C0FA5EF2-ACC8-4373-824E-13262C19CF83}"/>
              </a:ext>
            </a:extLst>
          </p:cNvPr>
          <p:cNvSpPr>
            <a:spLocks xmlns:a="http://schemas.openxmlformats.org/drawingml/2006/main" noGrp="1"/>
          </p:cNvSpPr>
          <p:nvPr/>
        </p:nvSpPr>
        <p:spPr>
          <a:xfrm xmlns:a="http://schemas.openxmlformats.org/drawingml/2006/main">
            <a:off x="8572500" y="2047875"/>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We connect an RGB-D camera</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Publish a timestamped</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ball pose in the</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R1 base frame</a:t>
            </a:r>
          </a:p>
        </p:txBody>
      </p:sp>
      <p:sp>
        <p:nvSpPr>
          <p:cNvPr id="8" name="policy-flow">
            <a:extLst xmlns:a="http://schemas.openxmlformats.org/drawingml/2006/main">
              <a:ext uri="{FF2B5EF4-FFF2-40B4-BE49-F238E27FC236}">
                <a16:creationId xmlns:a16="http://schemas.microsoft.com/office/drawing/2014/main" id="{E77996CB-2894-4F99-8B15-A3B6B2AAD470}"/>
              </a:ext>
            </a:extLst>
          </p:cNvPr>
          <p:cNvSpPr>
            <a:spLocks xmlns:a="http://schemas.openxmlformats.org/drawingml/2006/main" noGrp="1"/>
          </p:cNvSpPr>
          <p:nvPr/>
        </p:nvSpPr>
        <p:spPr>
          <a:xfrm xmlns:a="http://schemas.openxmlformats.org/drawingml/2006/main">
            <a:off x="1619250" y="5000625"/>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88"/>
          </a:bodyPr>
          <a:lstStyle xmlns:a="http://schemas.openxmlformats.org/drawingml/2006/main"/>
          <a:p xmlns:a="http://schemas.openxmlformats.org/drawingml/2006/main">
            <a:pPr algn="ctr">
              <a:buNone/>
              <a:defRPr sz="2250" b="1" i="0">
                <a:solidFill>
                  <a:srgbClr val="17365D"/>
                </a:solidFill>
                <a:latin typeface="Times New Roman"/>
                <a:ea typeface="Times New Roman"/>
                <a:cs typeface="Times New Roman"/>
              </a:defRPr>
            </a:pPr>
            <a:r>
              <a:rPr sz="2250" b="1" i="0">
                <a:solidFill>
                  <a:srgbClr val="17365D"/>
                </a:solidFill>
                <a:latin typeface="Times New Roman"/>
                <a:ea typeface="Times New Roman"/>
                <a:cs typeface="Times New Roman"/>
              </a:rPr>
              <a:t>OUR UBUNTU / ROS 2 COMPUTER SYNCHRONIZES ALL THREE STREAMS</a:t>
            </a:r>
          </a:p>
        </p:txBody>
      </p:sp>
      <p:sp>
        <p:nvSpPr>
          <p:cNvPr id="9" name="footer">
            <a:extLst xmlns:a="http://schemas.openxmlformats.org/drawingml/2006/main">
              <a:ext uri="{FF2B5EF4-FFF2-40B4-BE49-F238E27FC236}">
                <a16:creationId xmlns:a16="http://schemas.microsoft.com/office/drawing/2014/main" id="{A9ACB5E6-3FA5-400B-A678-F07D14070FE7}"/>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5</a:t>
            </a:r>
          </a:p>
        </p:txBody>
      </p:sp>
    </p:spTree>
    <p:extLst>
      <p:ext uri="{BB962C8B-B14F-4D97-AF65-F5344CB8AC3E}">
        <p14:creationId xmlns:p14="http://schemas.microsoft.com/office/powerpoint/2010/main" val="12502376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2C4BAC05-2014-4342-9B5B-8C51DCB9D2FC}"/>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Our control loop will repeat every 25 milliseconds.</a:t>
            </a:r>
          </a:p>
        </p:txBody>
      </p:sp>
      <p:sp>
        <p:nvSpPr>
          <p:cNvPr id="2" name="">
            <a:extLst xmlns:a="http://schemas.openxmlformats.org/drawingml/2006/main">
              <a:ext uri="{FF2B5EF4-FFF2-40B4-BE49-F238E27FC236}">
                <a16:creationId xmlns:a16="http://schemas.microsoft.com/office/drawing/2014/main" id="{A16FF790-4D7C-4693-9CA1-DC15D9A6A048}"/>
              </a:ext>
            </a:extLst>
          </p:cNvPr>
          <p:cNvSpPr>
            <a:spLocks xmlns:a="http://schemas.openxmlformats.org/drawingml/2006/main" noGrp="1"/>
          </p:cNvSpPr>
          <p:nvPr/>
        </p:nvSpPr>
        <p:spPr>
          <a:xfrm xmlns:a="http://schemas.openxmlformats.org/drawingml/2006/main">
            <a:off x="85725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144"/>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We READ STATE</a:t>
            </a:r>
          </a:p>
        </p:txBody>
      </p:sp>
      <p:sp>
        <p:nvSpPr>
          <p:cNvPr id="3" name="policy-inputs">
            <a:extLst xmlns:a="http://schemas.openxmlformats.org/drawingml/2006/main">
              <a:ext uri="{FF2B5EF4-FFF2-40B4-BE49-F238E27FC236}">
                <a16:creationId xmlns:a16="http://schemas.microsoft.com/office/drawing/2014/main" id="{0010DA2C-F188-4B0A-BB03-20F01BD993D6}"/>
              </a:ext>
            </a:extLst>
          </p:cNvPr>
          <p:cNvSpPr>
            <a:spLocks xmlns:a="http://schemas.openxmlformats.org/drawingml/2006/main" noGrp="1"/>
          </p:cNvSpPr>
          <p:nvPr/>
        </p:nvSpPr>
        <p:spPr>
          <a:xfrm xmlns:a="http://schemas.openxmlformats.org/drawingml/2006/main">
            <a:off x="857250" y="2047875"/>
            <a:ext cx="4191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R1 joint feedback</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Revo2 finger state</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Ball pose + velocity</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Task phase + last action</a:t>
            </a:r>
          </a:p>
        </p:txBody>
      </p:sp>
      <p:sp>
        <p:nvSpPr>
          <p:cNvPr id="4" name="">
            <a:extLst xmlns:a="http://schemas.openxmlformats.org/drawingml/2006/main">
              <a:ext uri="{FF2B5EF4-FFF2-40B4-BE49-F238E27FC236}">
                <a16:creationId xmlns:a16="http://schemas.microsoft.com/office/drawing/2014/main" id="{380F8B93-8088-4B93-95FB-A6DBB3829F41}"/>
              </a:ext>
            </a:extLst>
          </p:cNvPr>
          <p:cNvSpPr>
            <a:spLocks xmlns:a="http://schemas.openxmlformats.org/drawingml/2006/main" noGrp="1"/>
          </p:cNvSpPr>
          <p:nvPr/>
        </p:nvSpPr>
        <p:spPr>
          <a:xfrm xmlns:a="http://schemas.openxmlformats.org/drawingml/2006/main">
            <a:off x="5095875" y="247650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100" b="1" i="0">
                <a:solidFill>
                  <a:srgbClr val="17365D"/>
                </a:solidFill>
                <a:latin typeface="Times New Roman"/>
                <a:ea typeface="Times New Roman"/>
                <a:cs typeface="Times New Roman"/>
              </a:defRPr>
            </a:pPr>
            <a:r>
              <a:rPr sz="2100" b="1" i="0">
                <a:solidFill>
                  <a:srgbClr val="17365D"/>
                </a:solidFill>
                <a:latin typeface="Times New Roman"/>
                <a:ea typeface="Times New Roman"/>
                <a:cs typeface="Times New Roman"/>
              </a:rPr>
              <a:t>We RUN POLICY</a:t>
            </a:r>
          </a:p>
        </p:txBody>
      </p:sp>
      <p:sp>
        <p:nvSpPr>
          <p:cNvPr id="5" name="">
            <a:extLst xmlns:a="http://schemas.openxmlformats.org/drawingml/2006/main">
              <a:ext uri="{FF2B5EF4-FFF2-40B4-BE49-F238E27FC236}">
                <a16:creationId xmlns:a16="http://schemas.microsoft.com/office/drawing/2014/main" id="{66A5B058-7255-4253-9E92-A5145C420364}"/>
              </a:ext>
            </a:extLst>
          </p:cNvPr>
          <p:cNvSpPr>
            <a:spLocks xmlns:a="http://schemas.openxmlformats.org/drawingml/2006/main" noGrp="1"/>
          </p:cNvSpPr>
          <p:nvPr/>
        </p:nvSpPr>
        <p:spPr>
          <a:xfrm xmlns:a="http://schemas.openxmlformats.org/drawingml/2006/main">
            <a:off x="5095875" y="3095625"/>
            <a:ext cx="285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667"/>
          </a:bodyPr>
          <a:lstStyle xmlns:a="http://schemas.openxmlformats.org/drawingml/2006/main"/>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Build 51/94 values</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Normalize exactly</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Run .npz network</a:t>
            </a:r>
          </a:p>
          <a:p xmlns:a="http://schemas.openxmlformats.org/drawingml/2006/main">
            <a:pPr algn="ctr">
              <a:buNone/>
              <a:defRPr sz="1875" b="0" i="0">
                <a:solidFill>
                  <a:srgbClr val="666666"/>
                </a:solidFill>
                <a:latin typeface="Times New Roman"/>
                <a:ea typeface="Times New Roman"/>
                <a:cs typeface="Times New Roman"/>
              </a:defRPr>
            </a:pPr>
            <a:r>
              <a:rPr sz="1875" b="0" i="0">
                <a:solidFill>
                  <a:srgbClr val="666666"/>
                </a:solidFill>
                <a:latin typeface="Times New Roman"/>
                <a:ea typeface="Times New Roman"/>
                <a:cs typeface="Times New Roman"/>
              </a:rPr>
              <a:t>Produce 11/22 actions</a:t>
            </a:r>
          </a:p>
        </p:txBody>
      </p:sp>
      <p:sp>
        <p:nvSpPr>
          <p:cNvPr id="6" name="">
            <a:extLst xmlns:a="http://schemas.openxmlformats.org/drawingml/2006/main">
              <a:ext uri="{FF2B5EF4-FFF2-40B4-BE49-F238E27FC236}">
                <a16:creationId xmlns:a16="http://schemas.microsoft.com/office/drawing/2014/main" id="{27A95B75-3F35-4EA0-B015-959F7FCFF300}"/>
              </a:ext>
            </a:extLst>
          </p:cNvPr>
          <p:cNvSpPr>
            <a:spLocks xmlns:a="http://schemas.openxmlformats.org/drawingml/2006/main" noGrp="1"/>
          </p:cNvSpPr>
          <p:nvPr/>
        </p:nvSpPr>
        <p:spPr>
          <a:xfrm xmlns:a="http://schemas.openxmlformats.org/drawingml/2006/main">
            <a:off x="8572500" y="15240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960"/>
          </a:bodyPr>
          <a:lstStyle xmlns:a="http://schemas.openxmlformats.org/drawingml/2006/main"/>
          <a:p xmlns:a="http://schemas.openxmlformats.org/drawingml/2006/main">
            <a:pPr algn="l">
              <a:buNone/>
              <a:defRPr sz="1950" b="1" i="0">
                <a:solidFill>
                  <a:srgbClr val="2F5597"/>
                </a:solidFill>
                <a:latin typeface="Times New Roman"/>
                <a:ea typeface="Times New Roman"/>
                <a:cs typeface="Times New Roman"/>
              </a:defRPr>
            </a:pPr>
            <a:r>
              <a:rPr sz="1950" b="1" i="0">
                <a:solidFill>
                  <a:srgbClr val="2F5597"/>
                </a:solidFill>
                <a:latin typeface="Times New Roman"/>
                <a:ea typeface="Times New Roman"/>
                <a:cs typeface="Times New Roman"/>
              </a:rPr>
              <a:t>We SEND TARGETS</a:t>
            </a:r>
          </a:p>
        </p:txBody>
      </p:sp>
      <p:sp>
        <p:nvSpPr>
          <p:cNvPr id="7" name="policy-outputs">
            <a:extLst xmlns:a="http://schemas.openxmlformats.org/drawingml/2006/main">
              <a:ext uri="{FF2B5EF4-FFF2-40B4-BE49-F238E27FC236}">
                <a16:creationId xmlns:a16="http://schemas.microsoft.com/office/drawing/2014/main" id="{C0FA5EF2-ACC8-4373-824E-13262C19CF83}"/>
              </a:ext>
            </a:extLst>
          </p:cNvPr>
          <p:cNvSpPr>
            <a:spLocks xmlns:a="http://schemas.openxmlformats.org/drawingml/2006/main" noGrp="1"/>
          </p:cNvSpPr>
          <p:nvPr/>
        </p:nvSpPr>
        <p:spPr>
          <a:xfrm xmlns:a="http://schemas.openxmlformats.org/drawingml/2006/main">
            <a:off x="8572500" y="2047875"/>
            <a:ext cx="2857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Map normalized action</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Clamp angle + speed</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Publish arm + hand</a:t>
            </a:r>
          </a:p>
          <a:p xmlns:a="http://schemas.openxmlformats.org/drawingml/2006/main">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Stop on stale data</a:t>
            </a:r>
          </a:p>
        </p:txBody>
      </p:sp>
      <p:sp>
        <p:nvSpPr>
          <p:cNvPr id="8" name="policy-flow">
            <a:extLst xmlns:a="http://schemas.openxmlformats.org/drawingml/2006/main">
              <a:ext uri="{FF2B5EF4-FFF2-40B4-BE49-F238E27FC236}">
                <a16:creationId xmlns:a16="http://schemas.microsoft.com/office/drawing/2014/main" id="{E77996CB-2894-4F99-8B15-A3B6B2AAD470}"/>
              </a:ext>
            </a:extLst>
          </p:cNvPr>
          <p:cNvSpPr>
            <a:spLocks xmlns:a="http://schemas.openxmlformats.org/drawingml/2006/main" noGrp="1"/>
          </p:cNvSpPr>
          <p:nvPr/>
        </p:nvSpPr>
        <p:spPr>
          <a:xfrm xmlns:a="http://schemas.openxmlformats.org/drawingml/2006/main">
            <a:off x="1619250" y="5000625"/>
            <a:ext cx="895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878"/>
          </a:bodyPr>
          <a:lstStyle xmlns:a="http://schemas.openxmlformats.org/drawingml/2006/main"/>
          <a:p xmlns:a="http://schemas.openxmlformats.org/drawingml/2006/main">
            <a:pPr algn="ctr">
              <a:buNone/>
              <a:defRPr sz="2250" b="1" i="0">
                <a:solidFill>
                  <a:srgbClr val="17365D"/>
                </a:solidFill>
                <a:latin typeface="Times New Roman"/>
                <a:ea typeface="Times New Roman"/>
                <a:cs typeface="Times New Roman"/>
              </a:defRPr>
            </a:pPr>
            <a:r>
              <a:rPr sz="2250" b="1" i="0">
                <a:solidFill>
                  <a:srgbClr val="17365D"/>
                </a:solidFill>
                <a:latin typeface="Times New Roman"/>
                <a:ea typeface="Times New Roman"/>
                <a:cs typeface="Times New Roman"/>
              </a:rPr>
              <a:t>READ  →  BUILD OBSERVATION  →  INFER  →  FILTER  →  COMMAND</a:t>
            </a:r>
          </a:p>
        </p:txBody>
      </p:sp>
      <p:sp>
        <p:nvSpPr>
          <p:cNvPr id="9" name="footer">
            <a:extLst xmlns:a="http://schemas.openxmlformats.org/drawingml/2006/main">
              <a:ext uri="{FF2B5EF4-FFF2-40B4-BE49-F238E27FC236}">
                <a16:creationId xmlns:a16="http://schemas.microsoft.com/office/drawing/2014/main" id="{A9ACB5E6-3FA5-400B-A678-F07D14070FE7}"/>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6</a:t>
            </a:r>
          </a:p>
        </p:txBody>
      </p:sp>
    </p:spTree>
    <p:extLst>
      <p:ext uri="{BB962C8B-B14F-4D97-AF65-F5344CB8AC3E}">
        <p14:creationId xmlns:p14="http://schemas.microsoft.com/office/powerpoint/2010/main" val="12502376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9565148-4EF2-40B4-820D-2643A4AE4EB5}"/>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We will prepare the computer before loading our policy.</a:t>
            </a:r>
          </a:p>
        </p:txBody>
      </p:sp>
      <p:sp>
        <p:nvSpPr>
          <p:cNvPr id="2" name="">
            <a:extLst xmlns:a="http://schemas.openxmlformats.org/drawingml/2006/main">
              <a:ext uri="{FF2B5EF4-FFF2-40B4-BE49-F238E27FC236}">
                <a16:creationId xmlns:a16="http://schemas.microsoft.com/office/drawing/2014/main" id="{94051B74-1FDA-4046-A9BD-2211F439B67B}"/>
              </a:ext>
            </a:extLst>
          </p:cNvPr>
          <p:cNvSpPr>
            <a:spLocks xmlns:a="http://schemas.openxmlformats.org/drawingml/2006/main" noGrp="1"/>
          </p:cNvSpPr>
          <p:nvPr/>
        </p:nvSpPr>
        <p:spPr>
          <a:xfrm xmlns:a="http://schemas.openxmlformats.org/drawingml/2006/main">
            <a:off x="952500" y="1428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xmlns:a="http://schemas.openxmlformats.org/drawingml/2006/main">
              <a:ext uri="{FF2B5EF4-FFF2-40B4-BE49-F238E27FC236}">
                <a16:creationId xmlns:a16="http://schemas.microsoft.com/office/drawing/2014/main" id="{931ED5D0-6C8E-498A-811E-6C6C55CE2F9A}"/>
              </a:ext>
            </a:extLst>
          </p:cNvPr>
          <p:cNvSpPr>
            <a:spLocks xmlns:a="http://schemas.openxmlformats.org/drawingml/2006/main" noGrp="1"/>
          </p:cNvSpPr>
          <p:nvPr/>
        </p:nvSpPr>
        <p:spPr>
          <a:xfrm xmlns:a="http://schemas.openxmlformats.org/drawingml/2006/main">
            <a:off x="1809750" y="1457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install Ubuntu 22.04 and ROS 2 Humble on our control computer.</a:t>
            </a:r>
          </a:p>
        </p:txBody>
      </p:sp>
      <p:sp>
        <p:nvSpPr>
          <p:cNvPr id="4" name="">
            <a:extLst xmlns:a="http://schemas.openxmlformats.org/drawingml/2006/main">
              <a:ext uri="{FF2B5EF4-FFF2-40B4-BE49-F238E27FC236}">
                <a16:creationId xmlns:a16="http://schemas.microsoft.com/office/drawing/2014/main" id="{5C3D9081-30A7-4527-B690-6069EF4EE283}"/>
              </a:ext>
            </a:extLst>
          </p:cNvPr>
          <p:cNvSpPr>
            <a:spLocks xmlns:a="http://schemas.openxmlformats.org/drawingml/2006/main" noGrp="1"/>
          </p:cNvSpPr>
          <p:nvPr/>
        </p:nvSpPr>
        <p:spPr>
          <a:xfrm xmlns:a="http://schemas.openxmlformats.org/drawingml/2006/main">
            <a:off x="952500" y="2381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xmlns:a="http://schemas.openxmlformats.org/drawingml/2006/main">
              <a:ext uri="{FF2B5EF4-FFF2-40B4-BE49-F238E27FC236}">
                <a16:creationId xmlns:a16="http://schemas.microsoft.com/office/drawing/2014/main" id="{883B8CFB-A20D-48D0-8756-B7B45880EE3F}"/>
              </a:ext>
            </a:extLst>
          </p:cNvPr>
          <p:cNvSpPr>
            <a:spLocks xmlns:a="http://schemas.openxmlformats.org/drawingml/2006/main" noGrp="1"/>
          </p:cNvSpPr>
          <p:nvPr/>
        </p:nvSpPr>
        <p:spPr>
          <a:xfrm xmlns:a="http://schemas.openxmlformats.org/drawingml/2006/main">
            <a:off x="1809750" y="2409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build Unitree SDK2, read R1 state, and run the arm example.</a:t>
            </a:r>
          </a:p>
        </p:txBody>
      </p:sp>
      <p:sp>
        <p:nvSpPr>
          <p:cNvPr id="6" name="">
            <a:extLst xmlns:a="http://schemas.openxmlformats.org/drawingml/2006/main">
              <a:ext uri="{FF2B5EF4-FFF2-40B4-BE49-F238E27FC236}">
                <a16:creationId xmlns:a16="http://schemas.microsoft.com/office/drawing/2014/main" id="{1274C684-0237-48F4-BE67-1048B64327F5}"/>
              </a:ext>
            </a:extLst>
          </p:cNvPr>
          <p:cNvSpPr>
            <a:spLocks xmlns:a="http://schemas.openxmlformats.org/drawingml/2006/main" noGrp="1"/>
          </p:cNvSpPr>
          <p:nvPr/>
        </p:nvSpPr>
        <p:spPr>
          <a:xfrm xmlns:a="http://schemas.openxmlformats.org/drawingml/2006/main">
            <a:off x="952500" y="3333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xmlns:a="http://schemas.openxmlformats.org/drawingml/2006/main">
              <a:ext uri="{FF2B5EF4-FFF2-40B4-BE49-F238E27FC236}">
                <a16:creationId xmlns:a16="http://schemas.microsoft.com/office/drawing/2014/main" id="{3615F39E-43A1-4D78-B1CA-B14942EC498B}"/>
              </a:ext>
            </a:extLst>
          </p:cNvPr>
          <p:cNvSpPr>
            <a:spLocks xmlns:a="http://schemas.openxmlformats.org/drawingml/2006/main" noGrp="1"/>
          </p:cNvSpPr>
          <p:nvPr/>
        </p:nvSpPr>
        <p:spPr>
          <a:xfrm xmlns:a="http://schemas.openxmlformats.org/drawingml/2006/main">
            <a:off x="1809750" y="3362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build the BrainCo workspace and test each hand independently.</a:t>
            </a:r>
          </a:p>
        </p:txBody>
      </p:sp>
      <p:sp>
        <p:nvSpPr>
          <p:cNvPr id="8" name="">
            <a:extLst xmlns:a="http://schemas.openxmlformats.org/drawingml/2006/main">
              <a:ext uri="{FF2B5EF4-FFF2-40B4-BE49-F238E27FC236}">
                <a16:creationId xmlns:a16="http://schemas.microsoft.com/office/drawing/2014/main" id="{DC2AC943-BB28-4F10-B649-20DE4563811D}"/>
              </a:ext>
            </a:extLst>
          </p:cNvPr>
          <p:cNvSpPr>
            <a:spLocks xmlns:a="http://schemas.openxmlformats.org/drawingml/2006/main" noGrp="1"/>
          </p:cNvSpPr>
          <p:nvPr/>
        </p:nvSpPr>
        <p:spPr>
          <a:xfrm xmlns:a="http://schemas.openxmlformats.org/drawingml/2006/main">
            <a:off x="952500" y="4286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xmlns:a="http://schemas.openxmlformats.org/drawingml/2006/main">
              <a:ext uri="{FF2B5EF4-FFF2-40B4-BE49-F238E27FC236}">
                <a16:creationId xmlns:a16="http://schemas.microsoft.com/office/drawing/2014/main" id="{4D711129-EDA4-4206-AD87-30D6A2B6800B}"/>
              </a:ext>
            </a:extLst>
          </p:cNvPr>
          <p:cNvSpPr>
            <a:spLocks xmlns:a="http://schemas.openxmlformats.org/drawingml/2006/main" noGrp="1"/>
          </p:cNvSpPr>
          <p:nvPr/>
        </p:nvSpPr>
        <p:spPr>
          <a:xfrm xmlns:a="http://schemas.openxmlformats.org/drawingml/2006/main">
            <a:off x="1809750" y="4314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add camera tracking, save calibration, and verify every joint map.</a:t>
            </a:r>
          </a:p>
        </p:txBody>
      </p:sp>
      <p:sp>
        <p:nvSpPr>
          <p:cNvPr id="10" name="">
            <a:extLst xmlns:a="http://schemas.openxmlformats.org/drawingml/2006/main">
              <a:ext uri="{FF2B5EF4-FFF2-40B4-BE49-F238E27FC236}">
                <a16:creationId xmlns:a16="http://schemas.microsoft.com/office/drawing/2014/main" id="{5FFEA5B4-5337-4794-83F4-EB07021C5BC0}"/>
              </a:ext>
            </a:extLst>
          </p:cNvPr>
          <p:cNvSpPr>
            <a:spLocks xmlns:a="http://schemas.openxmlformats.org/drawingml/2006/main" noGrp="1"/>
          </p:cNvSpPr>
          <p:nvPr/>
        </p:nvSpPr>
        <p:spPr>
          <a:xfrm xmlns:a="http://schemas.openxmlformats.org/drawingml/2006/main">
            <a:off x="952500" y="5381625"/>
            <a:ext cx="1028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We WILL LOAD OUR POLICY ONLY AFTER MANUAL CONTROL AND FEEDBACK WORK</a:t>
            </a:r>
          </a:p>
        </p:txBody>
      </p:sp>
      <p:sp>
        <p:nvSpPr>
          <p:cNvPr id="11" name="footer">
            <a:extLst xmlns:a="http://schemas.openxmlformats.org/drawingml/2006/main">
              <a:ext uri="{FF2B5EF4-FFF2-40B4-BE49-F238E27FC236}">
                <a16:creationId xmlns:a16="http://schemas.microsoft.com/office/drawing/2014/main" id="{03D0C70F-75E1-4FC8-9B85-23EC88BD6139}"/>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7</a:t>
            </a:r>
          </a:p>
        </p:txBody>
      </p:sp>
    </p:spTree>
    <p:extLst>
      <p:ext uri="{BB962C8B-B14F-4D97-AF65-F5344CB8AC3E}">
        <p14:creationId xmlns:p14="http://schemas.microsoft.com/office/powerpoint/2010/main" val="3957028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9565148-4EF2-40B4-820D-2643A4AE4EB5}"/>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We will use four launch modes before hardware control.</a:t>
            </a:r>
          </a:p>
        </p:txBody>
      </p:sp>
      <p:sp>
        <p:nvSpPr>
          <p:cNvPr id="2" name="">
            <a:extLst xmlns:a="http://schemas.openxmlformats.org/drawingml/2006/main">
              <a:ext uri="{FF2B5EF4-FFF2-40B4-BE49-F238E27FC236}">
                <a16:creationId xmlns:a16="http://schemas.microsoft.com/office/drawing/2014/main" id="{94051B74-1FDA-4046-A9BD-2211F439B67B}"/>
              </a:ext>
            </a:extLst>
          </p:cNvPr>
          <p:cNvSpPr>
            <a:spLocks xmlns:a="http://schemas.openxmlformats.org/drawingml/2006/main" noGrp="1"/>
          </p:cNvSpPr>
          <p:nvPr/>
        </p:nvSpPr>
        <p:spPr>
          <a:xfrm xmlns:a="http://schemas.openxmlformats.org/drawingml/2006/main">
            <a:off x="952500" y="1428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xmlns:a="http://schemas.openxmlformats.org/drawingml/2006/main">
              <a:ext uri="{FF2B5EF4-FFF2-40B4-BE49-F238E27FC236}">
                <a16:creationId xmlns:a16="http://schemas.microsoft.com/office/drawing/2014/main" id="{931ED5D0-6C8E-498A-811E-6C6C55CE2F9A}"/>
              </a:ext>
            </a:extLst>
          </p:cNvPr>
          <p:cNvSpPr>
            <a:spLocks xmlns:a="http://schemas.openxmlformats.org/drawingml/2006/main" noGrp="1"/>
          </p:cNvSpPr>
          <p:nvPr/>
        </p:nvSpPr>
        <p:spPr>
          <a:xfrm xmlns:a="http://schemas.openxmlformats.org/drawingml/2006/main">
            <a:off x="1809750" y="1457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observe: We read and log sensors; We send no commands.</a:t>
            </a:r>
          </a:p>
        </p:txBody>
      </p:sp>
      <p:sp>
        <p:nvSpPr>
          <p:cNvPr id="4" name="">
            <a:extLst xmlns:a="http://schemas.openxmlformats.org/drawingml/2006/main">
              <a:ext uri="{FF2B5EF4-FFF2-40B4-BE49-F238E27FC236}">
                <a16:creationId xmlns:a16="http://schemas.microsoft.com/office/drawing/2014/main" id="{5C3D9081-30A7-4527-B690-6069EF4EE283}"/>
              </a:ext>
            </a:extLst>
          </p:cNvPr>
          <p:cNvSpPr>
            <a:spLocks xmlns:a="http://schemas.openxmlformats.org/drawingml/2006/main" noGrp="1"/>
          </p:cNvSpPr>
          <p:nvPr/>
        </p:nvSpPr>
        <p:spPr>
          <a:xfrm xmlns:a="http://schemas.openxmlformats.org/drawingml/2006/main">
            <a:off x="952500" y="2381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xmlns:a="http://schemas.openxmlformats.org/drawingml/2006/main">
              <a:ext uri="{FF2B5EF4-FFF2-40B4-BE49-F238E27FC236}">
                <a16:creationId xmlns:a16="http://schemas.microsoft.com/office/drawing/2014/main" id="{883B8CFB-A20D-48D0-8756-B7B45880EE3F}"/>
              </a:ext>
            </a:extLst>
          </p:cNvPr>
          <p:cNvSpPr>
            <a:spLocks xmlns:a="http://schemas.openxmlformats.org/drawingml/2006/main" noGrp="1"/>
          </p:cNvSpPr>
          <p:nvPr/>
        </p:nvSpPr>
        <p:spPr>
          <a:xfrm xmlns:a="http://schemas.openxmlformats.org/drawingml/2006/main">
            <a:off x="1809750" y="2409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shadow: We run our policy and record targets without moving.</a:t>
            </a:r>
          </a:p>
        </p:txBody>
      </p:sp>
      <p:sp>
        <p:nvSpPr>
          <p:cNvPr id="6" name="">
            <a:extLst xmlns:a="http://schemas.openxmlformats.org/drawingml/2006/main">
              <a:ext uri="{FF2B5EF4-FFF2-40B4-BE49-F238E27FC236}">
                <a16:creationId xmlns:a16="http://schemas.microsoft.com/office/drawing/2014/main" id="{1274C684-0237-48F4-BE67-1048B64327F5}"/>
              </a:ext>
            </a:extLst>
          </p:cNvPr>
          <p:cNvSpPr>
            <a:spLocks xmlns:a="http://schemas.openxmlformats.org/drawingml/2006/main" noGrp="1"/>
          </p:cNvSpPr>
          <p:nvPr/>
        </p:nvSpPr>
        <p:spPr>
          <a:xfrm xmlns:a="http://schemas.openxmlformats.org/drawingml/2006/main">
            <a:off x="952500" y="33337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xmlns:a="http://schemas.openxmlformats.org/drawingml/2006/main">
              <a:ext uri="{FF2B5EF4-FFF2-40B4-BE49-F238E27FC236}">
                <a16:creationId xmlns:a16="http://schemas.microsoft.com/office/drawing/2014/main" id="{3615F39E-43A1-4D78-B1CA-B14942EC498B}"/>
              </a:ext>
            </a:extLst>
          </p:cNvPr>
          <p:cNvSpPr>
            <a:spLocks xmlns:a="http://schemas.openxmlformats.org/drawingml/2006/main" noGrp="1"/>
          </p:cNvSpPr>
          <p:nvPr/>
        </p:nvSpPr>
        <p:spPr>
          <a:xfrm xmlns:a="http://schemas.openxmlformats.org/drawingml/2006/main">
            <a:off x="1809750" y="33623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simulated: We use real sensor data to drive the MuJoCo robot.</a:t>
            </a:r>
          </a:p>
        </p:txBody>
      </p:sp>
      <p:sp>
        <p:nvSpPr>
          <p:cNvPr id="8" name="">
            <a:extLst xmlns:a="http://schemas.openxmlformats.org/drawingml/2006/main">
              <a:ext uri="{FF2B5EF4-FFF2-40B4-BE49-F238E27FC236}">
                <a16:creationId xmlns:a16="http://schemas.microsoft.com/office/drawing/2014/main" id="{DC2AC943-BB28-4F10-B649-20DE4563811D}"/>
              </a:ext>
            </a:extLst>
          </p:cNvPr>
          <p:cNvSpPr>
            <a:spLocks xmlns:a="http://schemas.openxmlformats.org/drawingml/2006/main" noGrp="1"/>
          </p:cNvSpPr>
          <p:nvPr/>
        </p:nvSpPr>
        <p:spPr>
          <a:xfrm xmlns:a="http://schemas.openxmlformats.org/drawingml/2006/main">
            <a:off x="952500" y="4286250"/>
            <a:ext cx="57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xmlns:a="http://schemas.openxmlformats.org/drawingml/2006/main">
              <a:ext uri="{FF2B5EF4-FFF2-40B4-BE49-F238E27FC236}">
                <a16:creationId xmlns:a16="http://schemas.microsoft.com/office/drawing/2014/main" id="{4D711129-EDA4-4206-AD87-30D6A2B6800B}"/>
              </a:ext>
            </a:extLst>
          </p:cNvPr>
          <p:cNvSpPr>
            <a:spLocks xmlns:a="http://schemas.openxmlformats.org/drawingml/2006/main" noGrp="1"/>
          </p:cNvSpPr>
          <p:nvPr/>
        </p:nvSpPr>
        <p:spPr>
          <a:xfrm xmlns:a="http://schemas.openxmlformats.org/drawingml/2006/main">
            <a:off x="1809750" y="4314825"/>
            <a:ext cx="9334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hardware: We use a supported R1 with reduced limits and no throw.</a:t>
            </a:r>
          </a:p>
        </p:txBody>
      </p:sp>
      <p:sp>
        <p:nvSpPr>
          <p:cNvPr id="10" name="">
            <a:extLst xmlns:a="http://schemas.openxmlformats.org/drawingml/2006/main">
              <a:ext uri="{FF2B5EF4-FFF2-40B4-BE49-F238E27FC236}">
                <a16:creationId xmlns:a16="http://schemas.microsoft.com/office/drawing/2014/main" id="{5FFEA5B4-5337-4794-83F4-EB07021C5BC0}"/>
              </a:ext>
            </a:extLst>
          </p:cNvPr>
          <p:cNvSpPr>
            <a:spLocks xmlns:a="http://schemas.openxmlformats.org/drawingml/2006/main" noGrp="1"/>
          </p:cNvSpPr>
          <p:nvPr/>
        </p:nvSpPr>
        <p:spPr>
          <a:xfrm xmlns:a="http://schemas.openxmlformats.org/drawingml/2006/main">
            <a:off x="952500" y="5381625"/>
            <a:ext cx="1028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We WILL ADVANCE ONLY WHEN THE PREVIOUS MODE PASSES</a:t>
            </a:r>
          </a:p>
        </p:txBody>
      </p:sp>
      <p:sp>
        <p:nvSpPr>
          <p:cNvPr id="11" name="footer">
            <a:extLst xmlns:a="http://schemas.openxmlformats.org/drawingml/2006/main">
              <a:ext uri="{FF2B5EF4-FFF2-40B4-BE49-F238E27FC236}">
                <a16:creationId xmlns:a16="http://schemas.microsoft.com/office/drawing/2014/main" id="{03D0C70F-75E1-4FC8-9B85-23EC88BD6139}"/>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8</a:t>
            </a:r>
          </a:p>
        </p:txBody>
      </p:sp>
    </p:spTree>
    <p:extLst>
      <p:ext uri="{BB962C8B-B14F-4D97-AF65-F5344CB8AC3E}">
        <p14:creationId xmlns:p14="http://schemas.microsoft.com/office/powerpoint/2010/main" val="39570284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3EA7CC9-2658-411E-A996-C873C7A925ED}"/>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Our first real test: one arm, one soft ball, no throw.</a:t>
            </a:r>
          </a:p>
        </p:txBody>
      </p:sp>
      <p:sp>
        <p:nvSpPr>
          <p:cNvPr id="2" name="outcome-body">
            <a:extLst xmlns:a="http://schemas.openxmlformats.org/drawingml/2006/main">
              <a:ext uri="{FF2B5EF4-FFF2-40B4-BE49-F238E27FC236}">
                <a16:creationId xmlns:a16="http://schemas.microsoft.com/office/drawing/2014/main" id="{816D87B6-A8AD-418A-8158-EC2A6AD79007}"/>
              </a:ext>
            </a:extLst>
          </p:cNvPr>
          <p:cNvSpPr>
            <a:spLocks xmlns:a="http://schemas.openxmlformats.org/drawingml/2006/main" noGrp="1"/>
          </p:cNvSpPr>
          <p:nvPr/>
        </p:nvSpPr>
        <p:spPr>
          <a:xfrm xmlns:a="http://schemas.openxmlformats.org/drawingml/2006/main">
            <a:off x="762000" y="1524000"/>
            <a:ext cx="5143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250" b="0" i="0">
                <a:solidFill>
                  <a:srgbClr val="161616"/>
                </a:solidFill>
                <a:latin typeface="Times New Roman"/>
                <a:ea typeface="Times New Roman"/>
                <a:cs typeface="Times New Roman"/>
              </a:defRPr>
            </a:pPr>
            <a:r>
              <a:rPr sz="2250" b="0" i="0">
                <a:solidFill>
                  <a:srgbClr val="161616"/>
                </a:solidFill>
                <a:latin typeface="Times New Roman"/>
                <a:ea typeface="Times New Roman"/>
                <a:cs typeface="Times New Roman"/>
              </a:rPr>
              <a:t>We will use Manual 3 with the R1 mechanically supported. We will keep the balance controller active and cap joint range, speed, acceleration, and policy residuals.</a:t>
            </a:r>
          </a:p>
        </p:txBody>
      </p:sp>
      <p:sp>
        <p:nvSpPr>
          <p:cNvPr id="3" name="outcome-callout">
            <a:extLst xmlns:a="http://schemas.openxmlformats.org/drawingml/2006/main">
              <a:ext uri="{FF2B5EF4-FFF2-40B4-BE49-F238E27FC236}">
                <a16:creationId xmlns:a16="http://schemas.microsoft.com/office/drawing/2014/main" id="{950CDB9B-2447-40C1-812A-ACB0F6293F5A}"/>
              </a:ext>
            </a:extLst>
          </p:cNvPr>
          <p:cNvSpPr>
            <a:spLocks xmlns:a="http://schemas.openxmlformats.org/drawingml/2006/main" noGrp="1"/>
          </p:cNvSpPr>
          <p:nvPr/>
        </p:nvSpPr>
        <p:spPr>
          <a:xfrm xmlns:a="http://schemas.openxmlformats.org/drawingml/2006/main">
            <a:off x="762000" y="3524250"/>
            <a:ext cx="5143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2F5597"/>
                </a:solidFill>
                <a:latin typeface="Times New Roman"/>
                <a:ea typeface="Times New Roman"/>
                <a:cs typeface="Times New Roman"/>
              </a:defRPr>
            </a:pPr>
            <a:r>
              <a:rPr sz="2100" b="1" i="0">
                <a:solidFill>
                  <a:srgbClr val="2F5597"/>
                </a:solidFill>
                <a:latin typeface="Times New Roman"/>
                <a:ea typeface="Times New Roman"/>
                <a:cs typeface="Times New Roman"/>
              </a:rPr>
              <a:t>We will pass each step in order: hold pose → neutral pose → slow reach → grasp → lift 5 cm → return.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70a645d99924f6e"/>
          <a:stretch xmlns:a="http://schemas.openxmlformats.org/drawingml/2006/main"/>
        </p:blipFill>
        <p:spPr>
          <a:xfrm xmlns:a="http://schemas.openxmlformats.org/drawingml/2006/main" flipH="0" flipV="0">
            <a:off x="6572250" y="1760637"/>
            <a:ext cx="4762500" cy="324147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6D4FB7-5E90-4941-B502-BEC1D13C9E5B}"/>
              </a:ext>
            </a:extLst>
          </p:cNvPr>
          <p:cNvSpPr>
            <a:spLocks xmlns:a="http://schemas.openxmlformats.org/drawingml/2006/main" noGrp="1"/>
          </p:cNvSpPr>
          <p:nvPr/>
        </p:nvSpPr>
        <p:spPr>
          <a:xfrm xmlns:a="http://schemas.openxmlformats.org/drawingml/2006/main">
            <a:off x="6572250" y="55435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4897"/>
          </a:bodyPr>
          <a:lstStyle xmlns:a="http://schemas.openxmlformats.org/drawingml/2006/main"/>
          <a:p xmlns:a="http://schemas.openxmlformats.org/drawingml/2006/main">
            <a:pPr algn="ctr">
              <a:buNone/>
              <a:defRPr sz="1500" b="0" i="1">
                <a:solidFill>
                  <a:srgbClr val="666666"/>
                </a:solidFill>
                <a:latin typeface="Times New Roman"/>
                <a:ea typeface="Times New Roman"/>
                <a:cs typeface="Times New Roman"/>
              </a:defRPr>
            </a:pPr>
            <a:r>
              <a:rPr sz="1500" b="0" i="1">
                <a:solidFill>
                  <a:srgbClr val="666666"/>
                </a:solidFill>
                <a:latin typeface="Times New Roman"/>
                <a:ea typeface="Times New Roman"/>
                <a:cs typeface="Times New Roman"/>
              </a:rPr>
              <a:t>We will keep an operator at the emergency stop; our safety filter has final authority</a:t>
            </a:r>
          </a:p>
        </p:txBody>
      </p:sp>
      <p:sp>
        <p:nvSpPr>
          <p:cNvPr id="6" name="footer">
            <a:extLst xmlns:a="http://schemas.openxmlformats.org/drawingml/2006/main">
              <a:ext uri="{FF2B5EF4-FFF2-40B4-BE49-F238E27FC236}">
                <a16:creationId xmlns:a16="http://schemas.microsoft.com/office/drawing/2014/main" id="{6D9ADE48-D478-4D93-8A8C-965E5FE0710E}"/>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9</a:t>
            </a:r>
          </a:p>
        </p:txBody>
      </p:sp>
    </p:spTree>
    <p:extLst>
      <p:ext uri="{BB962C8B-B14F-4D97-AF65-F5344CB8AC3E}">
        <p14:creationId xmlns:p14="http://schemas.microsoft.com/office/powerpoint/2010/main" val="11071515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8F177A31-33A1-4C13-9534-843391A4B219}"/>
              </a:ext>
            </a:extLst>
          </p:cNvPr>
          <p:cNvSpPr>
            <a:spLocks xmlns:a="http://schemas.openxmlformats.org/drawingml/2006/main" noGrp="1"/>
          </p:cNvSpPr>
          <p:nvPr/>
        </p:nvSpPr>
        <p:spPr>
          <a:xfrm xmlns:a="http://schemas.openxmlformats.org/drawingml/2006/main">
            <a:off x="666750" y="4191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Sources We used</a:t>
            </a:r>
          </a:p>
        </p:txBody>
      </p:sp>
      <p:sp>
        <p:nvSpPr>
          <p:cNvPr id="2" name="next-steps">
            <a:extLst xmlns:a="http://schemas.openxmlformats.org/drawingml/2006/main">
              <a:ext uri="{FF2B5EF4-FFF2-40B4-BE49-F238E27FC236}">
                <a16:creationId xmlns:a16="http://schemas.microsoft.com/office/drawing/2014/main" id="{CA5549E8-9493-4A7C-9081-AEB971FC3822}"/>
              </a:ext>
            </a:extLst>
          </p:cNvPr>
          <p:cNvSpPr>
            <a:spLocks xmlns:a="http://schemas.openxmlformats.org/drawingml/2006/main" noGrp="1"/>
          </p:cNvSpPr>
          <p:nvPr/>
        </p:nvSpPr>
        <p:spPr>
          <a:xfrm xmlns:a="http://schemas.openxmlformats.org/drawingml/2006/main">
            <a:off x="800100" y="1123950"/>
            <a:ext cx="10591800" cy="495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Unitree Robotics. R1 high-level arm SDK example.</a:t>
            </a:r>
          </a:p>
          <a:p xmlns:a="http://schemas.openxmlformats.org/drawingml/2006/main">
            <a:pPr algn="l">
              <a:buNone/>
              <a:defRPr sz="1800">
                <a:solidFill>
                  <a:srgbClr val="161616"/>
                </a:solidFill>
                <a:latin typeface="Times New Roman"/>
                <a:ea typeface="Times New Roman"/>
                <a:cs typeface="Times New Roman"/>
              </a:defRPr>
            </a:pPr>
            <a:r>
              <a:rPr sz="1800">
                <a:solidFill>
                  <a:srgbClr val="161616"/>
                </a:solidFill>
                <a:latin typeface="Times New Roman"/>
                <a:ea typeface="Times New Roman"/>
                <a:cs typeface="Times New Roman"/>
              </a:rPr>
              <a:t>https://github.com/unitreerobotics/unitree_sdk2/blob/main/example/r1/high_level/r1_arm_sdk_dds_example.cpp</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
            </a:r>
          </a:p>
          <a:p xmlns:a="http://schemas.openxmlformats.org/drawingml/2006/main">
            <a:pPr algn="l">
              <a:buNone/>
              <a:defRPr sz="1800">
                <a:solidFill>
                  <a:srgbClr val="161616"/>
                </a:solidFill>
                <a:latin typeface="Times New Roman"/>
                <a:ea typeface="Times New Roman"/>
                <a:cs typeface="Times New Roman"/>
              </a:defRPr>
            </a:pPr>
            <a:r>
              <a:rPr sz="1800">
                <a:solidFill>
                  <a:srgbClr val="161616"/>
                </a:solidFill>
                <a:latin typeface="Times New Roman"/>
                <a:ea typeface="Times New Roman"/>
                <a:cs typeface="Times New Roman"/>
              </a:rPr>
              <a:t>Unitree Robotics. Unitree MuJoCo simulator.</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https://github.com/unitreerobotics/unitree_mujoco</a:t>
            </a:r>
          </a:p>
          <a:p xmlns:a="http://schemas.openxmlformats.org/drawingml/2006/main">
            <a:pPr algn="l">
              <a:buNone/>
              <a:defRPr sz="2325" b="0" i="0">
                <a:solidFill>
                  <a:srgbClr val="161616"/>
                </a:solidFill>
                <a:latin typeface="Times New Roman"/>
                <a:ea typeface="Times New Roman"/>
                <a:cs typeface="Times New Roman"/>
              </a:defRPr>
            </a:pPr>
            <a:r>
              <a:rPr sz="2325" b="0" i="0">
                <a:solidFill>
                  <a:srgbClr val="161616"/>
                </a:solidFill>
                <a:latin typeface="Times New Roman"/>
                <a:ea typeface="Times New Roman"/>
                <a:cs typeface="Times New Roman"/>
              </a:rPr>
              <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BrainCoTech. BrainCo Revo2 ROS 2 integration.</a:t>
            </a:r>
          </a:p>
          <a:p xmlns:a="http://schemas.openxmlformats.org/drawingml/2006/main">
            <a:pPr algn="l">
              <a:buNone/>
              <a:defRPr sz="1800" b="0" i="0">
                <a:solidFill>
                  <a:srgbClr val="161616"/>
                </a:solidFill>
                <a:latin typeface="Times New Roman"/>
                <a:ea typeface="Times New Roman"/>
                <a:cs typeface="Times New Roman"/>
              </a:defRPr>
            </a:pPr>
            <a:r>
              <a:rPr sz="1800" b="0" i="0">
                <a:solidFill>
                  <a:srgbClr val="161616"/>
                </a:solidFill>
                <a:latin typeface="Times New Roman"/>
                <a:ea typeface="Times New Roman"/>
                <a:cs typeface="Times New Roman"/>
              </a:rPr>
              <a:t>https://github.com/BrainCoTech/brainco_hand_ros2</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
            </a:r>
          </a:p>
          <a:p xmlns:a="http://schemas.openxmlformats.org/drawingml/2006/main">
            <a:pPr algn="l">
              <a:buNone/>
              <a:defRPr sz="1800" b="0" i="0">
                <a:solidFill>
                  <a:srgbClr val="161616"/>
                </a:solidFill>
                <a:latin typeface="Times New Roman"/>
                <a:ea typeface="Times New Roman"/>
                <a:cs typeface="Times New Roman"/>
              </a:defRPr>
            </a:pPr>
            <a:r>
              <a:rPr sz="1800" b="0" i="0">
                <a:solidFill>
                  <a:srgbClr val="161616"/>
                </a:solidFill>
                <a:latin typeface="Times New Roman"/>
                <a:ea typeface="Times New Roman"/>
                <a:cs typeface="Times New Roman"/>
              </a:rPr>
              <a:t>BrainCoTech. Revo2 hardware-driver documentation.</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https://github.com/BrainCoTech/brainco_hand_ros2/blob/master/brainco_hardware/brainco_hand_driver/README.md</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
            </a:r>
          </a:p>
          <a:p xmlns:a="http://schemas.openxmlformats.org/drawingml/2006/main">
            <a:pPr algn="l">
              <a:buNone/>
              <a:defRPr sz="1575" b="0" i="0">
                <a:solidFill>
                  <a:srgbClr val="161616"/>
                </a:solidFill>
                <a:latin typeface="Times New Roman"/>
                <a:ea typeface="Times New Roman"/>
                <a:cs typeface="Times New Roman"/>
              </a:defRPr>
            </a:pPr>
            <a:r>
              <a:rPr sz="1575" b="0" i="0">
                <a:solidFill>
                  <a:srgbClr val="161616"/>
                </a:solidFill>
                <a:latin typeface="Times New Roman"/>
                <a:ea typeface="Times New Roman"/>
                <a:cs typeface="Times New Roman"/>
              </a:rPr>
              <a:t>Applied and Embodied AI Lab. Manual 3 and Manual 4 local project documentation.</a:t>
            </a:r>
          </a:p>
        </p:txBody>
      </p:sp>
      <p:sp>
        <p:nvSpPr>
          <p:cNvPr id="4" name="footer">
            <a:extLst xmlns:a="http://schemas.openxmlformats.org/drawingml/2006/main">
              <a:ext uri="{FF2B5EF4-FFF2-40B4-BE49-F238E27FC236}">
                <a16:creationId xmlns:a16="http://schemas.microsoft.com/office/drawing/2014/main" id="{F014CE0D-FDA9-40C8-B651-A77F57843CF3}"/>
              </a:ext>
            </a:extLst>
          </p:cNvPr>
          <p:cNvSpPr>
            <a:spLocks xmlns:a="http://schemas.openxmlformats.org/drawingml/2006/main" noGrp="1"/>
          </p:cNvSpPr>
          <p:nvPr/>
        </p:nvSpPr>
        <p:spPr>
          <a:xfrm xmlns:a="http://schemas.openxmlformats.org/drawingml/2006/main">
            <a:off x="10287000" y="6486525"/>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 10</a:t>
            </a:r>
          </a:p>
        </p:txBody>
      </p:sp>
    </p:spTree>
    <p:extLst>
      <p:ext uri="{BB962C8B-B14F-4D97-AF65-F5344CB8AC3E}">
        <p14:creationId xmlns:p14="http://schemas.microsoft.com/office/powerpoint/2010/main" val="476060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2026-09-03T15:50:17.0290000Z</dcterms:created>
  <dcterms:modified xsi:type="dcterms:W3CDTF">2026-09-03T15:50:17.0290000Z</dcterms:modified>
</coreProperties>
</file>