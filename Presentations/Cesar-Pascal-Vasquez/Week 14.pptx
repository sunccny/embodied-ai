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Le Jour Serif" charset="1" panose="02000500000000000000"/>
      <p:regular r:id="rId15"/>
    </p:embeddedFont>
    <p:embeddedFont>
      <p:font typeface="Alta" charset="1" panose="02000503000000000000"/>
      <p:regular r:id="rId16"/>
    </p:embeddedFont>
    <p:embeddedFont>
      <p:font typeface="Open Sans" charset="1" panose="020B06060305040202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VAHLMwlVrBk.mp4" Type="http://schemas.openxmlformats.org/officeDocument/2006/relationships/video"/><Relationship Id="rId4" Target="../media/VAHLMwlVrBk.mp4" Type="http://schemas.microsoft.com/office/2007/relationships/media"/></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VAHLM4Ez3VI.mp4" Type="http://schemas.openxmlformats.org/officeDocument/2006/relationships/video"/><Relationship Id="rId4" Target="../media/VAHLM4Ez3VI.mp4" Type="http://schemas.microsoft.com/office/2007/relationships/media"/></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2548782" y="3638133"/>
            <a:ext cx="13190436" cy="1524835"/>
          </a:xfrm>
          <a:prstGeom prst="rect">
            <a:avLst/>
          </a:prstGeom>
        </p:spPr>
        <p:txBody>
          <a:bodyPr anchor="t" rtlCol="false" tIns="0" lIns="0" bIns="0" rIns="0">
            <a:spAutoFit/>
          </a:bodyPr>
          <a:lstStyle/>
          <a:p>
            <a:pPr algn="ctr">
              <a:lnSpc>
                <a:spcPts val="11956"/>
              </a:lnSpc>
            </a:pPr>
            <a:r>
              <a:rPr lang="en-US" sz="10219" spc="1400">
                <a:solidFill>
                  <a:srgbClr val="FFFFFF"/>
                </a:solidFill>
                <a:latin typeface="Le Jour Serif"/>
                <a:ea typeface="Le Jour Serif"/>
                <a:cs typeface="Le Jour Serif"/>
                <a:sym typeface="Le Jour Serif"/>
              </a:rPr>
              <a:t>WEEK 14</a:t>
            </a:r>
          </a:p>
        </p:txBody>
      </p:sp>
      <p:sp>
        <p:nvSpPr>
          <p:cNvPr name="TextBox 4" id="4"/>
          <p:cNvSpPr txBox="true"/>
          <p:nvPr/>
        </p:nvSpPr>
        <p:spPr>
          <a:xfrm rot="0">
            <a:off x="5819851" y="8770620"/>
            <a:ext cx="6648299" cy="487680"/>
          </a:xfrm>
          <a:prstGeom prst="rect">
            <a:avLst/>
          </a:prstGeom>
        </p:spPr>
        <p:txBody>
          <a:bodyPr anchor="t" rtlCol="false" tIns="0" lIns="0" bIns="0" rIns="0">
            <a:spAutoFit/>
          </a:bodyPr>
          <a:lstStyle/>
          <a:p>
            <a:pPr algn="ctr">
              <a:lnSpc>
                <a:spcPts val="3509"/>
              </a:lnSpc>
            </a:pPr>
            <a:r>
              <a:rPr lang="en-US" sz="3000" spc="410">
                <a:solidFill>
                  <a:srgbClr val="FFFFFF"/>
                </a:solidFill>
                <a:latin typeface="Alta"/>
                <a:ea typeface="Alta"/>
                <a:cs typeface="Alta"/>
                <a:sym typeface="Alta"/>
              </a:rPr>
              <a:t>CESAR A. PASCAL VASQUEZ</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0" y="3101362"/>
            <a:ext cx="18288000" cy="5981065"/>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For this week the main focus was to try the humanoid training from a genetic algorithm because A genetic algorithm can be cheaper than reinforcement learning when it only tunes a small set of gait parameters, such as step frequency, leg motion, and PD gains. However, using GA to train a full neural network can become expensive because it needs many simulations. For humanoid walking, GA is useful for finding a basic stable gait before improving it with reinforcement learning.</a:t>
            </a:r>
          </a:p>
          <a:p>
            <a:pPr algn="ctr">
              <a:lnSpc>
                <a:spcPts val="4759"/>
              </a:lnSpc>
            </a:pPr>
          </a:p>
          <a:p>
            <a:pPr algn="ctr">
              <a:lnSpc>
                <a:spcPts val="4759"/>
              </a:lnSpc>
            </a:pPr>
          </a:p>
          <a:p>
            <a:pPr algn="ctr">
              <a:lnSpc>
                <a:spcPts val="4759"/>
              </a:lnSpc>
            </a:pPr>
          </a:p>
          <a:p>
            <a:pPr algn="ctr">
              <a:lnSpc>
                <a:spcPts val="4759"/>
              </a:lnSpc>
            </a:pPr>
            <a:r>
              <a:rPr lang="en-US" sz="3399">
                <a:solidFill>
                  <a:srgbClr val="FFFFFF"/>
                </a:solidFill>
                <a:latin typeface="Open Sans"/>
                <a:ea typeface="Open Sans"/>
                <a:cs typeface="Open Sans"/>
                <a:sym typeface="Open Sans"/>
              </a:rPr>
              <a:t>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3035685" y="1888003"/>
            <a:ext cx="12216629" cy="8020822"/>
          </a:xfrm>
          <a:prstGeom prst="rect">
            <a:avLst/>
          </a:prstGeom>
        </p:spPr>
      </p:pic>
      <p:sp>
        <p:nvSpPr>
          <p:cNvPr name="TextBox 3" id="3"/>
          <p:cNvSpPr txBox="true"/>
          <p:nvPr/>
        </p:nvSpPr>
        <p:spPr>
          <a:xfrm rot="0">
            <a:off x="2152427" y="962025"/>
            <a:ext cx="13983146" cy="1180465"/>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At first, the robot was able to stand, but not in a stable or proper way.</a:t>
            </a:r>
          </a:p>
          <a:p>
            <a:pPr algn="ctr">
              <a:lnSpc>
                <a:spcPts val="4759"/>
              </a:lnSpc>
            </a:pP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3146420" y="2118654"/>
            <a:ext cx="11995161" cy="7875417"/>
          </a:xfrm>
          <a:prstGeom prst="rect">
            <a:avLst/>
          </a:prstGeom>
        </p:spPr>
      </p:pic>
      <p:sp>
        <p:nvSpPr>
          <p:cNvPr name="TextBox 3" id="3"/>
          <p:cNvSpPr txBox="true"/>
          <p:nvPr/>
        </p:nvSpPr>
        <p:spPr>
          <a:xfrm rot="0">
            <a:off x="391373" y="962025"/>
            <a:ext cx="17896627" cy="1156629"/>
          </a:xfrm>
          <a:prstGeom prst="rect">
            <a:avLst/>
          </a:prstGeom>
        </p:spPr>
        <p:txBody>
          <a:bodyPr anchor="t" rtlCol="false" tIns="0" lIns="0" bIns="0" rIns="0">
            <a:spAutoFit/>
          </a:bodyPr>
          <a:lstStyle/>
          <a:p>
            <a:pPr algn="ctr">
              <a:lnSpc>
                <a:spcPts val="4658"/>
              </a:lnSpc>
            </a:pPr>
            <a:r>
              <a:rPr lang="en-US" sz="3327">
                <a:solidFill>
                  <a:srgbClr val="FFFFFF"/>
                </a:solidFill>
                <a:latin typeface="Open Sans"/>
                <a:ea typeface="Open Sans"/>
                <a:cs typeface="Open Sans"/>
                <a:sym typeface="Open Sans"/>
              </a:rPr>
              <a:t>After making the training a little more robust and running it for longer, I was able to get the robot to move slightly forward.</a:t>
            </a: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sp>
        <p:nvSpPr>
          <p:cNvPr name="Freeform 2" id="2"/>
          <p:cNvSpPr/>
          <p:nvPr/>
        </p:nvSpPr>
        <p:spPr>
          <a:xfrm flipH="false" flipV="false" rot="0">
            <a:off x="2253449" y="3778504"/>
            <a:ext cx="13781103" cy="5479796"/>
          </a:xfrm>
          <a:custGeom>
            <a:avLst/>
            <a:gdLst/>
            <a:ahLst/>
            <a:cxnLst/>
            <a:rect r="r" b="b" t="t" l="l"/>
            <a:pathLst>
              <a:path h="5479796" w="13781103">
                <a:moveTo>
                  <a:pt x="0" y="0"/>
                </a:moveTo>
                <a:lnTo>
                  <a:pt x="13781102" y="0"/>
                </a:lnTo>
                <a:lnTo>
                  <a:pt x="13781102" y="5479796"/>
                </a:lnTo>
                <a:lnTo>
                  <a:pt x="0" y="5479796"/>
                </a:lnTo>
                <a:lnTo>
                  <a:pt x="0" y="0"/>
                </a:lnTo>
                <a:close/>
              </a:path>
            </a:pathLst>
          </a:custGeom>
          <a:blipFill>
            <a:blip r:embed="rId2"/>
            <a:stretch>
              <a:fillRect l="0" t="0" r="0" b="0"/>
            </a:stretch>
          </a:blipFill>
        </p:spPr>
      </p:sp>
      <p:sp>
        <p:nvSpPr>
          <p:cNvPr name="TextBox 3" id="3"/>
          <p:cNvSpPr txBox="true"/>
          <p:nvPr/>
        </p:nvSpPr>
        <p:spPr>
          <a:xfrm rot="0">
            <a:off x="716358" y="1588693"/>
            <a:ext cx="16855284" cy="2189812"/>
          </a:xfrm>
          <a:prstGeom prst="rect">
            <a:avLst/>
          </a:prstGeom>
        </p:spPr>
        <p:txBody>
          <a:bodyPr anchor="t" rtlCol="false" tIns="0" lIns="0" bIns="0" rIns="0">
            <a:spAutoFit/>
          </a:bodyPr>
          <a:lstStyle/>
          <a:p>
            <a:pPr algn="ctr">
              <a:lnSpc>
                <a:spcPts val="4387"/>
              </a:lnSpc>
            </a:pPr>
            <a:r>
              <a:rPr lang="en-US" sz="3133">
                <a:solidFill>
                  <a:srgbClr val="FFFFFF"/>
                </a:solidFill>
                <a:latin typeface="Open Sans"/>
                <a:ea typeface="Open Sans"/>
                <a:cs typeface="Open Sans"/>
                <a:sym typeface="Open Sans"/>
              </a:rPr>
              <a:t>The main problem in this case was that the training became stuck </a:t>
            </a:r>
            <a:r>
              <a:rPr lang="en-US" sz="3133">
                <a:solidFill>
                  <a:srgbClr val="FFFFFF"/>
                </a:solidFill>
                <a:latin typeface="Open Sans"/>
                <a:ea typeface="Open Sans"/>
                <a:cs typeface="Open Sans"/>
                <a:sym typeface="Open Sans"/>
              </a:rPr>
              <a:t>after a certain number of generations, preventing further progress and limiting the robot’s ability to move better and farther, as observed here.</a:t>
            </a:r>
          </a:p>
          <a:p>
            <a:pPr algn="ctr">
              <a:lnSpc>
                <a:spcPts val="4387"/>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sp>
        <p:nvSpPr>
          <p:cNvPr name="Freeform 2" id="2"/>
          <p:cNvSpPr/>
          <p:nvPr/>
        </p:nvSpPr>
        <p:spPr>
          <a:xfrm flipH="false" flipV="false" rot="0">
            <a:off x="274558" y="4531728"/>
            <a:ext cx="17267585" cy="3710156"/>
          </a:xfrm>
          <a:custGeom>
            <a:avLst/>
            <a:gdLst/>
            <a:ahLst/>
            <a:cxnLst/>
            <a:rect r="r" b="b" t="t" l="l"/>
            <a:pathLst>
              <a:path h="3710156" w="17267585">
                <a:moveTo>
                  <a:pt x="0" y="0"/>
                </a:moveTo>
                <a:lnTo>
                  <a:pt x="17267584" y="0"/>
                </a:lnTo>
                <a:lnTo>
                  <a:pt x="17267584" y="3710156"/>
                </a:lnTo>
                <a:lnTo>
                  <a:pt x="0" y="3710156"/>
                </a:lnTo>
                <a:lnTo>
                  <a:pt x="0" y="0"/>
                </a:lnTo>
                <a:close/>
              </a:path>
            </a:pathLst>
          </a:custGeom>
          <a:blipFill>
            <a:blip r:embed="rId2"/>
            <a:stretch>
              <a:fillRect l="0" t="0" r="0" b="-2454"/>
            </a:stretch>
          </a:blipFill>
        </p:spPr>
      </p:sp>
      <p:sp>
        <p:nvSpPr>
          <p:cNvPr name="TextBox 3" id="3"/>
          <p:cNvSpPr txBox="true"/>
          <p:nvPr/>
        </p:nvSpPr>
        <p:spPr>
          <a:xfrm rot="0">
            <a:off x="38908" y="1936453"/>
            <a:ext cx="17738884" cy="1729080"/>
          </a:xfrm>
          <a:prstGeom prst="rect">
            <a:avLst/>
          </a:prstGeom>
        </p:spPr>
        <p:txBody>
          <a:bodyPr anchor="t" rtlCol="false" tIns="0" lIns="0" bIns="0" rIns="0">
            <a:spAutoFit/>
          </a:bodyPr>
          <a:lstStyle/>
          <a:p>
            <a:pPr algn="ctr">
              <a:lnSpc>
                <a:spcPts val="4617"/>
              </a:lnSpc>
            </a:pPr>
            <a:r>
              <a:rPr lang="en-US" sz="3297">
                <a:solidFill>
                  <a:srgbClr val="FFFFFF"/>
                </a:solidFill>
                <a:latin typeface="Open Sans"/>
                <a:ea typeface="Open Sans"/>
                <a:cs typeface="Open Sans"/>
                <a:sym typeface="Open Sans"/>
              </a:rPr>
              <a:t>From a bro</a:t>
            </a:r>
            <a:r>
              <a:rPr lang="en-US" sz="3297">
                <a:solidFill>
                  <a:srgbClr val="FFFFFF"/>
                </a:solidFill>
                <a:latin typeface="Open Sans"/>
                <a:ea typeface="Open Sans"/>
                <a:cs typeface="Open Sans"/>
                <a:sym typeface="Open Sans"/>
              </a:rPr>
              <a:t>ader perspective, we can observe how the genetic algorithm evolved over time and understand why the final results turned out this way.</a:t>
            </a:r>
          </a:p>
          <a:p>
            <a:pPr algn="ctr">
              <a:lnSpc>
                <a:spcPts val="4617"/>
              </a:lnSpc>
            </a:pP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514350" y="3412143"/>
            <a:ext cx="17259300" cy="3939893"/>
          </a:xfrm>
          <a:prstGeom prst="rect">
            <a:avLst/>
          </a:prstGeom>
        </p:spPr>
        <p:txBody>
          <a:bodyPr anchor="t" rtlCol="false" tIns="0" lIns="0" bIns="0" rIns="0">
            <a:spAutoFit/>
          </a:bodyPr>
          <a:lstStyle/>
          <a:p>
            <a:pPr algn="ctr">
              <a:lnSpc>
                <a:spcPts val="4492"/>
              </a:lnSpc>
            </a:pPr>
            <a:r>
              <a:rPr lang="en-US" sz="3208">
                <a:solidFill>
                  <a:srgbClr val="FFFFFF"/>
                </a:solidFill>
                <a:latin typeface="Open Sans"/>
                <a:ea typeface="Open Sans"/>
                <a:cs typeface="Open Sans"/>
                <a:sym typeface="Open Sans"/>
              </a:rPr>
              <a:t>The main take</a:t>
            </a:r>
            <a:r>
              <a:rPr lang="en-US" sz="3208">
                <a:solidFill>
                  <a:srgbClr val="FFFFFF"/>
                </a:solidFill>
                <a:latin typeface="Open Sans"/>
                <a:ea typeface="Open Sans"/>
                <a:cs typeface="Open Sans"/>
                <a:sym typeface="Open Sans"/>
              </a:rPr>
              <a:t>away is that a genetic algorithm can be useful for the initial setup, especially for finding basic gait parameters or a starting movement pattern. However, it becomes less useful when trying to train a complete neural network by itself. For this reason, the best approach may be to use the genetic algorithm as a complement to reinforcement learning, where GA creates an initial environment or starting point that reinforcement learning can continue improving from.</a:t>
            </a:r>
          </a:p>
          <a:p>
            <a:pPr algn="ctr">
              <a:lnSpc>
                <a:spcPts val="4492"/>
              </a:lnSpc>
            </a:pP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514350" y="3173965"/>
            <a:ext cx="17259300" cy="4506214"/>
          </a:xfrm>
          <a:prstGeom prst="rect">
            <a:avLst/>
          </a:prstGeom>
        </p:spPr>
        <p:txBody>
          <a:bodyPr anchor="t" rtlCol="false" tIns="0" lIns="0" bIns="0" rIns="0">
            <a:spAutoFit/>
          </a:bodyPr>
          <a:lstStyle/>
          <a:p>
            <a:pPr algn="ctr">
              <a:lnSpc>
                <a:spcPts val="4492"/>
              </a:lnSpc>
            </a:pPr>
            <a:r>
              <a:rPr lang="en-US" sz="3208">
                <a:solidFill>
                  <a:srgbClr val="FFFFFF"/>
                </a:solidFill>
                <a:latin typeface="Open Sans"/>
                <a:ea typeface="Open Sans"/>
                <a:cs typeface="Open Sans"/>
                <a:sym typeface="Open Sans"/>
              </a:rPr>
              <a:t>The next step is to use the genetic algorithm only to generate a better initial walking setup, such as stable posture, gait timing, step amplitude, and joint limits. </a:t>
            </a:r>
            <a:r>
              <a:rPr lang="en-US" sz="3208">
                <a:solidFill>
                  <a:srgbClr val="FFFFFF"/>
                </a:solidFill>
                <a:latin typeface="Open Sans"/>
                <a:ea typeface="Open Sans"/>
                <a:cs typeface="Open Sans"/>
                <a:sym typeface="Open Sans"/>
              </a:rPr>
              <a:t>After that, reinforcement learning can be introduced to continue improving the movement, making the robot walk farther, maintain balance, and recover from small disturbances. This would make the training process more efficient because the reinforcement learning model would not start from zero, but from an initial behavior already optimized by the genetic algorithm.</a:t>
            </a:r>
          </a:p>
          <a:p>
            <a:pPr algn="ctr">
              <a:lnSpc>
                <a:spcPts val="4492"/>
              </a:lnSpc>
            </a:pP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0" y="2871111"/>
            <a:ext cx="18288000" cy="53809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References</a:t>
            </a:r>
          </a:p>
          <a:p>
            <a:pPr algn="ctr" marL="734059" indent="-367030" lvl="1">
              <a:lnSpc>
                <a:spcPts val="4759"/>
              </a:lnSpc>
              <a:spcBef>
                <a:spcPct val="0"/>
              </a:spcBef>
              <a:buFont typeface="Arial"/>
              <a:buChar char="•"/>
            </a:pPr>
            <a:r>
              <a:rPr lang="en-US" sz="3399">
                <a:solidFill>
                  <a:srgbClr val="FFFFFF"/>
                </a:solidFill>
                <a:latin typeface="Open Sans"/>
                <a:ea typeface="Open Sans"/>
                <a:cs typeface="Open Sans"/>
                <a:sym typeface="Open Sans"/>
              </a:rPr>
              <a:t>Donci</a:t>
            </a:r>
            <a:r>
              <a:rPr lang="en-US" sz="3399">
                <a:solidFill>
                  <a:srgbClr val="FFFFFF"/>
                </a:solidFill>
                <a:latin typeface="Open Sans"/>
                <a:ea typeface="Open Sans"/>
                <a:cs typeface="Open Sans"/>
                <a:sym typeface="Open Sans"/>
              </a:rPr>
              <a:t>eux, S., Bredeche, N., Mouret, J.-B., &amp; Eiben, A. E. (2015). Evolutionary Robotics: What, Why, and Where to. Frontiers in Robotics and AI, 2.</a:t>
            </a:r>
          </a:p>
          <a:p>
            <a:pPr algn="ctr" marL="734059" indent="-367030" lvl="1">
              <a:lnSpc>
                <a:spcPts val="4759"/>
              </a:lnSpc>
              <a:spcBef>
                <a:spcPct val="0"/>
              </a:spcBef>
              <a:buFont typeface="Arial"/>
              <a:buChar char="•"/>
            </a:pPr>
            <a:r>
              <a:rPr lang="en-US" sz="3399">
                <a:solidFill>
                  <a:srgbClr val="FFFFFF"/>
                </a:solidFill>
                <a:latin typeface="Open Sans"/>
                <a:ea typeface="Open Sans"/>
                <a:cs typeface="Open Sans"/>
                <a:sym typeface="Open Sans"/>
              </a:rPr>
              <a:t>Ijspeert, A. J. (2008). Central pattern generators for locomotion control in animals and robots: A review. Neuroscience, 153(3), 642–669.</a:t>
            </a:r>
          </a:p>
          <a:p>
            <a:pPr algn="ctr" marL="734059" indent="-367030" lvl="1">
              <a:lnSpc>
                <a:spcPts val="4759"/>
              </a:lnSpc>
              <a:spcBef>
                <a:spcPct val="0"/>
              </a:spcBef>
              <a:buFont typeface="Arial"/>
              <a:buChar char="•"/>
            </a:pPr>
            <a:r>
              <a:rPr lang="en-US" sz="3399">
                <a:solidFill>
                  <a:srgbClr val="FFFFFF"/>
                </a:solidFill>
                <a:latin typeface="Open Sans"/>
                <a:ea typeface="Open Sans"/>
                <a:cs typeface="Open Sans"/>
                <a:sym typeface="Open Sans"/>
              </a:rPr>
              <a:t>Angeles-García, Y., Calvo, H., Sossa, H., &amp; Anzueto-Ríos, Á. (2022). Dynamic balance of a bipedal robot using neural network training with simulated annealing. Frontiers in Neurorobotics, 16.</a:t>
            </a:r>
          </a:p>
          <a:p>
            <a:pPr algn="ctr">
              <a:lnSpc>
                <a:spcPts val="4759"/>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DAHLMlVaEOU</dc:identifier>
  <dcterms:modified xsi:type="dcterms:W3CDTF">2011-08-01T06:04:30Z</dcterms:modified>
  <cp:revision>1</cp:revision>
  <dc:title>Week 14</dc:title>
</cp:coreProperties>
</file>