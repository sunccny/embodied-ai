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0"/>
  </p:normalViewPr>
  <p:slideViewPr>
    <p:cSldViewPr snapToGrid="0">
      <p:cViewPr varScale="1">
        <p:scale>
          <a:sx n="96" d="100"/>
          <a:sy n="96" d="100"/>
        </p:scale>
        <p:origin x="200"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task trains five right-arm joints from rewards. The body and fingers remain fixed. The arm targets the hand-base origin. This presentation covers a new application pipeline using established SAC and HER algorithms. It does not claim a new RL optimizer.</a:t>
            </a:r>
          </a:p>
          <a:p>
            <a:endParaRPr/>
          </a:p>
          <a:p>
            <a:r>
              <a:t>Sources</a:t>
            </a:r>
          </a:p>
          <a:p>
            <a:r>
              <a:t>/Users/cesarpascal/Documents/Training/real_r1_arm_policy/rl_reach/runs/cpu_dense_seed1011/report.json</a:t>
            </a:r>
          </a:p>
          <a:p>
            <a:r>
              <a:t>/Users/cesarpascal/Documents/Training/real_r1_arm_policy/rl_reach/train.py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SAC means Soft Actor-Critic, an off-policy continuous-control algorithm. The policy and two critics start from random initialization. HER means Hindsight Experience Replay. Future goal relabeling accounts for about 80% of replay samples. Reward is -1[d &gt; 0.04] - d/0.10 minus action magnitude, action-change, and collision costs. We recompute every HER goal reward consistently. Training performs one gradient update per four interactions. The first sparse-only trial reached 0/50 nearby goals at 25,000 interactions. We preserved that trial and trained the reported policy from scratch with the distance term. All demonstration and DAgger counts remain zero. Goal sampling uses forward kinematics only to select spatial goals, without providing action labels or motion trajectories. The curriculum requires success &gt;=80% and zero detected arm/torso collisions on two consecutive 50-episode evaluations.</a:t>
            </a:r>
          </a:p>
          <a:p>
            <a:endParaRPr/>
          </a:p>
          <a:p>
            <a:r>
              <a:t>Sources</a:t>
            </a:r>
          </a:p>
          <a:p>
            <a:r>
              <a:t>https://arxiv.org/abs/1801.01290</a:t>
            </a:r>
          </a:p>
          <a:p>
            <a:r>
              <a:t>https://arxiv.org/abs/1707.01495</a:t>
            </a:r>
          </a:p>
          <a:p>
            <a:r>
              <a:t>/Users/cesarpascal/Documents/Training/real_r1_arm_policy/rl_reach/train.py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randomly initialized checkpoint, before any optimizer updates. Seed 800000 supplies the same target and reset posture in all three videos. The video is one illustration. The 0/100 result comes from independent matched test seeds 900000–900099 at the widest goal spread.</a:t>
            </a:r>
          </a:p>
          <a:p>
            <a:endParaRPr/>
          </a:p>
          <a:p>
            <a:r>
              <a:t>Sources</a:t>
            </a:r>
          </a:p>
          <a:p>
            <a:r>
              <a:t>/Users/cesarpascal/Documents/Training/real_r1_arm_policy/rl_reach/runs/cpu_dense_seed1011/before_training_seed800000_metrics.json</a:t>
            </a:r>
          </a:p>
          <a:p>
            <a:r>
              <a:t>/Users/cesarpascal/Documents/Training/real_r1_arm_policy/rl_reach/runs/cpu_dense_seed1011/before_training_seed800000_joints.csv</a:t>
            </a:r>
          </a:p>
          <a:p>
            <a:r>
              <a:t>/Users/cesarpascal/Documents/Training/real_r1_arm_policy/rl_reach/runs/cpu_dense_seed1011/report.json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reproduced the first 150,000 transitions because the original run did not retain a midpoint checkpoint. All six evaluations, including per-episode metrics, match the original history exactly. This is a reproduced midpoint, not an archived original checkpoint. On nearby goals at 150,000 steps, success was 50/50 and mean final error was 1.73 cm. That nearby-goal evaluation differs from the wider comparison target shown here. The displayed seed 800000 clip has no successful half-second dwell and ends at 5.21 cm error. Reproduction source: /Users/cesarpascal/Documents/Training/real_r1_arm_policy/rl_reach/runs/cpu_midpoint_seed1011/reproduction.json</a:t>
            </a:r>
          </a:p>
          <a:p>
            <a:endParaRPr/>
          </a:p>
          <a:p>
            <a:r>
              <a:t>Sources</a:t>
            </a:r>
          </a:p>
          <a:p>
            <a:r>
              <a:t>/Users/cesarpascal/Documents/Training/real_r1_arm_policy/rl_reach/runs/cpu_midpoint_seed1011/checkpoint_150000_steps_seed800000_metrics.json</a:t>
            </a:r>
          </a:p>
          <a:p>
            <a:r>
              <a:t>/Users/cesarpascal/Documents/Training/real_r1_arm_policy/rl_reach/runs/cpu_midpoint_seed1011/checkpoint_150000_steps_seed800000_joints.csv</a:t>
            </a:r>
          </a:p>
          <a:p>
            <a:r>
              <a:t>/Users/cesarpascal/Documents/Training/real_r1_arm_policy/rl_reach/runs/cpu_midpoint_seed1011/report.json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checkpoint has 300,000 transitions and 73,750 SAC optimizer updates. This clip completes a consecutive ten-control-step dwell within 4 cm, with no detected collision, but does not stay there to episode end. Its final position error is 5.94 cm. Success and final position error are different measurements. The widest final test has 68/100 successes and seven detected collision episodes.</a:t>
            </a:r>
          </a:p>
          <a:p>
            <a:endParaRPr/>
          </a:p>
          <a:p>
            <a:r>
              <a:t>Sources</a:t>
            </a:r>
          </a:p>
          <a:p>
            <a:r>
              <a:t>/Users/cesarpascal/Documents/Training/real_r1_arm_policy/rl_reach/runs/cpu_dense_seed1011/after_training_seed800000_metrics.json</a:t>
            </a:r>
          </a:p>
          <a:p>
            <a:r>
              <a:t>/Users/cesarpascal/Documents/Training/real_r1_arm_policy/rl_reach/runs/cpu_dense_seed1011/after_training_seed800000_joints.csv</a:t>
            </a:r>
          </a:p>
          <a:p>
            <a:r>
              <a:t>/Users/cesarpascal/Documents/Training/real_r1_arm_policy/rl_reach/runs/cpu_dense_seed1011/report.json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Matched seeds 900000–900099, goal configuration spread 1.00 radian about home. Both policies use deterministic evaluation. Success requires ten consecutive 20 Hz control frames inside 4 cm at any point, and no detected collision. The seven detected arm/torso collisions terminate their episodes. Mean final error includes all trials, including early collision terminations. We report one training seed, not an aggregate over multiple independent training runs. The 96% success on the last 0.80-radian curriculum evaluation uses a different easier target distribution and 50 episodes, so it must not replace the 68% held-out widest-spread result.</a:t>
            </a:r>
          </a:p>
          <a:p>
            <a:endParaRPr/>
          </a:p>
          <a:p>
            <a:r>
              <a:t>Sources</a:t>
            </a:r>
          </a:p>
          <a:p>
            <a:r>
              <a:t>/Users/cesarpascal/Documents/Training/real_r1_arm_policy/rl_reach/runs/cpu_dense_seed1011/baseline_test.json</a:t>
            </a:r>
          </a:p>
          <a:p>
            <a:r>
              <a:t>/Users/cesarpascal/Documents/Training/real_r1_arm_policy/rl_reach/runs/cpu_dense_seed1011/report.json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model fixes pelvis, other arm, legs and fingers. Its hand mounting is inherited from an approximate simulator. The collision detector checks arm/hand against torso/pelvis and does not certify all self-collision pairs. Joint command limits and per-video model-limit audits do not establish hardware safety. Before manipulation, improve collision behavior, sustained holding, orientation and return-to-rest. No physical robot commands appear in this experiment.</a:t>
            </a:r>
          </a:p>
          <a:p>
            <a:endParaRPr/>
          </a:p>
          <a:p>
            <a:r>
              <a:t>Sources</a:t>
            </a:r>
          </a:p>
          <a:p>
            <a:r>
              <a:t>/Users/cesarpascal/Documents/Training/real_r1_arm_policy/rl_reach/README.md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IEEE numbered references. Research papers describe the established learning methods. Reference [6] supplies this R1 experiment’s results and video evidence. The dataset is unpublished and is not a claim from references [1]–[5].</a:t>
            </a:r>
          </a:p>
          <a:p>
            <a:endParaRPr/>
          </a:p>
          <a:p>
            <a:r>
              <a:t>[1] https://proceedings.mlr.press/v80/haarnoja18b.html</a:t>
            </a:r>
          </a:p>
          <a:p>
            <a:r>
              <a:t>[2] https://papers.nips.cc/paper/7090-hindsight-experience-replay</a:t>
            </a:r>
          </a:p>
          <a:p>
            <a:r>
              <a:t>[3] https://stable-baselines3.readthedocs.io/en/master/modules/sac.html</a:t>
            </a:r>
          </a:p>
          <a:p>
            <a:r>
              <a:t>[4] https://stable-baselines3.readthedocs.io/en/master/modules/her.html</a:t>
            </a:r>
          </a:p>
          <a:p>
            <a:r>
              <a:t>[5] https://mujoco.readthedocs.io/en/stable/overview.html</a:t>
            </a:r>
          </a:p>
          <a:p>
            <a:r>
              <a:t>[6] Local experiment records</a:t>
            </a:r>
          </a:p>
          <a:p>
            <a:endParaRPr/>
          </a:p>
          <a:p>
            <a:r>
              <a:t>[6] File locations:</a:t>
            </a:r>
          </a:p>
          <a:p>
            <a:r>
              <a:t>/Users/cesarpascal/Documents/Training/real_r1_arm_policy/rl_reach/runs/cpu_dense_seed1011/report.json</a:t>
            </a:r>
          </a:p>
          <a:p>
            <a:r>
              <a:t>/Users/cesarpascal/Documents/Training/real_r1_arm_policy/rl_reach/runs/cpu_dense_seed1011/baseline_test.json</a:t>
            </a:r>
          </a:p>
          <a:p>
            <a:r>
              <a:t>/Users/cesarpascal/Documents/Training/real_r1_arm_policy/rl_reach/runs/cpu_midpoint_seed1011/reproduction.json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9174DE-9F91-458B-80DC-107EF798041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FE2D8CB-7187-47CF-8554-9FB8931922A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7400E60-EDAD-459B-B94D-3F21FBC3469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D26E622-1A11-43F7-8945-CA17629DCE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814A9E6-4DA7-4FFB-BD1E-8828484D607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7901DB8-791F-4C86-A386-B68BC3F725E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9689D22-C0CB-4A5D-84A2-67CB6A1EAA7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9BF0782-0E0F-4D1D-B5D7-2051C60D73C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0E048AA-F2E1-481B-8F14-0CD5693C8F3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028F544-C24D-456C-9809-E1D8857EAE8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stable-baselines3.readthedocs.io/en/master/modules/sac.html"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hyperlink" Target="https://mujoco.readthedocs.io/en/stable/overview.html" TargetMode="External"/><Relationship Id="rId4" Type="http://schemas.openxmlformats.org/officeDocument/2006/relationships/hyperlink" Target="https://stable-baselines3.readthedocs.io/en/master/modules/h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339"/>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71070-A082-4469-B713-CA637A5755B0}"/>
              </a:ext>
            </a:extLst>
          </p:cNvPr>
          <p:cNvSpPr>
            <a:spLocks noGrp="1"/>
          </p:cNvSpPr>
          <p:nvPr/>
        </p:nvSpPr>
        <p:spPr>
          <a:xfrm>
            <a:off x="685800" y="1485900"/>
            <a:ext cx="10477500" cy="857250"/>
          </a:xfrm>
          <a:prstGeom prst="rect">
            <a:avLst/>
          </a:prstGeom>
          <a:noFill/>
          <a:ln w="0">
            <a:noFill/>
          </a:ln>
        </p:spPr>
        <p:txBody>
          <a:bodyPr lIns="0" tIns="0" rIns="0" bIns="0" anchor="ctr">
            <a:noAutofit/>
          </a:bodyPr>
          <a:lstStyle>
            <a:defPPr>
              <a:defRPr sz="5250" b="1">
                <a:solidFill>
                  <a:srgbClr val="FFFFFF"/>
                </a:solidFill>
                <a:latin typeface="Helvetica Neue"/>
                <a:ea typeface="Helvetica Neue"/>
                <a:cs typeface="Helvetica Neue"/>
              </a:defRPr>
            </a:defPPr>
          </a:lstStyle>
          <a:p>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R1 arm training</a:t>
            </a:r>
          </a:p>
        </p:txBody>
      </p:sp>
      <p:sp>
        <p:nvSpPr>
          <p:cNvPr id="2" name="Rectangle 1">
            <a:extLst>
              <a:ext uri="{FF2B5EF4-FFF2-40B4-BE49-F238E27FC236}">
                <a16:creationId xmlns:a16="http://schemas.microsoft.com/office/drawing/2014/main" id="{D2010A8C-EB82-4C99-A3F5-04BE0C82900E}"/>
              </a:ext>
            </a:extLst>
          </p:cNvPr>
          <p:cNvSpPr>
            <a:spLocks noGrp="1"/>
          </p:cNvSpPr>
          <p:nvPr/>
        </p:nvSpPr>
        <p:spPr>
          <a:xfrm>
            <a:off x="685800" y="2381250"/>
            <a:ext cx="10477500" cy="714375"/>
          </a:xfrm>
          <a:prstGeom prst="rect">
            <a:avLst/>
          </a:prstGeom>
          <a:noFill/>
          <a:ln w="0">
            <a:noFill/>
          </a:ln>
        </p:spPr>
        <p:txBody>
          <a:bodyPr lIns="0" tIns="0" rIns="0" bIns="0" anchor="ctr">
            <a:noAutofit/>
          </a:bodyPr>
          <a:lstStyle>
            <a:defPPr>
              <a:defRPr sz="3150" b="0">
                <a:solidFill>
                  <a:srgbClr val="FFFFFF"/>
                </a:solidFill>
                <a:latin typeface="Helvetica Neue"/>
                <a:ea typeface="Helvetica Neue"/>
                <a:cs typeface="Helvetica Neue"/>
              </a:defRPr>
            </a:defPPr>
          </a:lstStyle>
          <a:p>
            <a:pPr>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Reinforcement learning for reaching</a:t>
            </a:r>
          </a:p>
        </p:txBody>
      </p:sp>
      <p:sp>
        <p:nvSpPr>
          <p:cNvPr id="3" name="Rectangle 2">
            <a:extLst>
              <a:ext uri="{FF2B5EF4-FFF2-40B4-BE49-F238E27FC236}">
                <a16:creationId xmlns:a16="http://schemas.microsoft.com/office/drawing/2014/main" id="{DA61BF9F-39B1-4D1C-8570-AE1D3F545DF2}"/>
              </a:ext>
            </a:extLst>
          </p:cNvPr>
          <p:cNvSpPr>
            <a:spLocks noGrp="1"/>
          </p:cNvSpPr>
          <p:nvPr/>
        </p:nvSpPr>
        <p:spPr>
          <a:xfrm>
            <a:off x="723900" y="3829050"/>
            <a:ext cx="10096500" cy="1066800"/>
          </a:xfrm>
          <a:prstGeom prst="rect">
            <a:avLst/>
          </a:prstGeom>
          <a:noFill/>
          <a:ln w="0">
            <a:noFill/>
          </a:ln>
        </p:spPr>
        <p:txBody>
          <a:bodyPr lIns="0" tIns="0" rIns="0" bIns="0" anchor="ctr">
            <a:noAutofit/>
          </a:bodyPr>
          <a:lstStyle>
            <a:defPPr>
              <a:defRPr sz="2250" b="0">
                <a:solidFill>
                  <a:srgbClr val="C9DAEB"/>
                </a:solidFill>
                <a:latin typeface="Helvetica Neue"/>
                <a:ea typeface="Helvetica Neue"/>
                <a:cs typeface="Helvetica Neue"/>
              </a:defRPr>
            </a:defPPr>
          </a:lstStyle>
          <a:p>
            <a:pPr>
              <a:defRPr sz="2250" b="0">
                <a:solidFill>
                  <a:srgbClr val="C9DAEB"/>
                </a:solidFill>
                <a:latin typeface="Helvetica Neue"/>
                <a:ea typeface="Helvetica Neue"/>
                <a:cs typeface="Helvetica Neue"/>
              </a:defRPr>
            </a:pPr>
            <a:r>
              <a:rPr sz="2250" b="0">
                <a:solidFill>
                  <a:srgbClr val="C9DAEB"/>
                </a:solidFill>
                <a:latin typeface="Helvetica Neue"/>
                <a:ea typeface="Helvetica Neue"/>
                <a:cs typeface="Helvetica Neue"/>
              </a:rPr>
              <a:t>300,000 CPU training steps</a:t>
            </a:r>
          </a:p>
          <a:p>
            <a:pPr>
              <a:defRPr sz="2250" b="0">
                <a:solidFill>
                  <a:srgbClr val="C9DAEB"/>
                </a:solidFill>
                <a:latin typeface="Helvetica Neue"/>
                <a:ea typeface="Helvetica Neue"/>
                <a:cs typeface="Helvetica Neue"/>
              </a:defRPr>
            </a:pPr>
            <a:r>
              <a:rPr sz="2250" b="0">
                <a:solidFill>
                  <a:srgbClr val="C9DAEB"/>
                </a:solidFill>
                <a:latin typeface="Helvetica Neue"/>
                <a:ea typeface="Helvetica Neue"/>
                <a:cs typeface="Helvetica Neue"/>
              </a:rPr>
              <a:t>No scripted teacher. No DAgger episodes.</a:t>
            </a:r>
          </a:p>
        </p:txBody>
      </p:sp>
    </p:spTree>
    <p:extLst>
      <p:ext uri="{BB962C8B-B14F-4D97-AF65-F5344CB8AC3E}">
        <p14:creationId xmlns:p14="http://schemas.microsoft.com/office/powerpoint/2010/main" val="1385673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685322-F29A-46E3-AA0B-015C13252AAE}"/>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How the new algorithm learns</a:t>
            </a:r>
          </a:p>
        </p:txBody>
      </p:sp>
      <p:sp>
        <p:nvSpPr>
          <p:cNvPr id="2" name="Rectangle 1">
            <a:extLst>
              <a:ext uri="{FF2B5EF4-FFF2-40B4-BE49-F238E27FC236}">
                <a16:creationId xmlns:a16="http://schemas.microsoft.com/office/drawing/2014/main" id="{CF021863-EBF5-41EF-AFF3-D8E91BCF3C9C}"/>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2</a:t>
            </a:r>
          </a:p>
        </p:txBody>
      </p:sp>
      <p:sp>
        <p:nvSpPr>
          <p:cNvPr id="3" name="Rectangle 2">
            <a:extLst>
              <a:ext uri="{FF2B5EF4-FFF2-40B4-BE49-F238E27FC236}">
                <a16:creationId xmlns:a16="http://schemas.microsoft.com/office/drawing/2014/main" id="{58DF8194-9EBE-4874-A1A0-6997EE4EE6FE}"/>
              </a:ext>
            </a:extLst>
          </p:cNvPr>
          <p:cNvSpPr>
            <a:spLocks noGrp="1"/>
          </p:cNvSpPr>
          <p:nvPr/>
        </p:nvSpPr>
        <p:spPr>
          <a:xfrm>
            <a:off x="685800" y="1571625"/>
            <a:ext cx="2381250" cy="762000"/>
          </a:xfrm>
          <a:prstGeom prst="rect">
            <a:avLst/>
          </a:prstGeom>
          <a:noFill/>
          <a:ln w="0">
            <a:noFill/>
          </a:ln>
        </p:spPr>
        <p:txBody>
          <a:bodyPr lIns="0" tIns="0" rIns="0" bIns="0" anchor="ctr">
            <a:noAutofit/>
          </a:bodyPr>
          <a:lstStyle>
            <a:defPPr>
              <a:defRPr sz="2175" b="1">
                <a:solidFill>
                  <a:srgbClr val="176FBD"/>
                </a:solidFill>
                <a:latin typeface="Helvetica Neue"/>
                <a:ea typeface="Helvetica Neue"/>
                <a:cs typeface="Helvetica Neue"/>
              </a:defRPr>
            </a:defPPr>
          </a:lstStyle>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Soft Actor-Critic</a:t>
            </a:r>
          </a:p>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(SAC)</a:t>
            </a:r>
          </a:p>
        </p:txBody>
      </p:sp>
      <p:sp>
        <p:nvSpPr>
          <p:cNvPr id="4" name="Rectangle 3">
            <a:extLst>
              <a:ext uri="{FF2B5EF4-FFF2-40B4-BE49-F238E27FC236}">
                <a16:creationId xmlns:a16="http://schemas.microsoft.com/office/drawing/2014/main" id="{D9B7C82A-DC56-45FF-BEDE-CD6CEB0E8FD9}"/>
              </a:ext>
            </a:extLst>
          </p:cNvPr>
          <p:cNvSpPr>
            <a:spLocks noGrp="1"/>
          </p:cNvSpPr>
          <p:nvPr/>
        </p:nvSpPr>
        <p:spPr>
          <a:xfrm>
            <a:off x="3295650" y="1571625"/>
            <a:ext cx="8077200" cy="76200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policy tries arm motions. It learns which actions receive higher rewards.</a:t>
            </a:r>
          </a:p>
        </p:txBody>
      </p:sp>
      <p:sp>
        <p:nvSpPr>
          <p:cNvPr id="5" name="Rectangle 4">
            <a:extLst>
              <a:ext uri="{FF2B5EF4-FFF2-40B4-BE49-F238E27FC236}">
                <a16:creationId xmlns:a16="http://schemas.microsoft.com/office/drawing/2014/main" id="{A6EDF18A-92C2-45AD-BE07-B362A94A22D9}"/>
              </a:ext>
            </a:extLst>
          </p:cNvPr>
          <p:cNvSpPr>
            <a:spLocks noGrp="1"/>
          </p:cNvSpPr>
          <p:nvPr/>
        </p:nvSpPr>
        <p:spPr>
          <a:xfrm>
            <a:off x="685800" y="2562225"/>
            <a:ext cx="2381250" cy="762000"/>
          </a:xfrm>
          <a:prstGeom prst="rect">
            <a:avLst/>
          </a:prstGeom>
          <a:noFill/>
          <a:ln w="0">
            <a:noFill/>
          </a:ln>
        </p:spPr>
        <p:txBody>
          <a:bodyPr lIns="0" tIns="0" rIns="0" bIns="0" anchor="ctr">
            <a:noAutofit/>
          </a:bodyPr>
          <a:lstStyle>
            <a:defPPr>
              <a:defRPr sz="2175" b="1">
                <a:solidFill>
                  <a:srgbClr val="176FBD"/>
                </a:solidFill>
                <a:latin typeface="Helvetica Neue"/>
                <a:ea typeface="Helvetica Neue"/>
                <a:cs typeface="Helvetica Neue"/>
              </a:defRPr>
            </a:defPPr>
          </a:lstStyle>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Reward</a:t>
            </a:r>
          </a:p>
        </p:txBody>
      </p:sp>
      <p:sp>
        <p:nvSpPr>
          <p:cNvPr id="6" name="Rectangle 5">
            <a:extLst>
              <a:ext uri="{FF2B5EF4-FFF2-40B4-BE49-F238E27FC236}">
                <a16:creationId xmlns:a16="http://schemas.microsoft.com/office/drawing/2014/main" id="{D5FE5600-242F-47A7-BCC4-2A67F066D7AF}"/>
              </a:ext>
            </a:extLst>
          </p:cNvPr>
          <p:cNvSpPr>
            <a:spLocks noGrp="1"/>
          </p:cNvSpPr>
          <p:nvPr/>
        </p:nvSpPr>
        <p:spPr>
          <a:xfrm>
            <a:off x="3295650" y="2562225"/>
            <a:ext cx="8077200" cy="76200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Closer to the target earns a better reward. Abrupt motion and collisions incur penalties.</a:t>
            </a:r>
          </a:p>
        </p:txBody>
      </p:sp>
      <p:sp>
        <p:nvSpPr>
          <p:cNvPr id="7" name="Rectangle 6">
            <a:extLst>
              <a:ext uri="{FF2B5EF4-FFF2-40B4-BE49-F238E27FC236}">
                <a16:creationId xmlns:a16="http://schemas.microsoft.com/office/drawing/2014/main" id="{1D85B1E1-5A3A-4332-95BF-9E277F92229A}"/>
              </a:ext>
            </a:extLst>
          </p:cNvPr>
          <p:cNvSpPr>
            <a:spLocks noGrp="1"/>
          </p:cNvSpPr>
          <p:nvPr/>
        </p:nvSpPr>
        <p:spPr>
          <a:xfrm>
            <a:off x="685800" y="3552825"/>
            <a:ext cx="2381250" cy="762000"/>
          </a:xfrm>
          <a:prstGeom prst="rect">
            <a:avLst/>
          </a:prstGeom>
          <a:noFill/>
          <a:ln w="0">
            <a:noFill/>
          </a:ln>
        </p:spPr>
        <p:txBody>
          <a:bodyPr lIns="0" tIns="0" rIns="0" bIns="0" anchor="ctr">
            <a:noAutofit/>
          </a:bodyPr>
          <a:lstStyle>
            <a:defPPr>
              <a:defRPr sz="2175" b="1">
                <a:solidFill>
                  <a:srgbClr val="176FBD"/>
                </a:solidFill>
                <a:latin typeface="Helvetica Neue"/>
                <a:ea typeface="Helvetica Neue"/>
                <a:cs typeface="Helvetica Neue"/>
              </a:defRPr>
            </a:defPPr>
          </a:lstStyle>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Hindsight replay</a:t>
            </a:r>
          </a:p>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(HER)</a:t>
            </a:r>
          </a:p>
        </p:txBody>
      </p:sp>
      <p:sp>
        <p:nvSpPr>
          <p:cNvPr id="8" name="Rectangle 7">
            <a:extLst>
              <a:ext uri="{FF2B5EF4-FFF2-40B4-BE49-F238E27FC236}">
                <a16:creationId xmlns:a16="http://schemas.microsoft.com/office/drawing/2014/main" id="{7C891361-B216-4506-B637-AE83B4067890}"/>
              </a:ext>
            </a:extLst>
          </p:cNvPr>
          <p:cNvSpPr>
            <a:spLocks noGrp="1"/>
          </p:cNvSpPr>
          <p:nvPr/>
        </p:nvSpPr>
        <p:spPr>
          <a:xfrm>
            <a:off x="3295650" y="3552825"/>
            <a:ext cx="8077200" cy="76200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A failed attempt can teach a different goal: the position the arm actually reached.</a:t>
            </a:r>
          </a:p>
        </p:txBody>
      </p:sp>
      <p:sp>
        <p:nvSpPr>
          <p:cNvPr id="9" name="Rectangle 8">
            <a:extLst>
              <a:ext uri="{FF2B5EF4-FFF2-40B4-BE49-F238E27FC236}">
                <a16:creationId xmlns:a16="http://schemas.microsoft.com/office/drawing/2014/main" id="{12159A52-3439-4F1E-A190-B72BAAFB96FF}"/>
              </a:ext>
            </a:extLst>
          </p:cNvPr>
          <p:cNvSpPr>
            <a:spLocks noGrp="1"/>
          </p:cNvSpPr>
          <p:nvPr/>
        </p:nvSpPr>
        <p:spPr>
          <a:xfrm>
            <a:off x="685800" y="4543425"/>
            <a:ext cx="2381250" cy="762000"/>
          </a:xfrm>
          <a:prstGeom prst="rect">
            <a:avLst/>
          </a:prstGeom>
          <a:noFill/>
          <a:ln w="0">
            <a:noFill/>
          </a:ln>
        </p:spPr>
        <p:txBody>
          <a:bodyPr lIns="0" tIns="0" rIns="0" bIns="0" anchor="ctr">
            <a:noAutofit/>
          </a:bodyPr>
          <a:lstStyle>
            <a:defPPr>
              <a:defRPr sz="2175" b="1">
                <a:solidFill>
                  <a:srgbClr val="176FBD"/>
                </a:solidFill>
                <a:latin typeface="Helvetica Neue"/>
                <a:ea typeface="Helvetica Neue"/>
                <a:cs typeface="Helvetica Neue"/>
              </a:defRPr>
            </a:defPPr>
          </a:lstStyle>
          <a:p>
            <a:pPr>
              <a:defRPr sz="2175" b="1">
                <a:solidFill>
                  <a:srgbClr val="176FBD"/>
                </a:solidFill>
                <a:latin typeface="Helvetica Neue"/>
                <a:ea typeface="Helvetica Neue"/>
                <a:cs typeface="Helvetica Neue"/>
              </a:defRPr>
            </a:pPr>
            <a:r>
              <a:rPr sz="2175" b="1">
                <a:solidFill>
                  <a:srgbClr val="176FBD"/>
                </a:solidFill>
                <a:latin typeface="Helvetica Neue"/>
                <a:ea typeface="Helvetica Neue"/>
                <a:cs typeface="Helvetica Neue"/>
              </a:rPr>
              <a:t>Curriculum</a:t>
            </a:r>
          </a:p>
        </p:txBody>
      </p:sp>
      <p:sp>
        <p:nvSpPr>
          <p:cNvPr id="10" name="Rectangle 9">
            <a:extLst>
              <a:ext uri="{FF2B5EF4-FFF2-40B4-BE49-F238E27FC236}">
                <a16:creationId xmlns:a16="http://schemas.microsoft.com/office/drawing/2014/main" id="{8606DE16-4716-4D20-A888-E6A05D353AE3}"/>
              </a:ext>
            </a:extLst>
          </p:cNvPr>
          <p:cNvSpPr>
            <a:spLocks noGrp="1"/>
          </p:cNvSpPr>
          <p:nvPr/>
        </p:nvSpPr>
        <p:spPr>
          <a:xfrm>
            <a:off x="3295650" y="4543425"/>
            <a:ext cx="8077200" cy="76200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Goals start near home. Two evaluations at or above 80% success with zero collisions unlock a wider range.</a:t>
            </a:r>
          </a:p>
        </p:txBody>
      </p:sp>
      <p:sp>
        <p:nvSpPr>
          <p:cNvPr id="11" name="Rectangle 10">
            <a:extLst>
              <a:ext uri="{FF2B5EF4-FFF2-40B4-BE49-F238E27FC236}">
                <a16:creationId xmlns:a16="http://schemas.microsoft.com/office/drawing/2014/main" id="{42A0E5DC-47D5-4535-8F65-6D32C7B2B64F}"/>
              </a:ext>
            </a:extLst>
          </p:cNvPr>
          <p:cNvSpPr>
            <a:spLocks noGrp="1"/>
          </p:cNvSpPr>
          <p:nvPr/>
        </p:nvSpPr>
        <p:spPr>
          <a:xfrm>
            <a:off x="685800" y="5781675"/>
            <a:ext cx="10668000" cy="533400"/>
          </a:xfrm>
          <a:prstGeom prst="rect">
            <a:avLst/>
          </a:prstGeom>
          <a:noFill/>
          <a:ln w="0">
            <a:noFill/>
          </a:ln>
        </p:spPr>
        <p:txBody>
          <a:bodyPr lIns="0" tIns="0" rIns="0" bIns="0" anchor="ctr">
            <a:noAutofit/>
          </a:bodyPr>
          <a:lstStyle>
            <a:defPPr>
              <a:defRPr sz="1800" b="0">
                <a:solidFill>
                  <a:srgbClr val="566779"/>
                </a:solidFill>
                <a:latin typeface="Helvetica Neue"/>
                <a:ea typeface="Helvetica Neue"/>
                <a:cs typeface="Helvetica Neue"/>
              </a:defRPr>
            </a:defPPr>
          </a:lstStyle>
          <a:p>
            <a:pPr>
              <a:defRPr sz="1800" b="0">
                <a:solidFill>
                  <a:srgbClr val="566779"/>
                </a:solidFill>
                <a:latin typeface="Helvetica Neue"/>
                <a:ea typeface="Helvetica Neue"/>
                <a:cs typeface="Helvetica Neue"/>
              </a:defRPr>
            </a:pPr>
            <a:r>
              <a:rPr sz="1800" b="0" dirty="0">
                <a:solidFill>
                  <a:srgbClr val="566779"/>
                </a:solidFill>
                <a:latin typeface="Helvetica Neue"/>
                <a:ea typeface="Helvetica Neue"/>
                <a:cs typeface="Helvetica Neue"/>
              </a:rPr>
              <a:t>The policy uses joint feedback and the target position to command five arm joints at 20 Hz.</a:t>
            </a:r>
          </a:p>
        </p:txBody>
      </p:sp>
    </p:spTree>
    <p:extLst>
      <p:ext uri="{BB962C8B-B14F-4D97-AF65-F5344CB8AC3E}">
        <p14:creationId xmlns:p14="http://schemas.microsoft.com/office/powerpoint/2010/main" val="207682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9F7658-B905-4FCB-B5EA-4DC0D3BFEBA7}"/>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Before training: 0 steps</a:t>
            </a:r>
          </a:p>
        </p:txBody>
      </p:sp>
      <p:sp>
        <p:nvSpPr>
          <p:cNvPr id="2" name="Rectangle 1">
            <a:extLst>
              <a:ext uri="{FF2B5EF4-FFF2-40B4-BE49-F238E27FC236}">
                <a16:creationId xmlns:a16="http://schemas.microsoft.com/office/drawing/2014/main" id="{FD0A3B82-3EA9-45CF-A440-527A57807711}"/>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3</a:t>
            </a:r>
          </a:p>
        </p:txBody>
      </p:sp>
      <p:pic>
        <p:nvPicPr>
          <p:cNvPr id="3" name="before video">
            <a:hlinkClick r:id="" action="ppaction://media"/>
            <a:extLst>
              <a:ext uri="{FF2B5EF4-FFF2-40B4-BE49-F238E27FC236}">
                <a16:creationId xmlns:a16="http://schemas.microsoft.com/office/drawing/2014/main" id="{32F2C88E-7598-4B7F-99B8-5D046D7F296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09600" y="1419225"/>
            <a:ext cx="6400800" cy="4800600"/>
          </a:xfrm>
          <a:prstGeom prst="rect">
            <a:avLst/>
          </a:prstGeom>
        </p:spPr>
      </p:pic>
      <p:sp>
        <p:nvSpPr>
          <p:cNvPr id="4" name="Rectangle 3">
            <a:extLst>
              <a:ext uri="{FF2B5EF4-FFF2-40B4-BE49-F238E27FC236}">
                <a16:creationId xmlns:a16="http://schemas.microsoft.com/office/drawing/2014/main" id="{408FACEB-2C4C-4089-82A2-EF37A662270A}"/>
              </a:ext>
            </a:extLst>
          </p:cNvPr>
          <p:cNvSpPr>
            <a:spLocks noGrp="1"/>
          </p:cNvSpPr>
          <p:nvPr/>
        </p:nvSpPr>
        <p:spPr>
          <a:xfrm>
            <a:off x="7505700" y="1619250"/>
            <a:ext cx="4000500" cy="809625"/>
          </a:xfrm>
          <a:prstGeom prst="rect">
            <a:avLst/>
          </a:prstGeom>
          <a:noFill/>
          <a:ln w="0">
            <a:noFill/>
          </a:ln>
        </p:spPr>
        <p:txBody>
          <a:bodyPr lIns="0" tIns="0" rIns="0" bIns="0" anchor="ctr">
            <a:noAutofit/>
          </a:bodyPr>
          <a:lstStyle>
            <a:defPPr>
              <a:defRPr sz="4200" b="1">
                <a:solidFill>
                  <a:srgbClr val="176FBD"/>
                </a:solidFill>
                <a:latin typeface="Helvetica Neue"/>
                <a:ea typeface="Helvetica Neue"/>
                <a:cs typeface="Helvetica Neue"/>
              </a:defRPr>
            </a:defPPr>
          </a:lstStyle>
          <a:p>
            <a:pPr>
              <a:defRPr sz="4200" b="1">
                <a:solidFill>
                  <a:srgbClr val="176FBD"/>
                </a:solidFill>
                <a:latin typeface="Helvetica Neue"/>
                <a:ea typeface="Helvetica Neue"/>
                <a:cs typeface="Helvetica Neue"/>
              </a:defRPr>
            </a:pPr>
            <a:r>
              <a:rPr sz="4200" b="1">
                <a:solidFill>
                  <a:srgbClr val="176FBD"/>
                </a:solidFill>
                <a:latin typeface="Helvetica Neue"/>
                <a:ea typeface="Helvetica Neue"/>
                <a:cs typeface="Helvetica Neue"/>
              </a:rPr>
              <a:t>0 / 100</a:t>
            </a:r>
          </a:p>
        </p:txBody>
      </p:sp>
      <p:sp>
        <p:nvSpPr>
          <p:cNvPr id="5" name="Rectangle 4">
            <a:extLst>
              <a:ext uri="{FF2B5EF4-FFF2-40B4-BE49-F238E27FC236}">
                <a16:creationId xmlns:a16="http://schemas.microsoft.com/office/drawing/2014/main" id="{E25BDB40-863E-4C86-8ADC-2972985E314B}"/>
              </a:ext>
            </a:extLst>
          </p:cNvPr>
          <p:cNvSpPr>
            <a:spLocks noGrp="1"/>
          </p:cNvSpPr>
          <p:nvPr/>
        </p:nvSpPr>
        <p:spPr>
          <a:xfrm>
            <a:off x="7505700" y="2457450"/>
            <a:ext cx="4000500" cy="7048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successes on the widest test set</a:t>
            </a:r>
          </a:p>
        </p:txBody>
      </p:sp>
      <p:sp>
        <p:nvSpPr>
          <p:cNvPr id="6" name="Rectangle 5">
            <a:extLst>
              <a:ext uri="{FF2B5EF4-FFF2-40B4-BE49-F238E27FC236}">
                <a16:creationId xmlns:a16="http://schemas.microsoft.com/office/drawing/2014/main" id="{87DACEB3-2EF5-4B72-97C0-A2EB23E5590C}"/>
              </a:ext>
            </a:extLst>
          </p:cNvPr>
          <p:cNvSpPr>
            <a:spLocks noGrp="1"/>
          </p:cNvSpPr>
          <p:nvPr/>
        </p:nvSpPr>
        <p:spPr>
          <a:xfrm>
            <a:off x="7505700" y="3429000"/>
            <a:ext cx="4000500" cy="14287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random policy moves slowly and misses the green target.</a:t>
            </a:r>
          </a:p>
        </p:txBody>
      </p:sp>
      <p:sp>
        <p:nvSpPr>
          <p:cNvPr id="7" name="Rectangle 6">
            <a:extLst>
              <a:ext uri="{FF2B5EF4-FFF2-40B4-BE49-F238E27FC236}">
                <a16:creationId xmlns:a16="http://schemas.microsoft.com/office/drawing/2014/main" id="{59255DF4-5F82-457A-8271-7A8003502919}"/>
              </a:ext>
            </a:extLst>
          </p:cNvPr>
          <p:cNvSpPr>
            <a:spLocks noGrp="1"/>
          </p:cNvSpPr>
          <p:nvPr/>
        </p:nvSpPr>
        <p:spPr>
          <a:xfrm>
            <a:off x="7505700" y="4991100"/>
            <a:ext cx="4000500" cy="819150"/>
          </a:xfrm>
          <a:prstGeom prst="rect">
            <a:avLst/>
          </a:prstGeom>
          <a:noFill/>
          <a:ln w="0">
            <a:noFill/>
          </a:ln>
        </p:spPr>
        <p:txBody>
          <a:bodyPr lIns="0" tIns="0" rIns="0" bIns="0" anchor="ctr">
            <a:noAutofit/>
          </a:bodyPr>
          <a:lstStyle>
            <a:defPPr>
              <a:defRPr sz="1725" b="0">
                <a:solidFill>
                  <a:srgbClr val="566779"/>
                </a:solidFill>
                <a:latin typeface="Helvetica Neue"/>
                <a:ea typeface="Helvetica Neue"/>
                <a:cs typeface="Helvetica Neue"/>
              </a:defRPr>
            </a:defPPr>
          </a:lstStyle>
          <a:p>
            <a:pPr>
              <a:defRPr sz="1725" b="0">
                <a:solidFill>
                  <a:srgbClr val="566779"/>
                </a:solidFill>
                <a:latin typeface="Helvetica Neue"/>
                <a:ea typeface="Helvetica Neue"/>
                <a:cs typeface="Helvetica Neue"/>
              </a:defRPr>
            </a:pPr>
            <a:r>
              <a:rPr sz="1725" b="0">
                <a:solidFill>
                  <a:srgbClr val="566779"/>
                </a:solidFill>
                <a:latin typeface="Helvetica Neue"/>
                <a:ea typeface="Helvetica Neue"/>
                <a:cs typeface="Helvetica Neue"/>
              </a:rPr>
              <a:t>This clip ends 33.9 cm from the target.</a:t>
            </a:r>
          </a:p>
        </p:txBody>
      </p:sp>
    </p:spTree>
    <p:extLst>
      <p:ext uri="{BB962C8B-B14F-4D97-AF65-F5344CB8AC3E}">
        <p14:creationId xmlns:p14="http://schemas.microsoft.com/office/powerpoint/2010/main" val="129472093"/>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3"/>
                </p:tgtEl>
              </p:cMediaNode>
            </p:video>
            <p:seq concurrent="1" prevAc="none"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532E5B4-32EE-483F-BD29-6D546A0A664F}"/>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Halfway through training: 150,000 steps</a:t>
            </a:r>
          </a:p>
        </p:txBody>
      </p:sp>
      <p:sp>
        <p:nvSpPr>
          <p:cNvPr id="2" name="Rectangle 1">
            <a:extLst>
              <a:ext uri="{FF2B5EF4-FFF2-40B4-BE49-F238E27FC236}">
                <a16:creationId xmlns:a16="http://schemas.microsoft.com/office/drawing/2014/main" id="{2308EB01-67F0-4C05-9109-7547BE0264B5}"/>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4</a:t>
            </a:r>
          </a:p>
        </p:txBody>
      </p:sp>
      <p:pic>
        <p:nvPicPr>
          <p:cNvPr id="3" name="midpoint video">
            <a:hlinkClick r:id="" action="ppaction://media"/>
            <a:extLst>
              <a:ext uri="{FF2B5EF4-FFF2-40B4-BE49-F238E27FC236}">
                <a16:creationId xmlns:a16="http://schemas.microsoft.com/office/drawing/2014/main" id="{5DA945A8-5B47-4036-A1E5-F7A89250B42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09600" y="1419225"/>
            <a:ext cx="6400800" cy="4800600"/>
          </a:xfrm>
          <a:prstGeom prst="rect">
            <a:avLst/>
          </a:prstGeom>
        </p:spPr>
      </p:pic>
      <p:sp>
        <p:nvSpPr>
          <p:cNvPr id="4" name="Rectangle 3">
            <a:extLst>
              <a:ext uri="{FF2B5EF4-FFF2-40B4-BE49-F238E27FC236}">
                <a16:creationId xmlns:a16="http://schemas.microsoft.com/office/drawing/2014/main" id="{E24AFDBE-7C19-42D4-85ED-3196865176CC}"/>
              </a:ext>
            </a:extLst>
          </p:cNvPr>
          <p:cNvSpPr>
            <a:spLocks noGrp="1"/>
          </p:cNvSpPr>
          <p:nvPr/>
        </p:nvSpPr>
        <p:spPr>
          <a:xfrm>
            <a:off x="7505700" y="1619250"/>
            <a:ext cx="4000500" cy="809625"/>
          </a:xfrm>
          <a:prstGeom prst="rect">
            <a:avLst/>
          </a:prstGeom>
          <a:noFill/>
          <a:ln w="0">
            <a:noFill/>
          </a:ln>
        </p:spPr>
        <p:txBody>
          <a:bodyPr lIns="0" tIns="0" rIns="0" bIns="0" anchor="ctr">
            <a:noAutofit/>
          </a:bodyPr>
          <a:lstStyle>
            <a:defPPr>
              <a:defRPr sz="4200" b="1">
                <a:solidFill>
                  <a:srgbClr val="176FBD"/>
                </a:solidFill>
                <a:latin typeface="Helvetica Neue"/>
                <a:ea typeface="Helvetica Neue"/>
                <a:cs typeface="Helvetica Neue"/>
              </a:defRPr>
            </a:defPPr>
          </a:lstStyle>
          <a:p>
            <a:pPr>
              <a:defRPr sz="4200" b="1">
                <a:solidFill>
                  <a:srgbClr val="176FBD"/>
                </a:solidFill>
                <a:latin typeface="Helvetica Neue"/>
                <a:ea typeface="Helvetica Neue"/>
                <a:cs typeface="Helvetica Neue"/>
              </a:defRPr>
            </a:pPr>
            <a:r>
              <a:rPr sz="4200" b="1">
                <a:solidFill>
                  <a:srgbClr val="176FBD"/>
                </a:solidFill>
                <a:latin typeface="Helvetica Neue"/>
                <a:ea typeface="Helvetica Neue"/>
                <a:cs typeface="Helvetica Neue"/>
              </a:rPr>
              <a:t>150,000</a:t>
            </a:r>
          </a:p>
        </p:txBody>
      </p:sp>
      <p:sp>
        <p:nvSpPr>
          <p:cNvPr id="5" name="Rectangle 4">
            <a:extLst>
              <a:ext uri="{FF2B5EF4-FFF2-40B4-BE49-F238E27FC236}">
                <a16:creationId xmlns:a16="http://schemas.microsoft.com/office/drawing/2014/main" id="{5A194DE8-E4FD-4AE2-8141-8CF631889CF2}"/>
              </a:ext>
            </a:extLst>
          </p:cNvPr>
          <p:cNvSpPr>
            <a:spLocks noGrp="1"/>
          </p:cNvSpPr>
          <p:nvPr/>
        </p:nvSpPr>
        <p:spPr>
          <a:xfrm>
            <a:off x="7505700" y="2457450"/>
            <a:ext cx="4000500" cy="7048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steps, halfway through the run</a:t>
            </a:r>
          </a:p>
        </p:txBody>
      </p:sp>
      <p:sp>
        <p:nvSpPr>
          <p:cNvPr id="6" name="Rectangle 5">
            <a:extLst>
              <a:ext uri="{FF2B5EF4-FFF2-40B4-BE49-F238E27FC236}">
                <a16:creationId xmlns:a16="http://schemas.microsoft.com/office/drawing/2014/main" id="{65F47136-6546-4E65-906C-052FB40EB428}"/>
              </a:ext>
            </a:extLst>
          </p:cNvPr>
          <p:cNvSpPr>
            <a:spLocks noGrp="1"/>
          </p:cNvSpPr>
          <p:nvPr/>
        </p:nvSpPr>
        <p:spPr>
          <a:xfrm>
            <a:off x="7505700" y="3429000"/>
            <a:ext cx="4000500" cy="14287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arm moves much closer. This target still misses the 4 cm hold threshold.</a:t>
            </a:r>
          </a:p>
        </p:txBody>
      </p:sp>
    </p:spTree>
    <p:extLst>
      <p:ext uri="{BB962C8B-B14F-4D97-AF65-F5344CB8AC3E}">
        <p14:creationId xmlns:p14="http://schemas.microsoft.com/office/powerpoint/2010/main" val="894409105"/>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3"/>
                </p:tgtEl>
              </p:cMediaNode>
            </p:video>
            <p:seq concurrent="1" prevAc="none"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35ECD4-5924-44F0-9EC4-55F977DCE173}"/>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After training: 300,000 steps</a:t>
            </a:r>
          </a:p>
        </p:txBody>
      </p:sp>
      <p:sp>
        <p:nvSpPr>
          <p:cNvPr id="2" name="Rectangle 1">
            <a:extLst>
              <a:ext uri="{FF2B5EF4-FFF2-40B4-BE49-F238E27FC236}">
                <a16:creationId xmlns:a16="http://schemas.microsoft.com/office/drawing/2014/main" id="{7BFDA592-253B-4BD4-9929-49B676C7AD41}"/>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5</a:t>
            </a:r>
          </a:p>
        </p:txBody>
      </p:sp>
      <p:pic>
        <p:nvPicPr>
          <p:cNvPr id="3" name="after video">
            <a:hlinkClick r:id="" action="ppaction://media"/>
            <a:extLst>
              <a:ext uri="{FF2B5EF4-FFF2-40B4-BE49-F238E27FC236}">
                <a16:creationId xmlns:a16="http://schemas.microsoft.com/office/drawing/2014/main" id="{7F024D18-9569-49A9-BEEC-CCA148F76A9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09600" y="1419225"/>
            <a:ext cx="6400800" cy="4800600"/>
          </a:xfrm>
          <a:prstGeom prst="rect">
            <a:avLst/>
          </a:prstGeom>
        </p:spPr>
      </p:pic>
      <p:sp>
        <p:nvSpPr>
          <p:cNvPr id="4" name="Rectangle 3">
            <a:extLst>
              <a:ext uri="{FF2B5EF4-FFF2-40B4-BE49-F238E27FC236}">
                <a16:creationId xmlns:a16="http://schemas.microsoft.com/office/drawing/2014/main" id="{4C230904-579A-40BD-8C1D-BE5A68BCC8F5}"/>
              </a:ext>
            </a:extLst>
          </p:cNvPr>
          <p:cNvSpPr>
            <a:spLocks noGrp="1"/>
          </p:cNvSpPr>
          <p:nvPr/>
        </p:nvSpPr>
        <p:spPr>
          <a:xfrm>
            <a:off x="7505700" y="1619250"/>
            <a:ext cx="4000500" cy="809625"/>
          </a:xfrm>
          <a:prstGeom prst="rect">
            <a:avLst/>
          </a:prstGeom>
          <a:noFill/>
          <a:ln w="0">
            <a:noFill/>
          </a:ln>
        </p:spPr>
        <p:txBody>
          <a:bodyPr lIns="0" tIns="0" rIns="0" bIns="0" anchor="ctr">
            <a:noAutofit/>
          </a:bodyPr>
          <a:lstStyle>
            <a:defPPr>
              <a:defRPr sz="4200" b="1">
                <a:solidFill>
                  <a:srgbClr val="176FBD"/>
                </a:solidFill>
                <a:latin typeface="Helvetica Neue"/>
                <a:ea typeface="Helvetica Neue"/>
                <a:cs typeface="Helvetica Neue"/>
              </a:defRPr>
            </a:defPPr>
          </a:lstStyle>
          <a:p>
            <a:pPr>
              <a:defRPr sz="4200" b="1">
                <a:solidFill>
                  <a:srgbClr val="176FBD"/>
                </a:solidFill>
                <a:latin typeface="Helvetica Neue"/>
                <a:ea typeface="Helvetica Neue"/>
                <a:cs typeface="Helvetica Neue"/>
              </a:defRPr>
            </a:pPr>
            <a:r>
              <a:rPr sz="4200" b="1">
                <a:solidFill>
                  <a:srgbClr val="176FBD"/>
                </a:solidFill>
                <a:latin typeface="Helvetica Neue"/>
                <a:ea typeface="Helvetica Neue"/>
                <a:cs typeface="Helvetica Neue"/>
              </a:rPr>
              <a:t>68 / 100</a:t>
            </a:r>
          </a:p>
        </p:txBody>
      </p:sp>
      <p:sp>
        <p:nvSpPr>
          <p:cNvPr id="5" name="Rectangle 4">
            <a:extLst>
              <a:ext uri="{FF2B5EF4-FFF2-40B4-BE49-F238E27FC236}">
                <a16:creationId xmlns:a16="http://schemas.microsoft.com/office/drawing/2014/main" id="{4CA5F47B-6F87-4C7B-9E61-133662C4D547}"/>
              </a:ext>
            </a:extLst>
          </p:cNvPr>
          <p:cNvSpPr>
            <a:spLocks noGrp="1"/>
          </p:cNvSpPr>
          <p:nvPr/>
        </p:nvSpPr>
        <p:spPr>
          <a:xfrm>
            <a:off x="7505700" y="2457450"/>
            <a:ext cx="4000500" cy="70485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successes on the widest test set</a:t>
            </a:r>
          </a:p>
        </p:txBody>
      </p:sp>
      <p:sp>
        <p:nvSpPr>
          <p:cNvPr id="6" name="Rectangle 5">
            <a:extLst>
              <a:ext uri="{FF2B5EF4-FFF2-40B4-BE49-F238E27FC236}">
                <a16:creationId xmlns:a16="http://schemas.microsoft.com/office/drawing/2014/main" id="{B7A99319-8139-459C-BA2B-731F204E5156}"/>
              </a:ext>
            </a:extLst>
          </p:cNvPr>
          <p:cNvSpPr>
            <a:spLocks noGrp="1"/>
          </p:cNvSpPr>
          <p:nvPr/>
        </p:nvSpPr>
        <p:spPr>
          <a:xfrm>
            <a:off x="7505700" y="3429000"/>
            <a:ext cx="4000500" cy="1428750"/>
          </a:xfrm>
          <a:prstGeom prst="rect">
            <a:avLst/>
          </a:prstGeom>
          <a:noFill/>
          <a:ln w="0">
            <a:noFill/>
          </a:ln>
        </p:spPr>
        <p:txBody>
          <a:bodyPr lIns="0" tIns="0" rIns="0" bIns="0" anchor="ctr">
            <a:noAutofit/>
          </a:bodyPr>
          <a:lstStyle>
            <a:defPPr>
              <a:defRPr sz="2100" b="0">
                <a:solidFill>
                  <a:srgbClr val="14283F"/>
                </a:solidFill>
                <a:latin typeface="Helvetica Neue"/>
                <a:ea typeface="Helvetica Neue"/>
                <a:cs typeface="Helvetica Neue"/>
              </a:defRPr>
            </a:defPPr>
          </a:lstStyle>
          <a:p>
            <a:pPr>
              <a:defRPr sz="2100" b="0">
                <a:solidFill>
                  <a:srgbClr val="14283F"/>
                </a:solidFill>
                <a:latin typeface="Helvetica Neue"/>
                <a:ea typeface="Helvetica Neue"/>
                <a:cs typeface="Helvetica Neue"/>
              </a:defRPr>
            </a:pPr>
            <a:r>
              <a:rPr sz="2100" b="0">
                <a:solidFill>
                  <a:srgbClr val="14283F"/>
                </a:solidFill>
                <a:latin typeface="Helvetica Neue"/>
                <a:ea typeface="Helvetica Neue"/>
                <a:cs typeface="Helvetica Neue"/>
              </a:rPr>
              <a:t>The arm reaches and holds near this target, then drifts slightly away.</a:t>
            </a:r>
          </a:p>
        </p:txBody>
      </p:sp>
      <p:sp>
        <p:nvSpPr>
          <p:cNvPr id="7" name="Rectangle 6">
            <a:extLst>
              <a:ext uri="{FF2B5EF4-FFF2-40B4-BE49-F238E27FC236}">
                <a16:creationId xmlns:a16="http://schemas.microsoft.com/office/drawing/2014/main" id="{3AE7ABFB-3C81-4CA5-9B59-62FE00941DE0}"/>
              </a:ext>
            </a:extLst>
          </p:cNvPr>
          <p:cNvSpPr>
            <a:spLocks noGrp="1"/>
          </p:cNvSpPr>
          <p:nvPr/>
        </p:nvSpPr>
        <p:spPr>
          <a:xfrm>
            <a:off x="7505700" y="4991100"/>
            <a:ext cx="4000500" cy="819150"/>
          </a:xfrm>
          <a:prstGeom prst="rect">
            <a:avLst/>
          </a:prstGeom>
          <a:noFill/>
          <a:ln w="0">
            <a:noFill/>
          </a:ln>
        </p:spPr>
        <p:txBody>
          <a:bodyPr lIns="0" tIns="0" rIns="0" bIns="0" anchor="ctr">
            <a:noAutofit/>
          </a:bodyPr>
          <a:lstStyle>
            <a:defPPr>
              <a:defRPr sz="1725" b="0">
                <a:solidFill>
                  <a:srgbClr val="566779"/>
                </a:solidFill>
                <a:latin typeface="Helvetica Neue"/>
                <a:ea typeface="Helvetica Neue"/>
                <a:cs typeface="Helvetica Neue"/>
              </a:defRPr>
            </a:defPPr>
          </a:lstStyle>
          <a:p>
            <a:pPr>
              <a:defRPr sz="1725" b="0">
                <a:solidFill>
                  <a:srgbClr val="566779"/>
                </a:solidFill>
                <a:latin typeface="Helvetica Neue"/>
                <a:ea typeface="Helvetica Neue"/>
                <a:cs typeface="Helvetica Neue"/>
              </a:defRPr>
            </a:pPr>
            <a:r>
              <a:rPr sz="1725" b="0">
                <a:solidFill>
                  <a:srgbClr val="566779"/>
                </a:solidFill>
                <a:latin typeface="Helvetica Neue"/>
                <a:ea typeface="Helvetica Neue"/>
                <a:cs typeface="Helvetica Neue"/>
              </a:rPr>
              <a:t>This clip ends 5.9 cm away. It meets the hold requirement earlier.</a:t>
            </a:r>
          </a:p>
        </p:txBody>
      </p:sp>
    </p:spTree>
    <p:extLst>
      <p:ext uri="{BB962C8B-B14F-4D97-AF65-F5344CB8AC3E}">
        <p14:creationId xmlns:p14="http://schemas.microsoft.com/office/powerpoint/2010/main" val="645966376"/>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3"/>
                </p:tgtEl>
              </p:cMediaNode>
            </p:video>
            <p:seq concurrent="1" prevAc="none"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A388BF-146A-4D19-A030-DF5F14E98C82}"/>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Results on 100 matched test targets</a:t>
            </a:r>
          </a:p>
        </p:txBody>
      </p:sp>
      <p:sp>
        <p:nvSpPr>
          <p:cNvPr id="2" name="Rectangle 1">
            <a:extLst>
              <a:ext uri="{FF2B5EF4-FFF2-40B4-BE49-F238E27FC236}">
                <a16:creationId xmlns:a16="http://schemas.microsoft.com/office/drawing/2014/main" id="{49DADC4F-26B8-46D9-8547-78342E9FC321}"/>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6</a:t>
            </a:r>
          </a:p>
        </p:txBody>
      </p:sp>
      <p:graphicFrame>
        <p:nvGraphicFramePr>
          <p:cNvPr id="3" name="Table 2">
            <a:extLst>
              <a:ext uri="{FF2B5EF4-FFF2-40B4-BE49-F238E27FC236}">
                <a16:creationId xmlns:a16="http://schemas.microsoft.com/office/drawing/2014/main" id="{32706381-1E79-4713-A42E-D197BFF3EA37}"/>
              </a:ext>
            </a:extLst>
          </p:cNvPr>
          <p:cNvGraphicFramePr/>
          <p:nvPr/>
        </p:nvGraphicFramePr>
        <p:xfrm>
          <a:off x="685800" y="1695450"/>
          <a:ext cx="10820400" cy="2857500"/>
        </p:xfrm>
        <a:graphic>
          <a:graphicData uri="http://schemas.openxmlformats.org/drawingml/2006/table">
            <a:tbl>
              <a:tblPr/>
              <a:tblGrid>
                <a:gridCol w="52387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2790825">
                  <a:extLst>
                    <a:ext uri="{9D8B030D-6E8A-4147-A177-3AD203B41FA5}">
                      <a16:colId xmlns:a16="http://schemas.microsoft.com/office/drawing/2014/main" val="20002"/>
                    </a:ext>
                  </a:extLst>
                </a:gridCol>
              </a:tblGrid>
              <a:tr h="714375">
                <a:tc>
                  <a:txBody>
                    <a:bodyPr/>
                    <a:lstStyle/>
                    <a:p>
                      <a:r>
                        <a:rPr sz="2100" b="1">
                          <a:solidFill>
                            <a:srgbClr val="FFFFFF"/>
                          </a:solidFill>
                          <a:latin typeface="Helvetica Neue"/>
                          <a:ea typeface="Helvetica Neue"/>
                          <a:cs typeface="Helvetica Neue"/>
                        </a:rPr>
                        <a:t>Metric</a:t>
                      </a:r>
                    </a:p>
                  </a:txBody>
                  <a:tcPr marL="171450" marR="171450" marT="114300" marB="114300">
                    <a:lnL w="6668">
                      <a:solidFill>
                        <a:srgbClr val="CDD8E3"/>
                      </a:solidFill>
                      <a:prstDash val="soli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Before</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tc>
                  <a:txBody>
                    <a:bodyPr/>
                    <a:lstStyle/>
                    <a:p>
                      <a:r>
                        <a:rPr sz="2100" b="1">
                          <a:solidFill>
                            <a:srgbClr val="FFFFFF"/>
                          </a:solidFill>
                          <a:latin typeface="Helvetica Neue"/>
                          <a:ea typeface="Helvetica Neue"/>
                          <a:cs typeface="Helvetica Neue"/>
                        </a:rPr>
                        <a:t>After</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a:solidFill>
                        <a:srgbClr val="CDD8E3"/>
                      </a:solidFill>
                      <a:prstDash val="solid"/>
                    </a:lnT>
                    <a:lnB w="6668">
                      <a:solidFill>
                        <a:srgbClr val="CDD8E3"/>
                      </a:solidFill>
                      <a:prstDash val="solid"/>
                    </a:lnB>
                    <a:solidFill>
                      <a:srgbClr val="102339"/>
                    </a:solidFill>
                  </a:tcPr>
                </a:tc>
                <a:extLst>
                  <a:ext uri="{0D108BD9-81ED-4DB2-BD59-A6C34878D82A}">
                    <a16:rowId xmlns:a16="http://schemas.microsoft.com/office/drawing/2014/main" val="10000"/>
                  </a:ext>
                </a:extLst>
              </a:tr>
              <a:tr h="714375">
                <a:tc>
                  <a:txBody>
                    <a:bodyPr/>
                    <a:lstStyle/>
                    <a:p>
                      <a:r>
                        <a:rPr sz="2100" b="0">
                          <a:solidFill>
                            <a:srgbClr val="14283F"/>
                          </a:solidFill>
                          <a:latin typeface="Helvetica Neue"/>
                          <a:ea typeface="Helvetica Neue"/>
                          <a:cs typeface="Helvetica Neue"/>
                        </a:rPr>
                        <a:t>Reach and hold success</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68%</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100" b="0">
                          <a:solidFill>
                            <a:srgbClr val="14283F"/>
                          </a:solidFill>
                          <a:latin typeface="Helvetica Neue"/>
                          <a:ea typeface="Helvetica Neue"/>
                          <a:cs typeface="Helvetica Neue"/>
                        </a:rPr>
                        <a:t>Mean final position error</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32.5 cm</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4.9 cm</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2"/>
                  </a:ext>
                </a:extLst>
              </a:tr>
              <a:tr h="714375">
                <a:tc>
                  <a:txBody>
                    <a:bodyPr/>
                    <a:lstStyle/>
                    <a:p>
                      <a:r>
                        <a:rPr sz="2100" b="0">
                          <a:solidFill>
                            <a:srgbClr val="14283F"/>
                          </a:solidFill>
                          <a:latin typeface="Helvetica Neue"/>
                          <a:ea typeface="Helvetica Neue"/>
                          <a:cs typeface="Helvetica Neue"/>
                        </a:rPr>
                        <a:t>Arm/torso collision episodes</a:t>
                      </a:r>
                    </a:p>
                  </a:txBody>
                  <a:tcPr marL="171450" marR="171450" marT="114300" marB="114300">
                    <a:lnL w="6668">
                      <a:solidFill>
                        <a:srgbClr val="CDD8E3"/>
                      </a:solidFill>
                      <a:prstDash val="soli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0%</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tc>
                  <a:txBody>
                    <a:bodyPr/>
                    <a:lstStyle/>
                    <a:p>
                      <a:r>
                        <a:rPr sz="2100" b="0">
                          <a:solidFill>
                            <a:srgbClr val="14283F"/>
                          </a:solidFill>
                          <a:latin typeface="Helvetica Neue"/>
                          <a:ea typeface="Helvetica Neue"/>
                          <a:cs typeface="Helvetica Neue"/>
                        </a:rPr>
                        <a:t>7%</a:t>
                      </a:r>
                    </a:p>
                  </a:txBody>
                  <a:tcPr marL="171450" marR="171450" marT="114300" marB="114300">
                    <a:lnL w="6668" cap="flat" cmpd="sng" algn="ctr">
                      <a:solidFill>
                        <a:srgbClr val="CDD8E3"/>
                      </a:solidFill>
                      <a:prstDash val="solid"/>
                      <a:round/>
                      <a:headEnd type="none" w="med" len="med"/>
                      <a:tailEnd type="none" w="med" len="med"/>
                    </a:lnL>
                    <a:lnR w="6668">
                      <a:solidFill>
                        <a:srgbClr val="CDD8E3"/>
                      </a:solidFill>
                      <a:prstDash val="solid"/>
                    </a:lnR>
                    <a:lnT w="6668" cap="flat" cmpd="sng" algn="ctr">
                      <a:solidFill>
                        <a:srgbClr val="CDD8E3"/>
                      </a:solidFill>
                      <a:prstDash val="solid"/>
                      <a:round/>
                      <a:headEnd type="none" w="med" len="med"/>
                      <a:tailEnd type="none" w="med" len="med"/>
                    </a:lnT>
                    <a:lnB w="6668">
                      <a:solidFill>
                        <a:srgbClr val="CDD8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7B4D5FF-1B3B-4DE7-8814-3B8AABE7E60E}"/>
              </a:ext>
            </a:extLst>
          </p:cNvPr>
          <p:cNvSpPr>
            <a:spLocks noGrp="1"/>
          </p:cNvSpPr>
          <p:nvPr/>
        </p:nvSpPr>
        <p:spPr>
          <a:xfrm>
            <a:off x="685800" y="4867275"/>
            <a:ext cx="10820400" cy="571500"/>
          </a:xfrm>
          <a:prstGeom prst="rect">
            <a:avLst/>
          </a:prstGeom>
          <a:noFill/>
          <a:ln w="0">
            <a:noFill/>
          </a:ln>
        </p:spPr>
        <p:txBody>
          <a:bodyPr lIns="0" tIns="0" rIns="0" bIns="0" anchor="ctr">
            <a:noAutofit/>
          </a:bodyPr>
          <a:lstStyle>
            <a:defPPr>
              <a:defRPr sz="2025" b="0">
                <a:solidFill>
                  <a:srgbClr val="14283F"/>
                </a:solidFill>
                <a:latin typeface="Helvetica Neue"/>
                <a:ea typeface="Helvetica Neue"/>
                <a:cs typeface="Helvetica Neue"/>
              </a:defRPr>
            </a:defPPr>
          </a:lstStyle>
          <a:p>
            <a:pPr>
              <a:defRPr sz="2025" b="0">
                <a:solidFill>
                  <a:srgbClr val="14283F"/>
                </a:solidFill>
                <a:latin typeface="Helvetica Neue"/>
                <a:ea typeface="Helvetica Neue"/>
                <a:cs typeface="Helvetica Neue"/>
              </a:defRPr>
            </a:pPr>
            <a:r>
              <a:rPr sz="2025" b="0">
                <a:solidFill>
                  <a:srgbClr val="14283F"/>
                </a:solidFill>
                <a:latin typeface="Helvetica Neue"/>
                <a:ea typeface="Helvetica Neue"/>
                <a:cs typeface="Helvetica Neue"/>
              </a:rPr>
              <a:t>Success means staying within 4 cm for 0.5 seconds during the episode.</a:t>
            </a:r>
          </a:p>
        </p:txBody>
      </p:sp>
    </p:spTree>
    <p:extLst>
      <p:ext uri="{BB962C8B-B14F-4D97-AF65-F5344CB8AC3E}">
        <p14:creationId xmlns:p14="http://schemas.microsoft.com/office/powerpoint/2010/main" val="1596881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AFD9D5-FEB4-4129-B1E5-10AB31CB8154}"/>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Wider reaching needs more work</a:t>
            </a:r>
          </a:p>
        </p:txBody>
      </p:sp>
      <p:sp>
        <p:nvSpPr>
          <p:cNvPr id="2" name="Rectangle 1">
            <a:extLst>
              <a:ext uri="{FF2B5EF4-FFF2-40B4-BE49-F238E27FC236}">
                <a16:creationId xmlns:a16="http://schemas.microsoft.com/office/drawing/2014/main" id="{7465FF71-C88E-4AF8-B0E4-5147560E639E}"/>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7</a:t>
            </a:r>
          </a:p>
        </p:txBody>
      </p:sp>
      <p:sp>
        <p:nvSpPr>
          <p:cNvPr id="3" name="Rectangle 2">
            <a:extLst>
              <a:ext uri="{FF2B5EF4-FFF2-40B4-BE49-F238E27FC236}">
                <a16:creationId xmlns:a16="http://schemas.microsoft.com/office/drawing/2014/main" id="{908690DA-28C9-4081-8936-AB835FFFE63C}"/>
              </a:ext>
            </a:extLst>
          </p:cNvPr>
          <p:cNvSpPr>
            <a:spLocks noGrp="1"/>
          </p:cNvSpPr>
          <p:nvPr/>
        </p:nvSpPr>
        <p:spPr>
          <a:xfrm>
            <a:off x="685800" y="1562100"/>
            <a:ext cx="10820400" cy="628650"/>
          </a:xfrm>
          <a:prstGeom prst="rect">
            <a:avLst/>
          </a:prstGeom>
          <a:noFill/>
          <a:ln w="0">
            <a:noFill/>
          </a:ln>
        </p:spPr>
        <p:txBody>
          <a:bodyPr lIns="0" tIns="0" rIns="0" bIns="0" anchor="ctr">
            <a:noAutofit/>
          </a:bodyPr>
          <a:lstStyle>
            <a:defPPr>
              <a:defRPr sz="2625" b="1">
                <a:solidFill>
                  <a:srgbClr val="176FBD"/>
                </a:solidFill>
                <a:latin typeface="Helvetica Neue"/>
                <a:ea typeface="Helvetica Neue"/>
                <a:cs typeface="Helvetica Neue"/>
              </a:defRPr>
            </a:defPPr>
          </a:lstStyle>
          <a:p>
            <a:pPr>
              <a:defRPr sz="2625" b="1">
                <a:solidFill>
                  <a:srgbClr val="176FBD"/>
                </a:solidFill>
                <a:latin typeface="Helvetica Neue"/>
                <a:ea typeface="Helvetica Neue"/>
                <a:cs typeface="Helvetica Neue"/>
              </a:defRPr>
            </a:pPr>
            <a:r>
              <a:rPr sz="2625" b="1">
                <a:solidFill>
                  <a:srgbClr val="176FBD"/>
                </a:solidFill>
                <a:latin typeface="Helvetica Neue"/>
                <a:ea typeface="Helvetica Neue"/>
                <a:cs typeface="Helvetica Neue"/>
              </a:rPr>
              <a:t>7 of 100 test episodes had arm/torso collisions.</a:t>
            </a:r>
          </a:p>
        </p:txBody>
      </p:sp>
      <p:sp>
        <p:nvSpPr>
          <p:cNvPr id="4" name="Rectangle 3">
            <a:extLst>
              <a:ext uri="{FF2B5EF4-FFF2-40B4-BE49-F238E27FC236}">
                <a16:creationId xmlns:a16="http://schemas.microsoft.com/office/drawing/2014/main" id="{B6C60376-DEB4-4440-A789-C0AEED2CB133}"/>
              </a:ext>
            </a:extLst>
          </p:cNvPr>
          <p:cNvSpPr>
            <a:spLocks noGrp="1"/>
          </p:cNvSpPr>
          <p:nvPr/>
        </p:nvSpPr>
        <p:spPr>
          <a:xfrm>
            <a:off x="685800" y="2428875"/>
            <a:ext cx="10477500" cy="990600"/>
          </a:xfrm>
          <a:prstGeom prst="rect">
            <a:avLst/>
          </a:prstGeom>
          <a:noFill/>
          <a:ln w="0">
            <a:noFill/>
          </a:ln>
        </p:spPr>
        <p:txBody>
          <a:bodyPr lIns="0" tIns="0" rIns="0" bIns="0" anchor="ctr">
            <a:noAutofit/>
          </a:bodyPr>
          <a:lstStyle>
            <a:defPPr>
              <a:defRPr sz="2325" b="0">
                <a:solidFill>
                  <a:srgbClr val="14283F"/>
                </a:solidFill>
                <a:latin typeface="Helvetica Neue"/>
                <a:ea typeface="Helvetica Neue"/>
                <a:cs typeface="Helvetica Neue"/>
              </a:defRPr>
            </a:defPPr>
          </a:lstStyle>
          <a:p>
            <a:pPr>
              <a:defRPr sz="2325" b="0">
                <a:solidFill>
                  <a:srgbClr val="14283F"/>
                </a:solidFill>
                <a:latin typeface="Helvetica Neue"/>
                <a:ea typeface="Helvetica Neue"/>
                <a:cs typeface="Helvetica Neue"/>
              </a:defRPr>
            </a:pPr>
            <a:r>
              <a:rPr sz="2325" b="0">
                <a:solidFill>
                  <a:srgbClr val="14283F"/>
                </a:solidFill>
                <a:latin typeface="Helvetica Neue"/>
                <a:ea typeface="Helvetica Neue"/>
                <a:cs typeface="Helvetica Neue"/>
              </a:rPr>
              <a:t>The next training stage should reduce collisions and keep the arm near the target for longer.</a:t>
            </a:r>
          </a:p>
        </p:txBody>
      </p:sp>
      <p:sp>
        <p:nvSpPr>
          <p:cNvPr id="5" name="Rectangle 4">
            <a:extLst>
              <a:ext uri="{FF2B5EF4-FFF2-40B4-BE49-F238E27FC236}">
                <a16:creationId xmlns:a16="http://schemas.microsoft.com/office/drawing/2014/main" id="{63D11605-9588-4A21-A173-6CC1E2FCC837}"/>
              </a:ext>
            </a:extLst>
          </p:cNvPr>
          <p:cNvSpPr>
            <a:spLocks noGrp="1"/>
          </p:cNvSpPr>
          <p:nvPr/>
        </p:nvSpPr>
        <p:spPr>
          <a:xfrm>
            <a:off x="685800" y="3762375"/>
            <a:ext cx="10477500" cy="952500"/>
          </a:xfrm>
          <a:prstGeom prst="rect">
            <a:avLst/>
          </a:prstGeom>
          <a:noFill/>
          <a:ln w="0">
            <a:noFill/>
          </a:ln>
        </p:spPr>
        <p:txBody>
          <a:bodyPr lIns="0" tIns="0" rIns="0" bIns="0" anchor="ctr">
            <a:noAutofit/>
          </a:bodyPr>
          <a:lstStyle>
            <a:defPPr>
              <a:defRPr sz="2325" b="0">
                <a:solidFill>
                  <a:srgbClr val="14283F"/>
                </a:solidFill>
                <a:latin typeface="Helvetica Neue"/>
                <a:ea typeface="Helvetica Neue"/>
                <a:cs typeface="Helvetica Neue"/>
              </a:defRPr>
            </a:defPPr>
          </a:lstStyle>
          <a:p>
            <a:pPr>
              <a:defRPr sz="2325" b="0">
                <a:solidFill>
                  <a:srgbClr val="14283F"/>
                </a:solidFill>
                <a:latin typeface="Helvetica Neue"/>
                <a:ea typeface="Helvetica Neue"/>
                <a:cs typeface="Helvetica Neue"/>
              </a:defRPr>
            </a:pPr>
            <a:r>
              <a:rPr sz="2325" b="0">
                <a:solidFill>
                  <a:srgbClr val="14283F"/>
                </a:solidFill>
                <a:latin typeface="Helvetica Neue"/>
                <a:ea typeface="Helvetica Neue"/>
                <a:cs typeface="Helvetica Neue"/>
              </a:rPr>
              <a:t>Then add wrist orientation and return-to-rest goals before training grasping.</a:t>
            </a:r>
          </a:p>
        </p:txBody>
      </p:sp>
    </p:spTree>
    <p:extLst>
      <p:ext uri="{BB962C8B-B14F-4D97-AF65-F5344CB8AC3E}">
        <p14:creationId xmlns:p14="http://schemas.microsoft.com/office/powerpoint/2010/main" val="195482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5" name="Rectangle 1014">
            <a:extLst>
              <a:ext uri="{FF2B5EF4-FFF2-40B4-BE49-F238E27FC236}">
                <a16:creationId xmlns:a16="http://schemas.microsoft.com/office/drawing/2014/main" id="{3F165346-64A2-4B66-99F5-E27DE1DCBC0D}"/>
              </a:ext>
            </a:extLst>
          </p:cNvPr>
          <p:cNvSpPr>
            <a:spLocks noGrp="1"/>
          </p:cNvSpPr>
          <p:nvPr/>
        </p:nvSpPr>
        <p:spPr>
          <a:xfrm>
            <a:off x="609600" y="400050"/>
            <a:ext cx="10972800" cy="800100"/>
          </a:xfrm>
          <a:prstGeom prst="rect">
            <a:avLst/>
          </a:prstGeom>
          <a:noFill/>
          <a:ln w="0">
            <a:noFill/>
          </a:ln>
        </p:spPr>
        <p:txBody>
          <a:bodyPr lIns="0" tIns="0" rIns="0" bIns="0" anchor="ctr">
            <a:noAutofit/>
          </a:bodyPr>
          <a:lstStyle>
            <a:defPPr>
              <a:defRPr sz="3600" b="1">
                <a:solidFill>
                  <a:srgbClr val="102339"/>
                </a:solidFill>
                <a:latin typeface="Helvetica Neue"/>
                <a:ea typeface="Helvetica Neue"/>
                <a:cs typeface="Helvetica Neue"/>
              </a:defRPr>
            </a:defPPr>
          </a:lstStyle>
          <a:p>
            <a:pPr>
              <a:defRPr sz="3600" b="1">
                <a:solidFill>
                  <a:srgbClr val="102339"/>
                </a:solidFill>
                <a:latin typeface="Helvetica Neue"/>
                <a:ea typeface="Helvetica Neue"/>
                <a:cs typeface="Helvetica Neue"/>
              </a:defRPr>
            </a:pPr>
            <a:r>
              <a:rPr sz="3600" b="1">
                <a:solidFill>
                  <a:srgbClr val="102339"/>
                </a:solidFill>
                <a:latin typeface="Helvetica Neue"/>
                <a:ea typeface="Helvetica Neue"/>
                <a:cs typeface="Helvetica Neue"/>
              </a:rPr>
              <a:t>References</a:t>
            </a:r>
          </a:p>
        </p:txBody>
      </p:sp>
      <p:sp>
        <p:nvSpPr>
          <p:cNvPr id="1002" name="Rectangle 1001">
            <a:extLst>
              <a:ext uri="{FF2B5EF4-FFF2-40B4-BE49-F238E27FC236}">
                <a16:creationId xmlns:a16="http://schemas.microsoft.com/office/drawing/2014/main" id="{53224F06-CB34-4912-B9ED-B00603263667}"/>
              </a:ext>
            </a:extLst>
          </p:cNvPr>
          <p:cNvSpPr>
            <a:spLocks noGrp="1"/>
          </p:cNvSpPr>
          <p:nvPr/>
        </p:nvSpPr>
        <p:spPr>
          <a:xfrm>
            <a:off x="609600" y="1352550"/>
            <a:ext cx="476250" cy="8477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[1]</a:t>
            </a:r>
          </a:p>
        </p:txBody>
      </p:sp>
      <p:sp>
        <p:nvSpPr>
          <p:cNvPr id="1003" name="Rectangle 1002">
            <a:extLst>
              <a:ext uri="{FF2B5EF4-FFF2-40B4-BE49-F238E27FC236}">
                <a16:creationId xmlns:a16="http://schemas.microsoft.com/office/drawing/2014/main" id="{432E225C-A8D4-4B74-99B6-311094B7C727}"/>
              </a:ext>
            </a:extLst>
          </p:cNvPr>
          <p:cNvSpPr>
            <a:spLocks noGrp="1"/>
          </p:cNvSpPr>
          <p:nvPr/>
        </p:nvSpPr>
        <p:spPr>
          <a:xfrm>
            <a:off x="1104900" y="1352550"/>
            <a:ext cx="10401300" cy="8477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T. Haarnoja, A. Zhou, P. Abbeel, and S. Levine, “Soft actor-critic: Off-policy maximum entropy deep reinforcement learning with a stochastic actor,” in </a:t>
            </a:r>
            <a:r>
              <a:rPr i="1"/>
              <a:t>Proc. 35th Int. Conf. Mach. Learn.</a:t>
            </a:r>
            <a:r>
              <a:t>, vol. 80, 2018, pp. 1861–1870.</a:t>
            </a:r>
          </a:p>
        </p:txBody>
      </p:sp>
      <p:sp>
        <p:nvSpPr>
          <p:cNvPr id="1004" name="Rectangle 1003">
            <a:extLst>
              <a:ext uri="{FF2B5EF4-FFF2-40B4-BE49-F238E27FC236}">
                <a16:creationId xmlns:a16="http://schemas.microsoft.com/office/drawing/2014/main" id="{05585628-EB6F-48C0-BF7C-565B4EEA1130}"/>
              </a:ext>
            </a:extLst>
          </p:cNvPr>
          <p:cNvSpPr>
            <a:spLocks noGrp="1"/>
          </p:cNvSpPr>
          <p:nvPr/>
        </p:nvSpPr>
        <p:spPr>
          <a:xfrm>
            <a:off x="609600" y="2295525"/>
            <a:ext cx="476250" cy="571500"/>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[2]</a:t>
            </a:r>
          </a:p>
        </p:txBody>
      </p:sp>
      <p:sp>
        <p:nvSpPr>
          <p:cNvPr id="1005" name="Rectangle 1004">
            <a:extLst>
              <a:ext uri="{FF2B5EF4-FFF2-40B4-BE49-F238E27FC236}">
                <a16:creationId xmlns:a16="http://schemas.microsoft.com/office/drawing/2014/main" id="{4086047D-B5E6-4C32-BA7C-383A3D9AFA65}"/>
              </a:ext>
            </a:extLst>
          </p:cNvPr>
          <p:cNvSpPr>
            <a:spLocks noGrp="1"/>
          </p:cNvSpPr>
          <p:nvPr/>
        </p:nvSpPr>
        <p:spPr>
          <a:xfrm>
            <a:off x="1104900" y="2295525"/>
            <a:ext cx="10401300" cy="571500"/>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M. Andrychowicz et al., “Hindsight experience replay,” in </a:t>
            </a:r>
            <a:r>
              <a:rPr i="1"/>
              <a:t>Advances in Neural Information Processing Systems</a:t>
            </a:r>
            <a:r>
              <a:t>, vol. 30, 2017.</a:t>
            </a:r>
          </a:p>
        </p:txBody>
      </p:sp>
      <p:sp>
        <p:nvSpPr>
          <p:cNvPr id="1006" name="Rectangle 1005">
            <a:extLst>
              <a:ext uri="{FF2B5EF4-FFF2-40B4-BE49-F238E27FC236}">
                <a16:creationId xmlns:a16="http://schemas.microsoft.com/office/drawing/2014/main" id="{D4AB1625-BC66-40C3-B29C-C2F72FD41D37}"/>
              </a:ext>
            </a:extLst>
          </p:cNvPr>
          <p:cNvSpPr>
            <a:spLocks noGrp="1"/>
          </p:cNvSpPr>
          <p:nvPr/>
        </p:nvSpPr>
        <p:spPr>
          <a:xfrm>
            <a:off x="609600" y="2943225"/>
            <a:ext cx="47625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[3]</a:t>
            </a:r>
          </a:p>
        </p:txBody>
      </p:sp>
      <p:sp>
        <p:nvSpPr>
          <p:cNvPr id="1007" name="Rectangle 1006">
            <a:extLst>
              <a:ext uri="{FF2B5EF4-FFF2-40B4-BE49-F238E27FC236}">
                <a16:creationId xmlns:a16="http://schemas.microsoft.com/office/drawing/2014/main" id="{0F83EED4-9C2A-4FF1-89C2-13AC19A98930}"/>
              </a:ext>
            </a:extLst>
          </p:cNvPr>
          <p:cNvSpPr>
            <a:spLocks noGrp="1"/>
          </p:cNvSpPr>
          <p:nvPr/>
        </p:nvSpPr>
        <p:spPr>
          <a:xfrm>
            <a:off x="1104900" y="2943225"/>
            <a:ext cx="1040130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Stable-Baselines3, “Soft actor critic (SAC),” </a:t>
            </a:r>
            <a:r>
              <a:rPr i="1"/>
              <a:t>Stable-Baselines3 Documentation</a:t>
            </a:r>
            <a:r>
              <a:t>. Accessed: Oct. 11, 2026. [Online]. Available: </a:t>
            </a:r>
            <a:r>
              <a:rPr>
                <a:hlinkClick r:id="rId3"/>
              </a:rPr>
              <a:t>https://stable-baselines3.readthedocs.io/en/master/modules/sac.html</a:t>
            </a:r>
          </a:p>
        </p:txBody>
      </p:sp>
      <p:sp>
        <p:nvSpPr>
          <p:cNvPr id="1008" name="Rectangle 1007">
            <a:extLst>
              <a:ext uri="{FF2B5EF4-FFF2-40B4-BE49-F238E27FC236}">
                <a16:creationId xmlns:a16="http://schemas.microsoft.com/office/drawing/2014/main" id="{81B4BF60-69D5-48DC-B48E-73F327742BCA}"/>
              </a:ext>
            </a:extLst>
          </p:cNvPr>
          <p:cNvSpPr>
            <a:spLocks noGrp="1"/>
          </p:cNvSpPr>
          <p:nvPr/>
        </p:nvSpPr>
        <p:spPr>
          <a:xfrm>
            <a:off x="609600" y="3790950"/>
            <a:ext cx="47625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[4]</a:t>
            </a:r>
          </a:p>
        </p:txBody>
      </p:sp>
      <p:sp>
        <p:nvSpPr>
          <p:cNvPr id="1009" name="Rectangle 1008">
            <a:extLst>
              <a:ext uri="{FF2B5EF4-FFF2-40B4-BE49-F238E27FC236}">
                <a16:creationId xmlns:a16="http://schemas.microsoft.com/office/drawing/2014/main" id="{72E6B80F-8E8B-43D4-AD2B-0B45301E6775}"/>
              </a:ext>
            </a:extLst>
          </p:cNvPr>
          <p:cNvSpPr>
            <a:spLocks noGrp="1"/>
          </p:cNvSpPr>
          <p:nvPr/>
        </p:nvSpPr>
        <p:spPr>
          <a:xfrm>
            <a:off x="1104900" y="3790950"/>
            <a:ext cx="1040130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Stable-Baselines3, “HER,” </a:t>
            </a:r>
            <a:r>
              <a:rPr i="1"/>
              <a:t>Stable-Baselines3 Documentation</a:t>
            </a:r>
            <a:r>
              <a:t>. Accessed: Oct. 11, 2026. [Online]. Available: </a:t>
            </a:r>
            <a:r>
              <a:rPr>
                <a:hlinkClick r:id="rId4"/>
              </a:rPr>
              <a:t>https://stable-baselines3.readthedocs.io/en/master/modules/her.html</a:t>
            </a:r>
          </a:p>
        </p:txBody>
      </p:sp>
      <p:sp>
        <p:nvSpPr>
          <p:cNvPr id="1010" name="Rectangle 1009">
            <a:extLst>
              <a:ext uri="{FF2B5EF4-FFF2-40B4-BE49-F238E27FC236}">
                <a16:creationId xmlns:a16="http://schemas.microsoft.com/office/drawing/2014/main" id="{9E0AA563-7096-4099-B8A1-8518B3E3FD1C}"/>
              </a:ext>
            </a:extLst>
          </p:cNvPr>
          <p:cNvSpPr>
            <a:spLocks noGrp="1"/>
          </p:cNvSpPr>
          <p:nvPr/>
        </p:nvSpPr>
        <p:spPr>
          <a:xfrm>
            <a:off x="609600" y="4638675"/>
            <a:ext cx="47625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[5]</a:t>
            </a:r>
          </a:p>
        </p:txBody>
      </p:sp>
      <p:sp>
        <p:nvSpPr>
          <p:cNvPr id="1011" name="Rectangle 1010">
            <a:extLst>
              <a:ext uri="{FF2B5EF4-FFF2-40B4-BE49-F238E27FC236}">
                <a16:creationId xmlns:a16="http://schemas.microsoft.com/office/drawing/2014/main" id="{EC5D934E-C37A-48EE-8985-06B5DF9218E9}"/>
              </a:ext>
            </a:extLst>
          </p:cNvPr>
          <p:cNvSpPr>
            <a:spLocks noGrp="1"/>
          </p:cNvSpPr>
          <p:nvPr/>
        </p:nvSpPr>
        <p:spPr>
          <a:xfrm>
            <a:off x="1104900" y="4638675"/>
            <a:ext cx="10401300" cy="77152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MuJoCo, “Overview,” </a:t>
            </a:r>
            <a:r>
              <a:rPr i="1"/>
              <a:t>MuJoCo Documentation</a:t>
            </a:r>
            <a:r>
              <a:t>. Accessed: Oct. 11, 2026. [Online]. Available: </a:t>
            </a:r>
            <a:r>
              <a:rPr>
                <a:hlinkClick r:id="rId5"/>
              </a:rPr>
              <a:t>https://mujoco.readthedocs.io/en/stable/overview.html</a:t>
            </a:r>
          </a:p>
        </p:txBody>
      </p:sp>
      <p:sp>
        <p:nvSpPr>
          <p:cNvPr id="1012" name="Rectangle 1011">
            <a:extLst>
              <a:ext uri="{FF2B5EF4-FFF2-40B4-BE49-F238E27FC236}">
                <a16:creationId xmlns:a16="http://schemas.microsoft.com/office/drawing/2014/main" id="{EB2D60E7-0DC1-410F-A6B5-D6A74ABA3F4C}"/>
              </a:ext>
            </a:extLst>
          </p:cNvPr>
          <p:cNvSpPr>
            <a:spLocks noGrp="1"/>
          </p:cNvSpPr>
          <p:nvPr/>
        </p:nvSpPr>
        <p:spPr>
          <a:xfrm>
            <a:off x="609600" y="5486400"/>
            <a:ext cx="476250" cy="67627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rPr sz="1725" b="0">
                <a:solidFill>
                  <a:srgbClr val="14283F"/>
                </a:solidFill>
                <a:latin typeface="Helvetica Neue"/>
                <a:ea typeface="Helvetica Neue"/>
                <a:cs typeface="Helvetica Neue"/>
              </a:rPr>
              <a:t>[6]</a:t>
            </a:r>
          </a:p>
        </p:txBody>
      </p:sp>
      <p:sp>
        <p:nvSpPr>
          <p:cNvPr id="1013" name="Rectangle 1012">
            <a:extLst>
              <a:ext uri="{FF2B5EF4-FFF2-40B4-BE49-F238E27FC236}">
                <a16:creationId xmlns:a16="http://schemas.microsoft.com/office/drawing/2014/main" id="{614B27E3-9465-4DC2-B2D2-AA93041D924C}"/>
              </a:ext>
            </a:extLst>
          </p:cNvPr>
          <p:cNvSpPr>
            <a:spLocks noGrp="1"/>
          </p:cNvSpPr>
          <p:nvPr/>
        </p:nvSpPr>
        <p:spPr>
          <a:xfrm>
            <a:off x="1104900" y="5486400"/>
            <a:ext cx="10401300" cy="676275"/>
          </a:xfrm>
          <a:prstGeom prst="rect">
            <a:avLst/>
          </a:prstGeom>
          <a:noFill/>
          <a:ln w="0">
            <a:noFill/>
          </a:ln>
        </p:spPr>
        <p:txBody>
          <a:bodyPr lIns="0" tIns="0" rIns="0" bIns="0" anchor="t">
            <a:noAutofit/>
          </a:bodyPr>
          <a:lstStyle>
            <a:defPPr>
              <a:defRPr sz="1725" b="0">
                <a:solidFill>
                  <a:srgbClr val="14283F"/>
                </a:solidFill>
                <a:latin typeface="Helvetica Neue"/>
                <a:ea typeface="Helvetica Neue"/>
                <a:cs typeface="Helvetica Neue"/>
              </a:defRPr>
            </a:defPPr>
          </a:lstStyle>
          <a:p>
            <a:pPr>
              <a:defRPr sz="1725" b="0">
                <a:solidFill>
                  <a:srgbClr val="14283F"/>
                </a:solidFill>
                <a:latin typeface="Helvetica Neue"/>
                <a:ea typeface="Helvetica Neue"/>
                <a:cs typeface="Helvetica Neue"/>
              </a:defRPr>
            </a:pPr>
            <a:r>
              <a:t>“R1 arm reaching: Training, evaluation, and midpoint reproduction records,” unpublished simulation data, Oct. 11, 2026.</a:t>
            </a:r>
          </a:p>
        </p:txBody>
      </p:sp>
      <p:sp>
        <p:nvSpPr>
          <p:cNvPr id="1014" name="Rectangle 1013">
            <a:extLst>
              <a:ext uri="{FF2B5EF4-FFF2-40B4-BE49-F238E27FC236}">
                <a16:creationId xmlns:a16="http://schemas.microsoft.com/office/drawing/2014/main" id="{36FF4D76-EDDA-432B-B601-35B5282EC747}"/>
              </a:ext>
            </a:extLst>
          </p:cNvPr>
          <p:cNvSpPr>
            <a:spLocks noGrp="1"/>
          </p:cNvSpPr>
          <p:nvPr/>
        </p:nvSpPr>
        <p:spPr>
          <a:xfrm>
            <a:off x="11277600" y="6438900"/>
            <a:ext cx="381000" cy="228600"/>
          </a:xfrm>
          <a:prstGeom prst="rect">
            <a:avLst/>
          </a:prstGeom>
          <a:noFill/>
          <a:ln w="0">
            <a:noFill/>
          </a:ln>
        </p:spPr>
        <p:txBody>
          <a:bodyPr lIns="0" tIns="0" rIns="0" bIns="0" anchor="ctr">
            <a:noAutofit/>
          </a:bodyPr>
          <a:lstStyle>
            <a:defPPr>
              <a:defRPr sz="1425" b="0">
                <a:solidFill>
                  <a:srgbClr val="566779"/>
                </a:solidFill>
                <a:latin typeface="Helvetica Neue"/>
                <a:ea typeface="Helvetica Neue"/>
                <a:cs typeface="Helvetica Neue"/>
              </a:defRPr>
            </a:defPPr>
          </a:lstStyle>
          <a:p>
            <a:pPr>
              <a:defRPr sz="1425" b="0">
                <a:solidFill>
                  <a:srgbClr val="566779"/>
                </a:solidFill>
                <a:latin typeface="Helvetica Neue"/>
                <a:ea typeface="Helvetica Neue"/>
                <a:cs typeface="Helvetica Neue"/>
              </a:defRPr>
            </a:pPr>
            <a:r>
              <a:rPr sz="1425" b="0">
                <a:solidFill>
                  <a:srgbClr val="566779"/>
                </a:solidFill>
                <a:latin typeface="Helvetica Neue"/>
                <a:ea typeface="Helvetica Neue"/>
                <a:cs typeface="Helvetica Neue"/>
              </a:rPr>
              <a:t>8</a:t>
            </a:r>
          </a:p>
        </p:txBody>
      </p:sp>
    </p:spTree>
    <p:extLst>
      <p:ext uri="{BB962C8B-B14F-4D97-AF65-F5344CB8AC3E}">
        <p14:creationId xmlns:p14="http://schemas.microsoft.com/office/powerpoint/2010/main" val="19491688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1949</Words>
  <Application>Microsoft Macintosh PowerPoint</Application>
  <DocSecurity>0</DocSecurity>
  <PresentationFormat>Widescreen</PresentationFormat>
  <Paragraphs>119</Paragraphs>
  <Slides>8</Slides>
  <Notes>8</Notes>
  <HiddenSlides>0</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Pascal</cp:lastModifiedBy>
  <cp:revision>1</cp:revision>
  <dcterms:created xsi:type="dcterms:W3CDTF">2026-10-11T23:43:16Z</dcterms:created>
  <dcterms:modified xsi:type="dcterms:W3CDTF">2026-10-12T00:07:54Z</dcterms:modified>
</cp:coreProperties>
</file>