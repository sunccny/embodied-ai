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0" y="3977640"/>
            <a:ext cx="8229600" cy="822960"/>
          </a:xfrm>
          <a:prstGeom prst="rect">
            <a:avLst/>
          </a:prstGeom>
          <a:noFill/>
          <a:ln/>
        </p:spPr>
        <p:txBody>
          <a:bodyPr wrap="square" lIns="0" tIns="0" rIns="0" bIns="0" rtlCol="0" anchor="ctr"/>
          <a:lstStyle/>
          <a:p>
            <a:pPr algn="ctr" indent="0" marL="0">
              <a:buNone/>
            </a:pPr>
            <a:r>
              <a:rPr lang="en-US" sz="5400" b="1" dirty="0">
                <a:solidFill>
                  <a:srgbClr val="111111"/>
                </a:solidFill>
              </a:rPr>
              <a:t>WEEK 18</a:t>
            </a:r>
            <a:endParaRPr lang="en-US" sz="5400" dirty="0"/>
          </a:p>
        </p:txBody>
      </p:sp>
      <p:sp>
        <p:nvSpPr>
          <p:cNvPr id="3" name="Text 1"/>
          <p:cNvSpPr/>
          <p:nvPr/>
        </p:nvSpPr>
        <p:spPr>
          <a:xfrm>
            <a:off x="4800600" y="4892040"/>
            <a:ext cx="8686800" cy="365760"/>
          </a:xfrm>
          <a:prstGeom prst="rect">
            <a:avLst/>
          </a:prstGeom>
          <a:noFill/>
          <a:ln/>
        </p:spPr>
        <p:txBody>
          <a:bodyPr wrap="square" lIns="0" tIns="0" rIns="0" bIns="0" rtlCol="0" anchor="ctr"/>
          <a:lstStyle/>
          <a:p>
            <a:pPr algn="ctr" indent="0" marL="0">
              <a:buNone/>
            </a:pPr>
            <a:r>
              <a:rPr lang="en-US" sz="1700" dirty="0">
                <a:solidFill>
                  <a:srgbClr val="111111"/>
                </a:solidFill>
              </a:rPr>
              <a:t>CESAR A. PASCAL VASQUEZ</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005840" y="502920"/>
            <a:ext cx="16276320" cy="502920"/>
          </a:xfrm>
          <a:prstGeom prst="rect">
            <a:avLst/>
          </a:prstGeom>
          <a:noFill/>
          <a:ln/>
        </p:spPr>
        <p:txBody>
          <a:bodyPr wrap="square" lIns="0" tIns="0" rIns="0" bIns="0" rtlCol="0" anchor="ctr">
            <a:normAutofit/>
          </a:bodyPr>
          <a:lstStyle/>
          <a:p>
            <a:pPr indent="0" marL="0">
              <a:buNone/>
            </a:pPr>
            <a:r>
              <a:rPr lang="en-US" sz="3100" b="1" dirty="0">
                <a:solidFill>
                  <a:srgbClr val="111111"/>
                </a:solidFill>
                <a:latin typeface="Calibri" pitchFamily="34" charset="0"/>
                <a:ea typeface="Calibri" pitchFamily="34" charset="-122"/>
                <a:cs typeface="Calibri" pitchFamily="34" charset="-120"/>
              </a:rPr>
              <a:t>This week, the focus shifted from robotic arm training to robotic hand control.</a:t>
            </a:r>
            <a:endParaRPr lang="en-US" sz="3100" dirty="0"/>
          </a:p>
        </p:txBody>
      </p:sp>
      <p:sp>
        <p:nvSpPr>
          <p:cNvPr id="3" name="Text 1"/>
          <p:cNvSpPr/>
          <p:nvPr/>
        </p:nvSpPr>
        <p:spPr>
          <a:xfrm>
            <a:off x="1371600" y="1828800"/>
            <a:ext cx="15544800" cy="3749040"/>
          </a:xfrm>
          <a:prstGeom prst="rect">
            <a:avLst/>
          </a:prstGeom>
          <a:noFill/>
          <a:ln/>
        </p:spPr>
        <p:txBody>
          <a:bodyPr wrap="square" lIns="254" tIns="254" rIns="254" bIns="254" rtlCol="0" anchor="ctr">
            <a:normAutofit/>
          </a:bodyPr>
          <a:lstStyle/>
          <a:p>
            <a:pPr indent="0" marL="0">
              <a:buNone/>
            </a:pPr>
            <a:r>
              <a:rPr lang="en-US" sz="2700" dirty="0">
                <a:solidFill>
                  <a:srgbClr val="111111"/>
                </a:solidFill>
                <a:latin typeface="Calibri" pitchFamily="34" charset="0"/>
                <a:ea typeface="Calibri" pitchFamily="34" charset="-122"/>
                <a:cs typeface="Calibri" pitchFamily="34" charset="-120"/>
              </a:rPr>
              <a:t>After testing robotic arm movement in MuJoCo, I began working with a dexterous robotic hand environment. The goal was to train a policy that can control the fingers and move the fingertips toward target positions. This is a useful first step before moving into harder manipulation tasks, such as grasping or rotating an object.</a:t>
            </a:r>
            <a:endParaRPr lang="en-US" sz="2700" dirty="0"/>
          </a:p>
        </p:txBody>
      </p:sp>
      <p:pic>
        <p:nvPicPr>
          <p:cNvPr id="4" name="Image 0" descr="/mnt/data/week18_assets/video1_thumb.png">    </p:cNvPr>
          <p:cNvPicPr>
            <a:picLocks noChangeAspect="1"/>
          </p:cNvPicPr>
          <p:nvPr/>
        </p:nvPicPr>
        <p:blipFill>
          <a:blip r:embed="rId1"/>
          <a:stretch>
            <a:fillRect/>
          </a:stretch>
        </p:blipFill>
        <p:spPr>
          <a:xfrm>
            <a:off x="6928343" y="5989320"/>
            <a:ext cx="4431314" cy="3383280"/>
          </a:xfrm>
          <a:prstGeom prst="rect">
            <a:avLst/>
          </a:prstGeom>
        </p:spPr>
      </p:pic>
      <p:sp>
        <p:nvSpPr>
          <p:cNvPr id="5" name="Text 2"/>
          <p:cNvSpPr/>
          <p:nvPr/>
        </p:nvSpPr>
        <p:spPr>
          <a:xfrm>
            <a:off x="4754880" y="9454896"/>
            <a:ext cx="8778240" cy="256032"/>
          </a:xfrm>
          <a:prstGeom prst="rect">
            <a:avLst/>
          </a:prstGeom>
          <a:noFill/>
          <a:ln/>
        </p:spPr>
        <p:txBody>
          <a:bodyPr wrap="square" lIns="0" tIns="0" rIns="0" bIns="0" rtlCol="0" anchor="ctr">
            <a:normAutofit/>
          </a:bodyPr>
          <a:lstStyle/>
          <a:p>
            <a:pPr indent="0" marL="0">
              <a:buNone/>
            </a:pPr>
            <a:r>
              <a:rPr lang="en-US" sz="1600" i="1" dirty="0">
                <a:solidFill>
                  <a:srgbClr val="444444"/>
                </a:solidFill>
                <a:latin typeface="Calibri" pitchFamily="34" charset="0"/>
                <a:ea typeface="Calibri" pitchFamily="34" charset="-122"/>
                <a:cs typeface="Calibri" pitchFamily="34" charset="-120"/>
              </a:rPr>
              <a:t>MuJoCo Shadow Hand reach environment used for robotic hand policy testing.</a:t>
            </a:r>
            <a:endParaRPr lang="en-US" sz="1600" dirty="0"/>
          </a:p>
        </p:txBody>
      </p:sp>
      <p:sp>
        <p:nvSpPr>
          <p:cNvPr id="6" name="Text 3"/>
          <p:cNvSpPr/>
          <p:nvPr/>
        </p:nvSpPr>
        <p:spPr>
          <a:xfrm>
            <a:off x="15361920" y="9802368"/>
            <a:ext cx="1920240" cy="256032"/>
          </a:xfrm>
          <a:prstGeom prst="rect">
            <a:avLst/>
          </a:prstGeom>
          <a:noFill/>
          <a:ln/>
        </p:spPr>
        <p:txBody>
          <a:bodyPr wrap="square" lIns="0" tIns="0" rIns="0" bIns="0" rtlCol="0" anchor="ctr"/>
          <a:lstStyle/>
          <a:p>
            <a:pPr algn="r" indent="0" marL="0">
              <a:buNone/>
            </a:pPr>
            <a:r>
              <a:rPr lang="en-US" sz="1100" dirty="0">
                <a:solidFill>
                  <a:srgbClr val="777777"/>
                </a:solidFill>
              </a:rPr>
              <a:t>Week 18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005840" y="502920"/>
            <a:ext cx="16276320" cy="502920"/>
          </a:xfrm>
          <a:prstGeom prst="rect">
            <a:avLst/>
          </a:prstGeom>
          <a:noFill/>
          <a:ln/>
        </p:spPr>
        <p:txBody>
          <a:bodyPr wrap="square" lIns="0" tIns="0" rIns="0" bIns="0" rtlCol="0" anchor="ctr">
            <a:normAutofit/>
          </a:bodyPr>
          <a:lstStyle/>
          <a:p>
            <a:pPr indent="0" marL="0">
              <a:buNone/>
            </a:pPr>
            <a:r>
              <a:rPr lang="en-US" sz="3100" b="1" dirty="0">
                <a:solidFill>
                  <a:srgbClr val="111111"/>
                </a:solidFill>
                <a:latin typeface="Calibri" pitchFamily="34" charset="0"/>
                <a:ea typeface="Calibri" pitchFamily="34" charset="-122"/>
                <a:cs typeface="Calibri" pitchFamily="34" charset="-120"/>
              </a:rPr>
              <a:t>The environment used for this experiment was HandReachDense-v3.</a:t>
            </a:r>
            <a:endParaRPr lang="en-US" sz="3100" dirty="0"/>
          </a:p>
        </p:txBody>
      </p:sp>
      <p:sp>
        <p:nvSpPr>
          <p:cNvPr id="3" name="Text 1"/>
          <p:cNvSpPr/>
          <p:nvPr/>
        </p:nvSpPr>
        <p:spPr>
          <a:xfrm>
            <a:off x="1097280" y="1417320"/>
            <a:ext cx="7315200" cy="4663440"/>
          </a:xfrm>
          <a:prstGeom prst="rect">
            <a:avLst/>
          </a:prstGeom>
          <a:noFill/>
          <a:ln/>
        </p:spPr>
        <p:txBody>
          <a:bodyPr wrap="square" lIns="254" tIns="254" rIns="254" bIns="254" rtlCol="0" anchor="ctr">
            <a:normAutofit/>
          </a:bodyPr>
          <a:lstStyle/>
          <a:p>
            <a:pPr indent="0" marL="0">
              <a:buNone/>
            </a:pPr>
            <a:r>
              <a:rPr lang="en-US" sz="2400" dirty="0">
                <a:solidFill>
                  <a:srgbClr val="111111"/>
                </a:solidFill>
                <a:latin typeface="Calibri" pitchFamily="34" charset="0"/>
                <a:ea typeface="Calibri" pitchFamily="34" charset="-122"/>
                <a:cs typeface="Calibri" pitchFamily="34" charset="-120"/>
              </a:rPr>
              <a:t>The Shadow Hand environment gives the policy a target position for each fingertip. The policy must control the hand joints so that the fingertips move closer to the colored goals. I used the dense version because it gives continuous feedback based on distance, which makes early learning easier than a sparse success-only reward.</a:t>
            </a:r>
            <a:endParaRPr lang="en-US" sz="2400" dirty="0"/>
          </a:p>
        </p:txBody>
      </p:sp>
      <p:pic>
        <p:nvPicPr>
          <p:cNvPr id="4" name="Image 0" descr="/mnt/data/week18_assets/video2_thumb.png">    </p:cNvPr>
          <p:cNvPicPr>
            <a:picLocks noChangeAspect="1"/>
          </p:cNvPicPr>
          <p:nvPr/>
        </p:nvPicPr>
        <p:blipFill>
          <a:blip r:embed="rId1"/>
          <a:srcRect l="0" r="0" t="319" b="319"/>
          <a:stretch/>
        </p:blipFill>
        <p:spPr>
          <a:xfrm>
            <a:off x="9144000" y="1417320"/>
            <a:ext cx="7955280" cy="6035040"/>
          </a:xfrm>
          <a:prstGeom prst="rect">
            <a:avLst/>
          </a:prstGeom>
        </p:spPr>
      </p:pic>
      <p:sp>
        <p:nvSpPr>
          <p:cNvPr id="5" name="Text 2"/>
          <p:cNvSpPr/>
          <p:nvPr/>
        </p:nvSpPr>
        <p:spPr>
          <a:xfrm>
            <a:off x="1325880" y="6537960"/>
            <a:ext cx="7315200" cy="2011680"/>
          </a:xfrm>
          <a:prstGeom prst="rect">
            <a:avLst/>
          </a:prstGeom>
          <a:noFill/>
          <a:ln/>
        </p:spPr>
        <p:txBody>
          <a:bodyPr wrap="square" lIns="635" tIns="635" rIns="635" bIns="635" rtlCol="0" anchor="t">
            <a:normAutofit/>
          </a:bodyPr>
          <a:lstStyle/>
          <a:p>
            <a:r>
              <a:rPr lang="en-US" sz="2300" dirty="0">
                <a:solidFill>
                  <a:srgbClr val="111111"/>
                </a:solidFill>
                <a:latin typeface="Calibri" pitchFamily="34" charset="0"/>
                <a:ea typeface="Calibri" pitchFamily="34" charset="-122"/>
                <a:cs typeface="Calibri" pitchFamily="34" charset="-120"/>
              </a:rPr>
              <a:t>• Environment: HandReachDense-v3
</a:t>
            </a:r>
            <a:endParaRPr lang="en-US" sz="2300" dirty="0"/>
          </a:p>
          <a:p>
            <a:pPr indent="0" marL="0">
              <a:buNone/>
            </a:pPr>
            <a:r>
              <a:rPr lang="en-US" sz="2300" dirty="0">
                <a:solidFill>
                  <a:srgbClr val="111111"/>
                </a:solidFill>
                <a:latin typeface="Calibri" pitchFamily="34" charset="0"/>
                <a:ea typeface="Calibri" pitchFamily="34" charset="-122"/>
                <a:cs typeface="Calibri" pitchFamily="34" charset="-120"/>
              </a:rPr>
              <a:t>• Simulator: MuJoCo
</a:t>
            </a:r>
            <a:endParaRPr lang="en-US" sz="2300" dirty="0"/>
          </a:p>
          <a:p>
            <a:pPr indent="0" marL="0">
              <a:buNone/>
            </a:pPr>
            <a:r>
              <a:rPr lang="en-US" sz="2300" dirty="0">
                <a:solidFill>
                  <a:srgbClr val="111111"/>
                </a:solidFill>
                <a:latin typeface="Calibri" pitchFamily="34" charset="0"/>
                <a:ea typeface="Calibri" pitchFamily="34" charset="-122"/>
                <a:cs typeface="Calibri" pitchFamily="34" charset="-120"/>
              </a:rPr>
              <a:t>• Task: move fingertips toward target spheres
</a:t>
            </a:r>
            <a:endParaRPr lang="en-US" sz="2300" dirty="0"/>
          </a:p>
          <a:p>
            <a:pPr indent="0" marL="0">
              <a:buNone/>
            </a:pPr>
            <a:r>
              <a:rPr lang="en-US" sz="2300" dirty="0">
                <a:solidFill>
                  <a:srgbClr val="111111"/>
                </a:solidFill>
                <a:latin typeface="Calibri" pitchFamily="34" charset="0"/>
                <a:ea typeface="Calibri" pitchFamily="34" charset="-122"/>
                <a:cs typeface="Calibri" pitchFamily="34" charset="-120"/>
              </a:rPr>
              <a:t>• Reward: dense distance-based feedback</a:t>
            </a:r>
            <a:endParaRPr lang="en-US" sz="2300" dirty="0"/>
          </a:p>
        </p:txBody>
      </p:sp>
      <p:sp>
        <p:nvSpPr>
          <p:cNvPr id="6" name="Text 3"/>
          <p:cNvSpPr/>
          <p:nvPr/>
        </p:nvSpPr>
        <p:spPr>
          <a:xfrm>
            <a:off x="9144000" y="7635240"/>
            <a:ext cx="7955280" cy="292608"/>
          </a:xfrm>
          <a:prstGeom prst="rect">
            <a:avLst/>
          </a:prstGeom>
          <a:noFill/>
          <a:ln/>
        </p:spPr>
        <p:txBody>
          <a:bodyPr wrap="square" lIns="0" tIns="0" rIns="0" bIns="0" rtlCol="0" anchor="ctr">
            <a:normAutofit/>
          </a:bodyPr>
          <a:lstStyle/>
          <a:p>
            <a:pPr indent="0" marL="0">
              <a:buNone/>
            </a:pPr>
            <a:r>
              <a:rPr lang="en-US" sz="1600" i="1" dirty="0">
                <a:solidFill>
                  <a:srgbClr val="444444"/>
                </a:solidFill>
                <a:latin typeface="Calibri" pitchFamily="34" charset="0"/>
                <a:ea typeface="Calibri" pitchFamily="34" charset="-122"/>
                <a:cs typeface="Calibri" pitchFamily="34" charset="-120"/>
              </a:rPr>
              <a:t>Colored targets show the desired fingertip positions.</a:t>
            </a:r>
            <a:endParaRPr lang="en-US" sz="1600" dirty="0"/>
          </a:p>
        </p:txBody>
      </p:sp>
      <p:sp>
        <p:nvSpPr>
          <p:cNvPr id="7" name="Text 4"/>
          <p:cNvSpPr/>
          <p:nvPr/>
        </p:nvSpPr>
        <p:spPr>
          <a:xfrm>
            <a:off x="15361920" y="9802368"/>
            <a:ext cx="1920240" cy="256032"/>
          </a:xfrm>
          <a:prstGeom prst="rect">
            <a:avLst/>
          </a:prstGeom>
          <a:noFill/>
          <a:ln/>
        </p:spPr>
        <p:txBody>
          <a:bodyPr wrap="square" lIns="0" tIns="0" rIns="0" bIns="0" rtlCol="0" anchor="ctr"/>
          <a:lstStyle/>
          <a:p>
            <a:pPr algn="r" indent="0" marL="0">
              <a:buNone/>
            </a:pPr>
            <a:r>
              <a:rPr lang="en-US" sz="1100" dirty="0">
                <a:solidFill>
                  <a:srgbClr val="777777"/>
                </a:solidFill>
              </a:rPr>
              <a:t>Week 18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005840" y="502920"/>
            <a:ext cx="16276320" cy="502920"/>
          </a:xfrm>
          <a:prstGeom prst="rect">
            <a:avLst/>
          </a:prstGeom>
          <a:noFill/>
          <a:ln/>
        </p:spPr>
        <p:txBody>
          <a:bodyPr wrap="square" lIns="0" tIns="0" rIns="0" bIns="0" rtlCol="0" anchor="ctr">
            <a:normAutofit/>
          </a:bodyPr>
          <a:lstStyle/>
          <a:p>
            <a:pPr indent="0" marL="0">
              <a:buNone/>
            </a:pPr>
            <a:r>
              <a:rPr lang="en-US" sz="3100" b="1" dirty="0">
                <a:solidFill>
                  <a:srgbClr val="111111"/>
                </a:solidFill>
                <a:latin typeface="Calibri" pitchFamily="34" charset="0"/>
                <a:ea typeface="Calibri" pitchFamily="34" charset="-122"/>
                <a:cs typeface="Calibri" pitchFamily="34" charset="-120"/>
              </a:rPr>
              <a:t>The policy was trained with SAC using dictionary observations.</a:t>
            </a:r>
            <a:endParaRPr lang="en-US" sz="3100" dirty="0"/>
          </a:p>
        </p:txBody>
      </p:sp>
      <p:sp>
        <p:nvSpPr>
          <p:cNvPr id="3" name="Text 1"/>
          <p:cNvSpPr/>
          <p:nvPr/>
        </p:nvSpPr>
        <p:spPr>
          <a:xfrm>
            <a:off x="1188720" y="1508760"/>
            <a:ext cx="15910560" cy="2743200"/>
          </a:xfrm>
          <a:prstGeom prst="rect">
            <a:avLst/>
          </a:prstGeom>
          <a:noFill/>
          <a:ln/>
        </p:spPr>
        <p:txBody>
          <a:bodyPr wrap="square" lIns="254" tIns="254" rIns="254" bIns="254" rtlCol="0" anchor="ctr">
            <a:normAutofit/>
          </a:bodyPr>
          <a:lstStyle/>
          <a:p>
            <a:pPr indent="0" marL="0">
              <a:buNone/>
            </a:pPr>
            <a:r>
              <a:rPr lang="en-US" sz="2600" dirty="0">
                <a:solidFill>
                  <a:srgbClr val="111111"/>
                </a:solidFill>
                <a:latin typeface="Calibri" pitchFamily="34" charset="0"/>
                <a:ea typeface="Calibri" pitchFamily="34" charset="-122"/>
                <a:cs typeface="Calibri" pitchFamily="34" charset="-120"/>
              </a:rPr>
              <a:t>Because the environment observation includes regular observations, achieved goals, and desired goals, I used a MultiInputPolicy. The training was kept small so it could run on CPU, but it was enough to confirm that the policy started learning meaningful finger movement.</a:t>
            </a:r>
            <a:endParaRPr lang="en-US" sz="2600" dirty="0"/>
          </a:p>
        </p:txBody>
      </p:sp>
      <p:sp>
        <p:nvSpPr>
          <p:cNvPr id="4" name="Text 2"/>
          <p:cNvSpPr/>
          <p:nvPr/>
        </p:nvSpPr>
        <p:spPr>
          <a:xfrm>
            <a:off x="2286000" y="4663440"/>
            <a:ext cx="13716000" cy="2926080"/>
          </a:xfrm>
          <a:prstGeom prst="rect">
            <a:avLst/>
          </a:prstGeom>
          <a:noFill/>
          <a:ln/>
        </p:spPr>
        <p:txBody>
          <a:bodyPr wrap="square" lIns="635" tIns="635" rIns="635" bIns="635" rtlCol="0" anchor="t">
            <a:normAutofit/>
          </a:bodyPr>
          <a:lstStyle/>
          <a:p>
            <a:r>
              <a:rPr lang="en-US" sz="2600" dirty="0">
                <a:solidFill>
                  <a:srgbClr val="111111"/>
                </a:solidFill>
                <a:latin typeface="Calibri" pitchFamily="34" charset="0"/>
                <a:ea typeface="Calibri" pitchFamily="34" charset="-122"/>
                <a:cs typeface="Calibri" pitchFamily="34" charset="-120"/>
              </a:rPr>
              <a:t>• Algorithm: Soft Actor-Critic (SAC)
</a:t>
            </a:r>
            <a:endParaRPr lang="en-US" sz="2600" dirty="0"/>
          </a:p>
          <a:p>
            <a:pPr indent="0" marL="0">
              <a:buNone/>
            </a:pPr>
            <a:r>
              <a:rPr lang="en-US" sz="2600" dirty="0">
                <a:solidFill>
                  <a:srgbClr val="111111"/>
                </a:solidFill>
                <a:latin typeface="Calibri" pitchFamily="34" charset="0"/>
                <a:ea typeface="Calibri" pitchFamily="34" charset="-122"/>
                <a:cs typeface="Calibri" pitchFamily="34" charset="-120"/>
              </a:rPr>
              <a:t>• Policy type: MultiInputPolicy
</a:t>
            </a:r>
            <a:endParaRPr lang="en-US" sz="2600" dirty="0"/>
          </a:p>
          <a:p>
            <a:pPr indent="0" marL="0">
              <a:buNone/>
            </a:pPr>
            <a:r>
              <a:rPr lang="en-US" sz="2600" dirty="0">
                <a:solidFill>
                  <a:srgbClr val="111111"/>
                </a:solidFill>
                <a:latin typeface="Calibri" pitchFamily="34" charset="0"/>
                <a:ea typeface="Calibri" pitchFamily="34" charset="-122"/>
                <a:cs typeface="Calibri" pitchFamily="34" charset="-120"/>
              </a:rPr>
              <a:t>• Training length: 200,000 timesteps
</a:t>
            </a:r>
            <a:endParaRPr lang="en-US" sz="2600" dirty="0"/>
          </a:p>
          <a:p>
            <a:pPr indent="0" marL="0">
              <a:buNone/>
            </a:pPr>
            <a:r>
              <a:rPr lang="en-US" sz="2600" dirty="0">
                <a:solidFill>
                  <a:srgbClr val="111111"/>
                </a:solidFill>
                <a:latin typeface="Calibri" pitchFamily="34" charset="0"/>
                <a:ea typeface="Calibri" pitchFamily="34" charset="-122"/>
                <a:cs typeface="Calibri" pitchFamily="34" charset="-120"/>
              </a:rPr>
              <a:t>• Episode length: 50 steps
</a:t>
            </a:r>
            <a:endParaRPr lang="en-US" sz="2600" dirty="0"/>
          </a:p>
          <a:p>
            <a:pPr indent="0" marL="0">
              <a:buNone/>
            </a:pPr>
            <a:r>
              <a:rPr lang="en-US" sz="2600" dirty="0">
                <a:solidFill>
                  <a:srgbClr val="111111"/>
                </a:solidFill>
                <a:latin typeface="Calibri" pitchFamily="34" charset="0"/>
                <a:ea typeface="Calibri" pitchFamily="34" charset="-122"/>
                <a:cs typeface="Calibri" pitchFamily="34" charset="-120"/>
              </a:rPr>
              <a:t>• Hardware limitation: CPU training on Mac</a:t>
            </a:r>
            <a:endParaRPr lang="en-US" sz="2600" dirty="0"/>
          </a:p>
        </p:txBody>
      </p:sp>
      <p:sp>
        <p:nvSpPr>
          <p:cNvPr id="5" name="Text 3"/>
          <p:cNvSpPr/>
          <p:nvPr/>
        </p:nvSpPr>
        <p:spPr>
          <a:xfrm>
            <a:off x="15361920" y="9802368"/>
            <a:ext cx="1920240" cy="256032"/>
          </a:xfrm>
          <a:prstGeom prst="rect">
            <a:avLst/>
          </a:prstGeom>
          <a:noFill/>
          <a:ln/>
        </p:spPr>
        <p:txBody>
          <a:bodyPr wrap="square" lIns="0" tIns="0" rIns="0" bIns="0" rtlCol="0" anchor="ctr"/>
          <a:lstStyle/>
          <a:p>
            <a:pPr algn="r" indent="0" marL="0">
              <a:buNone/>
            </a:pPr>
            <a:r>
              <a:rPr lang="en-US" sz="1100" dirty="0">
                <a:solidFill>
                  <a:srgbClr val="777777"/>
                </a:solidFill>
              </a:rPr>
              <a:t>Week 18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005840" y="502920"/>
            <a:ext cx="16276320" cy="502920"/>
          </a:xfrm>
          <a:prstGeom prst="rect">
            <a:avLst/>
          </a:prstGeom>
          <a:noFill/>
          <a:ln/>
        </p:spPr>
        <p:txBody>
          <a:bodyPr wrap="square" lIns="0" tIns="0" rIns="0" bIns="0" rtlCol="0" anchor="ctr">
            <a:normAutofit/>
          </a:bodyPr>
          <a:lstStyle/>
          <a:p>
            <a:pPr indent="0" marL="0">
              <a:buNone/>
            </a:pPr>
            <a:r>
              <a:rPr lang="en-US" sz="3100" b="1" dirty="0">
                <a:solidFill>
                  <a:srgbClr val="111111"/>
                </a:solidFill>
                <a:latin typeface="Calibri" pitchFamily="34" charset="0"/>
                <a:ea typeface="Calibri" pitchFamily="34" charset="-122"/>
                <a:cs typeface="Calibri" pitchFamily="34" charset="-120"/>
              </a:rPr>
              <a:t>At 200,000 timesteps, the evaluation reached a 40% success rate.</a:t>
            </a:r>
            <a:endParaRPr lang="en-US" sz="3100" dirty="0"/>
          </a:p>
        </p:txBody>
      </p:sp>
      <p:pic>
        <p:nvPicPr>
          <p:cNvPr id="3" name="Image 0" descr="/mnt/data/Screenshot 2026-06-22 at 5.04.55 PM.png">    </p:cNvPr>
          <p:cNvPicPr>
            <a:picLocks noChangeAspect="1"/>
          </p:cNvPicPr>
          <p:nvPr/>
        </p:nvPicPr>
        <p:blipFill>
          <a:blip r:embed="rId1"/>
          <a:srcRect l="0" r="0" t="10786" b="10786"/>
          <a:stretch/>
        </p:blipFill>
        <p:spPr>
          <a:xfrm>
            <a:off x="868680" y="1417320"/>
            <a:ext cx="9875520" cy="7818120"/>
          </a:xfrm>
          <a:prstGeom prst="rect">
            <a:avLst/>
          </a:prstGeom>
        </p:spPr>
      </p:pic>
      <p:sp>
        <p:nvSpPr>
          <p:cNvPr id="4" name="Text 1"/>
          <p:cNvSpPr/>
          <p:nvPr/>
        </p:nvSpPr>
        <p:spPr>
          <a:xfrm>
            <a:off x="11201400" y="2011680"/>
            <a:ext cx="2331720" cy="457200"/>
          </a:xfrm>
          <a:prstGeom prst="rect">
            <a:avLst/>
          </a:prstGeom>
          <a:noFill/>
          <a:ln/>
        </p:spPr>
        <p:txBody>
          <a:bodyPr wrap="square" lIns="0" tIns="0" rIns="0" bIns="0" rtlCol="0" anchor="ctr">
            <a:normAutofit/>
          </a:bodyPr>
          <a:lstStyle/>
          <a:p>
            <a:pPr algn="ctr" indent="0" marL="0">
              <a:buNone/>
            </a:pPr>
            <a:r>
              <a:rPr lang="en-US" sz="2700" b="1" dirty="0">
                <a:solidFill>
                  <a:srgbClr val="2E7D32"/>
                </a:solidFill>
              </a:rPr>
              <a:t>40%</a:t>
            </a:r>
            <a:endParaRPr lang="en-US" sz="2700" dirty="0"/>
          </a:p>
        </p:txBody>
      </p:sp>
      <p:sp>
        <p:nvSpPr>
          <p:cNvPr id="5" name="Text 2"/>
          <p:cNvSpPr/>
          <p:nvPr/>
        </p:nvSpPr>
        <p:spPr>
          <a:xfrm>
            <a:off x="11201400" y="2523744"/>
            <a:ext cx="2331720" cy="457200"/>
          </a:xfrm>
          <a:prstGeom prst="rect">
            <a:avLst/>
          </a:prstGeom>
          <a:noFill/>
          <a:ln/>
        </p:spPr>
        <p:txBody>
          <a:bodyPr wrap="square" lIns="0" tIns="0" rIns="0" bIns="0" rtlCol="0" anchor="ctr">
            <a:normAutofit/>
          </a:bodyPr>
          <a:lstStyle/>
          <a:p>
            <a:pPr algn="ctr" indent="0" marL="0">
              <a:buNone/>
            </a:pPr>
            <a:r>
              <a:rPr lang="en-US" sz="1400" dirty="0">
                <a:solidFill>
                  <a:srgbClr val="444444"/>
                </a:solidFill>
              </a:rPr>
              <a:t>eval success rate</a:t>
            </a:r>
            <a:endParaRPr lang="en-US" sz="1400" dirty="0"/>
          </a:p>
        </p:txBody>
      </p:sp>
      <p:sp>
        <p:nvSpPr>
          <p:cNvPr id="6" name="Text 3"/>
          <p:cNvSpPr/>
          <p:nvPr/>
        </p:nvSpPr>
        <p:spPr>
          <a:xfrm>
            <a:off x="13944600" y="2011680"/>
            <a:ext cx="2331720" cy="457200"/>
          </a:xfrm>
          <a:prstGeom prst="rect">
            <a:avLst/>
          </a:prstGeom>
          <a:noFill/>
          <a:ln/>
        </p:spPr>
        <p:txBody>
          <a:bodyPr wrap="square" lIns="0" tIns="0" rIns="0" bIns="0" rtlCol="0" anchor="ctr">
            <a:normAutofit/>
          </a:bodyPr>
          <a:lstStyle/>
          <a:p>
            <a:pPr algn="ctr" indent="0" marL="0">
              <a:buNone/>
            </a:pPr>
            <a:r>
              <a:rPr lang="en-US" sz="2700" b="1" dirty="0">
                <a:solidFill>
                  <a:srgbClr val="1F4E79"/>
                </a:solidFill>
              </a:rPr>
              <a:t>-0.682</a:t>
            </a:r>
            <a:endParaRPr lang="en-US" sz="2700" dirty="0"/>
          </a:p>
        </p:txBody>
      </p:sp>
      <p:sp>
        <p:nvSpPr>
          <p:cNvPr id="7" name="Text 4"/>
          <p:cNvSpPr/>
          <p:nvPr/>
        </p:nvSpPr>
        <p:spPr>
          <a:xfrm>
            <a:off x="13944600" y="2523744"/>
            <a:ext cx="2331720" cy="457200"/>
          </a:xfrm>
          <a:prstGeom prst="rect">
            <a:avLst/>
          </a:prstGeom>
          <a:noFill/>
          <a:ln/>
        </p:spPr>
        <p:txBody>
          <a:bodyPr wrap="square" lIns="0" tIns="0" rIns="0" bIns="0" rtlCol="0" anchor="ctr">
            <a:normAutofit/>
          </a:bodyPr>
          <a:lstStyle/>
          <a:p>
            <a:pPr algn="ctr" indent="0" marL="0">
              <a:buNone/>
            </a:pPr>
            <a:r>
              <a:rPr lang="en-US" sz="1400" dirty="0">
                <a:solidFill>
                  <a:srgbClr val="444444"/>
                </a:solidFill>
              </a:rPr>
              <a:t>mean reward</a:t>
            </a:r>
            <a:endParaRPr lang="en-US" sz="1400" dirty="0"/>
          </a:p>
        </p:txBody>
      </p:sp>
      <p:sp>
        <p:nvSpPr>
          <p:cNvPr id="8" name="Text 5"/>
          <p:cNvSpPr/>
          <p:nvPr/>
        </p:nvSpPr>
        <p:spPr>
          <a:xfrm>
            <a:off x="11201400" y="3703320"/>
            <a:ext cx="2331720" cy="457200"/>
          </a:xfrm>
          <a:prstGeom prst="rect">
            <a:avLst/>
          </a:prstGeom>
          <a:noFill/>
          <a:ln/>
        </p:spPr>
        <p:txBody>
          <a:bodyPr wrap="square" lIns="0" tIns="0" rIns="0" bIns="0" rtlCol="0" anchor="ctr">
            <a:normAutofit/>
          </a:bodyPr>
          <a:lstStyle/>
          <a:p>
            <a:pPr algn="ctr" indent="0" marL="0">
              <a:buNone/>
            </a:pPr>
            <a:r>
              <a:rPr lang="en-US" sz="2700" b="1" dirty="0">
                <a:solidFill>
                  <a:srgbClr val="1F4E79"/>
                </a:solidFill>
              </a:rPr>
              <a:t>50</a:t>
            </a:r>
            <a:endParaRPr lang="en-US" sz="2700" dirty="0"/>
          </a:p>
        </p:txBody>
      </p:sp>
      <p:sp>
        <p:nvSpPr>
          <p:cNvPr id="9" name="Text 6"/>
          <p:cNvSpPr/>
          <p:nvPr/>
        </p:nvSpPr>
        <p:spPr>
          <a:xfrm>
            <a:off x="11201400" y="4215384"/>
            <a:ext cx="2331720" cy="457200"/>
          </a:xfrm>
          <a:prstGeom prst="rect">
            <a:avLst/>
          </a:prstGeom>
          <a:noFill/>
          <a:ln/>
        </p:spPr>
        <p:txBody>
          <a:bodyPr wrap="square" lIns="0" tIns="0" rIns="0" bIns="0" rtlCol="0" anchor="ctr">
            <a:normAutofit/>
          </a:bodyPr>
          <a:lstStyle/>
          <a:p>
            <a:pPr algn="ctr" indent="0" marL="0">
              <a:buNone/>
            </a:pPr>
            <a:r>
              <a:rPr lang="en-US" sz="1400" dirty="0">
                <a:solidFill>
                  <a:srgbClr val="444444"/>
                </a:solidFill>
              </a:rPr>
              <a:t>episode length</a:t>
            </a:r>
            <a:endParaRPr lang="en-US" sz="1400" dirty="0"/>
          </a:p>
        </p:txBody>
      </p:sp>
      <p:sp>
        <p:nvSpPr>
          <p:cNvPr id="10" name="Text 7"/>
          <p:cNvSpPr/>
          <p:nvPr/>
        </p:nvSpPr>
        <p:spPr>
          <a:xfrm>
            <a:off x="13944600" y="3703320"/>
            <a:ext cx="2331720" cy="457200"/>
          </a:xfrm>
          <a:prstGeom prst="rect">
            <a:avLst/>
          </a:prstGeom>
          <a:noFill/>
          <a:ln/>
        </p:spPr>
        <p:txBody>
          <a:bodyPr wrap="square" lIns="0" tIns="0" rIns="0" bIns="0" rtlCol="0" anchor="ctr">
            <a:normAutofit/>
          </a:bodyPr>
          <a:lstStyle/>
          <a:p>
            <a:pPr algn="ctr" indent="0" marL="0">
              <a:buNone/>
            </a:pPr>
            <a:r>
              <a:rPr lang="en-US" sz="2700" b="1" dirty="0">
                <a:solidFill>
                  <a:srgbClr val="1F4E79"/>
                </a:solidFill>
              </a:rPr>
              <a:t>200k</a:t>
            </a:r>
            <a:endParaRPr lang="en-US" sz="2700" dirty="0"/>
          </a:p>
        </p:txBody>
      </p:sp>
      <p:sp>
        <p:nvSpPr>
          <p:cNvPr id="11" name="Text 8"/>
          <p:cNvSpPr/>
          <p:nvPr/>
        </p:nvSpPr>
        <p:spPr>
          <a:xfrm>
            <a:off x="13944600" y="4215384"/>
            <a:ext cx="2331720" cy="457200"/>
          </a:xfrm>
          <a:prstGeom prst="rect">
            <a:avLst/>
          </a:prstGeom>
          <a:noFill/>
          <a:ln/>
        </p:spPr>
        <p:txBody>
          <a:bodyPr wrap="square" lIns="0" tIns="0" rIns="0" bIns="0" rtlCol="0" anchor="ctr">
            <a:normAutofit/>
          </a:bodyPr>
          <a:lstStyle/>
          <a:p>
            <a:pPr algn="ctr" indent="0" marL="0">
              <a:buNone/>
            </a:pPr>
            <a:r>
              <a:rPr lang="en-US" sz="1400" dirty="0">
                <a:solidFill>
                  <a:srgbClr val="444444"/>
                </a:solidFill>
              </a:rPr>
              <a:t>timesteps</a:t>
            </a:r>
            <a:endParaRPr lang="en-US" sz="1400" dirty="0"/>
          </a:p>
        </p:txBody>
      </p:sp>
      <p:sp>
        <p:nvSpPr>
          <p:cNvPr id="12" name="Text 9"/>
          <p:cNvSpPr/>
          <p:nvPr/>
        </p:nvSpPr>
        <p:spPr>
          <a:xfrm>
            <a:off x="10972800" y="5532120"/>
            <a:ext cx="5669280" cy="2377440"/>
          </a:xfrm>
          <a:prstGeom prst="rect">
            <a:avLst/>
          </a:prstGeom>
          <a:noFill/>
          <a:ln/>
        </p:spPr>
        <p:txBody>
          <a:bodyPr wrap="square" lIns="254" tIns="254" rIns="254" bIns="254" rtlCol="0" anchor="ctr">
            <a:normAutofit/>
          </a:bodyPr>
          <a:lstStyle/>
          <a:p>
            <a:pPr indent="0" marL="0">
              <a:buNone/>
            </a:pPr>
            <a:r>
              <a:rPr lang="en-US" sz="2100" dirty="0">
                <a:solidFill>
                  <a:srgbClr val="111111"/>
                </a:solidFill>
                <a:latin typeface="Calibri" pitchFamily="34" charset="0"/>
                <a:ea typeface="Calibri" pitchFamily="34" charset="-122"/>
                <a:cs typeface="Calibri" pitchFamily="34" charset="-120"/>
              </a:rPr>
              <a:t>The best evaluation result showed a mean reward of about −0.68 and a 40% success rate. The rollout success rate was still lower, which means the policy learned some correct behavior but was not yet fully stable across every episode.</a:t>
            </a:r>
            <a:endParaRPr lang="en-US" sz="2100" dirty="0"/>
          </a:p>
        </p:txBody>
      </p:sp>
      <p:sp>
        <p:nvSpPr>
          <p:cNvPr id="13" name="Text 10"/>
          <p:cNvSpPr/>
          <p:nvPr/>
        </p:nvSpPr>
        <p:spPr>
          <a:xfrm>
            <a:off x="914400" y="9400032"/>
            <a:ext cx="9601200" cy="274320"/>
          </a:xfrm>
          <a:prstGeom prst="rect">
            <a:avLst/>
          </a:prstGeom>
          <a:noFill/>
          <a:ln/>
        </p:spPr>
        <p:txBody>
          <a:bodyPr wrap="square" lIns="0" tIns="0" rIns="0" bIns="0" rtlCol="0" anchor="ctr">
            <a:normAutofit/>
          </a:bodyPr>
          <a:lstStyle/>
          <a:p>
            <a:pPr indent="0" marL="0">
              <a:buNone/>
            </a:pPr>
            <a:r>
              <a:rPr lang="en-US" sz="1600" i="1" dirty="0">
                <a:solidFill>
                  <a:srgbClr val="444444"/>
                </a:solidFill>
                <a:latin typeface="Calibri" pitchFamily="34" charset="0"/>
                <a:ea typeface="Calibri" pitchFamily="34" charset="-122"/>
                <a:cs typeface="Calibri" pitchFamily="34" charset="-120"/>
              </a:rPr>
              <a:t>Training terminal output showing evaluation metrics after 200,000 timesteps.</a:t>
            </a:r>
            <a:endParaRPr lang="en-US" sz="1600" dirty="0"/>
          </a:p>
        </p:txBody>
      </p:sp>
      <p:sp>
        <p:nvSpPr>
          <p:cNvPr id="14" name="Text 11"/>
          <p:cNvSpPr/>
          <p:nvPr/>
        </p:nvSpPr>
        <p:spPr>
          <a:xfrm>
            <a:off x="15361920" y="9802368"/>
            <a:ext cx="1920240" cy="256032"/>
          </a:xfrm>
          <a:prstGeom prst="rect">
            <a:avLst/>
          </a:prstGeom>
          <a:noFill/>
          <a:ln/>
        </p:spPr>
        <p:txBody>
          <a:bodyPr wrap="square" lIns="0" tIns="0" rIns="0" bIns="0" rtlCol="0" anchor="ctr"/>
          <a:lstStyle/>
          <a:p>
            <a:pPr algn="r" indent="0" marL="0">
              <a:buNone/>
            </a:pPr>
            <a:r>
              <a:rPr lang="en-US" sz="1100" dirty="0">
                <a:solidFill>
                  <a:srgbClr val="777777"/>
                </a:solidFill>
              </a:rPr>
              <a:t>Week 18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005840" y="502920"/>
            <a:ext cx="16276320" cy="502920"/>
          </a:xfrm>
          <a:prstGeom prst="rect">
            <a:avLst/>
          </a:prstGeom>
          <a:noFill/>
          <a:ln/>
        </p:spPr>
        <p:txBody>
          <a:bodyPr wrap="square" lIns="0" tIns="0" rIns="0" bIns="0" rtlCol="0" anchor="ctr">
            <a:normAutofit/>
          </a:bodyPr>
          <a:lstStyle/>
          <a:p>
            <a:pPr indent="0" marL="0">
              <a:buNone/>
            </a:pPr>
            <a:r>
              <a:rPr lang="en-US" sz="3100" b="1" dirty="0">
                <a:solidFill>
                  <a:srgbClr val="111111"/>
                </a:solidFill>
                <a:latin typeface="Calibri" pitchFamily="34" charset="0"/>
                <a:ea typeface="Calibri" pitchFamily="34" charset="-122"/>
                <a:cs typeface="Calibri" pitchFamily="34" charset="-120"/>
              </a:rPr>
              <a:t>Policy visualization: the hand begins coordinating finger motion.</a:t>
            </a:r>
            <a:endParaRPr lang="en-US" sz="31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566160" y="1298448"/>
            <a:ext cx="11155680" cy="8485632"/>
          </a:xfrm>
          <a:prstGeom prst="rect">
            <a:avLst/>
          </a:prstGeom>
        </p:spPr>
      </p:pic>
      <p:sp>
        <p:nvSpPr>
          <p:cNvPr id="4" name="Text 1"/>
          <p:cNvSpPr/>
          <p:nvPr/>
        </p:nvSpPr>
        <p:spPr>
          <a:xfrm>
            <a:off x="3566160" y="9875520"/>
            <a:ext cx="11155680" cy="219456"/>
          </a:xfrm>
          <a:prstGeom prst="rect">
            <a:avLst/>
          </a:prstGeom>
          <a:noFill/>
          <a:ln/>
        </p:spPr>
        <p:txBody>
          <a:bodyPr wrap="square" lIns="0" tIns="0" rIns="0" bIns="0" rtlCol="0" anchor="ctr">
            <a:normAutofit/>
          </a:bodyPr>
          <a:lstStyle/>
          <a:p>
            <a:pPr indent="0" marL="0">
              <a:buNone/>
            </a:pPr>
            <a:r>
              <a:rPr lang="en-US" sz="1600" i="1" dirty="0">
                <a:solidFill>
                  <a:srgbClr val="444444"/>
                </a:solidFill>
                <a:latin typeface="Calibri" pitchFamily="34" charset="0"/>
                <a:ea typeface="Calibri" pitchFamily="34" charset="-122"/>
                <a:cs typeface="Calibri" pitchFamily="34" charset="-120"/>
              </a:rPr>
              <a:t>Video 1: MuJoCo playback showing the robotic hand moving the fingers toward the targets.</a:t>
            </a:r>
            <a:endParaRPr lang="en-US" sz="1600" dirty="0"/>
          </a:p>
        </p:txBody>
      </p:sp>
      <p:sp>
        <p:nvSpPr>
          <p:cNvPr id="5" name="Text 2"/>
          <p:cNvSpPr/>
          <p:nvPr/>
        </p:nvSpPr>
        <p:spPr>
          <a:xfrm>
            <a:off x="15361920" y="9802368"/>
            <a:ext cx="1920240" cy="256032"/>
          </a:xfrm>
          <a:prstGeom prst="rect">
            <a:avLst/>
          </a:prstGeom>
          <a:noFill/>
          <a:ln/>
        </p:spPr>
        <p:txBody>
          <a:bodyPr wrap="square" lIns="0" tIns="0" rIns="0" bIns="0" rtlCol="0" anchor="ctr"/>
          <a:lstStyle/>
          <a:p>
            <a:pPr algn="r" indent="0" marL="0">
              <a:buNone/>
            </a:pPr>
            <a:r>
              <a:rPr lang="en-US" sz="1100" dirty="0">
                <a:solidFill>
                  <a:srgbClr val="777777"/>
                </a:solidFill>
              </a:rPr>
              <a:t>Week 18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005840" y="502920"/>
            <a:ext cx="16276320" cy="502920"/>
          </a:xfrm>
          <a:prstGeom prst="rect">
            <a:avLst/>
          </a:prstGeom>
          <a:noFill/>
          <a:ln/>
        </p:spPr>
        <p:txBody>
          <a:bodyPr wrap="square" lIns="0" tIns="0" rIns="0" bIns="0" rtlCol="0" anchor="ctr">
            <a:normAutofit/>
          </a:bodyPr>
          <a:lstStyle/>
          <a:p>
            <a:pPr indent="0" marL="0">
              <a:buNone/>
            </a:pPr>
            <a:r>
              <a:rPr lang="en-US" sz="3100" b="1" dirty="0">
                <a:solidFill>
                  <a:srgbClr val="111111"/>
                </a:solidFill>
                <a:latin typeface="Calibri" pitchFamily="34" charset="0"/>
                <a:ea typeface="Calibri" pitchFamily="34" charset="-122"/>
                <a:cs typeface="Calibri" pitchFamily="34" charset="-120"/>
              </a:rPr>
              <a:t>A longer playback shows the trained hand continuing to track fingertip goals.</a:t>
            </a:r>
            <a:endParaRPr lang="en-US" sz="31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566160" y="1298448"/>
            <a:ext cx="11155680" cy="8485632"/>
          </a:xfrm>
          <a:prstGeom prst="rect">
            <a:avLst/>
          </a:prstGeom>
        </p:spPr>
      </p:pic>
      <p:sp>
        <p:nvSpPr>
          <p:cNvPr id="4" name="Text 1"/>
          <p:cNvSpPr/>
          <p:nvPr/>
        </p:nvSpPr>
        <p:spPr>
          <a:xfrm>
            <a:off x="4160520" y="9875520"/>
            <a:ext cx="10058400" cy="219456"/>
          </a:xfrm>
          <a:prstGeom prst="rect">
            <a:avLst/>
          </a:prstGeom>
          <a:noFill/>
          <a:ln/>
        </p:spPr>
        <p:txBody>
          <a:bodyPr wrap="square" lIns="0" tIns="0" rIns="0" bIns="0" rtlCol="0" anchor="ctr">
            <a:normAutofit/>
          </a:bodyPr>
          <a:lstStyle/>
          <a:p>
            <a:pPr indent="0" marL="0">
              <a:buNone/>
            </a:pPr>
            <a:r>
              <a:rPr lang="en-US" sz="1600" i="1" dirty="0">
                <a:solidFill>
                  <a:srgbClr val="444444"/>
                </a:solidFill>
                <a:latin typeface="Calibri" pitchFamily="34" charset="0"/>
                <a:ea typeface="Calibri" pitchFamily="34" charset="-122"/>
                <a:cs typeface="Calibri" pitchFamily="34" charset="-120"/>
              </a:rPr>
              <a:t>Video 2: trained policy behavior during a longer hand reach rollout.</a:t>
            </a:r>
            <a:endParaRPr lang="en-US" sz="1600" dirty="0"/>
          </a:p>
        </p:txBody>
      </p:sp>
      <p:sp>
        <p:nvSpPr>
          <p:cNvPr id="5" name="Text 2"/>
          <p:cNvSpPr/>
          <p:nvPr/>
        </p:nvSpPr>
        <p:spPr>
          <a:xfrm>
            <a:off x="15361920" y="9802368"/>
            <a:ext cx="1920240" cy="256032"/>
          </a:xfrm>
          <a:prstGeom prst="rect">
            <a:avLst/>
          </a:prstGeom>
          <a:noFill/>
          <a:ln/>
        </p:spPr>
        <p:txBody>
          <a:bodyPr wrap="square" lIns="0" tIns="0" rIns="0" bIns="0" rtlCol="0" anchor="ctr"/>
          <a:lstStyle/>
          <a:p>
            <a:pPr algn="r" indent="0" marL="0">
              <a:buNone/>
            </a:pPr>
            <a:r>
              <a:rPr lang="en-US" sz="1100" dirty="0">
                <a:solidFill>
                  <a:srgbClr val="777777"/>
                </a:solidFill>
              </a:rPr>
              <a:t>Week 18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005840" y="502920"/>
            <a:ext cx="16276320" cy="502920"/>
          </a:xfrm>
          <a:prstGeom prst="rect">
            <a:avLst/>
          </a:prstGeom>
          <a:noFill/>
          <a:ln/>
        </p:spPr>
        <p:txBody>
          <a:bodyPr wrap="square" lIns="0" tIns="0" rIns="0" bIns="0" rtlCol="0" anchor="ctr">
            <a:normAutofit/>
          </a:bodyPr>
          <a:lstStyle/>
          <a:p>
            <a:pPr indent="0" marL="0">
              <a:buNone/>
            </a:pPr>
            <a:r>
              <a:rPr lang="en-US" sz="3100" b="1" dirty="0">
                <a:solidFill>
                  <a:srgbClr val="111111"/>
                </a:solidFill>
                <a:latin typeface="Calibri" pitchFamily="34" charset="0"/>
                <a:ea typeface="Calibri" pitchFamily="34" charset="-122"/>
                <a:cs typeface="Calibri" pitchFamily="34" charset="-120"/>
              </a:rPr>
              <a:t>The main takeaway is that the hand policy is learning, but it still needs more training.</a:t>
            </a:r>
            <a:endParaRPr lang="en-US" sz="3100" dirty="0"/>
          </a:p>
        </p:txBody>
      </p:sp>
      <p:sp>
        <p:nvSpPr>
          <p:cNvPr id="3" name="Text 1"/>
          <p:cNvSpPr/>
          <p:nvPr/>
        </p:nvSpPr>
        <p:spPr>
          <a:xfrm>
            <a:off x="1234440" y="1463040"/>
            <a:ext cx="15819120" cy="3657600"/>
          </a:xfrm>
          <a:prstGeom prst="rect">
            <a:avLst/>
          </a:prstGeom>
          <a:noFill/>
          <a:ln/>
        </p:spPr>
        <p:txBody>
          <a:bodyPr wrap="square" lIns="254" tIns="254" rIns="254" bIns="254" rtlCol="0" anchor="ctr">
            <a:normAutofit/>
          </a:bodyPr>
          <a:lstStyle/>
          <a:p>
            <a:pPr indent="0" marL="0">
              <a:buNone/>
            </a:pPr>
            <a:r>
              <a:rPr lang="en-US" sz="2700" dirty="0">
                <a:solidFill>
                  <a:srgbClr val="111111"/>
                </a:solidFill>
                <a:latin typeface="Calibri" pitchFamily="34" charset="0"/>
                <a:ea typeface="Calibri" pitchFamily="34" charset="-122"/>
                <a:cs typeface="Calibri" pitchFamily="34" charset="-120"/>
              </a:rPr>
              <a:t>The 40% evaluation success rate shows that the policy is no longer random. It has learned to move several fingertips toward their target positions. However, the difference between evaluation success and rollout success suggests that the behavior is still inconsistent and needs more stable training before moving to object manipulation.</a:t>
            </a:r>
            <a:endParaRPr lang="en-US" sz="2700" dirty="0"/>
          </a:p>
        </p:txBody>
      </p:sp>
      <p:sp>
        <p:nvSpPr>
          <p:cNvPr id="4" name="Text 2"/>
          <p:cNvSpPr/>
          <p:nvPr/>
        </p:nvSpPr>
        <p:spPr>
          <a:xfrm>
            <a:off x="1737360" y="5760720"/>
            <a:ext cx="14996160" cy="2606040"/>
          </a:xfrm>
          <a:prstGeom prst="rect">
            <a:avLst/>
          </a:prstGeom>
          <a:noFill/>
          <a:ln/>
        </p:spPr>
        <p:txBody>
          <a:bodyPr wrap="square" lIns="635" tIns="635" rIns="635" bIns="635" rtlCol="0" anchor="t">
            <a:normAutofit/>
          </a:bodyPr>
          <a:lstStyle/>
          <a:p>
            <a:r>
              <a:rPr lang="en-US" sz="2500" dirty="0">
                <a:solidFill>
                  <a:srgbClr val="111111"/>
                </a:solidFill>
                <a:latin typeface="Calibri" pitchFamily="34" charset="0"/>
                <a:ea typeface="Calibri" pitchFamily="34" charset="-122"/>
                <a:cs typeface="Calibri" pitchFamily="34" charset="-120"/>
              </a:rPr>
              <a:t>• Positive result: the hand can produce coordinated finger movement
</a:t>
            </a:r>
            <a:endParaRPr lang="en-US" sz="2500" dirty="0"/>
          </a:p>
          <a:p>
            <a:pPr indent="0" marL="0">
              <a:buNone/>
            </a:pPr>
            <a:r>
              <a:rPr lang="en-US" sz="2500" dirty="0">
                <a:solidFill>
                  <a:srgbClr val="111111"/>
                </a:solidFill>
                <a:latin typeface="Calibri" pitchFamily="34" charset="0"/>
                <a:ea typeface="Calibri" pitchFamily="34" charset="-122"/>
                <a:cs typeface="Calibri" pitchFamily="34" charset="-120"/>
              </a:rPr>
              <a:t>• Current limitation: behavior is not fully stable across rollouts
</a:t>
            </a:r>
            <a:endParaRPr lang="en-US" sz="2500" dirty="0"/>
          </a:p>
          <a:p>
            <a:pPr indent="0" marL="0">
              <a:buNone/>
            </a:pPr>
            <a:r>
              <a:rPr lang="en-US" sz="2500" dirty="0">
                <a:solidFill>
                  <a:srgbClr val="111111"/>
                </a:solidFill>
                <a:latin typeface="Calibri" pitchFamily="34" charset="0"/>
                <a:ea typeface="Calibri" pitchFamily="34" charset="-122"/>
                <a:cs typeface="Calibri" pitchFamily="34" charset="-120"/>
              </a:rPr>
              <a:t>• Important lesson: dense rewards help early dexterous-hand learning
</a:t>
            </a:r>
            <a:endParaRPr lang="en-US" sz="2500" dirty="0"/>
          </a:p>
          <a:p>
            <a:pPr indent="0" marL="0">
              <a:buNone/>
            </a:pPr>
            <a:r>
              <a:rPr lang="en-US" sz="2500" dirty="0">
                <a:solidFill>
                  <a:srgbClr val="111111"/>
                </a:solidFill>
                <a:latin typeface="Calibri" pitchFamily="34" charset="0"/>
                <a:ea typeface="Calibri" pitchFamily="34" charset="-122"/>
                <a:cs typeface="Calibri" pitchFamily="34" charset="-120"/>
              </a:rPr>
              <a:t>• Next challenge: move from reaching to grasping or manipulating objects</a:t>
            </a:r>
            <a:endParaRPr lang="en-US" sz="2500" dirty="0"/>
          </a:p>
        </p:txBody>
      </p:sp>
      <p:sp>
        <p:nvSpPr>
          <p:cNvPr id="5" name="Text 3"/>
          <p:cNvSpPr/>
          <p:nvPr/>
        </p:nvSpPr>
        <p:spPr>
          <a:xfrm>
            <a:off x="15361920" y="9802368"/>
            <a:ext cx="1920240" cy="256032"/>
          </a:xfrm>
          <a:prstGeom prst="rect">
            <a:avLst/>
          </a:prstGeom>
          <a:noFill/>
          <a:ln/>
        </p:spPr>
        <p:txBody>
          <a:bodyPr wrap="square" lIns="0" tIns="0" rIns="0" bIns="0" rtlCol="0" anchor="ctr"/>
          <a:lstStyle/>
          <a:p>
            <a:pPr algn="r" indent="0" marL="0">
              <a:buNone/>
            </a:pPr>
            <a:r>
              <a:rPr lang="en-US" sz="1100" dirty="0">
                <a:solidFill>
                  <a:srgbClr val="777777"/>
                </a:solidFill>
              </a:rPr>
              <a:t>Week 18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005840" y="502920"/>
            <a:ext cx="16276320" cy="502920"/>
          </a:xfrm>
          <a:prstGeom prst="rect">
            <a:avLst/>
          </a:prstGeom>
          <a:noFill/>
          <a:ln/>
        </p:spPr>
        <p:txBody>
          <a:bodyPr wrap="square" lIns="0" tIns="0" rIns="0" bIns="0" rtlCol="0" anchor="ctr">
            <a:normAutofit/>
          </a:bodyPr>
          <a:lstStyle/>
          <a:p>
            <a:pPr indent="0" marL="0">
              <a:buNone/>
            </a:pPr>
            <a:r>
              <a:rPr lang="en-US" sz="3100" b="1" dirty="0">
                <a:solidFill>
                  <a:srgbClr val="111111"/>
                </a:solidFill>
                <a:latin typeface="Calibri" pitchFamily="34" charset="0"/>
                <a:ea typeface="Calibri" pitchFamily="34" charset="-122"/>
                <a:cs typeface="Calibri" pitchFamily="34" charset="-120"/>
              </a:rPr>
              <a:t>Next steps are to improve stability and move toward manipulation.</a:t>
            </a:r>
            <a:endParaRPr lang="en-US" sz="3100" dirty="0"/>
          </a:p>
        </p:txBody>
      </p:sp>
      <p:sp>
        <p:nvSpPr>
          <p:cNvPr id="3" name="Text 1"/>
          <p:cNvSpPr/>
          <p:nvPr/>
        </p:nvSpPr>
        <p:spPr>
          <a:xfrm>
            <a:off x="1188720" y="1554480"/>
            <a:ext cx="15910560" cy="3611880"/>
          </a:xfrm>
          <a:prstGeom prst="rect">
            <a:avLst/>
          </a:prstGeom>
          <a:noFill/>
          <a:ln/>
        </p:spPr>
        <p:txBody>
          <a:bodyPr wrap="square" lIns="254" tIns="254" rIns="254" bIns="254" rtlCol="0" anchor="ctr">
            <a:normAutofit/>
          </a:bodyPr>
          <a:lstStyle/>
          <a:p>
            <a:pPr indent="0" marL="0">
              <a:buNone/>
            </a:pPr>
            <a:r>
              <a:rPr lang="en-US" sz="2700" dirty="0">
                <a:solidFill>
                  <a:srgbClr val="111111"/>
                </a:solidFill>
                <a:latin typeface="Calibri" pitchFamily="34" charset="0"/>
                <a:ea typeface="Calibri" pitchFamily="34" charset="-122"/>
                <a:cs typeface="Calibri" pitchFamily="34" charset="-120"/>
              </a:rPr>
              <a:t>The next step is to train the policy for a longer period and compare the success rate over time. After the hand reach task becomes more reliable, the training can move to more advanced tasks such as block manipulation, pen rotation, or grasping. A GPU or a parallel environment setup would make this process faster and more stable.</a:t>
            </a:r>
            <a:endParaRPr lang="en-US" sz="2700" dirty="0"/>
          </a:p>
        </p:txBody>
      </p:sp>
      <p:sp>
        <p:nvSpPr>
          <p:cNvPr id="4" name="Text 2"/>
          <p:cNvSpPr/>
          <p:nvPr/>
        </p:nvSpPr>
        <p:spPr>
          <a:xfrm>
            <a:off x="1828800" y="5715000"/>
            <a:ext cx="14630400" cy="2468880"/>
          </a:xfrm>
          <a:prstGeom prst="rect">
            <a:avLst/>
          </a:prstGeom>
          <a:noFill/>
          <a:ln/>
        </p:spPr>
        <p:txBody>
          <a:bodyPr wrap="square" lIns="635" tIns="635" rIns="635" bIns="635" rtlCol="0" anchor="t">
            <a:normAutofit/>
          </a:bodyPr>
          <a:lstStyle/>
          <a:p>
            <a:r>
              <a:rPr lang="en-US" sz="2500" dirty="0">
                <a:solidFill>
                  <a:srgbClr val="111111"/>
                </a:solidFill>
                <a:latin typeface="Calibri" pitchFamily="34" charset="0"/>
                <a:ea typeface="Calibri" pitchFamily="34" charset="-122"/>
                <a:cs typeface="Calibri" pitchFamily="34" charset="-120"/>
              </a:rPr>
              <a:t>• Increase total training timesteps
</a:t>
            </a:r>
            <a:endParaRPr lang="en-US" sz="2500" dirty="0"/>
          </a:p>
          <a:p>
            <a:pPr indent="0" marL="0">
              <a:buNone/>
            </a:pPr>
            <a:r>
              <a:rPr lang="en-US" sz="2500" dirty="0">
                <a:solidFill>
                  <a:srgbClr val="111111"/>
                </a:solidFill>
                <a:latin typeface="Calibri" pitchFamily="34" charset="0"/>
                <a:ea typeface="Calibri" pitchFamily="34" charset="-122"/>
                <a:cs typeface="Calibri" pitchFamily="34" charset="-120"/>
              </a:rPr>
              <a:t>• Track success rate and mean reward across checkpoints
</a:t>
            </a:r>
            <a:endParaRPr lang="en-US" sz="2500" dirty="0"/>
          </a:p>
          <a:p>
            <a:pPr indent="0" marL="0">
              <a:buNone/>
            </a:pPr>
            <a:r>
              <a:rPr lang="en-US" sz="2500" dirty="0">
                <a:solidFill>
                  <a:srgbClr val="111111"/>
                </a:solidFill>
                <a:latin typeface="Calibri" pitchFamily="34" charset="0"/>
                <a:ea typeface="Calibri" pitchFamily="34" charset="-122"/>
                <a:cs typeface="Calibri" pitchFamily="34" charset="-120"/>
              </a:rPr>
              <a:t>• Test HER or other goal-based reinforcement-learning methods
</a:t>
            </a:r>
            <a:endParaRPr lang="en-US" sz="2500" dirty="0"/>
          </a:p>
          <a:p>
            <a:pPr indent="0" marL="0">
              <a:buNone/>
            </a:pPr>
            <a:r>
              <a:rPr lang="en-US" sz="2500" dirty="0">
                <a:solidFill>
                  <a:srgbClr val="111111"/>
                </a:solidFill>
                <a:latin typeface="Calibri" pitchFamily="34" charset="0"/>
                <a:ea typeface="Calibri" pitchFamily="34" charset="-122"/>
                <a:cs typeface="Calibri" pitchFamily="34" charset="-120"/>
              </a:rPr>
              <a:t>• Move from HandReachDense-v3 to manipulation environments</a:t>
            </a:r>
            <a:endParaRPr lang="en-US" sz="2500" dirty="0"/>
          </a:p>
        </p:txBody>
      </p:sp>
      <p:sp>
        <p:nvSpPr>
          <p:cNvPr id="5" name="Text 3"/>
          <p:cNvSpPr/>
          <p:nvPr/>
        </p:nvSpPr>
        <p:spPr>
          <a:xfrm>
            <a:off x="15361920" y="9802368"/>
            <a:ext cx="1920240" cy="256032"/>
          </a:xfrm>
          <a:prstGeom prst="rect">
            <a:avLst/>
          </a:prstGeom>
          <a:noFill/>
          <a:ln/>
        </p:spPr>
        <p:txBody>
          <a:bodyPr wrap="square" lIns="0" tIns="0" rIns="0" bIns="0" rtlCol="0" anchor="ctr"/>
          <a:lstStyle/>
          <a:p>
            <a:pPr algn="r" indent="0" marL="0">
              <a:buNone/>
            </a:pPr>
            <a:r>
              <a:rPr lang="en-US" sz="1100" dirty="0">
                <a:solidFill>
                  <a:srgbClr val="777777"/>
                </a:solidFill>
              </a:rPr>
              <a:t>Week 18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005840" y="502920"/>
            <a:ext cx="16276320" cy="502920"/>
          </a:xfrm>
          <a:prstGeom prst="rect">
            <a:avLst/>
          </a:prstGeom>
          <a:noFill/>
          <a:ln/>
        </p:spPr>
        <p:txBody>
          <a:bodyPr wrap="square" lIns="0" tIns="0" rIns="0" bIns="0" rtlCol="0" anchor="ctr">
            <a:normAutofit/>
          </a:bodyPr>
          <a:lstStyle/>
          <a:p>
            <a:pPr indent="0" marL="0">
              <a:buNone/>
            </a:pPr>
            <a:r>
              <a:rPr lang="en-US" sz="3100" b="1" dirty="0">
                <a:solidFill>
                  <a:srgbClr val="111111"/>
                </a:solidFill>
                <a:latin typeface="Calibri" pitchFamily="34" charset="0"/>
                <a:ea typeface="Calibri" pitchFamily="34" charset="-122"/>
                <a:cs typeface="Calibri" pitchFamily="34" charset="-120"/>
              </a:rPr>
              <a:t>References</a:t>
            </a:r>
            <a:endParaRPr lang="en-US" sz="3100" dirty="0"/>
          </a:p>
        </p:txBody>
      </p:sp>
      <p:sp>
        <p:nvSpPr>
          <p:cNvPr id="3" name="Text 1"/>
          <p:cNvSpPr/>
          <p:nvPr/>
        </p:nvSpPr>
        <p:spPr>
          <a:xfrm>
            <a:off x="1280160" y="1645920"/>
            <a:ext cx="15819120" cy="6126480"/>
          </a:xfrm>
          <a:prstGeom prst="rect">
            <a:avLst/>
          </a:prstGeom>
          <a:noFill/>
          <a:ln/>
        </p:spPr>
        <p:txBody>
          <a:bodyPr wrap="square" lIns="254" tIns="254" rIns="254" bIns="254" rtlCol="0" anchor="ctr">
            <a:normAutofit/>
          </a:bodyPr>
          <a:lstStyle/>
          <a:p>
            <a:pPr indent="0" marL="0">
              <a:buNone/>
            </a:pPr>
            <a:r>
              <a:rPr lang="en-US" sz="2300" dirty="0">
                <a:solidFill>
                  <a:srgbClr val="111111"/>
                </a:solidFill>
                <a:latin typeface="Calibri" pitchFamily="34" charset="0"/>
                <a:ea typeface="Calibri" pitchFamily="34" charset="-122"/>
                <a:cs typeface="Calibri" pitchFamily="34" charset="-120"/>
              </a:rPr>
              <a:t>Farama Foundation. Gymnasium-Robotics: Shadow Dexterous Hand Environments.</a:t>
            </a:r>
            <a:endParaRPr lang="en-US" sz="2300" dirty="0"/>
          </a:p>
          <a:p>
            <a:pPr indent="0" marL="0">
              <a:buNone/>
            </a:pPr>
            <a:endParaRPr lang="en-US" sz="2300" dirty="0"/>
          </a:p>
          <a:p>
            <a:pPr indent="0" marL="0">
              <a:buNone/>
            </a:pPr>
            <a:r>
              <a:rPr lang="en-US" sz="2300" dirty="0">
                <a:solidFill>
                  <a:srgbClr val="111111"/>
                </a:solidFill>
                <a:latin typeface="Calibri" pitchFamily="34" charset="0"/>
                <a:ea typeface="Calibri" pitchFamily="34" charset="-122"/>
                <a:cs typeface="Calibri" pitchFamily="34" charset="-120"/>
              </a:rPr>
              <a:t>Raffin, A., Hill, A., Gleave, A., Kanervisto, A., Ernestus, M., &amp; Dormann, N. Stable-Baselines3: Reliable Reinforcement Learning Implementations.</a:t>
            </a:r>
            <a:endParaRPr lang="en-US" sz="2300" dirty="0"/>
          </a:p>
          <a:p>
            <a:pPr indent="0" marL="0">
              <a:buNone/>
            </a:pPr>
            <a:endParaRPr lang="en-US" sz="2300" dirty="0"/>
          </a:p>
          <a:p>
            <a:pPr indent="0" marL="0">
              <a:buNone/>
            </a:pPr>
            <a:r>
              <a:rPr lang="en-US" sz="2300" dirty="0">
                <a:solidFill>
                  <a:srgbClr val="111111"/>
                </a:solidFill>
                <a:latin typeface="Calibri" pitchFamily="34" charset="0"/>
                <a:ea typeface="Calibri" pitchFamily="34" charset="-122"/>
                <a:cs typeface="Calibri" pitchFamily="34" charset="-120"/>
              </a:rPr>
              <a:t>Todorov, E., Erez, T., &amp; Tassa, Y. (2012). MuJoCo: A physics engine for model-based control. IEEE/RSJ International Conference on Intelligent Robots and Systems.</a:t>
            </a:r>
            <a:endParaRPr lang="en-US" sz="2300" dirty="0"/>
          </a:p>
        </p:txBody>
      </p:sp>
      <p:sp>
        <p:nvSpPr>
          <p:cNvPr id="4" name="Text 2"/>
          <p:cNvSpPr/>
          <p:nvPr/>
        </p:nvSpPr>
        <p:spPr>
          <a:xfrm>
            <a:off x="15361920" y="9802368"/>
            <a:ext cx="1920240" cy="256032"/>
          </a:xfrm>
          <a:prstGeom prst="rect">
            <a:avLst/>
          </a:prstGeom>
          <a:noFill/>
          <a:ln/>
        </p:spPr>
        <p:txBody>
          <a:bodyPr wrap="square" lIns="0" tIns="0" rIns="0" bIns="0" rtlCol="0" anchor="ctr"/>
          <a:lstStyle/>
          <a:p>
            <a:pPr algn="r" indent="0" marL="0">
              <a:buNone/>
            </a:pPr>
            <a:r>
              <a:rPr lang="en-US" sz="1100" dirty="0">
                <a:solidFill>
                  <a:srgbClr val="777777"/>
                </a:solidFill>
              </a:rPr>
              <a:t>Week 18  |  10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CCNY / IMPACT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18</dc:title>
  <dc:subject>Week 18 robotic hand training in MuJoCo</dc:subject>
  <dc:creator>Cesar A. Pascal Vasquez</dc:creator>
  <cp:lastModifiedBy>Cesar A. Pascal Vasquez</cp:lastModifiedBy>
  <cp:revision>1</cp:revision>
  <dcterms:created xsi:type="dcterms:W3CDTF">2026-06-29T00:43:11Z</dcterms:created>
  <dcterms:modified xsi:type="dcterms:W3CDTF">2026-06-29T00:43:11Z</dcterms:modified>
</cp:coreProperties>
</file>