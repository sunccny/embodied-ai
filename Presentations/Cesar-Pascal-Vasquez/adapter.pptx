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7"/>
  </p:normalViewPr>
  <p:slideViewPr>
    <p:cSldViewPr snapToGrid="0">
      <p:cViewPr varScale="1">
        <p:scale>
          <a:sx n="96" d="100"/>
          <a:sy n="96" d="100"/>
        </p:scale>
        <p:origin x="20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illustration shows the existing MuJoCo training model, not a real robot photograph. Source image: week 23 research/media/r1_revo2_model_preview.png.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adapter has no source-specific transport and maintains no temporal history. Neither receiver nor recording reader is implemented.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Default angle units are radians and radians per second. Setting joint_units="degrees" changes both angle and angular-velocity interpretation. Extra named joints are ignored, required joint omissions raise ValueError.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Spatial vectors have three finite values. Positions use metres and linear velocities use metres per second. Contact and fixture semantics originate in the training simulation and need explicitly defined real-world estimators.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names have the prefix right_. The ARM_JOINTS and HAND_JOINTS constants give the exact full keys. The observation contains separate arm position, arm velocity, and hand ratio blocks. Actions use five arm entries followed by six hand entries.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 slices are zero-based and exclude the right endpoint. These groups account for the first 22 entries. All slices also appear in OBSERVATION_SLICES.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Construction of the dataclass alone does not enforce these constraints. observation(frame) performs validation. The final finite-value check also catches nonfinite results from conversion.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adapter reads explicit ranges from worldbody joints with xml.etree.ElementTree. It requires compiler angle="radian" and finite limits with high &gt; low. XML parsing needs no MuJoCo runtime or mesh loading. These ranges define feature normalization, not hardware command limits.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Arm positions do not have a separate [-1, 1] clip in this observation builder. All assembled values receive the final [-5, 5] clip. Hand ratios clip individually to [0, 1]. Arm velocities first clip to [-2, 2].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Values are a teaching example, not a recorded robot frame. The elbow and index limits come from the bundled model XML.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 is a finite proper 3x3 rotation matrix and t is a finite three-vector. The default is identity rotation and zero translation. Velocities rotate without adding translation. A moving source frame requires additional velocity terms upstream and is outside this constant-transform adapter.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code/scripts/r1_revo2_env.py, palm_site_id, palm_position and palm_velocity. The simulation obtains acquire_site velocity as a translational site Jacobian multiplied by generalized velocity. A rigid point offset changes both position and, during rotation, linear velocity.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scales are in metres. Velocity scales are in metres per second. Relative vectors use the transformed training frame. The palm reference is a fixed location in that frame. Learned mean/std normalization happens later inside the policy.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values demonstrate the arithmetic only. They do not come from an internet recording or live robot.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Normalized time = 2 * elapsed / 5.30 - 1. At 2.65 seconds the time feature is 0 and phase is [0, 1, 0, 0, 0, 0]. Equality enters the next phase. These are elapsed-time bins, not visual recognition of successful task progress. Elapsed times beyond the nominal episode remain accepted, with final clipping of the time feature.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code/scripts/r1_revo2_env.py, contact_count and _observation. Contact count is not simply a count of touched fingers or a force reading. Such a mapping requires validation. Do not silently fabricate these inputs.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code/scripts/r1_revo2_env.py reset and step. At reset, the environment calls _target_to_action(home_q, np.zeros(6)); the six zeros are hand ratios before action conversion and become -1. The adapter is stateless and the caller must supply this history. Replacing recorded prior commands with fresh predictions changes the replay observations.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code/scripts/neural_policy.py _forward, __call__, nominal_actions and decode_actions. Do not apply the learned normalization before passing the adapter result to the policy. Output commands still need a separate hardware control integration.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code directory includes examples/synthetic_frame.py, which constructs a complete synthetic frame and optionally calls the bundled saved policy. No robot connection is made. The adapter’s default model path resolves relative to its script location.</a:t>
            </a:r>
          </a:p>
          <a:p>
            <a:r>
              <a:t>Source: code/scripts/r1_observation_adapter.py and code/ADAPTER.md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D291F2-8272-4FEA-9406-7877A197566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R1 single-arm observation adapter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33087F-F5BF-4A33-8234-EFEF48828296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36E302-2320-4029-8A54-4EAC136D1984}"/>
              </a:ext>
            </a:extLst>
          </p:cNvPr>
          <p:cNvSpPr>
            <a:spLocks noGrp="1"/>
          </p:cNvSpPr>
          <p:nvPr/>
        </p:nvSpPr>
        <p:spPr>
          <a:xfrm>
            <a:off x="647700" y="1857375"/>
            <a:ext cx="5381625" cy="1571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How robot state becomes the policy’s 51 inputs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6E404D-C459-474E-A6CD-AB18E77AC723}"/>
              </a:ext>
            </a:extLst>
          </p:cNvPr>
          <p:cNvSpPr>
            <a:spLocks noGrp="1"/>
          </p:cNvSpPr>
          <p:nvPr/>
        </p:nvSpPr>
        <p:spPr>
          <a:xfrm>
            <a:off x="647700" y="4238625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Implementation walkthrough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Live data interface with recorded-data testing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0" y="1732359"/>
            <a:ext cx="5286375" cy="396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453207-AA98-4A75-9096-742CDB01513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adapter’s role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085436-03BE-45E0-824F-328C34AD9918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414339-6A50-4CBF-BFE8-5F627BE450C7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50BBB-731C-46F2-84D0-B7C0314DCCFA}"/>
              </a:ext>
            </a:extLst>
          </p:cNvPr>
          <p:cNvSpPr>
            <a:spLocks noGrp="1"/>
          </p:cNvSpPr>
          <p:nvPr/>
        </p:nvSpPr>
        <p:spPr>
          <a:xfrm>
            <a:off x="1381125" y="16383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A source reader supplies one synchronized R1ObservationFrame.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1B3A3C-5894-4F54-BD08-14B43A3454AC}"/>
              </a:ext>
            </a:extLst>
          </p:cNvPr>
          <p:cNvSpPr>
            <a:spLocks noGrp="1"/>
          </p:cNvSpPr>
          <p:nvPr/>
        </p:nvSpPr>
        <p:spPr>
          <a:xfrm>
            <a:off x="628650" y="26955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36EA2-CBE0-427E-9EFC-15C74EFB5187}"/>
              </a:ext>
            </a:extLst>
          </p:cNvPr>
          <p:cNvSpPr>
            <a:spLocks noGrp="1"/>
          </p:cNvSpPr>
          <p:nvPr/>
        </p:nvSpPr>
        <p:spPr>
          <a:xfrm>
            <a:off x="1381125" y="26670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adapter orders fields and converts them into the training observation format.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DB1736-3CC6-46D7-81CD-DA9A980B1793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2E3A68-4F6B-4466-A8F9-B20D3664634B}"/>
              </a:ext>
            </a:extLst>
          </p:cNvPr>
          <p:cNvSpPr>
            <a:spLocks noGrp="1"/>
          </p:cNvSpPr>
          <p:nvPr/>
        </p:nvSpPr>
        <p:spPr>
          <a:xfrm>
            <a:off x="1381125" y="36957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saved policy receives a NumPy array with shape (51,) and dtype float64.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6C0FD8-B6CF-419F-B0AC-98B60A0980AC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2CA092-5859-4103-B3E2-F46CC5F6C493}"/>
              </a:ext>
            </a:extLst>
          </p:cNvPr>
          <p:cNvSpPr>
            <a:spLocks noGrp="1"/>
          </p:cNvSpPr>
          <p:nvPr/>
        </p:nvSpPr>
        <p:spPr>
          <a:xfrm>
            <a:off x="1381125" y="47244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This implementation ends at the observation. Robot communication and command execution remain separate.</a:t>
            </a:r>
          </a:p>
        </p:txBody>
      </p:sp>
    </p:spTree>
    <p:extLst>
      <p:ext uri="{BB962C8B-B14F-4D97-AF65-F5344CB8AC3E}">
        <p14:creationId xmlns:p14="http://schemas.microsoft.com/office/powerpoint/2010/main" val="1984674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7A37E6-A813-4198-AE2F-5C0B38A0F41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One interface for live and recorded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A82188-38C6-4AA2-924C-92A517EFF625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300609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use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Recorded-data test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Future robot receiver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Future recording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Preparation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Align sensor times and estimate missing features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 fields and preserve recorded timing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R1ObservationFrame and adapter.observation(frame)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Identical call and input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Downstream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 inference in a future controller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Inspect observations and log predictions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62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1768FAF-9B57-4695-86A0-25407D14006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What the code contains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B9694A-12A4-4FBA-AA0B-E7868FAD1FC6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1C5BC4-FC82-4602-BF54-6E81E66E6A9B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066CE2-E52C-47EE-AF60-2E7C7DDE052A}"/>
              </a:ext>
            </a:extLst>
          </p:cNvPr>
          <p:cNvSpPr>
            <a:spLocks noGrp="1"/>
          </p:cNvSpPr>
          <p:nvPr/>
        </p:nvSpPr>
        <p:spPr>
          <a:xfrm>
            <a:off x="1381125" y="16383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R1ObservationFrame: a dataclass describing all required fields in one frame.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C86CD4-F399-475F-B39A-3BC2665C5A36}"/>
              </a:ext>
            </a:extLst>
          </p:cNvPr>
          <p:cNvSpPr>
            <a:spLocks noGrp="1"/>
          </p:cNvSpPr>
          <p:nvPr/>
        </p:nvSpPr>
        <p:spPr>
          <a:xfrm>
            <a:off x="628650" y="26955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FACB15-D96D-4922-9350-8D266DB3C22C}"/>
              </a:ext>
            </a:extLst>
          </p:cNvPr>
          <p:cNvSpPr>
            <a:spLocks noGrp="1"/>
          </p:cNvSpPr>
          <p:nvPr/>
        </p:nvSpPr>
        <p:spPr>
          <a:xfrm>
            <a:off x="1381125" y="26670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R1ObservationAdapter.__init__: validates configuration and reads training joint ranges from XML.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19DD51-4D24-4F6D-8901-B2D857F24E89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E9CC6-098D-4896-9922-7E3F75E2A428}"/>
              </a:ext>
            </a:extLst>
          </p:cNvPr>
          <p:cNvSpPr>
            <a:spLocks noGrp="1"/>
          </p:cNvSpPr>
          <p:nvPr/>
        </p:nvSpPr>
        <p:spPr>
          <a:xfrm>
            <a:off x="1381125" y="36957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observation(frame): validates the frame and assembles the 51 values.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A3CA9B-E25E-4527-B1BF-034E64E79532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710079-7FD9-455E-8ADA-251B38581A6E}"/>
              </a:ext>
            </a:extLst>
          </p:cNvPr>
          <p:cNvSpPr>
            <a:spLocks noGrp="1"/>
          </p:cNvSpPr>
          <p:nvPr/>
        </p:nvSpPr>
        <p:spPr>
          <a:xfrm>
            <a:off x="1381125" y="47244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OBSERVATION_SLICES: named Python slices for inspecting each output feature group.</a:t>
            </a:r>
          </a:p>
        </p:txBody>
      </p:sp>
    </p:spTree>
    <p:extLst>
      <p:ext uri="{BB962C8B-B14F-4D97-AF65-F5344CB8AC3E}">
        <p14:creationId xmlns:p14="http://schemas.microsoft.com/office/powerpoint/2010/main" val="89473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25DAF0-1083-423E-A0BA-1108FA036F8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Required joint and timing fields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A376AA-5534-4042-9F1B-CDCF18D07D7A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295275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content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Units or convention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elapsed_seconds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since task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Seconds, finite and nonnegative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joint_positions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arm positions and 6 Revo2 positions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Named joints, simulation signs and offsets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joint_velocities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arm joint velocities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arm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previous_action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 previous requested commands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Normalized to [-1, 1], arm then hand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4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AD8968-F2BB-4067-AE22-ADB43AF7C86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Required spatial and task fields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420E27-B7B0-491B-BEF6-96C80B783EC8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35433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palm_position / palm_velocity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Position and velocity of acquire_site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ball_position / ball_velocity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Tracked ball position and linear velocity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throw_target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 position in the same spatial 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contact_count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Nonnegative integer hand–ball contact count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fixture_active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Boolean matching the task’s ball-support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2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411778-044C-4F6D-AD32-7C91BF00E77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Canonical joint order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2D787B-CA93-457F-95D9-F06066DBF70C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4133850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Index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Arm joint suffix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Hand joint suffix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shoulder_pitch_joint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thumb_metacarpal_joint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shoulder_roll_joint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thumb_proximal_joint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shoulder_yaw_joint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index_proximal_joint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elbow_joint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middle_proximal_joint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wrist_roll_joint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ring_proximal_joint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sixth arm joint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pinky_proximal_joint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588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F17A2D-E8FE-4174-9149-F4CC9C4FB9A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Observation layout: time and geometry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86ABBA-3149-44DA-8DB0-E3D28121E404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41338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slice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0:1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Normalized task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1:7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One-hot phase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Ball relative to palm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10:13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 relative to ball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Palm relative to training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16:19 and 19:22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Palm velocity and ball velocity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+ 3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0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834EAF-681F-42B7-A9F2-5754D67A064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Observation layout: joints and history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469587-F2F6-4E44-85A8-A584A317C355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41338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slice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22:27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Normalized arm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27:32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Scaled arm velocity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Hand closure ratios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38:40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Contact feature and fixture flag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Previous requested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 preceding values + 29 values here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330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37E2E81-84E5-48E0-A511-D5DCD581C78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Validation before conversion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85744-059D-478C-8243-8CB51EA419F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B6444-6ACC-4FC5-ACC6-A3EC61BFFE63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81DDD3-38A7-440C-99B4-925292096017}"/>
              </a:ext>
            </a:extLst>
          </p:cNvPr>
          <p:cNvSpPr>
            <a:spLocks noGrp="1"/>
          </p:cNvSpPr>
          <p:nvPr/>
        </p:nvSpPr>
        <p:spPr>
          <a:xfrm>
            <a:off x="1381125" y="16383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Required vectors must have exact shapes and finite numerical values.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50E18-AF78-4D65-AAA5-DDA223FA0ADC}"/>
              </a:ext>
            </a:extLst>
          </p:cNvPr>
          <p:cNvSpPr>
            <a:spLocks noGrp="1"/>
          </p:cNvSpPr>
          <p:nvPr/>
        </p:nvSpPr>
        <p:spPr>
          <a:xfrm>
            <a:off x="628650" y="26955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6BA4B6-E4F4-4E4D-A416-CC732080C8B3}"/>
              </a:ext>
            </a:extLst>
          </p:cNvPr>
          <p:cNvSpPr>
            <a:spLocks noGrp="1"/>
          </p:cNvSpPr>
          <p:nvPr/>
        </p:nvSpPr>
        <p:spPr>
          <a:xfrm>
            <a:off x="1381125" y="26670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Missing joint names raise ValueError. Extra joint keys do not alter policy order.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F29CD9-1378-4BEE-B5ED-68DE8026A069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FB153-4503-49AA-BDF6-44B1D53CE75D}"/>
              </a:ext>
            </a:extLst>
          </p:cNvPr>
          <p:cNvSpPr>
            <a:spLocks noGrp="1"/>
          </p:cNvSpPr>
          <p:nvPr/>
        </p:nvSpPr>
        <p:spPr>
          <a:xfrm>
            <a:off x="1381125" y="36957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Contact count must be a nonnegative integer. Fixture state must be a boolean.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D4B874-4187-4A42-8460-28E2B91AB24C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EE600-AFFA-4E5C-AF4B-7979CCA3C665}"/>
              </a:ext>
            </a:extLst>
          </p:cNvPr>
          <p:cNvSpPr>
            <a:spLocks noGrp="1"/>
          </p:cNvSpPr>
          <p:nvPr/>
        </p:nvSpPr>
        <p:spPr>
          <a:xfrm>
            <a:off x="1381125" y="47244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Previous actions must contain 11 finite values in [-1, 1]. The adapter rejects invalid frames.</a:t>
            </a:r>
          </a:p>
        </p:txBody>
      </p:sp>
    </p:spTree>
    <p:extLst>
      <p:ext uri="{BB962C8B-B14F-4D97-AF65-F5344CB8AC3E}">
        <p14:creationId xmlns:p14="http://schemas.microsoft.com/office/powerpoint/2010/main" val="1251281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E7A68C-61C0-4BA2-9FBD-2CBE1925787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Joint units and training ranges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0DAB8-2F85-4BDB-8CAC-472496B4199C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CABA02-341A-4F06-B7B9-0C4CD1DF4CD9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763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joint_units="radians"       # default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joint_units="degrees"       # angles and angular velocities</a:t>
            </a:r>
          </a:p>
          <a:p>
            <a:endParaRPr sz="2025" b="0">
              <a:solidFill>
                <a:srgbClr val="152B3B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q_radians  = q_degrees  * pi / 180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dq_radians = dq_degrees * pi / 180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8C5D5-5A3B-4771-9B23-0C6FA51B4D1E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The bundled XML supplies each joint’s low and high training limits.</a:t>
            </a:r>
          </a:p>
        </p:txBody>
      </p:sp>
    </p:spTree>
    <p:extLst>
      <p:ext uri="{BB962C8B-B14F-4D97-AF65-F5344CB8AC3E}">
        <p14:creationId xmlns:p14="http://schemas.microsoft.com/office/powerpoint/2010/main" val="1779673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F3581F-D202-406C-967F-A92BC78BC5C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Arm and hand normalization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59FDB-01F0-48ED-939E-2C0651F11B3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F8F61-75BE-45C7-A460-04FE9244D314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763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ratio = (q - low) / (high - low)</a:t>
            </a:r>
          </a:p>
          <a:p>
            <a:endParaRPr sz="2025" b="0">
              <a:solidFill>
                <a:srgbClr val="152B3B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arm_position = 2 * ratio[:5] - 1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arm_velocity = clip(dq / 8.0, -2, 2)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hand_ratios  = clip(ratio[5:], 0, 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7FE59-6926-4917-8D7E-B547557405B9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Arm limits map to -1 and +1. Hand limits map to 0 and 1.</a:t>
            </a:r>
          </a:p>
        </p:txBody>
      </p:sp>
    </p:spTree>
    <p:extLst>
      <p:ext uri="{BB962C8B-B14F-4D97-AF65-F5344CB8AC3E}">
        <p14:creationId xmlns:p14="http://schemas.microsoft.com/office/powerpoint/2010/main" val="1290445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040093-2AC0-4CEE-9D5F-11C8B481A70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Worked joint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E3583E-682F-4752-A83A-1D3A9005CE2F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35433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Quantity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Synthetic input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Adapter value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Elbow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 = -0.97564, high = 2.1852 rad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Span = 3.16084 rad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Elbow position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 = 0.60478 rad, the midpoint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Elbow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dq = 4 rad/s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/ 8 =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Index position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 = 0.73305 rad, half of 1.4661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 closure ratio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arm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dq = 24 rad/s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clip(3, -2, 2) =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93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3666CE-1B40-46B8-9778-F747DB14A4E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Coordinate-frame conversion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C88D54-5561-40B5-BF6A-C79A61CFAFF9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26F3C4-8040-40DF-B4C9-A3FCE1A80678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763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p_policy = R @ p_source + t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v_policy = R @ v_source</a:t>
            </a:r>
          </a:p>
          <a:p>
            <a:endParaRPr sz="2025" b="0">
              <a:solidFill>
                <a:srgbClr val="152B3B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R.T @ R = identity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det(R) = +1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1919C-5C08-4405-9BAB-18466C22BB2D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positions share one source frame. Translation uses metres.</a:t>
            </a:r>
          </a:p>
        </p:txBody>
      </p:sp>
    </p:spTree>
    <p:extLst>
      <p:ext uri="{BB962C8B-B14F-4D97-AF65-F5344CB8AC3E}">
        <p14:creationId xmlns:p14="http://schemas.microsoft.com/office/powerpoint/2010/main" val="1187405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AEB266-3A51-4FB6-ACC7-8FF0D65AD12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palm point and fixed training world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516342-29A6-48B6-8F89-EA72335513B7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D1B8B-A6AF-4A90-A88B-F35CCDFB18BA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AB4DB5-1D91-4437-A33D-DC03611C89C5}"/>
              </a:ext>
            </a:extLst>
          </p:cNvPr>
          <p:cNvSpPr>
            <a:spLocks noGrp="1"/>
          </p:cNvSpPr>
          <p:nvPr/>
        </p:nvSpPr>
        <p:spPr>
          <a:xfrm>
            <a:off x="1381125" y="16383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policy’s palm point is acquire_site in the training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940F6-EAB8-4B99-A77F-69F1413EDA88}"/>
              </a:ext>
            </a:extLst>
          </p:cNvPr>
          <p:cNvSpPr>
            <a:spLocks noGrp="1"/>
          </p:cNvSpPr>
          <p:nvPr/>
        </p:nvSpPr>
        <p:spPr>
          <a:xfrm>
            <a:off x="628650" y="26955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CA89A7-0060-4D49-B770-E32F8763A7D9}"/>
              </a:ext>
            </a:extLst>
          </p:cNvPr>
          <p:cNvSpPr>
            <a:spLocks noGrp="1"/>
          </p:cNvSpPr>
          <p:nvPr/>
        </p:nvSpPr>
        <p:spPr>
          <a:xfrm>
            <a:off x="1381125" y="26670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A wrist origin or grasp_site measurement must be converted to the acquire_site location.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7FB0B8-BA56-4B10-BBE8-70F9DED7A716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9526C-6CA5-4EF7-8017-519CDD1DDDC4}"/>
              </a:ext>
            </a:extLst>
          </p:cNvPr>
          <p:cNvSpPr>
            <a:spLocks noGrp="1"/>
          </p:cNvSpPr>
          <p:nvPr/>
        </p:nvSpPr>
        <p:spPr>
          <a:xfrm>
            <a:off x="1381125" y="36957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Upstream kinematics or tracking supplies the point’s position and linear velocity.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7054E-4AF2-4A07-8FD4-55E18DFA6C2C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7F3382-7C62-4D3F-A085-E0ABB3EBA44A}"/>
              </a:ext>
            </a:extLst>
          </p:cNvPr>
          <p:cNvSpPr>
            <a:spLocks noGrp="1"/>
          </p:cNvSpPr>
          <p:nvPr/>
        </p:nvSpPr>
        <p:spPr>
          <a:xfrm>
            <a:off x="1381125" y="47244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policy uses a fixed training world. A moving base requires upstream pose and velocity estimation.</a:t>
            </a:r>
          </a:p>
        </p:txBody>
      </p:sp>
    </p:spTree>
    <p:extLst>
      <p:ext uri="{BB962C8B-B14F-4D97-AF65-F5344CB8AC3E}">
        <p14:creationId xmlns:p14="http://schemas.microsoft.com/office/powerpoint/2010/main" val="2046219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95DB76-6584-4A47-ACAB-A6C4A7DAFA4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Spatial feature scaling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DEF0AF-D458-4258-B295-08A77DE7F8A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11B9A-6858-494A-A1F9-8C11E6C11944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763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ball_from_palm = (ball - palm) / 0.25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target_from_ball = (target - ball) / 0.90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palm_position = (palm - [0.30, -0.25, 0.90]) / 0.50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palm_velocity = palm_velocity / 2.5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ball_velocity = ball_velocity / 3.0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73EF35-C2F6-437B-919E-73026C063179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The constants reproduce the existing training observation exactly.</a:t>
            </a:r>
          </a:p>
        </p:txBody>
      </p:sp>
    </p:spTree>
    <p:extLst>
      <p:ext uri="{BB962C8B-B14F-4D97-AF65-F5344CB8AC3E}">
        <p14:creationId xmlns:p14="http://schemas.microsoft.com/office/powerpoint/2010/main" val="1296854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9D24A3-F2FF-4C6B-98C2-39A4F0D0090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Worked spatial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91FCB7-FF71-4A80-9FB2-CE0F162CA6AC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35433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Quantity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Synthetic value in training coordinates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Palm / ball /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[0.30, -0.25, 0.90] / [0.35, -0.25, 0.90] / [0.80, -0.25, 0.90]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Ball relative to palm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[0.05, 0, 0] / 0.25 = [0.20, 0, 0]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 relative to ball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[0.45, 0, 0] / 0.90 = [0.50, 0, 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Palm reference feature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[0, 0, 0]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Palm / ball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[0.25, 0, 0] / 2.5 = [0.10, 0, 0] and [0.30, 0, 0] / 3 = [0.10, 0, 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47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6AB22F-EA4A-42DA-841A-9EDF60CC205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Task time and phase encoding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61BA1C-7286-4746-8FBC-D7CD4C47134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09600" y="1571625"/>
          <a:ext cx="10972800" cy="413385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Elapsed time in seconds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Active phase index</a:t>
                      </a:r>
                    </a:p>
                  </a:txBody>
                  <a:tcPr>
                    <a:solidFill>
                      <a:srgbClr val="152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to below 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1.45 to below 3.00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3.00 to below 3.45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3.45 to below 3.80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3.80 to below 4.30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4.30 and later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566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870A798-20DC-40F5-A6F1-D1CDB2C3879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Contacts and fixture state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D4D505-0865-404B-A2DC-1E445A13C0E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209FD2-9202-49A4-80D4-3408B4FB9A1D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BD2B72-243D-4605-B1D8-9DE25CAB5E51}"/>
              </a:ext>
            </a:extLst>
          </p:cNvPr>
          <p:cNvSpPr>
            <a:spLocks noGrp="1"/>
          </p:cNvSpPr>
          <p:nvPr/>
        </p:nvSpPr>
        <p:spPr>
          <a:xfrm>
            <a:off x="1381125" y="16383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contact feature is min(contact_count / 4, 1). Counts of 0, 2 and 4 map to 0, 0.5 and 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1C42B-BC68-4104-B5B0-D7008FE2E6EC}"/>
              </a:ext>
            </a:extLst>
          </p:cNvPr>
          <p:cNvSpPr>
            <a:spLocks noGrp="1"/>
          </p:cNvSpPr>
          <p:nvPr/>
        </p:nvSpPr>
        <p:spPr>
          <a:xfrm>
            <a:off x="628650" y="26955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26941-D605-43BC-A543-6C0CC2467B4B}"/>
              </a:ext>
            </a:extLst>
          </p:cNvPr>
          <p:cNvSpPr>
            <a:spLocks noGrp="1"/>
          </p:cNvSpPr>
          <p:nvPr/>
        </p:nvSpPr>
        <p:spPr>
          <a:xfrm>
            <a:off x="1381125" y="26670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fixture feature is float(fixture_active), which yields 0 or 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0DE4F5-E50C-462C-A4D0-F7EC65AAE164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240972-2BEC-4756-AEB4-344CBC4E0F53}"/>
              </a:ext>
            </a:extLst>
          </p:cNvPr>
          <p:cNvSpPr>
            <a:spLocks noGrp="1"/>
          </p:cNvSpPr>
          <p:nvPr/>
        </p:nvSpPr>
        <p:spPr>
          <a:xfrm>
            <a:off x="1381125" y="36957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Training counts hand–ball collision contacts and reads the ball fixture equality constraint.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C1906B-F38A-4EE5-A06D-C02E8D927788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D121B1-49DA-4666-87B3-FAD42E1DFE78}"/>
              </a:ext>
            </a:extLst>
          </p:cNvPr>
          <p:cNvSpPr>
            <a:spLocks noGrp="1"/>
          </p:cNvSpPr>
          <p:nvPr/>
        </p:nvSpPr>
        <p:spPr>
          <a:xfrm>
            <a:off x="1381125" y="47244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Real data needs an explicit meaning for these features. R1 motor telemetry alone does not provide them.</a:t>
            </a:r>
          </a:p>
        </p:txBody>
      </p:sp>
    </p:spTree>
    <p:extLst>
      <p:ext uri="{BB962C8B-B14F-4D97-AF65-F5344CB8AC3E}">
        <p14:creationId xmlns:p14="http://schemas.microsoft.com/office/powerpoint/2010/main" val="934769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6DAC10-1117-4112-8082-8B60D9AAFE9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Previous-action semantics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02F596-5C85-4043-93EB-D41890A96AB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B73FD-6061-47B2-85D3-50C040D542C5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763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previous_action = [five arm commands, six hand commands]</a:t>
            </a:r>
          </a:p>
          <a:p>
            <a:endParaRPr sz="2025" b="0">
              <a:solidFill>
                <a:srgbClr val="152B3B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reset_arm = clip(2 * (home_q - arm_low)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                 / (arm_high - arm_low) - 1, -1, 1)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reset_hand = [-1, -1, -1, -1, -1, -1]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69EDA-B4F4-4524-871E-2FA986790194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The environment stores the previous requested action, even when actuation is delayed.</a:t>
            </a:r>
          </a:p>
        </p:txBody>
      </p:sp>
    </p:spTree>
    <p:extLst>
      <p:ext uri="{BB962C8B-B14F-4D97-AF65-F5344CB8AC3E}">
        <p14:creationId xmlns:p14="http://schemas.microsoft.com/office/powerpoint/2010/main" val="1074749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3351ADB-B922-4034-B667-132A99AAA6F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Final observation and policy inference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29CC7B-9C61-43AA-824F-A4FFF0E134CA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91B3A4-C5D1-4B44-8A11-F3432802E43C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8ED33F-4CCB-40C0-A943-2C364A2296A6}"/>
              </a:ext>
            </a:extLst>
          </p:cNvPr>
          <p:cNvSpPr>
            <a:spLocks noGrp="1"/>
          </p:cNvSpPr>
          <p:nvPr/>
        </p:nvSpPr>
        <p:spPr>
          <a:xfrm>
            <a:off x="1381125" y="16383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Concatenation preserves the exact block order in OBSERVATION_SLICES.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5EAF1-B8A1-48F7-BA06-AD2E58F9786C}"/>
              </a:ext>
            </a:extLst>
          </p:cNvPr>
          <p:cNvSpPr>
            <a:spLocks noGrp="1"/>
          </p:cNvSpPr>
          <p:nvPr/>
        </p:nvSpPr>
        <p:spPr>
          <a:xfrm>
            <a:off x="628650" y="26955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8D326-BE36-4E2E-B1DF-A0193B1E9857}"/>
              </a:ext>
            </a:extLst>
          </p:cNvPr>
          <p:cNvSpPr>
            <a:spLocks noGrp="1"/>
          </p:cNvSpPr>
          <p:nvPr/>
        </p:nvSpPr>
        <p:spPr>
          <a:xfrm>
            <a:off x="1381125" y="26670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A finite-value check precedes a final elementwise clip to [-5, 5].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6DE53F-9661-46F3-AE7D-C5191BEE6A73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ED61C2-CE13-4485-A51A-FD11BE35CDAB}"/>
              </a:ext>
            </a:extLst>
          </p:cNvPr>
          <p:cNvSpPr>
            <a:spLocks noGrp="1"/>
          </p:cNvSpPr>
          <p:nvPr/>
        </p:nvSpPr>
        <p:spPr>
          <a:xfrm>
            <a:off x="1381125" y="36957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policy applies its saved mean/std normalization and runs the neural network.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6C86E-5DA9-4F05-89ED-5A78C68D3B2C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C4EC55-5B86-40A1-9898-2D63A0689629}"/>
              </a:ext>
            </a:extLst>
          </p:cNvPr>
          <p:cNvSpPr>
            <a:spLocks noGrp="1"/>
          </p:cNvSpPr>
          <p:nvPr/>
        </p:nvSpPr>
        <p:spPr>
          <a:xfrm>
            <a:off x="1381125" y="472440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The policy decodes residual predictions around a nominal trajectory into 11 normalized commands.</a:t>
            </a:r>
          </a:p>
        </p:txBody>
      </p:sp>
    </p:spTree>
    <p:extLst>
      <p:ext uri="{BB962C8B-B14F-4D97-AF65-F5344CB8AC3E}">
        <p14:creationId xmlns:p14="http://schemas.microsoft.com/office/powerpoint/2010/main" val="286653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7878B1-91F7-44D1-B46F-71FA1D4FC83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Calling the adapter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DE8AE-1510-4991-8FA8-E486D8F726F2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7ADA05-6F2F-49C0-96B1-A83647DD42A2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763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from r1_observation_adapter import (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    R1ObservationAdapter, R1ObservationFrame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  <a:p>
            <a:endParaRPr sz="2025" b="0">
              <a:solidFill>
                <a:srgbClr val="152B3B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adapter = R1ObservationAdapter()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frame = R1ObservationFrame(**payload)</a:t>
            </a:r>
          </a:p>
          <a:p>
            <a:pPr>
              <a:def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B3B"/>
                </a:solidFill>
                <a:latin typeface="Helvetica Neue"/>
                <a:ea typeface="Helvetica Neue"/>
                <a:cs typeface="Helvetica Neue"/>
              </a:rPr>
              <a:t>observation = adapter.observation(frame)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3F529-4E12-409E-A0A0-8543F4665394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payload must contain every required field. The same call works for either data source.</a:t>
            </a:r>
          </a:p>
        </p:txBody>
      </p:sp>
    </p:spTree>
    <p:extLst>
      <p:ext uri="{BB962C8B-B14F-4D97-AF65-F5344CB8AC3E}">
        <p14:creationId xmlns:p14="http://schemas.microsoft.com/office/powerpoint/2010/main" val="18937434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2795</Words>
  <Application>Microsoft Macintosh PowerPoint</Application>
  <DocSecurity>0</DocSecurity>
  <PresentationFormat>Widescreen</PresentationFormat>
  <Paragraphs>326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Cesar Pascal</cp:lastModifiedBy>
  <cp:revision>1</cp:revision>
  <dcterms:created xsi:type="dcterms:W3CDTF">2026-09-11T01:48:33Z</dcterms:created>
  <dcterms:modified xsi:type="dcterms:W3CDTF">2026-09-11T02:05:00Z</dcterms:modified>
</cp:coreProperties>
</file>