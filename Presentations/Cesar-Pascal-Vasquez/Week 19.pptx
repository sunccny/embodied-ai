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200"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953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944368"/>
            <a:ext cx="12191695" cy="292608"/>
          </a:xfrm>
          <a:prstGeom prst="rect">
            <a:avLst/>
          </a:prstGeom>
          <a:noFill/>
          <a:ln/>
        </p:spPr>
        <p:txBody>
          <a:bodyPr wrap="square" lIns="0" tIns="0" rIns="0" bIns="0" rtlCol="0" anchor="ctr">
            <a:normAutofit/>
          </a:bodyPr>
          <a:lstStyle/>
          <a:p>
            <a:pPr marL="0" indent="0" algn="ctr">
              <a:buNone/>
            </a:pPr>
            <a:r>
              <a:rPr lang="en-US" sz="2000" b="1" dirty="0">
                <a:solidFill>
                  <a:srgbClr val="111111"/>
                </a:solidFill>
              </a:rPr>
              <a:t>WEEK 19</a:t>
            </a:r>
            <a:endParaRPr lang="en-US" sz="2000" dirty="0"/>
          </a:p>
        </p:txBody>
      </p:sp>
      <p:sp>
        <p:nvSpPr>
          <p:cNvPr id="3" name="Text 1"/>
          <p:cNvSpPr/>
          <p:nvPr/>
        </p:nvSpPr>
        <p:spPr>
          <a:xfrm>
            <a:off x="0" y="3264408"/>
            <a:ext cx="12191695" cy="137160"/>
          </a:xfrm>
          <a:prstGeom prst="rect">
            <a:avLst/>
          </a:prstGeom>
          <a:noFill/>
          <a:ln/>
        </p:spPr>
        <p:txBody>
          <a:bodyPr wrap="square" lIns="0" tIns="0" rIns="0" bIns="0" rtlCol="0" anchor="ctr">
            <a:normAutofit/>
          </a:bodyPr>
          <a:lstStyle/>
          <a:p>
            <a:pPr marL="0" indent="0" algn="ctr">
              <a:buNone/>
            </a:pPr>
            <a:r>
              <a:rPr lang="en-US" sz="570" dirty="0">
                <a:solidFill>
                  <a:srgbClr val="111111"/>
                </a:solidFill>
              </a:rPr>
              <a:t>CESAR A. PASCAL VASQUEZ</a:t>
            </a:r>
            <a:endParaRPr lang="en-US" sz="570" dirty="0"/>
          </a:p>
        </p:txBody>
      </p:sp>
      <p:sp>
        <p:nvSpPr>
          <p:cNvPr id="4" name="Text 2"/>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1</a:t>
            </a:r>
            <a:endParaRPr lang="en-US" sz="4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This week, the focus was advanced dexterous hand training and R1 hand integration.</a:t>
            </a:r>
            <a:endParaRPr lang="en-US" sz="1550" dirty="0"/>
          </a:p>
        </p:txBody>
      </p:sp>
      <p:sp>
        <p:nvSpPr>
          <p:cNvPr id="3" name="Text 1"/>
          <p:cNvSpPr/>
          <p:nvPr/>
        </p:nvSpPr>
        <p:spPr>
          <a:xfrm>
            <a:off x="768096" y="1517904"/>
            <a:ext cx="4846320" cy="1051560"/>
          </a:xfrm>
          <a:prstGeom prst="rect">
            <a:avLst/>
          </a:prstGeom>
          <a:noFill/>
          <a:ln/>
        </p:spPr>
        <p:txBody>
          <a:bodyPr wrap="square" lIns="254" tIns="254" rIns="254" bIns="254" rtlCol="0" anchor="t">
            <a:noAutofit/>
          </a:bodyPr>
          <a:lstStyle/>
          <a:p>
            <a:pPr marL="0" indent="0">
              <a:buNone/>
            </a:pPr>
            <a:r>
              <a:rPr lang="en-US" sz="2400" dirty="0">
                <a:solidFill>
                  <a:srgbClr val="111111"/>
                </a:solidFill>
                <a:latin typeface="Aptos" pitchFamily="34" charset="0"/>
                <a:ea typeface="Aptos" pitchFamily="34" charset="-122"/>
                <a:cs typeface="Aptos" pitchFamily="34" charset="-120"/>
              </a:rPr>
              <a:t>After confirming the basic hand-reaching environment, I moved to a harder object-manipulation task. The goal was to train the Shadow Hand to rotate a block and then begin testing how a robotic hand could be attached to the Unitree R1 wrist in MuJoCo.</a:t>
            </a:r>
            <a:endParaRPr lang="en-US" sz="2400" dirty="0"/>
          </a:p>
        </p:txBody>
      </p:sp>
      <p:sp>
        <p:nvSpPr>
          <p:cNvPr id="4" name="Shape 2"/>
          <p:cNvSpPr/>
          <p:nvPr/>
        </p:nvSpPr>
        <p:spPr>
          <a:xfrm>
            <a:off x="5797296" y="1060704"/>
            <a:ext cx="4727448" cy="4133088"/>
          </a:xfrm>
          <a:prstGeom prst="rect">
            <a:avLst/>
          </a:prstGeom>
          <a:solidFill>
            <a:srgbClr val="FFFFFF">
              <a:alpha val="0"/>
            </a:srgbClr>
          </a:solidFill>
          <a:ln w="10160">
            <a:solidFill>
              <a:srgbClr val="D0D0D0"/>
            </a:solidFill>
            <a:prstDash val="solid"/>
          </a:ln>
        </p:spPr>
      </p:sp>
      <p:pic>
        <p:nvPicPr>
          <p:cNvPr id="5" name="Image 0" descr="/mnt/data/week19_assets/video1_thumb.png"/>
          <p:cNvPicPr>
            <a:picLocks noChangeAspect="1"/>
          </p:cNvPicPr>
          <p:nvPr/>
        </p:nvPicPr>
        <p:blipFill>
          <a:blip r:embed="rId3"/>
          <a:srcRect t="69" b="69"/>
          <a:stretch/>
        </p:blipFill>
        <p:spPr>
          <a:xfrm>
            <a:off x="5806440" y="1069848"/>
            <a:ext cx="4709160" cy="4114800"/>
          </a:xfrm>
          <a:prstGeom prst="rect">
            <a:avLst/>
          </a:prstGeom>
        </p:spPr>
      </p:pic>
      <p:sp>
        <p:nvSpPr>
          <p:cNvPr id="7" name="Text 4"/>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2</a:t>
            </a:r>
            <a:endParaRPr lang="en-US" sz="4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The advanced task used the HandManipulateBlockRotateZDense-v1 environment.</a:t>
            </a:r>
            <a:endParaRPr lang="en-US" sz="1550" dirty="0"/>
          </a:p>
        </p:txBody>
      </p:sp>
      <p:sp>
        <p:nvSpPr>
          <p:cNvPr id="3" name="Text 1"/>
          <p:cNvSpPr/>
          <p:nvPr/>
        </p:nvSpPr>
        <p:spPr>
          <a:xfrm>
            <a:off x="786384" y="1143000"/>
            <a:ext cx="4892040" cy="1280160"/>
          </a:xfrm>
          <a:prstGeom prst="rect">
            <a:avLst/>
          </a:prstGeom>
          <a:noFill/>
          <a:ln/>
        </p:spPr>
        <p:txBody>
          <a:bodyPr wrap="square" lIns="254" tIns="254" rIns="254" bIns="254" rtlCol="0" anchor="t">
            <a:noAutofit/>
          </a:bodyPr>
          <a:lstStyle/>
          <a:p>
            <a:pPr marL="0" indent="0">
              <a:buNone/>
            </a:pPr>
            <a:r>
              <a:rPr lang="en-US" sz="1600" dirty="0">
                <a:solidFill>
                  <a:srgbClr val="111111"/>
                </a:solidFill>
                <a:latin typeface="Aptos" pitchFamily="34" charset="0"/>
                <a:ea typeface="Aptos" pitchFamily="34" charset="-122"/>
                <a:cs typeface="Aptos" pitchFamily="34" charset="-120"/>
              </a:rPr>
              <a:t>Instead of only moving fingertips toward colored targets, this task requires the hand to make contact with a block and rotate it around the Z axis. This makes the training more difficult because the policy must coordinate multiple fingers while maintaining useful contact with the object.</a:t>
            </a:r>
            <a:endParaRPr lang="en-US" sz="1600" dirty="0"/>
          </a:p>
        </p:txBody>
      </p:sp>
      <p:sp>
        <p:nvSpPr>
          <p:cNvPr id="4" name="Text 2"/>
          <p:cNvSpPr/>
          <p:nvPr/>
        </p:nvSpPr>
        <p:spPr>
          <a:xfrm>
            <a:off x="1014984" y="5294376"/>
            <a:ext cx="4663440" cy="1234440"/>
          </a:xfrm>
          <a:prstGeom prst="rect">
            <a:avLst/>
          </a:prstGeom>
          <a:noFill/>
          <a:ln/>
        </p:spPr>
        <p:txBody>
          <a:bodyPr wrap="square" lIns="254" tIns="254" rIns="254" bIns="254" rtlCol="0" anchor="t">
            <a:normAutofit/>
          </a:bodyPr>
          <a:lstStyle/>
          <a:p>
            <a:r>
              <a:rPr lang="en-US" sz="1400" dirty="0">
                <a:solidFill>
                  <a:srgbClr val="111111"/>
                </a:solidFill>
                <a:latin typeface="Aptos" pitchFamily="34" charset="0"/>
                <a:ea typeface="Aptos" pitchFamily="34" charset="-122"/>
                <a:cs typeface="Aptos" pitchFamily="34" charset="-120"/>
              </a:rPr>
              <a:t>Environment: HandManipulateBlockRotateZDense-v1</a:t>
            </a:r>
            <a:endParaRPr lang="en-US" sz="1400" dirty="0"/>
          </a:p>
          <a:p>
            <a:r>
              <a:rPr lang="en-US" sz="1400" dirty="0">
                <a:solidFill>
                  <a:srgbClr val="111111"/>
                </a:solidFill>
                <a:latin typeface="Aptos" pitchFamily="34" charset="0"/>
                <a:ea typeface="Aptos" pitchFamily="34" charset="-122"/>
                <a:cs typeface="Aptos" pitchFamily="34" charset="-120"/>
              </a:rPr>
              <a:t>Simulator: MuJoCo</a:t>
            </a:r>
            <a:endParaRPr lang="en-US" sz="1400" dirty="0"/>
          </a:p>
          <a:p>
            <a:r>
              <a:rPr lang="en-US" sz="1400" dirty="0">
                <a:solidFill>
                  <a:srgbClr val="111111"/>
                </a:solidFill>
                <a:latin typeface="Aptos" pitchFamily="34" charset="0"/>
                <a:ea typeface="Aptos" pitchFamily="34" charset="-122"/>
                <a:cs typeface="Aptos" pitchFamily="34" charset="-120"/>
              </a:rPr>
              <a:t>Training method: SAC with HER replay buffer</a:t>
            </a:r>
            <a:endParaRPr lang="en-US" sz="1400" dirty="0"/>
          </a:p>
          <a:p>
            <a:r>
              <a:rPr lang="en-US" sz="1400" dirty="0">
                <a:solidFill>
                  <a:srgbClr val="111111"/>
                </a:solidFill>
                <a:latin typeface="Aptos" pitchFamily="34" charset="0"/>
                <a:ea typeface="Aptos" pitchFamily="34" charset="-122"/>
                <a:cs typeface="Aptos" pitchFamily="34" charset="-120"/>
              </a:rPr>
              <a:t>Observation type: dictionary observations</a:t>
            </a:r>
            <a:endParaRPr lang="en-US" sz="1400" dirty="0"/>
          </a:p>
          <a:p>
            <a:r>
              <a:rPr lang="en-US" sz="1400" dirty="0">
                <a:solidFill>
                  <a:srgbClr val="111111"/>
                </a:solidFill>
                <a:latin typeface="Aptos" pitchFamily="34" charset="0"/>
                <a:ea typeface="Aptos" pitchFamily="34" charset="-122"/>
                <a:cs typeface="Aptos" pitchFamily="34" charset="-120"/>
              </a:rPr>
              <a:t>Goal: rotate the block toward the desired target orientation</a:t>
            </a:r>
            <a:endParaRPr lang="en-US" sz="1400" dirty="0"/>
          </a:p>
        </p:txBody>
      </p:sp>
      <p:sp>
        <p:nvSpPr>
          <p:cNvPr id="5" name="Shape 3"/>
          <p:cNvSpPr/>
          <p:nvPr/>
        </p:nvSpPr>
        <p:spPr>
          <a:xfrm>
            <a:off x="6117336" y="1042416"/>
            <a:ext cx="4178808" cy="3904488"/>
          </a:xfrm>
          <a:prstGeom prst="rect">
            <a:avLst/>
          </a:prstGeom>
          <a:solidFill>
            <a:srgbClr val="FFFFFF">
              <a:alpha val="0"/>
            </a:srgbClr>
          </a:solidFill>
          <a:ln w="10160">
            <a:solidFill>
              <a:srgbClr val="D0D0D0"/>
            </a:solidFill>
            <a:prstDash val="solid"/>
          </a:ln>
        </p:spPr>
      </p:sp>
      <p:pic>
        <p:nvPicPr>
          <p:cNvPr id="6" name="Image 0" descr="/mnt/data/week19_assets/video1_thumb.png"/>
          <p:cNvPicPr>
            <a:picLocks noChangeAspect="1"/>
          </p:cNvPicPr>
          <p:nvPr/>
        </p:nvPicPr>
        <p:blipFill>
          <a:blip r:embed="rId3"/>
          <a:srcRect l="3162" r="3162"/>
          <a:stretch/>
        </p:blipFill>
        <p:spPr>
          <a:xfrm>
            <a:off x="6126480" y="1051560"/>
            <a:ext cx="4160520" cy="3886200"/>
          </a:xfrm>
          <a:prstGeom prst="rect">
            <a:avLst/>
          </a:prstGeom>
        </p:spPr>
      </p:pic>
      <p:sp>
        <p:nvSpPr>
          <p:cNvPr id="7" name="Text 4"/>
          <p:cNvSpPr/>
          <p:nvPr/>
        </p:nvSpPr>
        <p:spPr>
          <a:xfrm>
            <a:off x="6126480" y="5074920"/>
            <a:ext cx="4160520" cy="137160"/>
          </a:xfrm>
          <a:prstGeom prst="rect">
            <a:avLst/>
          </a:prstGeom>
          <a:noFill/>
          <a:ln/>
        </p:spPr>
        <p:txBody>
          <a:bodyPr wrap="square" lIns="0" tIns="0" rIns="0" bIns="0" rtlCol="0" anchor="ctr">
            <a:normAutofit/>
          </a:bodyPr>
          <a:lstStyle/>
          <a:p>
            <a:pPr marL="0" indent="0" algn="ctr">
              <a:buNone/>
            </a:pPr>
            <a:r>
              <a:rPr lang="en-US" sz="470" i="1" dirty="0">
                <a:solidFill>
                  <a:srgbClr val="555555"/>
                </a:solidFill>
              </a:rPr>
              <a:t>The block task is more advanced because it requires contact, rotation, and coordination.</a:t>
            </a:r>
            <a:endParaRPr lang="en-US" sz="470" dirty="0"/>
          </a:p>
        </p:txBody>
      </p:sp>
      <p:sp>
        <p:nvSpPr>
          <p:cNvPr id="8" name="Text 5"/>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3</a:t>
            </a:r>
            <a:endParaRPr lang="en-US" sz="4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After longer training, the evaluation reached a 60% success rate at 500,000 timesteps.</a:t>
            </a:r>
            <a:endParaRPr lang="en-US" sz="1550" dirty="0"/>
          </a:p>
        </p:txBody>
      </p:sp>
      <p:sp>
        <p:nvSpPr>
          <p:cNvPr id="3" name="Shape 1"/>
          <p:cNvSpPr/>
          <p:nvPr/>
        </p:nvSpPr>
        <p:spPr>
          <a:xfrm>
            <a:off x="649224" y="987552"/>
            <a:ext cx="5916168" cy="4206240"/>
          </a:xfrm>
          <a:prstGeom prst="rect">
            <a:avLst/>
          </a:prstGeom>
          <a:solidFill>
            <a:srgbClr val="FFFFFF">
              <a:alpha val="0"/>
            </a:srgbClr>
          </a:solidFill>
          <a:ln w="10160">
            <a:solidFill>
              <a:srgbClr val="D0D0D0"/>
            </a:solidFill>
            <a:prstDash val="solid"/>
          </a:ln>
        </p:spPr>
      </p:sp>
      <p:pic>
        <p:nvPicPr>
          <p:cNvPr id="4" name="Image 0" descr="/mnt/data/Screenshot 2026-07-04 at 2.32.05 AM.png"/>
          <p:cNvPicPr>
            <a:picLocks noChangeAspect="1"/>
          </p:cNvPicPr>
          <p:nvPr/>
        </p:nvPicPr>
        <p:blipFill>
          <a:blip r:embed="rId3"/>
          <a:stretch>
            <a:fillRect/>
          </a:stretch>
        </p:blipFill>
        <p:spPr>
          <a:xfrm>
            <a:off x="658368" y="1331045"/>
            <a:ext cx="5897880" cy="3519254"/>
          </a:xfrm>
          <a:prstGeom prst="rect">
            <a:avLst/>
          </a:prstGeom>
        </p:spPr>
      </p:pic>
      <p:sp>
        <p:nvSpPr>
          <p:cNvPr id="5" name="Text 2"/>
          <p:cNvSpPr/>
          <p:nvPr/>
        </p:nvSpPr>
        <p:spPr>
          <a:xfrm>
            <a:off x="6903720" y="1344168"/>
            <a:ext cx="1234440" cy="237744"/>
          </a:xfrm>
          <a:prstGeom prst="rect">
            <a:avLst/>
          </a:prstGeom>
          <a:noFill/>
          <a:ln/>
        </p:spPr>
        <p:txBody>
          <a:bodyPr wrap="square" lIns="0" tIns="0" rIns="0" bIns="0" rtlCol="0" anchor="ctr">
            <a:normAutofit/>
          </a:bodyPr>
          <a:lstStyle/>
          <a:p>
            <a:pPr marL="0" indent="0" algn="ctr">
              <a:buNone/>
            </a:pPr>
            <a:r>
              <a:rPr lang="en-US" sz="1500" b="1" dirty="0">
                <a:solidFill>
                  <a:srgbClr val="2E7D32"/>
                </a:solidFill>
              </a:rPr>
              <a:t>60%</a:t>
            </a:r>
            <a:endParaRPr lang="en-US" sz="1500" dirty="0"/>
          </a:p>
        </p:txBody>
      </p:sp>
      <p:sp>
        <p:nvSpPr>
          <p:cNvPr id="6" name="Text 3"/>
          <p:cNvSpPr/>
          <p:nvPr/>
        </p:nvSpPr>
        <p:spPr>
          <a:xfrm>
            <a:off x="6903720" y="1655064"/>
            <a:ext cx="1234440" cy="146304"/>
          </a:xfrm>
          <a:prstGeom prst="rect">
            <a:avLst/>
          </a:prstGeom>
          <a:noFill/>
          <a:ln/>
        </p:spPr>
        <p:txBody>
          <a:bodyPr wrap="square" lIns="0" tIns="0" rIns="0" bIns="0" rtlCol="0" anchor="ctr">
            <a:noAutofit/>
          </a:bodyPr>
          <a:lstStyle/>
          <a:p>
            <a:pPr marL="0" indent="0" algn="ctr">
              <a:buNone/>
            </a:pPr>
            <a:r>
              <a:rPr lang="en-US" sz="1200" dirty="0">
                <a:solidFill>
                  <a:srgbClr val="555555"/>
                </a:solidFill>
              </a:rPr>
              <a:t>success rate</a:t>
            </a:r>
            <a:endParaRPr lang="en-US" sz="1200" dirty="0"/>
          </a:p>
        </p:txBody>
      </p:sp>
      <p:sp>
        <p:nvSpPr>
          <p:cNvPr id="7" name="Text 4"/>
          <p:cNvSpPr/>
          <p:nvPr/>
        </p:nvSpPr>
        <p:spPr>
          <a:xfrm>
            <a:off x="8430768" y="1344168"/>
            <a:ext cx="1234440" cy="237744"/>
          </a:xfrm>
          <a:prstGeom prst="rect">
            <a:avLst/>
          </a:prstGeom>
          <a:noFill/>
          <a:ln/>
        </p:spPr>
        <p:txBody>
          <a:bodyPr wrap="square" lIns="0" tIns="0" rIns="0" bIns="0" rtlCol="0" anchor="ctr">
            <a:normAutofit/>
          </a:bodyPr>
          <a:lstStyle/>
          <a:p>
            <a:pPr marL="0" indent="0" algn="ctr">
              <a:buNone/>
            </a:pPr>
            <a:r>
              <a:rPr lang="en-US" sz="1500" b="1" dirty="0">
                <a:solidFill>
                  <a:srgbClr val="1E5AA8"/>
                </a:solidFill>
              </a:rPr>
              <a:t>-36</a:t>
            </a:r>
            <a:endParaRPr lang="en-US" sz="1500" dirty="0"/>
          </a:p>
        </p:txBody>
      </p:sp>
      <p:sp>
        <p:nvSpPr>
          <p:cNvPr id="8" name="Text 5"/>
          <p:cNvSpPr/>
          <p:nvPr/>
        </p:nvSpPr>
        <p:spPr>
          <a:xfrm>
            <a:off x="8430768" y="1655064"/>
            <a:ext cx="1234440" cy="146304"/>
          </a:xfrm>
          <a:prstGeom prst="rect">
            <a:avLst/>
          </a:prstGeom>
          <a:noFill/>
          <a:ln/>
        </p:spPr>
        <p:txBody>
          <a:bodyPr wrap="square" lIns="0" tIns="0" rIns="0" bIns="0" rtlCol="0" anchor="ctr">
            <a:noAutofit/>
          </a:bodyPr>
          <a:lstStyle/>
          <a:p>
            <a:pPr marL="0" indent="0" algn="ctr">
              <a:buNone/>
            </a:pPr>
            <a:r>
              <a:rPr lang="en-US" sz="1200" dirty="0">
                <a:solidFill>
                  <a:srgbClr val="555555"/>
                </a:solidFill>
              </a:rPr>
              <a:t>mean reward</a:t>
            </a:r>
            <a:endParaRPr lang="en-US" sz="1200" dirty="0"/>
          </a:p>
        </p:txBody>
      </p:sp>
      <p:sp>
        <p:nvSpPr>
          <p:cNvPr id="9" name="Text 6"/>
          <p:cNvSpPr/>
          <p:nvPr/>
        </p:nvSpPr>
        <p:spPr>
          <a:xfrm>
            <a:off x="9930384" y="1344168"/>
            <a:ext cx="1234440" cy="237744"/>
          </a:xfrm>
          <a:prstGeom prst="rect">
            <a:avLst/>
          </a:prstGeom>
          <a:noFill/>
          <a:ln/>
        </p:spPr>
        <p:txBody>
          <a:bodyPr wrap="square" lIns="0" tIns="0" rIns="0" bIns="0" rtlCol="0" anchor="ctr">
            <a:normAutofit/>
          </a:bodyPr>
          <a:lstStyle/>
          <a:p>
            <a:pPr marL="0" indent="0" algn="ctr">
              <a:buNone/>
            </a:pPr>
            <a:r>
              <a:rPr lang="en-US" sz="1500" b="1" dirty="0">
                <a:solidFill>
                  <a:srgbClr val="C36B00"/>
                </a:solidFill>
              </a:rPr>
              <a:t>100</a:t>
            </a:r>
            <a:endParaRPr lang="en-US" sz="1500" dirty="0"/>
          </a:p>
        </p:txBody>
      </p:sp>
      <p:sp>
        <p:nvSpPr>
          <p:cNvPr id="10" name="Text 7"/>
          <p:cNvSpPr/>
          <p:nvPr/>
        </p:nvSpPr>
        <p:spPr>
          <a:xfrm>
            <a:off x="9930384" y="1655064"/>
            <a:ext cx="1234440" cy="146304"/>
          </a:xfrm>
          <a:prstGeom prst="rect">
            <a:avLst/>
          </a:prstGeom>
          <a:noFill/>
          <a:ln/>
        </p:spPr>
        <p:txBody>
          <a:bodyPr wrap="square" lIns="0" tIns="0" rIns="0" bIns="0" rtlCol="0" anchor="ctr">
            <a:noAutofit/>
          </a:bodyPr>
          <a:lstStyle/>
          <a:p>
            <a:pPr marL="0" indent="0" algn="ctr">
              <a:buNone/>
            </a:pPr>
            <a:r>
              <a:rPr lang="en-US" sz="1200" dirty="0">
                <a:solidFill>
                  <a:srgbClr val="555555"/>
                </a:solidFill>
              </a:rPr>
              <a:t>episode length</a:t>
            </a:r>
            <a:endParaRPr lang="en-US" sz="1200" dirty="0"/>
          </a:p>
        </p:txBody>
      </p:sp>
      <p:sp>
        <p:nvSpPr>
          <p:cNvPr id="11" name="Text 8"/>
          <p:cNvSpPr/>
          <p:nvPr/>
        </p:nvSpPr>
        <p:spPr>
          <a:xfrm>
            <a:off x="7699248" y="2743200"/>
            <a:ext cx="1234440" cy="237744"/>
          </a:xfrm>
          <a:prstGeom prst="rect">
            <a:avLst/>
          </a:prstGeom>
          <a:noFill/>
          <a:ln/>
        </p:spPr>
        <p:txBody>
          <a:bodyPr wrap="square" lIns="0" tIns="0" rIns="0" bIns="0" rtlCol="0" anchor="ctr">
            <a:normAutofit/>
          </a:bodyPr>
          <a:lstStyle/>
          <a:p>
            <a:pPr marL="0" indent="0" algn="ctr">
              <a:buNone/>
            </a:pPr>
            <a:r>
              <a:rPr lang="en-US" sz="1500" b="1" dirty="0">
                <a:solidFill>
                  <a:srgbClr val="2E7D32"/>
                </a:solidFill>
              </a:rPr>
              <a:t>500k</a:t>
            </a:r>
            <a:endParaRPr lang="en-US" sz="1500" dirty="0"/>
          </a:p>
        </p:txBody>
      </p:sp>
      <p:sp>
        <p:nvSpPr>
          <p:cNvPr id="12" name="Text 9"/>
          <p:cNvSpPr/>
          <p:nvPr/>
        </p:nvSpPr>
        <p:spPr>
          <a:xfrm>
            <a:off x="7699248" y="3054096"/>
            <a:ext cx="1234440" cy="146304"/>
          </a:xfrm>
          <a:prstGeom prst="rect">
            <a:avLst/>
          </a:prstGeom>
          <a:noFill/>
          <a:ln/>
        </p:spPr>
        <p:txBody>
          <a:bodyPr wrap="square" lIns="0" tIns="0" rIns="0" bIns="0" rtlCol="0" anchor="ctr">
            <a:noAutofit/>
          </a:bodyPr>
          <a:lstStyle/>
          <a:p>
            <a:pPr marL="0" indent="0" algn="ctr">
              <a:buNone/>
            </a:pPr>
            <a:r>
              <a:rPr lang="en-US" sz="1200" dirty="0">
                <a:solidFill>
                  <a:srgbClr val="555555"/>
                </a:solidFill>
              </a:rPr>
              <a:t>timesteps</a:t>
            </a:r>
            <a:endParaRPr lang="en-US" sz="1200" dirty="0"/>
          </a:p>
        </p:txBody>
      </p:sp>
      <p:sp>
        <p:nvSpPr>
          <p:cNvPr id="13" name="Text 10"/>
          <p:cNvSpPr/>
          <p:nvPr/>
        </p:nvSpPr>
        <p:spPr>
          <a:xfrm>
            <a:off x="6839712" y="3767328"/>
            <a:ext cx="4041648" cy="1051560"/>
          </a:xfrm>
          <a:prstGeom prst="rect">
            <a:avLst/>
          </a:prstGeom>
          <a:noFill/>
          <a:ln/>
        </p:spPr>
        <p:txBody>
          <a:bodyPr wrap="square" lIns="254" tIns="254" rIns="254" bIns="254" rtlCol="0" anchor="t">
            <a:noAutofit/>
          </a:bodyPr>
          <a:lstStyle/>
          <a:p>
            <a:pPr marL="0" indent="0">
              <a:buNone/>
            </a:pPr>
            <a:r>
              <a:rPr lang="en-US" sz="2000" dirty="0">
                <a:solidFill>
                  <a:srgbClr val="111111"/>
                </a:solidFill>
                <a:latin typeface="Aptos" pitchFamily="34" charset="0"/>
                <a:ea typeface="Aptos" pitchFamily="34" charset="-122"/>
                <a:cs typeface="Aptos" pitchFamily="34" charset="-120"/>
              </a:rPr>
              <a:t>The stronger evaluation result shows clear progress compared with the first hand-reaching policy. The policy is still not perfect, but it is completing the block-rotation task more often after additional training.</a:t>
            </a:r>
            <a:endParaRPr lang="en-US" sz="2000" dirty="0"/>
          </a:p>
        </p:txBody>
      </p:sp>
      <p:sp>
        <p:nvSpPr>
          <p:cNvPr id="15" name="Text 12"/>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4</a:t>
            </a:r>
            <a:endParaRPr lang="en-US" sz="4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Checkpoint evaluation was used to select the best policy instead of assuming the final model was best.</a:t>
            </a:r>
            <a:endParaRPr lang="en-US" sz="1550" dirty="0"/>
          </a:p>
        </p:txBody>
      </p:sp>
      <p:sp>
        <p:nvSpPr>
          <p:cNvPr id="3" name="Text 1"/>
          <p:cNvSpPr/>
          <p:nvPr/>
        </p:nvSpPr>
        <p:spPr>
          <a:xfrm>
            <a:off x="685800" y="960120"/>
            <a:ext cx="10241280" cy="658368"/>
          </a:xfrm>
          <a:prstGeom prst="rect">
            <a:avLst/>
          </a:prstGeom>
          <a:noFill/>
          <a:ln/>
        </p:spPr>
        <p:txBody>
          <a:bodyPr wrap="square" lIns="254" tIns="254" rIns="254" bIns="254" rtlCol="0" anchor="t">
            <a:noAutofit/>
          </a:bodyPr>
          <a:lstStyle/>
          <a:p>
            <a:pPr marL="0" indent="0">
              <a:buNone/>
            </a:pPr>
            <a:r>
              <a:rPr lang="en-US" sz="1600" dirty="0">
                <a:solidFill>
                  <a:srgbClr val="111111"/>
                </a:solidFill>
                <a:latin typeface="Aptos" pitchFamily="34" charset="0"/>
                <a:ea typeface="Aptos" pitchFamily="34" charset="-122"/>
                <a:cs typeface="Aptos" pitchFamily="34" charset="-120"/>
              </a:rPr>
              <a:t>The first evaluation sweep compared all saved checkpoints. The 300,000-step checkpoint had the best combination of success rate and reward in the original run, while later continued training improved the evaluation result to 45%. This shows why checking multiple checkpoints is important.</a:t>
            </a:r>
            <a:endParaRPr lang="en-US" sz="1600" dirty="0"/>
          </a:p>
        </p:txBody>
      </p:sp>
      <p:sp>
        <p:nvSpPr>
          <p:cNvPr id="4" name="Shape 2"/>
          <p:cNvSpPr/>
          <p:nvPr/>
        </p:nvSpPr>
        <p:spPr>
          <a:xfrm>
            <a:off x="649224" y="1865376"/>
            <a:ext cx="10853928" cy="3355848"/>
          </a:xfrm>
          <a:prstGeom prst="rect">
            <a:avLst/>
          </a:prstGeom>
          <a:solidFill>
            <a:srgbClr val="FFFFFF">
              <a:alpha val="0"/>
            </a:srgbClr>
          </a:solidFill>
          <a:ln w="10160">
            <a:solidFill>
              <a:srgbClr val="D0D0D0"/>
            </a:solidFill>
            <a:prstDash val="solid"/>
          </a:ln>
        </p:spPr>
      </p:sp>
      <p:pic>
        <p:nvPicPr>
          <p:cNvPr id="5" name="Image 0" descr="/mnt/data/Screenshot 2026-07-04 at 2.40.50 AM.png"/>
          <p:cNvPicPr>
            <a:picLocks noChangeAspect="1"/>
          </p:cNvPicPr>
          <p:nvPr/>
        </p:nvPicPr>
        <p:blipFill>
          <a:blip r:embed="rId3"/>
          <a:stretch>
            <a:fillRect/>
          </a:stretch>
        </p:blipFill>
        <p:spPr>
          <a:xfrm>
            <a:off x="1873158" y="1874520"/>
            <a:ext cx="8406061" cy="3337560"/>
          </a:xfrm>
          <a:prstGeom prst="rect">
            <a:avLst/>
          </a:prstGeom>
        </p:spPr>
      </p:pic>
      <p:sp>
        <p:nvSpPr>
          <p:cNvPr id="6" name="Text 3"/>
          <p:cNvSpPr/>
          <p:nvPr/>
        </p:nvSpPr>
        <p:spPr>
          <a:xfrm>
            <a:off x="658368" y="5340096"/>
            <a:ext cx="10835640" cy="137160"/>
          </a:xfrm>
          <a:prstGeom prst="rect">
            <a:avLst/>
          </a:prstGeom>
          <a:noFill/>
          <a:ln/>
        </p:spPr>
        <p:txBody>
          <a:bodyPr wrap="square" lIns="0" tIns="0" rIns="0" bIns="0" rtlCol="0" anchor="ctr">
            <a:normAutofit/>
          </a:bodyPr>
          <a:lstStyle/>
          <a:p>
            <a:pPr marL="0" indent="0" algn="ctr">
              <a:buNone/>
            </a:pPr>
            <a:r>
              <a:rPr lang="en-US" sz="470" i="1" dirty="0">
                <a:solidFill>
                  <a:srgbClr val="555555"/>
                </a:solidFill>
              </a:rPr>
              <a:t>Evaluation table comparing saved hand-block checkpoints by reward and success rate.</a:t>
            </a:r>
            <a:endParaRPr lang="en-US" sz="470" dirty="0"/>
          </a:p>
        </p:txBody>
      </p:sp>
      <p:sp>
        <p:nvSpPr>
          <p:cNvPr id="7" name="Text 4"/>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5</a:t>
            </a:r>
            <a:endParaRPr lang="en-US" sz="4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Policy visualization: the hand attempts to rotate and stabilize the block.</a:t>
            </a:r>
            <a:endParaRPr lang="en-US" sz="1550" dirty="0"/>
          </a:p>
        </p:txBody>
      </p:sp>
      <p:sp>
        <p:nvSpPr>
          <p:cNvPr id="3" name="Shape 1"/>
          <p:cNvSpPr/>
          <p:nvPr/>
        </p:nvSpPr>
        <p:spPr>
          <a:xfrm>
            <a:off x="2386584" y="886968"/>
            <a:ext cx="7379208" cy="5340096"/>
          </a:xfrm>
          <a:prstGeom prst="rect">
            <a:avLst/>
          </a:prstGeom>
          <a:solidFill>
            <a:srgbClr val="FFFFFF">
              <a:alpha val="0"/>
            </a:srgbClr>
          </a:solidFill>
          <a:ln w="10160">
            <a:solidFill>
              <a:srgbClr val="D0D0D0"/>
            </a:solidFill>
            <a:prstDash val="solid"/>
          </a:ln>
        </p:spPr>
      </p:sp>
      <p:pic>
        <p:nvPicPr>
          <p:cNvPr id="4" name="video1.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395728" y="896112"/>
            <a:ext cx="7360920" cy="5321808"/>
          </a:xfrm>
          <a:prstGeom prst="rect">
            <a:avLst/>
          </a:prstGeom>
        </p:spPr>
      </p:pic>
      <p:sp>
        <p:nvSpPr>
          <p:cNvPr id="5" name="Shape 2"/>
          <p:cNvSpPr/>
          <p:nvPr/>
        </p:nvSpPr>
        <p:spPr>
          <a:xfrm>
            <a:off x="8714232" y="1033272"/>
            <a:ext cx="749808" cy="246888"/>
          </a:xfrm>
          <a:prstGeom prst="roundRect">
            <a:avLst>
              <a:gd name="adj" fmla="val 22222"/>
            </a:avLst>
          </a:prstGeom>
          <a:solidFill>
            <a:srgbClr val="FFFFFF">
              <a:alpha val="92000"/>
            </a:srgbClr>
          </a:solidFill>
          <a:ln w="12700">
            <a:solidFill>
              <a:srgbClr val="D0D0D0">
                <a:alpha val="70000"/>
              </a:srgbClr>
            </a:solidFill>
            <a:prstDash val="solid"/>
          </a:ln>
        </p:spPr>
      </p:sp>
      <p:sp>
        <p:nvSpPr>
          <p:cNvPr id="6" name="Text 3"/>
          <p:cNvSpPr/>
          <p:nvPr/>
        </p:nvSpPr>
        <p:spPr>
          <a:xfrm>
            <a:off x="8769096" y="1092708"/>
            <a:ext cx="640080" cy="100584"/>
          </a:xfrm>
          <a:prstGeom prst="rect">
            <a:avLst/>
          </a:prstGeom>
          <a:noFill/>
          <a:ln/>
        </p:spPr>
        <p:txBody>
          <a:bodyPr wrap="square" lIns="0" tIns="0" rIns="0" bIns="0" rtlCol="0" anchor="ctr"/>
          <a:lstStyle/>
          <a:p>
            <a:pPr marL="0" indent="0" algn="ctr">
              <a:buNone/>
            </a:pPr>
            <a:r>
              <a:rPr lang="en-US" sz="560" b="1" dirty="0">
                <a:solidFill>
                  <a:srgbClr val="111111"/>
                </a:solidFill>
              </a:rPr>
              <a:t>Video</a:t>
            </a:r>
            <a:endParaRPr lang="en-US" sz="560" dirty="0"/>
          </a:p>
        </p:txBody>
      </p:sp>
      <p:sp>
        <p:nvSpPr>
          <p:cNvPr id="7" name="Text 4"/>
          <p:cNvSpPr/>
          <p:nvPr/>
        </p:nvSpPr>
        <p:spPr>
          <a:xfrm>
            <a:off x="2395728" y="6281928"/>
            <a:ext cx="7360920" cy="137160"/>
          </a:xfrm>
          <a:prstGeom prst="rect">
            <a:avLst/>
          </a:prstGeom>
          <a:noFill/>
          <a:ln/>
        </p:spPr>
        <p:txBody>
          <a:bodyPr wrap="square" lIns="0" tIns="0" rIns="0" bIns="0" rtlCol="0" anchor="ctr">
            <a:normAutofit/>
          </a:bodyPr>
          <a:lstStyle/>
          <a:p>
            <a:pPr marL="0" indent="0" algn="ctr">
              <a:buNone/>
            </a:pPr>
            <a:r>
              <a:rPr lang="en-US" sz="470" i="1" dirty="0">
                <a:solidFill>
                  <a:srgbClr val="555555"/>
                </a:solidFill>
              </a:rPr>
              <a:t>Video 1: trained hand policy running in the block-rotation environment.</a:t>
            </a:r>
            <a:endParaRPr lang="en-US" sz="470" dirty="0"/>
          </a:p>
        </p:txBody>
      </p:sp>
      <p:sp>
        <p:nvSpPr>
          <p:cNvPr id="8" name="Text 5"/>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6</a:t>
            </a:r>
            <a:endParaRPr lang="en-US" sz="4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The next step was testing a simple robotic hand attachment on the Unitree R1 wrist.</a:t>
            </a:r>
            <a:endParaRPr lang="en-US" sz="1550" dirty="0"/>
          </a:p>
        </p:txBody>
      </p:sp>
      <p:sp>
        <p:nvSpPr>
          <p:cNvPr id="3" name="Shape 1"/>
          <p:cNvSpPr/>
          <p:nvPr/>
        </p:nvSpPr>
        <p:spPr>
          <a:xfrm>
            <a:off x="2039112" y="886968"/>
            <a:ext cx="8110728" cy="5340096"/>
          </a:xfrm>
          <a:prstGeom prst="rect">
            <a:avLst/>
          </a:prstGeom>
          <a:solidFill>
            <a:srgbClr val="FFFFFF">
              <a:alpha val="0"/>
            </a:srgbClr>
          </a:solidFill>
          <a:ln w="10160">
            <a:solidFill>
              <a:srgbClr val="D0D0D0"/>
            </a:solidFill>
            <a:prstDash val="solid"/>
          </a:ln>
        </p:spPr>
      </p:sp>
      <p:pic>
        <p:nvPicPr>
          <p:cNvPr id="4" name="video2.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00784" y="932688"/>
            <a:ext cx="8092440" cy="5321808"/>
          </a:xfrm>
          <a:prstGeom prst="rect">
            <a:avLst/>
          </a:prstGeom>
        </p:spPr>
      </p:pic>
      <p:sp>
        <p:nvSpPr>
          <p:cNvPr id="5" name="Shape 2"/>
          <p:cNvSpPr/>
          <p:nvPr/>
        </p:nvSpPr>
        <p:spPr>
          <a:xfrm>
            <a:off x="9098280" y="1033272"/>
            <a:ext cx="749808" cy="246888"/>
          </a:xfrm>
          <a:prstGeom prst="roundRect">
            <a:avLst>
              <a:gd name="adj" fmla="val 22222"/>
            </a:avLst>
          </a:prstGeom>
          <a:solidFill>
            <a:srgbClr val="FFFFFF">
              <a:alpha val="92000"/>
            </a:srgbClr>
          </a:solidFill>
          <a:ln w="12700">
            <a:solidFill>
              <a:srgbClr val="D0D0D0">
                <a:alpha val="70000"/>
              </a:srgbClr>
            </a:solidFill>
            <a:prstDash val="solid"/>
          </a:ln>
        </p:spPr>
      </p:sp>
      <p:sp>
        <p:nvSpPr>
          <p:cNvPr id="6" name="Text 3"/>
          <p:cNvSpPr/>
          <p:nvPr/>
        </p:nvSpPr>
        <p:spPr>
          <a:xfrm>
            <a:off x="9153144" y="1092708"/>
            <a:ext cx="640080" cy="100584"/>
          </a:xfrm>
          <a:prstGeom prst="rect">
            <a:avLst/>
          </a:prstGeom>
          <a:noFill/>
          <a:ln/>
        </p:spPr>
        <p:txBody>
          <a:bodyPr wrap="square" lIns="0" tIns="0" rIns="0" bIns="0" rtlCol="0" anchor="ctr"/>
          <a:lstStyle/>
          <a:p>
            <a:pPr marL="0" indent="0" algn="ctr">
              <a:buNone/>
            </a:pPr>
            <a:r>
              <a:rPr lang="en-US" sz="560" b="1" dirty="0">
                <a:solidFill>
                  <a:srgbClr val="111111"/>
                </a:solidFill>
              </a:rPr>
              <a:t>Video</a:t>
            </a:r>
            <a:endParaRPr lang="en-US" sz="560" dirty="0"/>
          </a:p>
        </p:txBody>
      </p:sp>
      <p:sp>
        <p:nvSpPr>
          <p:cNvPr id="7" name="Text 4"/>
          <p:cNvSpPr/>
          <p:nvPr/>
        </p:nvSpPr>
        <p:spPr>
          <a:xfrm>
            <a:off x="2048256" y="6281928"/>
            <a:ext cx="8092440" cy="137160"/>
          </a:xfrm>
          <a:prstGeom prst="rect">
            <a:avLst/>
          </a:prstGeom>
          <a:noFill/>
          <a:ln/>
        </p:spPr>
        <p:txBody>
          <a:bodyPr wrap="square" lIns="0" tIns="0" rIns="0" bIns="0" rtlCol="0" anchor="ctr">
            <a:normAutofit/>
          </a:bodyPr>
          <a:lstStyle/>
          <a:p>
            <a:pPr marL="0" indent="0" algn="ctr">
              <a:buNone/>
            </a:pPr>
            <a:r>
              <a:rPr lang="en-US" sz="470" i="1" dirty="0">
                <a:solidFill>
                  <a:srgbClr val="555555"/>
                </a:solidFill>
              </a:rPr>
              <a:t>Video 2: early R1 + simple hand attachment test in MuJoCo.</a:t>
            </a:r>
            <a:endParaRPr lang="en-US" sz="470" dirty="0"/>
          </a:p>
        </p:txBody>
      </p:sp>
      <p:sp>
        <p:nvSpPr>
          <p:cNvPr id="8" name="Text 5"/>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7</a:t>
            </a:r>
            <a:endParaRPr lang="en-US" sz="4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The R1 model was inspected to identify where the hand should be attached.</a:t>
            </a:r>
            <a:endParaRPr lang="en-US" sz="1550" dirty="0"/>
          </a:p>
        </p:txBody>
      </p:sp>
      <p:sp>
        <p:nvSpPr>
          <p:cNvPr id="3" name="Text 1"/>
          <p:cNvSpPr/>
          <p:nvPr/>
        </p:nvSpPr>
        <p:spPr>
          <a:xfrm>
            <a:off x="713232" y="1033272"/>
            <a:ext cx="4956048" cy="1234440"/>
          </a:xfrm>
          <a:prstGeom prst="rect">
            <a:avLst/>
          </a:prstGeom>
          <a:noFill/>
          <a:ln/>
        </p:spPr>
        <p:txBody>
          <a:bodyPr wrap="square" lIns="254" tIns="254" rIns="254" bIns="254" rtlCol="0" anchor="t">
            <a:noAutofit/>
          </a:bodyPr>
          <a:lstStyle/>
          <a:p>
            <a:pPr marL="0" indent="0">
              <a:buNone/>
            </a:pPr>
            <a:r>
              <a:rPr lang="en-US" sz="2400" dirty="0">
                <a:solidFill>
                  <a:srgbClr val="111111"/>
                </a:solidFill>
                <a:latin typeface="Aptos" pitchFamily="34" charset="0"/>
                <a:ea typeface="Aptos" pitchFamily="34" charset="-122"/>
                <a:cs typeface="Aptos" pitchFamily="34" charset="-120"/>
              </a:rPr>
              <a:t>The right wrist body was identified as right_wrist_roll_link. The inspection showed that the original R1 hand was not an articulated hand, but mainly geometry attached to the wrist. This means it can be removed and replaced with a custom hand model.</a:t>
            </a:r>
            <a:endParaRPr lang="en-US" sz="2400" dirty="0"/>
          </a:p>
        </p:txBody>
      </p:sp>
      <p:sp>
        <p:nvSpPr>
          <p:cNvPr id="4" name="Text 2"/>
          <p:cNvSpPr/>
          <p:nvPr/>
        </p:nvSpPr>
        <p:spPr>
          <a:xfrm>
            <a:off x="1216152" y="5120640"/>
            <a:ext cx="4617720" cy="1417320"/>
          </a:xfrm>
          <a:prstGeom prst="rect">
            <a:avLst/>
          </a:prstGeom>
          <a:noFill/>
          <a:ln/>
        </p:spPr>
        <p:txBody>
          <a:bodyPr wrap="square" lIns="254" tIns="254" rIns="254" bIns="254" rtlCol="0" anchor="t">
            <a:normAutofit/>
          </a:bodyPr>
          <a:lstStyle/>
          <a:p>
            <a:r>
              <a:rPr lang="en-US" sz="1400" dirty="0">
                <a:solidFill>
                  <a:srgbClr val="111111"/>
                </a:solidFill>
                <a:latin typeface="Aptos" pitchFamily="34" charset="0"/>
                <a:ea typeface="Aptos" pitchFamily="34" charset="-122"/>
                <a:cs typeface="Aptos" pitchFamily="34" charset="-120"/>
              </a:rPr>
              <a:t>Attachment body: right_wrist_roll_link</a:t>
            </a:r>
            <a:endParaRPr lang="en-US" sz="1400" dirty="0"/>
          </a:p>
          <a:p>
            <a:r>
              <a:rPr lang="en-US" sz="1400" dirty="0">
                <a:solidFill>
                  <a:srgbClr val="111111"/>
                </a:solidFill>
                <a:latin typeface="Aptos" pitchFamily="34" charset="0"/>
                <a:ea typeface="Aptos" pitchFamily="34" charset="-122"/>
                <a:cs typeface="Aptos" pitchFamily="34" charset="-120"/>
              </a:rPr>
              <a:t>Original wrist joint: right_wrist_roll_joint</a:t>
            </a:r>
            <a:endParaRPr lang="en-US" sz="1400" dirty="0"/>
          </a:p>
          <a:p>
            <a:r>
              <a:rPr lang="en-US" sz="1400" dirty="0">
                <a:solidFill>
                  <a:srgbClr val="111111"/>
                </a:solidFill>
                <a:latin typeface="Aptos" pitchFamily="34" charset="0"/>
                <a:ea typeface="Aptos" pitchFamily="34" charset="-122"/>
                <a:cs typeface="Aptos" pitchFamily="34" charset="-120"/>
              </a:rPr>
              <a:t>Original hand collision geometry: right_hand_collision</a:t>
            </a:r>
            <a:endParaRPr lang="en-US" sz="1400" dirty="0"/>
          </a:p>
          <a:p>
            <a:r>
              <a:rPr lang="en-US" sz="1400" dirty="0">
                <a:solidFill>
                  <a:srgbClr val="111111"/>
                </a:solidFill>
                <a:latin typeface="Aptos" pitchFamily="34" charset="0"/>
                <a:ea typeface="Aptos" pitchFamily="34" charset="-122"/>
                <a:cs typeface="Aptos" pitchFamily="34" charset="-120"/>
              </a:rPr>
              <a:t>Current prototype: simple 3-finger hand</a:t>
            </a:r>
            <a:endParaRPr lang="en-US" sz="1400" dirty="0"/>
          </a:p>
          <a:p>
            <a:r>
              <a:rPr lang="en-US" sz="1400" dirty="0">
                <a:solidFill>
                  <a:srgbClr val="111111"/>
                </a:solidFill>
                <a:latin typeface="Aptos" pitchFamily="34" charset="0"/>
                <a:ea typeface="Aptos" pitchFamily="34" charset="-122"/>
                <a:cs typeface="Aptos" pitchFamily="34" charset="-120"/>
              </a:rPr>
              <a:t>Testing mode: gravity disabled to inspect placement</a:t>
            </a:r>
            <a:endParaRPr lang="en-US" sz="1400" dirty="0"/>
          </a:p>
        </p:txBody>
      </p:sp>
      <p:sp>
        <p:nvSpPr>
          <p:cNvPr id="5" name="Shape 3"/>
          <p:cNvSpPr/>
          <p:nvPr/>
        </p:nvSpPr>
        <p:spPr>
          <a:xfrm>
            <a:off x="6135624" y="1014984"/>
            <a:ext cx="4453128" cy="4087368"/>
          </a:xfrm>
          <a:prstGeom prst="rect">
            <a:avLst/>
          </a:prstGeom>
          <a:solidFill>
            <a:srgbClr val="FFFFFF">
              <a:alpha val="0"/>
            </a:srgbClr>
          </a:solidFill>
          <a:ln w="10160">
            <a:solidFill>
              <a:srgbClr val="D0D0D0"/>
            </a:solidFill>
            <a:prstDash val="solid"/>
          </a:ln>
        </p:spPr>
      </p:sp>
      <p:pic>
        <p:nvPicPr>
          <p:cNvPr id="6" name="Image 0" descr="/mnt/data/week19_assets/video2_thumb.png"/>
          <p:cNvPicPr>
            <a:picLocks noChangeAspect="1"/>
          </p:cNvPicPr>
          <p:nvPr/>
        </p:nvPicPr>
        <p:blipFill>
          <a:blip r:embed="rId3"/>
          <a:srcRect l="12876" r="12876"/>
          <a:stretch/>
        </p:blipFill>
        <p:spPr>
          <a:xfrm>
            <a:off x="6144768" y="1024128"/>
            <a:ext cx="4434840" cy="4069080"/>
          </a:xfrm>
          <a:prstGeom prst="rect">
            <a:avLst/>
          </a:prstGeom>
        </p:spPr>
      </p:pic>
      <p:sp>
        <p:nvSpPr>
          <p:cNvPr id="7" name="Text 4"/>
          <p:cNvSpPr/>
          <p:nvPr/>
        </p:nvSpPr>
        <p:spPr>
          <a:xfrm>
            <a:off x="6144768" y="5257800"/>
            <a:ext cx="4434840" cy="137160"/>
          </a:xfrm>
          <a:prstGeom prst="rect">
            <a:avLst/>
          </a:prstGeom>
          <a:noFill/>
          <a:ln/>
        </p:spPr>
        <p:txBody>
          <a:bodyPr wrap="square" lIns="0" tIns="0" rIns="0" bIns="0" rtlCol="0" anchor="ctr">
            <a:normAutofit/>
          </a:bodyPr>
          <a:lstStyle/>
          <a:p>
            <a:pPr marL="0" indent="0" algn="ctr">
              <a:buNone/>
            </a:pPr>
            <a:r>
              <a:rPr lang="en-US" sz="470" i="1" dirty="0">
                <a:solidFill>
                  <a:srgbClr val="555555"/>
                </a:solidFill>
              </a:rPr>
              <a:t>Early prototype attached near the wrist; alignment still needs tuning.</a:t>
            </a:r>
            <a:endParaRPr lang="en-US" sz="470" dirty="0"/>
          </a:p>
        </p:txBody>
      </p:sp>
      <p:sp>
        <p:nvSpPr>
          <p:cNvPr id="8" name="Text 5"/>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8</a:t>
            </a:r>
            <a:endParaRPr lang="en-US" sz="4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The main takeaway is that the hand policy improved, but integration still requires model alignment.</a:t>
            </a:r>
            <a:endParaRPr lang="en-US" sz="1550" dirty="0"/>
          </a:p>
        </p:txBody>
      </p:sp>
      <p:sp>
        <p:nvSpPr>
          <p:cNvPr id="3" name="Text 1"/>
          <p:cNvSpPr/>
          <p:nvPr/>
        </p:nvSpPr>
        <p:spPr>
          <a:xfrm>
            <a:off x="713232" y="1170432"/>
            <a:ext cx="9921240" cy="932688"/>
          </a:xfrm>
          <a:prstGeom prst="rect">
            <a:avLst/>
          </a:prstGeom>
          <a:noFill/>
          <a:ln/>
        </p:spPr>
        <p:txBody>
          <a:bodyPr wrap="square" lIns="254" tIns="254" rIns="254" bIns="254" rtlCol="0" anchor="t">
            <a:noAutofit/>
          </a:bodyPr>
          <a:lstStyle/>
          <a:p>
            <a:pPr marL="0" indent="0">
              <a:buNone/>
            </a:pPr>
            <a:r>
              <a:rPr lang="en-US" dirty="0">
                <a:solidFill>
                  <a:srgbClr val="111111"/>
                </a:solidFill>
                <a:latin typeface="Aptos" pitchFamily="34" charset="0"/>
                <a:ea typeface="Aptos" pitchFamily="34" charset="-122"/>
                <a:cs typeface="Aptos" pitchFamily="34" charset="-120"/>
              </a:rPr>
              <a:t>The training results show that the hand can learn a more advanced manipulation task, reaching a 60% success rate after additional training. At the same time, the R1 integration revealed practical model-building issues: the robot falls without a controller, and the hand must be aligned carefully with the wrist frame.</a:t>
            </a:r>
            <a:endParaRPr lang="en-US" dirty="0"/>
          </a:p>
        </p:txBody>
      </p:sp>
      <p:sp>
        <p:nvSpPr>
          <p:cNvPr id="4" name="Text 2"/>
          <p:cNvSpPr/>
          <p:nvPr/>
        </p:nvSpPr>
        <p:spPr>
          <a:xfrm>
            <a:off x="987552" y="2971800"/>
            <a:ext cx="9692640" cy="1554480"/>
          </a:xfrm>
          <a:prstGeom prst="rect">
            <a:avLst/>
          </a:prstGeom>
          <a:noFill/>
          <a:ln/>
        </p:spPr>
        <p:txBody>
          <a:bodyPr wrap="square" lIns="254" tIns="254" rIns="254" bIns="254" rtlCol="0" anchor="t">
            <a:noAutofit/>
          </a:bodyPr>
          <a:lstStyle/>
          <a:p>
            <a:r>
              <a:rPr lang="en-US" dirty="0">
                <a:solidFill>
                  <a:srgbClr val="111111"/>
                </a:solidFill>
                <a:latin typeface="Aptos" pitchFamily="34" charset="0"/>
                <a:ea typeface="Aptos" pitchFamily="34" charset="-122"/>
                <a:cs typeface="Aptos" pitchFamily="34" charset="-120"/>
              </a:rPr>
              <a:t>Positive result: block-rotation success rate improved to 60%</a:t>
            </a:r>
            <a:endParaRPr lang="en-US" dirty="0"/>
          </a:p>
          <a:p>
            <a:r>
              <a:rPr lang="en-US" dirty="0">
                <a:solidFill>
                  <a:srgbClr val="111111"/>
                </a:solidFill>
                <a:latin typeface="Aptos" pitchFamily="34" charset="0"/>
                <a:ea typeface="Aptos" pitchFamily="34" charset="-122"/>
                <a:cs typeface="Aptos" pitchFamily="34" charset="-120"/>
              </a:rPr>
              <a:t>Best checkpoint selection is necessary because the final model is not always best</a:t>
            </a:r>
            <a:endParaRPr lang="en-US" dirty="0"/>
          </a:p>
          <a:p>
            <a:r>
              <a:rPr lang="en-US" dirty="0">
                <a:solidFill>
                  <a:srgbClr val="111111"/>
                </a:solidFill>
                <a:latin typeface="Aptos" pitchFamily="34" charset="0"/>
                <a:ea typeface="Aptos" pitchFamily="34" charset="-122"/>
                <a:cs typeface="Aptos" pitchFamily="34" charset="-120"/>
              </a:rPr>
              <a:t>R1 right wrist can be used as an attachment point for a custom hand</a:t>
            </a:r>
            <a:endParaRPr lang="en-US" dirty="0"/>
          </a:p>
          <a:p>
            <a:r>
              <a:rPr lang="en-US" dirty="0">
                <a:solidFill>
                  <a:srgbClr val="111111"/>
                </a:solidFill>
                <a:latin typeface="Aptos" pitchFamily="34" charset="0"/>
                <a:ea typeface="Aptos" pitchFamily="34" charset="-122"/>
                <a:cs typeface="Aptos" pitchFamily="34" charset="-120"/>
              </a:rPr>
              <a:t>Current limitation: hand position/orientation must be tuned so it replaces the original hand correctly</a:t>
            </a:r>
            <a:endParaRPr lang="en-US" dirty="0"/>
          </a:p>
          <a:p>
            <a:r>
              <a:rPr lang="en-US" dirty="0">
                <a:solidFill>
                  <a:srgbClr val="111111"/>
                </a:solidFill>
                <a:latin typeface="Aptos" pitchFamily="34" charset="0"/>
                <a:ea typeface="Aptos" pitchFamily="34" charset="-122"/>
                <a:cs typeface="Aptos" pitchFamily="34" charset="-120"/>
              </a:rPr>
              <a:t>Next challenge: move from a simple hand prototype to a more realistic dexterous hand model</a:t>
            </a:r>
            <a:endParaRPr lang="en-US" dirty="0"/>
          </a:p>
        </p:txBody>
      </p:sp>
      <p:sp>
        <p:nvSpPr>
          <p:cNvPr id="5" name="Text 3"/>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9</a:t>
            </a:r>
            <a:endParaRPr lang="en-US" sz="4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Next steps are to improve the manipulation policy and build a cleaner R1 hand model.</a:t>
            </a:r>
            <a:endParaRPr lang="en-US" sz="1550" dirty="0"/>
          </a:p>
        </p:txBody>
      </p:sp>
      <p:sp>
        <p:nvSpPr>
          <p:cNvPr id="3" name="Text 1"/>
          <p:cNvSpPr/>
          <p:nvPr/>
        </p:nvSpPr>
        <p:spPr>
          <a:xfrm>
            <a:off x="713232" y="1170432"/>
            <a:ext cx="9875520" cy="1005840"/>
          </a:xfrm>
          <a:prstGeom prst="rect">
            <a:avLst/>
          </a:prstGeom>
          <a:noFill/>
          <a:ln/>
        </p:spPr>
        <p:txBody>
          <a:bodyPr wrap="square" lIns="254" tIns="254" rIns="254" bIns="254" rtlCol="0" anchor="t">
            <a:normAutofit/>
          </a:bodyPr>
          <a:lstStyle/>
          <a:p>
            <a:pPr marL="0" indent="0">
              <a:buNone/>
            </a:pPr>
            <a:r>
              <a:rPr lang="en-US" sz="1600" dirty="0">
                <a:solidFill>
                  <a:srgbClr val="111111"/>
                </a:solidFill>
                <a:latin typeface="Aptos" pitchFamily="34" charset="0"/>
                <a:ea typeface="Aptos" pitchFamily="34" charset="-122"/>
                <a:cs typeface="Aptos" pitchFamily="34" charset="-120"/>
              </a:rPr>
              <a:t>The next phase should combine better policy evaluation with more careful MuJoCo model editing. The hand should first be aligned on the R1 wrist with gravity disabled, then tested with simple joint motions, and finally used in a task where the R1 arm and hand reach toward or grasp an object.</a:t>
            </a:r>
            <a:endParaRPr lang="en-US" sz="1600" dirty="0"/>
          </a:p>
        </p:txBody>
      </p:sp>
      <p:sp>
        <p:nvSpPr>
          <p:cNvPr id="4" name="Text 2"/>
          <p:cNvSpPr/>
          <p:nvPr/>
        </p:nvSpPr>
        <p:spPr>
          <a:xfrm>
            <a:off x="960120" y="3063240"/>
            <a:ext cx="9738360" cy="1508760"/>
          </a:xfrm>
          <a:prstGeom prst="rect">
            <a:avLst/>
          </a:prstGeom>
          <a:noFill/>
          <a:ln/>
        </p:spPr>
        <p:txBody>
          <a:bodyPr wrap="square" lIns="254" tIns="254" rIns="254" bIns="254" rtlCol="0" anchor="t">
            <a:normAutofit/>
          </a:bodyPr>
          <a:lstStyle/>
          <a:p>
            <a:r>
              <a:rPr lang="en-US" dirty="0">
                <a:solidFill>
                  <a:srgbClr val="111111"/>
                </a:solidFill>
                <a:latin typeface="Aptos" pitchFamily="34" charset="0"/>
                <a:ea typeface="Aptos" pitchFamily="34" charset="-122"/>
                <a:cs typeface="Aptos" pitchFamily="34" charset="-120"/>
              </a:rPr>
              <a:t>Continue training from the best checkpoint to push success above 70%</a:t>
            </a:r>
            <a:endParaRPr lang="en-US" dirty="0"/>
          </a:p>
          <a:p>
            <a:r>
              <a:rPr lang="en-US" dirty="0">
                <a:solidFill>
                  <a:srgbClr val="111111"/>
                </a:solidFill>
                <a:latin typeface="Aptos" pitchFamily="34" charset="0"/>
                <a:ea typeface="Aptos" pitchFamily="34" charset="-122"/>
                <a:cs typeface="Aptos" pitchFamily="34" charset="-120"/>
              </a:rPr>
              <a:t>Tune the R1 hand attachment position and quaternion</a:t>
            </a:r>
            <a:endParaRPr lang="en-US" dirty="0"/>
          </a:p>
          <a:p>
            <a:r>
              <a:rPr lang="en-US" dirty="0">
                <a:solidFill>
                  <a:srgbClr val="111111"/>
                </a:solidFill>
                <a:latin typeface="Aptos" pitchFamily="34" charset="0"/>
                <a:ea typeface="Aptos" pitchFamily="34" charset="-122"/>
                <a:cs typeface="Aptos" pitchFamily="34" charset="-120"/>
              </a:rPr>
              <a:t>Remove or replace the original right_hand_collision geometry cleanly</a:t>
            </a:r>
            <a:endParaRPr lang="en-US" dirty="0"/>
          </a:p>
          <a:p>
            <a:r>
              <a:rPr lang="en-US" dirty="0">
                <a:solidFill>
                  <a:srgbClr val="111111"/>
                </a:solidFill>
                <a:latin typeface="Aptos" pitchFamily="34" charset="0"/>
                <a:ea typeface="Aptos" pitchFamily="34" charset="-122"/>
                <a:cs typeface="Aptos" pitchFamily="34" charset="-120"/>
              </a:rPr>
              <a:t>Test a small reaching or grasping scene with the R1 arm and hand</a:t>
            </a:r>
            <a:endParaRPr lang="en-US" dirty="0"/>
          </a:p>
          <a:p>
            <a:r>
              <a:rPr lang="en-US" dirty="0">
                <a:solidFill>
                  <a:srgbClr val="111111"/>
                </a:solidFill>
                <a:latin typeface="Aptos" pitchFamily="34" charset="0"/>
                <a:ea typeface="Aptos" pitchFamily="34" charset="-122"/>
                <a:cs typeface="Aptos" pitchFamily="34" charset="-120"/>
              </a:rPr>
              <a:t>Later: replace the simple 3-finger prototype with a higher-DoF dexterous hand</a:t>
            </a:r>
            <a:endParaRPr lang="en-US" dirty="0"/>
          </a:p>
        </p:txBody>
      </p:sp>
      <p:sp>
        <p:nvSpPr>
          <p:cNvPr id="5" name="Text 3"/>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10</a:t>
            </a:r>
            <a:endParaRPr lang="en-US" sz="4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0352" y="329184"/>
            <a:ext cx="10607040" cy="347472"/>
          </a:xfrm>
          <a:prstGeom prst="rect">
            <a:avLst/>
          </a:prstGeom>
          <a:noFill/>
          <a:ln/>
        </p:spPr>
        <p:txBody>
          <a:bodyPr wrap="square" lIns="0" tIns="0" rIns="0" bIns="0" rtlCol="0" anchor="ctr">
            <a:normAutofit/>
          </a:bodyPr>
          <a:lstStyle/>
          <a:p>
            <a:pPr marL="0" indent="0">
              <a:buNone/>
            </a:pPr>
            <a:r>
              <a:rPr lang="en-US" sz="1550" b="1" dirty="0">
                <a:solidFill>
                  <a:srgbClr val="111111"/>
                </a:solidFill>
                <a:latin typeface="Aptos" pitchFamily="34" charset="0"/>
                <a:ea typeface="Aptos" pitchFamily="34" charset="-122"/>
                <a:cs typeface="Aptos" pitchFamily="34" charset="-120"/>
              </a:rPr>
              <a:t>References</a:t>
            </a:r>
            <a:endParaRPr lang="en-US" sz="1550" dirty="0"/>
          </a:p>
        </p:txBody>
      </p:sp>
      <p:sp>
        <p:nvSpPr>
          <p:cNvPr id="3" name="Text 1"/>
          <p:cNvSpPr/>
          <p:nvPr/>
        </p:nvSpPr>
        <p:spPr>
          <a:xfrm>
            <a:off x="713232" y="1234440"/>
            <a:ext cx="9646920" cy="2834640"/>
          </a:xfrm>
          <a:prstGeom prst="rect">
            <a:avLst/>
          </a:prstGeom>
          <a:noFill/>
          <a:ln/>
        </p:spPr>
        <p:txBody>
          <a:bodyPr wrap="square" lIns="254" tIns="254" rIns="254" bIns="254" rtlCol="0" anchor="t">
            <a:normAutofit/>
          </a:bodyPr>
          <a:lstStyle/>
          <a:p>
            <a:pPr marL="0" indent="0">
              <a:buNone/>
            </a:pPr>
            <a:r>
              <a:rPr lang="en-US" dirty="0">
                <a:solidFill>
                  <a:srgbClr val="111111"/>
                </a:solidFill>
                <a:latin typeface="Aptos" pitchFamily="34" charset="0"/>
                <a:ea typeface="Aptos" pitchFamily="34" charset="-122"/>
                <a:cs typeface="Aptos" pitchFamily="34" charset="-120"/>
              </a:rPr>
              <a:t>Farama Foundation. Gymnasium-Robotics: Shadow Dexterous Hand Environments.</a:t>
            </a:r>
            <a:endParaRPr lang="en-US" dirty="0"/>
          </a:p>
          <a:p>
            <a:pPr marL="0" indent="0">
              <a:buNone/>
            </a:pPr>
            <a:endParaRPr lang="en-US" dirty="0"/>
          </a:p>
          <a:p>
            <a:pPr marL="0" indent="0">
              <a:buNone/>
            </a:pPr>
            <a:r>
              <a:rPr lang="en-US" dirty="0">
                <a:solidFill>
                  <a:srgbClr val="111111"/>
                </a:solidFill>
                <a:latin typeface="Aptos" pitchFamily="34" charset="0"/>
                <a:ea typeface="Aptos" pitchFamily="34" charset="-122"/>
                <a:cs typeface="Aptos" pitchFamily="34" charset="-120"/>
              </a:rPr>
              <a:t>Raffin, A., Hill, A., Gleave, A., Kanervisto, A., Ernestus, M., &amp; Dormann, N. Stable-Baselines3: Reliable Reinforcement Learning Implementations.</a:t>
            </a:r>
            <a:endParaRPr lang="en-US" dirty="0"/>
          </a:p>
          <a:p>
            <a:pPr marL="0" indent="0">
              <a:buNone/>
            </a:pPr>
            <a:endParaRPr lang="en-US" dirty="0"/>
          </a:p>
          <a:p>
            <a:pPr marL="0" indent="0">
              <a:buNone/>
            </a:pPr>
            <a:r>
              <a:rPr lang="en-US" dirty="0">
                <a:solidFill>
                  <a:srgbClr val="111111"/>
                </a:solidFill>
                <a:latin typeface="Aptos" pitchFamily="34" charset="0"/>
                <a:ea typeface="Aptos" pitchFamily="34" charset="-122"/>
                <a:cs typeface="Aptos" pitchFamily="34" charset="-120"/>
              </a:rPr>
              <a:t>Todorov, E., Erez, T., &amp; Tassa, Y. (2012). MuJoCo: A physics engine for model-based control. IEEE/RSJ International Conference on Intelligent Robots and Systems.</a:t>
            </a:r>
            <a:endParaRPr lang="en-US" dirty="0"/>
          </a:p>
          <a:p>
            <a:pPr marL="0" indent="0">
              <a:buNone/>
            </a:pPr>
            <a:endParaRPr lang="en-US" dirty="0"/>
          </a:p>
          <a:p>
            <a:pPr marL="0" indent="0">
              <a:buNone/>
            </a:pPr>
            <a:r>
              <a:rPr lang="en-US" dirty="0">
                <a:solidFill>
                  <a:srgbClr val="111111"/>
                </a:solidFill>
                <a:latin typeface="Aptos" pitchFamily="34" charset="0"/>
                <a:ea typeface="Aptos" pitchFamily="34" charset="-122"/>
                <a:cs typeface="Aptos" pitchFamily="34" charset="-120"/>
              </a:rPr>
              <a:t>Unitree Robotics. Unitree R1 MuJoCo model and deployment configuration resources.</a:t>
            </a:r>
            <a:endParaRPr lang="en-US" dirty="0"/>
          </a:p>
        </p:txBody>
      </p:sp>
      <p:sp>
        <p:nvSpPr>
          <p:cNvPr id="4" name="Text 2"/>
          <p:cNvSpPr/>
          <p:nvPr/>
        </p:nvSpPr>
        <p:spPr>
          <a:xfrm>
            <a:off x="10789920" y="6537960"/>
            <a:ext cx="1005840" cy="137160"/>
          </a:xfrm>
          <a:prstGeom prst="rect">
            <a:avLst/>
          </a:prstGeom>
          <a:noFill/>
          <a:ln/>
        </p:spPr>
        <p:txBody>
          <a:bodyPr wrap="square" lIns="0" tIns="0" rIns="0" bIns="0" rtlCol="0" anchor="ctr"/>
          <a:lstStyle/>
          <a:p>
            <a:pPr marL="0" indent="0" algn="r">
              <a:buNone/>
            </a:pPr>
            <a:r>
              <a:rPr lang="en-US" sz="480" dirty="0">
                <a:solidFill>
                  <a:srgbClr val="777777"/>
                </a:solidFill>
                <a:latin typeface="Aptos" pitchFamily="34" charset="0"/>
                <a:ea typeface="Aptos" pitchFamily="34" charset="-122"/>
                <a:cs typeface="Aptos" pitchFamily="34" charset="-120"/>
              </a:rPr>
              <a:t>Week 19 | 11</a:t>
            </a:r>
            <a:endParaRPr lang="en-US" sz="4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905</Words>
  <Application>Microsoft Macintosh PowerPoint</Application>
  <PresentationFormat>Widescreen</PresentationFormat>
  <Paragraphs>83</Paragraphs>
  <Slides>11</Slides>
  <Notes>11</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19 Robotic Hand Training</dc:title>
  <dc:subject>Week 19 Robotic Hand Training</dc:subject>
  <dc:creator>Cesar A. Pascal Vasquez</dc:creator>
  <cp:lastModifiedBy>Cesar Pascal</cp:lastModifiedBy>
  <cp:revision>3</cp:revision>
  <dcterms:created xsi:type="dcterms:W3CDTF">2026-07-04T07:13:54Z</dcterms:created>
  <dcterms:modified xsi:type="dcterms:W3CDTF">2026-07-09T17:17:00Z</dcterms:modified>
</cp:coreProperties>
</file>