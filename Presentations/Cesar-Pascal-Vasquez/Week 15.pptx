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Le Jour Serif" charset="1" panose="02000500000000000000"/>
      <p:regular r:id="rId16"/>
    </p:embeddedFont>
    <p:embeddedFont>
      <p:font typeface="Alta" charset="1" panose="02000503000000000000"/>
      <p:regular r:id="rId17"/>
    </p:embeddedFont>
    <p:embeddedFont>
      <p:font typeface="Open Sans" charset="1" panose="020B0606030504020204"/>
      <p:regular r:id="rId18"/>
    </p:embeddedFont>
    <p:embeddedFont>
      <p:font typeface="Open Sans Bold" charset="1" panose="020B0806030504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VAHL1lJeAME.mp4" Type="http://schemas.openxmlformats.org/officeDocument/2006/relationships/video"/><Relationship Id="rId4" Target="../media/VAHL1lJeAME.mp4" Type="http://schemas.microsoft.com/office/2007/relationships/media"/></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VAHL1gV6jCg.mp4" Type="http://schemas.openxmlformats.org/officeDocument/2006/relationships/video"/><Relationship Id="rId4" Target="../media/VAHL1gV6jCg.mp4" Type="http://schemas.microsoft.com/office/2007/relationships/media"/></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VAHL1nvAnhs.mp4" Type="http://schemas.openxmlformats.org/officeDocument/2006/relationships/video"/><Relationship Id="rId4" Target="../media/VAHL1nvAnhs.mp4" Type="http://schemas.microsoft.com/office/2007/relationships/media"/></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VAHL2tLvt3Y.mp4" Type="http://schemas.openxmlformats.org/officeDocument/2006/relationships/video"/><Relationship Id="rId4" Target="../media/VAHL2tLvt3Y.mp4" Type="http://schemas.microsoft.com/office/2007/relationships/media"/></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https://github.com/unitreerobotics/unitree_rl_mjlab/tree/main/deploy/robots/r1"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548782" y="3638133"/>
            <a:ext cx="13190436" cy="1524835"/>
          </a:xfrm>
          <a:prstGeom prst="rect">
            <a:avLst/>
          </a:prstGeom>
        </p:spPr>
        <p:txBody>
          <a:bodyPr anchor="t" rtlCol="false" tIns="0" lIns="0" bIns="0" rIns="0">
            <a:spAutoFit/>
          </a:bodyPr>
          <a:lstStyle/>
          <a:p>
            <a:pPr algn="ctr">
              <a:lnSpc>
                <a:spcPts val="11956"/>
              </a:lnSpc>
            </a:pPr>
            <a:r>
              <a:rPr lang="en-US" sz="10219" spc="1400">
                <a:solidFill>
                  <a:srgbClr val="FFFFFF"/>
                </a:solidFill>
                <a:latin typeface="Le Jour Serif"/>
                <a:ea typeface="Le Jour Serif"/>
                <a:cs typeface="Le Jour Serif"/>
                <a:sym typeface="Le Jour Serif"/>
              </a:rPr>
              <a:t>WEEK 15</a:t>
            </a:r>
          </a:p>
        </p:txBody>
      </p:sp>
      <p:sp>
        <p:nvSpPr>
          <p:cNvPr name="TextBox 4" id="4"/>
          <p:cNvSpPr txBox="true"/>
          <p:nvPr/>
        </p:nvSpPr>
        <p:spPr>
          <a:xfrm rot="0">
            <a:off x="5819851" y="8770620"/>
            <a:ext cx="6648299" cy="487680"/>
          </a:xfrm>
          <a:prstGeom prst="rect">
            <a:avLst/>
          </a:prstGeom>
        </p:spPr>
        <p:txBody>
          <a:bodyPr anchor="t" rtlCol="false" tIns="0" lIns="0" bIns="0" rIns="0">
            <a:spAutoFit/>
          </a:bodyPr>
          <a:lstStyle/>
          <a:p>
            <a:pPr algn="ctr">
              <a:lnSpc>
                <a:spcPts val="3509"/>
              </a:lnSpc>
            </a:pPr>
            <a:r>
              <a:rPr lang="en-US" sz="3000" spc="410">
                <a:solidFill>
                  <a:srgbClr val="FFFFFF"/>
                </a:solidFill>
                <a:latin typeface="Alta"/>
                <a:ea typeface="Alta"/>
                <a:cs typeface="Alta"/>
                <a:sym typeface="Alta"/>
              </a:rPr>
              <a:t>CESAR A. PASCAL VASQUEZ</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418587" y="3113910"/>
            <a:ext cx="17450825" cy="3992505"/>
          </a:xfrm>
          <a:prstGeom prst="rect">
            <a:avLst/>
          </a:prstGeom>
        </p:spPr>
        <p:txBody>
          <a:bodyPr anchor="t" rtlCol="false" tIns="0" lIns="0" bIns="0" rIns="0">
            <a:spAutoFit/>
          </a:bodyPr>
          <a:lstStyle/>
          <a:p>
            <a:pPr algn="ctr">
              <a:lnSpc>
                <a:spcPts val="4542"/>
              </a:lnSpc>
            </a:pPr>
            <a:r>
              <a:rPr lang="en-US" sz="3244">
                <a:solidFill>
                  <a:srgbClr val="FFFFFF"/>
                </a:solidFill>
                <a:latin typeface="Open Sans"/>
                <a:ea typeface="Open Sans"/>
                <a:cs typeface="Open Sans"/>
                <a:sym typeface="Open Sans"/>
              </a:rPr>
              <a:t>This week, I focused on learning more </a:t>
            </a:r>
            <a:r>
              <a:rPr lang="en-US" sz="3244">
                <a:solidFill>
                  <a:srgbClr val="FFFFFF"/>
                </a:solidFill>
                <a:latin typeface="Open Sans"/>
                <a:ea typeface="Open Sans"/>
                <a:cs typeface="Open Sans"/>
                <a:sym typeface="Open Sans"/>
              </a:rPr>
              <a:t>about the Unitree R1 and comparing its capabilities with the previously used G1. I also worked on developing a control policy that would allow the robot to stand steadily and begin moving.</a:t>
            </a:r>
          </a:p>
          <a:p>
            <a:pPr algn="ctr">
              <a:lnSpc>
                <a:spcPts val="4542"/>
              </a:lnSpc>
            </a:pPr>
          </a:p>
          <a:p>
            <a:pPr algn="ctr">
              <a:lnSpc>
                <a:spcPts val="4542"/>
              </a:lnSpc>
            </a:pPr>
          </a:p>
          <a:p>
            <a:pPr algn="ctr">
              <a:lnSpc>
                <a:spcPts val="4542"/>
              </a:lnSpc>
            </a:pPr>
          </a:p>
          <a:p>
            <a:pPr algn="ctr">
              <a:lnSpc>
                <a:spcPts val="4542"/>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Freeform 2" id="2"/>
          <p:cNvSpPr/>
          <p:nvPr/>
        </p:nvSpPr>
        <p:spPr>
          <a:xfrm flipH="false" flipV="false" rot="0">
            <a:off x="2557007" y="3869980"/>
            <a:ext cx="12339234" cy="4707573"/>
          </a:xfrm>
          <a:custGeom>
            <a:avLst/>
            <a:gdLst/>
            <a:ahLst/>
            <a:cxnLst/>
            <a:rect r="r" b="b" t="t" l="l"/>
            <a:pathLst>
              <a:path h="4707573" w="12339234">
                <a:moveTo>
                  <a:pt x="0" y="0"/>
                </a:moveTo>
                <a:lnTo>
                  <a:pt x="12339234" y="0"/>
                </a:lnTo>
                <a:lnTo>
                  <a:pt x="12339234" y="4707573"/>
                </a:lnTo>
                <a:lnTo>
                  <a:pt x="0" y="4707573"/>
                </a:lnTo>
                <a:lnTo>
                  <a:pt x="0" y="0"/>
                </a:lnTo>
                <a:close/>
              </a:path>
            </a:pathLst>
          </a:custGeom>
          <a:blipFill>
            <a:blip r:embed="rId2"/>
            <a:stretch>
              <a:fillRect l="0" t="0" r="0" b="0"/>
            </a:stretch>
          </a:blipFill>
        </p:spPr>
      </p:sp>
      <p:sp>
        <p:nvSpPr>
          <p:cNvPr name="TextBox 3" id="3"/>
          <p:cNvSpPr txBox="true"/>
          <p:nvPr/>
        </p:nvSpPr>
        <p:spPr>
          <a:xfrm rot="0">
            <a:off x="568557" y="1613244"/>
            <a:ext cx="17150886" cy="1101687"/>
          </a:xfrm>
          <a:prstGeom prst="rect">
            <a:avLst/>
          </a:prstGeom>
        </p:spPr>
        <p:txBody>
          <a:bodyPr anchor="t" rtlCol="false" tIns="0" lIns="0" bIns="0" rIns="0">
            <a:spAutoFit/>
          </a:bodyPr>
          <a:lstStyle/>
          <a:p>
            <a:pPr algn="ctr">
              <a:lnSpc>
                <a:spcPts val="4464"/>
              </a:lnSpc>
            </a:pPr>
            <a:r>
              <a:rPr lang="en-US" sz="3188">
                <a:solidFill>
                  <a:srgbClr val="FFFFFF"/>
                </a:solidFill>
                <a:latin typeface="Open Sans"/>
                <a:ea typeface="Open Sans"/>
                <a:cs typeface="Open Sans"/>
                <a:sym typeface="Open Sans"/>
              </a:rPr>
              <a:t>The G1 </a:t>
            </a:r>
            <a:r>
              <a:rPr lang="en-US" sz="3188">
                <a:solidFill>
                  <a:srgbClr val="FFFFFF"/>
                </a:solidFill>
                <a:latin typeface="Open Sans"/>
                <a:ea typeface="Open Sans"/>
                <a:cs typeface="Open Sans"/>
                <a:sym typeface="Open Sans"/>
              </a:rPr>
              <a:t>and R1 are similar in several aspects, but they have important differences in their hardware design and capabilities.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3932404" y="3471410"/>
            <a:ext cx="9412412" cy="6179714"/>
          </a:xfrm>
          <a:prstGeom prst="rect">
            <a:avLst/>
          </a:prstGeom>
        </p:spPr>
      </p:pic>
      <p:sp>
        <p:nvSpPr>
          <p:cNvPr name="TextBox 3" id="3"/>
          <p:cNvSpPr txBox="true"/>
          <p:nvPr/>
        </p:nvSpPr>
        <p:spPr>
          <a:xfrm rot="0">
            <a:off x="192159" y="962025"/>
            <a:ext cx="17903683" cy="4542612"/>
          </a:xfrm>
          <a:prstGeom prst="rect">
            <a:avLst/>
          </a:prstGeom>
        </p:spPr>
        <p:txBody>
          <a:bodyPr anchor="t" rtlCol="false" tIns="0" lIns="0" bIns="0" rIns="0">
            <a:spAutoFit/>
          </a:bodyPr>
          <a:lstStyle/>
          <a:p>
            <a:pPr algn="ctr">
              <a:lnSpc>
                <a:spcPts val="4519"/>
              </a:lnSpc>
            </a:pPr>
            <a:r>
              <a:rPr lang="en-US" sz="3228">
                <a:solidFill>
                  <a:srgbClr val="FFFFFF"/>
                </a:solidFill>
                <a:latin typeface="Open Sans"/>
                <a:ea typeface="Open Sans"/>
                <a:cs typeface="Open Sans"/>
                <a:sym typeface="Open Sans"/>
              </a:rPr>
              <a:t>In terms of training, the main differences are the number of joints, degrees of freedom, and range of motion. </a:t>
            </a:r>
            <a:r>
              <a:rPr lang="en-US" sz="3228">
                <a:solidFill>
                  <a:srgbClr val="FFFFFF"/>
                </a:solidFill>
                <a:latin typeface="Open Sans"/>
                <a:ea typeface="Open Sans"/>
                <a:cs typeface="Open Sans"/>
                <a:sym typeface="Open Sans"/>
              </a:rPr>
              <a:t>Although the G1 and R1 have some similarities, their joint configurations and movement capabilities are different. However, the fundamental training principles remain the same for both robots. Here is the R1 being deployed in mujoco.</a:t>
            </a:r>
          </a:p>
          <a:p>
            <a:pPr algn="ctr">
              <a:lnSpc>
                <a:spcPts val="4519"/>
              </a:lnSpc>
            </a:pPr>
          </a:p>
          <a:p>
            <a:pPr algn="ctr">
              <a:lnSpc>
                <a:spcPts val="4519"/>
              </a:lnSpc>
            </a:pPr>
          </a:p>
          <a:p>
            <a:pPr algn="ctr">
              <a:lnSpc>
                <a:spcPts val="4519"/>
              </a:lnSpc>
            </a:pPr>
          </a:p>
          <a:p>
            <a:pPr algn="ctr">
              <a:lnSpc>
                <a:spcPts val="4519"/>
              </a:lnSpc>
            </a:pP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Freeform 2" id="2"/>
          <p:cNvSpPr/>
          <p:nvPr/>
        </p:nvSpPr>
        <p:spPr>
          <a:xfrm flipH="false" flipV="false" rot="0">
            <a:off x="4497667" y="3212966"/>
            <a:ext cx="9292666" cy="6218013"/>
          </a:xfrm>
          <a:custGeom>
            <a:avLst/>
            <a:gdLst/>
            <a:ahLst/>
            <a:cxnLst/>
            <a:rect r="r" b="b" t="t" l="l"/>
            <a:pathLst>
              <a:path h="6218013" w="9292666">
                <a:moveTo>
                  <a:pt x="0" y="0"/>
                </a:moveTo>
                <a:lnTo>
                  <a:pt x="9292666" y="0"/>
                </a:lnTo>
                <a:lnTo>
                  <a:pt x="9292666" y="6218013"/>
                </a:lnTo>
                <a:lnTo>
                  <a:pt x="0" y="6218013"/>
                </a:lnTo>
                <a:lnTo>
                  <a:pt x="0" y="0"/>
                </a:lnTo>
                <a:close/>
              </a:path>
            </a:pathLst>
          </a:custGeom>
          <a:blipFill>
            <a:blip r:embed="rId2"/>
            <a:stretch>
              <a:fillRect l="0" t="0" r="0" b="0"/>
            </a:stretch>
          </a:blipFill>
        </p:spPr>
      </p:sp>
      <p:sp>
        <p:nvSpPr>
          <p:cNvPr name="TextBox 3" id="3"/>
          <p:cNvSpPr txBox="true"/>
          <p:nvPr/>
        </p:nvSpPr>
        <p:spPr>
          <a:xfrm rot="0">
            <a:off x="0" y="327041"/>
            <a:ext cx="18288000" cy="238061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This was the training process. Due to CPU limit</a:t>
            </a:r>
            <a:r>
              <a:rPr lang="en-US" sz="3399">
                <a:solidFill>
                  <a:srgbClr val="FFFFFF"/>
                </a:solidFill>
                <a:latin typeface="Open Sans"/>
                <a:ea typeface="Open Sans"/>
                <a:cs typeface="Open Sans"/>
                <a:sym typeface="Open Sans"/>
              </a:rPr>
              <a:t>ations, I could use only one environment. Despite this constraint, the policy was able to learn how to stand and move slightly. Using multiple parallel environments would likely improve training efficiency, stability, and the overall performance of the policy significantly.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778377" y="2158070"/>
            <a:ext cx="12184405" cy="7697975"/>
          </a:xfrm>
          <a:prstGeom prst="rect">
            <a:avLst/>
          </a:prstGeom>
        </p:spPr>
      </p:pic>
      <p:sp>
        <p:nvSpPr>
          <p:cNvPr name="TextBox 3" id="3"/>
          <p:cNvSpPr txBox="true"/>
          <p:nvPr/>
        </p:nvSpPr>
        <p:spPr>
          <a:xfrm rot="0">
            <a:off x="274099" y="962025"/>
            <a:ext cx="17739802" cy="3475427"/>
          </a:xfrm>
          <a:prstGeom prst="rect">
            <a:avLst/>
          </a:prstGeom>
        </p:spPr>
        <p:txBody>
          <a:bodyPr anchor="t" rtlCol="false" tIns="0" lIns="0" bIns="0" rIns="0">
            <a:spAutoFit/>
          </a:bodyPr>
          <a:lstStyle/>
          <a:p>
            <a:pPr algn="ctr">
              <a:lnSpc>
                <a:spcPts val="4617"/>
              </a:lnSpc>
            </a:pPr>
            <a:r>
              <a:rPr lang="en-US" sz="3298">
                <a:solidFill>
                  <a:srgbClr val="FFFFFF"/>
                </a:solidFill>
                <a:latin typeface="Open Sans"/>
                <a:ea typeface="Open Sans"/>
                <a:cs typeface="Open Sans"/>
                <a:sym typeface="Open Sans"/>
              </a:rPr>
              <a:t>The training results were promising. </a:t>
            </a:r>
            <a:r>
              <a:rPr lang="en-US" sz="3298">
                <a:solidFill>
                  <a:srgbClr val="FFFFFF"/>
                </a:solidFill>
                <a:latin typeface="Open Sans"/>
                <a:ea typeface="Open Sans"/>
                <a:cs typeface="Open Sans"/>
                <a:sym typeface="Open Sans"/>
              </a:rPr>
              <a:t>After approximately 5,000 iterations, which took around one hour, the robot was already able to stand successfully.</a:t>
            </a:r>
          </a:p>
          <a:p>
            <a:pPr algn="ctr">
              <a:lnSpc>
                <a:spcPts val="4617"/>
              </a:lnSpc>
            </a:pPr>
          </a:p>
          <a:p>
            <a:pPr algn="ctr">
              <a:lnSpc>
                <a:spcPts val="4617"/>
              </a:lnSpc>
            </a:pPr>
          </a:p>
          <a:p>
            <a:pPr algn="ctr">
              <a:lnSpc>
                <a:spcPts val="4617"/>
              </a:lnSpc>
            </a:pPr>
          </a:p>
          <a:p>
            <a:pPr algn="ctr">
              <a:lnSpc>
                <a:spcPts val="4617"/>
              </a:lnSpc>
            </a:pP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929884" y="2033926"/>
            <a:ext cx="12428232" cy="7852022"/>
          </a:xfrm>
          <a:prstGeom prst="rect">
            <a:avLst/>
          </a:prstGeom>
        </p:spPr>
      </p:pic>
      <p:sp>
        <p:nvSpPr>
          <p:cNvPr name="TextBox 3" id="3"/>
          <p:cNvSpPr txBox="true"/>
          <p:nvPr/>
        </p:nvSpPr>
        <p:spPr>
          <a:xfrm rot="0">
            <a:off x="0" y="253386"/>
            <a:ext cx="18288000" cy="178054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After doubling the number of iterations, a significant improvement in the robot’s movement could be observed, especially considering that the training was still performed using only a single environment.</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3102162" y="1623965"/>
            <a:ext cx="12083676" cy="7634335"/>
          </a:xfrm>
          <a:prstGeom prst="rect">
            <a:avLst/>
          </a:prstGeom>
        </p:spPr>
      </p:pic>
      <p:sp>
        <p:nvSpPr>
          <p:cNvPr name="TextBox 3" id="3"/>
          <p:cNvSpPr txBox="true"/>
          <p:nvPr/>
        </p:nvSpPr>
        <p:spPr>
          <a:xfrm rot="0">
            <a:off x="5986574" y="705167"/>
            <a:ext cx="6314852"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For 4 envs and 10000 iterations</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9.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514350" y="4019293"/>
            <a:ext cx="17259300" cy="4506214"/>
          </a:xfrm>
          <a:prstGeom prst="rect">
            <a:avLst/>
          </a:prstGeom>
        </p:spPr>
        <p:txBody>
          <a:bodyPr anchor="t" rtlCol="false" tIns="0" lIns="0" bIns="0" rIns="0">
            <a:spAutoFit/>
          </a:bodyPr>
          <a:lstStyle/>
          <a:p>
            <a:pPr algn="ctr">
              <a:lnSpc>
                <a:spcPts val="4492"/>
              </a:lnSpc>
            </a:pPr>
            <a:r>
              <a:rPr lang="en-US" sz="3208">
                <a:solidFill>
                  <a:srgbClr val="FFFFFF"/>
                </a:solidFill>
                <a:latin typeface="Open Sans"/>
                <a:ea typeface="Open Sans"/>
                <a:cs typeface="Open Sans"/>
                <a:sym typeface="Open Sans"/>
              </a:rPr>
              <a:t>The next steps are to improve the policy through more extensive training, preferably using a GPU to increase computational power </a:t>
            </a:r>
            <a:r>
              <a:rPr lang="en-US" sz="3208">
                <a:solidFill>
                  <a:srgbClr val="FFFFFF"/>
                </a:solidFill>
                <a:latin typeface="Open Sans"/>
                <a:ea typeface="Open Sans"/>
                <a:cs typeface="Open Sans"/>
                <a:sym typeface="Open Sans"/>
              </a:rPr>
              <a:t>and achieve better results. After developing a more stable walking policy, the goal will be to train the robot to perform more advanced tasks beyond basic locomotion.</a:t>
            </a:r>
          </a:p>
          <a:p>
            <a:pPr algn="ctr">
              <a:lnSpc>
                <a:spcPts val="4492"/>
              </a:lnSpc>
            </a:pPr>
          </a:p>
          <a:p>
            <a:pPr algn="ctr">
              <a:lnSpc>
                <a:spcPts val="4492"/>
              </a:lnSpc>
            </a:pPr>
          </a:p>
          <a:p>
            <a:pPr algn="ctr">
              <a:lnSpc>
                <a:spcPts val="4492"/>
              </a:lnSpc>
            </a:pPr>
          </a:p>
          <a:p>
            <a:pPr algn="ctr">
              <a:lnSpc>
                <a:spcPts val="4492"/>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196412" y="2561228"/>
            <a:ext cx="18288000" cy="4780915"/>
          </a:xfrm>
          <a:prstGeom prst="rect">
            <a:avLst/>
          </a:prstGeom>
        </p:spPr>
        <p:txBody>
          <a:bodyPr anchor="t" rtlCol="false" tIns="0" lIns="0" bIns="0" rIns="0">
            <a:spAutoFit/>
          </a:bodyPr>
          <a:lstStyle/>
          <a:p>
            <a:pPr algn="ctr">
              <a:lnSpc>
                <a:spcPts val="4759"/>
              </a:lnSpc>
            </a:pPr>
            <a:r>
              <a:rPr lang="en-US" sz="3399" b="true">
                <a:solidFill>
                  <a:srgbClr val="FFFFFF"/>
                </a:solidFill>
                <a:latin typeface="Open Sans Bold"/>
                <a:ea typeface="Open Sans Bold"/>
                <a:cs typeface="Open Sans Bold"/>
                <a:sym typeface="Open Sans Bold"/>
              </a:rPr>
              <a:t>Reference</a:t>
            </a:r>
          </a:p>
          <a:p>
            <a:pPr algn="l" marL="734059" indent="-367030" lvl="1">
              <a:lnSpc>
                <a:spcPts val="4759"/>
              </a:lnSpc>
              <a:buFont typeface="Arial"/>
              <a:buChar char="•"/>
            </a:pPr>
            <a:r>
              <a:rPr lang="en-US" b="true" sz="3399">
                <a:solidFill>
                  <a:srgbClr val="FFFFFF"/>
                </a:solidFill>
                <a:latin typeface="Open Sans Bold"/>
                <a:ea typeface="Open Sans Bold"/>
                <a:cs typeface="Open Sans Bold"/>
                <a:sym typeface="Open Sans Bold"/>
              </a:rPr>
              <a:t>Todorov, E., Erez, T., &amp; Tassa, Y. (2012). MuJoCo: A physics engine for model-based control. IEEE/RSJ International Conference on Intelligent Robots and Systems (IROS), 5026–5033.</a:t>
            </a:r>
          </a:p>
          <a:p>
            <a:pPr algn="l" marL="734059" indent="-367030" lvl="1">
              <a:lnSpc>
                <a:spcPts val="4759"/>
              </a:lnSpc>
              <a:buFont typeface="Arial"/>
              <a:buChar char="•"/>
            </a:pPr>
            <a:r>
              <a:rPr lang="en-US" b="true" sz="3399">
                <a:solidFill>
                  <a:srgbClr val="FFFFFF"/>
                </a:solidFill>
                <a:latin typeface="Open Sans Bold"/>
                <a:ea typeface="Open Sans Bold"/>
                <a:cs typeface="Open Sans Bold"/>
                <a:sym typeface="Open Sans Bold"/>
              </a:rPr>
              <a:t>Unitree Robotics. Unitree RL Mjlab &amp; R1 Robot Deployment Configuration Framework. Retrieved from </a:t>
            </a:r>
            <a:r>
              <a:rPr lang="en-US" b="true" sz="3399" u="sng">
                <a:solidFill>
                  <a:srgbClr val="FFFFFF"/>
                </a:solidFill>
                <a:latin typeface="Open Sans Bold"/>
                <a:ea typeface="Open Sans Bold"/>
                <a:cs typeface="Open Sans Bold"/>
                <a:sym typeface="Open Sans Bold"/>
                <a:hlinkClick r:id="rId2" tooltip="https://github.com/unitreerobotics/unitree_rl_mjlab/tree/main/deploy/robots/r1"/>
              </a:rPr>
              <a:t>https://github.com/unitreerobotics/unitree_rl_mjlab/tree/main/deploy/robots/r1</a:t>
            </a:r>
          </a:p>
          <a:p>
            <a:pPr algn="l">
              <a:lnSpc>
                <a:spcPts val="475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DAHL1WgJKrQ</dc:identifier>
  <dcterms:modified xsi:type="dcterms:W3CDTF">2011-08-01T06:04:30Z</dcterms:modified>
  <cp:revision>1</cp:revision>
  <dc:title>Week 15</dc:title>
</cp:coreProperties>
</file>