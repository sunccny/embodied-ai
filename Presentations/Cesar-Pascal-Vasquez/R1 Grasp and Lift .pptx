
<file path=[Content_Types].xml><?xml version="1.0" encoding="utf-8"?>
<Types xmlns="http://schemas.openxmlformats.org/package/2006/content-types">
  <Default Extension="mp4" ContentType="video/mp4"/>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4"/>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94637"/>
  </p:normalViewPr>
  <p:slideViewPr>
    <p:cSldViewPr snapToGrid="0">
      <p:cViewPr varScale="1">
        <p:scale>
          <a:sx n="96" d="100"/>
          <a:sy n="96" d="100"/>
        </p:scale>
        <p:origin x="200" y="43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New presentation following R1 RL Training IEEE Final.pptx. Training and evaluation performed October 18, 2026. Prepared October 21, 2026. Focused phase has 120 candidate search episodes, plus an initial baseline evaluation. See [6].</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SAC is Soft Actor-Critic [1], used for the existing feedback policy. CEM is the cross-entropy method [3], an established reward-based policy-search optimizer, not a newly invented optimizer. The task-specific method combines the learned SAC contact state with CEM over 3 motion knots times 6 channels = 18 coefficients. Six active finger motors receive a common closure command. No teacher trajectory or DAgger data. HER [2] is background for earlier reaching work, not a claim that this lift phase uses HER. Implementation: /Users/cesarpascal/Documents/Training/real_r1_arm_policy/rl_grasp/focus_lift.py. Report: /Users/cesarpascal/Documents/Training/real_r1_arm_policy/rl_grasp/runs/focused_hold_lift/report.json. Independent evaluation: hold_report.json.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Sources: /Users/cesarpascal/Documents/Training/real_r1_arm_policy/rl_grasp/grasp_env.py, step(), contacts(), and model setup. Stable state requires opposing finger contact, distance &lt;0.09m, lift &gt;=0.03m, no object support contact, and object speed &lt;0.20m/s. Ten consecutive stable control steps define the training environment success streak. Hand has six active finger motors, not six independent action dimensions. Focused hold verification: /Users/cesarpascal/Documents/Training/real_r1_arm_policy/rl_grasp/runs/focused_hold_lift/hold_report.json and support_validation.json.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Focused score source: /Users/cesarpascal/Documents/Training/real_r1_arm_policy/rl_grasp/focus_lift.py, rollout(). Step value: 40*clip(lift/.05,-2,2)*(1 if held else .1)+8*held-2*support-.6*hand_table-5*min(distance/.08,4)-.02*mean(action^2). held requires thumb plus &gt;=2 distinct finger contacts and no support. Episode score includes scaled mean/late value, +100*max(0,best_held_lift)/.05, +2000*success, -200*collision, -80*dropped. These weights describe the focused controller, distinct from the grasp SAC and reaching rewards. Torso-aware audit: /Users/cesarpascal/Documents/Training/real_r1_arm_policy/rl_grasp/runs/torso_aware_reach_balanced/audit_500.json.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Method [3] and implementation /Users/cesarpascal/Documents/Training/real_r1_arm_policy/rl_grasp/focus_lift.py. Population 24, elite max(3,n//5)=4 for full population. Mean=.25*old+.75*elite_mean. Std=max(.035,.25*old+.75*elite_std). Candidates clipped to [-.8,.8], first candidate retains best. Each rollout lasts up to 160 steps at20Hz. 120 used candidate rollouts plus one initial baseline check; cached state preparation is the full240-step SAC rollout, preserving integration/motor state. Config budget480, early stop after success at120. No new optimizer novelty claim.</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 /Users/cesarpascal/Documents/Training/real_r1_arm_policy/rl_grasp/runs/torso_aware_reach_balanced/audit_500.json. Original success 311/500, collision 35/500, mean terminal error 0.0419574 m. Final success 363/500, collision 1/500, mean terminal error 0.0468279 m. Matched seeds 8000000 through 8000499. Policies selected before this audit. Episodes end at 5 seconds. This protocol differs from earlier 100-target presentation results.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Video: /Users/cesarpascal/Documents/Training/real_r1_arm_policy/rl_grasp/runs/physical_grasp_temporal/grasp_after_training_seed8800000_hand.mp4. Evaluation: /Users/cesarpascal/Documents/Training/real_r1_arm_policy/rl_grasp/runs/physical_grasp_temporal/near_report.json. 100 nearby reset episodes, seeds 8800000 through 8800099, 0.015 m spread. After training: 100% any finger contact, 97% terminal contact, 0% lift-and-hold success, 0% drops, 0% torso collision. This baseline evaluation is a different sample/protocol from the 30 continuation-state tests on slide 6. The displayed single video is illustrative.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 /Users/cesarpascal/Documents/Training/real_r1_arm_policy/rl_grasp/runs/focused_hold_lift/history.json. Cumulative best_held_lift_m per generation, rounded to one decimal cm:0,1.7649,1.7649,7.5,13.4714. Training success false,false,false,false,true. This is best-so-far training performance on one cached contact state, not held-out success. The 13.5 cm during movement differs from the 13.8 cm final stationary-hold height on the following slide. Five-second independent hold verified separately in hold_report.json.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Video: /Users/cesarpascal/Documents/Training/real_r1_arm_policy/rl_grasp/runs/focused_hold_lift/lift_and_hold_seed8800000.mp4. Training-state demonstration, not a mean over evaluation episodes. hold_report.json: final height above resting object center 0.137750139 m, minimum over five-second hold 0.13683665 m, maximum 0.13853688 m. Successful hold in all 100 measured hold steps. No drop or torso collision. support_validation.json verifies object support only by right palm/fingers, not table, torso, left arm, or external object. validation.json verifies unchanged gravity, friction, torque limits, free ball joint and no weld. Arm target velocity goes to zero during hold.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 /Users/cesarpascal/Documents/Training/real_r1_arm_policy/rl_grasp/runs/focused_hold_lift/hold_report.json. Held-out seeds 8800100 through 8800129. These are nearby contact-state continuations reached by the existing policy, not arbitrary object poses. 20 successes out of 30, four drops, zero torso collisions. Six remaining failures do not satisfy the lift/hold criterion. The 13.8 cm on slide 5 describes the training-state demonstration only. No claim of general grasp acquisition from arbitrary resets.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Scope and limitations based on /Users/cesarpascal/Documents/Training/real_r1_arm_policy/rl_grasp/runs/focused_hold_lift/report.json, hold_report.json, validation.json, support_validation.json. These are simulation results. Focused lift search uses open-loop time-conditioned coefficients after the existing SAC contact rollout. No claim of arbitrary-reset grasp success, external disturbance recovery, or safe hardware deployment.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Primary method sources: https://proceedings.mlr.press/v80/haarnoja18b.html ; https://papers.nips.cc/paper/7090-hindsight-experience-replay ; https://cdn.aaai.org/ICML/2003/ICML03-068.pdf . [6] Local run records under /Users/cesarpascal/Documents/Training/real_r1_arm_policy/rl_grasp/runs. HER is an earlier reaching-method reference. CEM is the optimizer used for the focused lift controller.</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3" name="Title">
            <a:extLst>
              <a:ext uri="{FF2B5EF4-FFF2-40B4-BE49-F238E27FC236}">
                <a16:creationId xmlns:a16="http://schemas.microsoft.com/office/drawing/2014/main" id="{EAD5B731-587A-4F29-B378-42C0B1FD9D79}"/>
              </a:ext>
            </a:extLst>
          </p:cNvPr>
          <p:cNvSpPr>
            <a:spLocks noGrp="1"/>
          </p:cNvSpPr>
          <p:nvPr>
            <p:ph type="title"/>
          </p:nvPr>
        </p:nvSpPr>
        <p:spPr>
          <a:xfrm>
            <a:off x="1219200" y="2590800"/>
            <a:ext cx="9753600" cy="990600"/>
          </a:xfrm>
          <a:prstGeom prst="rect">
            <a:avLst/>
          </a:prstGeom>
          <a:noFill/>
          <a:ln>
            <a:noFill/>
            <a:prstDash val="solid"/>
          </a:ln>
        </p:spPr>
        <p:txBody>
          <a:bodyPr wrap="square" lIns="0" tIns="0" rIns="0" bIns="0" anchor="ctr">
            <a:normAutofit/>
          </a:bodyPr>
          <a:lstStyle>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a:endParaRPr/>
          </a:p>
        </p:txBody>
      </p:sp>
      <p:sp>
        <p:nvSpPr>
          <p:cNvPr id="2" name="Subtitle">
            <a:extLst>
              <a:ext uri="{FF2B5EF4-FFF2-40B4-BE49-F238E27FC236}">
                <a16:creationId xmlns:a16="http://schemas.microsoft.com/office/drawing/2014/main" id="{2A691C91-E0BB-4B2D-9AD1-035C182353EC}"/>
              </a:ext>
            </a:extLst>
          </p:cNvPr>
          <p:cNvSpPr>
            <a:spLocks noGrp="1"/>
          </p:cNvSpPr>
          <p:nvPr>
            <p:ph type="subTitle" idx="1"/>
          </p:nvPr>
        </p:nvSpPr>
        <p:spPr>
          <a:xfrm>
            <a:off x="1828800" y="3771900"/>
            <a:ext cx="8534400" cy="762000"/>
          </a:xfrm>
          <a:prstGeom prst="rect">
            <a:avLst/>
          </a:prstGeom>
          <a:noFill/>
          <a:ln>
            <a:noFill/>
            <a:prstDash val="solid"/>
          </a:ln>
        </p:spPr>
        <p:txBody>
          <a:bodyPr wrap="square" lIns="0" tIns="0" rIns="0" bIns="0" anchor="ctr">
            <a:normAutofit/>
          </a:bodyPr>
          <a:lstStyle>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cSld name="Section Header">
    <p:spTree>
      <p:nvGrpSpPr>
        <p:cNvPr id="1" name=""/>
        <p:cNvGrpSpPr/>
        <p:nvPr/>
      </p:nvGrpSpPr>
      <p:grpSpPr>
        <a:xfrm>
          <a:off x="0" y="0"/>
          <a:ext cx="0" cy="0"/>
          <a:chOff x="0" y="0"/>
          <a:chExt cx="0" cy="0"/>
        </a:xfrm>
      </p:grpSpPr>
      <p:sp>
        <p:nvSpPr>
          <p:cNvPr id="2" name="Section title">
            <a:extLst>
              <a:ext uri="{FF2B5EF4-FFF2-40B4-BE49-F238E27FC236}">
                <a16:creationId xmlns:a16="http://schemas.microsoft.com/office/drawing/2014/main" id="{6243953B-1F8E-42B4-8EED-FA711D80039A}"/>
              </a:ext>
            </a:extLst>
          </p:cNvPr>
          <p:cNvSpPr>
            <a:spLocks noGrp="1"/>
          </p:cNvSpPr>
          <p:nvPr>
            <p:ph type="title"/>
          </p:nvPr>
        </p:nvSpPr>
        <p:spPr>
          <a:xfrm>
            <a:off x="1219200" y="2857500"/>
            <a:ext cx="9753600" cy="1143000"/>
          </a:xfrm>
          <a:prstGeom prst="rect">
            <a:avLst/>
          </a:prstGeom>
          <a:noFill/>
          <a:ln>
            <a:noFill/>
            <a:prstDash val="solid"/>
          </a:ln>
        </p:spPr>
        <p:txBody>
          <a:bodyPr wrap="square" lIns="0" tIns="0" rIns="0" bIns="0" anchor="ctr">
            <a:normAutofit/>
          </a:bodyPr>
          <a:lstStyle>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cSld name="Title and Body">
    <p:spTree>
      <p:nvGrpSpPr>
        <p:cNvPr id="1" name=""/>
        <p:cNvGrpSpPr/>
        <p:nvPr/>
      </p:nvGrpSpPr>
      <p:grpSpPr>
        <a:xfrm>
          <a:off x="0" y="0"/>
          <a:ext cx="0" cy="0"/>
          <a:chOff x="0" y="0"/>
          <a:chExt cx="0" cy="0"/>
        </a:xfrm>
      </p:grpSpPr>
      <p:sp>
        <p:nvSpPr>
          <p:cNvPr id="3" name="Title">
            <a:extLst>
              <a:ext uri="{FF2B5EF4-FFF2-40B4-BE49-F238E27FC236}">
                <a16:creationId xmlns:a16="http://schemas.microsoft.com/office/drawing/2014/main" id="{F03650AC-BC0C-49ED-8779-FA42B3665250}"/>
              </a:ext>
            </a:extLst>
          </p:cNvPr>
          <p:cNvSpPr>
            <a:spLocks noGrp="1"/>
          </p:cNvSpPr>
          <p:nvPr>
            <p:ph type="title"/>
          </p:nvPr>
        </p:nvSpPr>
        <p:spPr>
          <a:xfrm>
            <a:off x="685800" y="533400"/>
            <a:ext cx="10820400" cy="838200"/>
          </a:xfrm>
          <a:prstGeom prst="rect">
            <a:avLst/>
          </a:prstGeom>
          <a:noFill/>
          <a:ln>
            <a:noFill/>
            <a:prstDash val="solid"/>
          </a:ln>
        </p:spPr>
        <p:txBody>
          <a:bodyPr wrap="square" lIns="0" tIns="0" rIns="0" bIns="0" anchor="t">
            <a:normAutofit/>
          </a:bodyPr>
          <a:lstStyle>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a:endParaRPr/>
          </a:p>
        </p:txBody>
      </p:sp>
      <p:sp>
        <p:nvSpPr>
          <p:cNvPr id="2" name="Body">
            <a:extLst>
              <a:ext uri="{FF2B5EF4-FFF2-40B4-BE49-F238E27FC236}">
                <a16:creationId xmlns:a16="http://schemas.microsoft.com/office/drawing/2014/main" id="{45DF61E1-BC17-4818-ACFE-C6149070A90A}"/>
              </a:ext>
            </a:extLst>
          </p:cNvPr>
          <p:cNvSpPr>
            <a:spLocks noGrp="1"/>
          </p:cNvSpPr>
          <p:nvPr>
            <p:ph type="body" idx="1"/>
          </p:nvPr>
        </p:nvSpPr>
        <p:spPr>
          <a:xfrm>
            <a:off x="685800" y="1905000"/>
            <a:ext cx="10820400" cy="4267200"/>
          </a:xfrm>
          <a:prstGeom prst="rect">
            <a:avLst/>
          </a:prstGeom>
          <a:noFill/>
          <a:ln>
            <a:noFill/>
            <a:prstDash val="solid"/>
          </a:ln>
        </p:spPr>
        <p:txBody>
          <a:bodyPr wrap="square" lIns="0" tIns="0" rIns="0" bIns="0" anchor="t">
            <a:normAutofit/>
          </a:bodyPr>
          <a:lstStyle>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cSld name="Title and Two Column">
    <p:spTree>
      <p:nvGrpSpPr>
        <p:cNvPr id="1" name=""/>
        <p:cNvGrpSpPr/>
        <p:nvPr/>
      </p:nvGrpSpPr>
      <p:grpSpPr>
        <a:xfrm>
          <a:off x="0" y="0"/>
          <a:ext cx="0" cy="0"/>
          <a:chOff x="0" y="0"/>
          <a:chExt cx="0" cy="0"/>
        </a:xfrm>
      </p:grpSpPr>
      <p:sp>
        <p:nvSpPr>
          <p:cNvPr id="4" name="Title">
            <a:extLst>
              <a:ext uri="{FF2B5EF4-FFF2-40B4-BE49-F238E27FC236}">
                <a16:creationId xmlns:a16="http://schemas.microsoft.com/office/drawing/2014/main" id="{31BFCDFF-C505-4341-BAC2-9CCFCF4839C6}"/>
              </a:ext>
            </a:extLst>
          </p:cNvPr>
          <p:cNvSpPr>
            <a:spLocks noGrp="1"/>
          </p:cNvSpPr>
          <p:nvPr>
            <p:ph type="title"/>
          </p:nvPr>
        </p:nvSpPr>
        <p:spPr>
          <a:xfrm>
            <a:off x="685800" y="533400"/>
            <a:ext cx="10820400" cy="838200"/>
          </a:xfrm>
          <a:prstGeom prst="rect">
            <a:avLst/>
          </a:prstGeom>
          <a:noFill/>
          <a:ln>
            <a:noFill/>
            <a:prstDash val="solid"/>
          </a:ln>
        </p:spPr>
        <p:txBody>
          <a:bodyPr wrap="square" lIns="0" tIns="0" rIns="0" bIns="0" anchor="t">
            <a:normAutofit/>
          </a:bodyPr>
          <a:lstStyle>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a:endParaRPr/>
          </a:p>
        </p:txBody>
      </p:sp>
      <p:sp>
        <p:nvSpPr>
          <p:cNvPr id="2" name="Left column">
            <a:extLst>
              <a:ext uri="{FF2B5EF4-FFF2-40B4-BE49-F238E27FC236}">
                <a16:creationId xmlns:a16="http://schemas.microsoft.com/office/drawing/2014/main" id="{6EFB4938-6980-4A7C-8EEA-5EAD741326E9}"/>
              </a:ext>
            </a:extLst>
          </p:cNvPr>
          <p:cNvSpPr>
            <a:spLocks noGrp="1"/>
          </p:cNvSpPr>
          <p:nvPr>
            <p:ph type="body" idx="1"/>
          </p:nvPr>
        </p:nvSpPr>
        <p:spPr>
          <a:xfrm>
            <a:off x="685800" y="1905000"/>
            <a:ext cx="5029200" cy="4267200"/>
          </a:xfrm>
          <a:prstGeom prst="rect">
            <a:avLst/>
          </a:prstGeom>
          <a:noFill/>
          <a:ln>
            <a:noFill/>
            <a:prstDash val="solid"/>
          </a:ln>
        </p:spPr>
        <p:txBody>
          <a:bodyPr wrap="square" lIns="0" tIns="0" rIns="0" bIns="0" anchor="t">
            <a:normAutofit/>
          </a:bodyPr>
          <a:lstStyle>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a:endParaRPr/>
          </a:p>
        </p:txBody>
      </p:sp>
      <p:sp>
        <p:nvSpPr>
          <p:cNvPr id="3" name="Right column">
            <a:extLst>
              <a:ext uri="{FF2B5EF4-FFF2-40B4-BE49-F238E27FC236}">
                <a16:creationId xmlns:a16="http://schemas.microsoft.com/office/drawing/2014/main" id="{16E7A43A-6FBA-48F9-8E85-3835ED842114}"/>
              </a:ext>
            </a:extLst>
          </p:cNvPr>
          <p:cNvSpPr>
            <a:spLocks noGrp="1"/>
          </p:cNvSpPr>
          <p:nvPr>
            <p:ph type="body" idx="2"/>
          </p:nvPr>
        </p:nvSpPr>
        <p:spPr>
          <a:xfrm>
            <a:off x="6477000" y="1905000"/>
            <a:ext cx="5029200" cy="4267200"/>
          </a:xfrm>
          <a:prstGeom prst="rect">
            <a:avLst/>
          </a:prstGeom>
          <a:noFill/>
          <a:ln>
            <a:noFill/>
            <a:prstDash val="solid"/>
          </a:ln>
        </p:spPr>
        <p:txBody>
          <a:bodyPr wrap="square" lIns="0" tIns="0" rIns="0" bIns="0" anchor="t">
            <a:normAutofit/>
          </a:bodyPr>
          <a:lstStyle>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cSld name="Title and One Column">
    <p:spTree>
      <p:nvGrpSpPr>
        <p:cNvPr id="1" name=""/>
        <p:cNvGrpSpPr/>
        <p:nvPr/>
      </p:nvGrpSpPr>
      <p:grpSpPr>
        <a:xfrm>
          <a:off x="0" y="0"/>
          <a:ext cx="0" cy="0"/>
          <a:chOff x="0" y="0"/>
          <a:chExt cx="0" cy="0"/>
        </a:xfrm>
      </p:grpSpPr>
      <p:sp>
        <p:nvSpPr>
          <p:cNvPr id="3" name="Title">
            <a:extLst>
              <a:ext uri="{FF2B5EF4-FFF2-40B4-BE49-F238E27FC236}">
                <a16:creationId xmlns:a16="http://schemas.microsoft.com/office/drawing/2014/main" id="{FBE7E39E-4484-4B9C-9E49-C4B349B6A1AC}"/>
              </a:ext>
            </a:extLst>
          </p:cNvPr>
          <p:cNvSpPr>
            <a:spLocks noGrp="1"/>
          </p:cNvSpPr>
          <p:nvPr>
            <p:ph type="title"/>
          </p:nvPr>
        </p:nvSpPr>
        <p:spPr>
          <a:xfrm>
            <a:off x="685800" y="533400"/>
            <a:ext cx="10820400" cy="838200"/>
          </a:xfrm>
          <a:prstGeom prst="rect">
            <a:avLst/>
          </a:prstGeom>
          <a:noFill/>
          <a:ln>
            <a:noFill/>
            <a:prstDash val="solid"/>
          </a:ln>
        </p:spPr>
        <p:txBody>
          <a:bodyPr wrap="square" lIns="0" tIns="0" rIns="0" bIns="0" anchor="t">
            <a:normAutofit/>
          </a:bodyPr>
          <a:lstStyle>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a:endParaRPr/>
          </a:p>
        </p:txBody>
      </p:sp>
      <p:sp>
        <p:nvSpPr>
          <p:cNvPr id="2" name="Left column">
            <a:extLst>
              <a:ext uri="{FF2B5EF4-FFF2-40B4-BE49-F238E27FC236}">
                <a16:creationId xmlns:a16="http://schemas.microsoft.com/office/drawing/2014/main" id="{911986FC-A7E5-489B-B863-18B0DEBEB15A}"/>
              </a:ext>
            </a:extLst>
          </p:cNvPr>
          <p:cNvSpPr>
            <a:spLocks noGrp="1"/>
          </p:cNvSpPr>
          <p:nvPr>
            <p:ph type="body" idx="1"/>
          </p:nvPr>
        </p:nvSpPr>
        <p:spPr>
          <a:xfrm>
            <a:off x="685800" y="1905000"/>
            <a:ext cx="5029200" cy="4267200"/>
          </a:xfrm>
          <a:prstGeom prst="rect">
            <a:avLst/>
          </a:prstGeom>
          <a:noFill/>
          <a:ln>
            <a:noFill/>
            <a:prstDash val="solid"/>
          </a:ln>
        </p:spPr>
        <p:txBody>
          <a:bodyPr wrap="square" lIns="0" tIns="0" rIns="0" bIns="0" anchor="t">
            <a:normAutofit/>
          </a:bodyPr>
          <a:lstStyle>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Master">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Lst>
  <p:txStyles>
    <p:titleStyle>
      <a:lvl1pPr algn="l">
        <a:lnSpc>
          <a:spcPct val="90000"/>
        </a:lnSpc>
        <a:spcBef>
          <a:spcPts val="0"/>
        </a:spcBef>
        <a:buNone/>
        <a:defRPr sz="4400">
          <a:solidFill>
            <a:schemeClr val="tx1"/>
          </a:solidFill>
          <a:latin typeface="+mj-lt"/>
          <a:ea typeface="+mj-lt"/>
          <a:cs typeface="+mj-lt"/>
        </a:defRPr>
      </a:lvl1pPr>
    </p:titleStyle>
    <p:bodyStyle>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6.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3" Type="http://schemas.openxmlformats.org/officeDocument/2006/relationships/slideLayout" Target="../slideLayouts/slideLayout6.xml"/><Relationship Id="rId2" Type="http://schemas.openxmlformats.org/officeDocument/2006/relationships/video" Target="../media/media1.mp4"/><Relationship Id="rId1" Type="http://schemas.microsoft.com/office/2007/relationships/media" Target="../media/media1.mp4"/><Relationship Id="rId5" Type="http://schemas.openxmlformats.org/officeDocument/2006/relationships/image" Target="../media/image1.png"/><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3" Type="http://schemas.openxmlformats.org/officeDocument/2006/relationships/slideLayout" Target="../slideLayouts/slideLayout6.xml"/><Relationship Id="rId2" Type="http://schemas.openxmlformats.org/officeDocument/2006/relationships/video" Target="../media/media2.mp4"/><Relationship Id="rId1" Type="http://schemas.microsoft.com/office/2007/relationships/media" Target="../media/media2.mp4"/><Relationship Id="rId5" Type="http://schemas.openxmlformats.org/officeDocument/2006/relationships/image" Target="../media/image2.png"/><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102339"/>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9A40196C-02A5-4376-BAB7-C9D4B3CA3AFC}"/>
              </a:ext>
            </a:extLst>
          </p:cNvPr>
          <p:cNvSpPr>
            <a:spLocks noGrp="1"/>
          </p:cNvSpPr>
          <p:nvPr/>
        </p:nvSpPr>
        <p:spPr>
          <a:xfrm>
            <a:off x="685800" y="1485900"/>
            <a:ext cx="10477500" cy="857250"/>
          </a:xfrm>
          <a:prstGeom prst="rect">
            <a:avLst/>
          </a:prstGeom>
          <a:noFill/>
          <a:ln w="0">
            <a:noFill/>
          </a:ln>
        </p:spPr>
        <p:txBody>
          <a:bodyPr lIns="0" tIns="0" rIns="0" bIns="0" anchor="ctr">
            <a:noAutofit/>
          </a:bodyPr>
          <a:lstStyle>
            <a:defPPr>
              <a:defRPr sz="5250" b="1">
                <a:solidFill>
                  <a:srgbClr val="FFFFFF"/>
                </a:solidFill>
                <a:latin typeface="Helvetica Neue"/>
                <a:ea typeface="Helvetica Neue"/>
                <a:cs typeface="Helvetica Neue"/>
              </a:defRPr>
            </a:defPPr>
            <a:lvl1pPr>
              <a:defRPr sz="5250" b="1">
                <a:solidFill>
                  <a:srgbClr val="FFFFFF"/>
                </a:solidFill>
                <a:latin typeface="Helvetica Neue"/>
                <a:ea typeface="Helvetica Neue"/>
                <a:cs typeface="Helvetica Neue"/>
              </a:defRPr>
            </a:lvl1pPr>
            <a:lvl2pPr>
              <a:defRPr sz="5250" b="1">
                <a:solidFill>
                  <a:srgbClr val="FFFFFF"/>
                </a:solidFill>
                <a:latin typeface="Helvetica Neue"/>
                <a:ea typeface="Helvetica Neue"/>
                <a:cs typeface="Helvetica Neue"/>
              </a:defRPr>
            </a:lvl2pPr>
            <a:lvl3pPr>
              <a:defRPr sz="5250" b="1">
                <a:solidFill>
                  <a:srgbClr val="FFFFFF"/>
                </a:solidFill>
                <a:latin typeface="Helvetica Neue"/>
                <a:ea typeface="Helvetica Neue"/>
                <a:cs typeface="Helvetica Neue"/>
              </a:defRPr>
            </a:lvl3pPr>
            <a:lvl4pPr>
              <a:defRPr sz="5250" b="1">
                <a:solidFill>
                  <a:srgbClr val="FFFFFF"/>
                </a:solidFill>
                <a:latin typeface="Helvetica Neue"/>
                <a:ea typeface="Helvetica Neue"/>
                <a:cs typeface="Helvetica Neue"/>
              </a:defRPr>
            </a:lvl4pPr>
            <a:lvl5pPr>
              <a:defRPr sz="5250" b="1">
                <a:solidFill>
                  <a:srgbClr val="FFFFFF"/>
                </a:solidFill>
                <a:latin typeface="Helvetica Neue"/>
                <a:ea typeface="Helvetica Neue"/>
                <a:cs typeface="Helvetica Neue"/>
              </a:defRPr>
            </a:lvl5pPr>
            <a:lvl6pPr>
              <a:defRPr sz="5250" b="1">
                <a:solidFill>
                  <a:srgbClr val="FFFFFF"/>
                </a:solidFill>
                <a:latin typeface="Helvetica Neue"/>
                <a:ea typeface="Helvetica Neue"/>
                <a:cs typeface="Helvetica Neue"/>
              </a:defRPr>
            </a:lvl6pPr>
            <a:lvl7pPr>
              <a:defRPr sz="5250" b="1">
                <a:solidFill>
                  <a:srgbClr val="FFFFFF"/>
                </a:solidFill>
                <a:latin typeface="Helvetica Neue"/>
                <a:ea typeface="Helvetica Neue"/>
                <a:cs typeface="Helvetica Neue"/>
              </a:defRPr>
            </a:lvl7pPr>
            <a:lvl8pPr>
              <a:defRPr sz="5250" b="1">
                <a:solidFill>
                  <a:srgbClr val="FFFFFF"/>
                </a:solidFill>
                <a:latin typeface="Helvetica Neue"/>
                <a:ea typeface="Helvetica Neue"/>
                <a:cs typeface="Helvetica Neue"/>
              </a:defRPr>
            </a:lvl8pPr>
            <a:lvl9pPr>
              <a:defRPr sz="5250" b="1">
                <a:solidFill>
                  <a:srgbClr val="FFFFFF"/>
                </a:solidFill>
                <a:latin typeface="Helvetica Neue"/>
                <a:ea typeface="Helvetica Neue"/>
                <a:cs typeface="Helvetica Neue"/>
              </a:defRPr>
            </a:lvl9pPr>
          </a:lstStyle>
          <a:p>
            <a:pPr>
              <a:defRPr sz="5250" b="1">
                <a:solidFill>
                  <a:srgbClr val="FFFFFF"/>
                </a:solidFill>
                <a:latin typeface="Helvetica Neue"/>
                <a:ea typeface="Helvetica Neue"/>
                <a:cs typeface="Helvetica Neue"/>
              </a:defRPr>
            </a:pPr>
            <a:r>
              <a:rPr sz="5250" b="1">
                <a:solidFill>
                  <a:srgbClr val="FFFFFF"/>
                </a:solidFill>
                <a:latin typeface="Helvetica Neue"/>
                <a:ea typeface="Helvetica Neue"/>
                <a:cs typeface="Helvetica Neue"/>
              </a:rPr>
              <a:t>R1 arm training</a:t>
            </a:r>
          </a:p>
        </p:txBody>
      </p:sp>
      <p:sp>
        <p:nvSpPr>
          <p:cNvPr id="3" name="Rectangle 2">
            <a:extLst>
              <a:ext uri="{FF2B5EF4-FFF2-40B4-BE49-F238E27FC236}">
                <a16:creationId xmlns:a16="http://schemas.microsoft.com/office/drawing/2014/main" id="{5FDEFC75-2398-41F1-A997-06AFCA4A5938}"/>
              </a:ext>
            </a:extLst>
          </p:cNvPr>
          <p:cNvSpPr>
            <a:spLocks noGrp="1"/>
          </p:cNvSpPr>
          <p:nvPr/>
        </p:nvSpPr>
        <p:spPr>
          <a:xfrm>
            <a:off x="723900" y="2381250"/>
            <a:ext cx="10668000" cy="714375"/>
          </a:xfrm>
          <a:prstGeom prst="rect">
            <a:avLst/>
          </a:prstGeom>
          <a:noFill/>
          <a:ln w="0">
            <a:noFill/>
          </a:ln>
        </p:spPr>
        <p:txBody>
          <a:bodyPr lIns="0" tIns="0" rIns="0" bIns="0" anchor="ctr">
            <a:noAutofit/>
          </a:bodyPr>
          <a:lstStyle>
            <a:defPPr>
              <a:defRPr sz="3150" b="0">
                <a:solidFill>
                  <a:srgbClr val="FFFFFF"/>
                </a:solidFill>
                <a:latin typeface="Helvetica Neue"/>
                <a:ea typeface="Helvetica Neue"/>
                <a:cs typeface="Helvetica Neue"/>
              </a:defRPr>
            </a:defPPr>
            <a:lvl1pPr>
              <a:defRPr sz="3150" b="0">
                <a:solidFill>
                  <a:srgbClr val="FFFFFF"/>
                </a:solidFill>
                <a:latin typeface="Helvetica Neue"/>
                <a:ea typeface="Helvetica Neue"/>
                <a:cs typeface="Helvetica Neue"/>
              </a:defRPr>
            </a:lvl1pPr>
            <a:lvl2pPr>
              <a:defRPr sz="3150" b="0">
                <a:solidFill>
                  <a:srgbClr val="FFFFFF"/>
                </a:solidFill>
                <a:latin typeface="Helvetica Neue"/>
                <a:ea typeface="Helvetica Neue"/>
                <a:cs typeface="Helvetica Neue"/>
              </a:defRPr>
            </a:lvl2pPr>
            <a:lvl3pPr>
              <a:defRPr sz="3150" b="0">
                <a:solidFill>
                  <a:srgbClr val="FFFFFF"/>
                </a:solidFill>
                <a:latin typeface="Helvetica Neue"/>
                <a:ea typeface="Helvetica Neue"/>
                <a:cs typeface="Helvetica Neue"/>
              </a:defRPr>
            </a:lvl3pPr>
            <a:lvl4pPr>
              <a:defRPr sz="3150" b="0">
                <a:solidFill>
                  <a:srgbClr val="FFFFFF"/>
                </a:solidFill>
                <a:latin typeface="Helvetica Neue"/>
                <a:ea typeface="Helvetica Neue"/>
                <a:cs typeface="Helvetica Neue"/>
              </a:defRPr>
            </a:lvl4pPr>
            <a:lvl5pPr>
              <a:defRPr sz="3150" b="0">
                <a:solidFill>
                  <a:srgbClr val="FFFFFF"/>
                </a:solidFill>
                <a:latin typeface="Helvetica Neue"/>
                <a:ea typeface="Helvetica Neue"/>
                <a:cs typeface="Helvetica Neue"/>
              </a:defRPr>
            </a:lvl5pPr>
            <a:lvl6pPr>
              <a:defRPr sz="3150" b="0">
                <a:solidFill>
                  <a:srgbClr val="FFFFFF"/>
                </a:solidFill>
                <a:latin typeface="Helvetica Neue"/>
                <a:ea typeface="Helvetica Neue"/>
                <a:cs typeface="Helvetica Neue"/>
              </a:defRPr>
            </a:lvl6pPr>
            <a:lvl7pPr>
              <a:defRPr sz="3150" b="0">
                <a:solidFill>
                  <a:srgbClr val="FFFFFF"/>
                </a:solidFill>
                <a:latin typeface="Helvetica Neue"/>
                <a:ea typeface="Helvetica Neue"/>
                <a:cs typeface="Helvetica Neue"/>
              </a:defRPr>
            </a:lvl7pPr>
            <a:lvl8pPr>
              <a:defRPr sz="3150" b="0">
                <a:solidFill>
                  <a:srgbClr val="FFFFFF"/>
                </a:solidFill>
                <a:latin typeface="Helvetica Neue"/>
                <a:ea typeface="Helvetica Neue"/>
                <a:cs typeface="Helvetica Neue"/>
              </a:defRPr>
            </a:lvl8pPr>
            <a:lvl9pPr>
              <a:defRPr sz="3150" b="0">
                <a:solidFill>
                  <a:srgbClr val="FFFFFF"/>
                </a:solidFill>
                <a:latin typeface="Helvetica Neue"/>
                <a:ea typeface="Helvetica Neue"/>
                <a:cs typeface="Helvetica Neue"/>
              </a:defRPr>
            </a:lvl9pPr>
          </a:lstStyle>
          <a:p>
            <a:pPr>
              <a:defRPr sz="3150" b="0">
                <a:solidFill>
                  <a:srgbClr val="FFFFFF"/>
                </a:solidFill>
                <a:latin typeface="Helvetica Neue"/>
                <a:ea typeface="Helvetica Neue"/>
                <a:cs typeface="Helvetica Neue"/>
              </a:defRPr>
            </a:pPr>
            <a:r>
              <a:rPr sz="3150" b="0">
                <a:solidFill>
                  <a:srgbClr val="FFFFFF"/>
                </a:solidFill>
                <a:latin typeface="Helvetica Neue"/>
                <a:ea typeface="Helvetica Neue"/>
                <a:cs typeface="Helvetica Neue"/>
              </a:rPr>
              <a:t>Torso avoidance, grasping and lifting</a:t>
            </a:r>
          </a:p>
        </p:txBody>
      </p:sp>
      <p:sp>
        <p:nvSpPr>
          <p:cNvPr id="4" name="Rectangle 3">
            <a:extLst>
              <a:ext uri="{FF2B5EF4-FFF2-40B4-BE49-F238E27FC236}">
                <a16:creationId xmlns:a16="http://schemas.microsoft.com/office/drawing/2014/main" id="{D2D485F6-80B0-4CF3-84CA-54C490A36388}"/>
              </a:ext>
            </a:extLst>
          </p:cNvPr>
          <p:cNvSpPr>
            <a:spLocks noGrp="1"/>
          </p:cNvSpPr>
          <p:nvPr/>
        </p:nvSpPr>
        <p:spPr>
          <a:xfrm>
            <a:off x="723900" y="3829050"/>
            <a:ext cx="10096500" cy="1066800"/>
          </a:xfrm>
          <a:prstGeom prst="rect">
            <a:avLst/>
          </a:prstGeom>
          <a:noFill/>
          <a:ln w="0">
            <a:noFill/>
          </a:ln>
        </p:spPr>
        <p:txBody>
          <a:bodyPr lIns="0" tIns="0" rIns="0" bIns="0" anchor="ctr">
            <a:noAutofit/>
          </a:bodyPr>
          <a:lstStyle>
            <a:defPPr>
              <a:defRPr sz="2250" b="0">
                <a:solidFill>
                  <a:srgbClr val="C9DAEB"/>
                </a:solidFill>
                <a:latin typeface="Helvetica Neue"/>
                <a:ea typeface="Helvetica Neue"/>
                <a:cs typeface="Helvetica Neue"/>
              </a:defRPr>
            </a:defPPr>
            <a:lvl1pPr>
              <a:defRPr sz="2250" b="0">
                <a:solidFill>
                  <a:srgbClr val="C9DAEB"/>
                </a:solidFill>
                <a:latin typeface="Helvetica Neue"/>
                <a:ea typeface="Helvetica Neue"/>
                <a:cs typeface="Helvetica Neue"/>
              </a:defRPr>
            </a:lvl1pPr>
            <a:lvl2pPr>
              <a:defRPr sz="2250" b="0">
                <a:solidFill>
                  <a:srgbClr val="C9DAEB"/>
                </a:solidFill>
                <a:latin typeface="Helvetica Neue"/>
                <a:ea typeface="Helvetica Neue"/>
                <a:cs typeface="Helvetica Neue"/>
              </a:defRPr>
            </a:lvl2pPr>
            <a:lvl3pPr>
              <a:defRPr sz="2250" b="0">
                <a:solidFill>
                  <a:srgbClr val="C9DAEB"/>
                </a:solidFill>
                <a:latin typeface="Helvetica Neue"/>
                <a:ea typeface="Helvetica Neue"/>
                <a:cs typeface="Helvetica Neue"/>
              </a:defRPr>
            </a:lvl3pPr>
            <a:lvl4pPr>
              <a:defRPr sz="2250" b="0">
                <a:solidFill>
                  <a:srgbClr val="C9DAEB"/>
                </a:solidFill>
                <a:latin typeface="Helvetica Neue"/>
                <a:ea typeface="Helvetica Neue"/>
                <a:cs typeface="Helvetica Neue"/>
              </a:defRPr>
            </a:lvl4pPr>
            <a:lvl5pPr>
              <a:defRPr sz="2250" b="0">
                <a:solidFill>
                  <a:srgbClr val="C9DAEB"/>
                </a:solidFill>
                <a:latin typeface="Helvetica Neue"/>
                <a:ea typeface="Helvetica Neue"/>
                <a:cs typeface="Helvetica Neue"/>
              </a:defRPr>
            </a:lvl5pPr>
            <a:lvl6pPr>
              <a:defRPr sz="2250" b="0">
                <a:solidFill>
                  <a:srgbClr val="C9DAEB"/>
                </a:solidFill>
                <a:latin typeface="Helvetica Neue"/>
                <a:ea typeface="Helvetica Neue"/>
                <a:cs typeface="Helvetica Neue"/>
              </a:defRPr>
            </a:lvl6pPr>
            <a:lvl7pPr>
              <a:defRPr sz="2250" b="0">
                <a:solidFill>
                  <a:srgbClr val="C9DAEB"/>
                </a:solidFill>
                <a:latin typeface="Helvetica Neue"/>
                <a:ea typeface="Helvetica Neue"/>
                <a:cs typeface="Helvetica Neue"/>
              </a:defRPr>
            </a:lvl7pPr>
            <a:lvl8pPr>
              <a:defRPr sz="2250" b="0">
                <a:solidFill>
                  <a:srgbClr val="C9DAEB"/>
                </a:solidFill>
                <a:latin typeface="Helvetica Neue"/>
                <a:ea typeface="Helvetica Neue"/>
                <a:cs typeface="Helvetica Neue"/>
              </a:defRPr>
            </a:lvl8pPr>
            <a:lvl9pPr>
              <a:defRPr sz="2250" b="0">
                <a:solidFill>
                  <a:srgbClr val="C9DAEB"/>
                </a:solidFill>
                <a:latin typeface="Helvetica Neue"/>
                <a:ea typeface="Helvetica Neue"/>
                <a:cs typeface="Helvetica Neue"/>
              </a:defRPr>
            </a:lvl9pPr>
          </a:lstStyle>
          <a:p>
            <a:pPr>
              <a:defRPr sz="2250" b="0">
                <a:solidFill>
                  <a:srgbClr val="C9DAEB"/>
                </a:solidFill>
                <a:latin typeface="Helvetica Neue"/>
                <a:ea typeface="Helvetica Neue"/>
                <a:cs typeface="Helvetica Neue"/>
              </a:defRPr>
            </a:pPr>
            <a:r>
              <a:rPr sz="2250" b="0">
                <a:solidFill>
                  <a:srgbClr val="C9DAEB"/>
                </a:solidFill>
                <a:latin typeface="Helvetica Neue"/>
                <a:ea typeface="Helvetica Neue"/>
                <a:cs typeface="Helvetica Neue"/>
              </a:rPr>
              <a:t>120 focused lift-search episodes</a:t>
            </a:r>
          </a:p>
          <a:p>
            <a:pPr>
              <a:defRPr sz="2250" b="0">
                <a:solidFill>
                  <a:srgbClr val="C9DAEB"/>
                </a:solidFill>
                <a:latin typeface="Helvetica Neue"/>
                <a:ea typeface="Helvetica Neue"/>
                <a:cs typeface="Helvetica Neue"/>
              </a:defRPr>
            </a:pPr>
            <a:r>
              <a:rPr sz="2250" b="0">
                <a:solidFill>
                  <a:srgbClr val="C9DAEB"/>
                </a:solidFill>
                <a:latin typeface="Helvetica Neue"/>
                <a:ea typeface="Helvetica Neue"/>
                <a:cs typeface="Helvetica Neue"/>
              </a:rPr>
              <a:t>No scripted teacher. No DAgger episodes.</a:t>
            </a:r>
          </a:p>
        </p:txBody>
      </p:sp>
      <p:sp>
        <p:nvSpPr>
          <p:cNvPr id="5" name="Rectangle 4">
            <a:extLst>
              <a:ext uri="{FF2B5EF4-FFF2-40B4-BE49-F238E27FC236}">
                <a16:creationId xmlns:a16="http://schemas.microsoft.com/office/drawing/2014/main" id="{A223AD09-D3A6-4C0A-97BE-776D66BAFDD1}"/>
              </a:ext>
            </a:extLst>
          </p:cNvPr>
          <p:cNvSpPr>
            <a:spLocks noGrp="1"/>
          </p:cNvSpPr>
          <p:nvPr/>
        </p:nvSpPr>
        <p:spPr>
          <a:xfrm>
            <a:off x="723900" y="5562600"/>
            <a:ext cx="9906000" cy="704850"/>
          </a:xfrm>
          <a:prstGeom prst="rect">
            <a:avLst/>
          </a:prstGeom>
          <a:noFill/>
          <a:ln w="0">
            <a:noFill/>
          </a:ln>
        </p:spPr>
        <p:txBody>
          <a:bodyPr lIns="0" tIns="0" rIns="0" bIns="0" anchor="ctr">
            <a:noAutofit/>
          </a:bodyPr>
          <a:lstStyle>
            <a:defPPr>
              <a:defRPr sz="1800" b="0">
                <a:solidFill>
                  <a:srgbClr val="C9DAEB"/>
                </a:solidFill>
                <a:latin typeface="Helvetica Neue"/>
                <a:ea typeface="Helvetica Neue"/>
                <a:cs typeface="Helvetica Neue"/>
              </a:defRPr>
            </a:defPPr>
            <a:lvl1pPr>
              <a:defRPr sz="1800" b="0">
                <a:solidFill>
                  <a:srgbClr val="C9DAEB"/>
                </a:solidFill>
                <a:latin typeface="Helvetica Neue"/>
                <a:ea typeface="Helvetica Neue"/>
                <a:cs typeface="Helvetica Neue"/>
              </a:defRPr>
            </a:lvl1pPr>
            <a:lvl2pPr>
              <a:defRPr sz="1800" b="0">
                <a:solidFill>
                  <a:srgbClr val="C9DAEB"/>
                </a:solidFill>
                <a:latin typeface="Helvetica Neue"/>
                <a:ea typeface="Helvetica Neue"/>
                <a:cs typeface="Helvetica Neue"/>
              </a:defRPr>
            </a:lvl2pPr>
            <a:lvl3pPr>
              <a:defRPr sz="1800" b="0">
                <a:solidFill>
                  <a:srgbClr val="C9DAEB"/>
                </a:solidFill>
                <a:latin typeface="Helvetica Neue"/>
                <a:ea typeface="Helvetica Neue"/>
                <a:cs typeface="Helvetica Neue"/>
              </a:defRPr>
            </a:lvl3pPr>
            <a:lvl4pPr>
              <a:defRPr sz="1800" b="0">
                <a:solidFill>
                  <a:srgbClr val="C9DAEB"/>
                </a:solidFill>
                <a:latin typeface="Helvetica Neue"/>
                <a:ea typeface="Helvetica Neue"/>
                <a:cs typeface="Helvetica Neue"/>
              </a:defRPr>
            </a:lvl4pPr>
            <a:lvl5pPr>
              <a:defRPr sz="1800" b="0">
                <a:solidFill>
                  <a:srgbClr val="C9DAEB"/>
                </a:solidFill>
                <a:latin typeface="Helvetica Neue"/>
                <a:ea typeface="Helvetica Neue"/>
                <a:cs typeface="Helvetica Neue"/>
              </a:defRPr>
            </a:lvl5pPr>
            <a:lvl6pPr>
              <a:defRPr sz="1800" b="0">
                <a:solidFill>
                  <a:srgbClr val="C9DAEB"/>
                </a:solidFill>
                <a:latin typeface="Helvetica Neue"/>
                <a:ea typeface="Helvetica Neue"/>
                <a:cs typeface="Helvetica Neue"/>
              </a:defRPr>
            </a:lvl6pPr>
            <a:lvl7pPr>
              <a:defRPr sz="1800" b="0">
                <a:solidFill>
                  <a:srgbClr val="C9DAEB"/>
                </a:solidFill>
                <a:latin typeface="Helvetica Neue"/>
                <a:ea typeface="Helvetica Neue"/>
                <a:cs typeface="Helvetica Neue"/>
              </a:defRPr>
            </a:lvl7pPr>
            <a:lvl8pPr>
              <a:defRPr sz="1800" b="0">
                <a:solidFill>
                  <a:srgbClr val="C9DAEB"/>
                </a:solidFill>
                <a:latin typeface="Helvetica Neue"/>
                <a:ea typeface="Helvetica Neue"/>
                <a:cs typeface="Helvetica Neue"/>
              </a:defRPr>
            </a:lvl8pPr>
            <a:lvl9pPr>
              <a:defRPr sz="1800" b="0">
                <a:solidFill>
                  <a:srgbClr val="C9DAEB"/>
                </a:solidFill>
                <a:latin typeface="Helvetica Neue"/>
                <a:ea typeface="Helvetica Neue"/>
                <a:cs typeface="Helvetica Neue"/>
              </a:defRPr>
            </a:lvl9pPr>
          </a:lstStyle>
          <a:p>
            <a:pPr>
              <a:defRPr sz="1800" b="0">
                <a:solidFill>
                  <a:srgbClr val="C9DAEB"/>
                </a:solidFill>
                <a:latin typeface="Helvetica Neue"/>
                <a:ea typeface="Helvetica Neue"/>
                <a:cs typeface="Helvetica Neue"/>
              </a:defRPr>
            </a:pPr>
            <a:r>
              <a:rPr sz="1800" b="0" dirty="0" err="1">
                <a:solidFill>
                  <a:srgbClr val="C9DAEB"/>
                </a:solidFill>
                <a:latin typeface="Helvetica Neue"/>
                <a:ea typeface="Helvetica Neue"/>
                <a:cs typeface="Helvetica Neue"/>
              </a:rPr>
              <a:t>MuJoCo</a:t>
            </a:r>
            <a:r>
              <a:rPr sz="1800" b="0" dirty="0">
                <a:solidFill>
                  <a:srgbClr val="C9DAEB"/>
                </a:solidFill>
                <a:latin typeface="Helvetica Neue"/>
                <a:ea typeface="Helvetica Neue"/>
                <a:cs typeface="Helvetica Neue"/>
              </a:rPr>
              <a:t> simulation</a:t>
            </a:r>
          </a:p>
          <a:p>
            <a:pPr>
              <a:defRPr sz="1800" b="0">
                <a:solidFill>
                  <a:srgbClr val="C9DAEB"/>
                </a:solidFill>
                <a:latin typeface="Helvetica Neue"/>
                <a:ea typeface="Helvetica Neue"/>
                <a:cs typeface="Helvetica Neue"/>
              </a:defRPr>
            </a:pPr>
            <a:r>
              <a:rPr sz="1800" b="0" dirty="0">
                <a:solidFill>
                  <a:srgbClr val="C9DAEB"/>
                </a:solidFill>
                <a:latin typeface="Helvetica Neue"/>
                <a:ea typeface="Helvetica Neue"/>
                <a:cs typeface="Helvetica Neue"/>
              </a:rPr>
              <a:t>October 2026</a:t>
            </a:r>
          </a:p>
        </p:txBody>
      </p:sp>
    </p:spTree>
    <p:extLst>
      <p:ext uri="{BB962C8B-B14F-4D97-AF65-F5344CB8AC3E}">
        <p14:creationId xmlns:p14="http://schemas.microsoft.com/office/powerpoint/2010/main" val="111050716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0E887AB5-7E92-4B64-A033-E97ECD04F0E9}"/>
              </a:ext>
            </a:extLst>
          </p:cNvPr>
          <p:cNvSpPr>
            <a:spLocks noGrp="1"/>
          </p:cNvSpPr>
          <p:nvPr/>
        </p:nvSpPr>
        <p:spPr>
          <a:xfrm>
            <a:off x="609600" y="400050"/>
            <a:ext cx="10972800" cy="800100"/>
          </a:xfrm>
          <a:prstGeom prst="rect">
            <a:avLst/>
          </a:prstGeom>
          <a:noFill/>
          <a:ln w="0">
            <a:noFill/>
          </a:ln>
        </p:spPr>
        <p:txBody>
          <a:bodyPr lIns="0" tIns="0" rIns="0" bIns="0" anchor="ctr">
            <a:noAutofit/>
          </a:bodyPr>
          <a:lstStyle>
            <a:defPPr>
              <a:defRPr sz="3600" b="1">
                <a:solidFill>
                  <a:srgbClr val="14283F"/>
                </a:solidFill>
                <a:latin typeface="Helvetica Neue"/>
                <a:ea typeface="Helvetica Neue"/>
                <a:cs typeface="Helvetica Neue"/>
              </a:defRPr>
            </a:defPPr>
            <a:lvl1pPr>
              <a:defRPr sz="3600" b="1">
                <a:solidFill>
                  <a:srgbClr val="14283F"/>
                </a:solidFill>
                <a:latin typeface="Helvetica Neue"/>
                <a:ea typeface="Helvetica Neue"/>
                <a:cs typeface="Helvetica Neue"/>
              </a:defRPr>
            </a:lvl1pPr>
            <a:lvl2pPr>
              <a:defRPr sz="3600" b="1">
                <a:solidFill>
                  <a:srgbClr val="14283F"/>
                </a:solidFill>
                <a:latin typeface="Helvetica Neue"/>
                <a:ea typeface="Helvetica Neue"/>
                <a:cs typeface="Helvetica Neue"/>
              </a:defRPr>
            </a:lvl2pPr>
            <a:lvl3pPr>
              <a:defRPr sz="3600" b="1">
                <a:solidFill>
                  <a:srgbClr val="14283F"/>
                </a:solidFill>
                <a:latin typeface="Helvetica Neue"/>
                <a:ea typeface="Helvetica Neue"/>
                <a:cs typeface="Helvetica Neue"/>
              </a:defRPr>
            </a:lvl3pPr>
            <a:lvl4pPr>
              <a:defRPr sz="3600" b="1">
                <a:solidFill>
                  <a:srgbClr val="14283F"/>
                </a:solidFill>
                <a:latin typeface="Helvetica Neue"/>
                <a:ea typeface="Helvetica Neue"/>
                <a:cs typeface="Helvetica Neue"/>
              </a:defRPr>
            </a:lvl4pPr>
            <a:lvl5pPr>
              <a:defRPr sz="3600" b="1">
                <a:solidFill>
                  <a:srgbClr val="14283F"/>
                </a:solidFill>
                <a:latin typeface="Helvetica Neue"/>
                <a:ea typeface="Helvetica Neue"/>
                <a:cs typeface="Helvetica Neue"/>
              </a:defRPr>
            </a:lvl5pPr>
            <a:lvl6pPr>
              <a:defRPr sz="3600" b="1">
                <a:solidFill>
                  <a:srgbClr val="14283F"/>
                </a:solidFill>
                <a:latin typeface="Helvetica Neue"/>
                <a:ea typeface="Helvetica Neue"/>
                <a:cs typeface="Helvetica Neue"/>
              </a:defRPr>
            </a:lvl6pPr>
            <a:lvl7pPr>
              <a:defRPr sz="3600" b="1">
                <a:solidFill>
                  <a:srgbClr val="14283F"/>
                </a:solidFill>
                <a:latin typeface="Helvetica Neue"/>
                <a:ea typeface="Helvetica Neue"/>
                <a:cs typeface="Helvetica Neue"/>
              </a:defRPr>
            </a:lvl7pPr>
            <a:lvl8pPr>
              <a:defRPr sz="3600" b="1">
                <a:solidFill>
                  <a:srgbClr val="14283F"/>
                </a:solidFill>
                <a:latin typeface="Helvetica Neue"/>
                <a:ea typeface="Helvetica Neue"/>
                <a:cs typeface="Helvetica Neue"/>
              </a:defRPr>
            </a:lvl8pPr>
            <a:lvl9pPr>
              <a:defRPr sz="3600" b="1">
                <a:solidFill>
                  <a:srgbClr val="14283F"/>
                </a:solidFill>
                <a:latin typeface="Helvetica Neue"/>
                <a:ea typeface="Helvetica Neue"/>
                <a:cs typeface="Helvetica Neue"/>
              </a:defRPr>
            </a:lvl9pPr>
          </a:lstStyle>
          <a:p>
            <a:pPr>
              <a:defRPr sz="3600" b="1">
                <a:solidFill>
                  <a:srgbClr val="14283F"/>
                </a:solidFill>
                <a:latin typeface="Helvetica Neue"/>
                <a:ea typeface="Helvetica Neue"/>
                <a:cs typeface="Helvetica Neue"/>
              </a:defRPr>
            </a:pPr>
            <a:r>
              <a:rPr sz="3600" b="1">
                <a:solidFill>
                  <a:srgbClr val="14283F"/>
                </a:solidFill>
                <a:latin typeface="Helvetica Neue"/>
                <a:ea typeface="Helvetica Neue"/>
                <a:cs typeface="Helvetica Neue"/>
              </a:rPr>
              <a:t>Training method</a:t>
            </a:r>
          </a:p>
        </p:txBody>
      </p:sp>
      <p:sp>
        <p:nvSpPr>
          <p:cNvPr id="4" name="Rectangle 3">
            <a:extLst>
              <a:ext uri="{FF2B5EF4-FFF2-40B4-BE49-F238E27FC236}">
                <a16:creationId xmlns:a16="http://schemas.microsoft.com/office/drawing/2014/main" id="{8D65B90B-BCBB-4114-83F9-7CF74388C5BD}"/>
              </a:ext>
            </a:extLst>
          </p:cNvPr>
          <p:cNvSpPr>
            <a:spLocks noGrp="1"/>
          </p:cNvSpPr>
          <p:nvPr/>
        </p:nvSpPr>
        <p:spPr>
          <a:xfrm>
            <a:off x="11277600" y="6438900"/>
            <a:ext cx="381000" cy="228600"/>
          </a:xfrm>
          <a:prstGeom prst="rect">
            <a:avLst/>
          </a:prstGeom>
          <a:noFill/>
          <a:ln w="0">
            <a:noFill/>
          </a:ln>
        </p:spPr>
        <p:txBody>
          <a:bodyPr lIns="0" tIns="0" rIns="0" bIns="0" anchor="ctr">
            <a:noAutofit/>
          </a:bodyPr>
          <a:lstStyle>
            <a:defPPr>
              <a:defRPr sz="1425" b="0">
                <a:solidFill>
                  <a:srgbClr val="566779"/>
                </a:solidFill>
                <a:latin typeface="Helvetica Neue"/>
                <a:ea typeface="Helvetica Neue"/>
                <a:cs typeface="Helvetica Neue"/>
              </a:defRPr>
            </a:defPPr>
            <a:lvl1pPr>
              <a:defRPr sz="1425" b="0">
                <a:solidFill>
                  <a:srgbClr val="566779"/>
                </a:solidFill>
                <a:latin typeface="Helvetica Neue"/>
                <a:ea typeface="Helvetica Neue"/>
                <a:cs typeface="Helvetica Neue"/>
              </a:defRPr>
            </a:lvl1pPr>
            <a:lvl2pPr>
              <a:defRPr sz="1425" b="0">
                <a:solidFill>
                  <a:srgbClr val="566779"/>
                </a:solidFill>
                <a:latin typeface="Helvetica Neue"/>
                <a:ea typeface="Helvetica Neue"/>
                <a:cs typeface="Helvetica Neue"/>
              </a:defRPr>
            </a:lvl2pPr>
            <a:lvl3pPr>
              <a:defRPr sz="1425" b="0">
                <a:solidFill>
                  <a:srgbClr val="566779"/>
                </a:solidFill>
                <a:latin typeface="Helvetica Neue"/>
                <a:ea typeface="Helvetica Neue"/>
                <a:cs typeface="Helvetica Neue"/>
              </a:defRPr>
            </a:lvl3pPr>
            <a:lvl4pPr>
              <a:defRPr sz="1425" b="0">
                <a:solidFill>
                  <a:srgbClr val="566779"/>
                </a:solidFill>
                <a:latin typeface="Helvetica Neue"/>
                <a:ea typeface="Helvetica Neue"/>
                <a:cs typeface="Helvetica Neue"/>
              </a:defRPr>
            </a:lvl4pPr>
            <a:lvl5pPr>
              <a:defRPr sz="1425" b="0">
                <a:solidFill>
                  <a:srgbClr val="566779"/>
                </a:solidFill>
                <a:latin typeface="Helvetica Neue"/>
                <a:ea typeface="Helvetica Neue"/>
                <a:cs typeface="Helvetica Neue"/>
              </a:defRPr>
            </a:lvl5pPr>
            <a:lvl6pPr>
              <a:defRPr sz="1425" b="0">
                <a:solidFill>
                  <a:srgbClr val="566779"/>
                </a:solidFill>
                <a:latin typeface="Helvetica Neue"/>
                <a:ea typeface="Helvetica Neue"/>
                <a:cs typeface="Helvetica Neue"/>
              </a:defRPr>
            </a:lvl6pPr>
            <a:lvl7pPr>
              <a:defRPr sz="1425" b="0">
                <a:solidFill>
                  <a:srgbClr val="566779"/>
                </a:solidFill>
                <a:latin typeface="Helvetica Neue"/>
                <a:ea typeface="Helvetica Neue"/>
                <a:cs typeface="Helvetica Neue"/>
              </a:defRPr>
            </a:lvl7pPr>
            <a:lvl8pPr>
              <a:defRPr sz="1425" b="0">
                <a:solidFill>
                  <a:srgbClr val="566779"/>
                </a:solidFill>
                <a:latin typeface="Helvetica Neue"/>
                <a:ea typeface="Helvetica Neue"/>
                <a:cs typeface="Helvetica Neue"/>
              </a:defRPr>
            </a:lvl8pPr>
            <a:lvl9pPr>
              <a:defRPr sz="1425" b="0">
                <a:solidFill>
                  <a:srgbClr val="566779"/>
                </a:solidFill>
                <a:latin typeface="Helvetica Neue"/>
                <a:ea typeface="Helvetica Neue"/>
                <a:cs typeface="Helvetica Neue"/>
              </a:defRPr>
            </a:lvl9pPr>
          </a:lstStyle>
          <a:p>
            <a:pPr>
              <a:defRPr sz="1425" b="0">
                <a:solidFill>
                  <a:srgbClr val="566779"/>
                </a:solidFill>
                <a:latin typeface="Helvetica Neue"/>
                <a:ea typeface="Helvetica Neue"/>
                <a:cs typeface="Helvetica Neue"/>
              </a:defRPr>
            </a:pPr>
            <a:r>
              <a:rPr sz="1425" b="0">
                <a:solidFill>
                  <a:srgbClr val="566779"/>
                </a:solidFill>
                <a:latin typeface="Helvetica Neue"/>
                <a:ea typeface="Helvetica Neue"/>
                <a:cs typeface="Helvetica Neue"/>
              </a:rPr>
              <a:t>2</a:t>
            </a:r>
          </a:p>
        </p:txBody>
      </p:sp>
      <p:sp>
        <p:nvSpPr>
          <p:cNvPr id="5" name="Rectangle 4">
            <a:extLst>
              <a:ext uri="{FF2B5EF4-FFF2-40B4-BE49-F238E27FC236}">
                <a16:creationId xmlns:a16="http://schemas.microsoft.com/office/drawing/2014/main" id="{C31CC198-2FF4-450A-A852-30289684754E}"/>
              </a:ext>
            </a:extLst>
          </p:cNvPr>
          <p:cNvSpPr>
            <a:spLocks noGrp="1"/>
          </p:cNvSpPr>
          <p:nvPr/>
        </p:nvSpPr>
        <p:spPr>
          <a:xfrm>
            <a:off x="685800" y="1495425"/>
            <a:ext cx="2381250" cy="819150"/>
          </a:xfrm>
          <a:prstGeom prst="rect">
            <a:avLst/>
          </a:prstGeom>
          <a:noFill/>
          <a:ln w="0">
            <a:noFill/>
          </a:ln>
        </p:spPr>
        <p:txBody>
          <a:bodyPr lIns="0" tIns="0" rIns="0" bIns="0" anchor="ctr">
            <a:noAutofit/>
          </a:bodyPr>
          <a:lstStyle>
            <a:defPPr>
              <a:defRPr sz="2100" b="1">
                <a:solidFill>
                  <a:srgbClr val="176FBD"/>
                </a:solidFill>
                <a:latin typeface="Helvetica Neue"/>
                <a:ea typeface="Helvetica Neue"/>
                <a:cs typeface="Helvetica Neue"/>
              </a:defRPr>
            </a:defPPr>
            <a:lvl1pPr>
              <a:defRPr sz="2100" b="1">
                <a:solidFill>
                  <a:srgbClr val="176FBD"/>
                </a:solidFill>
                <a:latin typeface="Helvetica Neue"/>
                <a:ea typeface="Helvetica Neue"/>
                <a:cs typeface="Helvetica Neue"/>
              </a:defRPr>
            </a:lvl1pPr>
            <a:lvl2pPr>
              <a:defRPr sz="2100" b="1">
                <a:solidFill>
                  <a:srgbClr val="176FBD"/>
                </a:solidFill>
                <a:latin typeface="Helvetica Neue"/>
                <a:ea typeface="Helvetica Neue"/>
                <a:cs typeface="Helvetica Neue"/>
              </a:defRPr>
            </a:lvl2pPr>
            <a:lvl3pPr>
              <a:defRPr sz="2100" b="1">
                <a:solidFill>
                  <a:srgbClr val="176FBD"/>
                </a:solidFill>
                <a:latin typeface="Helvetica Neue"/>
                <a:ea typeface="Helvetica Neue"/>
                <a:cs typeface="Helvetica Neue"/>
              </a:defRPr>
            </a:lvl3pPr>
            <a:lvl4pPr>
              <a:defRPr sz="2100" b="1">
                <a:solidFill>
                  <a:srgbClr val="176FBD"/>
                </a:solidFill>
                <a:latin typeface="Helvetica Neue"/>
                <a:ea typeface="Helvetica Neue"/>
                <a:cs typeface="Helvetica Neue"/>
              </a:defRPr>
            </a:lvl4pPr>
            <a:lvl5pPr>
              <a:defRPr sz="2100" b="1">
                <a:solidFill>
                  <a:srgbClr val="176FBD"/>
                </a:solidFill>
                <a:latin typeface="Helvetica Neue"/>
                <a:ea typeface="Helvetica Neue"/>
                <a:cs typeface="Helvetica Neue"/>
              </a:defRPr>
            </a:lvl5pPr>
            <a:lvl6pPr>
              <a:defRPr sz="2100" b="1">
                <a:solidFill>
                  <a:srgbClr val="176FBD"/>
                </a:solidFill>
                <a:latin typeface="Helvetica Neue"/>
                <a:ea typeface="Helvetica Neue"/>
                <a:cs typeface="Helvetica Neue"/>
              </a:defRPr>
            </a:lvl6pPr>
            <a:lvl7pPr>
              <a:defRPr sz="2100" b="1">
                <a:solidFill>
                  <a:srgbClr val="176FBD"/>
                </a:solidFill>
                <a:latin typeface="Helvetica Neue"/>
                <a:ea typeface="Helvetica Neue"/>
                <a:cs typeface="Helvetica Neue"/>
              </a:defRPr>
            </a:lvl7pPr>
            <a:lvl8pPr>
              <a:defRPr sz="2100" b="1">
                <a:solidFill>
                  <a:srgbClr val="176FBD"/>
                </a:solidFill>
                <a:latin typeface="Helvetica Neue"/>
                <a:ea typeface="Helvetica Neue"/>
                <a:cs typeface="Helvetica Neue"/>
              </a:defRPr>
            </a:lvl8pPr>
            <a:lvl9pPr>
              <a:defRPr sz="2100" b="1">
                <a:solidFill>
                  <a:srgbClr val="176FBD"/>
                </a:solidFill>
                <a:latin typeface="Helvetica Neue"/>
                <a:ea typeface="Helvetica Neue"/>
                <a:cs typeface="Helvetica Neue"/>
              </a:defRPr>
            </a:lvl9pPr>
          </a:lstStyle>
          <a:p>
            <a:pPr>
              <a:defRPr sz="2100" b="1">
                <a:solidFill>
                  <a:srgbClr val="176FBD"/>
                </a:solidFill>
                <a:latin typeface="Helvetica Neue"/>
                <a:ea typeface="Helvetica Neue"/>
                <a:cs typeface="Helvetica Neue"/>
              </a:defRPr>
            </a:pPr>
            <a:r>
              <a:rPr sz="2100" b="1">
                <a:solidFill>
                  <a:srgbClr val="176FBD"/>
                </a:solidFill>
                <a:latin typeface="Helvetica Neue"/>
                <a:ea typeface="Helvetica Neue"/>
                <a:cs typeface="Helvetica Neue"/>
              </a:rPr>
              <a:t>Existing SAC policy</a:t>
            </a:r>
          </a:p>
        </p:txBody>
      </p:sp>
      <p:sp>
        <p:nvSpPr>
          <p:cNvPr id="6" name="Rectangle 5">
            <a:extLst>
              <a:ext uri="{FF2B5EF4-FFF2-40B4-BE49-F238E27FC236}">
                <a16:creationId xmlns:a16="http://schemas.microsoft.com/office/drawing/2014/main" id="{5AE79406-4206-4BCD-AA93-8E157B5E65AD}"/>
              </a:ext>
            </a:extLst>
          </p:cNvPr>
          <p:cNvSpPr>
            <a:spLocks noGrp="1"/>
          </p:cNvSpPr>
          <p:nvPr/>
        </p:nvSpPr>
        <p:spPr>
          <a:xfrm>
            <a:off x="3295650" y="1495425"/>
            <a:ext cx="8077200" cy="819150"/>
          </a:xfrm>
          <a:prstGeom prst="rect">
            <a:avLst/>
          </a:prstGeom>
          <a:noFill/>
          <a:ln w="0">
            <a:noFill/>
          </a:ln>
        </p:spPr>
        <p:txBody>
          <a:bodyPr lIns="0" tIns="0" rIns="0" bIns="0" anchor="ctr">
            <a:noAutofit/>
          </a:bodyPr>
          <a:lstStyle>
            <a:defPPr>
              <a:defRPr sz="2100" b="0">
                <a:solidFill>
                  <a:srgbClr val="14283F"/>
                </a:solidFill>
                <a:latin typeface="Helvetica Neue"/>
                <a:ea typeface="Helvetica Neue"/>
                <a:cs typeface="Helvetica Neue"/>
              </a:defRPr>
            </a:defPPr>
            <a:lvl1pPr>
              <a:defRPr sz="2100" b="0">
                <a:solidFill>
                  <a:srgbClr val="14283F"/>
                </a:solidFill>
                <a:latin typeface="Helvetica Neue"/>
                <a:ea typeface="Helvetica Neue"/>
                <a:cs typeface="Helvetica Neue"/>
              </a:defRPr>
            </a:lvl1pPr>
            <a:lvl2pPr>
              <a:defRPr sz="2100" b="0">
                <a:solidFill>
                  <a:srgbClr val="14283F"/>
                </a:solidFill>
                <a:latin typeface="Helvetica Neue"/>
                <a:ea typeface="Helvetica Neue"/>
                <a:cs typeface="Helvetica Neue"/>
              </a:defRPr>
            </a:lvl2pPr>
            <a:lvl3pPr>
              <a:defRPr sz="2100" b="0">
                <a:solidFill>
                  <a:srgbClr val="14283F"/>
                </a:solidFill>
                <a:latin typeface="Helvetica Neue"/>
                <a:ea typeface="Helvetica Neue"/>
                <a:cs typeface="Helvetica Neue"/>
              </a:defRPr>
            </a:lvl3pPr>
            <a:lvl4pPr>
              <a:defRPr sz="2100" b="0">
                <a:solidFill>
                  <a:srgbClr val="14283F"/>
                </a:solidFill>
                <a:latin typeface="Helvetica Neue"/>
                <a:ea typeface="Helvetica Neue"/>
                <a:cs typeface="Helvetica Neue"/>
              </a:defRPr>
            </a:lvl4pPr>
            <a:lvl5pPr>
              <a:defRPr sz="2100" b="0">
                <a:solidFill>
                  <a:srgbClr val="14283F"/>
                </a:solidFill>
                <a:latin typeface="Helvetica Neue"/>
                <a:ea typeface="Helvetica Neue"/>
                <a:cs typeface="Helvetica Neue"/>
              </a:defRPr>
            </a:lvl5pPr>
            <a:lvl6pPr>
              <a:defRPr sz="2100" b="0">
                <a:solidFill>
                  <a:srgbClr val="14283F"/>
                </a:solidFill>
                <a:latin typeface="Helvetica Neue"/>
                <a:ea typeface="Helvetica Neue"/>
                <a:cs typeface="Helvetica Neue"/>
              </a:defRPr>
            </a:lvl6pPr>
            <a:lvl7pPr>
              <a:defRPr sz="2100" b="0">
                <a:solidFill>
                  <a:srgbClr val="14283F"/>
                </a:solidFill>
                <a:latin typeface="Helvetica Neue"/>
                <a:ea typeface="Helvetica Neue"/>
                <a:cs typeface="Helvetica Neue"/>
              </a:defRPr>
            </a:lvl7pPr>
            <a:lvl8pPr>
              <a:defRPr sz="2100" b="0">
                <a:solidFill>
                  <a:srgbClr val="14283F"/>
                </a:solidFill>
                <a:latin typeface="Helvetica Neue"/>
                <a:ea typeface="Helvetica Neue"/>
                <a:cs typeface="Helvetica Neue"/>
              </a:defRPr>
            </a:lvl8pPr>
            <a:lvl9pPr>
              <a:defRPr sz="2100" b="0">
                <a:solidFill>
                  <a:srgbClr val="14283F"/>
                </a:solidFill>
                <a:latin typeface="Helvetica Neue"/>
                <a:ea typeface="Helvetica Neue"/>
                <a:cs typeface="Helvetica Neue"/>
              </a:defRPr>
            </a:lvl9pPr>
          </a:lstStyle>
          <a:p>
            <a:pPr>
              <a:defRPr sz="2100" b="0">
                <a:solidFill>
                  <a:srgbClr val="14283F"/>
                </a:solidFill>
                <a:latin typeface="Helvetica Neue"/>
                <a:ea typeface="Helvetica Neue"/>
                <a:cs typeface="Helvetica Neue"/>
              </a:defRPr>
            </a:pPr>
            <a:r>
              <a:rPr sz="2100" b="0">
                <a:solidFill>
                  <a:srgbClr val="14283F"/>
                </a:solidFill>
                <a:latin typeface="Helvetica Neue"/>
                <a:ea typeface="Helvetica Neue"/>
                <a:cs typeface="Helvetica Neue"/>
              </a:rPr>
              <a:t>Continue from the latest 1.2-million-step policy, at a contact state that it reaches naturally.</a:t>
            </a:r>
          </a:p>
        </p:txBody>
      </p:sp>
      <p:sp>
        <p:nvSpPr>
          <p:cNvPr id="7" name="Rectangle 6">
            <a:extLst>
              <a:ext uri="{FF2B5EF4-FFF2-40B4-BE49-F238E27FC236}">
                <a16:creationId xmlns:a16="http://schemas.microsoft.com/office/drawing/2014/main" id="{1448EF65-9955-4AA8-B8C1-05DA6AF60AE8}"/>
              </a:ext>
            </a:extLst>
          </p:cNvPr>
          <p:cNvSpPr>
            <a:spLocks noGrp="1"/>
          </p:cNvSpPr>
          <p:nvPr/>
        </p:nvSpPr>
        <p:spPr>
          <a:xfrm>
            <a:off x="685800" y="2505075"/>
            <a:ext cx="2381250" cy="819150"/>
          </a:xfrm>
          <a:prstGeom prst="rect">
            <a:avLst/>
          </a:prstGeom>
          <a:noFill/>
          <a:ln w="0">
            <a:noFill/>
          </a:ln>
        </p:spPr>
        <p:txBody>
          <a:bodyPr lIns="0" tIns="0" rIns="0" bIns="0" anchor="ctr">
            <a:noAutofit/>
          </a:bodyPr>
          <a:lstStyle>
            <a:defPPr>
              <a:defRPr sz="2100" b="1">
                <a:solidFill>
                  <a:srgbClr val="176FBD"/>
                </a:solidFill>
                <a:latin typeface="Helvetica Neue"/>
                <a:ea typeface="Helvetica Neue"/>
                <a:cs typeface="Helvetica Neue"/>
              </a:defRPr>
            </a:defPPr>
            <a:lvl1pPr>
              <a:defRPr sz="2100" b="1">
                <a:solidFill>
                  <a:srgbClr val="176FBD"/>
                </a:solidFill>
                <a:latin typeface="Helvetica Neue"/>
                <a:ea typeface="Helvetica Neue"/>
                <a:cs typeface="Helvetica Neue"/>
              </a:defRPr>
            </a:lvl1pPr>
            <a:lvl2pPr>
              <a:defRPr sz="2100" b="1">
                <a:solidFill>
                  <a:srgbClr val="176FBD"/>
                </a:solidFill>
                <a:latin typeface="Helvetica Neue"/>
                <a:ea typeface="Helvetica Neue"/>
                <a:cs typeface="Helvetica Neue"/>
              </a:defRPr>
            </a:lvl2pPr>
            <a:lvl3pPr>
              <a:defRPr sz="2100" b="1">
                <a:solidFill>
                  <a:srgbClr val="176FBD"/>
                </a:solidFill>
                <a:latin typeface="Helvetica Neue"/>
                <a:ea typeface="Helvetica Neue"/>
                <a:cs typeface="Helvetica Neue"/>
              </a:defRPr>
            </a:lvl3pPr>
            <a:lvl4pPr>
              <a:defRPr sz="2100" b="1">
                <a:solidFill>
                  <a:srgbClr val="176FBD"/>
                </a:solidFill>
                <a:latin typeface="Helvetica Neue"/>
                <a:ea typeface="Helvetica Neue"/>
                <a:cs typeface="Helvetica Neue"/>
              </a:defRPr>
            </a:lvl4pPr>
            <a:lvl5pPr>
              <a:defRPr sz="2100" b="1">
                <a:solidFill>
                  <a:srgbClr val="176FBD"/>
                </a:solidFill>
                <a:latin typeface="Helvetica Neue"/>
                <a:ea typeface="Helvetica Neue"/>
                <a:cs typeface="Helvetica Neue"/>
              </a:defRPr>
            </a:lvl5pPr>
            <a:lvl6pPr>
              <a:defRPr sz="2100" b="1">
                <a:solidFill>
                  <a:srgbClr val="176FBD"/>
                </a:solidFill>
                <a:latin typeface="Helvetica Neue"/>
                <a:ea typeface="Helvetica Neue"/>
                <a:cs typeface="Helvetica Neue"/>
              </a:defRPr>
            </a:lvl6pPr>
            <a:lvl7pPr>
              <a:defRPr sz="2100" b="1">
                <a:solidFill>
                  <a:srgbClr val="176FBD"/>
                </a:solidFill>
                <a:latin typeface="Helvetica Neue"/>
                <a:ea typeface="Helvetica Neue"/>
                <a:cs typeface="Helvetica Neue"/>
              </a:defRPr>
            </a:lvl7pPr>
            <a:lvl8pPr>
              <a:defRPr sz="2100" b="1">
                <a:solidFill>
                  <a:srgbClr val="176FBD"/>
                </a:solidFill>
                <a:latin typeface="Helvetica Neue"/>
                <a:ea typeface="Helvetica Neue"/>
                <a:cs typeface="Helvetica Neue"/>
              </a:defRPr>
            </a:lvl8pPr>
            <a:lvl9pPr>
              <a:defRPr sz="2100" b="1">
                <a:solidFill>
                  <a:srgbClr val="176FBD"/>
                </a:solidFill>
                <a:latin typeface="Helvetica Neue"/>
                <a:ea typeface="Helvetica Neue"/>
                <a:cs typeface="Helvetica Neue"/>
              </a:defRPr>
            </a:lvl9pPr>
          </a:lstStyle>
          <a:p>
            <a:pPr>
              <a:defRPr sz="2100" b="1">
                <a:solidFill>
                  <a:srgbClr val="176FBD"/>
                </a:solidFill>
                <a:latin typeface="Helvetica Neue"/>
                <a:ea typeface="Helvetica Neue"/>
                <a:cs typeface="Helvetica Neue"/>
              </a:defRPr>
            </a:pPr>
            <a:r>
              <a:rPr sz="2100" b="1">
                <a:solidFill>
                  <a:srgbClr val="176FBD"/>
                </a:solidFill>
                <a:latin typeface="Helvetica Neue"/>
                <a:ea typeface="Helvetica Neue"/>
                <a:cs typeface="Helvetica Neue"/>
              </a:rPr>
              <a:t>Focused policy search</a:t>
            </a:r>
          </a:p>
        </p:txBody>
      </p:sp>
      <p:sp>
        <p:nvSpPr>
          <p:cNvPr id="8" name="Rectangle 7">
            <a:extLst>
              <a:ext uri="{FF2B5EF4-FFF2-40B4-BE49-F238E27FC236}">
                <a16:creationId xmlns:a16="http://schemas.microsoft.com/office/drawing/2014/main" id="{8BDF7BE7-E2C3-4DE6-B078-046AB5C62C3B}"/>
              </a:ext>
            </a:extLst>
          </p:cNvPr>
          <p:cNvSpPr>
            <a:spLocks noGrp="1"/>
          </p:cNvSpPr>
          <p:nvPr/>
        </p:nvSpPr>
        <p:spPr>
          <a:xfrm>
            <a:off x="3295650" y="2505075"/>
            <a:ext cx="8077200" cy="819150"/>
          </a:xfrm>
          <a:prstGeom prst="rect">
            <a:avLst/>
          </a:prstGeom>
          <a:noFill/>
          <a:ln w="0">
            <a:noFill/>
          </a:ln>
        </p:spPr>
        <p:txBody>
          <a:bodyPr lIns="0" tIns="0" rIns="0" bIns="0" anchor="ctr">
            <a:noAutofit/>
          </a:bodyPr>
          <a:lstStyle>
            <a:defPPr>
              <a:defRPr sz="2100" b="0">
                <a:solidFill>
                  <a:srgbClr val="14283F"/>
                </a:solidFill>
                <a:latin typeface="Helvetica Neue"/>
                <a:ea typeface="Helvetica Neue"/>
                <a:cs typeface="Helvetica Neue"/>
              </a:defRPr>
            </a:defPPr>
            <a:lvl1pPr>
              <a:defRPr sz="2100" b="0">
                <a:solidFill>
                  <a:srgbClr val="14283F"/>
                </a:solidFill>
                <a:latin typeface="Helvetica Neue"/>
                <a:ea typeface="Helvetica Neue"/>
                <a:cs typeface="Helvetica Neue"/>
              </a:defRPr>
            </a:lvl1pPr>
            <a:lvl2pPr>
              <a:defRPr sz="2100" b="0">
                <a:solidFill>
                  <a:srgbClr val="14283F"/>
                </a:solidFill>
                <a:latin typeface="Helvetica Neue"/>
                <a:ea typeface="Helvetica Neue"/>
                <a:cs typeface="Helvetica Neue"/>
              </a:defRPr>
            </a:lvl2pPr>
            <a:lvl3pPr>
              <a:defRPr sz="2100" b="0">
                <a:solidFill>
                  <a:srgbClr val="14283F"/>
                </a:solidFill>
                <a:latin typeface="Helvetica Neue"/>
                <a:ea typeface="Helvetica Neue"/>
                <a:cs typeface="Helvetica Neue"/>
              </a:defRPr>
            </a:lvl3pPr>
            <a:lvl4pPr>
              <a:defRPr sz="2100" b="0">
                <a:solidFill>
                  <a:srgbClr val="14283F"/>
                </a:solidFill>
                <a:latin typeface="Helvetica Neue"/>
                <a:ea typeface="Helvetica Neue"/>
                <a:cs typeface="Helvetica Neue"/>
              </a:defRPr>
            </a:lvl4pPr>
            <a:lvl5pPr>
              <a:defRPr sz="2100" b="0">
                <a:solidFill>
                  <a:srgbClr val="14283F"/>
                </a:solidFill>
                <a:latin typeface="Helvetica Neue"/>
                <a:ea typeface="Helvetica Neue"/>
                <a:cs typeface="Helvetica Neue"/>
              </a:defRPr>
            </a:lvl5pPr>
            <a:lvl6pPr>
              <a:defRPr sz="2100" b="0">
                <a:solidFill>
                  <a:srgbClr val="14283F"/>
                </a:solidFill>
                <a:latin typeface="Helvetica Neue"/>
                <a:ea typeface="Helvetica Neue"/>
                <a:cs typeface="Helvetica Neue"/>
              </a:defRPr>
            </a:lvl6pPr>
            <a:lvl7pPr>
              <a:defRPr sz="2100" b="0">
                <a:solidFill>
                  <a:srgbClr val="14283F"/>
                </a:solidFill>
                <a:latin typeface="Helvetica Neue"/>
                <a:ea typeface="Helvetica Neue"/>
                <a:cs typeface="Helvetica Neue"/>
              </a:defRPr>
            </a:lvl7pPr>
            <a:lvl8pPr>
              <a:defRPr sz="2100" b="0">
                <a:solidFill>
                  <a:srgbClr val="14283F"/>
                </a:solidFill>
                <a:latin typeface="Helvetica Neue"/>
                <a:ea typeface="Helvetica Neue"/>
                <a:cs typeface="Helvetica Neue"/>
              </a:defRPr>
            </a:lvl8pPr>
            <a:lvl9pPr>
              <a:defRPr sz="2100" b="0">
                <a:solidFill>
                  <a:srgbClr val="14283F"/>
                </a:solidFill>
                <a:latin typeface="Helvetica Neue"/>
                <a:ea typeface="Helvetica Neue"/>
                <a:cs typeface="Helvetica Neue"/>
              </a:defRPr>
            </a:lvl9pPr>
          </a:lstStyle>
          <a:p>
            <a:pPr>
              <a:defRPr sz="2100" b="0">
                <a:solidFill>
                  <a:srgbClr val="14283F"/>
                </a:solidFill>
                <a:latin typeface="Helvetica Neue"/>
                <a:ea typeface="Helvetica Neue"/>
                <a:cs typeface="Helvetica Neue"/>
              </a:defRPr>
            </a:pPr>
            <a:r>
              <a:rPr sz="2100" b="0">
                <a:solidFill>
                  <a:srgbClr val="14283F"/>
                </a:solidFill>
                <a:latin typeface="Helvetica Neue"/>
                <a:ea typeface="Helvetica Neue"/>
                <a:cs typeface="Helvetica Neue"/>
              </a:rPr>
              <a:t>CEM optimizes 18 coefficients for a smooth arm-and-hand motion, using episode rewards [3].</a:t>
            </a:r>
          </a:p>
        </p:txBody>
      </p:sp>
      <p:sp>
        <p:nvSpPr>
          <p:cNvPr id="9" name="Rectangle 8">
            <a:extLst>
              <a:ext uri="{FF2B5EF4-FFF2-40B4-BE49-F238E27FC236}">
                <a16:creationId xmlns:a16="http://schemas.microsoft.com/office/drawing/2014/main" id="{F6B820A4-626E-42DB-B187-7DD08BE7FD5A}"/>
              </a:ext>
            </a:extLst>
          </p:cNvPr>
          <p:cNvSpPr>
            <a:spLocks noGrp="1"/>
          </p:cNvSpPr>
          <p:nvPr/>
        </p:nvSpPr>
        <p:spPr>
          <a:xfrm>
            <a:off x="685800" y="3514725"/>
            <a:ext cx="2381250" cy="819150"/>
          </a:xfrm>
          <a:prstGeom prst="rect">
            <a:avLst/>
          </a:prstGeom>
          <a:noFill/>
          <a:ln w="0">
            <a:noFill/>
          </a:ln>
        </p:spPr>
        <p:txBody>
          <a:bodyPr lIns="0" tIns="0" rIns="0" bIns="0" anchor="ctr">
            <a:noAutofit/>
          </a:bodyPr>
          <a:lstStyle>
            <a:defPPr>
              <a:defRPr sz="2100" b="1">
                <a:solidFill>
                  <a:srgbClr val="176FBD"/>
                </a:solidFill>
                <a:latin typeface="Helvetica Neue"/>
                <a:ea typeface="Helvetica Neue"/>
                <a:cs typeface="Helvetica Neue"/>
              </a:defRPr>
            </a:defPPr>
            <a:lvl1pPr>
              <a:defRPr sz="2100" b="1">
                <a:solidFill>
                  <a:srgbClr val="176FBD"/>
                </a:solidFill>
                <a:latin typeface="Helvetica Neue"/>
                <a:ea typeface="Helvetica Neue"/>
                <a:cs typeface="Helvetica Neue"/>
              </a:defRPr>
            </a:lvl1pPr>
            <a:lvl2pPr>
              <a:defRPr sz="2100" b="1">
                <a:solidFill>
                  <a:srgbClr val="176FBD"/>
                </a:solidFill>
                <a:latin typeface="Helvetica Neue"/>
                <a:ea typeface="Helvetica Neue"/>
                <a:cs typeface="Helvetica Neue"/>
              </a:defRPr>
            </a:lvl2pPr>
            <a:lvl3pPr>
              <a:defRPr sz="2100" b="1">
                <a:solidFill>
                  <a:srgbClr val="176FBD"/>
                </a:solidFill>
                <a:latin typeface="Helvetica Neue"/>
                <a:ea typeface="Helvetica Neue"/>
                <a:cs typeface="Helvetica Neue"/>
              </a:defRPr>
            </a:lvl3pPr>
            <a:lvl4pPr>
              <a:defRPr sz="2100" b="1">
                <a:solidFill>
                  <a:srgbClr val="176FBD"/>
                </a:solidFill>
                <a:latin typeface="Helvetica Neue"/>
                <a:ea typeface="Helvetica Neue"/>
                <a:cs typeface="Helvetica Neue"/>
              </a:defRPr>
            </a:lvl4pPr>
            <a:lvl5pPr>
              <a:defRPr sz="2100" b="1">
                <a:solidFill>
                  <a:srgbClr val="176FBD"/>
                </a:solidFill>
                <a:latin typeface="Helvetica Neue"/>
                <a:ea typeface="Helvetica Neue"/>
                <a:cs typeface="Helvetica Neue"/>
              </a:defRPr>
            </a:lvl5pPr>
            <a:lvl6pPr>
              <a:defRPr sz="2100" b="1">
                <a:solidFill>
                  <a:srgbClr val="176FBD"/>
                </a:solidFill>
                <a:latin typeface="Helvetica Neue"/>
                <a:ea typeface="Helvetica Neue"/>
                <a:cs typeface="Helvetica Neue"/>
              </a:defRPr>
            </a:lvl6pPr>
            <a:lvl7pPr>
              <a:defRPr sz="2100" b="1">
                <a:solidFill>
                  <a:srgbClr val="176FBD"/>
                </a:solidFill>
                <a:latin typeface="Helvetica Neue"/>
                <a:ea typeface="Helvetica Neue"/>
                <a:cs typeface="Helvetica Neue"/>
              </a:defRPr>
            </a:lvl7pPr>
            <a:lvl8pPr>
              <a:defRPr sz="2100" b="1">
                <a:solidFill>
                  <a:srgbClr val="176FBD"/>
                </a:solidFill>
                <a:latin typeface="Helvetica Neue"/>
                <a:ea typeface="Helvetica Neue"/>
                <a:cs typeface="Helvetica Neue"/>
              </a:defRPr>
            </a:lvl8pPr>
            <a:lvl9pPr>
              <a:defRPr sz="2100" b="1">
                <a:solidFill>
                  <a:srgbClr val="176FBD"/>
                </a:solidFill>
                <a:latin typeface="Helvetica Neue"/>
                <a:ea typeface="Helvetica Neue"/>
                <a:cs typeface="Helvetica Neue"/>
              </a:defRPr>
            </a:lvl9pPr>
          </a:lstStyle>
          <a:p>
            <a:pPr>
              <a:defRPr sz="2100" b="1">
                <a:solidFill>
                  <a:srgbClr val="176FBD"/>
                </a:solidFill>
                <a:latin typeface="Helvetica Neue"/>
                <a:ea typeface="Helvetica Neue"/>
                <a:cs typeface="Helvetica Neue"/>
              </a:defRPr>
            </a:pPr>
            <a:r>
              <a:rPr sz="2100" b="1">
                <a:solidFill>
                  <a:srgbClr val="176FBD"/>
                </a:solidFill>
                <a:latin typeface="Helvetica Neue"/>
                <a:ea typeface="Helvetica Neue"/>
                <a:cs typeface="Helvetica Neue"/>
              </a:rPr>
              <a:t>Physical reward</a:t>
            </a:r>
          </a:p>
        </p:txBody>
      </p:sp>
      <p:sp>
        <p:nvSpPr>
          <p:cNvPr id="10" name="Rectangle 9">
            <a:extLst>
              <a:ext uri="{FF2B5EF4-FFF2-40B4-BE49-F238E27FC236}">
                <a16:creationId xmlns:a16="http://schemas.microsoft.com/office/drawing/2014/main" id="{16AFC932-7D16-4E1C-A7AE-106389550C80}"/>
              </a:ext>
            </a:extLst>
          </p:cNvPr>
          <p:cNvSpPr>
            <a:spLocks noGrp="1"/>
          </p:cNvSpPr>
          <p:nvPr/>
        </p:nvSpPr>
        <p:spPr>
          <a:xfrm>
            <a:off x="3295650" y="3514725"/>
            <a:ext cx="8077200" cy="819150"/>
          </a:xfrm>
          <a:prstGeom prst="rect">
            <a:avLst/>
          </a:prstGeom>
          <a:noFill/>
          <a:ln w="0">
            <a:noFill/>
          </a:ln>
        </p:spPr>
        <p:txBody>
          <a:bodyPr lIns="0" tIns="0" rIns="0" bIns="0" anchor="ctr">
            <a:noAutofit/>
          </a:bodyPr>
          <a:lstStyle>
            <a:defPPr>
              <a:defRPr sz="2100" b="0">
                <a:solidFill>
                  <a:srgbClr val="14283F"/>
                </a:solidFill>
                <a:latin typeface="Helvetica Neue"/>
                <a:ea typeface="Helvetica Neue"/>
                <a:cs typeface="Helvetica Neue"/>
              </a:defRPr>
            </a:defPPr>
            <a:lvl1pPr>
              <a:defRPr sz="2100" b="0">
                <a:solidFill>
                  <a:srgbClr val="14283F"/>
                </a:solidFill>
                <a:latin typeface="Helvetica Neue"/>
                <a:ea typeface="Helvetica Neue"/>
                <a:cs typeface="Helvetica Neue"/>
              </a:defRPr>
            </a:lvl1pPr>
            <a:lvl2pPr>
              <a:defRPr sz="2100" b="0">
                <a:solidFill>
                  <a:srgbClr val="14283F"/>
                </a:solidFill>
                <a:latin typeface="Helvetica Neue"/>
                <a:ea typeface="Helvetica Neue"/>
                <a:cs typeface="Helvetica Neue"/>
              </a:defRPr>
            </a:lvl2pPr>
            <a:lvl3pPr>
              <a:defRPr sz="2100" b="0">
                <a:solidFill>
                  <a:srgbClr val="14283F"/>
                </a:solidFill>
                <a:latin typeface="Helvetica Neue"/>
                <a:ea typeface="Helvetica Neue"/>
                <a:cs typeface="Helvetica Neue"/>
              </a:defRPr>
            </a:lvl3pPr>
            <a:lvl4pPr>
              <a:defRPr sz="2100" b="0">
                <a:solidFill>
                  <a:srgbClr val="14283F"/>
                </a:solidFill>
                <a:latin typeface="Helvetica Neue"/>
                <a:ea typeface="Helvetica Neue"/>
                <a:cs typeface="Helvetica Neue"/>
              </a:defRPr>
            </a:lvl4pPr>
            <a:lvl5pPr>
              <a:defRPr sz="2100" b="0">
                <a:solidFill>
                  <a:srgbClr val="14283F"/>
                </a:solidFill>
                <a:latin typeface="Helvetica Neue"/>
                <a:ea typeface="Helvetica Neue"/>
                <a:cs typeface="Helvetica Neue"/>
              </a:defRPr>
            </a:lvl5pPr>
            <a:lvl6pPr>
              <a:defRPr sz="2100" b="0">
                <a:solidFill>
                  <a:srgbClr val="14283F"/>
                </a:solidFill>
                <a:latin typeface="Helvetica Neue"/>
                <a:ea typeface="Helvetica Neue"/>
                <a:cs typeface="Helvetica Neue"/>
              </a:defRPr>
            </a:lvl6pPr>
            <a:lvl7pPr>
              <a:defRPr sz="2100" b="0">
                <a:solidFill>
                  <a:srgbClr val="14283F"/>
                </a:solidFill>
                <a:latin typeface="Helvetica Neue"/>
                <a:ea typeface="Helvetica Neue"/>
                <a:cs typeface="Helvetica Neue"/>
              </a:defRPr>
            </a:lvl7pPr>
            <a:lvl8pPr>
              <a:defRPr sz="2100" b="0">
                <a:solidFill>
                  <a:srgbClr val="14283F"/>
                </a:solidFill>
                <a:latin typeface="Helvetica Neue"/>
                <a:ea typeface="Helvetica Neue"/>
                <a:cs typeface="Helvetica Neue"/>
              </a:defRPr>
            </a:lvl8pPr>
            <a:lvl9pPr>
              <a:defRPr sz="2100" b="0">
                <a:solidFill>
                  <a:srgbClr val="14283F"/>
                </a:solidFill>
                <a:latin typeface="Helvetica Neue"/>
                <a:ea typeface="Helvetica Neue"/>
                <a:cs typeface="Helvetica Neue"/>
              </a:defRPr>
            </a:lvl9pPr>
          </a:lstStyle>
          <a:p>
            <a:pPr>
              <a:defRPr sz="2100" b="0">
                <a:solidFill>
                  <a:srgbClr val="14283F"/>
                </a:solidFill>
                <a:latin typeface="Helvetica Neue"/>
                <a:ea typeface="Helvetica Neue"/>
                <a:cs typeface="Helvetica Neue"/>
              </a:defRPr>
            </a:pPr>
            <a:r>
              <a:rPr sz="2100" b="0">
                <a:solidFill>
                  <a:srgbClr val="14283F"/>
                </a:solidFill>
                <a:latin typeface="Helvetica Neue"/>
                <a:ea typeface="Helvetica Neue"/>
                <a:cs typeface="Helvetica Neue"/>
              </a:rPr>
              <a:t>Reward unsupported lift and stable grip. Penalize drops and torso contact. Table pressing earns no lift reward.</a:t>
            </a:r>
          </a:p>
        </p:txBody>
      </p:sp>
      <p:sp>
        <p:nvSpPr>
          <p:cNvPr id="11" name="Rectangle 10">
            <a:extLst>
              <a:ext uri="{FF2B5EF4-FFF2-40B4-BE49-F238E27FC236}">
                <a16:creationId xmlns:a16="http://schemas.microsoft.com/office/drawing/2014/main" id="{9D71AD8B-EB15-4831-B4FC-DC910D683419}"/>
              </a:ext>
            </a:extLst>
          </p:cNvPr>
          <p:cNvSpPr>
            <a:spLocks noGrp="1"/>
          </p:cNvSpPr>
          <p:nvPr/>
        </p:nvSpPr>
        <p:spPr>
          <a:xfrm>
            <a:off x="685800" y="4524375"/>
            <a:ext cx="2381250" cy="819150"/>
          </a:xfrm>
          <a:prstGeom prst="rect">
            <a:avLst/>
          </a:prstGeom>
          <a:noFill/>
          <a:ln w="0">
            <a:noFill/>
          </a:ln>
        </p:spPr>
        <p:txBody>
          <a:bodyPr lIns="0" tIns="0" rIns="0" bIns="0" anchor="ctr">
            <a:noAutofit/>
          </a:bodyPr>
          <a:lstStyle>
            <a:defPPr>
              <a:defRPr sz="2100" b="1">
                <a:solidFill>
                  <a:srgbClr val="176FBD"/>
                </a:solidFill>
                <a:latin typeface="Helvetica Neue"/>
                <a:ea typeface="Helvetica Neue"/>
                <a:cs typeface="Helvetica Neue"/>
              </a:defRPr>
            </a:defPPr>
            <a:lvl1pPr>
              <a:defRPr sz="2100" b="1">
                <a:solidFill>
                  <a:srgbClr val="176FBD"/>
                </a:solidFill>
                <a:latin typeface="Helvetica Neue"/>
                <a:ea typeface="Helvetica Neue"/>
                <a:cs typeface="Helvetica Neue"/>
              </a:defRPr>
            </a:lvl1pPr>
            <a:lvl2pPr>
              <a:defRPr sz="2100" b="1">
                <a:solidFill>
                  <a:srgbClr val="176FBD"/>
                </a:solidFill>
                <a:latin typeface="Helvetica Neue"/>
                <a:ea typeface="Helvetica Neue"/>
                <a:cs typeface="Helvetica Neue"/>
              </a:defRPr>
            </a:lvl2pPr>
            <a:lvl3pPr>
              <a:defRPr sz="2100" b="1">
                <a:solidFill>
                  <a:srgbClr val="176FBD"/>
                </a:solidFill>
                <a:latin typeface="Helvetica Neue"/>
                <a:ea typeface="Helvetica Neue"/>
                <a:cs typeface="Helvetica Neue"/>
              </a:defRPr>
            </a:lvl3pPr>
            <a:lvl4pPr>
              <a:defRPr sz="2100" b="1">
                <a:solidFill>
                  <a:srgbClr val="176FBD"/>
                </a:solidFill>
                <a:latin typeface="Helvetica Neue"/>
                <a:ea typeface="Helvetica Neue"/>
                <a:cs typeface="Helvetica Neue"/>
              </a:defRPr>
            </a:lvl4pPr>
            <a:lvl5pPr>
              <a:defRPr sz="2100" b="1">
                <a:solidFill>
                  <a:srgbClr val="176FBD"/>
                </a:solidFill>
                <a:latin typeface="Helvetica Neue"/>
                <a:ea typeface="Helvetica Neue"/>
                <a:cs typeface="Helvetica Neue"/>
              </a:defRPr>
            </a:lvl5pPr>
            <a:lvl6pPr>
              <a:defRPr sz="2100" b="1">
                <a:solidFill>
                  <a:srgbClr val="176FBD"/>
                </a:solidFill>
                <a:latin typeface="Helvetica Neue"/>
                <a:ea typeface="Helvetica Neue"/>
                <a:cs typeface="Helvetica Neue"/>
              </a:defRPr>
            </a:lvl6pPr>
            <a:lvl7pPr>
              <a:defRPr sz="2100" b="1">
                <a:solidFill>
                  <a:srgbClr val="176FBD"/>
                </a:solidFill>
                <a:latin typeface="Helvetica Neue"/>
                <a:ea typeface="Helvetica Neue"/>
                <a:cs typeface="Helvetica Neue"/>
              </a:defRPr>
            </a:lvl7pPr>
            <a:lvl8pPr>
              <a:defRPr sz="2100" b="1">
                <a:solidFill>
                  <a:srgbClr val="176FBD"/>
                </a:solidFill>
                <a:latin typeface="Helvetica Neue"/>
                <a:ea typeface="Helvetica Neue"/>
                <a:cs typeface="Helvetica Neue"/>
              </a:defRPr>
            </a:lvl8pPr>
            <a:lvl9pPr>
              <a:defRPr sz="2100" b="1">
                <a:solidFill>
                  <a:srgbClr val="176FBD"/>
                </a:solidFill>
                <a:latin typeface="Helvetica Neue"/>
                <a:ea typeface="Helvetica Neue"/>
                <a:cs typeface="Helvetica Neue"/>
              </a:defRPr>
            </a:lvl9pPr>
          </a:lstStyle>
          <a:p>
            <a:pPr>
              <a:defRPr sz="2100" b="1">
                <a:solidFill>
                  <a:srgbClr val="176FBD"/>
                </a:solidFill>
                <a:latin typeface="Helvetica Neue"/>
                <a:ea typeface="Helvetica Neue"/>
                <a:cs typeface="Helvetica Neue"/>
              </a:defRPr>
            </a:pPr>
            <a:r>
              <a:rPr sz="2100" b="1">
                <a:solidFill>
                  <a:srgbClr val="176FBD"/>
                </a:solidFill>
                <a:latin typeface="Helvetica Neue"/>
                <a:ea typeface="Helvetica Neue"/>
                <a:cs typeface="Helvetica Neue"/>
              </a:rPr>
              <a:t>Short training budget</a:t>
            </a:r>
          </a:p>
        </p:txBody>
      </p:sp>
      <p:sp>
        <p:nvSpPr>
          <p:cNvPr id="12" name="Rectangle 11">
            <a:extLst>
              <a:ext uri="{FF2B5EF4-FFF2-40B4-BE49-F238E27FC236}">
                <a16:creationId xmlns:a16="http://schemas.microsoft.com/office/drawing/2014/main" id="{6F7A28B1-20EC-41CB-938C-9410581B8E35}"/>
              </a:ext>
            </a:extLst>
          </p:cNvPr>
          <p:cNvSpPr>
            <a:spLocks noGrp="1"/>
          </p:cNvSpPr>
          <p:nvPr/>
        </p:nvSpPr>
        <p:spPr>
          <a:xfrm>
            <a:off x="3295650" y="4524375"/>
            <a:ext cx="8077200" cy="819150"/>
          </a:xfrm>
          <a:prstGeom prst="rect">
            <a:avLst/>
          </a:prstGeom>
          <a:noFill/>
          <a:ln w="0">
            <a:noFill/>
          </a:ln>
        </p:spPr>
        <p:txBody>
          <a:bodyPr lIns="0" tIns="0" rIns="0" bIns="0" anchor="ctr">
            <a:noAutofit/>
          </a:bodyPr>
          <a:lstStyle>
            <a:defPPr>
              <a:defRPr sz="2100" b="0">
                <a:solidFill>
                  <a:srgbClr val="14283F"/>
                </a:solidFill>
                <a:latin typeface="Helvetica Neue"/>
                <a:ea typeface="Helvetica Neue"/>
                <a:cs typeface="Helvetica Neue"/>
              </a:defRPr>
            </a:defPPr>
            <a:lvl1pPr>
              <a:defRPr sz="2100" b="0">
                <a:solidFill>
                  <a:srgbClr val="14283F"/>
                </a:solidFill>
                <a:latin typeface="Helvetica Neue"/>
                <a:ea typeface="Helvetica Neue"/>
                <a:cs typeface="Helvetica Neue"/>
              </a:defRPr>
            </a:lvl1pPr>
            <a:lvl2pPr>
              <a:defRPr sz="2100" b="0">
                <a:solidFill>
                  <a:srgbClr val="14283F"/>
                </a:solidFill>
                <a:latin typeface="Helvetica Neue"/>
                <a:ea typeface="Helvetica Neue"/>
                <a:cs typeface="Helvetica Neue"/>
              </a:defRPr>
            </a:lvl2pPr>
            <a:lvl3pPr>
              <a:defRPr sz="2100" b="0">
                <a:solidFill>
                  <a:srgbClr val="14283F"/>
                </a:solidFill>
                <a:latin typeface="Helvetica Neue"/>
                <a:ea typeface="Helvetica Neue"/>
                <a:cs typeface="Helvetica Neue"/>
              </a:defRPr>
            </a:lvl3pPr>
            <a:lvl4pPr>
              <a:defRPr sz="2100" b="0">
                <a:solidFill>
                  <a:srgbClr val="14283F"/>
                </a:solidFill>
                <a:latin typeface="Helvetica Neue"/>
                <a:ea typeface="Helvetica Neue"/>
                <a:cs typeface="Helvetica Neue"/>
              </a:defRPr>
            </a:lvl4pPr>
            <a:lvl5pPr>
              <a:defRPr sz="2100" b="0">
                <a:solidFill>
                  <a:srgbClr val="14283F"/>
                </a:solidFill>
                <a:latin typeface="Helvetica Neue"/>
                <a:ea typeface="Helvetica Neue"/>
                <a:cs typeface="Helvetica Neue"/>
              </a:defRPr>
            </a:lvl5pPr>
            <a:lvl6pPr>
              <a:defRPr sz="2100" b="0">
                <a:solidFill>
                  <a:srgbClr val="14283F"/>
                </a:solidFill>
                <a:latin typeface="Helvetica Neue"/>
                <a:ea typeface="Helvetica Neue"/>
                <a:cs typeface="Helvetica Neue"/>
              </a:defRPr>
            </a:lvl6pPr>
            <a:lvl7pPr>
              <a:defRPr sz="2100" b="0">
                <a:solidFill>
                  <a:srgbClr val="14283F"/>
                </a:solidFill>
                <a:latin typeface="Helvetica Neue"/>
                <a:ea typeface="Helvetica Neue"/>
                <a:cs typeface="Helvetica Neue"/>
              </a:defRPr>
            </a:lvl7pPr>
            <a:lvl8pPr>
              <a:defRPr sz="2100" b="0">
                <a:solidFill>
                  <a:srgbClr val="14283F"/>
                </a:solidFill>
                <a:latin typeface="Helvetica Neue"/>
                <a:ea typeface="Helvetica Neue"/>
                <a:cs typeface="Helvetica Neue"/>
              </a:defRPr>
            </a:lvl8pPr>
            <a:lvl9pPr>
              <a:defRPr sz="2100" b="0">
                <a:solidFill>
                  <a:srgbClr val="14283F"/>
                </a:solidFill>
                <a:latin typeface="Helvetica Neue"/>
                <a:ea typeface="Helvetica Neue"/>
                <a:cs typeface="Helvetica Neue"/>
              </a:defRPr>
            </a:lvl9pPr>
          </a:lstStyle>
          <a:p>
            <a:pPr>
              <a:defRPr sz="2100" b="0">
                <a:solidFill>
                  <a:srgbClr val="14283F"/>
                </a:solidFill>
                <a:latin typeface="Helvetica Neue"/>
                <a:ea typeface="Helvetica Neue"/>
                <a:cs typeface="Helvetica Neue"/>
              </a:defRPr>
            </a:pPr>
            <a:r>
              <a:rPr sz="2100" b="0">
                <a:solidFill>
                  <a:srgbClr val="14283F"/>
                </a:solidFill>
                <a:latin typeface="Helvetica Neue"/>
                <a:ea typeface="Helvetica Neue"/>
                <a:cs typeface="Helvetica Neue"/>
              </a:rPr>
              <a:t>120 search episodes of 8-second motion. Verify the result with a separate 5-second stationary hold.</a:t>
            </a:r>
          </a:p>
        </p:txBody>
      </p:sp>
    </p:spTree>
    <p:extLst>
      <p:ext uri="{BB962C8B-B14F-4D97-AF65-F5344CB8AC3E}">
        <p14:creationId xmlns:p14="http://schemas.microsoft.com/office/powerpoint/2010/main" val="46169492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609B0301-78E5-4D4F-8338-2194632D8D60}"/>
              </a:ext>
            </a:extLst>
          </p:cNvPr>
          <p:cNvSpPr>
            <a:spLocks noGrp="1"/>
          </p:cNvSpPr>
          <p:nvPr/>
        </p:nvSpPr>
        <p:spPr>
          <a:xfrm>
            <a:off x="609600" y="400050"/>
            <a:ext cx="10972800" cy="800100"/>
          </a:xfrm>
          <a:prstGeom prst="rect">
            <a:avLst/>
          </a:prstGeom>
          <a:noFill/>
          <a:ln w="0">
            <a:noFill/>
          </a:ln>
        </p:spPr>
        <p:txBody>
          <a:bodyPr lIns="0" tIns="0" rIns="0" bIns="0" anchor="ctr">
            <a:noAutofit/>
          </a:bodyPr>
          <a:lstStyle>
            <a:defPPr>
              <a:defRPr sz="3600" b="1">
                <a:solidFill>
                  <a:srgbClr val="14283F"/>
                </a:solidFill>
                <a:latin typeface="Helvetica Neue"/>
                <a:ea typeface="Helvetica Neue"/>
                <a:cs typeface="Helvetica Neue"/>
              </a:defRPr>
            </a:defPPr>
            <a:lvl1pPr>
              <a:defRPr sz="3600" b="1">
                <a:solidFill>
                  <a:srgbClr val="14283F"/>
                </a:solidFill>
                <a:latin typeface="Helvetica Neue"/>
                <a:ea typeface="Helvetica Neue"/>
                <a:cs typeface="Helvetica Neue"/>
              </a:defRPr>
            </a:lvl1pPr>
            <a:lvl2pPr>
              <a:defRPr sz="3600" b="1">
                <a:solidFill>
                  <a:srgbClr val="14283F"/>
                </a:solidFill>
                <a:latin typeface="Helvetica Neue"/>
                <a:ea typeface="Helvetica Neue"/>
                <a:cs typeface="Helvetica Neue"/>
              </a:defRPr>
            </a:lvl2pPr>
            <a:lvl3pPr>
              <a:defRPr sz="3600" b="1">
                <a:solidFill>
                  <a:srgbClr val="14283F"/>
                </a:solidFill>
                <a:latin typeface="Helvetica Neue"/>
                <a:ea typeface="Helvetica Neue"/>
                <a:cs typeface="Helvetica Neue"/>
              </a:defRPr>
            </a:lvl3pPr>
            <a:lvl4pPr>
              <a:defRPr sz="3600" b="1">
                <a:solidFill>
                  <a:srgbClr val="14283F"/>
                </a:solidFill>
                <a:latin typeface="Helvetica Neue"/>
                <a:ea typeface="Helvetica Neue"/>
                <a:cs typeface="Helvetica Neue"/>
              </a:defRPr>
            </a:lvl4pPr>
            <a:lvl5pPr>
              <a:defRPr sz="3600" b="1">
                <a:solidFill>
                  <a:srgbClr val="14283F"/>
                </a:solidFill>
                <a:latin typeface="Helvetica Neue"/>
                <a:ea typeface="Helvetica Neue"/>
                <a:cs typeface="Helvetica Neue"/>
              </a:defRPr>
            </a:lvl5pPr>
            <a:lvl6pPr>
              <a:defRPr sz="3600" b="1">
                <a:solidFill>
                  <a:srgbClr val="14283F"/>
                </a:solidFill>
                <a:latin typeface="Helvetica Neue"/>
                <a:ea typeface="Helvetica Neue"/>
                <a:cs typeface="Helvetica Neue"/>
              </a:defRPr>
            </a:lvl6pPr>
            <a:lvl7pPr>
              <a:defRPr sz="3600" b="1">
                <a:solidFill>
                  <a:srgbClr val="14283F"/>
                </a:solidFill>
                <a:latin typeface="Helvetica Neue"/>
                <a:ea typeface="Helvetica Neue"/>
                <a:cs typeface="Helvetica Neue"/>
              </a:defRPr>
            </a:lvl7pPr>
            <a:lvl8pPr>
              <a:defRPr sz="3600" b="1">
                <a:solidFill>
                  <a:srgbClr val="14283F"/>
                </a:solidFill>
                <a:latin typeface="Helvetica Neue"/>
                <a:ea typeface="Helvetica Neue"/>
                <a:cs typeface="Helvetica Neue"/>
              </a:defRPr>
            </a:lvl8pPr>
            <a:lvl9pPr>
              <a:defRPr sz="3600" b="1">
                <a:solidFill>
                  <a:srgbClr val="14283F"/>
                </a:solidFill>
                <a:latin typeface="Helvetica Neue"/>
                <a:ea typeface="Helvetica Neue"/>
                <a:cs typeface="Helvetica Neue"/>
              </a:defRPr>
            </a:lvl9pPr>
          </a:lstStyle>
          <a:p>
            <a:pPr>
              <a:defRPr sz="3600" b="1">
                <a:solidFill>
                  <a:srgbClr val="14283F"/>
                </a:solidFill>
                <a:latin typeface="Helvetica Neue"/>
                <a:ea typeface="Helvetica Neue"/>
                <a:cs typeface="Helvetica Neue"/>
              </a:defRPr>
            </a:pPr>
            <a:r>
              <a:rPr sz="3600" b="1">
                <a:solidFill>
                  <a:srgbClr val="14283F"/>
                </a:solidFill>
                <a:latin typeface="Helvetica Neue"/>
                <a:ea typeface="Helvetica Neue"/>
                <a:cs typeface="Helvetica Neue"/>
              </a:rPr>
              <a:t>Physical grasp mechanics</a:t>
            </a:r>
          </a:p>
        </p:txBody>
      </p:sp>
      <p:sp>
        <p:nvSpPr>
          <p:cNvPr id="4" name="Rectangle 3">
            <a:extLst>
              <a:ext uri="{FF2B5EF4-FFF2-40B4-BE49-F238E27FC236}">
                <a16:creationId xmlns:a16="http://schemas.microsoft.com/office/drawing/2014/main" id="{24C43AFC-F112-4374-834D-883B32F3E8F7}"/>
              </a:ext>
            </a:extLst>
          </p:cNvPr>
          <p:cNvSpPr>
            <a:spLocks noGrp="1"/>
          </p:cNvSpPr>
          <p:nvPr/>
        </p:nvSpPr>
        <p:spPr>
          <a:xfrm>
            <a:off x="685800" y="1495425"/>
            <a:ext cx="2381250" cy="819150"/>
          </a:xfrm>
          <a:prstGeom prst="rect">
            <a:avLst/>
          </a:prstGeom>
          <a:noFill/>
          <a:ln w="0">
            <a:noFill/>
          </a:ln>
        </p:spPr>
        <p:txBody>
          <a:bodyPr lIns="0" tIns="0" rIns="0" bIns="0" anchor="ctr">
            <a:noAutofit/>
          </a:bodyPr>
          <a:lstStyle>
            <a:defPPr>
              <a:defRPr sz="2100" b="1">
                <a:solidFill>
                  <a:srgbClr val="176FBD"/>
                </a:solidFill>
                <a:latin typeface="Helvetica Neue"/>
                <a:ea typeface="Helvetica Neue"/>
                <a:cs typeface="Helvetica Neue"/>
              </a:defRPr>
            </a:defPPr>
            <a:lvl1pPr>
              <a:defRPr sz="2100" b="1">
                <a:solidFill>
                  <a:srgbClr val="176FBD"/>
                </a:solidFill>
                <a:latin typeface="Helvetica Neue"/>
                <a:ea typeface="Helvetica Neue"/>
                <a:cs typeface="Helvetica Neue"/>
              </a:defRPr>
            </a:lvl1pPr>
            <a:lvl2pPr>
              <a:defRPr sz="2100" b="1">
                <a:solidFill>
                  <a:srgbClr val="176FBD"/>
                </a:solidFill>
                <a:latin typeface="Helvetica Neue"/>
                <a:ea typeface="Helvetica Neue"/>
                <a:cs typeface="Helvetica Neue"/>
              </a:defRPr>
            </a:lvl2pPr>
            <a:lvl3pPr>
              <a:defRPr sz="2100" b="1">
                <a:solidFill>
                  <a:srgbClr val="176FBD"/>
                </a:solidFill>
                <a:latin typeface="Helvetica Neue"/>
                <a:ea typeface="Helvetica Neue"/>
                <a:cs typeface="Helvetica Neue"/>
              </a:defRPr>
            </a:lvl3pPr>
            <a:lvl4pPr>
              <a:defRPr sz="2100" b="1">
                <a:solidFill>
                  <a:srgbClr val="176FBD"/>
                </a:solidFill>
                <a:latin typeface="Helvetica Neue"/>
                <a:ea typeface="Helvetica Neue"/>
                <a:cs typeface="Helvetica Neue"/>
              </a:defRPr>
            </a:lvl4pPr>
            <a:lvl5pPr>
              <a:defRPr sz="2100" b="1">
                <a:solidFill>
                  <a:srgbClr val="176FBD"/>
                </a:solidFill>
                <a:latin typeface="Helvetica Neue"/>
                <a:ea typeface="Helvetica Neue"/>
                <a:cs typeface="Helvetica Neue"/>
              </a:defRPr>
            </a:lvl5pPr>
            <a:lvl6pPr>
              <a:defRPr sz="2100" b="1">
                <a:solidFill>
                  <a:srgbClr val="176FBD"/>
                </a:solidFill>
                <a:latin typeface="Helvetica Neue"/>
                <a:ea typeface="Helvetica Neue"/>
                <a:cs typeface="Helvetica Neue"/>
              </a:defRPr>
            </a:lvl6pPr>
            <a:lvl7pPr>
              <a:defRPr sz="2100" b="1">
                <a:solidFill>
                  <a:srgbClr val="176FBD"/>
                </a:solidFill>
                <a:latin typeface="Helvetica Neue"/>
                <a:ea typeface="Helvetica Neue"/>
                <a:cs typeface="Helvetica Neue"/>
              </a:defRPr>
            </a:lvl7pPr>
            <a:lvl8pPr>
              <a:defRPr sz="2100" b="1">
                <a:solidFill>
                  <a:srgbClr val="176FBD"/>
                </a:solidFill>
                <a:latin typeface="Helvetica Neue"/>
                <a:ea typeface="Helvetica Neue"/>
                <a:cs typeface="Helvetica Neue"/>
              </a:defRPr>
            </a:lvl8pPr>
            <a:lvl9pPr>
              <a:defRPr sz="2100" b="1">
                <a:solidFill>
                  <a:srgbClr val="176FBD"/>
                </a:solidFill>
                <a:latin typeface="Helvetica Neue"/>
                <a:ea typeface="Helvetica Neue"/>
                <a:cs typeface="Helvetica Neue"/>
              </a:defRPr>
            </a:lvl9pPr>
          </a:lstStyle>
          <a:p>
            <a:pPr>
              <a:defRPr sz="2100" b="1">
                <a:solidFill>
                  <a:srgbClr val="176FBD"/>
                </a:solidFill>
                <a:latin typeface="Helvetica Neue"/>
                <a:ea typeface="Helvetica Neue"/>
                <a:cs typeface="Helvetica Neue"/>
              </a:defRPr>
            </a:pPr>
            <a:r>
              <a:rPr sz="2100" b="1">
                <a:solidFill>
                  <a:srgbClr val="176FBD"/>
                </a:solidFill>
                <a:latin typeface="Helvetica Neue"/>
                <a:ea typeface="Helvetica Neue"/>
                <a:cs typeface="Helvetica Neue"/>
              </a:rPr>
              <a:t>Arm and hand</a:t>
            </a:r>
          </a:p>
        </p:txBody>
      </p:sp>
      <p:sp>
        <p:nvSpPr>
          <p:cNvPr id="5" name="Rectangle 4">
            <a:extLst>
              <a:ext uri="{FF2B5EF4-FFF2-40B4-BE49-F238E27FC236}">
                <a16:creationId xmlns:a16="http://schemas.microsoft.com/office/drawing/2014/main" id="{2D368CD7-F037-4312-94E4-7DF3061ADECA}"/>
              </a:ext>
            </a:extLst>
          </p:cNvPr>
          <p:cNvSpPr>
            <a:spLocks noGrp="1"/>
          </p:cNvSpPr>
          <p:nvPr/>
        </p:nvSpPr>
        <p:spPr>
          <a:xfrm>
            <a:off x="3295650" y="1495425"/>
            <a:ext cx="8077200" cy="819150"/>
          </a:xfrm>
          <a:prstGeom prst="rect">
            <a:avLst/>
          </a:prstGeom>
          <a:noFill/>
          <a:ln w="0">
            <a:noFill/>
          </a:ln>
        </p:spPr>
        <p:txBody>
          <a:bodyPr lIns="0" tIns="0" rIns="0" bIns="0" anchor="ctr">
            <a:noAutofit/>
          </a:bodyPr>
          <a:lstStyle>
            <a:defPPr>
              <a:defRPr sz="2100" b="0">
                <a:solidFill>
                  <a:srgbClr val="14283F"/>
                </a:solidFill>
                <a:latin typeface="Helvetica Neue"/>
                <a:ea typeface="Helvetica Neue"/>
                <a:cs typeface="Helvetica Neue"/>
              </a:defRPr>
            </a:defPPr>
            <a:lvl1pPr>
              <a:defRPr sz="2100" b="0">
                <a:solidFill>
                  <a:srgbClr val="14283F"/>
                </a:solidFill>
                <a:latin typeface="Helvetica Neue"/>
                <a:ea typeface="Helvetica Neue"/>
                <a:cs typeface="Helvetica Neue"/>
              </a:defRPr>
            </a:lvl1pPr>
            <a:lvl2pPr>
              <a:defRPr sz="2100" b="0">
                <a:solidFill>
                  <a:srgbClr val="14283F"/>
                </a:solidFill>
                <a:latin typeface="Helvetica Neue"/>
                <a:ea typeface="Helvetica Neue"/>
                <a:cs typeface="Helvetica Neue"/>
              </a:defRPr>
            </a:lvl2pPr>
            <a:lvl3pPr>
              <a:defRPr sz="2100" b="0">
                <a:solidFill>
                  <a:srgbClr val="14283F"/>
                </a:solidFill>
                <a:latin typeface="Helvetica Neue"/>
                <a:ea typeface="Helvetica Neue"/>
                <a:cs typeface="Helvetica Neue"/>
              </a:defRPr>
            </a:lvl3pPr>
            <a:lvl4pPr>
              <a:defRPr sz="2100" b="0">
                <a:solidFill>
                  <a:srgbClr val="14283F"/>
                </a:solidFill>
                <a:latin typeface="Helvetica Neue"/>
                <a:ea typeface="Helvetica Neue"/>
                <a:cs typeface="Helvetica Neue"/>
              </a:defRPr>
            </a:lvl4pPr>
            <a:lvl5pPr>
              <a:defRPr sz="2100" b="0">
                <a:solidFill>
                  <a:srgbClr val="14283F"/>
                </a:solidFill>
                <a:latin typeface="Helvetica Neue"/>
                <a:ea typeface="Helvetica Neue"/>
                <a:cs typeface="Helvetica Neue"/>
              </a:defRPr>
            </a:lvl5pPr>
            <a:lvl6pPr>
              <a:defRPr sz="2100" b="0">
                <a:solidFill>
                  <a:srgbClr val="14283F"/>
                </a:solidFill>
                <a:latin typeface="Helvetica Neue"/>
                <a:ea typeface="Helvetica Neue"/>
                <a:cs typeface="Helvetica Neue"/>
              </a:defRPr>
            </a:lvl6pPr>
            <a:lvl7pPr>
              <a:defRPr sz="2100" b="0">
                <a:solidFill>
                  <a:srgbClr val="14283F"/>
                </a:solidFill>
                <a:latin typeface="Helvetica Neue"/>
                <a:ea typeface="Helvetica Neue"/>
                <a:cs typeface="Helvetica Neue"/>
              </a:defRPr>
            </a:lvl7pPr>
            <a:lvl8pPr>
              <a:defRPr sz="2100" b="0">
                <a:solidFill>
                  <a:srgbClr val="14283F"/>
                </a:solidFill>
                <a:latin typeface="Helvetica Neue"/>
                <a:ea typeface="Helvetica Neue"/>
                <a:cs typeface="Helvetica Neue"/>
              </a:defRPr>
            </a:lvl8pPr>
            <a:lvl9pPr>
              <a:defRPr sz="2100" b="0">
                <a:solidFill>
                  <a:srgbClr val="14283F"/>
                </a:solidFill>
                <a:latin typeface="Helvetica Neue"/>
                <a:ea typeface="Helvetica Neue"/>
                <a:cs typeface="Helvetica Neue"/>
              </a:defRPr>
            </a:lvl9pPr>
          </a:lstStyle>
          <a:p>
            <a:pPr>
              <a:defRPr sz="2100" b="0">
                <a:solidFill>
                  <a:srgbClr val="14283F"/>
                </a:solidFill>
                <a:latin typeface="Helvetica Neue"/>
                <a:ea typeface="Helvetica Neue"/>
                <a:cs typeface="Helvetica Neue"/>
              </a:defRPr>
            </a:pPr>
            <a:r>
              <a:rPr sz="2100" b="0">
                <a:solidFill>
                  <a:srgbClr val="14283F"/>
                </a:solidFill>
                <a:latin typeface="Helvetica Neue"/>
                <a:ea typeface="Helvetica Neue"/>
                <a:cs typeface="Helvetica Neue"/>
              </a:rPr>
              <a:t>Five arm velocity commands position the hand. A shared closure command drives six active finger motors.</a:t>
            </a:r>
          </a:p>
        </p:txBody>
      </p:sp>
      <p:sp>
        <p:nvSpPr>
          <p:cNvPr id="6" name="Rectangle 5">
            <a:extLst>
              <a:ext uri="{FF2B5EF4-FFF2-40B4-BE49-F238E27FC236}">
                <a16:creationId xmlns:a16="http://schemas.microsoft.com/office/drawing/2014/main" id="{AF297FE0-6DA1-4F3F-A346-1EF4997BD03E}"/>
              </a:ext>
            </a:extLst>
          </p:cNvPr>
          <p:cNvSpPr>
            <a:spLocks noGrp="1"/>
          </p:cNvSpPr>
          <p:nvPr/>
        </p:nvSpPr>
        <p:spPr>
          <a:xfrm>
            <a:off x="685800" y="2505075"/>
            <a:ext cx="2381250" cy="819150"/>
          </a:xfrm>
          <a:prstGeom prst="rect">
            <a:avLst/>
          </a:prstGeom>
          <a:noFill/>
          <a:ln w="0">
            <a:noFill/>
          </a:ln>
        </p:spPr>
        <p:txBody>
          <a:bodyPr lIns="0" tIns="0" rIns="0" bIns="0" anchor="ctr">
            <a:noAutofit/>
          </a:bodyPr>
          <a:lstStyle>
            <a:defPPr>
              <a:defRPr sz="2100" b="1">
                <a:solidFill>
                  <a:srgbClr val="176FBD"/>
                </a:solidFill>
                <a:latin typeface="Helvetica Neue"/>
                <a:ea typeface="Helvetica Neue"/>
                <a:cs typeface="Helvetica Neue"/>
              </a:defRPr>
            </a:defPPr>
            <a:lvl1pPr>
              <a:defRPr sz="2100" b="1">
                <a:solidFill>
                  <a:srgbClr val="176FBD"/>
                </a:solidFill>
                <a:latin typeface="Helvetica Neue"/>
                <a:ea typeface="Helvetica Neue"/>
                <a:cs typeface="Helvetica Neue"/>
              </a:defRPr>
            </a:lvl1pPr>
            <a:lvl2pPr>
              <a:defRPr sz="2100" b="1">
                <a:solidFill>
                  <a:srgbClr val="176FBD"/>
                </a:solidFill>
                <a:latin typeface="Helvetica Neue"/>
                <a:ea typeface="Helvetica Neue"/>
                <a:cs typeface="Helvetica Neue"/>
              </a:defRPr>
            </a:lvl2pPr>
            <a:lvl3pPr>
              <a:defRPr sz="2100" b="1">
                <a:solidFill>
                  <a:srgbClr val="176FBD"/>
                </a:solidFill>
                <a:latin typeface="Helvetica Neue"/>
                <a:ea typeface="Helvetica Neue"/>
                <a:cs typeface="Helvetica Neue"/>
              </a:defRPr>
            </a:lvl3pPr>
            <a:lvl4pPr>
              <a:defRPr sz="2100" b="1">
                <a:solidFill>
                  <a:srgbClr val="176FBD"/>
                </a:solidFill>
                <a:latin typeface="Helvetica Neue"/>
                <a:ea typeface="Helvetica Neue"/>
                <a:cs typeface="Helvetica Neue"/>
              </a:defRPr>
            </a:lvl4pPr>
            <a:lvl5pPr>
              <a:defRPr sz="2100" b="1">
                <a:solidFill>
                  <a:srgbClr val="176FBD"/>
                </a:solidFill>
                <a:latin typeface="Helvetica Neue"/>
                <a:ea typeface="Helvetica Neue"/>
                <a:cs typeface="Helvetica Neue"/>
              </a:defRPr>
            </a:lvl5pPr>
            <a:lvl6pPr>
              <a:defRPr sz="2100" b="1">
                <a:solidFill>
                  <a:srgbClr val="176FBD"/>
                </a:solidFill>
                <a:latin typeface="Helvetica Neue"/>
                <a:ea typeface="Helvetica Neue"/>
                <a:cs typeface="Helvetica Neue"/>
              </a:defRPr>
            </a:lvl6pPr>
            <a:lvl7pPr>
              <a:defRPr sz="2100" b="1">
                <a:solidFill>
                  <a:srgbClr val="176FBD"/>
                </a:solidFill>
                <a:latin typeface="Helvetica Neue"/>
                <a:ea typeface="Helvetica Neue"/>
                <a:cs typeface="Helvetica Neue"/>
              </a:defRPr>
            </a:lvl7pPr>
            <a:lvl8pPr>
              <a:defRPr sz="2100" b="1">
                <a:solidFill>
                  <a:srgbClr val="176FBD"/>
                </a:solidFill>
                <a:latin typeface="Helvetica Neue"/>
                <a:ea typeface="Helvetica Neue"/>
                <a:cs typeface="Helvetica Neue"/>
              </a:defRPr>
            </a:lvl8pPr>
            <a:lvl9pPr>
              <a:defRPr sz="2100" b="1">
                <a:solidFill>
                  <a:srgbClr val="176FBD"/>
                </a:solidFill>
                <a:latin typeface="Helvetica Neue"/>
                <a:ea typeface="Helvetica Neue"/>
                <a:cs typeface="Helvetica Neue"/>
              </a:defRPr>
            </a:lvl9pPr>
          </a:lstStyle>
          <a:p>
            <a:pPr>
              <a:defRPr sz="2100" b="1">
                <a:solidFill>
                  <a:srgbClr val="176FBD"/>
                </a:solidFill>
                <a:latin typeface="Helvetica Neue"/>
                <a:ea typeface="Helvetica Neue"/>
                <a:cs typeface="Helvetica Neue"/>
              </a:defRPr>
            </a:pPr>
            <a:r>
              <a:rPr sz="2100" b="1">
                <a:solidFill>
                  <a:srgbClr val="176FBD"/>
                </a:solidFill>
                <a:latin typeface="Helvetica Neue"/>
                <a:ea typeface="Helvetica Neue"/>
                <a:cs typeface="Helvetica Neue"/>
              </a:rPr>
              <a:t>Opposing contact</a:t>
            </a:r>
          </a:p>
        </p:txBody>
      </p:sp>
      <p:sp>
        <p:nvSpPr>
          <p:cNvPr id="7" name="Rectangle 6">
            <a:extLst>
              <a:ext uri="{FF2B5EF4-FFF2-40B4-BE49-F238E27FC236}">
                <a16:creationId xmlns:a16="http://schemas.microsoft.com/office/drawing/2014/main" id="{D72F12DC-3D5A-434D-A972-4C6E95EB91F4}"/>
              </a:ext>
            </a:extLst>
          </p:cNvPr>
          <p:cNvSpPr>
            <a:spLocks noGrp="1"/>
          </p:cNvSpPr>
          <p:nvPr/>
        </p:nvSpPr>
        <p:spPr>
          <a:xfrm>
            <a:off x="3295650" y="2505075"/>
            <a:ext cx="8077200" cy="819150"/>
          </a:xfrm>
          <a:prstGeom prst="rect">
            <a:avLst/>
          </a:prstGeom>
          <a:noFill/>
          <a:ln w="0">
            <a:noFill/>
          </a:ln>
        </p:spPr>
        <p:txBody>
          <a:bodyPr lIns="0" tIns="0" rIns="0" bIns="0" anchor="ctr">
            <a:noAutofit/>
          </a:bodyPr>
          <a:lstStyle>
            <a:defPPr>
              <a:defRPr sz="2100" b="0">
                <a:solidFill>
                  <a:srgbClr val="14283F"/>
                </a:solidFill>
                <a:latin typeface="Helvetica Neue"/>
                <a:ea typeface="Helvetica Neue"/>
                <a:cs typeface="Helvetica Neue"/>
              </a:defRPr>
            </a:defPPr>
            <a:lvl1pPr>
              <a:defRPr sz="2100" b="0">
                <a:solidFill>
                  <a:srgbClr val="14283F"/>
                </a:solidFill>
                <a:latin typeface="Helvetica Neue"/>
                <a:ea typeface="Helvetica Neue"/>
                <a:cs typeface="Helvetica Neue"/>
              </a:defRPr>
            </a:lvl1pPr>
            <a:lvl2pPr>
              <a:defRPr sz="2100" b="0">
                <a:solidFill>
                  <a:srgbClr val="14283F"/>
                </a:solidFill>
                <a:latin typeface="Helvetica Neue"/>
                <a:ea typeface="Helvetica Neue"/>
                <a:cs typeface="Helvetica Neue"/>
              </a:defRPr>
            </a:lvl2pPr>
            <a:lvl3pPr>
              <a:defRPr sz="2100" b="0">
                <a:solidFill>
                  <a:srgbClr val="14283F"/>
                </a:solidFill>
                <a:latin typeface="Helvetica Neue"/>
                <a:ea typeface="Helvetica Neue"/>
                <a:cs typeface="Helvetica Neue"/>
              </a:defRPr>
            </a:lvl3pPr>
            <a:lvl4pPr>
              <a:defRPr sz="2100" b="0">
                <a:solidFill>
                  <a:srgbClr val="14283F"/>
                </a:solidFill>
                <a:latin typeface="Helvetica Neue"/>
                <a:ea typeface="Helvetica Neue"/>
                <a:cs typeface="Helvetica Neue"/>
              </a:defRPr>
            </a:lvl4pPr>
            <a:lvl5pPr>
              <a:defRPr sz="2100" b="0">
                <a:solidFill>
                  <a:srgbClr val="14283F"/>
                </a:solidFill>
                <a:latin typeface="Helvetica Neue"/>
                <a:ea typeface="Helvetica Neue"/>
                <a:cs typeface="Helvetica Neue"/>
              </a:defRPr>
            </a:lvl5pPr>
            <a:lvl6pPr>
              <a:defRPr sz="2100" b="0">
                <a:solidFill>
                  <a:srgbClr val="14283F"/>
                </a:solidFill>
                <a:latin typeface="Helvetica Neue"/>
                <a:ea typeface="Helvetica Neue"/>
                <a:cs typeface="Helvetica Neue"/>
              </a:defRPr>
            </a:lvl6pPr>
            <a:lvl7pPr>
              <a:defRPr sz="2100" b="0">
                <a:solidFill>
                  <a:srgbClr val="14283F"/>
                </a:solidFill>
                <a:latin typeface="Helvetica Neue"/>
                <a:ea typeface="Helvetica Neue"/>
                <a:cs typeface="Helvetica Neue"/>
              </a:defRPr>
            </a:lvl7pPr>
            <a:lvl8pPr>
              <a:defRPr sz="2100" b="0">
                <a:solidFill>
                  <a:srgbClr val="14283F"/>
                </a:solidFill>
                <a:latin typeface="Helvetica Neue"/>
                <a:ea typeface="Helvetica Neue"/>
                <a:cs typeface="Helvetica Neue"/>
              </a:defRPr>
            </a:lvl8pPr>
            <a:lvl9pPr>
              <a:defRPr sz="2100" b="0">
                <a:solidFill>
                  <a:srgbClr val="14283F"/>
                </a:solidFill>
                <a:latin typeface="Helvetica Neue"/>
                <a:ea typeface="Helvetica Neue"/>
                <a:cs typeface="Helvetica Neue"/>
              </a:defRPr>
            </a:lvl9pPr>
          </a:lstStyle>
          <a:p>
            <a:pPr>
              <a:defRPr sz="2100" b="0">
                <a:solidFill>
                  <a:srgbClr val="14283F"/>
                </a:solidFill>
                <a:latin typeface="Helvetica Neue"/>
                <a:ea typeface="Helvetica Neue"/>
                <a:cs typeface="Helvetica Neue"/>
              </a:defRPr>
            </a:pPr>
            <a:r>
              <a:rPr sz="2100" b="0">
                <a:solidFill>
                  <a:srgbClr val="14283F"/>
                </a:solidFill>
                <a:latin typeface="Helvetica Neue"/>
                <a:ea typeface="Helvetica Neue"/>
                <a:cs typeface="Helvetica Neue"/>
              </a:rPr>
              <a:t>The thumb and at least one other finger contact the ball. The grasp point stays within 9 cm of its center.</a:t>
            </a:r>
          </a:p>
        </p:txBody>
      </p:sp>
      <p:sp>
        <p:nvSpPr>
          <p:cNvPr id="8" name="Rectangle 7">
            <a:extLst>
              <a:ext uri="{FF2B5EF4-FFF2-40B4-BE49-F238E27FC236}">
                <a16:creationId xmlns:a16="http://schemas.microsoft.com/office/drawing/2014/main" id="{B5D156D6-3400-45B9-8F87-1B7A5289DE44}"/>
              </a:ext>
            </a:extLst>
          </p:cNvPr>
          <p:cNvSpPr>
            <a:spLocks noGrp="1"/>
          </p:cNvSpPr>
          <p:nvPr/>
        </p:nvSpPr>
        <p:spPr>
          <a:xfrm>
            <a:off x="685800" y="3514725"/>
            <a:ext cx="2381250" cy="819150"/>
          </a:xfrm>
          <a:prstGeom prst="rect">
            <a:avLst/>
          </a:prstGeom>
          <a:noFill/>
          <a:ln w="0">
            <a:noFill/>
          </a:ln>
        </p:spPr>
        <p:txBody>
          <a:bodyPr lIns="0" tIns="0" rIns="0" bIns="0" anchor="ctr">
            <a:noAutofit/>
          </a:bodyPr>
          <a:lstStyle>
            <a:defPPr>
              <a:defRPr sz="2100" b="1">
                <a:solidFill>
                  <a:srgbClr val="176FBD"/>
                </a:solidFill>
                <a:latin typeface="Helvetica Neue"/>
                <a:ea typeface="Helvetica Neue"/>
                <a:cs typeface="Helvetica Neue"/>
              </a:defRPr>
            </a:defPPr>
            <a:lvl1pPr>
              <a:defRPr sz="2100" b="1">
                <a:solidFill>
                  <a:srgbClr val="176FBD"/>
                </a:solidFill>
                <a:latin typeface="Helvetica Neue"/>
                <a:ea typeface="Helvetica Neue"/>
                <a:cs typeface="Helvetica Neue"/>
              </a:defRPr>
            </a:lvl1pPr>
            <a:lvl2pPr>
              <a:defRPr sz="2100" b="1">
                <a:solidFill>
                  <a:srgbClr val="176FBD"/>
                </a:solidFill>
                <a:latin typeface="Helvetica Neue"/>
                <a:ea typeface="Helvetica Neue"/>
                <a:cs typeface="Helvetica Neue"/>
              </a:defRPr>
            </a:lvl2pPr>
            <a:lvl3pPr>
              <a:defRPr sz="2100" b="1">
                <a:solidFill>
                  <a:srgbClr val="176FBD"/>
                </a:solidFill>
                <a:latin typeface="Helvetica Neue"/>
                <a:ea typeface="Helvetica Neue"/>
                <a:cs typeface="Helvetica Neue"/>
              </a:defRPr>
            </a:lvl3pPr>
            <a:lvl4pPr>
              <a:defRPr sz="2100" b="1">
                <a:solidFill>
                  <a:srgbClr val="176FBD"/>
                </a:solidFill>
                <a:latin typeface="Helvetica Neue"/>
                <a:ea typeface="Helvetica Neue"/>
                <a:cs typeface="Helvetica Neue"/>
              </a:defRPr>
            </a:lvl4pPr>
            <a:lvl5pPr>
              <a:defRPr sz="2100" b="1">
                <a:solidFill>
                  <a:srgbClr val="176FBD"/>
                </a:solidFill>
                <a:latin typeface="Helvetica Neue"/>
                <a:ea typeface="Helvetica Neue"/>
                <a:cs typeface="Helvetica Neue"/>
              </a:defRPr>
            </a:lvl5pPr>
            <a:lvl6pPr>
              <a:defRPr sz="2100" b="1">
                <a:solidFill>
                  <a:srgbClr val="176FBD"/>
                </a:solidFill>
                <a:latin typeface="Helvetica Neue"/>
                <a:ea typeface="Helvetica Neue"/>
                <a:cs typeface="Helvetica Neue"/>
              </a:defRPr>
            </a:lvl6pPr>
            <a:lvl7pPr>
              <a:defRPr sz="2100" b="1">
                <a:solidFill>
                  <a:srgbClr val="176FBD"/>
                </a:solidFill>
                <a:latin typeface="Helvetica Neue"/>
                <a:ea typeface="Helvetica Neue"/>
                <a:cs typeface="Helvetica Neue"/>
              </a:defRPr>
            </a:lvl7pPr>
            <a:lvl8pPr>
              <a:defRPr sz="2100" b="1">
                <a:solidFill>
                  <a:srgbClr val="176FBD"/>
                </a:solidFill>
                <a:latin typeface="Helvetica Neue"/>
                <a:ea typeface="Helvetica Neue"/>
                <a:cs typeface="Helvetica Neue"/>
              </a:defRPr>
            </a:lvl8pPr>
            <a:lvl9pPr>
              <a:defRPr sz="2100" b="1">
                <a:solidFill>
                  <a:srgbClr val="176FBD"/>
                </a:solidFill>
                <a:latin typeface="Helvetica Neue"/>
                <a:ea typeface="Helvetica Neue"/>
                <a:cs typeface="Helvetica Neue"/>
              </a:defRPr>
            </a:lvl9pPr>
          </a:lstStyle>
          <a:p>
            <a:pPr>
              <a:defRPr sz="2100" b="1">
                <a:solidFill>
                  <a:srgbClr val="176FBD"/>
                </a:solidFill>
                <a:latin typeface="Helvetica Neue"/>
                <a:ea typeface="Helvetica Neue"/>
                <a:cs typeface="Helvetica Neue"/>
              </a:defRPr>
            </a:pPr>
            <a:r>
              <a:rPr sz="2100" b="1">
                <a:solidFill>
                  <a:srgbClr val="176FBD"/>
                </a:solidFill>
                <a:latin typeface="Helvetica Neue"/>
                <a:ea typeface="Helvetica Neue"/>
                <a:cs typeface="Helvetica Neue"/>
              </a:rPr>
              <a:t>Stable lift</a:t>
            </a:r>
          </a:p>
        </p:txBody>
      </p:sp>
      <p:sp>
        <p:nvSpPr>
          <p:cNvPr id="9" name="Rectangle 8">
            <a:extLst>
              <a:ext uri="{FF2B5EF4-FFF2-40B4-BE49-F238E27FC236}">
                <a16:creationId xmlns:a16="http://schemas.microsoft.com/office/drawing/2014/main" id="{581151FF-2EED-4C27-B2F9-58BD384D8F1E}"/>
              </a:ext>
            </a:extLst>
          </p:cNvPr>
          <p:cNvSpPr>
            <a:spLocks noGrp="1"/>
          </p:cNvSpPr>
          <p:nvPr/>
        </p:nvSpPr>
        <p:spPr>
          <a:xfrm>
            <a:off x="3295650" y="3514725"/>
            <a:ext cx="8077200" cy="819150"/>
          </a:xfrm>
          <a:prstGeom prst="rect">
            <a:avLst/>
          </a:prstGeom>
          <a:noFill/>
          <a:ln w="0">
            <a:noFill/>
          </a:ln>
        </p:spPr>
        <p:txBody>
          <a:bodyPr lIns="0" tIns="0" rIns="0" bIns="0" anchor="ctr">
            <a:noAutofit/>
          </a:bodyPr>
          <a:lstStyle>
            <a:defPPr>
              <a:defRPr sz="2100" b="0">
                <a:solidFill>
                  <a:srgbClr val="14283F"/>
                </a:solidFill>
                <a:latin typeface="Helvetica Neue"/>
                <a:ea typeface="Helvetica Neue"/>
                <a:cs typeface="Helvetica Neue"/>
              </a:defRPr>
            </a:defPPr>
            <a:lvl1pPr>
              <a:defRPr sz="2100" b="0">
                <a:solidFill>
                  <a:srgbClr val="14283F"/>
                </a:solidFill>
                <a:latin typeface="Helvetica Neue"/>
                <a:ea typeface="Helvetica Neue"/>
                <a:cs typeface="Helvetica Neue"/>
              </a:defRPr>
            </a:lvl1pPr>
            <a:lvl2pPr>
              <a:defRPr sz="2100" b="0">
                <a:solidFill>
                  <a:srgbClr val="14283F"/>
                </a:solidFill>
                <a:latin typeface="Helvetica Neue"/>
                <a:ea typeface="Helvetica Neue"/>
                <a:cs typeface="Helvetica Neue"/>
              </a:defRPr>
            </a:lvl2pPr>
            <a:lvl3pPr>
              <a:defRPr sz="2100" b="0">
                <a:solidFill>
                  <a:srgbClr val="14283F"/>
                </a:solidFill>
                <a:latin typeface="Helvetica Neue"/>
                <a:ea typeface="Helvetica Neue"/>
                <a:cs typeface="Helvetica Neue"/>
              </a:defRPr>
            </a:lvl3pPr>
            <a:lvl4pPr>
              <a:defRPr sz="2100" b="0">
                <a:solidFill>
                  <a:srgbClr val="14283F"/>
                </a:solidFill>
                <a:latin typeface="Helvetica Neue"/>
                <a:ea typeface="Helvetica Neue"/>
                <a:cs typeface="Helvetica Neue"/>
              </a:defRPr>
            </a:lvl4pPr>
            <a:lvl5pPr>
              <a:defRPr sz="2100" b="0">
                <a:solidFill>
                  <a:srgbClr val="14283F"/>
                </a:solidFill>
                <a:latin typeface="Helvetica Neue"/>
                <a:ea typeface="Helvetica Neue"/>
                <a:cs typeface="Helvetica Neue"/>
              </a:defRPr>
            </a:lvl5pPr>
            <a:lvl6pPr>
              <a:defRPr sz="2100" b="0">
                <a:solidFill>
                  <a:srgbClr val="14283F"/>
                </a:solidFill>
                <a:latin typeface="Helvetica Neue"/>
                <a:ea typeface="Helvetica Neue"/>
                <a:cs typeface="Helvetica Neue"/>
              </a:defRPr>
            </a:lvl6pPr>
            <a:lvl7pPr>
              <a:defRPr sz="2100" b="0">
                <a:solidFill>
                  <a:srgbClr val="14283F"/>
                </a:solidFill>
                <a:latin typeface="Helvetica Neue"/>
                <a:ea typeface="Helvetica Neue"/>
                <a:cs typeface="Helvetica Neue"/>
              </a:defRPr>
            </a:lvl7pPr>
            <a:lvl8pPr>
              <a:defRPr sz="2100" b="0">
                <a:solidFill>
                  <a:srgbClr val="14283F"/>
                </a:solidFill>
                <a:latin typeface="Helvetica Neue"/>
                <a:ea typeface="Helvetica Neue"/>
                <a:cs typeface="Helvetica Neue"/>
              </a:defRPr>
            </a:lvl8pPr>
            <a:lvl9pPr>
              <a:defRPr sz="2100" b="0">
                <a:solidFill>
                  <a:srgbClr val="14283F"/>
                </a:solidFill>
                <a:latin typeface="Helvetica Neue"/>
                <a:ea typeface="Helvetica Neue"/>
                <a:cs typeface="Helvetica Neue"/>
              </a:defRPr>
            </a:lvl9pPr>
          </a:lstStyle>
          <a:p>
            <a:pPr>
              <a:defRPr sz="2100" b="0">
                <a:solidFill>
                  <a:srgbClr val="14283F"/>
                </a:solidFill>
                <a:latin typeface="Helvetica Neue"/>
                <a:ea typeface="Helvetica Neue"/>
                <a:cs typeface="Helvetica Neue"/>
              </a:defRPr>
            </a:pPr>
            <a:r>
              <a:rPr sz="2100" b="0">
                <a:solidFill>
                  <a:srgbClr val="14283F"/>
                </a:solidFill>
                <a:latin typeface="Helvetica Neue"/>
                <a:ea typeface="Helvetica Neue"/>
                <a:cs typeface="Helvetica Neue"/>
              </a:rPr>
              <a:t>The ball rises at least 3 cm, leaves the support, and moves below 0.20 m/s for the stable-grasp criterion.</a:t>
            </a:r>
          </a:p>
        </p:txBody>
      </p:sp>
      <p:sp>
        <p:nvSpPr>
          <p:cNvPr id="10" name="Rectangle 9">
            <a:extLst>
              <a:ext uri="{FF2B5EF4-FFF2-40B4-BE49-F238E27FC236}">
                <a16:creationId xmlns:a16="http://schemas.microsoft.com/office/drawing/2014/main" id="{72856CB6-FE68-4AD3-AFF0-2338900AD4E4}"/>
              </a:ext>
            </a:extLst>
          </p:cNvPr>
          <p:cNvSpPr>
            <a:spLocks noGrp="1"/>
          </p:cNvSpPr>
          <p:nvPr/>
        </p:nvSpPr>
        <p:spPr>
          <a:xfrm>
            <a:off x="685800" y="4524375"/>
            <a:ext cx="2381250" cy="819150"/>
          </a:xfrm>
          <a:prstGeom prst="rect">
            <a:avLst/>
          </a:prstGeom>
          <a:noFill/>
          <a:ln w="0">
            <a:noFill/>
          </a:ln>
        </p:spPr>
        <p:txBody>
          <a:bodyPr lIns="0" tIns="0" rIns="0" bIns="0" anchor="ctr">
            <a:noAutofit/>
          </a:bodyPr>
          <a:lstStyle>
            <a:defPPr>
              <a:defRPr sz="2100" b="1">
                <a:solidFill>
                  <a:srgbClr val="176FBD"/>
                </a:solidFill>
                <a:latin typeface="Helvetica Neue"/>
                <a:ea typeface="Helvetica Neue"/>
                <a:cs typeface="Helvetica Neue"/>
              </a:defRPr>
            </a:defPPr>
            <a:lvl1pPr>
              <a:defRPr sz="2100" b="1">
                <a:solidFill>
                  <a:srgbClr val="176FBD"/>
                </a:solidFill>
                <a:latin typeface="Helvetica Neue"/>
                <a:ea typeface="Helvetica Neue"/>
                <a:cs typeface="Helvetica Neue"/>
              </a:defRPr>
            </a:lvl1pPr>
            <a:lvl2pPr>
              <a:defRPr sz="2100" b="1">
                <a:solidFill>
                  <a:srgbClr val="176FBD"/>
                </a:solidFill>
                <a:latin typeface="Helvetica Neue"/>
                <a:ea typeface="Helvetica Neue"/>
                <a:cs typeface="Helvetica Neue"/>
              </a:defRPr>
            </a:lvl2pPr>
            <a:lvl3pPr>
              <a:defRPr sz="2100" b="1">
                <a:solidFill>
                  <a:srgbClr val="176FBD"/>
                </a:solidFill>
                <a:latin typeface="Helvetica Neue"/>
                <a:ea typeface="Helvetica Neue"/>
                <a:cs typeface="Helvetica Neue"/>
              </a:defRPr>
            </a:lvl3pPr>
            <a:lvl4pPr>
              <a:defRPr sz="2100" b="1">
                <a:solidFill>
                  <a:srgbClr val="176FBD"/>
                </a:solidFill>
                <a:latin typeface="Helvetica Neue"/>
                <a:ea typeface="Helvetica Neue"/>
                <a:cs typeface="Helvetica Neue"/>
              </a:defRPr>
            </a:lvl4pPr>
            <a:lvl5pPr>
              <a:defRPr sz="2100" b="1">
                <a:solidFill>
                  <a:srgbClr val="176FBD"/>
                </a:solidFill>
                <a:latin typeface="Helvetica Neue"/>
                <a:ea typeface="Helvetica Neue"/>
                <a:cs typeface="Helvetica Neue"/>
              </a:defRPr>
            </a:lvl5pPr>
            <a:lvl6pPr>
              <a:defRPr sz="2100" b="1">
                <a:solidFill>
                  <a:srgbClr val="176FBD"/>
                </a:solidFill>
                <a:latin typeface="Helvetica Neue"/>
                <a:ea typeface="Helvetica Neue"/>
                <a:cs typeface="Helvetica Neue"/>
              </a:defRPr>
            </a:lvl6pPr>
            <a:lvl7pPr>
              <a:defRPr sz="2100" b="1">
                <a:solidFill>
                  <a:srgbClr val="176FBD"/>
                </a:solidFill>
                <a:latin typeface="Helvetica Neue"/>
                <a:ea typeface="Helvetica Neue"/>
                <a:cs typeface="Helvetica Neue"/>
              </a:defRPr>
            </a:lvl7pPr>
            <a:lvl8pPr>
              <a:defRPr sz="2100" b="1">
                <a:solidFill>
                  <a:srgbClr val="176FBD"/>
                </a:solidFill>
                <a:latin typeface="Helvetica Neue"/>
                <a:ea typeface="Helvetica Neue"/>
                <a:cs typeface="Helvetica Neue"/>
              </a:defRPr>
            </a:lvl8pPr>
            <a:lvl9pPr>
              <a:defRPr sz="2100" b="1">
                <a:solidFill>
                  <a:srgbClr val="176FBD"/>
                </a:solidFill>
                <a:latin typeface="Helvetica Neue"/>
                <a:ea typeface="Helvetica Neue"/>
                <a:cs typeface="Helvetica Neue"/>
              </a:defRPr>
            </a:lvl9pPr>
          </a:lstStyle>
          <a:p>
            <a:pPr>
              <a:defRPr sz="2100" b="1">
                <a:solidFill>
                  <a:srgbClr val="176FBD"/>
                </a:solidFill>
                <a:latin typeface="Helvetica Neue"/>
                <a:ea typeface="Helvetica Neue"/>
                <a:cs typeface="Helvetica Neue"/>
              </a:defRPr>
            </a:pPr>
            <a:r>
              <a:rPr sz="2100" b="1">
                <a:solidFill>
                  <a:srgbClr val="176FBD"/>
                </a:solidFill>
                <a:latin typeface="Helvetica Neue"/>
                <a:ea typeface="Helvetica Neue"/>
                <a:cs typeface="Helvetica Neue"/>
              </a:rPr>
              <a:t>Physical simulation</a:t>
            </a:r>
          </a:p>
        </p:txBody>
      </p:sp>
      <p:sp>
        <p:nvSpPr>
          <p:cNvPr id="11" name="Rectangle 10">
            <a:extLst>
              <a:ext uri="{FF2B5EF4-FFF2-40B4-BE49-F238E27FC236}">
                <a16:creationId xmlns:a16="http://schemas.microsoft.com/office/drawing/2014/main" id="{7A89804B-4584-42E3-88FB-8D248B9EEAD9}"/>
              </a:ext>
            </a:extLst>
          </p:cNvPr>
          <p:cNvSpPr>
            <a:spLocks noGrp="1"/>
          </p:cNvSpPr>
          <p:nvPr/>
        </p:nvSpPr>
        <p:spPr>
          <a:xfrm>
            <a:off x="3295650" y="4524375"/>
            <a:ext cx="8077200" cy="819150"/>
          </a:xfrm>
          <a:prstGeom prst="rect">
            <a:avLst/>
          </a:prstGeom>
          <a:noFill/>
          <a:ln w="0">
            <a:noFill/>
          </a:ln>
        </p:spPr>
        <p:txBody>
          <a:bodyPr lIns="0" tIns="0" rIns="0" bIns="0" anchor="ctr">
            <a:noAutofit/>
          </a:bodyPr>
          <a:lstStyle>
            <a:defPPr>
              <a:defRPr sz="2100" b="0">
                <a:solidFill>
                  <a:srgbClr val="14283F"/>
                </a:solidFill>
                <a:latin typeface="Helvetica Neue"/>
                <a:ea typeface="Helvetica Neue"/>
                <a:cs typeface="Helvetica Neue"/>
              </a:defRPr>
            </a:defPPr>
            <a:lvl1pPr>
              <a:defRPr sz="2100" b="0">
                <a:solidFill>
                  <a:srgbClr val="14283F"/>
                </a:solidFill>
                <a:latin typeface="Helvetica Neue"/>
                <a:ea typeface="Helvetica Neue"/>
                <a:cs typeface="Helvetica Neue"/>
              </a:defRPr>
            </a:lvl1pPr>
            <a:lvl2pPr>
              <a:defRPr sz="2100" b="0">
                <a:solidFill>
                  <a:srgbClr val="14283F"/>
                </a:solidFill>
                <a:latin typeface="Helvetica Neue"/>
                <a:ea typeface="Helvetica Neue"/>
                <a:cs typeface="Helvetica Neue"/>
              </a:defRPr>
            </a:lvl2pPr>
            <a:lvl3pPr>
              <a:defRPr sz="2100" b="0">
                <a:solidFill>
                  <a:srgbClr val="14283F"/>
                </a:solidFill>
                <a:latin typeface="Helvetica Neue"/>
                <a:ea typeface="Helvetica Neue"/>
                <a:cs typeface="Helvetica Neue"/>
              </a:defRPr>
            </a:lvl3pPr>
            <a:lvl4pPr>
              <a:defRPr sz="2100" b="0">
                <a:solidFill>
                  <a:srgbClr val="14283F"/>
                </a:solidFill>
                <a:latin typeface="Helvetica Neue"/>
                <a:ea typeface="Helvetica Neue"/>
                <a:cs typeface="Helvetica Neue"/>
              </a:defRPr>
            </a:lvl4pPr>
            <a:lvl5pPr>
              <a:defRPr sz="2100" b="0">
                <a:solidFill>
                  <a:srgbClr val="14283F"/>
                </a:solidFill>
                <a:latin typeface="Helvetica Neue"/>
                <a:ea typeface="Helvetica Neue"/>
                <a:cs typeface="Helvetica Neue"/>
              </a:defRPr>
            </a:lvl5pPr>
            <a:lvl6pPr>
              <a:defRPr sz="2100" b="0">
                <a:solidFill>
                  <a:srgbClr val="14283F"/>
                </a:solidFill>
                <a:latin typeface="Helvetica Neue"/>
                <a:ea typeface="Helvetica Neue"/>
                <a:cs typeface="Helvetica Neue"/>
              </a:defRPr>
            </a:lvl6pPr>
            <a:lvl7pPr>
              <a:defRPr sz="2100" b="0">
                <a:solidFill>
                  <a:srgbClr val="14283F"/>
                </a:solidFill>
                <a:latin typeface="Helvetica Neue"/>
                <a:ea typeface="Helvetica Neue"/>
                <a:cs typeface="Helvetica Neue"/>
              </a:defRPr>
            </a:lvl7pPr>
            <a:lvl8pPr>
              <a:defRPr sz="2100" b="0">
                <a:solidFill>
                  <a:srgbClr val="14283F"/>
                </a:solidFill>
                <a:latin typeface="Helvetica Neue"/>
                <a:ea typeface="Helvetica Neue"/>
                <a:cs typeface="Helvetica Neue"/>
              </a:defRPr>
            </a:lvl8pPr>
            <a:lvl9pPr>
              <a:defRPr sz="2100" b="0">
                <a:solidFill>
                  <a:srgbClr val="14283F"/>
                </a:solidFill>
                <a:latin typeface="Helvetica Neue"/>
                <a:ea typeface="Helvetica Neue"/>
                <a:cs typeface="Helvetica Neue"/>
              </a:defRPr>
            </a:lvl9pPr>
          </a:lstStyle>
          <a:p>
            <a:pPr>
              <a:defRPr sz="2100" b="0">
                <a:solidFill>
                  <a:srgbClr val="14283F"/>
                </a:solidFill>
                <a:latin typeface="Helvetica Neue"/>
                <a:ea typeface="Helvetica Neue"/>
                <a:cs typeface="Helvetica Neue"/>
              </a:defRPr>
            </a:pPr>
            <a:r>
              <a:rPr sz="2100" b="0">
                <a:solidFill>
                  <a:srgbClr val="14283F"/>
                </a:solidFill>
                <a:latin typeface="Helvetica Neue"/>
                <a:ea typeface="Helvetica Neue"/>
                <a:cs typeface="Helvetica Neue"/>
              </a:rPr>
              <a:t>The ball remains a free body under full gravity. Finger and palm contacts provide the grip.</a:t>
            </a:r>
          </a:p>
        </p:txBody>
      </p:sp>
      <p:sp>
        <p:nvSpPr>
          <p:cNvPr id="13" name="Rectangle 12">
            <a:extLst>
              <a:ext uri="{FF2B5EF4-FFF2-40B4-BE49-F238E27FC236}">
                <a16:creationId xmlns:a16="http://schemas.microsoft.com/office/drawing/2014/main" id="{6A7055D7-EE20-454C-B10B-083EA9C2BD66}"/>
              </a:ext>
            </a:extLst>
          </p:cNvPr>
          <p:cNvSpPr>
            <a:spLocks noGrp="1"/>
          </p:cNvSpPr>
          <p:nvPr/>
        </p:nvSpPr>
        <p:spPr>
          <a:xfrm>
            <a:off x="11277600" y="6438900"/>
            <a:ext cx="381000" cy="228600"/>
          </a:xfrm>
          <a:prstGeom prst="rect">
            <a:avLst/>
          </a:prstGeom>
          <a:noFill/>
          <a:ln w="0">
            <a:noFill/>
          </a:ln>
        </p:spPr>
        <p:txBody>
          <a:bodyPr lIns="0" tIns="0" rIns="0" bIns="0" anchor="ctr">
            <a:noAutofit/>
          </a:bodyPr>
          <a:lstStyle>
            <a:defPPr>
              <a:defRPr sz="1425" b="0">
                <a:solidFill>
                  <a:srgbClr val="566779"/>
                </a:solidFill>
                <a:latin typeface="Helvetica Neue"/>
                <a:ea typeface="Helvetica Neue"/>
                <a:cs typeface="Helvetica Neue"/>
              </a:defRPr>
            </a:defPPr>
            <a:lvl1pPr>
              <a:defRPr sz="1425" b="0">
                <a:solidFill>
                  <a:srgbClr val="566779"/>
                </a:solidFill>
                <a:latin typeface="Helvetica Neue"/>
                <a:ea typeface="Helvetica Neue"/>
                <a:cs typeface="Helvetica Neue"/>
              </a:defRPr>
            </a:lvl1pPr>
            <a:lvl2pPr>
              <a:defRPr sz="1425" b="0">
                <a:solidFill>
                  <a:srgbClr val="566779"/>
                </a:solidFill>
                <a:latin typeface="Helvetica Neue"/>
                <a:ea typeface="Helvetica Neue"/>
                <a:cs typeface="Helvetica Neue"/>
              </a:defRPr>
            </a:lvl2pPr>
            <a:lvl3pPr>
              <a:defRPr sz="1425" b="0">
                <a:solidFill>
                  <a:srgbClr val="566779"/>
                </a:solidFill>
                <a:latin typeface="Helvetica Neue"/>
                <a:ea typeface="Helvetica Neue"/>
                <a:cs typeface="Helvetica Neue"/>
              </a:defRPr>
            </a:lvl3pPr>
            <a:lvl4pPr>
              <a:defRPr sz="1425" b="0">
                <a:solidFill>
                  <a:srgbClr val="566779"/>
                </a:solidFill>
                <a:latin typeface="Helvetica Neue"/>
                <a:ea typeface="Helvetica Neue"/>
                <a:cs typeface="Helvetica Neue"/>
              </a:defRPr>
            </a:lvl4pPr>
            <a:lvl5pPr>
              <a:defRPr sz="1425" b="0">
                <a:solidFill>
                  <a:srgbClr val="566779"/>
                </a:solidFill>
                <a:latin typeface="Helvetica Neue"/>
                <a:ea typeface="Helvetica Neue"/>
                <a:cs typeface="Helvetica Neue"/>
              </a:defRPr>
            </a:lvl5pPr>
            <a:lvl6pPr>
              <a:defRPr sz="1425" b="0">
                <a:solidFill>
                  <a:srgbClr val="566779"/>
                </a:solidFill>
                <a:latin typeface="Helvetica Neue"/>
                <a:ea typeface="Helvetica Neue"/>
                <a:cs typeface="Helvetica Neue"/>
              </a:defRPr>
            </a:lvl6pPr>
            <a:lvl7pPr>
              <a:defRPr sz="1425" b="0">
                <a:solidFill>
                  <a:srgbClr val="566779"/>
                </a:solidFill>
                <a:latin typeface="Helvetica Neue"/>
                <a:ea typeface="Helvetica Neue"/>
                <a:cs typeface="Helvetica Neue"/>
              </a:defRPr>
            </a:lvl7pPr>
            <a:lvl8pPr>
              <a:defRPr sz="1425" b="0">
                <a:solidFill>
                  <a:srgbClr val="566779"/>
                </a:solidFill>
                <a:latin typeface="Helvetica Neue"/>
                <a:ea typeface="Helvetica Neue"/>
                <a:cs typeface="Helvetica Neue"/>
              </a:defRPr>
            </a:lvl8pPr>
            <a:lvl9pPr>
              <a:defRPr sz="1425" b="0">
                <a:solidFill>
                  <a:srgbClr val="566779"/>
                </a:solidFill>
                <a:latin typeface="Helvetica Neue"/>
                <a:ea typeface="Helvetica Neue"/>
                <a:cs typeface="Helvetica Neue"/>
              </a:defRPr>
            </a:lvl9pPr>
          </a:lstStyle>
          <a:p>
            <a:pPr>
              <a:defRPr sz="1425" b="0">
                <a:solidFill>
                  <a:srgbClr val="566779"/>
                </a:solidFill>
                <a:latin typeface="Helvetica Neue"/>
                <a:ea typeface="Helvetica Neue"/>
                <a:cs typeface="Helvetica Neue"/>
              </a:defRPr>
            </a:pPr>
            <a:r>
              <a:rPr sz="1425" b="0">
                <a:solidFill>
                  <a:srgbClr val="566779"/>
                </a:solidFill>
                <a:latin typeface="Helvetica Neue"/>
                <a:ea typeface="Helvetica Neue"/>
                <a:cs typeface="Helvetica Neue"/>
              </a:rPr>
              <a:t>3</a:t>
            </a:r>
          </a:p>
        </p:txBody>
      </p:sp>
    </p:spTree>
    <p:extLst>
      <p:ext uri="{BB962C8B-B14F-4D97-AF65-F5344CB8AC3E}">
        <p14:creationId xmlns:p14="http://schemas.microsoft.com/office/powerpoint/2010/main" val="144379618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8920B825-49D2-4BC9-BF35-04C0C97AAC90}"/>
              </a:ext>
            </a:extLst>
          </p:cNvPr>
          <p:cNvSpPr>
            <a:spLocks noGrp="1"/>
          </p:cNvSpPr>
          <p:nvPr/>
        </p:nvSpPr>
        <p:spPr>
          <a:xfrm>
            <a:off x="609600" y="400050"/>
            <a:ext cx="10972800" cy="800100"/>
          </a:xfrm>
          <a:prstGeom prst="rect">
            <a:avLst/>
          </a:prstGeom>
          <a:noFill/>
          <a:ln w="0">
            <a:noFill/>
          </a:ln>
        </p:spPr>
        <p:txBody>
          <a:bodyPr lIns="0" tIns="0" rIns="0" bIns="0" anchor="ctr">
            <a:noAutofit/>
          </a:bodyPr>
          <a:lstStyle>
            <a:defPPr>
              <a:defRPr sz="3600" b="1">
                <a:solidFill>
                  <a:srgbClr val="14283F"/>
                </a:solidFill>
                <a:latin typeface="Helvetica Neue"/>
                <a:ea typeface="Helvetica Neue"/>
                <a:cs typeface="Helvetica Neue"/>
              </a:defRPr>
            </a:defPPr>
            <a:lvl1pPr>
              <a:defRPr sz="3600" b="1">
                <a:solidFill>
                  <a:srgbClr val="14283F"/>
                </a:solidFill>
                <a:latin typeface="Helvetica Neue"/>
                <a:ea typeface="Helvetica Neue"/>
                <a:cs typeface="Helvetica Neue"/>
              </a:defRPr>
            </a:lvl1pPr>
            <a:lvl2pPr>
              <a:defRPr sz="3600" b="1">
                <a:solidFill>
                  <a:srgbClr val="14283F"/>
                </a:solidFill>
                <a:latin typeface="Helvetica Neue"/>
                <a:ea typeface="Helvetica Neue"/>
                <a:cs typeface="Helvetica Neue"/>
              </a:defRPr>
            </a:lvl2pPr>
            <a:lvl3pPr>
              <a:defRPr sz="3600" b="1">
                <a:solidFill>
                  <a:srgbClr val="14283F"/>
                </a:solidFill>
                <a:latin typeface="Helvetica Neue"/>
                <a:ea typeface="Helvetica Neue"/>
                <a:cs typeface="Helvetica Neue"/>
              </a:defRPr>
            </a:lvl3pPr>
            <a:lvl4pPr>
              <a:defRPr sz="3600" b="1">
                <a:solidFill>
                  <a:srgbClr val="14283F"/>
                </a:solidFill>
                <a:latin typeface="Helvetica Neue"/>
                <a:ea typeface="Helvetica Neue"/>
                <a:cs typeface="Helvetica Neue"/>
              </a:defRPr>
            </a:lvl4pPr>
            <a:lvl5pPr>
              <a:defRPr sz="3600" b="1">
                <a:solidFill>
                  <a:srgbClr val="14283F"/>
                </a:solidFill>
                <a:latin typeface="Helvetica Neue"/>
                <a:ea typeface="Helvetica Neue"/>
                <a:cs typeface="Helvetica Neue"/>
              </a:defRPr>
            </a:lvl5pPr>
            <a:lvl6pPr>
              <a:defRPr sz="3600" b="1">
                <a:solidFill>
                  <a:srgbClr val="14283F"/>
                </a:solidFill>
                <a:latin typeface="Helvetica Neue"/>
                <a:ea typeface="Helvetica Neue"/>
                <a:cs typeface="Helvetica Neue"/>
              </a:defRPr>
            </a:lvl6pPr>
            <a:lvl7pPr>
              <a:defRPr sz="3600" b="1">
                <a:solidFill>
                  <a:srgbClr val="14283F"/>
                </a:solidFill>
                <a:latin typeface="Helvetica Neue"/>
                <a:ea typeface="Helvetica Neue"/>
                <a:cs typeface="Helvetica Neue"/>
              </a:defRPr>
            </a:lvl7pPr>
            <a:lvl8pPr>
              <a:defRPr sz="3600" b="1">
                <a:solidFill>
                  <a:srgbClr val="14283F"/>
                </a:solidFill>
                <a:latin typeface="Helvetica Neue"/>
                <a:ea typeface="Helvetica Neue"/>
                <a:cs typeface="Helvetica Neue"/>
              </a:defRPr>
            </a:lvl8pPr>
            <a:lvl9pPr>
              <a:defRPr sz="3600" b="1">
                <a:solidFill>
                  <a:srgbClr val="14283F"/>
                </a:solidFill>
                <a:latin typeface="Helvetica Neue"/>
                <a:ea typeface="Helvetica Neue"/>
                <a:cs typeface="Helvetica Neue"/>
              </a:defRPr>
            </a:lvl9pPr>
          </a:lstStyle>
          <a:p>
            <a:pPr>
              <a:defRPr sz="3600" b="1">
                <a:solidFill>
                  <a:srgbClr val="14283F"/>
                </a:solidFill>
                <a:latin typeface="Helvetica Neue"/>
                <a:ea typeface="Helvetica Neue"/>
                <a:cs typeface="Helvetica Neue"/>
              </a:defRPr>
            </a:pPr>
            <a:r>
              <a:rPr sz="3600" b="1">
                <a:solidFill>
                  <a:srgbClr val="14283F"/>
                </a:solidFill>
                <a:latin typeface="Helvetica Neue"/>
                <a:ea typeface="Helvetica Neue"/>
                <a:cs typeface="Helvetica Neue"/>
              </a:rPr>
              <a:t>Rewards for lifting and torso avoidance</a:t>
            </a:r>
          </a:p>
        </p:txBody>
      </p:sp>
      <p:sp>
        <p:nvSpPr>
          <p:cNvPr id="4" name="Rectangle 3">
            <a:extLst>
              <a:ext uri="{FF2B5EF4-FFF2-40B4-BE49-F238E27FC236}">
                <a16:creationId xmlns:a16="http://schemas.microsoft.com/office/drawing/2014/main" id="{E5417A6B-91C9-4E0D-8898-6A3015921096}"/>
              </a:ext>
            </a:extLst>
          </p:cNvPr>
          <p:cNvSpPr>
            <a:spLocks noGrp="1"/>
          </p:cNvSpPr>
          <p:nvPr/>
        </p:nvSpPr>
        <p:spPr>
          <a:xfrm>
            <a:off x="685800" y="1495425"/>
            <a:ext cx="2381250" cy="819150"/>
          </a:xfrm>
          <a:prstGeom prst="rect">
            <a:avLst/>
          </a:prstGeom>
          <a:noFill/>
          <a:ln w="0">
            <a:noFill/>
          </a:ln>
        </p:spPr>
        <p:txBody>
          <a:bodyPr lIns="0" tIns="0" rIns="0" bIns="0" anchor="ctr">
            <a:noAutofit/>
          </a:bodyPr>
          <a:lstStyle>
            <a:defPPr>
              <a:defRPr sz="2100" b="1">
                <a:solidFill>
                  <a:srgbClr val="176FBD"/>
                </a:solidFill>
                <a:latin typeface="Helvetica Neue"/>
                <a:ea typeface="Helvetica Neue"/>
                <a:cs typeface="Helvetica Neue"/>
              </a:defRPr>
            </a:defPPr>
            <a:lvl1pPr>
              <a:defRPr sz="2100" b="1">
                <a:solidFill>
                  <a:srgbClr val="176FBD"/>
                </a:solidFill>
                <a:latin typeface="Helvetica Neue"/>
                <a:ea typeface="Helvetica Neue"/>
                <a:cs typeface="Helvetica Neue"/>
              </a:defRPr>
            </a:lvl1pPr>
            <a:lvl2pPr>
              <a:defRPr sz="2100" b="1">
                <a:solidFill>
                  <a:srgbClr val="176FBD"/>
                </a:solidFill>
                <a:latin typeface="Helvetica Neue"/>
                <a:ea typeface="Helvetica Neue"/>
                <a:cs typeface="Helvetica Neue"/>
              </a:defRPr>
            </a:lvl2pPr>
            <a:lvl3pPr>
              <a:defRPr sz="2100" b="1">
                <a:solidFill>
                  <a:srgbClr val="176FBD"/>
                </a:solidFill>
                <a:latin typeface="Helvetica Neue"/>
                <a:ea typeface="Helvetica Neue"/>
                <a:cs typeface="Helvetica Neue"/>
              </a:defRPr>
            </a:lvl3pPr>
            <a:lvl4pPr>
              <a:defRPr sz="2100" b="1">
                <a:solidFill>
                  <a:srgbClr val="176FBD"/>
                </a:solidFill>
                <a:latin typeface="Helvetica Neue"/>
                <a:ea typeface="Helvetica Neue"/>
                <a:cs typeface="Helvetica Neue"/>
              </a:defRPr>
            </a:lvl4pPr>
            <a:lvl5pPr>
              <a:defRPr sz="2100" b="1">
                <a:solidFill>
                  <a:srgbClr val="176FBD"/>
                </a:solidFill>
                <a:latin typeface="Helvetica Neue"/>
                <a:ea typeface="Helvetica Neue"/>
                <a:cs typeface="Helvetica Neue"/>
              </a:defRPr>
            </a:lvl5pPr>
            <a:lvl6pPr>
              <a:defRPr sz="2100" b="1">
                <a:solidFill>
                  <a:srgbClr val="176FBD"/>
                </a:solidFill>
                <a:latin typeface="Helvetica Neue"/>
                <a:ea typeface="Helvetica Neue"/>
                <a:cs typeface="Helvetica Neue"/>
              </a:defRPr>
            </a:lvl6pPr>
            <a:lvl7pPr>
              <a:defRPr sz="2100" b="1">
                <a:solidFill>
                  <a:srgbClr val="176FBD"/>
                </a:solidFill>
                <a:latin typeface="Helvetica Neue"/>
                <a:ea typeface="Helvetica Neue"/>
                <a:cs typeface="Helvetica Neue"/>
              </a:defRPr>
            </a:lvl7pPr>
            <a:lvl8pPr>
              <a:defRPr sz="2100" b="1">
                <a:solidFill>
                  <a:srgbClr val="176FBD"/>
                </a:solidFill>
                <a:latin typeface="Helvetica Neue"/>
                <a:ea typeface="Helvetica Neue"/>
                <a:cs typeface="Helvetica Neue"/>
              </a:defRPr>
            </a:lvl8pPr>
            <a:lvl9pPr>
              <a:defRPr sz="2100" b="1">
                <a:solidFill>
                  <a:srgbClr val="176FBD"/>
                </a:solidFill>
                <a:latin typeface="Helvetica Neue"/>
                <a:ea typeface="Helvetica Neue"/>
                <a:cs typeface="Helvetica Neue"/>
              </a:defRPr>
            </a:lvl9pPr>
          </a:lstStyle>
          <a:p>
            <a:pPr>
              <a:defRPr sz="2100" b="1">
                <a:solidFill>
                  <a:srgbClr val="176FBD"/>
                </a:solidFill>
                <a:latin typeface="Helvetica Neue"/>
                <a:ea typeface="Helvetica Neue"/>
                <a:cs typeface="Helvetica Neue"/>
              </a:defRPr>
            </a:pPr>
            <a:r>
              <a:rPr sz="2100" b="1">
                <a:solidFill>
                  <a:srgbClr val="176FBD"/>
                </a:solidFill>
                <a:latin typeface="Helvetica Neue"/>
                <a:ea typeface="Helvetica Neue"/>
                <a:cs typeface="Helvetica Neue"/>
              </a:rPr>
              <a:t>Lift and grip</a:t>
            </a:r>
          </a:p>
        </p:txBody>
      </p:sp>
      <p:sp>
        <p:nvSpPr>
          <p:cNvPr id="5" name="Rectangle 4">
            <a:extLst>
              <a:ext uri="{FF2B5EF4-FFF2-40B4-BE49-F238E27FC236}">
                <a16:creationId xmlns:a16="http://schemas.microsoft.com/office/drawing/2014/main" id="{D8F21E4D-B569-4278-92F9-E32458371AE7}"/>
              </a:ext>
            </a:extLst>
          </p:cNvPr>
          <p:cNvSpPr>
            <a:spLocks noGrp="1"/>
          </p:cNvSpPr>
          <p:nvPr/>
        </p:nvSpPr>
        <p:spPr>
          <a:xfrm>
            <a:off x="3295650" y="1495425"/>
            <a:ext cx="8077200" cy="819150"/>
          </a:xfrm>
          <a:prstGeom prst="rect">
            <a:avLst/>
          </a:prstGeom>
          <a:noFill/>
          <a:ln w="0">
            <a:noFill/>
          </a:ln>
        </p:spPr>
        <p:txBody>
          <a:bodyPr lIns="0" tIns="0" rIns="0" bIns="0" anchor="ctr">
            <a:noAutofit/>
          </a:bodyPr>
          <a:lstStyle>
            <a:defPPr>
              <a:defRPr sz="2100" b="0">
                <a:solidFill>
                  <a:srgbClr val="14283F"/>
                </a:solidFill>
                <a:latin typeface="Helvetica Neue"/>
                <a:ea typeface="Helvetica Neue"/>
                <a:cs typeface="Helvetica Neue"/>
              </a:defRPr>
            </a:defPPr>
            <a:lvl1pPr>
              <a:defRPr sz="2100" b="0">
                <a:solidFill>
                  <a:srgbClr val="14283F"/>
                </a:solidFill>
                <a:latin typeface="Helvetica Neue"/>
                <a:ea typeface="Helvetica Neue"/>
                <a:cs typeface="Helvetica Neue"/>
              </a:defRPr>
            </a:lvl1pPr>
            <a:lvl2pPr>
              <a:defRPr sz="2100" b="0">
                <a:solidFill>
                  <a:srgbClr val="14283F"/>
                </a:solidFill>
                <a:latin typeface="Helvetica Neue"/>
                <a:ea typeface="Helvetica Neue"/>
                <a:cs typeface="Helvetica Neue"/>
              </a:defRPr>
            </a:lvl2pPr>
            <a:lvl3pPr>
              <a:defRPr sz="2100" b="0">
                <a:solidFill>
                  <a:srgbClr val="14283F"/>
                </a:solidFill>
                <a:latin typeface="Helvetica Neue"/>
                <a:ea typeface="Helvetica Neue"/>
                <a:cs typeface="Helvetica Neue"/>
              </a:defRPr>
            </a:lvl3pPr>
            <a:lvl4pPr>
              <a:defRPr sz="2100" b="0">
                <a:solidFill>
                  <a:srgbClr val="14283F"/>
                </a:solidFill>
                <a:latin typeface="Helvetica Neue"/>
                <a:ea typeface="Helvetica Neue"/>
                <a:cs typeface="Helvetica Neue"/>
              </a:defRPr>
            </a:lvl4pPr>
            <a:lvl5pPr>
              <a:defRPr sz="2100" b="0">
                <a:solidFill>
                  <a:srgbClr val="14283F"/>
                </a:solidFill>
                <a:latin typeface="Helvetica Neue"/>
                <a:ea typeface="Helvetica Neue"/>
                <a:cs typeface="Helvetica Neue"/>
              </a:defRPr>
            </a:lvl5pPr>
            <a:lvl6pPr>
              <a:defRPr sz="2100" b="0">
                <a:solidFill>
                  <a:srgbClr val="14283F"/>
                </a:solidFill>
                <a:latin typeface="Helvetica Neue"/>
                <a:ea typeface="Helvetica Neue"/>
                <a:cs typeface="Helvetica Neue"/>
              </a:defRPr>
            </a:lvl6pPr>
            <a:lvl7pPr>
              <a:defRPr sz="2100" b="0">
                <a:solidFill>
                  <a:srgbClr val="14283F"/>
                </a:solidFill>
                <a:latin typeface="Helvetica Neue"/>
                <a:ea typeface="Helvetica Neue"/>
                <a:cs typeface="Helvetica Neue"/>
              </a:defRPr>
            </a:lvl7pPr>
            <a:lvl8pPr>
              <a:defRPr sz="2100" b="0">
                <a:solidFill>
                  <a:srgbClr val="14283F"/>
                </a:solidFill>
                <a:latin typeface="Helvetica Neue"/>
                <a:ea typeface="Helvetica Neue"/>
                <a:cs typeface="Helvetica Neue"/>
              </a:defRPr>
            </a:lvl8pPr>
            <a:lvl9pPr>
              <a:defRPr sz="2100" b="0">
                <a:solidFill>
                  <a:srgbClr val="14283F"/>
                </a:solidFill>
                <a:latin typeface="Helvetica Neue"/>
                <a:ea typeface="Helvetica Neue"/>
                <a:cs typeface="Helvetica Neue"/>
              </a:defRPr>
            </a:lvl9pPr>
          </a:lstStyle>
          <a:p>
            <a:pPr>
              <a:defRPr sz="2100" b="0">
                <a:solidFill>
                  <a:srgbClr val="14283F"/>
                </a:solidFill>
                <a:latin typeface="Helvetica Neue"/>
                <a:ea typeface="Helvetica Neue"/>
                <a:cs typeface="Helvetica Neue"/>
              </a:defRPr>
            </a:pPr>
            <a:r>
              <a:rPr sz="2100" b="0">
                <a:solidFill>
                  <a:srgbClr val="14283F"/>
                </a:solidFill>
                <a:latin typeface="Helvetica Neue"/>
                <a:ea typeface="Helvetica Neue"/>
                <a:cs typeface="Helvetica Neue"/>
              </a:rPr>
              <a:t>Favor greater unsupported lift while the thumb and another finger keep contact. Reward held contact each step.</a:t>
            </a:r>
          </a:p>
        </p:txBody>
      </p:sp>
      <p:sp>
        <p:nvSpPr>
          <p:cNvPr id="6" name="Rectangle 5">
            <a:extLst>
              <a:ext uri="{FF2B5EF4-FFF2-40B4-BE49-F238E27FC236}">
                <a16:creationId xmlns:a16="http://schemas.microsoft.com/office/drawing/2014/main" id="{349CFA43-0194-4FD3-93A8-11C0C3172724}"/>
              </a:ext>
            </a:extLst>
          </p:cNvPr>
          <p:cNvSpPr>
            <a:spLocks noGrp="1"/>
          </p:cNvSpPr>
          <p:nvPr/>
        </p:nvSpPr>
        <p:spPr>
          <a:xfrm>
            <a:off x="685800" y="2505075"/>
            <a:ext cx="2381250" cy="819150"/>
          </a:xfrm>
          <a:prstGeom prst="rect">
            <a:avLst/>
          </a:prstGeom>
          <a:noFill/>
          <a:ln w="0">
            <a:noFill/>
          </a:ln>
        </p:spPr>
        <p:txBody>
          <a:bodyPr lIns="0" tIns="0" rIns="0" bIns="0" anchor="ctr">
            <a:noAutofit/>
          </a:bodyPr>
          <a:lstStyle>
            <a:defPPr>
              <a:defRPr sz="2100" b="1">
                <a:solidFill>
                  <a:srgbClr val="176FBD"/>
                </a:solidFill>
                <a:latin typeface="Helvetica Neue"/>
                <a:ea typeface="Helvetica Neue"/>
                <a:cs typeface="Helvetica Neue"/>
              </a:defRPr>
            </a:defPPr>
            <a:lvl1pPr>
              <a:defRPr sz="2100" b="1">
                <a:solidFill>
                  <a:srgbClr val="176FBD"/>
                </a:solidFill>
                <a:latin typeface="Helvetica Neue"/>
                <a:ea typeface="Helvetica Neue"/>
                <a:cs typeface="Helvetica Neue"/>
              </a:defRPr>
            </a:lvl1pPr>
            <a:lvl2pPr>
              <a:defRPr sz="2100" b="1">
                <a:solidFill>
                  <a:srgbClr val="176FBD"/>
                </a:solidFill>
                <a:latin typeface="Helvetica Neue"/>
                <a:ea typeface="Helvetica Neue"/>
                <a:cs typeface="Helvetica Neue"/>
              </a:defRPr>
            </a:lvl2pPr>
            <a:lvl3pPr>
              <a:defRPr sz="2100" b="1">
                <a:solidFill>
                  <a:srgbClr val="176FBD"/>
                </a:solidFill>
                <a:latin typeface="Helvetica Neue"/>
                <a:ea typeface="Helvetica Neue"/>
                <a:cs typeface="Helvetica Neue"/>
              </a:defRPr>
            </a:lvl3pPr>
            <a:lvl4pPr>
              <a:defRPr sz="2100" b="1">
                <a:solidFill>
                  <a:srgbClr val="176FBD"/>
                </a:solidFill>
                <a:latin typeface="Helvetica Neue"/>
                <a:ea typeface="Helvetica Neue"/>
                <a:cs typeface="Helvetica Neue"/>
              </a:defRPr>
            </a:lvl4pPr>
            <a:lvl5pPr>
              <a:defRPr sz="2100" b="1">
                <a:solidFill>
                  <a:srgbClr val="176FBD"/>
                </a:solidFill>
                <a:latin typeface="Helvetica Neue"/>
                <a:ea typeface="Helvetica Neue"/>
                <a:cs typeface="Helvetica Neue"/>
              </a:defRPr>
            </a:lvl5pPr>
            <a:lvl6pPr>
              <a:defRPr sz="2100" b="1">
                <a:solidFill>
                  <a:srgbClr val="176FBD"/>
                </a:solidFill>
                <a:latin typeface="Helvetica Neue"/>
                <a:ea typeface="Helvetica Neue"/>
                <a:cs typeface="Helvetica Neue"/>
              </a:defRPr>
            </a:lvl6pPr>
            <a:lvl7pPr>
              <a:defRPr sz="2100" b="1">
                <a:solidFill>
                  <a:srgbClr val="176FBD"/>
                </a:solidFill>
                <a:latin typeface="Helvetica Neue"/>
                <a:ea typeface="Helvetica Neue"/>
                <a:cs typeface="Helvetica Neue"/>
              </a:defRPr>
            </a:lvl7pPr>
            <a:lvl8pPr>
              <a:defRPr sz="2100" b="1">
                <a:solidFill>
                  <a:srgbClr val="176FBD"/>
                </a:solidFill>
                <a:latin typeface="Helvetica Neue"/>
                <a:ea typeface="Helvetica Neue"/>
                <a:cs typeface="Helvetica Neue"/>
              </a:defRPr>
            </a:lvl8pPr>
            <a:lvl9pPr>
              <a:defRPr sz="2100" b="1">
                <a:solidFill>
                  <a:srgbClr val="176FBD"/>
                </a:solidFill>
                <a:latin typeface="Helvetica Neue"/>
                <a:ea typeface="Helvetica Neue"/>
                <a:cs typeface="Helvetica Neue"/>
              </a:defRPr>
            </a:lvl9pPr>
          </a:lstStyle>
          <a:p>
            <a:pPr>
              <a:defRPr sz="2100" b="1">
                <a:solidFill>
                  <a:srgbClr val="176FBD"/>
                </a:solidFill>
                <a:latin typeface="Helvetica Neue"/>
                <a:ea typeface="Helvetica Neue"/>
                <a:cs typeface="Helvetica Neue"/>
              </a:defRPr>
            </a:pPr>
            <a:r>
              <a:rPr sz="2100" b="1">
                <a:solidFill>
                  <a:srgbClr val="176FBD"/>
                </a:solidFill>
                <a:latin typeface="Helvetica Neue"/>
                <a:ea typeface="Helvetica Neue"/>
                <a:cs typeface="Helvetica Neue"/>
              </a:rPr>
              <a:t>Support and motion</a:t>
            </a:r>
          </a:p>
        </p:txBody>
      </p:sp>
      <p:sp>
        <p:nvSpPr>
          <p:cNvPr id="7" name="Rectangle 6">
            <a:extLst>
              <a:ext uri="{FF2B5EF4-FFF2-40B4-BE49-F238E27FC236}">
                <a16:creationId xmlns:a16="http://schemas.microsoft.com/office/drawing/2014/main" id="{F85AD47F-49B5-45ED-9B2C-9169515A2725}"/>
              </a:ext>
            </a:extLst>
          </p:cNvPr>
          <p:cNvSpPr>
            <a:spLocks noGrp="1"/>
          </p:cNvSpPr>
          <p:nvPr/>
        </p:nvSpPr>
        <p:spPr>
          <a:xfrm>
            <a:off x="3295650" y="2505075"/>
            <a:ext cx="8077200" cy="819150"/>
          </a:xfrm>
          <a:prstGeom prst="rect">
            <a:avLst/>
          </a:prstGeom>
          <a:noFill/>
          <a:ln w="0">
            <a:noFill/>
          </a:ln>
        </p:spPr>
        <p:txBody>
          <a:bodyPr lIns="0" tIns="0" rIns="0" bIns="0" anchor="ctr">
            <a:noAutofit/>
          </a:bodyPr>
          <a:lstStyle>
            <a:defPPr>
              <a:defRPr sz="2100" b="0">
                <a:solidFill>
                  <a:srgbClr val="14283F"/>
                </a:solidFill>
                <a:latin typeface="Helvetica Neue"/>
                <a:ea typeface="Helvetica Neue"/>
                <a:cs typeface="Helvetica Neue"/>
              </a:defRPr>
            </a:defPPr>
            <a:lvl1pPr>
              <a:defRPr sz="2100" b="0">
                <a:solidFill>
                  <a:srgbClr val="14283F"/>
                </a:solidFill>
                <a:latin typeface="Helvetica Neue"/>
                <a:ea typeface="Helvetica Neue"/>
                <a:cs typeface="Helvetica Neue"/>
              </a:defRPr>
            </a:lvl1pPr>
            <a:lvl2pPr>
              <a:defRPr sz="2100" b="0">
                <a:solidFill>
                  <a:srgbClr val="14283F"/>
                </a:solidFill>
                <a:latin typeface="Helvetica Neue"/>
                <a:ea typeface="Helvetica Neue"/>
                <a:cs typeface="Helvetica Neue"/>
              </a:defRPr>
            </a:lvl2pPr>
            <a:lvl3pPr>
              <a:defRPr sz="2100" b="0">
                <a:solidFill>
                  <a:srgbClr val="14283F"/>
                </a:solidFill>
                <a:latin typeface="Helvetica Neue"/>
                <a:ea typeface="Helvetica Neue"/>
                <a:cs typeface="Helvetica Neue"/>
              </a:defRPr>
            </a:lvl3pPr>
            <a:lvl4pPr>
              <a:defRPr sz="2100" b="0">
                <a:solidFill>
                  <a:srgbClr val="14283F"/>
                </a:solidFill>
                <a:latin typeface="Helvetica Neue"/>
                <a:ea typeface="Helvetica Neue"/>
                <a:cs typeface="Helvetica Neue"/>
              </a:defRPr>
            </a:lvl4pPr>
            <a:lvl5pPr>
              <a:defRPr sz="2100" b="0">
                <a:solidFill>
                  <a:srgbClr val="14283F"/>
                </a:solidFill>
                <a:latin typeface="Helvetica Neue"/>
                <a:ea typeface="Helvetica Neue"/>
                <a:cs typeface="Helvetica Neue"/>
              </a:defRPr>
            </a:lvl5pPr>
            <a:lvl6pPr>
              <a:defRPr sz="2100" b="0">
                <a:solidFill>
                  <a:srgbClr val="14283F"/>
                </a:solidFill>
                <a:latin typeface="Helvetica Neue"/>
                <a:ea typeface="Helvetica Neue"/>
                <a:cs typeface="Helvetica Neue"/>
              </a:defRPr>
            </a:lvl6pPr>
            <a:lvl7pPr>
              <a:defRPr sz="2100" b="0">
                <a:solidFill>
                  <a:srgbClr val="14283F"/>
                </a:solidFill>
                <a:latin typeface="Helvetica Neue"/>
                <a:ea typeface="Helvetica Neue"/>
                <a:cs typeface="Helvetica Neue"/>
              </a:defRPr>
            </a:lvl7pPr>
            <a:lvl8pPr>
              <a:defRPr sz="2100" b="0">
                <a:solidFill>
                  <a:srgbClr val="14283F"/>
                </a:solidFill>
                <a:latin typeface="Helvetica Neue"/>
                <a:ea typeface="Helvetica Neue"/>
                <a:cs typeface="Helvetica Neue"/>
              </a:defRPr>
            </a:lvl8pPr>
            <a:lvl9pPr>
              <a:defRPr sz="2100" b="0">
                <a:solidFill>
                  <a:srgbClr val="14283F"/>
                </a:solidFill>
                <a:latin typeface="Helvetica Neue"/>
                <a:ea typeface="Helvetica Neue"/>
                <a:cs typeface="Helvetica Neue"/>
              </a:defRPr>
            </a:lvl9pPr>
          </a:lstStyle>
          <a:p>
            <a:pPr>
              <a:defRPr sz="2100" b="0">
                <a:solidFill>
                  <a:srgbClr val="14283F"/>
                </a:solidFill>
                <a:latin typeface="Helvetica Neue"/>
                <a:ea typeface="Helvetica Neue"/>
                <a:cs typeface="Helvetica Neue"/>
              </a:defRPr>
            </a:pPr>
            <a:r>
              <a:rPr sz="2100" b="0">
                <a:solidFill>
                  <a:srgbClr val="14283F"/>
                </a:solidFill>
                <a:latin typeface="Helvetica Neue"/>
                <a:ea typeface="Helvetica Neue"/>
                <a:cs typeface="Helvetica Neue"/>
              </a:rPr>
              <a:t>Penalize object support contact, hand contact with the table, grasp distance, and large motor commands.</a:t>
            </a:r>
          </a:p>
        </p:txBody>
      </p:sp>
      <p:sp>
        <p:nvSpPr>
          <p:cNvPr id="8" name="Rectangle 7">
            <a:extLst>
              <a:ext uri="{FF2B5EF4-FFF2-40B4-BE49-F238E27FC236}">
                <a16:creationId xmlns:a16="http://schemas.microsoft.com/office/drawing/2014/main" id="{C05690B7-940B-415F-922F-D30D173E2388}"/>
              </a:ext>
            </a:extLst>
          </p:cNvPr>
          <p:cNvSpPr>
            <a:spLocks noGrp="1"/>
          </p:cNvSpPr>
          <p:nvPr/>
        </p:nvSpPr>
        <p:spPr>
          <a:xfrm>
            <a:off x="685800" y="3514725"/>
            <a:ext cx="2381250" cy="819150"/>
          </a:xfrm>
          <a:prstGeom prst="rect">
            <a:avLst/>
          </a:prstGeom>
          <a:noFill/>
          <a:ln w="0">
            <a:noFill/>
          </a:ln>
        </p:spPr>
        <p:txBody>
          <a:bodyPr lIns="0" tIns="0" rIns="0" bIns="0" anchor="ctr">
            <a:noAutofit/>
          </a:bodyPr>
          <a:lstStyle>
            <a:defPPr>
              <a:defRPr sz="2100" b="1">
                <a:solidFill>
                  <a:srgbClr val="176FBD"/>
                </a:solidFill>
                <a:latin typeface="Helvetica Neue"/>
                <a:ea typeface="Helvetica Neue"/>
                <a:cs typeface="Helvetica Neue"/>
              </a:defRPr>
            </a:defPPr>
            <a:lvl1pPr>
              <a:defRPr sz="2100" b="1">
                <a:solidFill>
                  <a:srgbClr val="176FBD"/>
                </a:solidFill>
                <a:latin typeface="Helvetica Neue"/>
                <a:ea typeface="Helvetica Neue"/>
                <a:cs typeface="Helvetica Neue"/>
              </a:defRPr>
            </a:lvl1pPr>
            <a:lvl2pPr>
              <a:defRPr sz="2100" b="1">
                <a:solidFill>
                  <a:srgbClr val="176FBD"/>
                </a:solidFill>
                <a:latin typeface="Helvetica Neue"/>
                <a:ea typeface="Helvetica Neue"/>
                <a:cs typeface="Helvetica Neue"/>
              </a:defRPr>
            </a:lvl2pPr>
            <a:lvl3pPr>
              <a:defRPr sz="2100" b="1">
                <a:solidFill>
                  <a:srgbClr val="176FBD"/>
                </a:solidFill>
                <a:latin typeface="Helvetica Neue"/>
                <a:ea typeface="Helvetica Neue"/>
                <a:cs typeface="Helvetica Neue"/>
              </a:defRPr>
            </a:lvl3pPr>
            <a:lvl4pPr>
              <a:defRPr sz="2100" b="1">
                <a:solidFill>
                  <a:srgbClr val="176FBD"/>
                </a:solidFill>
                <a:latin typeface="Helvetica Neue"/>
                <a:ea typeface="Helvetica Neue"/>
                <a:cs typeface="Helvetica Neue"/>
              </a:defRPr>
            </a:lvl4pPr>
            <a:lvl5pPr>
              <a:defRPr sz="2100" b="1">
                <a:solidFill>
                  <a:srgbClr val="176FBD"/>
                </a:solidFill>
                <a:latin typeface="Helvetica Neue"/>
                <a:ea typeface="Helvetica Neue"/>
                <a:cs typeface="Helvetica Neue"/>
              </a:defRPr>
            </a:lvl5pPr>
            <a:lvl6pPr>
              <a:defRPr sz="2100" b="1">
                <a:solidFill>
                  <a:srgbClr val="176FBD"/>
                </a:solidFill>
                <a:latin typeface="Helvetica Neue"/>
                <a:ea typeface="Helvetica Neue"/>
                <a:cs typeface="Helvetica Neue"/>
              </a:defRPr>
            </a:lvl6pPr>
            <a:lvl7pPr>
              <a:defRPr sz="2100" b="1">
                <a:solidFill>
                  <a:srgbClr val="176FBD"/>
                </a:solidFill>
                <a:latin typeface="Helvetica Neue"/>
                <a:ea typeface="Helvetica Neue"/>
                <a:cs typeface="Helvetica Neue"/>
              </a:defRPr>
            </a:lvl7pPr>
            <a:lvl8pPr>
              <a:defRPr sz="2100" b="1">
                <a:solidFill>
                  <a:srgbClr val="176FBD"/>
                </a:solidFill>
                <a:latin typeface="Helvetica Neue"/>
                <a:ea typeface="Helvetica Neue"/>
                <a:cs typeface="Helvetica Neue"/>
              </a:defRPr>
            </a:lvl8pPr>
            <a:lvl9pPr>
              <a:defRPr sz="2100" b="1">
                <a:solidFill>
                  <a:srgbClr val="176FBD"/>
                </a:solidFill>
                <a:latin typeface="Helvetica Neue"/>
                <a:ea typeface="Helvetica Neue"/>
                <a:cs typeface="Helvetica Neue"/>
              </a:defRPr>
            </a:lvl9pPr>
          </a:lstStyle>
          <a:p>
            <a:pPr>
              <a:defRPr sz="2100" b="1">
                <a:solidFill>
                  <a:srgbClr val="176FBD"/>
                </a:solidFill>
                <a:latin typeface="Helvetica Neue"/>
                <a:ea typeface="Helvetica Neue"/>
                <a:cs typeface="Helvetica Neue"/>
              </a:defRPr>
            </a:pPr>
            <a:r>
              <a:rPr sz="2100" b="1">
                <a:solidFill>
                  <a:srgbClr val="176FBD"/>
                </a:solidFill>
                <a:latin typeface="Helvetica Neue"/>
                <a:ea typeface="Helvetica Neue"/>
                <a:cs typeface="Helvetica Neue"/>
              </a:rPr>
              <a:t>Episode score</a:t>
            </a:r>
          </a:p>
        </p:txBody>
      </p:sp>
      <p:sp>
        <p:nvSpPr>
          <p:cNvPr id="9" name="Rectangle 8">
            <a:extLst>
              <a:ext uri="{FF2B5EF4-FFF2-40B4-BE49-F238E27FC236}">
                <a16:creationId xmlns:a16="http://schemas.microsoft.com/office/drawing/2014/main" id="{BEB46598-7B31-4BD8-BFC2-DEB1A93AE97C}"/>
              </a:ext>
            </a:extLst>
          </p:cNvPr>
          <p:cNvSpPr>
            <a:spLocks noGrp="1"/>
          </p:cNvSpPr>
          <p:nvPr/>
        </p:nvSpPr>
        <p:spPr>
          <a:xfrm>
            <a:off x="3295650" y="3514725"/>
            <a:ext cx="8077200" cy="819150"/>
          </a:xfrm>
          <a:prstGeom prst="rect">
            <a:avLst/>
          </a:prstGeom>
          <a:noFill/>
          <a:ln w="0">
            <a:noFill/>
          </a:ln>
        </p:spPr>
        <p:txBody>
          <a:bodyPr lIns="0" tIns="0" rIns="0" bIns="0" anchor="ctr">
            <a:noAutofit/>
          </a:bodyPr>
          <a:lstStyle>
            <a:defPPr>
              <a:defRPr sz="2100" b="0">
                <a:solidFill>
                  <a:srgbClr val="14283F"/>
                </a:solidFill>
                <a:latin typeface="Helvetica Neue"/>
                <a:ea typeface="Helvetica Neue"/>
                <a:cs typeface="Helvetica Neue"/>
              </a:defRPr>
            </a:defPPr>
            <a:lvl1pPr>
              <a:defRPr sz="2100" b="0">
                <a:solidFill>
                  <a:srgbClr val="14283F"/>
                </a:solidFill>
                <a:latin typeface="Helvetica Neue"/>
                <a:ea typeface="Helvetica Neue"/>
                <a:cs typeface="Helvetica Neue"/>
              </a:defRPr>
            </a:lvl1pPr>
            <a:lvl2pPr>
              <a:defRPr sz="2100" b="0">
                <a:solidFill>
                  <a:srgbClr val="14283F"/>
                </a:solidFill>
                <a:latin typeface="Helvetica Neue"/>
                <a:ea typeface="Helvetica Neue"/>
                <a:cs typeface="Helvetica Neue"/>
              </a:defRPr>
            </a:lvl2pPr>
            <a:lvl3pPr>
              <a:defRPr sz="2100" b="0">
                <a:solidFill>
                  <a:srgbClr val="14283F"/>
                </a:solidFill>
                <a:latin typeface="Helvetica Neue"/>
                <a:ea typeface="Helvetica Neue"/>
                <a:cs typeface="Helvetica Neue"/>
              </a:defRPr>
            </a:lvl3pPr>
            <a:lvl4pPr>
              <a:defRPr sz="2100" b="0">
                <a:solidFill>
                  <a:srgbClr val="14283F"/>
                </a:solidFill>
                <a:latin typeface="Helvetica Neue"/>
                <a:ea typeface="Helvetica Neue"/>
                <a:cs typeface="Helvetica Neue"/>
              </a:defRPr>
            </a:lvl4pPr>
            <a:lvl5pPr>
              <a:defRPr sz="2100" b="0">
                <a:solidFill>
                  <a:srgbClr val="14283F"/>
                </a:solidFill>
                <a:latin typeface="Helvetica Neue"/>
                <a:ea typeface="Helvetica Neue"/>
                <a:cs typeface="Helvetica Neue"/>
              </a:defRPr>
            </a:lvl5pPr>
            <a:lvl6pPr>
              <a:defRPr sz="2100" b="0">
                <a:solidFill>
                  <a:srgbClr val="14283F"/>
                </a:solidFill>
                <a:latin typeface="Helvetica Neue"/>
                <a:ea typeface="Helvetica Neue"/>
                <a:cs typeface="Helvetica Neue"/>
              </a:defRPr>
            </a:lvl6pPr>
            <a:lvl7pPr>
              <a:defRPr sz="2100" b="0">
                <a:solidFill>
                  <a:srgbClr val="14283F"/>
                </a:solidFill>
                <a:latin typeface="Helvetica Neue"/>
                <a:ea typeface="Helvetica Neue"/>
                <a:cs typeface="Helvetica Neue"/>
              </a:defRPr>
            </a:lvl7pPr>
            <a:lvl8pPr>
              <a:defRPr sz="2100" b="0">
                <a:solidFill>
                  <a:srgbClr val="14283F"/>
                </a:solidFill>
                <a:latin typeface="Helvetica Neue"/>
                <a:ea typeface="Helvetica Neue"/>
                <a:cs typeface="Helvetica Neue"/>
              </a:defRPr>
            </a:lvl8pPr>
            <a:lvl9pPr>
              <a:defRPr sz="2100" b="0">
                <a:solidFill>
                  <a:srgbClr val="14283F"/>
                </a:solidFill>
                <a:latin typeface="Helvetica Neue"/>
                <a:ea typeface="Helvetica Neue"/>
                <a:cs typeface="Helvetica Neue"/>
              </a:defRPr>
            </a:lvl9pPr>
          </a:lstStyle>
          <a:p>
            <a:pPr>
              <a:defRPr sz="2100" b="0">
                <a:solidFill>
                  <a:srgbClr val="14283F"/>
                </a:solidFill>
                <a:latin typeface="Helvetica Neue"/>
                <a:ea typeface="Helvetica Neue"/>
                <a:cs typeface="Helvetica Neue"/>
              </a:defRPr>
            </a:pPr>
            <a:r>
              <a:rPr sz="2100" b="0">
                <a:solidFill>
                  <a:srgbClr val="14283F"/>
                </a:solidFill>
                <a:latin typeface="Helvetica Neue"/>
                <a:ea typeface="Helvetica Neue"/>
                <a:cs typeface="Helvetica Neue"/>
              </a:rPr>
              <a:t>Add 2,000 for success. Subtract 200 for torso contact and 80 for a drop during the focused rollout.</a:t>
            </a:r>
          </a:p>
        </p:txBody>
      </p:sp>
      <p:sp>
        <p:nvSpPr>
          <p:cNvPr id="10" name="Rectangle 9">
            <a:extLst>
              <a:ext uri="{FF2B5EF4-FFF2-40B4-BE49-F238E27FC236}">
                <a16:creationId xmlns:a16="http://schemas.microsoft.com/office/drawing/2014/main" id="{4D9CB080-B57E-402F-AA26-94D300EC1B3D}"/>
              </a:ext>
            </a:extLst>
          </p:cNvPr>
          <p:cNvSpPr>
            <a:spLocks noGrp="1"/>
          </p:cNvSpPr>
          <p:nvPr/>
        </p:nvSpPr>
        <p:spPr>
          <a:xfrm>
            <a:off x="685800" y="4524375"/>
            <a:ext cx="2381250" cy="819150"/>
          </a:xfrm>
          <a:prstGeom prst="rect">
            <a:avLst/>
          </a:prstGeom>
          <a:noFill/>
          <a:ln w="0">
            <a:noFill/>
          </a:ln>
        </p:spPr>
        <p:txBody>
          <a:bodyPr lIns="0" tIns="0" rIns="0" bIns="0" anchor="ctr">
            <a:noAutofit/>
          </a:bodyPr>
          <a:lstStyle>
            <a:defPPr>
              <a:defRPr sz="2100" b="1">
                <a:solidFill>
                  <a:srgbClr val="176FBD"/>
                </a:solidFill>
                <a:latin typeface="Helvetica Neue"/>
                <a:ea typeface="Helvetica Neue"/>
                <a:cs typeface="Helvetica Neue"/>
              </a:defRPr>
            </a:defPPr>
            <a:lvl1pPr>
              <a:defRPr sz="2100" b="1">
                <a:solidFill>
                  <a:srgbClr val="176FBD"/>
                </a:solidFill>
                <a:latin typeface="Helvetica Neue"/>
                <a:ea typeface="Helvetica Neue"/>
                <a:cs typeface="Helvetica Neue"/>
              </a:defRPr>
            </a:lvl1pPr>
            <a:lvl2pPr>
              <a:defRPr sz="2100" b="1">
                <a:solidFill>
                  <a:srgbClr val="176FBD"/>
                </a:solidFill>
                <a:latin typeface="Helvetica Neue"/>
                <a:ea typeface="Helvetica Neue"/>
                <a:cs typeface="Helvetica Neue"/>
              </a:defRPr>
            </a:lvl2pPr>
            <a:lvl3pPr>
              <a:defRPr sz="2100" b="1">
                <a:solidFill>
                  <a:srgbClr val="176FBD"/>
                </a:solidFill>
                <a:latin typeface="Helvetica Neue"/>
                <a:ea typeface="Helvetica Neue"/>
                <a:cs typeface="Helvetica Neue"/>
              </a:defRPr>
            </a:lvl3pPr>
            <a:lvl4pPr>
              <a:defRPr sz="2100" b="1">
                <a:solidFill>
                  <a:srgbClr val="176FBD"/>
                </a:solidFill>
                <a:latin typeface="Helvetica Neue"/>
                <a:ea typeface="Helvetica Neue"/>
                <a:cs typeface="Helvetica Neue"/>
              </a:defRPr>
            </a:lvl4pPr>
            <a:lvl5pPr>
              <a:defRPr sz="2100" b="1">
                <a:solidFill>
                  <a:srgbClr val="176FBD"/>
                </a:solidFill>
                <a:latin typeface="Helvetica Neue"/>
                <a:ea typeface="Helvetica Neue"/>
                <a:cs typeface="Helvetica Neue"/>
              </a:defRPr>
            </a:lvl5pPr>
            <a:lvl6pPr>
              <a:defRPr sz="2100" b="1">
                <a:solidFill>
                  <a:srgbClr val="176FBD"/>
                </a:solidFill>
                <a:latin typeface="Helvetica Neue"/>
                <a:ea typeface="Helvetica Neue"/>
                <a:cs typeface="Helvetica Neue"/>
              </a:defRPr>
            </a:lvl6pPr>
            <a:lvl7pPr>
              <a:defRPr sz="2100" b="1">
                <a:solidFill>
                  <a:srgbClr val="176FBD"/>
                </a:solidFill>
                <a:latin typeface="Helvetica Neue"/>
                <a:ea typeface="Helvetica Neue"/>
                <a:cs typeface="Helvetica Neue"/>
              </a:defRPr>
            </a:lvl7pPr>
            <a:lvl8pPr>
              <a:defRPr sz="2100" b="1">
                <a:solidFill>
                  <a:srgbClr val="176FBD"/>
                </a:solidFill>
                <a:latin typeface="Helvetica Neue"/>
                <a:ea typeface="Helvetica Neue"/>
                <a:cs typeface="Helvetica Neue"/>
              </a:defRPr>
            </a:lvl8pPr>
            <a:lvl9pPr>
              <a:defRPr sz="2100" b="1">
                <a:solidFill>
                  <a:srgbClr val="176FBD"/>
                </a:solidFill>
                <a:latin typeface="Helvetica Neue"/>
                <a:ea typeface="Helvetica Neue"/>
                <a:cs typeface="Helvetica Neue"/>
              </a:defRPr>
            </a:lvl9pPr>
          </a:lstStyle>
          <a:p>
            <a:pPr>
              <a:defRPr sz="2100" b="1">
                <a:solidFill>
                  <a:srgbClr val="176FBD"/>
                </a:solidFill>
                <a:latin typeface="Helvetica Neue"/>
                <a:ea typeface="Helvetica Neue"/>
                <a:cs typeface="Helvetica Neue"/>
              </a:defRPr>
            </a:pPr>
            <a:r>
              <a:rPr sz="2100" b="1">
                <a:solidFill>
                  <a:srgbClr val="176FBD"/>
                </a:solidFill>
                <a:latin typeface="Helvetica Neue"/>
                <a:ea typeface="Helvetica Neue"/>
                <a:cs typeface="Helvetica Neue"/>
              </a:rPr>
              <a:t>Torso-aware reaching</a:t>
            </a:r>
          </a:p>
        </p:txBody>
      </p:sp>
      <p:sp>
        <p:nvSpPr>
          <p:cNvPr id="11" name="Rectangle 10">
            <a:extLst>
              <a:ext uri="{FF2B5EF4-FFF2-40B4-BE49-F238E27FC236}">
                <a16:creationId xmlns:a16="http://schemas.microsoft.com/office/drawing/2014/main" id="{40233E57-45FE-4002-B5E5-6993C12EBBE8}"/>
              </a:ext>
            </a:extLst>
          </p:cNvPr>
          <p:cNvSpPr>
            <a:spLocks noGrp="1"/>
          </p:cNvSpPr>
          <p:nvPr/>
        </p:nvSpPr>
        <p:spPr>
          <a:xfrm>
            <a:off x="3295650" y="4524375"/>
            <a:ext cx="8077200" cy="819150"/>
          </a:xfrm>
          <a:prstGeom prst="rect">
            <a:avLst/>
          </a:prstGeom>
          <a:noFill/>
          <a:ln w="0">
            <a:noFill/>
          </a:ln>
        </p:spPr>
        <p:txBody>
          <a:bodyPr lIns="0" tIns="0" rIns="0" bIns="0" anchor="ctr">
            <a:noAutofit/>
          </a:bodyPr>
          <a:lstStyle>
            <a:defPPr>
              <a:defRPr sz="2100" b="0">
                <a:solidFill>
                  <a:srgbClr val="14283F"/>
                </a:solidFill>
                <a:latin typeface="Helvetica Neue"/>
                <a:ea typeface="Helvetica Neue"/>
                <a:cs typeface="Helvetica Neue"/>
              </a:defRPr>
            </a:defPPr>
            <a:lvl1pPr>
              <a:defRPr sz="2100" b="0">
                <a:solidFill>
                  <a:srgbClr val="14283F"/>
                </a:solidFill>
                <a:latin typeface="Helvetica Neue"/>
                <a:ea typeface="Helvetica Neue"/>
                <a:cs typeface="Helvetica Neue"/>
              </a:defRPr>
            </a:lvl1pPr>
            <a:lvl2pPr>
              <a:defRPr sz="2100" b="0">
                <a:solidFill>
                  <a:srgbClr val="14283F"/>
                </a:solidFill>
                <a:latin typeface="Helvetica Neue"/>
                <a:ea typeface="Helvetica Neue"/>
                <a:cs typeface="Helvetica Neue"/>
              </a:defRPr>
            </a:lvl2pPr>
            <a:lvl3pPr>
              <a:defRPr sz="2100" b="0">
                <a:solidFill>
                  <a:srgbClr val="14283F"/>
                </a:solidFill>
                <a:latin typeface="Helvetica Neue"/>
                <a:ea typeface="Helvetica Neue"/>
                <a:cs typeface="Helvetica Neue"/>
              </a:defRPr>
            </a:lvl3pPr>
            <a:lvl4pPr>
              <a:defRPr sz="2100" b="0">
                <a:solidFill>
                  <a:srgbClr val="14283F"/>
                </a:solidFill>
                <a:latin typeface="Helvetica Neue"/>
                <a:ea typeface="Helvetica Neue"/>
                <a:cs typeface="Helvetica Neue"/>
              </a:defRPr>
            </a:lvl4pPr>
            <a:lvl5pPr>
              <a:defRPr sz="2100" b="0">
                <a:solidFill>
                  <a:srgbClr val="14283F"/>
                </a:solidFill>
                <a:latin typeface="Helvetica Neue"/>
                <a:ea typeface="Helvetica Neue"/>
                <a:cs typeface="Helvetica Neue"/>
              </a:defRPr>
            </a:lvl5pPr>
            <a:lvl6pPr>
              <a:defRPr sz="2100" b="0">
                <a:solidFill>
                  <a:srgbClr val="14283F"/>
                </a:solidFill>
                <a:latin typeface="Helvetica Neue"/>
                <a:ea typeface="Helvetica Neue"/>
                <a:cs typeface="Helvetica Neue"/>
              </a:defRPr>
            </a:lvl6pPr>
            <a:lvl7pPr>
              <a:defRPr sz="2100" b="0">
                <a:solidFill>
                  <a:srgbClr val="14283F"/>
                </a:solidFill>
                <a:latin typeface="Helvetica Neue"/>
                <a:ea typeface="Helvetica Neue"/>
                <a:cs typeface="Helvetica Neue"/>
              </a:defRPr>
            </a:lvl7pPr>
            <a:lvl8pPr>
              <a:defRPr sz="2100" b="0">
                <a:solidFill>
                  <a:srgbClr val="14283F"/>
                </a:solidFill>
                <a:latin typeface="Helvetica Neue"/>
                <a:ea typeface="Helvetica Neue"/>
                <a:cs typeface="Helvetica Neue"/>
              </a:defRPr>
            </a:lvl8pPr>
            <a:lvl9pPr>
              <a:defRPr sz="2100" b="0">
                <a:solidFill>
                  <a:srgbClr val="14283F"/>
                </a:solidFill>
                <a:latin typeface="Helvetica Neue"/>
                <a:ea typeface="Helvetica Neue"/>
                <a:cs typeface="Helvetica Neue"/>
              </a:defRPr>
            </a:lvl9pPr>
          </a:lstStyle>
          <a:p>
            <a:pPr>
              <a:defRPr sz="2100" b="0">
                <a:solidFill>
                  <a:srgbClr val="14283F"/>
                </a:solidFill>
                <a:latin typeface="Helvetica Neue"/>
                <a:ea typeface="Helvetica Neue"/>
                <a:cs typeface="Helvetica Neue"/>
              </a:defRPr>
            </a:pPr>
            <a:r>
              <a:rPr sz="2100" b="0">
                <a:solidFill>
                  <a:srgbClr val="14283F"/>
                </a:solidFill>
                <a:latin typeface="Helvetica Neue"/>
                <a:ea typeface="Helvetica Neue"/>
                <a:cs typeface="Helvetica Neue"/>
              </a:rPr>
              <a:t>The preceding reach policy also learns from torso proximity and contact penalties. Slide 6 reports its audit.</a:t>
            </a:r>
          </a:p>
        </p:txBody>
      </p:sp>
      <p:sp>
        <p:nvSpPr>
          <p:cNvPr id="13" name="Rectangle 12">
            <a:extLst>
              <a:ext uri="{FF2B5EF4-FFF2-40B4-BE49-F238E27FC236}">
                <a16:creationId xmlns:a16="http://schemas.microsoft.com/office/drawing/2014/main" id="{F8CDF6AE-F812-4D40-8F2C-90F2827377D8}"/>
              </a:ext>
            </a:extLst>
          </p:cNvPr>
          <p:cNvSpPr>
            <a:spLocks noGrp="1"/>
          </p:cNvSpPr>
          <p:nvPr/>
        </p:nvSpPr>
        <p:spPr>
          <a:xfrm>
            <a:off x="11277600" y="6438900"/>
            <a:ext cx="381000" cy="228600"/>
          </a:xfrm>
          <a:prstGeom prst="rect">
            <a:avLst/>
          </a:prstGeom>
          <a:noFill/>
          <a:ln w="0">
            <a:noFill/>
          </a:ln>
        </p:spPr>
        <p:txBody>
          <a:bodyPr lIns="0" tIns="0" rIns="0" bIns="0" anchor="ctr">
            <a:noAutofit/>
          </a:bodyPr>
          <a:lstStyle>
            <a:defPPr>
              <a:defRPr sz="1425" b="0">
                <a:solidFill>
                  <a:srgbClr val="566779"/>
                </a:solidFill>
                <a:latin typeface="Helvetica Neue"/>
                <a:ea typeface="Helvetica Neue"/>
                <a:cs typeface="Helvetica Neue"/>
              </a:defRPr>
            </a:defPPr>
            <a:lvl1pPr>
              <a:defRPr sz="1425" b="0">
                <a:solidFill>
                  <a:srgbClr val="566779"/>
                </a:solidFill>
                <a:latin typeface="Helvetica Neue"/>
                <a:ea typeface="Helvetica Neue"/>
                <a:cs typeface="Helvetica Neue"/>
              </a:defRPr>
            </a:lvl1pPr>
            <a:lvl2pPr>
              <a:defRPr sz="1425" b="0">
                <a:solidFill>
                  <a:srgbClr val="566779"/>
                </a:solidFill>
                <a:latin typeface="Helvetica Neue"/>
                <a:ea typeface="Helvetica Neue"/>
                <a:cs typeface="Helvetica Neue"/>
              </a:defRPr>
            </a:lvl2pPr>
            <a:lvl3pPr>
              <a:defRPr sz="1425" b="0">
                <a:solidFill>
                  <a:srgbClr val="566779"/>
                </a:solidFill>
                <a:latin typeface="Helvetica Neue"/>
                <a:ea typeface="Helvetica Neue"/>
                <a:cs typeface="Helvetica Neue"/>
              </a:defRPr>
            </a:lvl3pPr>
            <a:lvl4pPr>
              <a:defRPr sz="1425" b="0">
                <a:solidFill>
                  <a:srgbClr val="566779"/>
                </a:solidFill>
                <a:latin typeface="Helvetica Neue"/>
                <a:ea typeface="Helvetica Neue"/>
                <a:cs typeface="Helvetica Neue"/>
              </a:defRPr>
            </a:lvl4pPr>
            <a:lvl5pPr>
              <a:defRPr sz="1425" b="0">
                <a:solidFill>
                  <a:srgbClr val="566779"/>
                </a:solidFill>
                <a:latin typeface="Helvetica Neue"/>
                <a:ea typeface="Helvetica Neue"/>
                <a:cs typeface="Helvetica Neue"/>
              </a:defRPr>
            </a:lvl5pPr>
            <a:lvl6pPr>
              <a:defRPr sz="1425" b="0">
                <a:solidFill>
                  <a:srgbClr val="566779"/>
                </a:solidFill>
                <a:latin typeface="Helvetica Neue"/>
                <a:ea typeface="Helvetica Neue"/>
                <a:cs typeface="Helvetica Neue"/>
              </a:defRPr>
            </a:lvl6pPr>
            <a:lvl7pPr>
              <a:defRPr sz="1425" b="0">
                <a:solidFill>
                  <a:srgbClr val="566779"/>
                </a:solidFill>
                <a:latin typeface="Helvetica Neue"/>
                <a:ea typeface="Helvetica Neue"/>
                <a:cs typeface="Helvetica Neue"/>
              </a:defRPr>
            </a:lvl7pPr>
            <a:lvl8pPr>
              <a:defRPr sz="1425" b="0">
                <a:solidFill>
                  <a:srgbClr val="566779"/>
                </a:solidFill>
                <a:latin typeface="Helvetica Neue"/>
                <a:ea typeface="Helvetica Neue"/>
                <a:cs typeface="Helvetica Neue"/>
              </a:defRPr>
            </a:lvl8pPr>
            <a:lvl9pPr>
              <a:defRPr sz="1425" b="0">
                <a:solidFill>
                  <a:srgbClr val="566779"/>
                </a:solidFill>
                <a:latin typeface="Helvetica Neue"/>
                <a:ea typeface="Helvetica Neue"/>
                <a:cs typeface="Helvetica Neue"/>
              </a:defRPr>
            </a:lvl9pPr>
          </a:lstStyle>
          <a:p>
            <a:pPr>
              <a:defRPr sz="1425" b="0">
                <a:solidFill>
                  <a:srgbClr val="566779"/>
                </a:solidFill>
                <a:latin typeface="Helvetica Neue"/>
                <a:ea typeface="Helvetica Neue"/>
                <a:cs typeface="Helvetica Neue"/>
              </a:defRPr>
            </a:pPr>
            <a:r>
              <a:rPr sz="1425" b="0">
                <a:solidFill>
                  <a:srgbClr val="566779"/>
                </a:solidFill>
                <a:latin typeface="Helvetica Neue"/>
                <a:ea typeface="Helvetica Neue"/>
                <a:cs typeface="Helvetica Neue"/>
              </a:rPr>
              <a:t>4</a:t>
            </a:r>
          </a:p>
        </p:txBody>
      </p:sp>
    </p:spTree>
    <p:extLst>
      <p:ext uri="{BB962C8B-B14F-4D97-AF65-F5344CB8AC3E}">
        <p14:creationId xmlns:p14="http://schemas.microsoft.com/office/powerpoint/2010/main" val="199091917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7BB1B255-88E8-4A18-A4F9-AD0332AA8C46}"/>
              </a:ext>
            </a:extLst>
          </p:cNvPr>
          <p:cNvSpPr>
            <a:spLocks noGrp="1"/>
          </p:cNvSpPr>
          <p:nvPr/>
        </p:nvSpPr>
        <p:spPr>
          <a:xfrm>
            <a:off x="609600" y="400050"/>
            <a:ext cx="10972800" cy="800100"/>
          </a:xfrm>
          <a:prstGeom prst="rect">
            <a:avLst/>
          </a:prstGeom>
          <a:noFill/>
          <a:ln w="0">
            <a:noFill/>
          </a:ln>
        </p:spPr>
        <p:txBody>
          <a:bodyPr lIns="0" tIns="0" rIns="0" bIns="0" anchor="ctr">
            <a:noAutofit/>
          </a:bodyPr>
          <a:lstStyle>
            <a:defPPr>
              <a:defRPr sz="3600" b="1">
                <a:solidFill>
                  <a:srgbClr val="14283F"/>
                </a:solidFill>
                <a:latin typeface="Helvetica Neue"/>
                <a:ea typeface="Helvetica Neue"/>
                <a:cs typeface="Helvetica Neue"/>
              </a:defRPr>
            </a:defPPr>
            <a:lvl1pPr>
              <a:defRPr sz="3600" b="1">
                <a:solidFill>
                  <a:srgbClr val="14283F"/>
                </a:solidFill>
                <a:latin typeface="Helvetica Neue"/>
                <a:ea typeface="Helvetica Neue"/>
                <a:cs typeface="Helvetica Neue"/>
              </a:defRPr>
            </a:lvl1pPr>
            <a:lvl2pPr>
              <a:defRPr sz="3600" b="1">
                <a:solidFill>
                  <a:srgbClr val="14283F"/>
                </a:solidFill>
                <a:latin typeface="Helvetica Neue"/>
                <a:ea typeface="Helvetica Neue"/>
                <a:cs typeface="Helvetica Neue"/>
              </a:defRPr>
            </a:lvl2pPr>
            <a:lvl3pPr>
              <a:defRPr sz="3600" b="1">
                <a:solidFill>
                  <a:srgbClr val="14283F"/>
                </a:solidFill>
                <a:latin typeface="Helvetica Neue"/>
                <a:ea typeface="Helvetica Neue"/>
                <a:cs typeface="Helvetica Neue"/>
              </a:defRPr>
            </a:lvl3pPr>
            <a:lvl4pPr>
              <a:defRPr sz="3600" b="1">
                <a:solidFill>
                  <a:srgbClr val="14283F"/>
                </a:solidFill>
                <a:latin typeface="Helvetica Neue"/>
                <a:ea typeface="Helvetica Neue"/>
                <a:cs typeface="Helvetica Neue"/>
              </a:defRPr>
            </a:lvl4pPr>
            <a:lvl5pPr>
              <a:defRPr sz="3600" b="1">
                <a:solidFill>
                  <a:srgbClr val="14283F"/>
                </a:solidFill>
                <a:latin typeface="Helvetica Neue"/>
                <a:ea typeface="Helvetica Neue"/>
                <a:cs typeface="Helvetica Neue"/>
              </a:defRPr>
            </a:lvl5pPr>
            <a:lvl6pPr>
              <a:defRPr sz="3600" b="1">
                <a:solidFill>
                  <a:srgbClr val="14283F"/>
                </a:solidFill>
                <a:latin typeface="Helvetica Neue"/>
                <a:ea typeface="Helvetica Neue"/>
                <a:cs typeface="Helvetica Neue"/>
              </a:defRPr>
            </a:lvl6pPr>
            <a:lvl7pPr>
              <a:defRPr sz="3600" b="1">
                <a:solidFill>
                  <a:srgbClr val="14283F"/>
                </a:solidFill>
                <a:latin typeface="Helvetica Neue"/>
                <a:ea typeface="Helvetica Neue"/>
                <a:cs typeface="Helvetica Neue"/>
              </a:defRPr>
            </a:lvl7pPr>
            <a:lvl8pPr>
              <a:defRPr sz="3600" b="1">
                <a:solidFill>
                  <a:srgbClr val="14283F"/>
                </a:solidFill>
                <a:latin typeface="Helvetica Neue"/>
                <a:ea typeface="Helvetica Neue"/>
                <a:cs typeface="Helvetica Neue"/>
              </a:defRPr>
            </a:lvl8pPr>
            <a:lvl9pPr>
              <a:defRPr sz="3600" b="1">
                <a:solidFill>
                  <a:srgbClr val="14283F"/>
                </a:solidFill>
                <a:latin typeface="Helvetica Neue"/>
                <a:ea typeface="Helvetica Neue"/>
                <a:cs typeface="Helvetica Neue"/>
              </a:defRPr>
            </a:lvl9pPr>
          </a:lstStyle>
          <a:p>
            <a:pPr>
              <a:defRPr sz="3600" b="1">
                <a:solidFill>
                  <a:srgbClr val="14283F"/>
                </a:solidFill>
                <a:latin typeface="Helvetica Neue"/>
                <a:ea typeface="Helvetica Neue"/>
                <a:cs typeface="Helvetica Neue"/>
              </a:defRPr>
            </a:pPr>
            <a:r>
              <a:rPr sz="3600" b="1">
                <a:solidFill>
                  <a:srgbClr val="14283F"/>
                </a:solidFill>
                <a:latin typeface="Helvetica Neue"/>
                <a:ea typeface="Helvetica Neue"/>
                <a:cs typeface="Helvetica Neue"/>
              </a:rPr>
              <a:t>Cross-entropy policy search</a:t>
            </a:r>
          </a:p>
        </p:txBody>
      </p:sp>
      <p:sp>
        <p:nvSpPr>
          <p:cNvPr id="4" name="Rectangle 3">
            <a:extLst>
              <a:ext uri="{FF2B5EF4-FFF2-40B4-BE49-F238E27FC236}">
                <a16:creationId xmlns:a16="http://schemas.microsoft.com/office/drawing/2014/main" id="{2C95CA7F-0196-4C8A-B9AC-9A4E846B538C}"/>
              </a:ext>
            </a:extLst>
          </p:cNvPr>
          <p:cNvSpPr>
            <a:spLocks noGrp="1"/>
          </p:cNvSpPr>
          <p:nvPr/>
        </p:nvSpPr>
        <p:spPr>
          <a:xfrm>
            <a:off x="685800" y="1495425"/>
            <a:ext cx="2381250" cy="819150"/>
          </a:xfrm>
          <a:prstGeom prst="rect">
            <a:avLst/>
          </a:prstGeom>
          <a:noFill/>
          <a:ln w="0">
            <a:noFill/>
          </a:ln>
        </p:spPr>
        <p:txBody>
          <a:bodyPr lIns="0" tIns="0" rIns="0" bIns="0" anchor="ctr">
            <a:noAutofit/>
          </a:bodyPr>
          <a:lstStyle>
            <a:defPPr>
              <a:defRPr sz="2100" b="1">
                <a:solidFill>
                  <a:srgbClr val="176FBD"/>
                </a:solidFill>
                <a:latin typeface="Helvetica Neue"/>
                <a:ea typeface="Helvetica Neue"/>
                <a:cs typeface="Helvetica Neue"/>
              </a:defRPr>
            </a:defPPr>
            <a:lvl1pPr>
              <a:defRPr sz="2100" b="1">
                <a:solidFill>
                  <a:srgbClr val="176FBD"/>
                </a:solidFill>
                <a:latin typeface="Helvetica Neue"/>
                <a:ea typeface="Helvetica Neue"/>
                <a:cs typeface="Helvetica Neue"/>
              </a:defRPr>
            </a:lvl1pPr>
            <a:lvl2pPr>
              <a:defRPr sz="2100" b="1">
                <a:solidFill>
                  <a:srgbClr val="176FBD"/>
                </a:solidFill>
                <a:latin typeface="Helvetica Neue"/>
                <a:ea typeface="Helvetica Neue"/>
                <a:cs typeface="Helvetica Neue"/>
              </a:defRPr>
            </a:lvl2pPr>
            <a:lvl3pPr>
              <a:defRPr sz="2100" b="1">
                <a:solidFill>
                  <a:srgbClr val="176FBD"/>
                </a:solidFill>
                <a:latin typeface="Helvetica Neue"/>
                <a:ea typeface="Helvetica Neue"/>
                <a:cs typeface="Helvetica Neue"/>
              </a:defRPr>
            </a:lvl3pPr>
            <a:lvl4pPr>
              <a:defRPr sz="2100" b="1">
                <a:solidFill>
                  <a:srgbClr val="176FBD"/>
                </a:solidFill>
                <a:latin typeface="Helvetica Neue"/>
                <a:ea typeface="Helvetica Neue"/>
                <a:cs typeface="Helvetica Neue"/>
              </a:defRPr>
            </a:lvl4pPr>
            <a:lvl5pPr>
              <a:defRPr sz="2100" b="1">
                <a:solidFill>
                  <a:srgbClr val="176FBD"/>
                </a:solidFill>
                <a:latin typeface="Helvetica Neue"/>
                <a:ea typeface="Helvetica Neue"/>
                <a:cs typeface="Helvetica Neue"/>
              </a:defRPr>
            </a:lvl5pPr>
            <a:lvl6pPr>
              <a:defRPr sz="2100" b="1">
                <a:solidFill>
                  <a:srgbClr val="176FBD"/>
                </a:solidFill>
                <a:latin typeface="Helvetica Neue"/>
                <a:ea typeface="Helvetica Neue"/>
                <a:cs typeface="Helvetica Neue"/>
              </a:defRPr>
            </a:lvl6pPr>
            <a:lvl7pPr>
              <a:defRPr sz="2100" b="1">
                <a:solidFill>
                  <a:srgbClr val="176FBD"/>
                </a:solidFill>
                <a:latin typeface="Helvetica Neue"/>
                <a:ea typeface="Helvetica Neue"/>
                <a:cs typeface="Helvetica Neue"/>
              </a:defRPr>
            </a:lvl7pPr>
            <a:lvl8pPr>
              <a:defRPr sz="2100" b="1">
                <a:solidFill>
                  <a:srgbClr val="176FBD"/>
                </a:solidFill>
                <a:latin typeface="Helvetica Neue"/>
                <a:ea typeface="Helvetica Neue"/>
                <a:cs typeface="Helvetica Neue"/>
              </a:defRPr>
            </a:lvl8pPr>
            <a:lvl9pPr>
              <a:defRPr sz="2100" b="1">
                <a:solidFill>
                  <a:srgbClr val="176FBD"/>
                </a:solidFill>
                <a:latin typeface="Helvetica Neue"/>
                <a:ea typeface="Helvetica Neue"/>
                <a:cs typeface="Helvetica Neue"/>
              </a:defRPr>
            </a:lvl9pPr>
          </a:lstStyle>
          <a:p>
            <a:pPr>
              <a:defRPr sz="2100" b="1">
                <a:solidFill>
                  <a:srgbClr val="176FBD"/>
                </a:solidFill>
                <a:latin typeface="Helvetica Neue"/>
                <a:ea typeface="Helvetica Neue"/>
                <a:cs typeface="Helvetica Neue"/>
              </a:defRPr>
            </a:pPr>
            <a:r>
              <a:rPr sz="2100" b="1">
                <a:solidFill>
                  <a:srgbClr val="176FBD"/>
                </a:solidFill>
                <a:latin typeface="Helvetica Neue"/>
                <a:ea typeface="Helvetica Neue"/>
                <a:cs typeface="Helvetica Neue"/>
              </a:rPr>
              <a:t>Motion parameters</a:t>
            </a:r>
          </a:p>
        </p:txBody>
      </p:sp>
      <p:sp>
        <p:nvSpPr>
          <p:cNvPr id="5" name="Rectangle 4">
            <a:extLst>
              <a:ext uri="{FF2B5EF4-FFF2-40B4-BE49-F238E27FC236}">
                <a16:creationId xmlns:a16="http://schemas.microsoft.com/office/drawing/2014/main" id="{03EAFFE8-0D59-4507-9C59-DF5563611AB5}"/>
              </a:ext>
            </a:extLst>
          </p:cNvPr>
          <p:cNvSpPr>
            <a:spLocks noGrp="1"/>
          </p:cNvSpPr>
          <p:nvPr/>
        </p:nvSpPr>
        <p:spPr>
          <a:xfrm>
            <a:off x="3295650" y="1495425"/>
            <a:ext cx="8077200" cy="819150"/>
          </a:xfrm>
          <a:prstGeom prst="rect">
            <a:avLst/>
          </a:prstGeom>
          <a:noFill/>
          <a:ln w="0">
            <a:noFill/>
          </a:ln>
        </p:spPr>
        <p:txBody>
          <a:bodyPr lIns="0" tIns="0" rIns="0" bIns="0" anchor="ctr">
            <a:noAutofit/>
          </a:bodyPr>
          <a:lstStyle>
            <a:defPPr>
              <a:defRPr sz="2100" b="0">
                <a:solidFill>
                  <a:srgbClr val="14283F"/>
                </a:solidFill>
                <a:latin typeface="Helvetica Neue"/>
                <a:ea typeface="Helvetica Neue"/>
                <a:cs typeface="Helvetica Neue"/>
              </a:defRPr>
            </a:defPPr>
            <a:lvl1pPr>
              <a:defRPr sz="2100" b="0">
                <a:solidFill>
                  <a:srgbClr val="14283F"/>
                </a:solidFill>
                <a:latin typeface="Helvetica Neue"/>
                <a:ea typeface="Helvetica Neue"/>
                <a:cs typeface="Helvetica Neue"/>
              </a:defRPr>
            </a:lvl1pPr>
            <a:lvl2pPr>
              <a:defRPr sz="2100" b="0">
                <a:solidFill>
                  <a:srgbClr val="14283F"/>
                </a:solidFill>
                <a:latin typeface="Helvetica Neue"/>
                <a:ea typeface="Helvetica Neue"/>
                <a:cs typeface="Helvetica Neue"/>
              </a:defRPr>
            </a:lvl2pPr>
            <a:lvl3pPr>
              <a:defRPr sz="2100" b="0">
                <a:solidFill>
                  <a:srgbClr val="14283F"/>
                </a:solidFill>
                <a:latin typeface="Helvetica Neue"/>
                <a:ea typeface="Helvetica Neue"/>
                <a:cs typeface="Helvetica Neue"/>
              </a:defRPr>
            </a:lvl3pPr>
            <a:lvl4pPr>
              <a:defRPr sz="2100" b="0">
                <a:solidFill>
                  <a:srgbClr val="14283F"/>
                </a:solidFill>
                <a:latin typeface="Helvetica Neue"/>
                <a:ea typeface="Helvetica Neue"/>
                <a:cs typeface="Helvetica Neue"/>
              </a:defRPr>
            </a:lvl4pPr>
            <a:lvl5pPr>
              <a:defRPr sz="2100" b="0">
                <a:solidFill>
                  <a:srgbClr val="14283F"/>
                </a:solidFill>
                <a:latin typeface="Helvetica Neue"/>
                <a:ea typeface="Helvetica Neue"/>
                <a:cs typeface="Helvetica Neue"/>
              </a:defRPr>
            </a:lvl5pPr>
            <a:lvl6pPr>
              <a:defRPr sz="2100" b="0">
                <a:solidFill>
                  <a:srgbClr val="14283F"/>
                </a:solidFill>
                <a:latin typeface="Helvetica Neue"/>
                <a:ea typeface="Helvetica Neue"/>
                <a:cs typeface="Helvetica Neue"/>
              </a:defRPr>
            </a:lvl6pPr>
            <a:lvl7pPr>
              <a:defRPr sz="2100" b="0">
                <a:solidFill>
                  <a:srgbClr val="14283F"/>
                </a:solidFill>
                <a:latin typeface="Helvetica Neue"/>
                <a:ea typeface="Helvetica Neue"/>
                <a:cs typeface="Helvetica Neue"/>
              </a:defRPr>
            </a:lvl7pPr>
            <a:lvl8pPr>
              <a:defRPr sz="2100" b="0">
                <a:solidFill>
                  <a:srgbClr val="14283F"/>
                </a:solidFill>
                <a:latin typeface="Helvetica Neue"/>
                <a:ea typeface="Helvetica Neue"/>
                <a:cs typeface="Helvetica Neue"/>
              </a:defRPr>
            </a:lvl8pPr>
            <a:lvl9pPr>
              <a:defRPr sz="2100" b="0">
                <a:solidFill>
                  <a:srgbClr val="14283F"/>
                </a:solidFill>
                <a:latin typeface="Helvetica Neue"/>
                <a:ea typeface="Helvetica Neue"/>
                <a:cs typeface="Helvetica Neue"/>
              </a:defRPr>
            </a:lvl9pPr>
          </a:lstStyle>
          <a:p>
            <a:pPr>
              <a:defRPr sz="2100" b="0">
                <a:solidFill>
                  <a:srgbClr val="14283F"/>
                </a:solidFill>
                <a:latin typeface="Helvetica Neue"/>
                <a:ea typeface="Helvetica Neue"/>
                <a:cs typeface="Helvetica Neue"/>
              </a:defRPr>
            </a:pPr>
            <a:r>
              <a:rPr sz="2100" b="0">
                <a:solidFill>
                  <a:srgbClr val="14283F"/>
                </a:solidFill>
                <a:latin typeface="Helvetica Neue"/>
                <a:ea typeface="Helvetica Neue"/>
                <a:cs typeface="Helvetica Neue"/>
              </a:rPr>
              <a:t>Three time knots each contain six commands. Linear interpolation produces a smooth 18-parameter motion.</a:t>
            </a:r>
          </a:p>
        </p:txBody>
      </p:sp>
      <p:sp>
        <p:nvSpPr>
          <p:cNvPr id="6" name="Rectangle 5">
            <a:extLst>
              <a:ext uri="{FF2B5EF4-FFF2-40B4-BE49-F238E27FC236}">
                <a16:creationId xmlns:a16="http://schemas.microsoft.com/office/drawing/2014/main" id="{234BF9DD-6623-4B44-86AB-20D06542C6AA}"/>
              </a:ext>
            </a:extLst>
          </p:cNvPr>
          <p:cNvSpPr>
            <a:spLocks noGrp="1"/>
          </p:cNvSpPr>
          <p:nvPr/>
        </p:nvSpPr>
        <p:spPr>
          <a:xfrm>
            <a:off x="685800" y="2505075"/>
            <a:ext cx="2381250" cy="819150"/>
          </a:xfrm>
          <a:prstGeom prst="rect">
            <a:avLst/>
          </a:prstGeom>
          <a:noFill/>
          <a:ln w="0">
            <a:noFill/>
          </a:ln>
        </p:spPr>
        <p:txBody>
          <a:bodyPr lIns="0" tIns="0" rIns="0" bIns="0" anchor="ctr">
            <a:noAutofit/>
          </a:bodyPr>
          <a:lstStyle>
            <a:defPPr>
              <a:defRPr sz="2100" b="1">
                <a:solidFill>
                  <a:srgbClr val="176FBD"/>
                </a:solidFill>
                <a:latin typeface="Helvetica Neue"/>
                <a:ea typeface="Helvetica Neue"/>
                <a:cs typeface="Helvetica Neue"/>
              </a:defRPr>
            </a:defPPr>
            <a:lvl1pPr>
              <a:defRPr sz="2100" b="1">
                <a:solidFill>
                  <a:srgbClr val="176FBD"/>
                </a:solidFill>
                <a:latin typeface="Helvetica Neue"/>
                <a:ea typeface="Helvetica Neue"/>
                <a:cs typeface="Helvetica Neue"/>
              </a:defRPr>
            </a:lvl1pPr>
            <a:lvl2pPr>
              <a:defRPr sz="2100" b="1">
                <a:solidFill>
                  <a:srgbClr val="176FBD"/>
                </a:solidFill>
                <a:latin typeface="Helvetica Neue"/>
                <a:ea typeface="Helvetica Neue"/>
                <a:cs typeface="Helvetica Neue"/>
              </a:defRPr>
            </a:lvl2pPr>
            <a:lvl3pPr>
              <a:defRPr sz="2100" b="1">
                <a:solidFill>
                  <a:srgbClr val="176FBD"/>
                </a:solidFill>
                <a:latin typeface="Helvetica Neue"/>
                <a:ea typeface="Helvetica Neue"/>
                <a:cs typeface="Helvetica Neue"/>
              </a:defRPr>
            </a:lvl3pPr>
            <a:lvl4pPr>
              <a:defRPr sz="2100" b="1">
                <a:solidFill>
                  <a:srgbClr val="176FBD"/>
                </a:solidFill>
                <a:latin typeface="Helvetica Neue"/>
                <a:ea typeface="Helvetica Neue"/>
                <a:cs typeface="Helvetica Neue"/>
              </a:defRPr>
            </a:lvl4pPr>
            <a:lvl5pPr>
              <a:defRPr sz="2100" b="1">
                <a:solidFill>
                  <a:srgbClr val="176FBD"/>
                </a:solidFill>
                <a:latin typeface="Helvetica Neue"/>
                <a:ea typeface="Helvetica Neue"/>
                <a:cs typeface="Helvetica Neue"/>
              </a:defRPr>
            </a:lvl5pPr>
            <a:lvl6pPr>
              <a:defRPr sz="2100" b="1">
                <a:solidFill>
                  <a:srgbClr val="176FBD"/>
                </a:solidFill>
                <a:latin typeface="Helvetica Neue"/>
                <a:ea typeface="Helvetica Neue"/>
                <a:cs typeface="Helvetica Neue"/>
              </a:defRPr>
            </a:lvl6pPr>
            <a:lvl7pPr>
              <a:defRPr sz="2100" b="1">
                <a:solidFill>
                  <a:srgbClr val="176FBD"/>
                </a:solidFill>
                <a:latin typeface="Helvetica Neue"/>
                <a:ea typeface="Helvetica Neue"/>
                <a:cs typeface="Helvetica Neue"/>
              </a:defRPr>
            </a:lvl7pPr>
            <a:lvl8pPr>
              <a:defRPr sz="2100" b="1">
                <a:solidFill>
                  <a:srgbClr val="176FBD"/>
                </a:solidFill>
                <a:latin typeface="Helvetica Neue"/>
                <a:ea typeface="Helvetica Neue"/>
                <a:cs typeface="Helvetica Neue"/>
              </a:defRPr>
            </a:lvl8pPr>
            <a:lvl9pPr>
              <a:defRPr sz="2100" b="1">
                <a:solidFill>
                  <a:srgbClr val="176FBD"/>
                </a:solidFill>
                <a:latin typeface="Helvetica Neue"/>
                <a:ea typeface="Helvetica Neue"/>
                <a:cs typeface="Helvetica Neue"/>
              </a:defRPr>
            </a:lvl9pPr>
          </a:lstStyle>
          <a:p>
            <a:pPr>
              <a:defRPr sz="2100" b="1">
                <a:solidFill>
                  <a:srgbClr val="176FBD"/>
                </a:solidFill>
                <a:latin typeface="Helvetica Neue"/>
                <a:ea typeface="Helvetica Neue"/>
                <a:cs typeface="Helvetica Neue"/>
              </a:defRPr>
            </a:pPr>
            <a:r>
              <a:rPr sz="2100" b="1">
                <a:solidFill>
                  <a:srgbClr val="176FBD"/>
                </a:solidFill>
                <a:latin typeface="Helvetica Neue"/>
                <a:ea typeface="Helvetica Neue"/>
                <a:cs typeface="Helvetica Neue"/>
              </a:rPr>
              <a:t>Candidate episodes</a:t>
            </a:r>
          </a:p>
        </p:txBody>
      </p:sp>
      <p:sp>
        <p:nvSpPr>
          <p:cNvPr id="7" name="Rectangle 6">
            <a:extLst>
              <a:ext uri="{FF2B5EF4-FFF2-40B4-BE49-F238E27FC236}">
                <a16:creationId xmlns:a16="http://schemas.microsoft.com/office/drawing/2014/main" id="{6E71209B-23E3-4CBD-8352-6B300409A8AC}"/>
              </a:ext>
            </a:extLst>
          </p:cNvPr>
          <p:cNvSpPr>
            <a:spLocks noGrp="1"/>
          </p:cNvSpPr>
          <p:nvPr/>
        </p:nvSpPr>
        <p:spPr>
          <a:xfrm>
            <a:off x="3295650" y="2505075"/>
            <a:ext cx="8077200" cy="819150"/>
          </a:xfrm>
          <a:prstGeom prst="rect">
            <a:avLst/>
          </a:prstGeom>
          <a:noFill/>
          <a:ln w="0">
            <a:noFill/>
          </a:ln>
        </p:spPr>
        <p:txBody>
          <a:bodyPr lIns="0" tIns="0" rIns="0" bIns="0" anchor="ctr">
            <a:noAutofit/>
          </a:bodyPr>
          <a:lstStyle>
            <a:defPPr>
              <a:defRPr sz="2100" b="0">
                <a:solidFill>
                  <a:srgbClr val="14283F"/>
                </a:solidFill>
                <a:latin typeface="Helvetica Neue"/>
                <a:ea typeface="Helvetica Neue"/>
                <a:cs typeface="Helvetica Neue"/>
              </a:defRPr>
            </a:defPPr>
            <a:lvl1pPr>
              <a:defRPr sz="2100" b="0">
                <a:solidFill>
                  <a:srgbClr val="14283F"/>
                </a:solidFill>
                <a:latin typeface="Helvetica Neue"/>
                <a:ea typeface="Helvetica Neue"/>
                <a:cs typeface="Helvetica Neue"/>
              </a:defRPr>
            </a:lvl1pPr>
            <a:lvl2pPr>
              <a:defRPr sz="2100" b="0">
                <a:solidFill>
                  <a:srgbClr val="14283F"/>
                </a:solidFill>
                <a:latin typeface="Helvetica Neue"/>
                <a:ea typeface="Helvetica Neue"/>
                <a:cs typeface="Helvetica Neue"/>
              </a:defRPr>
            </a:lvl2pPr>
            <a:lvl3pPr>
              <a:defRPr sz="2100" b="0">
                <a:solidFill>
                  <a:srgbClr val="14283F"/>
                </a:solidFill>
                <a:latin typeface="Helvetica Neue"/>
                <a:ea typeface="Helvetica Neue"/>
                <a:cs typeface="Helvetica Neue"/>
              </a:defRPr>
            </a:lvl3pPr>
            <a:lvl4pPr>
              <a:defRPr sz="2100" b="0">
                <a:solidFill>
                  <a:srgbClr val="14283F"/>
                </a:solidFill>
                <a:latin typeface="Helvetica Neue"/>
                <a:ea typeface="Helvetica Neue"/>
                <a:cs typeface="Helvetica Neue"/>
              </a:defRPr>
            </a:lvl4pPr>
            <a:lvl5pPr>
              <a:defRPr sz="2100" b="0">
                <a:solidFill>
                  <a:srgbClr val="14283F"/>
                </a:solidFill>
                <a:latin typeface="Helvetica Neue"/>
                <a:ea typeface="Helvetica Neue"/>
                <a:cs typeface="Helvetica Neue"/>
              </a:defRPr>
            </a:lvl5pPr>
            <a:lvl6pPr>
              <a:defRPr sz="2100" b="0">
                <a:solidFill>
                  <a:srgbClr val="14283F"/>
                </a:solidFill>
                <a:latin typeface="Helvetica Neue"/>
                <a:ea typeface="Helvetica Neue"/>
                <a:cs typeface="Helvetica Neue"/>
              </a:defRPr>
            </a:lvl6pPr>
            <a:lvl7pPr>
              <a:defRPr sz="2100" b="0">
                <a:solidFill>
                  <a:srgbClr val="14283F"/>
                </a:solidFill>
                <a:latin typeface="Helvetica Neue"/>
                <a:ea typeface="Helvetica Neue"/>
                <a:cs typeface="Helvetica Neue"/>
              </a:defRPr>
            </a:lvl7pPr>
            <a:lvl8pPr>
              <a:defRPr sz="2100" b="0">
                <a:solidFill>
                  <a:srgbClr val="14283F"/>
                </a:solidFill>
                <a:latin typeface="Helvetica Neue"/>
                <a:ea typeface="Helvetica Neue"/>
                <a:cs typeface="Helvetica Neue"/>
              </a:defRPr>
            </a:lvl8pPr>
            <a:lvl9pPr>
              <a:defRPr sz="2100" b="0">
                <a:solidFill>
                  <a:srgbClr val="14283F"/>
                </a:solidFill>
                <a:latin typeface="Helvetica Neue"/>
                <a:ea typeface="Helvetica Neue"/>
                <a:cs typeface="Helvetica Neue"/>
              </a:defRPr>
            </a:lvl9pPr>
          </a:lstStyle>
          <a:p>
            <a:pPr>
              <a:defRPr sz="2100" b="0">
                <a:solidFill>
                  <a:srgbClr val="14283F"/>
                </a:solidFill>
                <a:latin typeface="Helvetica Neue"/>
                <a:ea typeface="Helvetica Neue"/>
                <a:cs typeface="Helvetica Neue"/>
              </a:defRPr>
            </a:pPr>
            <a:r>
              <a:rPr sz="2100" b="0">
                <a:solidFill>
                  <a:srgbClr val="14283F"/>
                </a:solidFill>
                <a:latin typeface="Helvetica Neue"/>
                <a:ea typeface="Helvetica Neue"/>
                <a:cs typeface="Helvetica Neue"/>
              </a:rPr>
              <a:t>Sample 24 candidates per generation. Start every candidate from the same cached physical contact state.</a:t>
            </a:r>
          </a:p>
        </p:txBody>
      </p:sp>
      <p:sp>
        <p:nvSpPr>
          <p:cNvPr id="8" name="Rectangle 7">
            <a:extLst>
              <a:ext uri="{FF2B5EF4-FFF2-40B4-BE49-F238E27FC236}">
                <a16:creationId xmlns:a16="http://schemas.microsoft.com/office/drawing/2014/main" id="{EA9BB24B-D452-4C25-8AD7-9CF51C329CA6}"/>
              </a:ext>
            </a:extLst>
          </p:cNvPr>
          <p:cNvSpPr>
            <a:spLocks noGrp="1"/>
          </p:cNvSpPr>
          <p:nvPr/>
        </p:nvSpPr>
        <p:spPr>
          <a:xfrm>
            <a:off x="685800" y="3514725"/>
            <a:ext cx="2381250" cy="819150"/>
          </a:xfrm>
          <a:prstGeom prst="rect">
            <a:avLst/>
          </a:prstGeom>
          <a:noFill/>
          <a:ln w="0">
            <a:noFill/>
          </a:ln>
        </p:spPr>
        <p:txBody>
          <a:bodyPr lIns="0" tIns="0" rIns="0" bIns="0" anchor="ctr">
            <a:noAutofit/>
          </a:bodyPr>
          <a:lstStyle>
            <a:defPPr>
              <a:defRPr sz="2100" b="1">
                <a:solidFill>
                  <a:srgbClr val="176FBD"/>
                </a:solidFill>
                <a:latin typeface="Helvetica Neue"/>
                <a:ea typeface="Helvetica Neue"/>
                <a:cs typeface="Helvetica Neue"/>
              </a:defRPr>
            </a:defPPr>
            <a:lvl1pPr>
              <a:defRPr sz="2100" b="1">
                <a:solidFill>
                  <a:srgbClr val="176FBD"/>
                </a:solidFill>
                <a:latin typeface="Helvetica Neue"/>
                <a:ea typeface="Helvetica Neue"/>
                <a:cs typeface="Helvetica Neue"/>
              </a:defRPr>
            </a:lvl1pPr>
            <a:lvl2pPr>
              <a:defRPr sz="2100" b="1">
                <a:solidFill>
                  <a:srgbClr val="176FBD"/>
                </a:solidFill>
                <a:latin typeface="Helvetica Neue"/>
                <a:ea typeface="Helvetica Neue"/>
                <a:cs typeface="Helvetica Neue"/>
              </a:defRPr>
            </a:lvl2pPr>
            <a:lvl3pPr>
              <a:defRPr sz="2100" b="1">
                <a:solidFill>
                  <a:srgbClr val="176FBD"/>
                </a:solidFill>
                <a:latin typeface="Helvetica Neue"/>
                <a:ea typeface="Helvetica Neue"/>
                <a:cs typeface="Helvetica Neue"/>
              </a:defRPr>
            </a:lvl3pPr>
            <a:lvl4pPr>
              <a:defRPr sz="2100" b="1">
                <a:solidFill>
                  <a:srgbClr val="176FBD"/>
                </a:solidFill>
                <a:latin typeface="Helvetica Neue"/>
                <a:ea typeface="Helvetica Neue"/>
                <a:cs typeface="Helvetica Neue"/>
              </a:defRPr>
            </a:lvl4pPr>
            <a:lvl5pPr>
              <a:defRPr sz="2100" b="1">
                <a:solidFill>
                  <a:srgbClr val="176FBD"/>
                </a:solidFill>
                <a:latin typeface="Helvetica Neue"/>
                <a:ea typeface="Helvetica Neue"/>
                <a:cs typeface="Helvetica Neue"/>
              </a:defRPr>
            </a:lvl5pPr>
            <a:lvl6pPr>
              <a:defRPr sz="2100" b="1">
                <a:solidFill>
                  <a:srgbClr val="176FBD"/>
                </a:solidFill>
                <a:latin typeface="Helvetica Neue"/>
                <a:ea typeface="Helvetica Neue"/>
                <a:cs typeface="Helvetica Neue"/>
              </a:defRPr>
            </a:lvl6pPr>
            <a:lvl7pPr>
              <a:defRPr sz="2100" b="1">
                <a:solidFill>
                  <a:srgbClr val="176FBD"/>
                </a:solidFill>
                <a:latin typeface="Helvetica Neue"/>
                <a:ea typeface="Helvetica Neue"/>
                <a:cs typeface="Helvetica Neue"/>
              </a:defRPr>
            </a:lvl7pPr>
            <a:lvl8pPr>
              <a:defRPr sz="2100" b="1">
                <a:solidFill>
                  <a:srgbClr val="176FBD"/>
                </a:solidFill>
                <a:latin typeface="Helvetica Neue"/>
                <a:ea typeface="Helvetica Neue"/>
                <a:cs typeface="Helvetica Neue"/>
              </a:defRPr>
            </a:lvl8pPr>
            <a:lvl9pPr>
              <a:defRPr sz="2100" b="1">
                <a:solidFill>
                  <a:srgbClr val="176FBD"/>
                </a:solidFill>
                <a:latin typeface="Helvetica Neue"/>
                <a:ea typeface="Helvetica Neue"/>
                <a:cs typeface="Helvetica Neue"/>
              </a:defRPr>
            </a:lvl9pPr>
          </a:lstStyle>
          <a:p>
            <a:pPr>
              <a:defRPr sz="2100" b="1">
                <a:solidFill>
                  <a:srgbClr val="176FBD"/>
                </a:solidFill>
                <a:latin typeface="Helvetica Neue"/>
                <a:ea typeface="Helvetica Neue"/>
                <a:cs typeface="Helvetica Neue"/>
              </a:defRPr>
            </a:pPr>
            <a:r>
              <a:rPr sz="2100" b="1">
                <a:solidFill>
                  <a:srgbClr val="176FBD"/>
                </a:solidFill>
                <a:latin typeface="Helvetica Neue"/>
                <a:ea typeface="Helvetica Neue"/>
                <a:cs typeface="Helvetica Neue"/>
              </a:rPr>
              <a:t>Reward-based update</a:t>
            </a:r>
          </a:p>
        </p:txBody>
      </p:sp>
      <p:sp>
        <p:nvSpPr>
          <p:cNvPr id="9" name="Rectangle 8">
            <a:extLst>
              <a:ext uri="{FF2B5EF4-FFF2-40B4-BE49-F238E27FC236}">
                <a16:creationId xmlns:a16="http://schemas.microsoft.com/office/drawing/2014/main" id="{01BD380A-0E92-421F-961B-065067A03C59}"/>
              </a:ext>
            </a:extLst>
          </p:cNvPr>
          <p:cNvSpPr>
            <a:spLocks noGrp="1"/>
          </p:cNvSpPr>
          <p:nvPr/>
        </p:nvSpPr>
        <p:spPr>
          <a:xfrm>
            <a:off x="3295650" y="3514725"/>
            <a:ext cx="8077200" cy="819150"/>
          </a:xfrm>
          <a:prstGeom prst="rect">
            <a:avLst/>
          </a:prstGeom>
          <a:noFill/>
          <a:ln w="0">
            <a:noFill/>
          </a:ln>
        </p:spPr>
        <p:txBody>
          <a:bodyPr lIns="0" tIns="0" rIns="0" bIns="0" anchor="ctr">
            <a:noAutofit/>
          </a:bodyPr>
          <a:lstStyle>
            <a:defPPr>
              <a:defRPr sz="2100" b="0">
                <a:solidFill>
                  <a:srgbClr val="14283F"/>
                </a:solidFill>
                <a:latin typeface="Helvetica Neue"/>
                <a:ea typeface="Helvetica Neue"/>
                <a:cs typeface="Helvetica Neue"/>
              </a:defRPr>
            </a:defPPr>
            <a:lvl1pPr>
              <a:defRPr sz="2100" b="0">
                <a:solidFill>
                  <a:srgbClr val="14283F"/>
                </a:solidFill>
                <a:latin typeface="Helvetica Neue"/>
                <a:ea typeface="Helvetica Neue"/>
                <a:cs typeface="Helvetica Neue"/>
              </a:defRPr>
            </a:lvl1pPr>
            <a:lvl2pPr>
              <a:defRPr sz="2100" b="0">
                <a:solidFill>
                  <a:srgbClr val="14283F"/>
                </a:solidFill>
                <a:latin typeface="Helvetica Neue"/>
                <a:ea typeface="Helvetica Neue"/>
                <a:cs typeface="Helvetica Neue"/>
              </a:defRPr>
            </a:lvl2pPr>
            <a:lvl3pPr>
              <a:defRPr sz="2100" b="0">
                <a:solidFill>
                  <a:srgbClr val="14283F"/>
                </a:solidFill>
                <a:latin typeface="Helvetica Neue"/>
                <a:ea typeface="Helvetica Neue"/>
                <a:cs typeface="Helvetica Neue"/>
              </a:defRPr>
            </a:lvl3pPr>
            <a:lvl4pPr>
              <a:defRPr sz="2100" b="0">
                <a:solidFill>
                  <a:srgbClr val="14283F"/>
                </a:solidFill>
                <a:latin typeface="Helvetica Neue"/>
                <a:ea typeface="Helvetica Neue"/>
                <a:cs typeface="Helvetica Neue"/>
              </a:defRPr>
            </a:lvl4pPr>
            <a:lvl5pPr>
              <a:defRPr sz="2100" b="0">
                <a:solidFill>
                  <a:srgbClr val="14283F"/>
                </a:solidFill>
                <a:latin typeface="Helvetica Neue"/>
                <a:ea typeface="Helvetica Neue"/>
                <a:cs typeface="Helvetica Neue"/>
              </a:defRPr>
            </a:lvl5pPr>
            <a:lvl6pPr>
              <a:defRPr sz="2100" b="0">
                <a:solidFill>
                  <a:srgbClr val="14283F"/>
                </a:solidFill>
                <a:latin typeface="Helvetica Neue"/>
                <a:ea typeface="Helvetica Neue"/>
                <a:cs typeface="Helvetica Neue"/>
              </a:defRPr>
            </a:lvl6pPr>
            <a:lvl7pPr>
              <a:defRPr sz="2100" b="0">
                <a:solidFill>
                  <a:srgbClr val="14283F"/>
                </a:solidFill>
                <a:latin typeface="Helvetica Neue"/>
                <a:ea typeface="Helvetica Neue"/>
                <a:cs typeface="Helvetica Neue"/>
              </a:defRPr>
            </a:lvl7pPr>
            <a:lvl8pPr>
              <a:defRPr sz="2100" b="0">
                <a:solidFill>
                  <a:srgbClr val="14283F"/>
                </a:solidFill>
                <a:latin typeface="Helvetica Neue"/>
                <a:ea typeface="Helvetica Neue"/>
                <a:cs typeface="Helvetica Neue"/>
              </a:defRPr>
            </a:lvl8pPr>
            <a:lvl9pPr>
              <a:defRPr sz="2100" b="0">
                <a:solidFill>
                  <a:srgbClr val="14283F"/>
                </a:solidFill>
                <a:latin typeface="Helvetica Neue"/>
                <a:ea typeface="Helvetica Neue"/>
                <a:cs typeface="Helvetica Neue"/>
              </a:defRPr>
            </a:lvl9pPr>
          </a:lstStyle>
          <a:p>
            <a:pPr>
              <a:defRPr sz="2100" b="0">
                <a:solidFill>
                  <a:srgbClr val="14283F"/>
                </a:solidFill>
                <a:latin typeface="Helvetica Neue"/>
                <a:ea typeface="Helvetica Neue"/>
                <a:cs typeface="Helvetica Neue"/>
              </a:defRPr>
            </a:pPr>
            <a:r>
              <a:rPr sz="2100" b="0">
                <a:solidFill>
                  <a:srgbClr val="14283F"/>
                </a:solidFill>
                <a:latin typeface="Helvetica Neue"/>
                <a:ea typeface="Helvetica Neue"/>
                <a:cs typeface="Helvetica Neue"/>
              </a:rPr>
              <a:t>Keep the four highest-return candidates. Update the sampling mean and spread toward those candidates.</a:t>
            </a:r>
          </a:p>
        </p:txBody>
      </p:sp>
      <p:sp>
        <p:nvSpPr>
          <p:cNvPr id="10" name="Rectangle 9">
            <a:extLst>
              <a:ext uri="{FF2B5EF4-FFF2-40B4-BE49-F238E27FC236}">
                <a16:creationId xmlns:a16="http://schemas.microsoft.com/office/drawing/2014/main" id="{E86131B6-3C5D-4A56-92E6-B05D3361E634}"/>
              </a:ext>
            </a:extLst>
          </p:cNvPr>
          <p:cNvSpPr>
            <a:spLocks noGrp="1"/>
          </p:cNvSpPr>
          <p:nvPr/>
        </p:nvSpPr>
        <p:spPr>
          <a:xfrm>
            <a:off x="685800" y="4524375"/>
            <a:ext cx="2381250" cy="819150"/>
          </a:xfrm>
          <a:prstGeom prst="rect">
            <a:avLst/>
          </a:prstGeom>
          <a:noFill/>
          <a:ln w="0">
            <a:noFill/>
          </a:ln>
        </p:spPr>
        <p:txBody>
          <a:bodyPr lIns="0" tIns="0" rIns="0" bIns="0" anchor="ctr">
            <a:noAutofit/>
          </a:bodyPr>
          <a:lstStyle>
            <a:defPPr>
              <a:defRPr sz="2100" b="1">
                <a:solidFill>
                  <a:srgbClr val="176FBD"/>
                </a:solidFill>
                <a:latin typeface="Helvetica Neue"/>
                <a:ea typeface="Helvetica Neue"/>
                <a:cs typeface="Helvetica Neue"/>
              </a:defRPr>
            </a:defPPr>
            <a:lvl1pPr>
              <a:defRPr sz="2100" b="1">
                <a:solidFill>
                  <a:srgbClr val="176FBD"/>
                </a:solidFill>
                <a:latin typeface="Helvetica Neue"/>
                <a:ea typeface="Helvetica Neue"/>
                <a:cs typeface="Helvetica Neue"/>
              </a:defRPr>
            </a:lvl1pPr>
            <a:lvl2pPr>
              <a:defRPr sz="2100" b="1">
                <a:solidFill>
                  <a:srgbClr val="176FBD"/>
                </a:solidFill>
                <a:latin typeface="Helvetica Neue"/>
                <a:ea typeface="Helvetica Neue"/>
                <a:cs typeface="Helvetica Neue"/>
              </a:defRPr>
            </a:lvl2pPr>
            <a:lvl3pPr>
              <a:defRPr sz="2100" b="1">
                <a:solidFill>
                  <a:srgbClr val="176FBD"/>
                </a:solidFill>
                <a:latin typeface="Helvetica Neue"/>
                <a:ea typeface="Helvetica Neue"/>
                <a:cs typeface="Helvetica Neue"/>
              </a:defRPr>
            </a:lvl3pPr>
            <a:lvl4pPr>
              <a:defRPr sz="2100" b="1">
                <a:solidFill>
                  <a:srgbClr val="176FBD"/>
                </a:solidFill>
                <a:latin typeface="Helvetica Neue"/>
                <a:ea typeface="Helvetica Neue"/>
                <a:cs typeface="Helvetica Neue"/>
              </a:defRPr>
            </a:lvl4pPr>
            <a:lvl5pPr>
              <a:defRPr sz="2100" b="1">
                <a:solidFill>
                  <a:srgbClr val="176FBD"/>
                </a:solidFill>
                <a:latin typeface="Helvetica Neue"/>
                <a:ea typeface="Helvetica Neue"/>
                <a:cs typeface="Helvetica Neue"/>
              </a:defRPr>
            </a:lvl5pPr>
            <a:lvl6pPr>
              <a:defRPr sz="2100" b="1">
                <a:solidFill>
                  <a:srgbClr val="176FBD"/>
                </a:solidFill>
                <a:latin typeface="Helvetica Neue"/>
                <a:ea typeface="Helvetica Neue"/>
                <a:cs typeface="Helvetica Neue"/>
              </a:defRPr>
            </a:lvl6pPr>
            <a:lvl7pPr>
              <a:defRPr sz="2100" b="1">
                <a:solidFill>
                  <a:srgbClr val="176FBD"/>
                </a:solidFill>
                <a:latin typeface="Helvetica Neue"/>
                <a:ea typeface="Helvetica Neue"/>
                <a:cs typeface="Helvetica Neue"/>
              </a:defRPr>
            </a:lvl7pPr>
            <a:lvl8pPr>
              <a:defRPr sz="2100" b="1">
                <a:solidFill>
                  <a:srgbClr val="176FBD"/>
                </a:solidFill>
                <a:latin typeface="Helvetica Neue"/>
                <a:ea typeface="Helvetica Neue"/>
                <a:cs typeface="Helvetica Neue"/>
              </a:defRPr>
            </a:lvl8pPr>
            <a:lvl9pPr>
              <a:defRPr sz="2100" b="1">
                <a:solidFill>
                  <a:srgbClr val="176FBD"/>
                </a:solidFill>
                <a:latin typeface="Helvetica Neue"/>
                <a:ea typeface="Helvetica Neue"/>
                <a:cs typeface="Helvetica Neue"/>
              </a:defRPr>
            </a:lvl9pPr>
          </a:lstStyle>
          <a:p>
            <a:pPr>
              <a:defRPr sz="2100" b="1">
                <a:solidFill>
                  <a:srgbClr val="176FBD"/>
                </a:solidFill>
                <a:latin typeface="Helvetica Neue"/>
                <a:ea typeface="Helvetica Neue"/>
                <a:cs typeface="Helvetica Neue"/>
              </a:defRPr>
            </a:pPr>
            <a:r>
              <a:rPr sz="2100" b="1">
                <a:solidFill>
                  <a:srgbClr val="176FBD"/>
                </a:solidFill>
                <a:latin typeface="Helvetica Neue"/>
                <a:ea typeface="Helvetica Neue"/>
                <a:cs typeface="Helvetica Neue"/>
              </a:rPr>
              <a:t>Training budget</a:t>
            </a:r>
          </a:p>
        </p:txBody>
      </p:sp>
      <p:sp>
        <p:nvSpPr>
          <p:cNvPr id="11" name="Rectangle 10">
            <a:extLst>
              <a:ext uri="{FF2B5EF4-FFF2-40B4-BE49-F238E27FC236}">
                <a16:creationId xmlns:a16="http://schemas.microsoft.com/office/drawing/2014/main" id="{42D7577A-9060-4A4A-843E-269E8ECD81F3}"/>
              </a:ext>
            </a:extLst>
          </p:cNvPr>
          <p:cNvSpPr>
            <a:spLocks noGrp="1"/>
          </p:cNvSpPr>
          <p:nvPr/>
        </p:nvSpPr>
        <p:spPr>
          <a:xfrm>
            <a:off x="3295650" y="4524375"/>
            <a:ext cx="8077200" cy="819150"/>
          </a:xfrm>
          <a:prstGeom prst="rect">
            <a:avLst/>
          </a:prstGeom>
          <a:noFill/>
          <a:ln w="0">
            <a:noFill/>
          </a:ln>
        </p:spPr>
        <p:txBody>
          <a:bodyPr lIns="0" tIns="0" rIns="0" bIns="0" anchor="ctr">
            <a:noAutofit/>
          </a:bodyPr>
          <a:lstStyle>
            <a:defPPr>
              <a:defRPr sz="2100" b="0">
                <a:solidFill>
                  <a:srgbClr val="14283F"/>
                </a:solidFill>
                <a:latin typeface="Helvetica Neue"/>
                <a:ea typeface="Helvetica Neue"/>
                <a:cs typeface="Helvetica Neue"/>
              </a:defRPr>
            </a:defPPr>
            <a:lvl1pPr>
              <a:defRPr sz="2100" b="0">
                <a:solidFill>
                  <a:srgbClr val="14283F"/>
                </a:solidFill>
                <a:latin typeface="Helvetica Neue"/>
                <a:ea typeface="Helvetica Neue"/>
                <a:cs typeface="Helvetica Neue"/>
              </a:defRPr>
            </a:lvl1pPr>
            <a:lvl2pPr>
              <a:defRPr sz="2100" b="0">
                <a:solidFill>
                  <a:srgbClr val="14283F"/>
                </a:solidFill>
                <a:latin typeface="Helvetica Neue"/>
                <a:ea typeface="Helvetica Neue"/>
                <a:cs typeface="Helvetica Neue"/>
              </a:defRPr>
            </a:lvl2pPr>
            <a:lvl3pPr>
              <a:defRPr sz="2100" b="0">
                <a:solidFill>
                  <a:srgbClr val="14283F"/>
                </a:solidFill>
                <a:latin typeface="Helvetica Neue"/>
                <a:ea typeface="Helvetica Neue"/>
                <a:cs typeface="Helvetica Neue"/>
              </a:defRPr>
            </a:lvl3pPr>
            <a:lvl4pPr>
              <a:defRPr sz="2100" b="0">
                <a:solidFill>
                  <a:srgbClr val="14283F"/>
                </a:solidFill>
                <a:latin typeface="Helvetica Neue"/>
                <a:ea typeface="Helvetica Neue"/>
                <a:cs typeface="Helvetica Neue"/>
              </a:defRPr>
            </a:lvl4pPr>
            <a:lvl5pPr>
              <a:defRPr sz="2100" b="0">
                <a:solidFill>
                  <a:srgbClr val="14283F"/>
                </a:solidFill>
                <a:latin typeface="Helvetica Neue"/>
                <a:ea typeface="Helvetica Neue"/>
                <a:cs typeface="Helvetica Neue"/>
              </a:defRPr>
            </a:lvl5pPr>
            <a:lvl6pPr>
              <a:defRPr sz="2100" b="0">
                <a:solidFill>
                  <a:srgbClr val="14283F"/>
                </a:solidFill>
                <a:latin typeface="Helvetica Neue"/>
                <a:ea typeface="Helvetica Neue"/>
                <a:cs typeface="Helvetica Neue"/>
              </a:defRPr>
            </a:lvl6pPr>
            <a:lvl7pPr>
              <a:defRPr sz="2100" b="0">
                <a:solidFill>
                  <a:srgbClr val="14283F"/>
                </a:solidFill>
                <a:latin typeface="Helvetica Neue"/>
                <a:ea typeface="Helvetica Neue"/>
                <a:cs typeface="Helvetica Neue"/>
              </a:defRPr>
            </a:lvl7pPr>
            <a:lvl8pPr>
              <a:defRPr sz="2100" b="0">
                <a:solidFill>
                  <a:srgbClr val="14283F"/>
                </a:solidFill>
                <a:latin typeface="Helvetica Neue"/>
                <a:ea typeface="Helvetica Neue"/>
                <a:cs typeface="Helvetica Neue"/>
              </a:defRPr>
            </a:lvl8pPr>
            <a:lvl9pPr>
              <a:defRPr sz="2100" b="0">
                <a:solidFill>
                  <a:srgbClr val="14283F"/>
                </a:solidFill>
                <a:latin typeface="Helvetica Neue"/>
                <a:ea typeface="Helvetica Neue"/>
                <a:cs typeface="Helvetica Neue"/>
              </a:defRPr>
            </a:lvl9pPr>
          </a:lstStyle>
          <a:p>
            <a:pPr>
              <a:defRPr sz="2100" b="0">
                <a:solidFill>
                  <a:srgbClr val="14283F"/>
                </a:solidFill>
                <a:latin typeface="Helvetica Neue"/>
                <a:ea typeface="Helvetica Neue"/>
                <a:cs typeface="Helvetica Neue"/>
              </a:defRPr>
            </a:pPr>
            <a:r>
              <a:rPr sz="2100" b="0">
                <a:solidFill>
                  <a:srgbClr val="14283F"/>
                </a:solidFill>
                <a:latin typeface="Helvetica Neue"/>
                <a:ea typeface="Helvetica Neue"/>
                <a:cs typeface="Helvetica Neue"/>
              </a:rPr>
              <a:t>Five generations use 120 search episodes. Save the best motion and test it on fresh nearby contact states.</a:t>
            </a:r>
          </a:p>
        </p:txBody>
      </p:sp>
      <p:sp>
        <p:nvSpPr>
          <p:cNvPr id="13" name="Rectangle 12">
            <a:extLst>
              <a:ext uri="{FF2B5EF4-FFF2-40B4-BE49-F238E27FC236}">
                <a16:creationId xmlns:a16="http://schemas.microsoft.com/office/drawing/2014/main" id="{97DE918E-85B1-4E82-9C63-07E6817EE86D}"/>
              </a:ext>
            </a:extLst>
          </p:cNvPr>
          <p:cNvSpPr>
            <a:spLocks noGrp="1"/>
          </p:cNvSpPr>
          <p:nvPr/>
        </p:nvSpPr>
        <p:spPr>
          <a:xfrm>
            <a:off x="11277600" y="6438900"/>
            <a:ext cx="381000" cy="228600"/>
          </a:xfrm>
          <a:prstGeom prst="rect">
            <a:avLst/>
          </a:prstGeom>
          <a:noFill/>
          <a:ln w="0">
            <a:noFill/>
          </a:ln>
        </p:spPr>
        <p:txBody>
          <a:bodyPr lIns="0" tIns="0" rIns="0" bIns="0" anchor="ctr">
            <a:noAutofit/>
          </a:bodyPr>
          <a:lstStyle>
            <a:defPPr>
              <a:defRPr sz="1425" b="0">
                <a:solidFill>
                  <a:srgbClr val="566779"/>
                </a:solidFill>
                <a:latin typeface="Helvetica Neue"/>
                <a:ea typeface="Helvetica Neue"/>
                <a:cs typeface="Helvetica Neue"/>
              </a:defRPr>
            </a:defPPr>
            <a:lvl1pPr>
              <a:defRPr sz="1425" b="0">
                <a:solidFill>
                  <a:srgbClr val="566779"/>
                </a:solidFill>
                <a:latin typeface="Helvetica Neue"/>
                <a:ea typeface="Helvetica Neue"/>
                <a:cs typeface="Helvetica Neue"/>
              </a:defRPr>
            </a:lvl1pPr>
            <a:lvl2pPr>
              <a:defRPr sz="1425" b="0">
                <a:solidFill>
                  <a:srgbClr val="566779"/>
                </a:solidFill>
                <a:latin typeface="Helvetica Neue"/>
                <a:ea typeface="Helvetica Neue"/>
                <a:cs typeface="Helvetica Neue"/>
              </a:defRPr>
            </a:lvl2pPr>
            <a:lvl3pPr>
              <a:defRPr sz="1425" b="0">
                <a:solidFill>
                  <a:srgbClr val="566779"/>
                </a:solidFill>
                <a:latin typeface="Helvetica Neue"/>
                <a:ea typeface="Helvetica Neue"/>
                <a:cs typeface="Helvetica Neue"/>
              </a:defRPr>
            </a:lvl3pPr>
            <a:lvl4pPr>
              <a:defRPr sz="1425" b="0">
                <a:solidFill>
                  <a:srgbClr val="566779"/>
                </a:solidFill>
                <a:latin typeface="Helvetica Neue"/>
                <a:ea typeface="Helvetica Neue"/>
                <a:cs typeface="Helvetica Neue"/>
              </a:defRPr>
            </a:lvl4pPr>
            <a:lvl5pPr>
              <a:defRPr sz="1425" b="0">
                <a:solidFill>
                  <a:srgbClr val="566779"/>
                </a:solidFill>
                <a:latin typeface="Helvetica Neue"/>
                <a:ea typeface="Helvetica Neue"/>
                <a:cs typeface="Helvetica Neue"/>
              </a:defRPr>
            </a:lvl5pPr>
            <a:lvl6pPr>
              <a:defRPr sz="1425" b="0">
                <a:solidFill>
                  <a:srgbClr val="566779"/>
                </a:solidFill>
                <a:latin typeface="Helvetica Neue"/>
                <a:ea typeface="Helvetica Neue"/>
                <a:cs typeface="Helvetica Neue"/>
              </a:defRPr>
            </a:lvl6pPr>
            <a:lvl7pPr>
              <a:defRPr sz="1425" b="0">
                <a:solidFill>
                  <a:srgbClr val="566779"/>
                </a:solidFill>
                <a:latin typeface="Helvetica Neue"/>
                <a:ea typeface="Helvetica Neue"/>
                <a:cs typeface="Helvetica Neue"/>
              </a:defRPr>
            </a:lvl7pPr>
            <a:lvl8pPr>
              <a:defRPr sz="1425" b="0">
                <a:solidFill>
                  <a:srgbClr val="566779"/>
                </a:solidFill>
                <a:latin typeface="Helvetica Neue"/>
                <a:ea typeface="Helvetica Neue"/>
                <a:cs typeface="Helvetica Neue"/>
              </a:defRPr>
            </a:lvl8pPr>
            <a:lvl9pPr>
              <a:defRPr sz="1425" b="0">
                <a:solidFill>
                  <a:srgbClr val="566779"/>
                </a:solidFill>
                <a:latin typeface="Helvetica Neue"/>
                <a:ea typeface="Helvetica Neue"/>
                <a:cs typeface="Helvetica Neue"/>
              </a:defRPr>
            </a:lvl9pPr>
          </a:lstStyle>
          <a:p>
            <a:pPr>
              <a:defRPr sz="1425" b="0">
                <a:solidFill>
                  <a:srgbClr val="566779"/>
                </a:solidFill>
                <a:latin typeface="Helvetica Neue"/>
                <a:ea typeface="Helvetica Neue"/>
                <a:cs typeface="Helvetica Neue"/>
              </a:defRPr>
            </a:pPr>
            <a:r>
              <a:rPr sz="1425" b="0">
                <a:solidFill>
                  <a:srgbClr val="566779"/>
                </a:solidFill>
                <a:latin typeface="Helvetica Neue"/>
                <a:ea typeface="Helvetica Neue"/>
                <a:cs typeface="Helvetica Neue"/>
              </a:rPr>
              <a:t>5</a:t>
            </a:r>
          </a:p>
        </p:txBody>
      </p:sp>
    </p:spTree>
    <p:extLst>
      <p:ext uri="{BB962C8B-B14F-4D97-AF65-F5344CB8AC3E}">
        <p14:creationId xmlns:p14="http://schemas.microsoft.com/office/powerpoint/2010/main" val="149760997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3E575E19-9A0B-40CB-B3BC-87B00DEF6740}"/>
              </a:ext>
            </a:extLst>
          </p:cNvPr>
          <p:cNvSpPr>
            <a:spLocks noGrp="1"/>
          </p:cNvSpPr>
          <p:nvPr/>
        </p:nvSpPr>
        <p:spPr>
          <a:xfrm>
            <a:off x="609600" y="400050"/>
            <a:ext cx="10972800" cy="800100"/>
          </a:xfrm>
          <a:prstGeom prst="rect">
            <a:avLst/>
          </a:prstGeom>
          <a:noFill/>
          <a:ln w="0">
            <a:noFill/>
          </a:ln>
        </p:spPr>
        <p:txBody>
          <a:bodyPr lIns="0" tIns="0" rIns="0" bIns="0" anchor="ctr">
            <a:noAutofit/>
          </a:bodyPr>
          <a:lstStyle>
            <a:defPPr>
              <a:defRPr sz="3600" b="1">
                <a:solidFill>
                  <a:srgbClr val="14283F"/>
                </a:solidFill>
                <a:latin typeface="Helvetica Neue"/>
                <a:ea typeface="Helvetica Neue"/>
                <a:cs typeface="Helvetica Neue"/>
              </a:defRPr>
            </a:defPPr>
            <a:lvl1pPr>
              <a:defRPr sz="3600" b="1">
                <a:solidFill>
                  <a:srgbClr val="14283F"/>
                </a:solidFill>
                <a:latin typeface="Helvetica Neue"/>
                <a:ea typeface="Helvetica Neue"/>
                <a:cs typeface="Helvetica Neue"/>
              </a:defRPr>
            </a:lvl1pPr>
            <a:lvl2pPr>
              <a:defRPr sz="3600" b="1">
                <a:solidFill>
                  <a:srgbClr val="14283F"/>
                </a:solidFill>
                <a:latin typeface="Helvetica Neue"/>
                <a:ea typeface="Helvetica Neue"/>
                <a:cs typeface="Helvetica Neue"/>
              </a:defRPr>
            </a:lvl2pPr>
            <a:lvl3pPr>
              <a:defRPr sz="3600" b="1">
                <a:solidFill>
                  <a:srgbClr val="14283F"/>
                </a:solidFill>
                <a:latin typeface="Helvetica Neue"/>
                <a:ea typeface="Helvetica Neue"/>
                <a:cs typeface="Helvetica Neue"/>
              </a:defRPr>
            </a:lvl3pPr>
            <a:lvl4pPr>
              <a:defRPr sz="3600" b="1">
                <a:solidFill>
                  <a:srgbClr val="14283F"/>
                </a:solidFill>
                <a:latin typeface="Helvetica Neue"/>
                <a:ea typeface="Helvetica Neue"/>
                <a:cs typeface="Helvetica Neue"/>
              </a:defRPr>
            </a:lvl4pPr>
            <a:lvl5pPr>
              <a:defRPr sz="3600" b="1">
                <a:solidFill>
                  <a:srgbClr val="14283F"/>
                </a:solidFill>
                <a:latin typeface="Helvetica Neue"/>
                <a:ea typeface="Helvetica Neue"/>
                <a:cs typeface="Helvetica Neue"/>
              </a:defRPr>
            </a:lvl5pPr>
            <a:lvl6pPr>
              <a:defRPr sz="3600" b="1">
                <a:solidFill>
                  <a:srgbClr val="14283F"/>
                </a:solidFill>
                <a:latin typeface="Helvetica Neue"/>
                <a:ea typeface="Helvetica Neue"/>
                <a:cs typeface="Helvetica Neue"/>
              </a:defRPr>
            </a:lvl6pPr>
            <a:lvl7pPr>
              <a:defRPr sz="3600" b="1">
                <a:solidFill>
                  <a:srgbClr val="14283F"/>
                </a:solidFill>
                <a:latin typeface="Helvetica Neue"/>
                <a:ea typeface="Helvetica Neue"/>
                <a:cs typeface="Helvetica Neue"/>
              </a:defRPr>
            </a:lvl7pPr>
            <a:lvl8pPr>
              <a:defRPr sz="3600" b="1">
                <a:solidFill>
                  <a:srgbClr val="14283F"/>
                </a:solidFill>
                <a:latin typeface="Helvetica Neue"/>
                <a:ea typeface="Helvetica Neue"/>
                <a:cs typeface="Helvetica Neue"/>
              </a:defRPr>
            </a:lvl8pPr>
            <a:lvl9pPr>
              <a:defRPr sz="3600" b="1">
                <a:solidFill>
                  <a:srgbClr val="14283F"/>
                </a:solidFill>
                <a:latin typeface="Helvetica Neue"/>
                <a:ea typeface="Helvetica Neue"/>
                <a:cs typeface="Helvetica Neue"/>
              </a:defRPr>
            </a:lvl9pPr>
          </a:lstStyle>
          <a:p>
            <a:pPr>
              <a:defRPr sz="3600" b="1">
                <a:solidFill>
                  <a:srgbClr val="14283F"/>
                </a:solidFill>
                <a:latin typeface="Helvetica Neue"/>
                <a:ea typeface="Helvetica Neue"/>
                <a:cs typeface="Helvetica Neue"/>
              </a:defRPr>
            </a:pPr>
            <a:r>
              <a:rPr sz="3600" b="1">
                <a:solidFill>
                  <a:srgbClr val="14283F"/>
                </a:solidFill>
                <a:latin typeface="Helvetica Neue"/>
                <a:ea typeface="Helvetica Neue"/>
                <a:cs typeface="Helvetica Neue"/>
              </a:rPr>
              <a:t>Torso avoidance during reaching</a:t>
            </a:r>
          </a:p>
        </p:txBody>
      </p:sp>
      <p:sp>
        <p:nvSpPr>
          <p:cNvPr id="4" name="Rectangle 3">
            <a:extLst>
              <a:ext uri="{FF2B5EF4-FFF2-40B4-BE49-F238E27FC236}">
                <a16:creationId xmlns:a16="http://schemas.microsoft.com/office/drawing/2014/main" id="{EEAF74FA-BFB6-4891-AEDA-81CE7469729C}"/>
              </a:ext>
            </a:extLst>
          </p:cNvPr>
          <p:cNvSpPr>
            <a:spLocks noGrp="1"/>
          </p:cNvSpPr>
          <p:nvPr/>
        </p:nvSpPr>
        <p:spPr>
          <a:xfrm>
            <a:off x="11277600" y="6438900"/>
            <a:ext cx="381000" cy="228600"/>
          </a:xfrm>
          <a:prstGeom prst="rect">
            <a:avLst/>
          </a:prstGeom>
          <a:noFill/>
          <a:ln w="0">
            <a:noFill/>
          </a:ln>
        </p:spPr>
        <p:txBody>
          <a:bodyPr lIns="0" tIns="0" rIns="0" bIns="0" anchor="ctr">
            <a:noAutofit/>
          </a:bodyPr>
          <a:lstStyle>
            <a:defPPr>
              <a:defRPr sz="1425" b="0">
                <a:solidFill>
                  <a:srgbClr val="566779"/>
                </a:solidFill>
                <a:latin typeface="Helvetica Neue"/>
                <a:ea typeface="Helvetica Neue"/>
                <a:cs typeface="Helvetica Neue"/>
              </a:defRPr>
            </a:defPPr>
            <a:lvl1pPr>
              <a:defRPr sz="1425" b="0">
                <a:solidFill>
                  <a:srgbClr val="566779"/>
                </a:solidFill>
                <a:latin typeface="Helvetica Neue"/>
                <a:ea typeface="Helvetica Neue"/>
                <a:cs typeface="Helvetica Neue"/>
              </a:defRPr>
            </a:lvl1pPr>
            <a:lvl2pPr>
              <a:defRPr sz="1425" b="0">
                <a:solidFill>
                  <a:srgbClr val="566779"/>
                </a:solidFill>
                <a:latin typeface="Helvetica Neue"/>
                <a:ea typeface="Helvetica Neue"/>
                <a:cs typeface="Helvetica Neue"/>
              </a:defRPr>
            </a:lvl2pPr>
            <a:lvl3pPr>
              <a:defRPr sz="1425" b="0">
                <a:solidFill>
                  <a:srgbClr val="566779"/>
                </a:solidFill>
                <a:latin typeface="Helvetica Neue"/>
                <a:ea typeface="Helvetica Neue"/>
                <a:cs typeface="Helvetica Neue"/>
              </a:defRPr>
            </a:lvl3pPr>
            <a:lvl4pPr>
              <a:defRPr sz="1425" b="0">
                <a:solidFill>
                  <a:srgbClr val="566779"/>
                </a:solidFill>
                <a:latin typeface="Helvetica Neue"/>
                <a:ea typeface="Helvetica Neue"/>
                <a:cs typeface="Helvetica Neue"/>
              </a:defRPr>
            </a:lvl4pPr>
            <a:lvl5pPr>
              <a:defRPr sz="1425" b="0">
                <a:solidFill>
                  <a:srgbClr val="566779"/>
                </a:solidFill>
                <a:latin typeface="Helvetica Neue"/>
                <a:ea typeface="Helvetica Neue"/>
                <a:cs typeface="Helvetica Neue"/>
              </a:defRPr>
            </a:lvl5pPr>
            <a:lvl6pPr>
              <a:defRPr sz="1425" b="0">
                <a:solidFill>
                  <a:srgbClr val="566779"/>
                </a:solidFill>
                <a:latin typeface="Helvetica Neue"/>
                <a:ea typeface="Helvetica Neue"/>
                <a:cs typeface="Helvetica Neue"/>
              </a:defRPr>
            </a:lvl6pPr>
            <a:lvl7pPr>
              <a:defRPr sz="1425" b="0">
                <a:solidFill>
                  <a:srgbClr val="566779"/>
                </a:solidFill>
                <a:latin typeface="Helvetica Neue"/>
                <a:ea typeface="Helvetica Neue"/>
                <a:cs typeface="Helvetica Neue"/>
              </a:defRPr>
            </a:lvl7pPr>
            <a:lvl8pPr>
              <a:defRPr sz="1425" b="0">
                <a:solidFill>
                  <a:srgbClr val="566779"/>
                </a:solidFill>
                <a:latin typeface="Helvetica Neue"/>
                <a:ea typeface="Helvetica Neue"/>
                <a:cs typeface="Helvetica Neue"/>
              </a:defRPr>
            </a:lvl8pPr>
            <a:lvl9pPr>
              <a:defRPr sz="1425" b="0">
                <a:solidFill>
                  <a:srgbClr val="566779"/>
                </a:solidFill>
                <a:latin typeface="Helvetica Neue"/>
                <a:ea typeface="Helvetica Neue"/>
                <a:cs typeface="Helvetica Neue"/>
              </a:defRPr>
            </a:lvl9pPr>
          </a:lstStyle>
          <a:p>
            <a:pPr>
              <a:defRPr sz="1425" b="0">
                <a:solidFill>
                  <a:srgbClr val="566779"/>
                </a:solidFill>
                <a:latin typeface="Helvetica Neue"/>
                <a:ea typeface="Helvetica Neue"/>
                <a:cs typeface="Helvetica Neue"/>
              </a:defRPr>
            </a:pPr>
            <a:r>
              <a:rPr sz="1425" b="0">
                <a:solidFill>
                  <a:srgbClr val="566779"/>
                </a:solidFill>
                <a:latin typeface="Helvetica Neue"/>
                <a:ea typeface="Helvetica Neue"/>
                <a:cs typeface="Helvetica Neue"/>
              </a:rPr>
              <a:t>6</a:t>
            </a:r>
          </a:p>
        </p:txBody>
      </p:sp>
      <p:graphicFrame>
        <p:nvGraphicFramePr>
          <p:cNvPr id="5" name="Table 4">
            <a:extLst>
              <a:ext uri="{FF2B5EF4-FFF2-40B4-BE49-F238E27FC236}">
                <a16:creationId xmlns:a16="http://schemas.microsoft.com/office/drawing/2014/main" id="{723E8D6C-2055-48FB-9DCF-0AADCB502AC5}"/>
              </a:ext>
            </a:extLst>
          </p:cNvPr>
          <p:cNvGraphicFramePr/>
          <p:nvPr/>
        </p:nvGraphicFramePr>
        <p:xfrm>
          <a:off x="685800" y="1695450"/>
          <a:ext cx="10820400" cy="2857500"/>
        </p:xfrm>
        <a:graphic>
          <a:graphicData uri="http://schemas.openxmlformats.org/drawingml/2006/table">
            <a:tbl>
              <a:tblPr/>
              <a:tblGrid>
                <a:gridCol w="5238750">
                  <a:extLst>
                    <a:ext uri="{9D8B030D-6E8A-4147-A177-3AD203B41FA5}">
                      <a16:colId xmlns:a16="http://schemas.microsoft.com/office/drawing/2014/main" val="20000"/>
                    </a:ext>
                  </a:extLst>
                </a:gridCol>
                <a:gridCol w="2790825">
                  <a:extLst>
                    <a:ext uri="{9D8B030D-6E8A-4147-A177-3AD203B41FA5}">
                      <a16:colId xmlns:a16="http://schemas.microsoft.com/office/drawing/2014/main" val="20001"/>
                    </a:ext>
                  </a:extLst>
                </a:gridCol>
                <a:gridCol w="2790825">
                  <a:extLst>
                    <a:ext uri="{9D8B030D-6E8A-4147-A177-3AD203B41FA5}">
                      <a16:colId xmlns:a16="http://schemas.microsoft.com/office/drawing/2014/main" val="20002"/>
                    </a:ext>
                  </a:extLst>
                </a:gridCol>
              </a:tblGrid>
              <a:tr h="714375">
                <a:tc>
                  <a:txBody>
                    <a:bodyPr/>
                    <a:lstStyle/>
                    <a:p>
                      <a:r>
                        <a:rPr sz="2100" b="1">
                          <a:solidFill>
                            <a:srgbClr val="FFFFFF"/>
                          </a:solidFill>
                          <a:latin typeface="Helvetica Neue"/>
                          <a:ea typeface="Helvetica Neue"/>
                          <a:cs typeface="Helvetica Neue"/>
                        </a:rPr>
                        <a:t>Metric</a:t>
                      </a:r>
                    </a:p>
                  </a:txBody>
                  <a:tcPr marL="171450" marR="171450" marT="114300" marB="114300">
                    <a:lnL w="6668">
                      <a:solidFill>
                        <a:srgbClr val="CDD8E3"/>
                      </a:solidFill>
                      <a:prstDash val="solid"/>
                    </a:lnL>
                    <a:lnR w="6668">
                      <a:solidFill>
                        <a:srgbClr val="CDD8E3"/>
                      </a:solidFill>
                      <a:prstDash val="solid"/>
                    </a:lnR>
                    <a:lnT w="6668">
                      <a:solidFill>
                        <a:srgbClr val="CDD8E3"/>
                      </a:solidFill>
                      <a:prstDash val="solid"/>
                    </a:lnT>
                    <a:lnB w="6668">
                      <a:solidFill>
                        <a:srgbClr val="CDD8E3"/>
                      </a:solidFill>
                      <a:prstDash val="solid"/>
                    </a:lnB>
                    <a:solidFill>
                      <a:srgbClr val="102339"/>
                    </a:solidFill>
                  </a:tcPr>
                </a:tc>
                <a:tc>
                  <a:txBody>
                    <a:bodyPr/>
                    <a:lstStyle/>
                    <a:p>
                      <a:r>
                        <a:rPr sz="2100" b="1">
                          <a:solidFill>
                            <a:srgbClr val="FFFFFF"/>
                          </a:solidFill>
                          <a:latin typeface="Helvetica Neue"/>
                          <a:ea typeface="Helvetica Neue"/>
                          <a:cs typeface="Helvetica Neue"/>
                        </a:rPr>
                        <a:t>Original RL</a:t>
                      </a:r>
                    </a:p>
                  </a:txBody>
                  <a:tcPr marL="171450" marR="171450" marT="114300" marB="114300">
                    <a:lnL w="6668" cap="flat" cmpd="sng" algn="ctr">
                      <a:solidFill>
                        <a:srgbClr val="CDD8E3"/>
                      </a:solidFill>
                      <a:prstDash val="solid"/>
                      <a:round/>
                      <a:headEnd type="none" w="med" len="med"/>
                      <a:tailEnd type="none" w="med" len="med"/>
                    </a:lnL>
                    <a:lnR w="6668">
                      <a:solidFill>
                        <a:srgbClr val="CDD8E3"/>
                      </a:solidFill>
                      <a:prstDash val="solid"/>
                    </a:lnR>
                    <a:lnT w="6668">
                      <a:solidFill>
                        <a:srgbClr val="CDD8E3"/>
                      </a:solidFill>
                      <a:prstDash val="solid"/>
                    </a:lnT>
                    <a:lnB w="6668">
                      <a:solidFill>
                        <a:srgbClr val="CDD8E3"/>
                      </a:solidFill>
                      <a:prstDash val="solid"/>
                    </a:lnB>
                    <a:solidFill>
                      <a:srgbClr val="102339"/>
                    </a:solidFill>
                  </a:tcPr>
                </a:tc>
                <a:tc>
                  <a:txBody>
                    <a:bodyPr/>
                    <a:lstStyle/>
                    <a:p>
                      <a:r>
                        <a:rPr sz="2100" b="1">
                          <a:solidFill>
                            <a:srgbClr val="FFFFFF"/>
                          </a:solidFill>
                          <a:latin typeface="Helvetica Neue"/>
                          <a:ea typeface="Helvetica Neue"/>
                          <a:cs typeface="Helvetica Neue"/>
                        </a:rPr>
                        <a:t>Torso-aware RL</a:t>
                      </a:r>
                    </a:p>
                  </a:txBody>
                  <a:tcPr marL="171450" marR="171450" marT="114300" marB="114300">
                    <a:lnL w="6668" cap="flat" cmpd="sng" algn="ctr">
                      <a:solidFill>
                        <a:srgbClr val="CDD8E3"/>
                      </a:solidFill>
                      <a:prstDash val="solid"/>
                      <a:round/>
                      <a:headEnd type="none" w="med" len="med"/>
                      <a:tailEnd type="none" w="med" len="med"/>
                    </a:lnL>
                    <a:lnR w="6668">
                      <a:solidFill>
                        <a:srgbClr val="CDD8E3"/>
                      </a:solidFill>
                      <a:prstDash val="solid"/>
                    </a:lnR>
                    <a:lnT w="6668">
                      <a:solidFill>
                        <a:srgbClr val="CDD8E3"/>
                      </a:solidFill>
                      <a:prstDash val="solid"/>
                    </a:lnT>
                    <a:lnB w="6668">
                      <a:solidFill>
                        <a:srgbClr val="CDD8E3"/>
                      </a:solidFill>
                      <a:prstDash val="solid"/>
                    </a:lnB>
                    <a:solidFill>
                      <a:srgbClr val="102339"/>
                    </a:solidFill>
                  </a:tcPr>
                </a:tc>
                <a:extLst>
                  <a:ext uri="{0D108BD9-81ED-4DB2-BD59-A6C34878D82A}">
                    <a16:rowId xmlns:a16="http://schemas.microsoft.com/office/drawing/2014/main" val="10000"/>
                  </a:ext>
                </a:extLst>
              </a:tr>
              <a:tr h="714375">
                <a:tc>
                  <a:txBody>
                    <a:bodyPr/>
                    <a:lstStyle/>
                    <a:p>
                      <a:r>
                        <a:rPr sz="2100" b="0">
                          <a:solidFill>
                            <a:srgbClr val="14283F"/>
                          </a:solidFill>
                          <a:latin typeface="Helvetica Neue"/>
                          <a:ea typeface="Helvetica Neue"/>
                          <a:cs typeface="Helvetica Neue"/>
                        </a:rPr>
                        <a:t>Reach-and-hold success</a:t>
                      </a:r>
                    </a:p>
                  </a:txBody>
                  <a:tcPr marL="171450" marR="171450" marT="114300" marB="114300">
                    <a:lnL w="6668">
                      <a:solidFill>
                        <a:srgbClr val="CDD8E3"/>
                      </a:solidFill>
                      <a:prstDash val="solid"/>
                    </a:lnL>
                    <a:lnR w="6668">
                      <a:solidFill>
                        <a:srgbClr val="CDD8E3"/>
                      </a:solidFill>
                      <a:prstDash val="solid"/>
                    </a:lnR>
                    <a:lnT w="6668" cap="flat" cmpd="sng" algn="ctr">
                      <a:solidFill>
                        <a:srgbClr val="CDD8E3"/>
                      </a:solidFill>
                      <a:prstDash val="solid"/>
                      <a:round/>
                      <a:headEnd type="none" w="med" len="med"/>
                      <a:tailEnd type="none" w="med" len="med"/>
                    </a:lnT>
                    <a:lnB w="6668">
                      <a:solidFill>
                        <a:srgbClr val="CDD8E3"/>
                      </a:solidFill>
                      <a:prstDash val="solid"/>
                    </a:lnB>
                    <a:solidFill>
                      <a:srgbClr val="FFFFFF"/>
                    </a:solidFill>
                  </a:tcPr>
                </a:tc>
                <a:tc>
                  <a:txBody>
                    <a:bodyPr/>
                    <a:lstStyle/>
                    <a:p>
                      <a:r>
                        <a:rPr sz="2100" b="0">
                          <a:solidFill>
                            <a:srgbClr val="14283F"/>
                          </a:solidFill>
                          <a:latin typeface="Helvetica Neue"/>
                          <a:ea typeface="Helvetica Neue"/>
                          <a:cs typeface="Helvetica Neue"/>
                        </a:rPr>
                        <a:t>62.2%</a:t>
                      </a:r>
                    </a:p>
                  </a:txBody>
                  <a:tcPr marL="171450" marR="171450" marT="114300" marB="114300">
                    <a:lnL w="6668" cap="flat" cmpd="sng" algn="ctr">
                      <a:solidFill>
                        <a:srgbClr val="CDD8E3"/>
                      </a:solidFill>
                      <a:prstDash val="solid"/>
                      <a:round/>
                      <a:headEnd type="none" w="med" len="med"/>
                      <a:tailEnd type="none" w="med" len="med"/>
                    </a:lnL>
                    <a:lnR w="6668">
                      <a:solidFill>
                        <a:srgbClr val="CDD8E3"/>
                      </a:solidFill>
                      <a:prstDash val="solid"/>
                    </a:lnR>
                    <a:lnT w="6668" cap="flat" cmpd="sng" algn="ctr">
                      <a:solidFill>
                        <a:srgbClr val="CDD8E3"/>
                      </a:solidFill>
                      <a:prstDash val="solid"/>
                      <a:round/>
                      <a:headEnd type="none" w="med" len="med"/>
                      <a:tailEnd type="none" w="med" len="med"/>
                    </a:lnT>
                    <a:lnB w="6668">
                      <a:solidFill>
                        <a:srgbClr val="CDD8E3"/>
                      </a:solidFill>
                      <a:prstDash val="solid"/>
                    </a:lnB>
                    <a:solidFill>
                      <a:srgbClr val="FFFFFF"/>
                    </a:solidFill>
                  </a:tcPr>
                </a:tc>
                <a:tc>
                  <a:txBody>
                    <a:bodyPr/>
                    <a:lstStyle/>
                    <a:p>
                      <a:r>
                        <a:rPr sz="2100" b="0">
                          <a:solidFill>
                            <a:srgbClr val="14283F"/>
                          </a:solidFill>
                          <a:latin typeface="Helvetica Neue"/>
                          <a:ea typeface="Helvetica Neue"/>
                          <a:cs typeface="Helvetica Neue"/>
                        </a:rPr>
                        <a:t>72.6%</a:t>
                      </a:r>
                    </a:p>
                  </a:txBody>
                  <a:tcPr marL="171450" marR="171450" marT="114300" marB="114300">
                    <a:lnL w="6668" cap="flat" cmpd="sng" algn="ctr">
                      <a:solidFill>
                        <a:srgbClr val="CDD8E3"/>
                      </a:solidFill>
                      <a:prstDash val="solid"/>
                      <a:round/>
                      <a:headEnd type="none" w="med" len="med"/>
                      <a:tailEnd type="none" w="med" len="med"/>
                    </a:lnL>
                    <a:lnR w="6668">
                      <a:solidFill>
                        <a:srgbClr val="CDD8E3"/>
                      </a:solidFill>
                      <a:prstDash val="solid"/>
                    </a:lnR>
                    <a:lnT w="6668" cap="flat" cmpd="sng" algn="ctr">
                      <a:solidFill>
                        <a:srgbClr val="CDD8E3"/>
                      </a:solidFill>
                      <a:prstDash val="solid"/>
                      <a:round/>
                      <a:headEnd type="none" w="med" len="med"/>
                      <a:tailEnd type="none" w="med" len="med"/>
                    </a:lnT>
                    <a:lnB w="6668">
                      <a:solidFill>
                        <a:srgbClr val="CDD8E3"/>
                      </a:solidFill>
                      <a:prstDash val="solid"/>
                    </a:lnB>
                    <a:solidFill>
                      <a:srgbClr val="FFFFFF"/>
                    </a:solidFill>
                  </a:tcPr>
                </a:tc>
                <a:extLst>
                  <a:ext uri="{0D108BD9-81ED-4DB2-BD59-A6C34878D82A}">
                    <a16:rowId xmlns:a16="http://schemas.microsoft.com/office/drawing/2014/main" val="10001"/>
                  </a:ext>
                </a:extLst>
              </a:tr>
              <a:tr h="714375">
                <a:tc>
                  <a:txBody>
                    <a:bodyPr/>
                    <a:lstStyle/>
                    <a:p>
                      <a:r>
                        <a:rPr sz="2100" b="0">
                          <a:solidFill>
                            <a:srgbClr val="14283F"/>
                          </a:solidFill>
                          <a:latin typeface="Helvetica Neue"/>
                          <a:ea typeface="Helvetica Neue"/>
                          <a:cs typeface="Helvetica Neue"/>
                        </a:rPr>
                        <a:t>Torso-contact episodes</a:t>
                      </a:r>
                    </a:p>
                  </a:txBody>
                  <a:tcPr marL="171450" marR="171450" marT="114300" marB="114300">
                    <a:lnL w="6668">
                      <a:solidFill>
                        <a:srgbClr val="CDD8E3"/>
                      </a:solidFill>
                      <a:prstDash val="solid"/>
                    </a:lnL>
                    <a:lnR w="6668">
                      <a:solidFill>
                        <a:srgbClr val="CDD8E3"/>
                      </a:solidFill>
                      <a:prstDash val="solid"/>
                    </a:lnR>
                    <a:lnT w="6668" cap="flat" cmpd="sng" algn="ctr">
                      <a:solidFill>
                        <a:srgbClr val="CDD8E3"/>
                      </a:solidFill>
                      <a:prstDash val="solid"/>
                      <a:round/>
                      <a:headEnd type="none" w="med" len="med"/>
                      <a:tailEnd type="none" w="med" len="med"/>
                    </a:lnT>
                    <a:lnB w="6668">
                      <a:solidFill>
                        <a:srgbClr val="CDD8E3"/>
                      </a:solidFill>
                      <a:prstDash val="solid"/>
                    </a:lnB>
                    <a:solidFill>
                      <a:srgbClr val="FFFFFF"/>
                    </a:solidFill>
                  </a:tcPr>
                </a:tc>
                <a:tc>
                  <a:txBody>
                    <a:bodyPr/>
                    <a:lstStyle/>
                    <a:p>
                      <a:r>
                        <a:rPr sz="2100" b="0">
                          <a:solidFill>
                            <a:srgbClr val="14283F"/>
                          </a:solidFill>
                          <a:latin typeface="Helvetica Neue"/>
                          <a:ea typeface="Helvetica Neue"/>
                          <a:cs typeface="Helvetica Neue"/>
                        </a:rPr>
                        <a:t>7.0%</a:t>
                      </a:r>
                    </a:p>
                  </a:txBody>
                  <a:tcPr marL="171450" marR="171450" marT="114300" marB="114300">
                    <a:lnL w="6668" cap="flat" cmpd="sng" algn="ctr">
                      <a:solidFill>
                        <a:srgbClr val="CDD8E3"/>
                      </a:solidFill>
                      <a:prstDash val="solid"/>
                      <a:round/>
                      <a:headEnd type="none" w="med" len="med"/>
                      <a:tailEnd type="none" w="med" len="med"/>
                    </a:lnL>
                    <a:lnR w="6668">
                      <a:solidFill>
                        <a:srgbClr val="CDD8E3"/>
                      </a:solidFill>
                      <a:prstDash val="solid"/>
                    </a:lnR>
                    <a:lnT w="6668" cap="flat" cmpd="sng" algn="ctr">
                      <a:solidFill>
                        <a:srgbClr val="CDD8E3"/>
                      </a:solidFill>
                      <a:prstDash val="solid"/>
                      <a:round/>
                      <a:headEnd type="none" w="med" len="med"/>
                      <a:tailEnd type="none" w="med" len="med"/>
                    </a:lnT>
                    <a:lnB w="6668">
                      <a:solidFill>
                        <a:srgbClr val="CDD8E3"/>
                      </a:solidFill>
                      <a:prstDash val="solid"/>
                    </a:lnB>
                    <a:solidFill>
                      <a:srgbClr val="FFFFFF"/>
                    </a:solidFill>
                  </a:tcPr>
                </a:tc>
                <a:tc>
                  <a:txBody>
                    <a:bodyPr/>
                    <a:lstStyle/>
                    <a:p>
                      <a:r>
                        <a:rPr sz="2100" b="0">
                          <a:solidFill>
                            <a:srgbClr val="14283F"/>
                          </a:solidFill>
                          <a:latin typeface="Helvetica Neue"/>
                          <a:ea typeface="Helvetica Neue"/>
                          <a:cs typeface="Helvetica Neue"/>
                        </a:rPr>
                        <a:t>0.2%</a:t>
                      </a:r>
                    </a:p>
                  </a:txBody>
                  <a:tcPr marL="171450" marR="171450" marT="114300" marB="114300">
                    <a:lnL w="6668" cap="flat" cmpd="sng" algn="ctr">
                      <a:solidFill>
                        <a:srgbClr val="CDD8E3"/>
                      </a:solidFill>
                      <a:prstDash val="solid"/>
                      <a:round/>
                      <a:headEnd type="none" w="med" len="med"/>
                      <a:tailEnd type="none" w="med" len="med"/>
                    </a:lnL>
                    <a:lnR w="6668">
                      <a:solidFill>
                        <a:srgbClr val="CDD8E3"/>
                      </a:solidFill>
                      <a:prstDash val="solid"/>
                    </a:lnR>
                    <a:lnT w="6668" cap="flat" cmpd="sng" algn="ctr">
                      <a:solidFill>
                        <a:srgbClr val="CDD8E3"/>
                      </a:solidFill>
                      <a:prstDash val="solid"/>
                      <a:round/>
                      <a:headEnd type="none" w="med" len="med"/>
                      <a:tailEnd type="none" w="med" len="med"/>
                    </a:lnT>
                    <a:lnB w="6668">
                      <a:solidFill>
                        <a:srgbClr val="CDD8E3"/>
                      </a:solidFill>
                      <a:prstDash val="solid"/>
                    </a:lnB>
                    <a:solidFill>
                      <a:srgbClr val="FFFFFF"/>
                    </a:solidFill>
                  </a:tcPr>
                </a:tc>
                <a:extLst>
                  <a:ext uri="{0D108BD9-81ED-4DB2-BD59-A6C34878D82A}">
                    <a16:rowId xmlns:a16="http://schemas.microsoft.com/office/drawing/2014/main" val="10002"/>
                  </a:ext>
                </a:extLst>
              </a:tr>
              <a:tr h="714375">
                <a:tc>
                  <a:txBody>
                    <a:bodyPr/>
                    <a:lstStyle/>
                    <a:p>
                      <a:r>
                        <a:rPr sz="2100" b="0">
                          <a:solidFill>
                            <a:srgbClr val="14283F"/>
                          </a:solidFill>
                          <a:latin typeface="Helvetica Neue"/>
                          <a:ea typeface="Helvetica Neue"/>
                          <a:cs typeface="Helvetica Neue"/>
                        </a:rPr>
                        <a:t>Mean final target error</a:t>
                      </a:r>
                    </a:p>
                  </a:txBody>
                  <a:tcPr marL="171450" marR="171450" marT="114300" marB="114300">
                    <a:lnL w="6668">
                      <a:solidFill>
                        <a:srgbClr val="CDD8E3"/>
                      </a:solidFill>
                      <a:prstDash val="solid"/>
                    </a:lnL>
                    <a:lnR w="6668">
                      <a:solidFill>
                        <a:srgbClr val="CDD8E3"/>
                      </a:solidFill>
                      <a:prstDash val="solid"/>
                    </a:lnR>
                    <a:lnT w="6668" cap="flat" cmpd="sng" algn="ctr">
                      <a:solidFill>
                        <a:srgbClr val="CDD8E3"/>
                      </a:solidFill>
                      <a:prstDash val="solid"/>
                      <a:round/>
                      <a:headEnd type="none" w="med" len="med"/>
                      <a:tailEnd type="none" w="med" len="med"/>
                    </a:lnT>
                    <a:lnB w="6668">
                      <a:solidFill>
                        <a:srgbClr val="CDD8E3"/>
                      </a:solidFill>
                      <a:prstDash val="solid"/>
                    </a:lnB>
                    <a:solidFill>
                      <a:srgbClr val="FFFFFF"/>
                    </a:solidFill>
                  </a:tcPr>
                </a:tc>
                <a:tc>
                  <a:txBody>
                    <a:bodyPr/>
                    <a:lstStyle/>
                    <a:p>
                      <a:r>
                        <a:rPr sz="2100" b="0">
                          <a:solidFill>
                            <a:srgbClr val="14283F"/>
                          </a:solidFill>
                          <a:latin typeface="Helvetica Neue"/>
                          <a:ea typeface="Helvetica Neue"/>
                          <a:cs typeface="Helvetica Neue"/>
                        </a:rPr>
                        <a:t>4.2 cm</a:t>
                      </a:r>
                    </a:p>
                  </a:txBody>
                  <a:tcPr marL="171450" marR="171450" marT="114300" marB="114300">
                    <a:lnL w="6668" cap="flat" cmpd="sng" algn="ctr">
                      <a:solidFill>
                        <a:srgbClr val="CDD8E3"/>
                      </a:solidFill>
                      <a:prstDash val="solid"/>
                      <a:round/>
                      <a:headEnd type="none" w="med" len="med"/>
                      <a:tailEnd type="none" w="med" len="med"/>
                    </a:lnL>
                    <a:lnR w="6668">
                      <a:solidFill>
                        <a:srgbClr val="CDD8E3"/>
                      </a:solidFill>
                      <a:prstDash val="solid"/>
                    </a:lnR>
                    <a:lnT w="6668" cap="flat" cmpd="sng" algn="ctr">
                      <a:solidFill>
                        <a:srgbClr val="CDD8E3"/>
                      </a:solidFill>
                      <a:prstDash val="solid"/>
                      <a:round/>
                      <a:headEnd type="none" w="med" len="med"/>
                      <a:tailEnd type="none" w="med" len="med"/>
                    </a:lnT>
                    <a:lnB w="6668">
                      <a:solidFill>
                        <a:srgbClr val="CDD8E3"/>
                      </a:solidFill>
                      <a:prstDash val="solid"/>
                    </a:lnB>
                    <a:solidFill>
                      <a:srgbClr val="FFFFFF"/>
                    </a:solidFill>
                  </a:tcPr>
                </a:tc>
                <a:tc>
                  <a:txBody>
                    <a:bodyPr/>
                    <a:lstStyle/>
                    <a:p>
                      <a:r>
                        <a:rPr sz="2100" b="0">
                          <a:solidFill>
                            <a:srgbClr val="14283F"/>
                          </a:solidFill>
                          <a:latin typeface="Helvetica Neue"/>
                          <a:ea typeface="Helvetica Neue"/>
                          <a:cs typeface="Helvetica Neue"/>
                        </a:rPr>
                        <a:t>4.7 cm</a:t>
                      </a:r>
                    </a:p>
                  </a:txBody>
                  <a:tcPr marL="171450" marR="171450" marT="114300" marB="114300">
                    <a:lnL w="6668" cap="flat" cmpd="sng" algn="ctr">
                      <a:solidFill>
                        <a:srgbClr val="CDD8E3"/>
                      </a:solidFill>
                      <a:prstDash val="solid"/>
                      <a:round/>
                      <a:headEnd type="none" w="med" len="med"/>
                      <a:tailEnd type="none" w="med" len="med"/>
                    </a:lnL>
                    <a:lnR w="6668">
                      <a:solidFill>
                        <a:srgbClr val="CDD8E3"/>
                      </a:solidFill>
                      <a:prstDash val="solid"/>
                    </a:lnR>
                    <a:lnT w="6668" cap="flat" cmpd="sng" algn="ctr">
                      <a:solidFill>
                        <a:srgbClr val="CDD8E3"/>
                      </a:solidFill>
                      <a:prstDash val="solid"/>
                      <a:round/>
                      <a:headEnd type="none" w="med" len="med"/>
                      <a:tailEnd type="none" w="med" len="med"/>
                    </a:lnT>
                    <a:lnB w="6668">
                      <a:solidFill>
                        <a:srgbClr val="CDD8E3"/>
                      </a:solidFill>
                      <a:prstDash val="solid"/>
                    </a:lnB>
                    <a:solidFill>
                      <a:srgbClr val="FFFFFF"/>
                    </a:solidFill>
                  </a:tcPr>
                </a:tc>
                <a:extLst>
                  <a:ext uri="{0D108BD9-81ED-4DB2-BD59-A6C34878D82A}">
                    <a16:rowId xmlns:a16="http://schemas.microsoft.com/office/drawing/2014/main" val="10003"/>
                  </a:ext>
                </a:extLst>
              </a:tr>
            </a:tbl>
          </a:graphicData>
        </a:graphic>
      </p:graphicFrame>
      <p:sp>
        <p:nvSpPr>
          <p:cNvPr id="6" name="Rectangle 5">
            <a:extLst>
              <a:ext uri="{FF2B5EF4-FFF2-40B4-BE49-F238E27FC236}">
                <a16:creationId xmlns:a16="http://schemas.microsoft.com/office/drawing/2014/main" id="{28D438FC-32B3-4684-AA10-5E9C78B9391B}"/>
              </a:ext>
            </a:extLst>
          </p:cNvPr>
          <p:cNvSpPr>
            <a:spLocks noGrp="1"/>
          </p:cNvSpPr>
          <p:nvPr/>
        </p:nvSpPr>
        <p:spPr>
          <a:xfrm>
            <a:off x="685800" y="4867275"/>
            <a:ext cx="10668000" cy="619125"/>
          </a:xfrm>
          <a:prstGeom prst="rect">
            <a:avLst/>
          </a:prstGeom>
          <a:noFill/>
          <a:ln w="0">
            <a:noFill/>
          </a:ln>
        </p:spPr>
        <p:txBody>
          <a:bodyPr lIns="0" tIns="0" rIns="0" bIns="0" anchor="ctr">
            <a:noAutofit/>
          </a:bodyPr>
          <a:lstStyle>
            <a:defPPr>
              <a:defRPr sz="2025" b="0">
                <a:solidFill>
                  <a:srgbClr val="14283F"/>
                </a:solidFill>
                <a:latin typeface="Helvetica Neue"/>
                <a:ea typeface="Helvetica Neue"/>
                <a:cs typeface="Helvetica Neue"/>
              </a:defRPr>
            </a:defPPr>
            <a:lvl1pPr>
              <a:defRPr sz="2025" b="0">
                <a:solidFill>
                  <a:srgbClr val="14283F"/>
                </a:solidFill>
                <a:latin typeface="Helvetica Neue"/>
                <a:ea typeface="Helvetica Neue"/>
                <a:cs typeface="Helvetica Neue"/>
              </a:defRPr>
            </a:lvl1pPr>
            <a:lvl2pPr>
              <a:defRPr sz="2025" b="0">
                <a:solidFill>
                  <a:srgbClr val="14283F"/>
                </a:solidFill>
                <a:latin typeface="Helvetica Neue"/>
                <a:ea typeface="Helvetica Neue"/>
                <a:cs typeface="Helvetica Neue"/>
              </a:defRPr>
            </a:lvl2pPr>
            <a:lvl3pPr>
              <a:defRPr sz="2025" b="0">
                <a:solidFill>
                  <a:srgbClr val="14283F"/>
                </a:solidFill>
                <a:latin typeface="Helvetica Neue"/>
                <a:ea typeface="Helvetica Neue"/>
                <a:cs typeface="Helvetica Neue"/>
              </a:defRPr>
            </a:lvl3pPr>
            <a:lvl4pPr>
              <a:defRPr sz="2025" b="0">
                <a:solidFill>
                  <a:srgbClr val="14283F"/>
                </a:solidFill>
                <a:latin typeface="Helvetica Neue"/>
                <a:ea typeface="Helvetica Neue"/>
                <a:cs typeface="Helvetica Neue"/>
              </a:defRPr>
            </a:lvl4pPr>
            <a:lvl5pPr>
              <a:defRPr sz="2025" b="0">
                <a:solidFill>
                  <a:srgbClr val="14283F"/>
                </a:solidFill>
                <a:latin typeface="Helvetica Neue"/>
                <a:ea typeface="Helvetica Neue"/>
                <a:cs typeface="Helvetica Neue"/>
              </a:defRPr>
            </a:lvl5pPr>
            <a:lvl6pPr>
              <a:defRPr sz="2025" b="0">
                <a:solidFill>
                  <a:srgbClr val="14283F"/>
                </a:solidFill>
                <a:latin typeface="Helvetica Neue"/>
                <a:ea typeface="Helvetica Neue"/>
                <a:cs typeface="Helvetica Neue"/>
              </a:defRPr>
            </a:lvl6pPr>
            <a:lvl7pPr>
              <a:defRPr sz="2025" b="0">
                <a:solidFill>
                  <a:srgbClr val="14283F"/>
                </a:solidFill>
                <a:latin typeface="Helvetica Neue"/>
                <a:ea typeface="Helvetica Neue"/>
                <a:cs typeface="Helvetica Neue"/>
              </a:defRPr>
            </a:lvl7pPr>
            <a:lvl8pPr>
              <a:defRPr sz="2025" b="0">
                <a:solidFill>
                  <a:srgbClr val="14283F"/>
                </a:solidFill>
                <a:latin typeface="Helvetica Neue"/>
                <a:ea typeface="Helvetica Neue"/>
                <a:cs typeface="Helvetica Neue"/>
              </a:defRPr>
            </a:lvl8pPr>
            <a:lvl9pPr>
              <a:defRPr sz="2025" b="0">
                <a:solidFill>
                  <a:srgbClr val="14283F"/>
                </a:solidFill>
                <a:latin typeface="Helvetica Neue"/>
                <a:ea typeface="Helvetica Neue"/>
                <a:cs typeface="Helvetica Neue"/>
              </a:defRPr>
            </a:lvl9pPr>
          </a:lstStyle>
          <a:p>
            <a:pPr>
              <a:defRPr sz="2025" b="0">
                <a:solidFill>
                  <a:srgbClr val="14283F"/>
                </a:solidFill>
                <a:latin typeface="Helvetica Neue"/>
                <a:ea typeface="Helvetica Neue"/>
                <a:cs typeface="Helvetica Neue"/>
              </a:defRPr>
            </a:pPr>
            <a:r>
              <a:rPr sz="2025" b="0">
                <a:solidFill>
                  <a:srgbClr val="14283F"/>
                </a:solidFill>
                <a:latin typeface="Helvetica Neue"/>
                <a:ea typeface="Helvetica Neue"/>
                <a:cs typeface="Helvetica Neue"/>
              </a:rPr>
              <a:t>500 matched target episodes per policy.</a:t>
            </a:r>
          </a:p>
          <a:p>
            <a:pPr>
              <a:defRPr sz="2025" b="0">
                <a:solidFill>
                  <a:srgbClr val="14283F"/>
                </a:solidFill>
                <a:latin typeface="Helvetica Neue"/>
                <a:ea typeface="Helvetica Neue"/>
                <a:cs typeface="Helvetica Neue"/>
              </a:defRPr>
            </a:pPr>
            <a:r>
              <a:rPr sz="2025" b="0">
                <a:solidFill>
                  <a:srgbClr val="14283F"/>
                </a:solidFill>
                <a:latin typeface="Helvetica Neue"/>
                <a:ea typeface="Helvetica Neue"/>
                <a:cs typeface="Helvetica Neue"/>
              </a:rPr>
              <a:t>The torso-aware policy adds 400,000 training steps.</a:t>
            </a:r>
          </a:p>
        </p:txBody>
      </p:sp>
    </p:spTree>
    <p:extLst>
      <p:ext uri="{BB962C8B-B14F-4D97-AF65-F5344CB8AC3E}">
        <p14:creationId xmlns:p14="http://schemas.microsoft.com/office/powerpoint/2010/main" val="65000166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AFE917AA-19A7-4023-A9CC-DD2FEAE172D5}"/>
              </a:ext>
            </a:extLst>
          </p:cNvPr>
          <p:cNvSpPr>
            <a:spLocks noGrp="1"/>
          </p:cNvSpPr>
          <p:nvPr/>
        </p:nvSpPr>
        <p:spPr>
          <a:xfrm>
            <a:off x="609600" y="400050"/>
            <a:ext cx="10972800" cy="800100"/>
          </a:xfrm>
          <a:prstGeom prst="rect">
            <a:avLst/>
          </a:prstGeom>
          <a:noFill/>
          <a:ln w="0">
            <a:noFill/>
          </a:ln>
        </p:spPr>
        <p:txBody>
          <a:bodyPr lIns="0" tIns="0" rIns="0" bIns="0" anchor="ctr">
            <a:noAutofit/>
          </a:bodyPr>
          <a:lstStyle>
            <a:defPPr>
              <a:defRPr sz="3600" b="1">
                <a:solidFill>
                  <a:srgbClr val="14283F"/>
                </a:solidFill>
                <a:latin typeface="Helvetica Neue"/>
                <a:ea typeface="Helvetica Neue"/>
                <a:cs typeface="Helvetica Neue"/>
              </a:defRPr>
            </a:defPPr>
            <a:lvl1pPr>
              <a:defRPr sz="3600" b="1">
                <a:solidFill>
                  <a:srgbClr val="14283F"/>
                </a:solidFill>
                <a:latin typeface="Helvetica Neue"/>
                <a:ea typeface="Helvetica Neue"/>
                <a:cs typeface="Helvetica Neue"/>
              </a:defRPr>
            </a:lvl1pPr>
            <a:lvl2pPr>
              <a:defRPr sz="3600" b="1">
                <a:solidFill>
                  <a:srgbClr val="14283F"/>
                </a:solidFill>
                <a:latin typeface="Helvetica Neue"/>
                <a:ea typeface="Helvetica Neue"/>
                <a:cs typeface="Helvetica Neue"/>
              </a:defRPr>
            </a:lvl2pPr>
            <a:lvl3pPr>
              <a:defRPr sz="3600" b="1">
                <a:solidFill>
                  <a:srgbClr val="14283F"/>
                </a:solidFill>
                <a:latin typeface="Helvetica Neue"/>
                <a:ea typeface="Helvetica Neue"/>
                <a:cs typeface="Helvetica Neue"/>
              </a:defRPr>
            </a:lvl3pPr>
            <a:lvl4pPr>
              <a:defRPr sz="3600" b="1">
                <a:solidFill>
                  <a:srgbClr val="14283F"/>
                </a:solidFill>
                <a:latin typeface="Helvetica Neue"/>
                <a:ea typeface="Helvetica Neue"/>
                <a:cs typeface="Helvetica Neue"/>
              </a:defRPr>
            </a:lvl4pPr>
            <a:lvl5pPr>
              <a:defRPr sz="3600" b="1">
                <a:solidFill>
                  <a:srgbClr val="14283F"/>
                </a:solidFill>
                <a:latin typeface="Helvetica Neue"/>
                <a:ea typeface="Helvetica Neue"/>
                <a:cs typeface="Helvetica Neue"/>
              </a:defRPr>
            </a:lvl5pPr>
            <a:lvl6pPr>
              <a:defRPr sz="3600" b="1">
                <a:solidFill>
                  <a:srgbClr val="14283F"/>
                </a:solidFill>
                <a:latin typeface="Helvetica Neue"/>
                <a:ea typeface="Helvetica Neue"/>
                <a:cs typeface="Helvetica Neue"/>
              </a:defRPr>
            </a:lvl6pPr>
            <a:lvl7pPr>
              <a:defRPr sz="3600" b="1">
                <a:solidFill>
                  <a:srgbClr val="14283F"/>
                </a:solidFill>
                <a:latin typeface="Helvetica Neue"/>
                <a:ea typeface="Helvetica Neue"/>
                <a:cs typeface="Helvetica Neue"/>
              </a:defRPr>
            </a:lvl7pPr>
            <a:lvl8pPr>
              <a:defRPr sz="3600" b="1">
                <a:solidFill>
                  <a:srgbClr val="14283F"/>
                </a:solidFill>
                <a:latin typeface="Helvetica Neue"/>
                <a:ea typeface="Helvetica Neue"/>
                <a:cs typeface="Helvetica Neue"/>
              </a:defRPr>
            </a:lvl8pPr>
            <a:lvl9pPr>
              <a:defRPr sz="3600" b="1">
                <a:solidFill>
                  <a:srgbClr val="14283F"/>
                </a:solidFill>
                <a:latin typeface="Helvetica Neue"/>
                <a:ea typeface="Helvetica Neue"/>
                <a:cs typeface="Helvetica Neue"/>
              </a:defRPr>
            </a:lvl9pPr>
          </a:lstStyle>
          <a:p>
            <a:pPr>
              <a:defRPr sz="3600" b="1">
                <a:solidFill>
                  <a:srgbClr val="14283F"/>
                </a:solidFill>
                <a:latin typeface="Helvetica Neue"/>
                <a:ea typeface="Helvetica Neue"/>
                <a:cs typeface="Helvetica Neue"/>
              </a:defRPr>
            </a:pPr>
            <a:r>
              <a:rPr sz="3600" b="1">
                <a:solidFill>
                  <a:srgbClr val="14283F"/>
                </a:solidFill>
                <a:latin typeface="Helvetica Neue"/>
                <a:ea typeface="Helvetica Neue"/>
                <a:cs typeface="Helvetica Neue"/>
              </a:rPr>
              <a:t>Before focused lift training</a:t>
            </a:r>
          </a:p>
        </p:txBody>
      </p:sp>
      <p:sp>
        <p:nvSpPr>
          <p:cNvPr id="4" name="Rectangle 3">
            <a:extLst>
              <a:ext uri="{FF2B5EF4-FFF2-40B4-BE49-F238E27FC236}">
                <a16:creationId xmlns:a16="http://schemas.microsoft.com/office/drawing/2014/main" id="{E13F4A6A-BFB7-4089-B535-49D36B005193}"/>
              </a:ext>
            </a:extLst>
          </p:cNvPr>
          <p:cNvSpPr>
            <a:spLocks noGrp="1"/>
          </p:cNvSpPr>
          <p:nvPr/>
        </p:nvSpPr>
        <p:spPr>
          <a:xfrm>
            <a:off x="11277600" y="6438900"/>
            <a:ext cx="381000" cy="228600"/>
          </a:xfrm>
          <a:prstGeom prst="rect">
            <a:avLst/>
          </a:prstGeom>
          <a:noFill/>
          <a:ln w="0">
            <a:noFill/>
          </a:ln>
        </p:spPr>
        <p:txBody>
          <a:bodyPr lIns="0" tIns="0" rIns="0" bIns="0" anchor="ctr">
            <a:noAutofit/>
          </a:bodyPr>
          <a:lstStyle>
            <a:defPPr>
              <a:defRPr sz="1425" b="0">
                <a:solidFill>
                  <a:srgbClr val="566779"/>
                </a:solidFill>
                <a:latin typeface="Helvetica Neue"/>
                <a:ea typeface="Helvetica Neue"/>
                <a:cs typeface="Helvetica Neue"/>
              </a:defRPr>
            </a:defPPr>
            <a:lvl1pPr>
              <a:defRPr sz="1425" b="0">
                <a:solidFill>
                  <a:srgbClr val="566779"/>
                </a:solidFill>
                <a:latin typeface="Helvetica Neue"/>
                <a:ea typeface="Helvetica Neue"/>
                <a:cs typeface="Helvetica Neue"/>
              </a:defRPr>
            </a:lvl1pPr>
            <a:lvl2pPr>
              <a:defRPr sz="1425" b="0">
                <a:solidFill>
                  <a:srgbClr val="566779"/>
                </a:solidFill>
                <a:latin typeface="Helvetica Neue"/>
                <a:ea typeface="Helvetica Neue"/>
                <a:cs typeface="Helvetica Neue"/>
              </a:defRPr>
            </a:lvl2pPr>
            <a:lvl3pPr>
              <a:defRPr sz="1425" b="0">
                <a:solidFill>
                  <a:srgbClr val="566779"/>
                </a:solidFill>
                <a:latin typeface="Helvetica Neue"/>
                <a:ea typeface="Helvetica Neue"/>
                <a:cs typeface="Helvetica Neue"/>
              </a:defRPr>
            </a:lvl3pPr>
            <a:lvl4pPr>
              <a:defRPr sz="1425" b="0">
                <a:solidFill>
                  <a:srgbClr val="566779"/>
                </a:solidFill>
                <a:latin typeface="Helvetica Neue"/>
                <a:ea typeface="Helvetica Neue"/>
                <a:cs typeface="Helvetica Neue"/>
              </a:defRPr>
            </a:lvl4pPr>
            <a:lvl5pPr>
              <a:defRPr sz="1425" b="0">
                <a:solidFill>
                  <a:srgbClr val="566779"/>
                </a:solidFill>
                <a:latin typeface="Helvetica Neue"/>
                <a:ea typeface="Helvetica Neue"/>
                <a:cs typeface="Helvetica Neue"/>
              </a:defRPr>
            </a:lvl5pPr>
            <a:lvl6pPr>
              <a:defRPr sz="1425" b="0">
                <a:solidFill>
                  <a:srgbClr val="566779"/>
                </a:solidFill>
                <a:latin typeface="Helvetica Neue"/>
                <a:ea typeface="Helvetica Neue"/>
                <a:cs typeface="Helvetica Neue"/>
              </a:defRPr>
            </a:lvl6pPr>
            <a:lvl7pPr>
              <a:defRPr sz="1425" b="0">
                <a:solidFill>
                  <a:srgbClr val="566779"/>
                </a:solidFill>
                <a:latin typeface="Helvetica Neue"/>
                <a:ea typeface="Helvetica Neue"/>
                <a:cs typeface="Helvetica Neue"/>
              </a:defRPr>
            </a:lvl7pPr>
            <a:lvl8pPr>
              <a:defRPr sz="1425" b="0">
                <a:solidFill>
                  <a:srgbClr val="566779"/>
                </a:solidFill>
                <a:latin typeface="Helvetica Neue"/>
                <a:ea typeface="Helvetica Neue"/>
                <a:cs typeface="Helvetica Neue"/>
              </a:defRPr>
            </a:lvl8pPr>
            <a:lvl9pPr>
              <a:defRPr sz="1425" b="0">
                <a:solidFill>
                  <a:srgbClr val="566779"/>
                </a:solidFill>
                <a:latin typeface="Helvetica Neue"/>
                <a:ea typeface="Helvetica Neue"/>
                <a:cs typeface="Helvetica Neue"/>
              </a:defRPr>
            </a:lvl9pPr>
          </a:lstStyle>
          <a:p>
            <a:pPr>
              <a:defRPr sz="1425" b="0">
                <a:solidFill>
                  <a:srgbClr val="566779"/>
                </a:solidFill>
                <a:latin typeface="Helvetica Neue"/>
                <a:ea typeface="Helvetica Neue"/>
                <a:cs typeface="Helvetica Neue"/>
              </a:defRPr>
            </a:pPr>
            <a:r>
              <a:rPr sz="1425" b="0">
                <a:solidFill>
                  <a:srgbClr val="566779"/>
                </a:solidFill>
                <a:latin typeface="Helvetica Neue"/>
                <a:ea typeface="Helvetica Neue"/>
                <a:cs typeface="Helvetica Neue"/>
              </a:rPr>
              <a:t>7</a:t>
            </a:r>
          </a:p>
        </p:txBody>
      </p:sp>
      <p:pic>
        <p:nvPicPr>
          <p:cNvPr id="5" name="before_lift video">
            <a:hlinkClick r:id="" action="ppaction://media"/>
            <a:extLst>
              <a:ext uri="{FF2B5EF4-FFF2-40B4-BE49-F238E27FC236}">
                <a16:creationId xmlns:a16="http://schemas.microsoft.com/office/drawing/2014/main" id="{9939493B-C771-4505-B6C9-AB2A371D1877}"/>
              </a:ext>
            </a:extLst>
          </p:cNvPr>
          <p:cNvPicPr>
            <a:picLocks noChangeAspect="1"/>
          </p:cNvPicPr>
          <p:nvPr>
            <a:videoFile r:link="rId2"/>
            <p:extLst>
              <p:ext uri="{DAA4B4D4-6D71-4841-9C94-3DE7FCFB9230}">
                <p14:media xmlns:p14="http://schemas.microsoft.com/office/powerpoint/2010/main" r:embed="rId1"/>
              </p:ext>
            </p:extLst>
          </p:nvPr>
        </p:nvPicPr>
        <p:blipFill>
          <a:blip r:embed="rId5"/>
          <a:stretch/>
        </p:blipFill>
        <p:spPr>
          <a:xfrm>
            <a:off x="609600" y="1419225"/>
            <a:ext cx="6400800" cy="4800600"/>
          </a:xfrm>
          <a:prstGeom prst="rect">
            <a:avLst/>
          </a:prstGeom>
        </p:spPr>
      </p:pic>
      <p:sp>
        <p:nvSpPr>
          <p:cNvPr id="7" name="Rectangle 6">
            <a:extLst>
              <a:ext uri="{FF2B5EF4-FFF2-40B4-BE49-F238E27FC236}">
                <a16:creationId xmlns:a16="http://schemas.microsoft.com/office/drawing/2014/main" id="{D480AB7B-4CC8-448C-B14B-FF8340F8E8B3}"/>
              </a:ext>
            </a:extLst>
          </p:cNvPr>
          <p:cNvSpPr>
            <a:spLocks noGrp="1"/>
          </p:cNvSpPr>
          <p:nvPr/>
        </p:nvSpPr>
        <p:spPr>
          <a:xfrm>
            <a:off x="7505700" y="1619250"/>
            <a:ext cx="4000500" cy="809625"/>
          </a:xfrm>
          <a:prstGeom prst="rect">
            <a:avLst/>
          </a:prstGeom>
          <a:noFill/>
          <a:ln w="0">
            <a:noFill/>
          </a:ln>
        </p:spPr>
        <p:txBody>
          <a:bodyPr lIns="0" tIns="0" rIns="0" bIns="0" anchor="ctr">
            <a:noAutofit/>
          </a:bodyPr>
          <a:lstStyle>
            <a:defPPr>
              <a:defRPr sz="4200" b="1">
                <a:solidFill>
                  <a:srgbClr val="176FBD"/>
                </a:solidFill>
                <a:latin typeface="Helvetica Neue"/>
                <a:ea typeface="Helvetica Neue"/>
                <a:cs typeface="Helvetica Neue"/>
              </a:defRPr>
            </a:defPPr>
            <a:lvl1pPr>
              <a:defRPr sz="4200" b="1">
                <a:solidFill>
                  <a:srgbClr val="176FBD"/>
                </a:solidFill>
                <a:latin typeface="Helvetica Neue"/>
                <a:ea typeface="Helvetica Neue"/>
                <a:cs typeface="Helvetica Neue"/>
              </a:defRPr>
            </a:lvl1pPr>
            <a:lvl2pPr>
              <a:defRPr sz="4200" b="1">
                <a:solidFill>
                  <a:srgbClr val="176FBD"/>
                </a:solidFill>
                <a:latin typeface="Helvetica Neue"/>
                <a:ea typeface="Helvetica Neue"/>
                <a:cs typeface="Helvetica Neue"/>
              </a:defRPr>
            </a:lvl2pPr>
            <a:lvl3pPr>
              <a:defRPr sz="4200" b="1">
                <a:solidFill>
                  <a:srgbClr val="176FBD"/>
                </a:solidFill>
                <a:latin typeface="Helvetica Neue"/>
                <a:ea typeface="Helvetica Neue"/>
                <a:cs typeface="Helvetica Neue"/>
              </a:defRPr>
            </a:lvl3pPr>
            <a:lvl4pPr>
              <a:defRPr sz="4200" b="1">
                <a:solidFill>
                  <a:srgbClr val="176FBD"/>
                </a:solidFill>
                <a:latin typeface="Helvetica Neue"/>
                <a:ea typeface="Helvetica Neue"/>
                <a:cs typeface="Helvetica Neue"/>
              </a:defRPr>
            </a:lvl4pPr>
            <a:lvl5pPr>
              <a:defRPr sz="4200" b="1">
                <a:solidFill>
                  <a:srgbClr val="176FBD"/>
                </a:solidFill>
                <a:latin typeface="Helvetica Neue"/>
                <a:ea typeface="Helvetica Neue"/>
                <a:cs typeface="Helvetica Neue"/>
              </a:defRPr>
            </a:lvl5pPr>
            <a:lvl6pPr>
              <a:defRPr sz="4200" b="1">
                <a:solidFill>
                  <a:srgbClr val="176FBD"/>
                </a:solidFill>
                <a:latin typeface="Helvetica Neue"/>
                <a:ea typeface="Helvetica Neue"/>
                <a:cs typeface="Helvetica Neue"/>
              </a:defRPr>
            </a:lvl6pPr>
            <a:lvl7pPr>
              <a:defRPr sz="4200" b="1">
                <a:solidFill>
                  <a:srgbClr val="176FBD"/>
                </a:solidFill>
                <a:latin typeface="Helvetica Neue"/>
                <a:ea typeface="Helvetica Neue"/>
                <a:cs typeface="Helvetica Neue"/>
              </a:defRPr>
            </a:lvl7pPr>
            <a:lvl8pPr>
              <a:defRPr sz="4200" b="1">
                <a:solidFill>
                  <a:srgbClr val="176FBD"/>
                </a:solidFill>
                <a:latin typeface="Helvetica Neue"/>
                <a:ea typeface="Helvetica Neue"/>
                <a:cs typeface="Helvetica Neue"/>
              </a:defRPr>
            </a:lvl8pPr>
            <a:lvl9pPr>
              <a:defRPr sz="4200" b="1">
                <a:solidFill>
                  <a:srgbClr val="176FBD"/>
                </a:solidFill>
                <a:latin typeface="Helvetica Neue"/>
                <a:ea typeface="Helvetica Neue"/>
                <a:cs typeface="Helvetica Neue"/>
              </a:defRPr>
            </a:lvl9pPr>
          </a:lstStyle>
          <a:p>
            <a:pPr>
              <a:defRPr sz="4200" b="1">
                <a:solidFill>
                  <a:srgbClr val="176FBD"/>
                </a:solidFill>
                <a:latin typeface="Helvetica Neue"/>
                <a:ea typeface="Helvetica Neue"/>
                <a:cs typeface="Helvetica Neue"/>
              </a:defRPr>
            </a:pPr>
            <a:r>
              <a:rPr sz="4200" b="1">
                <a:solidFill>
                  <a:srgbClr val="176FBD"/>
                </a:solidFill>
                <a:latin typeface="Helvetica Neue"/>
                <a:ea typeface="Helvetica Neue"/>
                <a:cs typeface="Helvetica Neue"/>
              </a:rPr>
              <a:t>0 / 100</a:t>
            </a:r>
          </a:p>
        </p:txBody>
      </p:sp>
      <p:sp>
        <p:nvSpPr>
          <p:cNvPr id="8" name="Rectangle 7">
            <a:extLst>
              <a:ext uri="{FF2B5EF4-FFF2-40B4-BE49-F238E27FC236}">
                <a16:creationId xmlns:a16="http://schemas.microsoft.com/office/drawing/2014/main" id="{3F37CCF0-ECA6-42FE-A6A6-C4213995DAC8}"/>
              </a:ext>
            </a:extLst>
          </p:cNvPr>
          <p:cNvSpPr>
            <a:spLocks noGrp="1"/>
          </p:cNvSpPr>
          <p:nvPr/>
        </p:nvSpPr>
        <p:spPr>
          <a:xfrm>
            <a:off x="7505700" y="2457450"/>
            <a:ext cx="4000500" cy="704850"/>
          </a:xfrm>
          <a:prstGeom prst="rect">
            <a:avLst/>
          </a:prstGeom>
          <a:noFill/>
          <a:ln w="0">
            <a:noFill/>
          </a:ln>
        </p:spPr>
        <p:txBody>
          <a:bodyPr lIns="0" tIns="0" rIns="0" bIns="0" anchor="ctr">
            <a:noAutofit/>
          </a:bodyPr>
          <a:lstStyle>
            <a:defPPr>
              <a:defRPr sz="2025" b="0">
                <a:solidFill>
                  <a:srgbClr val="14283F"/>
                </a:solidFill>
                <a:latin typeface="Helvetica Neue"/>
                <a:ea typeface="Helvetica Neue"/>
                <a:cs typeface="Helvetica Neue"/>
              </a:defRPr>
            </a:defPPr>
            <a:lvl1pPr>
              <a:defRPr sz="2025" b="0">
                <a:solidFill>
                  <a:srgbClr val="14283F"/>
                </a:solidFill>
                <a:latin typeface="Helvetica Neue"/>
                <a:ea typeface="Helvetica Neue"/>
                <a:cs typeface="Helvetica Neue"/>
              </a:defRPr>
            </a:lvl1pPr>
            <a:lvl2pPr>
              <a:defRPr sz="2025" b="0">
                <a:solidFill>
                  <a:srgbClr val="14283F"/>
                </a:solidFill>
                <a:latin typeface="Helvetica Neue"/>
                <a:ea typeface="Helvetica Neue"/>
                <a:cs typeface="Helvetica Neue"/>
              </a:defRPr>
            </a:lvl2pPr>
            <a:lvl3pPr>
              <a:defRPr sz="2025" b="0">
                <a:solidFill>
                  <a:srgbClr val="14283F"/>
                </a:solidFill>
                <a:latin typeface="Helvetica Neue"/>
                <a:ea typeface="Helvetica Neue"/>
                <a:cs typeface="Helvetica Neue"/>
              </a:defRPr>
            </a:lvl3pPr>
            <a:lvl4pPr>
              <a:defRPr sz="2025" b="0">
                <a:solidFill>
                  <a:srgbClr val="14283F"/>
                </a:solidFill>
                <a:latin typeface="Helvetica Neue"/>
                <a:ea typeface="Helvetica Neue"/>
                <a:cs typeface="Helvetica Neue"/>
              </a:defRPr>
            </a:lvl4pPr>
            <a:lvl5pPr>
              <a:defRPr sz="2025" b="0">
                <a:solidFill>
                  <a:srgbClr val="14283F"/>
                </a:solidFill>
                <a:latin typeface="Helvetica Neue"/>
                <a:ea typeface="Helvetica Neue"/>
                <a:cs typeface="Helvetica Neue"/>
              </a:defRPr>
            </a:lvl5pPr>
            <a:lvl6pPr>
              <a:defRPr sz="2025" b="0">
                <a:solidFill>
                  <a:srgbClr val="14283F"/>
                </a:solidFill>
                <a:latin typeface="Helvetica Neue"/>
                <a:ea typeface="Helvetica Neue"/>
                <a:cs typeface="Helvetica Neue"/>
              </a:defRPr>
            </a:lvl6pPr>
            <a:lvl7pPr>
              <a:defRPr sz="2025" b="0">
                <a:solidFill>
                  <a:srgbClr val="14283F"/>
                </a:solidFill>
                <a:latin typeface="Helvetica Neue"/>
                <a:ea typeface="Helvetica Neue"/>
                <a:cs typeface="Helvetica Neue"/>
              </a:defRPr>
            </a:lvl7pPr>
            <a:lvl8pPr>
              <a:defRPr sz="2025" b="0">
                <a:solidFill>
                  <a:srgbClr val="14283F"/>
                </a:solidFill>
                <a:latin typeface="Helvetica Neue"/>
                <a:ea typeface="Helvetica Neue"/>
                <a:cs typeface="Helvetica Neue"/>
              </a:defRPr>
            </a:lvl8pPr>
            <a:lvl9pPr>
              <a:defRPr sz="2025" b="0">
                <a:solidFill>
                  <a:srgbClr val="14283F"/>
                </a:solidFill>
                <a:latin typeface="Helvetica Neue"/>
                <a:ea typeface="Helvetica Neue"/>
                <a:cs typeface="Helvetica Neue"/>
              </a:defRPr>
            </a:lvl9pPr>
          </a:lstStyle>
          <a:p>
            <a:pPr>
              <a:defRPr sz="2025" b="0">
                <a:solidFill>
                  <a:srgbClr val="14283F"/>
                </a:solidFill>
                <a:latin typeface="Helvetica Neue"/>
                <a:ea typeface="Helvetica Neue"/>
                <a:cs typeface="Helvetica Neue"/>
              </a:defRPr>
            </a:pPr>
            <a:r>
              <a:rPr sz="2025" b="0">
                <a:solidFill>
                  <a:srgbClr val="14283F"/>
                </a:solidFill>
                <a:latin typeface="Helvetica Neue"/>
                <a:ea typeface="Helvetica Neue"/>
                <a:cs typeface="Helvetica Neue"/>
              </a:rPr>
              <a:t>nearby lift-and-hold successes</a:t>
            </a:r>
          </a:p>
        </p:txBody>
      </p:sp>
      <p:sp>
        <p:nvSpPr>
          <p:cNvPr id="9" name="Rectangle 8">
            <a:extLst>
              <a:ext uri="{FF2B5EF4-FFF2-40B4-BE49-F238E27FC236}">
                <a16:creationId xmlns:a16="http://schemas.microsoft.com/office/drawing/2014/main" id="{5164E3F3-9475-49DA-A94D-EA715A75D2BE}"/>
              </a:ext>
            </a:extLst>
          </p:cNvPr>
          <p:cNvSpPr>
            <a:spLocks noGrp="1"/>
          </p:cNvSpPr>
          <p:nvPr/>
        </p:nvSpPr>
        <p:spPr>
          <a:xfrm>
            <a:off x="7505700" y="3429000"/>
            <a:ext cx="4000500" cy="1381125"/>
          </a:xfrm>
          <a:prstGeom prst="rect">
            <a:avLst/>
          </a:prstGeom>
          <a:noFill/>
          <a:ln w="0">
            <a:noFill/>
          </a:ln>
        </p:spPr>
        <p:txBody>
          <a:bodyPr lIns="0" tIns="0" rIns="0" bIns="0" anchor="ctr">
            <a:noAutofit/>
          </a:bodyPr>
          <a:lstStyle>
            <a:defPPr>
              <a:defRPr sz="2100" b="0">
                <a:solidFill>
                  <a:srgbClr val="14283F"/>
                </a:solidFill>
                <a:latin typeface="Helvetica Neue"/>
                <a:ea typeface="Helvetica Neue"/>
                <a:cs typeface="Helvetica Neue"/>
              </a:defRPr>
            </a:defPPr>
            <a:lvl1pPr>
              <a:defRPr sz="2100" b="0">
                <a:solidFill>
                  <a:srgbClr val="14283F"/>
                </a:solidFill>
                <a:latin typeface="Helvetica Neue"/>
                <a:ea typeface="Helvetica Neue"/>
                <a:cs typeface="Helvetica Neue"/>
              </a:defRPr>
            </a:lvl1pPr>
            <a:lvl2pPr>
              <a:defRPr sz="2100" b="0">
                <a:solidFill>
                  <a:srgbClr val="14283F"/>
                </a:solidFill>
                <a:latin typeface="Helvetica Neue"/>
                <a:ea typeface="Helvetica Neue"/>
                <a:cs typeface="Helvetica Neue"/>
              </a:defRPr>
            </a:lvl2pPr>
            <a:lvl3pPr>
              <a:defRPr sz="2100" b="0">
                <a:solidFill>
                  <a:srgbClr val="14283F"/>
                </a:solidFill>
                <a:latin typeface="Helvetica Neue"/>
                <a:ea typeface="Helvetica Neue"/>
                <a:cs typeface="Helvetica Neue"/>
              </a:defRPr>
            </a:lvl3pPr>
            <a:lvl4pPr>
              <a:defRPr sz="2100" b="0">
                <a:solidFill>
                  <a:srgbClr val="14283F"/>
                </a:solidFill>
                <a:latin typeface="Helvetica Neue"/>
                <a:ea typeface="Helvetica Neue"/>
                <a:cs typeface="Helvetica Neue"/>
              </a:defRPr>
            </a:lvl4pPr>
            <a:lvl5pPr>
              <a:defRPr sz="2100" b="0">
                <a:solidFill>
                  <a:srgbClr val="14283F"/>
                </a:solidFill>
                <a:latin typeface="Helvetica Neue"/>
                <a:ea typeface="Helvetica Neue"/>
                <a:cs typeface="Helvetica Neue"/>
              </a:defRPr>
            </a:lvl5pPr>
            <a:lvl6pPr>
              <a:defRPr sz="2100" b="0">
                <a:solidFill>
                  <a:srgbClr val="14283F"/>
                </a:solidFill>
                <a:latin typeface="Helvetica Neue"/>
                <a:ea typeface="Helvetica Neue"/>
                <a:cs typeface="Helvetica Neue"/>
              </a:defRPr>
            </a:lvl6pPr>
            <a:lvl7pPr>
              <a:defRPr sz="2100" b="0">
                <a:solidFill>
                  <a:srgbClr val="14283F"/>
                </a:solidFill>
                <a:latin typeface="Helvetica Neue"/>
                <a:ea typeface="Helvetica Neue"/>
                <a:cs typeface="Helvetica Neue"/>
              </a:defRPr>
            </a:lvl7pPr>
            <a:lvl8pPr>
              <a:defRPr sz="2100" b="0">
                <a:solidFill>
                  <a:srgbClr val="14283F"/>
                </a:solidFill>
                <a:latin typeface="Helvetica Neue"/>
                <a:ea typeface="Helvetica Neue"/>
                <a:cs typeface="Helvetica Neue"/>
              </a:defRPr>
            </a:lvl8pPr>
            <a:lvl9pPr>
              <a:defRPr sz="2100" b="0">
                <a:solidFill>
                  <a:srgbClr val="14283F"/>
                </a:solidFill>
                <a:latin typeface="Helvetica Neue"/>
                <a:ea typeface="Helvetica Neue"/>
                <a:cs typeface="Helvetica Neue"/>
              </a:defRPr>
            </a:lvl9pPr>
          </a:lstStyle>
          <a:p>
            <a:pPr>
              <a:defRPr sz="2100" b="0">
                <a:solidFill>
                  <a:srgbClr val="14283F"/>
                </a:solidFill>
                <a:latin typeface="Helvetica Neue"/>
                <a:ea typeface="Helvetica Neue"/>
                <a:cs typeface="Helvetica Neue"/>
              </a:defRPr>
            </a:pPr>
            <a:r>
              <a:rPr sz="2100" b="0">
                <a:solidFill>
                  <a:srgbClr val="14283F"/>
                </a:solidFill>
                <a:latin typeface="Helvetica Neue"/>
                <a:ea typeface="Helvetica Neue"/>
                <a:cs typeface="Helvetica Neue"/>
              </a:rPr>
              <a:t>The policy makes finger contact but presses the ball against the table.</a:t>
            </a:r>
          </a:p>
        </p:txBody>
      </p:sp>
      <p:sp>
        <p:nvSpPr>
          <p:cNvPr id="10" name="Rectangle 9">
            <a:extLst>
              <a:ext uri="{FF2B5EF4-FFF2-40B4-BE49-F238E27FC236}">
                <a16:creationId xmlns:a16="http://schemas.microsoft.com/office/drawing/2014/main" id="{D1A37E05-880A-405C-A5DA-4D5EE1FA04E0}"/>
              </a:ext>
            </a:extLst>
          </p:cNvPr>
          <p:cNvSpPr>
            <a:spLocks noGrp="1"/>
          </p:cNvSpPr>
          <p:nvPr/>
        </p:nvSpPr>
        <p:spPr>
          <a:xfrm>
            <a:off x="7505700" y="4991100"/>
            <a:ext cx="4000500" cy="857250"/>
          </a:xfrm>
          <a:prstGeom prst="rect">
            <a:avLst/>
          </a:prstGeom>
          <a:noFill/>
          <a:ln w="0">
            <a:noFill/>
          </a:ln>
        </p:spPr>
        <p:txBody>
          <a:bodyPr lIns="0" tIns="0" rIns="0" bIns="0" anchor="ctr">
            <a:noAutofit/>
          </a:bodyPr>
          <a:lstStyle>
            <a:defPPr>
              <a:defRPr sz="1725" b="0">
                <a:solidFill>
                  <a:srgbClr val="566779"/>
                </a:solidFill>
                <a:latin typeface="Helvetica Neue"/>
                <a:ea typeface="Helvetica Neue"/>
                <a:cs typeface="Helvetica Neue"/>
              </a:defRPr>
            </a:defPPr>
            <a:lvl1pPr>
              <a:defRPr sz="1725" b="0">
                <a:solidFill>
                  <a:srgbClr val="566779"/>
                </a:solidFill>
                <a:latin typeface="Helvetica Neue"/>
                <a:ea typeface="Helvetica Neue"/>
                <a:cs typeface="Helvetica Neue"/>
              </a:defRPr>
            </a:lvl1pPr>
            <a:lvl2pPr>
              <a:defRPr sz="1725" b="0">
                <a:solidFill>
                  <a:srgbClr val="566779"/>
                </a:solidFill>
                <a:latin typeface="Helvetica Neue"/>
                <a:ea typeface="Helvetica Neue"/>
                <a:cs typeface="Helvetica Neue"/>
              </a:defRPr>
            </a:lvl2pPr>
            <a:lvl3pPr>
              <a:defRPr sz="1725" b="0">
                <a:solidFill>
                  <a:srgbClr val="566779"/>
                </a:solidFill>
                <a:latin typeface="Helvetica Neue"/>
                <a:ea typeface="Helvetica Neue"/>
                <a:cs typeface="Helvetica Neue"/>
              </a:defRPr>
            </a:lvl3pPr>
            <a:lvl4pPr>
              <a:defRPr sz="1725" b="0">
                <a:solidFill>
                  <a:srgbClr val="566779"/>
                </a:solidFill>
                <a:latin typeface="Helvetica Neue"/>
                <a:ea typeface="Helvetica Neue"/>
                <a:cs typeface="Helvetica Neue"/>
              </a:defRPr>
            </a:lvl4pPr>
            <a:lvl5pPr>
              <a:defRPr sz="1725" b="0">
                <a:solidFill>
                  <a:srgbClr val="566779"/>
                </a:solidFill>
                <a:latin typeface="Helvetica Neue"/>
                <a:ea typeface="Helvetica Neue"/>
                <a:cs typeface="Helvetica Neue"/>
              </a:defRPr>
            </a:lvl5pPr>
            <a:lvl6pPr>
              <a:defRPr sz="1725" b="0">
                <a:solidFill>
                  <a:srgbClr val="566779"/>
                </a:solidFill>
                <a:latin typeface="Helvetica Neue"/>
                <a:ea typeface="Helvetica Neue"/>
                <a:cs typeface="Helvetica Neue"/>
              </a:defRPr>
            </a:lvl6pPr>
            <a:lvl7pPr>
              <a:defRPr sz="1725" b="0">
                <a:solidFill>
                  <a:srgbClr val="566779"/>
                </a:solidFill>
                <a:latin typeface="Helvetica Neue"/>
                <a:ea typeface="Helvetica Neue"/>
                <a:cs typeface="Helvetica Neue"/>
              </a:defRPr>
            </a:lvl7pPr>
            <a:lvl8pPr>
              <a:defRPr sz="1725" b="0">
                <a:solidFill>
                  <a:srgbClr val="566779"/>
                </a:solidFill>
                <a:latin typeface="Helvetica Neue"/>
                <a:ea typeface="Helvetica Neue"/>
                <a:cs typeface="Helvetica Neue"/>
              </a:defRPr>
            </a:lvl8pPr>
            <a:lvl9pPr>
              <a:defRPr sz="1725" b="0">
                <a:solidFill>
                  <a:srgbClr val="566779"/>
                </a:solidFill>
                <a:latin typeface="Helvetica Neue"/>
                <a:ea typeface="Helvetica Neue"/>
                <a:cs typeface="Helvetica Neue"/>
              </a:defRPr>
            </a:lvl9pPr>
          </a:lstStyle>
          <a:p>
            <a:pPr>
              <a:defRPr sz="1725" b="0">
                <a:solidFill>
                  <a:srgbClr val="566779"/>
                </a:solidFill>
                <a:latin typeface="Helvetica Neue"/>
                <a:ea typeface="Helvetica Neue"/>
                <a:cs typeface="Helvetica Neue"/>
              </a:defRPr>
            </a:pPr>
            <a:r>
              <a:rPr sz="1725" b="0">
                <a:solidFill>
                  <a:srgbClr val="566779"/>
                </a:solidFill>
                <a:latin typeface="Helvetica Neue"/>
                <a:ea typeface="Helvetica Neue"/>
                <a:cs typeface="Helvetica Neue"/>
              </a:rPr>
              <a:t>Base policy: 1.2 million interactions.</a:t>
            </a:r>
          </a:p>
          <a:p>
            <a:pPr>
              <a:defRPr sz="1725" b="0">
                <a:solidFill>
                  <a:srgbClr val="566779"/>
                </a:solidFill>
                <a:latin typeface="Helvetica Neue"/>
                <a:ea typeface="Helvetica Neue"/>
                <a:cs typeface="Helvetica Neue"/>
              </a:defRPr>
            </a:pPr>
            <a:r>
              <a:rPr sz="1725" b="0">
                <a:solidFill>
                  <a:srgbClr val="566779"/>
                </a:solidFill>
                <a:latin typeface="Helvetica Neue"/>
                <a:ea typeface="Helvetica Neue"/>
                <a:cs typeface="Helvetica Neue"/>
              </a:rPr>
              <a:t>Its contact state starts the next phase.</a:t>
            </a:r>
          </a:p>
        </p:txBody>
      </p:sp>
    </p:spTree>
    <p:extLst>
      <p:ext uri="{BB962C8B-B14F-4D97-AF65-F5344CB8AC3E}">
        <p14:creationId xmlns:p14="http://schemas.microsoft.com/office/powerpoint/2010/main" val="458272076"/>
      </p:ext>
    </p:extLst>
  </p:cSld>
  <p:clrMapOvr>
    <a:masterClrMapping/>
  </p:clrMapOvr>
  <p:timing>
    <p:tnLst>
      <p:par>
        <p:cTn id="1" dur="indefinite" restart="never" fill="hold" nodeType="tmRoot">
          <p:childTnLst>
            <p:seq concurrent="1" prevAc="none" nextAc="seek">
              <p:cTn id="2" dur="indefinite" fill="hold"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 fill="hold"/>
                                        <p:tgtEl>
                                          <p:spTgt spid="5"/>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100000">
                <p:cTn id="7" fill="hold" display="0">
                  <p:stCondLst>
                    <p:cond delay="indefinite"/>
                  </p:stCondLst>
                </p:cTn>
                <p:tgtEl>
                  <p:spTgt spid="5"/>
                </p:tgtEl>
              </p:cMediaNode>
            </p:video>
            <p:seq concurrent="1" prevAc="none" nextAc="seek">
              <p:cTn id="8" restart="whenNotActive" fill="hold" evtFilter="cancelBubble" nodeType="interactiveSeq">
                <p:stCondLst>
                  <p:cond evt="onClick" delay="0">
                    <p:tgtEl>
                      <p:spTgt spid="5"/>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5"/>
                                        </p:tgtEl>
                                      </p:cBhvr>
                                    </p:cmd>
                                  </p:childTnLst>
                                </p:cTn>
                              </p:par>
                            </p:childTnLst>
                          </p:cTn>
                        </p:par>
                      </p:childTnLst>
                    </p:cTn>
                  </p:par>
                </p:childTnLst>
              </p:cTn>
              <p:nextCondLst>
                <p:cond evt="onClick" delay="0">
                  <p:tgtEl>
                    <p:spTgt spid="5"/>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F8F0E149-25DD-4AE1-B82B-FCD78A2F197C}"/>
              </a:ext>
            </a:extLst>
          </p:cNvPr>
          <p:cNvSpPr>
            <a:spLocks noGrp="1"/>
          </p:cNvSpPr>
          <p:nvPr/>
        </p:nvSpPr>
        <p:spPr>
          <a:xfrm>
            <a:off x="609600" y="400050"/>
            <a:ext cx="10972800" cy="800100"/>
          </a:xfrm>
          <a:prstGeom prst="rect">
            <a:avLst/>
          </a:prstGeom>
          <a:noFill/>
          <a:ln w="0">
            <a:noFill/>
          </a:ln>
        </p:spPr>
        <p:txBody>
          <a:bodyPr lIns="0" tIns="0" rIns="0" bIns="0" anchor="ctr">
            <a:noAutofit/>
          </a:bodyPr>
          <a:lstStyle>
            <a:defPPr>
              <a:defRPr sz="3600" b="1">
                <a:solidFill>
                  <a:srgbClr val="14283F"/>
                </a:solidFill>
                <a:latin typeface="Helvetica Neue"/>
                <a:ea typeface="Helvetica Neue"/>
                <a:cs typeface="Helvetica Neue"/>
              </a:defRPr>
            </a:defPPr>
            <a:lvl1pPr>
              <a:defRPr sz="3600" b="1">
                <a:solidFill>
                  <a:srgbClr val="14283F"/>
                </a:solidFill>
                <a:latin typeface="Helvetica Neue"/>
                <a:ea typeface="Helvetica Neue"/>
                <a:cs typeface="Helvetica Neue"/>
              </a:defRPr>
            </a:lvl1pPr>
            <a:lvl2pPr>
              <a:defRPr sz="3600" b="1">
                <a:solidFill>
                  <a:srgbClr val="14283F"/>
                </a:solidFill>
                <a:latin typeface="Helvetica Neue"/>
                <a:ea typeface="Helvetica Neue"/>
                <a:cs typeface="Helvetica Neue"/>
              </a:defRPr>
            </a:lvl2pPr>
            <a:lvl3pPr>
              <a:defRPr sz="3600" b="1">
                <a:solidFill>
                  <a:srgbClr val="14283F"/>
                </a:solidFill>
                <a:latin typeface="Helvetica Neue"/>
                <a:ea typeface="Helvetica Neue"/>
                <a:cs typeface="Helvetica Neue"/>
              </a:defRPr>
            </a:lvl3pPr>
            <a:lvl4pPr>
              <a:defRPr sz="3600" b="1">
                <a:solidFill>
                  <a:srgbClr val="14283F"/>
                </a:solidFill>
                <a:latin typeface="Helvetica Neue"/>
                <a:ea typeface="Helvetica Neue"/>
                <a:cs typeface="Helvetica Neue"/>
              </a:defRPr>
            </a:lvl4pPr>
            <a:lvl5pPr>
              <a:defRPr sz="3600" b="1">
                <a:solidFill>
                  <a:srgbClr val="14283F"/>
                </a:solidFill>
                <a:latin typeface="Helvetica Neue"/>
                <a:ea typeface="Helvetica Neue"/>
                <a:cs typeface="Helvetica Neue"/>
              </a:defRPr>
            </a:lvl5pPr>
            <a:lvl6pPr>
              <a:defRPr sz="3600" b="1">
                <a:solidFill>
                  <a:srgbClr val="14283F"/>
                </a:solidFill>
                <a:latin typeface="Helvetica Neue"/>
                <a:ea typeface="Helvetica Neue"/>
                <a:cs typeface="Helvetica Neue"/>
              </a:defRPr>
            </a:lvl6pPr>
            <a:lvl7pPr>
              <a:defRPr sz="3600" b="1">
                <a:solidFill>
                  <a:srgbClr val="14283F"/>
                </a:solidFill>
                <a:latin typeface="Helvetica Neue"/>
                <a:ea typeface="Helvetica Neue"/>
                <a:cs typeface="Helvetica Neue"/>
              </a:defRPr>
            </a:lvl7pPr>
            <a:lvl8pPr>
              <a:defRPr sz="3600" b="1">
                <a:solidFill>
                  <a:srgbClr val="14283F"/>
                </a:solidFill>
                <a:latin typeface="Helvetica Neue"/>
                <a:ea typeface="Helvetica Neue"/>
                <a:cs typeface="Helvetica Neue"/>
              </a:defRPr>
            </a:lvl8pPr>
            <a:lvl9pPr>
              <a:defRPr sz="3600" b="1">
                <a:solidFill>
                  <a:srgbClr val="14283F"/>
                </a:solidFill>
                <a:latin typeface="Helvetica Neue"/>
                <a:ea typeface="Helvetica Neue"/>
                <a:cs typeface="Helvetica Neue"/>
              </a:defRPr>
            </a:lvl9pPr>
          </a:lstStyle>
          <a:p>
            <a:pPr>
              <a:defRPr sz="3600" b="1">
                <a:solidFill>
                  <a:srgbClr val="14283F"/>
                </a:solidFill>
                <a:latin typeface="Helvetica Neue"/>
                <a:ea typeface="Helvetica Neue"/>
                <a:cs typeface="Helvetica Neue"/>
              </a:defRPr>
            </a:pPr>
            <a:r>
              <a:rPr sz="3600" b="1">
                <a:solidFill>
                  <a:srgbClr val="14283F"/>
                </a:solidFill>
                <a:latin typeface="Helvetica Neue"/>
                <a:ea typeface="Helvetica Neue"/>
                <a:cs typeface="Helvetica Neue"/>
              </a:rPr>
              <a:t>Progress during focused training</a:t>
            </a:r>
          </a:p>
        </p:txBody>
      </p:sp>
      <p:graphicFrame>
        <p:nvGraphicFramePr>
          <p:cNvPr id="4" name="Table 3">
            <a:extLst>
              <a:ext uri="{FF2B5EF4-FFF2-40B4-BE49-F238E27FC236}">
                <a16:creationId xmlns:a16="http://schemas.microsoft.com/office/drawing/2014/main" id="{8187A2F8-D5E9-4DE8-9ED2-5E665AB34ED2}"/>
              </a:ext>
            </a:extLst>
          </p:cNvPr>
          <p:cNvGraphicFramePr/>
          <p:nvPr/>
        </p:nvGraphicFramePr>
        <p:xfrm>
          <a:off x="685800" y="1581150"/>
          <a:ext cx="10820400" cy="3257550"/>
        </p:xfrm>
        <a:graphic>
          <a:graphicData uri="http://schemas.openxmlformats.org/drawingml/2006/table">
            <a:tbl>
              <a:tblPr/>
              <a:tblGrid>
                <a:gridCol w="3810000">
                  <a:extLst>
                    <a:ext uri="{9D8B030D-6E8A-4147-A177-3AD203B41FA5}">
                      <a16:colId xmlns:a16="http://schemas.microsoft.com/office/drawing/2014/main" val="20000"/>
                    </a:ext>
                  </a:extLst>
                </a:gridCol>
                <a:gridCol w="3505200">
                  <a:extLst>
                    <a:ext uri="{9D8B030D-6E8A-4147-A177-3AD203B41FA5}">
                      <a16:colId xmlns:a16="http://schemas.microsoft.com/office/drawing/2014/main" val="20001"/>
                    </a:ext>
                  </a:extLst>
                </a:gridCol>
                <a:gridCol w="3505200">
                  <a:extLst>
                    <a:ext uri="{9D8B030D-6E8A-4147-A177-3AD203B41FA5}">
                      <a16:colId xmlns:a16="http://schemas.microsoft.com/office/drawing/2014/main" val="20002"/>
                    </a:ext>
                  </a:extLst>
                </a:gridCol>
              </a:tblGrid>
              <a:tr h="542925">
                <a:tc>
                  <a:txBody>
                    <a:bodyPr/>
                    <a:lstStyle/>
                    <a:p>
                      <a:r>
                        <a:rPr sz="2025" b="1">
                          <a:solidFill>
                            <a:srgbClr val="FFFFFF"/>
                          </a:solidFill>
                          <a:latin typeface="Helvetica Neue"/>
                          <a:ea typeface="Helvetica Neue"/>
                          <a:cs typeface="Helvetica Neue"/>
                        </a:rPr>
                        <a:t>Search episodes</a:t>
                      </a:r>
                    </a:p>
                  </a:txBody>
                  <a:tcPr marL="171450" marR="171450" marT="76200" marB="76200">
                    <a:lnL w="6668">
                      <a:solidFill>
                        <a:srgbClr val="CDD8E3"/>
                      </a:solidFill>
                      <a:prstDash val="solid"/>
                    </a:lnL>
                    <a:lnR w="6668">
                      <a:solidFill>
                        <a:srgbClr val="CDD8E3"/>
                      </a:solidFill>
                      <a:prstDash val="solid"/>
                    </a:lnR>
                    <a:lnT w="6668">
                      <a:solidFill>
                        <a:srgbClr val="CDD8E3"/>
                      </a:solidFill>
                      <a:prstDash val="solid"/>
                    </a:lnT>
                    <a:lnB w="6668">
                      <a:solidFill>
                        <a:srgbClr val="CDD8E3"/>
                      </a:solidFill>
                      <a:prstDash val="solid"/>
                    </a:lnB>
                    <a:solidFill>
                      <a:srgbClr val="102339"/>
                    </a:solidFill>
                  </a:tcPr>
                </a:tc>
                <a:tc>
                  <a:txBody>
                    <a:bodyPr/>
                    <a:lstStyle/>
                    <a:p>
                      <a:r>
                        <a:rPr sz="2025" b="1">
                          <a:solidFill>
                            <a:srgbClr val="FFFFFF"/>
                          </a:solidFill>
                          <a:latin typeface="Helvetica Neue"/>
                          <a:ea typeface="Helvetica Neue"/>
                          <a:cs typeface="Helvetica Neue"/>
                        </a:rPr>
                        <a:t>Best held lift</a:t>
                      </a:r>
                    </a:p>
                  </a:txBody>
                  <a:tcPr marL="171450" marR="171450" marT="76200" marB="76200">
                    <a:lnL w="6668" cap="flat" cmpd="sng" algn="ctr">
                      <a:solidFill>
                        <a:srgbClr val="CDD8E3"/>
                      </a:solidFill>
                      <a:prstDash val="solid"/>
                      <a:round/>
                      <a:headEnd type="none" w="med" len="med"/>
                      <a:tailEnd type="none" w="med" len="med"/>
                    </a:lnL>
                    <a:lnR w="6668">
                      <a:solidFill>
                        <a:srgbClr val="CDD8E3"/>
                      </a:solidFill>
                      <a:prstDash val="solid"/>
                    </a:lnR>
                    <a:lnT w="6668">
                      <a:solidFill>
                        <a:srgbClr val="CDD8E3"/>
                      </a:solidFill>
                      <a:prstDash val="solid"/>
                    </a:lnT>
                    <a:lnB w="6668">
                      <a:solidFill>
                        <a:srgbClr val="CDD8E3"/>
                      </a:solidFill>
                      <a:prstDash val="solid"/>
                    </a:lnB>
                    <a:solidFill>
                      <a:srgbClr val="102339"/>
                    </a:solidFill>
                  </a:tcPr>
                </a:tc>
                <a:tc>
                  <a:txBody>
                    <a:bodyPr/>
                    <a:lstStyle/>
                    <a:p>
                      <a:r>
                        <a:rPr sz="2025" b="1">
                          <a:solidFill>
                            <a:srgbClr val="FFFFFF"/>
                          </a:solidFill>
                          <a:latin typeface="Helvetica Neue"/>
                          <a:ea typeface="Helvetica Neue"/>
                          <a:cs typeface="Helvetica Neue"/>
                        </a:rPr>
                        <a:t>Training success</a:t>
                      </a:r>
                    </a:p>
                  </a:txBody>
                  <a:tcPr marL="171450" marR="171450" marT="76200" marB="76200">
                    <a:lnL w="6668" cap="flat" cmpd="sng" algn="ctr">
                      <a:solidFill>
                        <a:srgbClr val="CDD8E3"/>
                      </a:solidFill>
                      <a:prstDash val="solid"/>
                      <a:round/>
                      <a:headEnd type="none" w="med" len="med"/>
                      <a:tailEnd type="none" w="med" len="med"/>
                    </a:lnL>
                    <a:lnR w="6668">
                      <a:solidFill>
                        <a:srgbClr val="CDD8E3"/>
                      </a:solidFill>
                      <a:prstDash val="solid"/>
                    </a:lnR>
                    <a:lnT w="6668">
                      <a:solidFill>
                        <a:srgbClr val="CDD8E3"/>
                      </a:solidFill>
                      <a:prstDash val="solid"/>
                    </a:lnT>
                    <a:lnB w="6668">
                      <a:solidFill>
                        <a:srgbClr val="CDD8E3"/>
                      </a:solidFill>
                      <a:prstDash val="solid"/>
                    </a:lnB>
                    <a:solidFill>
                      <a:srgbClr val="102339"/>
                    </a:solidFill>
                  </a:tcPr>
                </a:tc>
                <a:extLst>
                  <a:ext uri="{0D108BD9-81ED-4DB2-BD59-A6C34878D82A}">
                    <a16:rowId xmlns:a16="http://schemas.microsoft.com/office/drawing/2014/main" val="10000"/>
                  </a:ext>
                </a:extLst>
              </a:tr>
              <a:tr h="542925">
                <a:tc>
                  <a:txBody>
                    <a:bodyPr/>
                    <a:lstStyle/>
                    <a:p>
                      <a:r>
                        <a:rPr sz="2025" b="0">
                          <a:solidFill>
                            <a:srgbClr val="14283F"/>
                          </a:solidFill>
                          <a:latin typeface="Helvetica Neue"/>
                          <a:ea typeface="Helvetica Neue"/>
                          <a:cs typeface="Helvetica Neue"/>
                        </a:rPr>
                        <a:t>24</a:t>
                      </a:r>
                    </a:p>
                  </a:txBody>
                  <a:tcPr marL="171450" marR="171450" marT="76200" marB="76200">
                    <a:lnL w="6668">
                      <a:solidFill>
                        <a:srgbClr val="CDD8E3"/>
                      </a:solidFill>
                      <a:prstDash val="solid"/>
                    </a:lnL>
                    <a:lnR w="6668">
                      <a:solidFill>
                        <a:srgbClr val="CDD8E3"/>
                      </a:solidFill>
                      <a:prstDash val="solid"/>
                    </a:lnR>
                    <a:lnT w="6668" cap="flat" cmpd="sng" algn="ctr">
                      <a:solidFill>
                        <a:srgbClr val="CDD8E3"/>
                      </a:solidFill>
                      <a:prstDash val="solid"/>
                      <a:round/>
                      <a:headEnd type="none" w="med" len="med"/>
                      <a:tailEnd type="none" w="med" len="med"/>
                    </a:lnT>
                    <a:lnB w="6668">
                      <a:solidFill>
                        <a:srgbClr val="CDD8E3"/>
                      </a:solidFill>
                      <a:prstDash val="solid"/>
                    </a:lnB>
                    <a:solidFill>
                      <a:srgbClr val="FFFFFF"/>
                    </a:solidFill>
                  </a:tcPr>
                </a:tc>
                <a:tc>
                  <a:txBody>
                    <a:bodyPr/>
                    <a:lstStyle/>
                    <a:p>
                      <a:r>
                        <a:rPr sz="2025" b="0">
                          <a:solidFill>
                            <a:srgbClr val="14283F"/>
                          </a:solidFill>
                          <a:latin typeface="Helvetica Neue"/>
                          <a:ea typeface="Helvetica Neue"/>
                          <a:cs typeface="Helvetica Neue"/>
                        </a:rPr>
                        <a:t>0.0 cm</a:t>
                      </a:r>
                    </a:p>
                  </a:txBody>
                  <a:tcPr marL="171450" marR="171450" marT="76200" marB="76200">
                    <a:lnL w="6668" cap="flat" cmpd="sng" algn="ctr">
                      <a:solidFill>
                        <a:srgbClr val="CDD8E3"/>
                      </a:solidFill>
                      <a:prstDash val="solid"/>
                      <a:round/>
                      <a:headEnd type="none" w="med" len="med"/>
                      <a:tailEnd type="none" w="med" len="med"/>
                    </a:lnL>
                    <a:lnR w="6668">
                      <a:solidFill>
                        <a:srgbClr val="CDD8E3"/>
                      </a:solidFill>
                      <a:prstDash val="solid"/>
                    </a:lnR>
                    <a:lnT w="6668" cap="flat" cmpd="sng" algn="ctr">
                      <a:solidFill>
                        <a:srgbClr val="CDD8E3"/>
                      </a:solidFill>
                      <a:prstDash val="solid"/>
                      <a:round/>
                      <a:headEnd type="none" w="med" len="med"/>
                      <a:tailEnd type="none" w="med" len="med"/>
                    </a:lnT>
                    <a:lnB w="6668">
                      <a:solidFill>
                        <a:srgbClr val="CDD8E3"/>
                      </a:solidFill>
                      <a:prstDash val="solid"/>
                    </a:lnB>
                    <a:solidFill>
                      <a:srgbClr val="FFFFFF"/>
                    </a:solidFill>
                  </a:tcPr>
                </a:tc>
                <a:tc>
                  <a:txBody>
                    <a:bodyPr/>
                    <a:lstStyle/>
                    <a:p>
                      <a:r>
                        <a:rPr sz="2025" b="0">
                          <a:solidFill>
                            <a:srgbClr val="14283F"/>
                          </a:solidFill>
                          <a:latin typeface="Helvetica Neue"/>
                          <a:ea typeface="Helvetica Neue"/>
                          <a:cs typeface="Helvetica Neue"/>
                        </a:rPr>
                        <a:t>No</a:t>
                      </a:r>
                    </a:p>
                  </a:txBody>
                  <a:tcPr marL="171450" marR="171450" marT="76200" marB="76200">
                    <a:lnL w="6668" cap="flat" cmpd="sng" algn="ctr">
                      <a:solidFill>
                        <a:srgbClr val="CDD8E3"/>
                      </a:solidFill>
                      <a:prstDash val="solid"/>
                      <a:round/>
                      <a:headEnd type="none" w="med" len="med"/>
                      <a:tailEnd type="none" w="med" len="med"/>
                    </a:lnL>
                    <a:lnR w="6668">
                      <a:solidFill>
                        <a:srgbClr val="CDD8E3"/>
                      </a:solidFill>
                      <a:prstDash val="solid"/>
                    </a:lnR>
                    <a:lnT w="6668" cap="flat" cmpd="sng" algn="ctr">
                      <a:solidFill>
                        <a:srgbClr val="CDD8E3"/>
                      </a:solidFill>
                      <a:prstDash val="solid"/>
                      <a:round/>
                      <a:headEnd type="none" w="med" len="med"/>
                      <a:tailEnd type="none" w="med" len="med"/>
                    </a:lnT>
                    <a:lnB w="6668">
                      <a:solidFill>
                        <a:srgbClr val="CDD8E3"/>
                      </a:solidFill>
                      <a:prstDash val="solid"/>
                    </a:lnB>
                    <a:solidFill>
                      <a:srgbClr val="FFFFFF"/>
                    </a:solidFill>
                  </a:tcPr>
                </a:tc>
                <a:extLst>
                  <a:ext uri="{0D108BD9-81ED-4DB2-BD59-A6C34878D82A}">
                    <a16:rowId xmlns:a16="http://schemas.microsoft.com/office/drawing/2014/main" val="10001"/>
                  </a:ext>
                </a:extLst>
              </a:tr>
              <a:tr h="542925">
                <a:tc>
                  <a:txBody>
                    <a:bodyPr/>
                    <a:lstStyle/>
                    <a:p>
                      <a:r>
                        <a:rPr sz="2025" b="0">
                          <a:solidFill>
                            <a:srgbClr val="14283F"/>
                          </a:solidFill>
                          <a:latin typeface="Helvetica Neue"/>
                          <a:ea typeface="Helvetica Neue"/>
                          <a:cs typeface="Helvetica Neue"/>
                        </a:rPr>
                        <a:t>48</a:t>
                      </a:r>
                    </a:p>
                  </a:txBody>
                  <a:tcPr marL="171450" marR="171450" marT="76200" marB="76200">
                    <a:lnL w="6668">
                      <a:solidFill>
                        <a:srgbClr val="CDD8E3"/>
                      </a:solidFill>
                      <a:prstDash val="solid"/>
                    </a:lnL>
                    <a:lnR w="6668">
                      <a:solidFill>
                        <a:srgbClr val="CDD8E3"/>
                      </a:solidFill>
                      <a:prstDash val="solid"/>
                    </a:lnR>
                    <a:lnT w="6668" cap="flat" cmpd="sng" algn="ctr">
                      <a:solidFill>
                        <a:srgbClr val="CDD8E3"/>
                      </a:solidFill>
                      <a:prstDash val="solid"/>
                      <a:round/>
                      <a:headEnd type="none" w="med" len="med"/>
                      <a:tailEnd type="none" w="med" len="med"/>
                    </a:lnT>
                    <a:lnB w="6668">
                      <a:solidFill>
                        <a:srgbClr val="CDD8E3"/>
                      </a:solidFill>
                      <a:prstDash val="solid"/>
                    </a:lnB>
                    <a:solidFill>
                      <a:srgbClr val="FFFFFF"/>
                    </a:solidFill>
                  </a:tcPr>
                </a:tc>
                <a:tc>
                  <a:txBody>
                    <a:bodyPr/>
                    <a:lstStyle/>
                    <a:p>
                      <a:r>
                        <a:rPr sz="2025" b="0">
                          <a:solidFill>
                            <a:srgbClr val="14283F"/>
                          </a:solidFill>
                          <a:latin typeface="Helvetica Neue"/>
                          <a:ea typeface="Helvetica Neue"/>
                          <a:cs typeface="Helvetica Neue"/>
                        </a:rPr>
                        <a:t>1.8 cm</a:t>
                      </a:r>
                    </a:p>
                  </a:txBody>
                  <a:tcPr marL="171450" marR="171450" marT="76200" marB="76200">
                    <a:lnL w="6668" cap="flat" cmpd="sng" algn="ctr">
                      <a:solidFill>
                        <a:srgbClr val="CDD8E3"/>
                      </a:solidFill>
                      <a:prstDash val="solid"/>
                      <a:round/>
                      <a:headEnd type="none" w="med" len="med"/>
                      <a:tailEnd type="none" w="med" len="med"/>
                    </a:lnL>
                    <a:lnR w="6668">
                      <a:solidFill>
                        <a:srgbClr val="CDD8E3"/>
                      </a:solidFill>
                      <a:prstDash val="solid"/>
                    </a:lnR>
                    <a:lnT w="6668" cap="flat" cmpd="sng" algn="ctr">
                      <a:solidFill>
                        <a:srgbClr val="CDD8E3"/>
                      </a:solidFill>
                      <a:prstDash val="solid"/>
                      <a:round/>
                      <a:headEnd type="none" w="med" len="med"/>
                      <a:tailEnd type="none" w="med" len="med"/>
                    </a:lnT>
                    <a:lnB w="6668">
                      <a:solidFill>
                        <a:srgbClr val="CDD8E3"/>
                      </a:solidFill>
                      <a:prstDash val="solid"/>
                    </a:lnB>
                    <a:solidFill>
                      <a:srgbClr val="FFFFFF"/>
                    </a:solidFill>
                  </a:tcPr>
                </a:tc>
                <a:tc>
                  <a:txBody>
                    <a:bodyPr/>
                    <a:lstStyle/>
                    <a:p>
                      <a:r>
                        <a:rPr sz="2025" b="0">
                          <a:solidFill>
                            <a:srgbClr val="14283F"/>
                          </a:solidFill>
                          <a:latin typeface="Helvetica Neue"/>
                          <a:ea typeface="Helvetica Neue"/>
                          <a:cs typeface="Helvetica Neue"/>
                        </a:rPr>
                        <a:t>No</a:t>
                      </a:r>
                    </a:p>
                  </a:txBody>
                  <a:tcPr marL="171450" marR="171450" marT="76200" marB="76200">
                    <a:lnL w="6668" cap="flat" cmpd="sng" algn="ctr">
                      <a:solidFill>
                        <a:srgbClr val="CDD8E3"/>
                      </a:solidFill>
                      <a:prstDash val="solid"/>
                      <a:round/>
                      <a:headEnd type="none" w="med" len="med"/>
                      <a:tailEnd type="none" w="med" len="med"/>
                    </a:lnL>
                    <a:lnR w="6668">
                      <a:solidFill>
                        <a:srgbClr val="CDD8E3"/>
                      </a:solidFill>
                      <a:prstDash val="solid"/>
                    </a:lnR>
                    <a:lnT w="6668" cap="flat" cmpd="sng" algn="ctr">
                      <a:solidFill>
                        <a:srgbClr val="CDD8E3"/>
                      </a:solidFill>
                      <a:prstDash val="solid"/>
                      <a:round/>
                      <a:headEnd type="none" w="med" len="med"/>
                      <a:tailEnd type="none" w="med" len="med"/>
                    </a:lnT>
                    <a:lnB w="6668">
                      <a:solidFill>
                        <a:srgbClr val="CDD8E3"/>
                      </a:solidFill>
                      <a:prstDash val="solid"/>
                    </a:lnB>
                    <a:solidFill>
                      <a:srgbClr val="FFFFFF"/>
                    </a:solidFill>
                  </a:tcPr>
                </a:tc>
                <a:extLst>
                  <a:ext uri="{0D108BD9-81ED-4DB2-BD59-A6C34878D82A}">
                    <a16:rowId xmlns:a16="http://schemas.microsoft.com/office/drawing/2014/main" val="10002"/>
                  </a:ext>
                </a:extLst>
              </a:tr>
              <a:tr h="542925">
                <a:tc>
                  <a:txBody>
                    <a:bodyPr/>
                    <a:lstStyle/>
                    <a:p>
                      <a:r>
                        <a:rPr sz="2025" b="0">
                          <a:solidFill>
                            <a:srgbClr val="14283F"/>
                          </a:solidFill>
                          <a:latin typeface="Helvetica Neue"/>
                          <a:ea typeface="Helvetica Neue"/>
                          <a:cs typeface="Helvetica Neue"/>
                        </a:rPr>
                        <a:t>72</a:t>
                      </a:r>
                    </a:p>
                  </a:txBody>
                  <a:tcPr marL="171450" marR="171450" marT="76200" marB="76200">
                    <a:lnL w="6668">
                      <a:solidFill>
                        <a:srgbClr val="CDD8E3"/>
                      </a:solidFill>
                      <a:prstDash val="solid"/>
                    </a:lnL>
                    <a:lnR w="6668">
                      <a:solidFill>
                        <a:srgbClr val="CDD8E3"/>
                      </a:solidFill>
                      <a:prstDash val="solid"/>
                    </a:lnR>
                    <a:lnT w="6668" cap="flat" cmpd="sng" algn="ctr">
                      <a:solidFill>
                        <a:srgbClr val="CDD8E3"/>
                      </a:solidFill>
                      <a:prstDash val="solid"/>
                      <a:round/>
                      <a:headEnd type="none" w="med" len="med"/>
                      <a:tailEnd type="none" w="med" len="med"/>
                    </a:lnT>
                    <a:lnB w="6668">
                      <a:solidFill>
                        <a:srgbClr val="CDD8E3"/>
                      </a:solidFill>
                      <a:prstDash val="solid"/>
                    </a:lnB>
                    <a:solidFill>
                      <a:srgbClr val="FFFFFF"/>
                    </a:solidFill>
                  </a:tcPr>
                </a:tc>
                <a:tc>
                  <a:txBody>
                    <a:bodyPr/>
                    <a:lstStyle/>
                    <a:p>
                      <a:r>
                        <a:rPr sz="2025" b="0">
                          <a:solidFill>
                            <a:srgbClr val="14283F"/>
                          </a:solidFill>
                          <a:latin typeface="Helvetica Neue"/>
                          <a:ea typeface="Helvetica Neue"/>
                          <a:cs typeface="Helvetica Neue"/>
                        </a:rPr>
                        <a:t>1.8 cm</a:t>
                      </a:r>
                    </a:p>
                  </a:txBody>
                  <a:tcPr marL="171450" marR="171450" marT="76200" marB="76200">
                    <a:lnL w="6668" cap="flat" cmpd="sng" algn="ctr">
                      <a:solidFill>
                        <a:srgbClr val="CDD8E3"/>
                      </a:solidFill>
                      <a:prstDash val="solid"/>
                      <a:round/>
                      <a:headEnd type="none" w="med" len="med"/>
                      <a:tailEnd type="none" w="med" len="med"/>
                    </a:lnL>
                    <a:lnR w="6668">
                      <a:solidFill>
                        <a:srgbClr val="CDD8E3"/>
                      </a:solidFill>
                      <a:prstDash val="solid"/>
                    </a:lnR>
                    <a:lnT w="6668" cap="flat" cmpd="sng" algn="ctr">
                      <a:solidFill>
                        <a:srgbClr val="CDD8E3"/>
                      </a:solidFill>
                      <a:prstDash val="solid"/>
                      <a:round/>
                      <a:headEnd type="none" w="med" len="med"/>
                      <a:tailEnd type="none" w="med" len="med"/>
                    </a:lnT>
                    <a:lnB w="6668">
                      <a:solidFill>
                        <a:srgbClr val="CDD8E3"/>
                      </a:solidFill>
                      <a:prstDash val="solid"/>
                    </a:lnB>
                    <a:solidFill>
                      <a:srgbClr val="FFFFFF"/>
                    </a:solidFill>
                  </a:tcPr>
                </a:tc>
                <a:tc>
                  <a:txBody>
                    <a:bodyPr/>
                    <a:lstStyle/>
                    <a:p>
                      <a:r>
                        <a:rPr sz="2025" b="0">
                          <a:solidFill>
                            <a:srgbClr val="14283F"/>
                          </a:solidFill>
                          <a:latin typeface="Helvetica Neue"/>
                          <a:ea typeface="Helvetica Neue"/>
                          <a:cs typeface="Helvetica Neue"/>
                        </a:rPr>
                        <a:t>No</a:t>
                      </a:r>
                    </a:p>
                  </a:txBody>
                  <a:tcPr marL="171450" marR="171450" marT="76200" marB="76200">
                    <a:lnL w="6668" cap="flat" cmpd="sng" algn="ctr">
                      <a:solidFill>
                        <a:srgbClr val="CDD8E3"/>
                      </a:solidFill>
                      <a:prstDash val="solid"/>
                      <a:round/>
                      <a:headEnd type="none" w="med" len="med"/>
                      <a:tailEnd type="none" w="med" len="med"/>
                    </a:lnL>
                    <a:lnR w="6668">
                      <a:solidFill>
                        <a:srgbClr val="CDD8E3"/>
                      </a:solidFill>
                      <a:prstDash val="solid"/>
                    </a:lnR>
                    <a:lnT w="6668" cap="flat" cmpd="sng" algn="ctr">
                      <a:solidFill>
                        <a:srgbClr val="CDD8E3"/>
                      </a:solidFill>
                      <a:prstDash val="solid"/>
                      <a:round/>
                      <a:headEnd type="none" w="med" len="med"/>
                      <a:tailEnd type="none" w="med" len="med"/>
                    </a:lnT>
                    <a:lnB w="6668">
                      <a:solidFill>
                        <a:srgbClr val="CDD8E3"/>
                      </a:solidFill>
                      <a:prstDash val="solid"/>
                    </a:lnB>
                    <a:solidFill>
                      <a:srgbClr val="FFFFFF"/>
                    </a:solidFill>
                  </a:tcPr>
                </a:tc>
                <a:extLst>
                  <a:ext uri="{0D108BD9-81ED-4DB2-BD59-A6C34878D82A}">
                    <a16:rowId xmlns:a16="http://schemas.microsoft.com/office/drawing/2014/main" val="10003"/>
                  </a:ext>
                </a:extLst>
              </a:tr>
              <a:tr h="542925">
                <a:tc>
                  <a:txBody>
                    <a:bodyPr/>
                    <a:lstStyle/>
                    <a:p>
                      <a:r>
                        <a:rPr sz="2025" b="0">
                          <a:solidFill>
                            <a:srgbClr val="14283F"/>
                          </a:solidFill>
                          <a:latin typeface="Helvetica Neue"/>
                          <a:ea typeface="Helvetica Neue"/>
                          <a:cs typeface="Helvetica Neue"/>
                        </a:rPr>
                        <a:t>96</a:t>
                      </a:r>
                    </a:p>
                  </a:txBody>
                  <a:tcPr marL="171450" marR="171450" marT="76200" marB="76200">
                    <a:lnL w="6668">
                      <a:solidFill>
                        <a:srgbClr val="CDD8E3"/>
                      </a:solidFill>
                      <a:prstDash val="solid"/>
                    </a:lnL>
                    <a:lnR w="6668">
                      <a:solidFill>
                        <a:srgbClr val="CDD8E3"/>
                      </a:solidFill>
                      <a:prstDash val="solid"/>
                    </a:lnR>
                    <a:lnT w="6668" cap="flat" cmpd="sng" algn="ctr">
                      <a:solidFill>
                        <a:srgbClr val="CDD8E3"/>
                      </a:solidFill>
                      <a:prstDash val="solid"/>
                      <a:round/>
                      <a:headEnd type="none" w="med" len="med"/>
                      <a:tailEnd type="none" w="med" len="med"/>
                    </a:lnT>
                    <a:lnB w="6668">
                      <a:solidFill>
                        <a:srgbClr val="CDD8E3"/>
                      </a:solidFill>
                      <a:prstDash val="solid"/>
                    </a:lnB>
                    <a:solidFill>
                      <a:srgbClr val="FFFFFF"/>
                    </a:solidFill>
                  </a:tcPr>
                </a:tc>
                <a:tc>
                  <a:txBody>
                    <a:bodyPr/>
                    <a:lstStyle/>
                    <a:p>
                      <a:r>
                        <a:rPr sz="2025" b="0">
                          <a:solidFill>
                            <a:srgbClr val="14283F"/>
                          </a:solidFill>
                          <a:latin typeface="Helvetica Neue"/>
                          <a:ea typeface="Helvetica Neue"/>
                          <a:cs typeface="Helvetica Neue"/>
                        </a:rPr>
                        <a:t>7.5 cm</a:t>
                      </a:r>
                    </a:p>
                  </a:txBody>
                  <a:tcPr marL="171450" marR="171450" marT="76200" marB="76200">
                    <a:lnL w="6668" cap="flat" cmpd="sng" algn="ctr">
                      <a:solidFill>
                        <a:srgbClr val="CDD8E3"/>
                      </a:solidFill>
                      <a:prstDash val="solid"/>
                      <a:round/>
                      <a:headEnd type="none" w="med" len="med"/>
                      <a:tailEnd type="none" w="med" len="med"/>
                    </a:lnL>
                    <a:lnR w="6668">
                      <a:solidFill>
                        <a:srgbClr val="CDD8E3"/>
                      </a:solidFill>
                      <a:prstDash val="solid"/>
                    </a:lnR>
                    <a:lnT w="6668" cap="flat" cmpd="sng" algn="ctr">
                      <a:solidFill>
                        <a:srgbClr val="CDD8E3"/>
                      </a:solidFill>
                      <a:prstDash val="solid"/>
                      <a:round/>
                      <a:headEnd type="none" w="med" len="med"/>
                      <a:tailEnd type="none" w="med" len="med"/>
                    </a:lnT>
                    <a:lnB w="6668">
                      <a:solidFill>
                        <a:srgbClr val="CDD8E3"/>
                      </a:solidFill>
                      <a:prstDash val="solid"/>
                    </a:lnB>
                    <a:solidFill>
                      <a:srgbClr val="FFFFFF"/>
                    </a:solidFill>
                  </a:tcPr>
                </a:tc>
                <a:tc>
                  <a:txBody>
                    <a:bodyPr/>
                    <a:lstStyle/>
                    <a:p>
                      <a:r>
                        <a:rPr sz="2025" b="0">
                          <a:solidFill>
                            <a:srgbClr val="14283F"/>
                          </a:solidFill>
                          <a:latin typeface="Helvetica Neue"/>
                          <a:ea typeface="Helvetica Neue"/>
                          <a:cs typeface="Helvetica Neue"/>
                        </a:rPr>
                        <a:t>No</a:t>
                      </a:r>
                    </a:p>
                  </a:txBody>
                  <a:tcPr marL="171450" marR="171450" marT="76200" marB="76200">
                    <a:lnL w="6668" cap="flat" cmpd="sng" algn="ctr">
                      <a:solidFill>
                        <a:srgbClr val="CDD8E3"/>
                      </a:solidFill>
                      <a:prstDash val="solid"/>
                      <a:round/>
                      <a:headEnd type="none" w="med" len="med"/>
                      <a:tailEnd type="none" w="med" len="med"/>
                    </a:lnL>
                    <a:lnR w="6668">
                      <a:solidFill>
                        <a:srgbClr val="CDD8E3"/>
                      </a:solidFill>
                      <a:prstDash val="solid"/>
                    </a:lnR>
                    <a:lnT w="6668" cap="flat" cmpd="sng" algn="ctr">
                      <a:solidFill>
                        <a:srgbClr val="CDD8E3"/>
                      </a:solidFill>
                      <a:prstDash val="solid"/>
                      <a:round/>
                      <a:headEnd type="none" w="med" len="med"/>
                      <a:tailEnd type="none" w="med" len="med"/>
                    </a:lnT>
                    <a:lnB w="6668">
                      <a:solidFill>
                        <a:srgbClr val="CDD8E3"/>
                      </a:solidFill>
                      <a:prstDash val="solid"/>
                    </a:lnB>
                    <a:solidFill>
                      <a:srgbClr val="FFFFFF"/>
                    </a:solidFill>
                  </a:tcPr>
                </a:tc>
                <a:extLst>
                  <a:ext uri="{0D108BD9-81ED-4DB2-BD59-A6C34878D82A}">
                    <a16:rowId xmlns:a16="http://schemas.microsoft.com/office/drawing/2014/main" val="10004"/>
                  </a:ext>
                </a:extLst>
              </a:tr>
              <a:tr h="542925">
                <a:tc>
                  <a:txBody>
                    <a:bodyPr/>
                    <a:lstStyle/>
                    <a:p>
                      <a:r>
                        <a:rPr sz="2025" b="0">
                          <a:solidFill>
                            <a:srgbClr val="14283F"/>
                          </a:solidFill>
                          <a:latin typeface="Helvetica Neue"/>
                          <a:ea typeface="Helvetica Neue"/>
                          <a:cs typeface="Helvetica Neue"/>
                        </a:rPr>
                        <a:t>120</a:t>
                      </a:r>
                    </a:p>
                  </a:txBody>
                  <a:tcPr marL="171450" marR="171450" marT="76200" marB="76200">
                    <a:lnL w="6668">
                      <a:solidFill>
                        <a:srgbClr val="CDD8E3"/>
                      </a:solidFill>
                      <a:prstDash val="solid"/>
                    </a:lnL>
                    <a:lnR w="6668">
                      <a:solidFill>
                        <a:srgbClr val="CDD8E3"/>
                      </a:solidFill>
                      <a:prstDash val="solid"/>
                    </a:lnR>
                    <a:lnT w="6668" cap="flat" cmpd="sng" algn="ctr">
                      <a:solidFill>
                        <a:srgbClr val="CDD8E3"/>
                      </a:solidFill>
                      <a:prstDash val="solid"/>
                      <a:round/>
                      <a:headEnd type="none" w="med" len="med"/>
                      <a:tailEnd type="none" w="med" len="med"/>
                    </a:lnT>
                    <a:lnB w="6668">
                      <a:solidFill>
                        <a:srgbClr val="CDD8E3"/>
                      </a:solidFill>
                      <a:prstDash val="solid"/>
                    </a:lnB>
                    <a:solidFill>
                      <a:srgbClr val="FFFFFF"/>
                    </a:solidFill>
                  </a:tcPr>
                </a:tc>
                <a:tc>
                  <a:txBody>
                    <a:bodyPr/>
                    <a:lstStyle/>
                    <a:p>
                      <a:r>
                        <a:rPr sz="2025" b="0">
                          <a:solidFill>
                            <a:srgbClr val="14283F"/>
                          </a:solidFill>
                          <a:latin typeface="Helvetica Neue"/>
                          <a:ea typeface="Helvetica Neue"/>
                          <a:cs typeface="Helvetica Neue"/>
                        </a:rPr>
                        <a:t>13.5 cm</a:t>
                      </a:r>
                    </a:p>
                  </a:txBody>
                  <a:tcPr marL="171450" marR="171450" marT="76200" marB="76200">
                    <a:lnL w="6668" cap="flat" cmpd="sng" algn="ctr">
                      <a:solidFill>
                        <a:srgbClr val="CDD8E3"/>
                      </a:solidFill>
                      <a:prstDash val="solid"/>
                      <a:round/>
                      <a:headEnd type="none" w="med" len="med"/>
                      <a:tailEnd type="none" w="med" len="med"/>
                    </a:lnL>
                    <a:lnR w="6668">
                      <a:solidFill>
                        <a:srgbClr val="CDD8E3"/>
                      </a:solidFill>
                      <a:prstDash val="solid"/>
                    </a:lnR>
                    <a:lnT w="6668" cap="flat" cmpd="sng" algn="ctr">
                      <a:solidFill>
                        <a:srgbClr val="CDD8E3"/>
                      </a:solidFill>
                      <a:prstDash val="solid"/>
                      <a:round/>
                      <a:headEnd type="none" w="med" len="med"/>
                      <a:tailEnd type="none" w="med" len="med"/>
                    </a:lnT>
                    <a:lnB w="6668">
                      <a:solidFill>
                        <a:srgbClr val="CDD8E3"/>
                      </a:solidFill>
                      <a:prstDash val="solid"/>
                    </a:lnB>
                    <a:solidFill>
                      <a:srgbClr val="FFFFFF"/>
                    </a:solidFill>
                  </a:tcPr>
                </a:tc>
                <a:tc>
                  <a:txBody>
                    <a:bodyPr/>
                    <a:lstStyle/>
                    <a:p>
                      <a:r>
                        <a:rPr sz="2025" b="0">
                          <a:solidFill>
                            <a:srgbClr val="14283F"/>
                          </a:solidFill>
                          <a:latin typeface="Helvetica Neue"/>
                          <a:ea typeface="Helvetica Neue"/>
                          <a:cs typeface="Helvetica Neue"/>
                        </a:rPr>
                        <a:t>Yes</a:t>
                      </a:r>
                    </a:p>
                  </a:txBody>
                  <a:tcPr marL="171450" marR="171450" marT="76200" marB="76200">
                    <a:lnL w="6668" cap="flat" cmpd="sng" algn="ctr">
                      <a:solidFill>
                        <a:srgbClr val="CDD8E3"/>
                      </a:solidFill>
                      <a:prstDash val="solid"/>
                      <a:round/>
                      <a:headEnd type="none" w="med" len="med"/>
                      <a:tailEnd type="none" w="med" len="med"/>
                    </a:lnL>
                    <a:lnR w="6668">
                      <a:solidFill>
                        <a:srgbClr val="CDD8E3"/>
                      </a:solidFill>
                      <a:prstDash val="solid"/>
                    </a:lnR>
                    <a:lnT w="6668" cap="flat" cmpd="sng" algn="ctr">
                      <a:solidFill>
                        <a:srgbClr val="CDD8E3"/>
                      </a:solidFill>
                      <a:prstDash val="solid"/>
                      <a:round/>
                      <a:headEnd type="none" w="med" len="med"/>
                      <a:tailEnd type="none" w="med" len="med"/>
                    </a:lnT>
                    <a:lnB w="6668">
                      <a:solidFill>
                        <a:srgbClr val="CDD8E3"/>
                      </a:solidFill>
                      <a:prstDash val="solid"/>
                    </a:lnB>
                    <a:solidFill>
                      <a:srgbClr val="FFFFFF"/>
                    </a:solidFill>
                  </a:tcPr>
                </a:tc>
                <a:extLst>
                  <a:ext uri="{0D108BD9-81ED-4DB2-BD59-A6C34878D82A}">
                    <a16:rowId xmlns:a16="http://schemas.microsoft.com/office/drawing/2014/main" val="10005"/>
                  </a:ext>
                </a:extLst>
              </a:tr>
            </a:tbl>
          </a:graphicData>
        </a:graphic>
      </p:graphicFrame>
      <p:sp>
        <p:nvSpPr>
          <p:cNvPr id="5" name="Rectangle 4">
            <a:extLst>
              <a:ext uri="{FF2B5EF4-FFF2-40B4-BE49-F238E27FC236}">
                <a16:creationId xmlns:a16="http://schemas.microsoft.com/office/drawing/2014/main" id="{7534C780-7C3C-40DE-9B6A-FD098735F18E}"/>
              </a:ext>
            </a:extLst>
          </p:cNvPr>
          <p:cNvSpPr>
            <a:spLocks noGrp="1"/>
          </p:cNvSpPr>
          <p:nvPr/>
        </p:nvSpPr>
        <p:spPr>
          <a:xfrm>
            <a:off x="685800" y="5095875"/>
            <a:ext cx="10668000" cy="476250"/>
          </a:xfrm>
          <a:prstGeom prst="rect">
            <a:avLst/>
          </a:prstGeom>
          <a:noFill/>
          <a:ln w="0">
            <a:noFill/>
          </a:ln>
        </p:spPr>
        <p:txBody>
          <a:bodyPr lIns="0" tIns="0" rIns="0" bIns="0" anchor="ctr">
            <a:noAutofit/>
          </a:bodyPr>
          <a:lstStyle>
            <a:defPPr>
              <a:defRPr sz="2025" b="0">
                <a:solidFill>
                  <a:srgbClr val="14283F"/>
                </a:solidFill>
                <a:latin typeface="Helvetica Neue"/>
                <a:ea typeface="Helvetica Neue"/>
                <a:cs typeface="Helvetica Neue"/>
              </a:defRPr>
            </a:defPPr>
            <a:lvl1pPr>
              <a:defRPr sz="2025" b="0">
                <a:solidFill>
                  <a:srgbClr val="14283F"/>
                </a:solidFill>
                <a:latin typeface="Helvetica Neue"/>
                <a:ea typeface="Helvetica Neue"/>
                <a:cs typeface="Helvetica Neue"/>
              </a:defRPr>
            </a:lvl1pPr>
            <a:lvl2pPr>
              <a:defRPr sz="2025" b="0">
                <a:solidFill>
                  <a:srgbClr val="14283F"/>
                </a:solidFill>
                <a:latin typeface="Helvetica Neue"/>
                <a:ea typeface="Helvetica Neue"/>
                <a:cs typeface="Helvetica Neue"/>
              </a:defRPr>
            </a:lvl2pPr>
            <a:lvl3pPr>
              <a:defRPr sz="2025" b="0">
                <a:solidFill>
                  <a:srgbClr val="14283F"/>
                </a:solidFill>
                <a:latin typeface="Helvetica Neue"/>
                <a:ea typeface="Helvetica Neue"/>
                <a:cs typeface="Helvetica Neue"/>
              </a:defRPr>
            </a:lvl3pPr>
            <a:lvl4pPr>
              <a:defRPr sz="2025" b="0">
                <a:solidFill>
                  <a:srgbClr val="14283F"/>
                </a:solidFill>
                <a:latin typeface="Helvetica Neue"/>
                <a:ea typeface="Helvetica Neue"/>
                <a:cs typeface="Helvetica Neue"/>
              </a:defRPr>
            </a:lvl4pPr>
            <a:lvl5pPr>
              <a:defRPr sz="2025" b="0">
                <a:solidFill>
                  <a:srgbClr val="14283F"/>
                </a:solidFill>
                <a:latin typeface="Helvetica Neue"/>
                <a:ea typeface="Helvetica Neue"/>
                <a:cs typeface="Helvetica Neue"/>
              </a:defRPr>
            </a:lvl5pPr>
            <a:lvl6pPr>
              <a:defRPr sz="2025" b="0">
                <a:solidFill>
                  <a:srgbClr val="14283F"/>
                </a:solidFill>
                <a:latin typeface="Helvetica Neue"/>
                <a:ea typeface="Helvetica Neue"/>
                <a:cs typeface="Helvetica Neue"/>
              </a:defRPr>
            </a:lvl6pPr>
            <a:lvl7pPr>
              <a:defRPr sz="2025" b="0">
                <a:solidFill>
                  <a:srgbClr val="14283F"/>
                </a:solidFill>
                <a:latin typeface="Helvetica Neue"/>
                <a:ea typeface="Helvetica Neue"/>
                <a:cs typeface="Helvetica Neue"/>
              </a:defRPr>
            </a:lvl7pPr>
            <a:lvl8pPr>
              <a:defRPr sz="2025" b="0">
                <a:solidFill>
                  <a:srgbClr val="14283F"/>
                </a:solidFill>
                <a:latin typeface="Helvetica Neue"/>
                <a:ea typeface="Helvetica Neue"/>
                <a:cs typeface="Helvetica Neue"/>
              </a:defRPr>
            </a:lvl8pPr>
            <a:lvl9pPr>
              <a:defRPr sz="2025" b="0">
                <a:solidFill>
                  <a:srgbClr val="14283F"/>
                </a:solidFill>
                <a:latin typeface="Helvetica Neue"/>
                <a:ea typeface="Helvetica Neue"/>
                <a:cs typeface="Helvetica Neue"/>
              </a:defRPr>
            </a:lvl9pPr>
          </a:lstStyle>
          <a:p>
            <a:pPr>
              <a:defRPr sz="2025" b="0">
                <a:solidFill>
                  <a:srgbClr val="14283F"/>
                </a:solidFill>
                <a:latin typeface="Helvetica Neue"/>
                <a:ea typeface="Helvetica Neue"/>
                <a:cs typeface="Helvetica Neue"/>
              </a:defRPr>
            </a:pPr>
            <a:r>
              <a:rPr sz="2025" b="0">
                <a:solidFill>
                  <a:srgbClr val="14283F"/>
                </a:solidFill>
                <a:latin typeface="Helvetica Neue"/>
                <a:ea typeface="Helvetica Neue"/>
                <a:cs typeface="Helvetica Neue"/>
              </a:rPr>
              <a:t>Best candidate so far, measured on the training contact state.</a:t>
            </a:r>
          </a:p>
        </p:txBody>
      </p:sp>
      <p:sp>
        <p:nvSpPr>
          <p:cNvPr id="7" name="Rectangle 6">
            <a:extLst>
              <a:ext uri="{FF2B5EF4-FFF2-40B4-BE49-F238E27FC236}">
                <a16:creationId xmlns:a16="http://schemas.microsoft.com/office/drawing/2014/main" id="{4FFBB277-339A-458A-B440-777AD7E6C797}"/>
              </a:ext>
            </a:extLst>
          </p:cNvPr>
          <p:cNvSpPr>
            <a:spLocks noGrp="1"/>
          </p:cNvSpPr>
          <p:nvPr/>
        </p:nvSpPr>
        <p:spPr>
          <a:xfrm>
            <a:off x="11277600" y="6438900"/>
            <a:ext cx="381000" cy="228600"/>
          </a:xfrm>
          <a:prstGeom prst="rect">
            <a:avLst/>
          </a:prstGeom>
          <a:noFill/>
          <a:ln w="0">
            <a:noFill/>
          </a:ln>
        </p:spPr>
        <p:txBody>
          <a:bodyPr lIns="0" tIns="0" rIns="0" bIns="0" anchor="ctr">
            <a:noAutofit/>
          </a:bodyPr>
          <a:lstStyle>
            <a:defPPr>
              <a:defRPr sz="1425" b="0">
                <a:solidFill>
                  <a:srgbClr val="566779"/>
                </a:solidFill>
                <a:latin typeface="Helvetica Neue"/>
                <a:ea typeface="Helvetica Neue"/>
                <a:cs typeface="Helvetica Neue"/>
              </a:defRPr>
            </a:defPPr>
            <a:lvl1pPr>
              <a:defRPr sz="1425" b="0">
                <a:solidFill>
                  <a:srgbClr val="566779"/>
                </a:solidFill>
                <a:latin typeface="Helvetica Neue"/>
                <a:ea typeface="Helvetica Neue"/>
                <a:cs typeface="Helvetica Neue"/>
              </a:defRPr>
            </a:lvl1pPr>
            <a:lvl2pPr>
              <a:defRPr sz="1425" b="0">
                <a:solidFill>
                  <a:srgbClr val="566779"/>
                </a:solidFill>
                <a:latin typeface="Helvetica Neue"/>
                <a:ea typeface="Helvetica Neue"/>
                <a:cs typeface="Helvetica Neue"/>
              </a:defRPr>
            </a:lvl2pPr>
            <a:lvl3pPr>
              <a:defRPr sz="1425" b="0">
                <a:solidFill>
                  <a:srgbClr val="566779"/>
                </a:solidFill>
                <a:latin typeface="Helvetica Neue"/>
                <a:ea typeface="Helvetica Neue"/>
                <a:cs typeface="Helvetica Neue"/>
              </a:defRPr>
            </a:lvl3pPr>
            <a:lvl4pPr>
              <a:defRPr sz="1425" b="0">
                <a:solidFill>
                  <a:srgbClr val="566779"/>
                </a:solidFill>
                <a:latin typeface="Helvetica Neue"/>
                <a:ea typeface="Helvetica Neue"/>
                <a:cs typeface="Helvetica Neue"/>
              </a:defRPr>
            </a:lvl4pPr>
            <a:lvl5pPr>
              <a:defRPr sz="1425" b="0">
                <a:solidFill>
                  <a:srgbClr val="566779"/>
                </a:solidFill>
                <a:latin typeface="Helvetica Neue"/>
                <a:ea typeface="Helvetica Neue"/>
                <a:cs typeface="Helvetica Neue"/>
              </a:defRPr>
            </a:lvl5pPr>
            <a:lvl6pPr>
              <a:defRPr sz="1425" b="0">
                <a:solidFill>
                  <a:srgbClr val="566779"/>
                </a:solidFill>
                <a:latin typeface="Helvetica Neue"/>
                <a:ea typeface="Helvetica Neue"/>
                <a:cs typeface="Helvetica Neue"/>
              </a:defRPr>
            </a:lvl6pPr>
            <a:lvl7pPr>
              <a:defRPr sz="1425" b="0">
                <a:solidFill>
                  <a:srgbClr val="566779"/>
                </a:solidFill>
                <a:latin typeface="Helvetica Neue"/>
                <a:ea typeface="Helvetica Neue"/>
                <a:cs typeface="Helvetica Neue"/>
              </a:defRPr>
            </a:lvl7pPr>
            <a:lvl8pPr>
              <a:defRPr sz="1425" b="0">
                <a:solidFill>
                  <a:srgbClr val="566779"/>
                </a:solidFill>
                <a:latin typeface="Helvetica Neue"/>
                <a:ea typeface="Helvetica Neue"/>
                <a:cs typeface="Helvetica Neue"/>
              </a:defRPr>
            </a:lvl8pPr>
            <a:lvl9pPr>
              <a:defRPr sz="1425" b="0">
                <a:solidFill>
                  <a:srgbClr val="566779"/>
                </a:solidFill>
                <a:latin typeface="Helvetica Neue"/>
                <a:ea typeface="Helvetica Neue"/>
                <a:cs typeface="Helvetica Neue"/>
              </a:defRPr>
            </a:lvl9pPr>
          </a:lstStyle>
          <a:p>
            <a:pPr>
              <a:defRPr sz="1425" b="0">
                <a:solidFill>
                  <a:srgbClr val="566779"/>
                </a:solidFill>
                <a:latin typeface="Helvetica Neue"/>
                <a:ea typeface="Helvetica Neue"/>
                <a:cs typeface="Helvetica Neue"/>
              </a:defRPr>
            </a:pPr>
            <a:r>
              <a:rPr sz="1425" b="0">
                <a:solidFill>
                  <a:srgbClr val="566779"/>
                </a:solidFill>
                <a:latin typeface="Helvetica Neue"/>
                <a:ea typeface="Helvetica Neue"/>
                <a:cs typeface="Helvetica Neue"/>
              </a:rPr>
              <a:t>8</a:t>
            </a:r>
          </a:p>
        </p:txBody>
      </p:sp>
    </p:spTree>
    <p:extLst>
      <p:ext uri="{BB962C8B-B14F-4D97-AF65-F5344CB8AC3E}">
        <p14:creationId xmlns:p14="http://schemas.microsoft.com/office/powerpoint/2010/main" val="130301894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CD83E035-CFBF-4DE7-A927-BA7368FCAEFB}"/>
              </a:ext>
            </a:extLst>
          </p:cNvPr>
          <p:cNvSpPr>
            <a:spLocks noGrp="1"/>
          </p:cNvSpPr>
          <p:nvPr/>
        </p:nvSpPr>
        <p:spPr>
          <a:xfrm>
            <a:off x="609600" y="400050"/>
            <a:ext cx="10972800" cy="800100"/>
          </a:xfrm>
          <a:prstGeom prst="rect">
            <a:avLst/>
          </a:prstGeom>
          <a:noFill/>
          <a:ln w="0">
            <a:noFill/>
          </a:ln>
        </p:spPr>
        <p:txBody>
          <a:bodyPr lIns="0" tIns="0" rIns="0" bIns="0" anchor="ctr">
            <a:noAutofit/>
          </a:bodyPr>
          <a:lstStyle>
            <a:defPPr>
              <a:defRPr sz="3600" b="1">
                <a:solidFill>
                  <a:srgbClr val="14283F"/>
                </a:solidFill>
                <a:latin typeface="Helvetica Neue"/>
                <a:ea typeface="Helvetica Neue"/>
                <a:cs typeface="Helvetica Neue"/>
              </a:defRPr>
            </a:defPPr>
            <a:lvl1pPr>
              <a:defRPr sz="3600" b="1">
                <a:solidFill>
                  <a:srgbClr val="14283F"/>
                </a:solidFill>
                <a:latin typeface="Helvetica Neue"/>
                <a:ea typeface="Helvetica Neue"/>
                <a:cs typeface="Helvetica Neue"/>
              </a:defRPr>
            </a:lvl1pPr>
            <a:lvl2pPr>
              <a:defRPr sz="3600" b="1">
                <a:solidFill>
                  <a:srgbClr val="14283F"/>
                </a:solidFill>
                <a:latin typeface="Helvetica Neue"/>
                <a:ea typeface="Helvetica Neue"/>
                <a:cs typeface="Helvetica Neue"/>
              </a:defRPr>
            </a:lvl2pPr>
            <a:lvl3pPr>
              <a:defRPr sz="3600" b="1">
                <a:solidFill>
                  <a:srgbClr val="14283F"/>
                </a:solidFill>
                <a:latin typeface="Helvetica Neue"/>
                <a:ea typeface="Helvetica Neue"/>
                <a:cs typeface="Helvetica Neue"/>
              </a:defRPr>
            </a:lvl3pPr>
            <a:lvl4pPr>
              <a:defRPr sz="3600" b="1">
                <a:solidFill>
                  <a:srgbClr val="14283F"/>
                </a:solidFill>
                <a:latin typeface="Helvetica Neue"/>
                <a:ea typeface="Helvetica Neue"/>
                <a:cs typeface="Helvetica Neue"/>
              </a:defRPr>
            </a:lvl4pPr>
            <a:lvl5pPr>
              <a:defRPr sz="3600" b="1">
                <a:solidFill>
                  <a:srgbClr val="14283F"/>
                </a:solidFill>
                <a:latin typeface="Helvetica Neue"/>
                <a:ea typeface="Helvetica Neue"/>
                <a:cs typeface="Helvetica Neue"/>
              </a:defRPr>
            </a:lvl5pPr>
            <a:lvl6pPr>
              <a:defRPr sz="3600" b="1">
                <a:solidFill>
                  <a:srgbClr val="14283F"/>
                </a:solidFill>
                <a:latin typeface="Helvetica Neue"/>
                <a:ea typeface="Helvetica Neue"/>
                <a:cs typeface="Helvetica Neue"/>
              </a:defRPr>
            </a:lvl6pPr>
            <a:lvl7pPr>
              <a:defRPr sz="3600" b="1">
                <a:solidFill>
                  <a:srgbClr val="14283F"/>
                </a:solidFill>
                <a:latin typeface="Helvetica Neue"/>
                <a:ea typeface="Helvetica Neue"/>
                <a:cs typeface="Helvetica Neue"/>
              </a:defRPr>
            </a:lvl7pPr>
            <a:lvl8pPr>
              <a:defRPr sz="3600" b="1">
                <a:solidFill>
                  <a:srgbClr val="14283F"/>
                </a:solidFill>
                <a:latin typeface="Helvetica Neue"/>
                <a:ea typeface="Helvetica Neue"/>
                <a:cs typeface="Helvetica Neue"/>
              </a:defRPr>
            </a:lvl8pPr>
            <a:lvl9pPr>
              <a:defRPr sz="3600" b="1">
                <a:solidFill>
                  <a:srgbClr val="14283F"/>
                </a:solidFill>
                <a:latin typeface="Helvetica Neue"/>
                <a:ea typeface="Helvetica Neue"/>
                <a:cs typeface="Helvetica Neue"/>
              </a:defRPr>
            </a:lvl9pPr>
          </a:lstStyle>
          <a:p>
            <a:pPr>
              <a:defRPr sz="3600" b="1">
                <a:solidFill>
                  <a:srgbClr val="14283F"/>
                </a:solidFill>
                <a:latin typeface="Helvetica Neue"/>
                <a:ea typeface="Helvetica Neue"/>
                <a:cs typeface="Helvetica Neue"/>
              </a:defRPr>
            </a:pPr>
            <a:r>
              <a:rPr sz="3600" b="1">
                <a:solidFill>
                  <a:srgbClr val="14283F"/>
                </a:solidFill>
                <a:latin typeface="Helvetica Neue"/>
                <a:ea typeface="Helvetica Neue"/>
                <a:cs typeface="Helvetica Neue"/>
              </a:rPr>
              <a:t>After focused lift training</a:t>
            </a:r>
          </a:p>
        </p:txBody>
      </p:sp>
      <p:sp>
        <p:nvSpPr>
          <p:cNvPr id="4" name="Rectangle 3">
            <a:extLst>
              <a:ext uri="{FF2B5EF4-FFF2-40B4-BE49-F238E27FC236}">
                <a16:creationId xmlns:a16="http://schemas.microsoft.com/office/drawing/2014/main" id="{2B74937B-2D3E-4163-B7C7-2811E8B17FC8}"/>
              </a:ext>
            </a:extLst>
          </p:cNvPr>
          <p:cNvSpPr>
            <a:spLocks noGrp="1"/>
          </p:cNvSpPr>
          <p:nvPr/>
        </p:nvSpPr>
        <p:spPr>
          <a:xfrm>
            <a:off x="11277600" y="6438900"/>
            <a:ext cx="381000" cy="228600"/>
          </a:xfrm>
          <a:prstGeom prst="rect">
            <a:avLst/>
          </a:prstGeom>
          <a:noFill/>
          <a:ln w="0">
            <a:noFill/>
          </a:ln>
        </p:spPr>
        <p:txBody>
          <a:bodyPr lIns="0" tIns="0" rIns="0" bIns="0" anchor="ctr">
            <a:noAutofit/>
          </a:bodyPr>
          <a:lstStyle>
            <a:defPPr>
              <a:defRPr sz="1425" b="0">
                <a:solidFill>
                  <a:srgbClr val="566779"/>
                </a:solidFill>
                <a:latin typeface="Helvetica Neue"/>
                <a:ea typeface="Helvetica Neue"/>
                <a:cs typeface="Helvetica Neue"/>
              </a:defRPr>
            </a:defPPr>
            <a:lvl1pPr>
              <a:defRPr sz="1425" b="0">
                <a:solidFill>
                  <a:srgbClr val="566779"/>
                </a:solidFill>
                <a:latin typeface="Helvetica Neue"/>
                <a:ea typeface="Helvetica Neue"/>
                <a:cs typeface="Helvetica Neue"/>
              </a:defRPr>
            </a:lvl1pPr>
            <a:lvl2pPr>
              <a:defRPr sz="1425" b="0">
                <a:solidFill>
                  <a:srgbClr val="566779"/>
                </a:solidFill>
                <a:latin typeface="Helvetica Neue"/>
                <a:ea typeface="Helvetica Neue"/>
                <a:cs typeface="Helvetica Neue"/>
              </a:defRPr>
            </a:lvl2pPr>
            <a:lvl3pPr>
              <a:defRPr sz="1425" b="0">
                <a:solidFill>
                  <a:srgbClr val="566779"/>
                </a:solidFill>
                <a:latin typeface="Helvetica Neue"/>
                <a:ea typeface="Helvetica Neue"/>
                <a:cs typeface="Helvetica Neue"/>
              </a:defRPr>
            </a:lvl3pPr>
            <a:lvl4pPr>
              <a:defRPr sz="1425" b="0">
                <a:solidFill>
                  <a:srgbClr val="566779"/>
                </a:solidFill>
                <a:latin typeface="Helvetica Neue"/>
                <a:ea typeface="Helvetica Neue"/>
                <a:cs typeface="Helvetica Neue"/>
              </a:defRPr>
            </a:lvl4pPr>
            <a:lvl5pPr>
              <a:defRPr sz="1425" b="0">
                <a:solidFill>
                  <a:srgbClr val="566779"/>
                </a:solidFill>
                <a:latin typeface="Helvetica Neue"/>
                <a:ea typeface="Helvetica Neue"/>
                <a:cs typeface="Helvetica Neue"/>
              </a:defRPr>
            </a:lvl5pPr>
            <a:lvl6pPr>
              <a:defRPr sz="1425" b="0">
                <a:solidFill>
                  <a:srgbClr val="566779"/>
                </a:solidFill>
                <a:latin typeface="Helvetica Neue"/>
                <a:ea typeface="Helvetica Neue"/>
                <a:cs typeface="Helvetica Neue"/>
              </a:defRPr>
            </a:lvl6pPr>
            <a:lvl7pPr>
              <a:defRPr sz="1425" b="0">
                <a:solidFill>
                  <a:srgbClr val="566779"/>
                </a:solidFill>
                <a:latin typeface="Helvetica Neue"/>
                <a:ea typeface="Helvetica Neue"/>
                <a:cs typeface="Helvetica Neue"/>
              </a:defRPr>
            </a:lvl7pPr>
            <a:lvl8pPr>
              <a:defRPr sz="1425" b="0">
                <a:solidFill>
                  <a:srgbClr val="566779"/>
                </a:solidFill>
                <a:latin typeface="Helvetica Neue"/>
                <a:ea typeface="Helvetica Neue"/>
                <a:cs typeface="Helvetica Neue"/>
              </a:defRPr>
            </a:lvl8pPr>
            <a:lvl9pPr>
              <a:defRPr sz="1425" b="0">
                <a:solidFill>
                  <a:srgbClr val="566779"/>
                </a:solidFill>
                <a:latin typeface="Helvetica Neue"/>
                <a:ea typeface="Helvetica Neue"/>
                <a:cs typeface="Helvetica Neue"/>
              </a:defRPr>
            </a:lvl9pPr>
          </a:lstStyle>
          <a:p>
            <a:pPr>
              <a:defRPr sz="1425" b="0">
                <a:solidFill>
                  <a:srgbClr val="566779"/>
                </a:solidFill>
                <a:latin typeface="Helvetica Neue"/>
                <a:ea typeface="Helvetica Neue"/>
                <a:cs typeface="Helvetica Neue"/>
              </a:defRPr>
            </a:pPr>
            <a:r>
              <a:rPr sz="1425" b="0">
                <a:solidFill>
                  <a:srgbClr val="566779"/>
                </a:solidFill>
                <a:latin typeface="Helvetica Neue"/>
                <a:ea typeface="Helvetica Neue"/>
                <a:cs typeface="Helvetica Neue"/>
              </a:rPr>
              <a:t>9</a:t>
            </a:r>
          </a:p>
        </p:txBody>
      </p:sp>
      <p:pic>
        <p:nvPicPr>
          <p:cNvPr id="5" name="lift_and_hold video">
            <a:hlinkClick r:id="" action="ppaction://media"/>
            <a:extLst>
              <a:ext uri="{FF2B5EF4-FFF2-40B4-BE49-F238E27FC236}">
                <a16:creationId xmlns:a16="http://schemas.microsoft.com/office/drawing/2014/main" id="{940CA969-8938-4220-99F4-ACD495D35176}"/>
              </a:ext>
            </a:extLst>
          </p:cNvPr>
          <p:cNvPicPr>
            <a:picLocks noChangeAspect="1"/>
          </p:cNvPicPr>
          <p:nvPr>
            <a:videoFile r:link="rId2"/>
            <p:extLst>
              <p:ext uri="{DAA4B4D4-6D71-4841-9C94-3DE7FCFB9230}">
                <p14:media xmlns:p14="http://schemas.microsoft.com/office/powerpoint/2010/main" r:embed="rId1"/>
              </p:ext>
            </p:extLst>
          </p:nvPr>
        </p:nvPicPr>
        <p:blipFill>
          <a:blip r:embed="rId5"/>
          <a:stretch/>
        </p:blipFill>
        <p:spPr>
          <a:xfrm>
            <a:off x="609600" y="1419225"/>
            <a:ext cx="6400800" cy="4800600"/>
          </a:xfrm>
          <a:prstGeom prst="rect">
            <a:avLst/>
          </a:prstGeom>
        </p:spPr>
      </p:pic>
      <p:sp>
        <p:nvSpPr>
          <p:cNvPr id="7" name="Rectangle 6">
            <a:extLst>
              <a:ext uri="{FF2B5EF4-FFF2-40B4-BE49-F238E27FC236}">
                <a16:creationId xmlns:a16="http://schemas.microsoft.com/office/drawing/2014/main" id="{6C41DF77-FA52-4FB6-A8E9-199EF1DB2BEC}"/>
              </a:ext>
            </a:extLst>
          </p:cNvPr>
          <p:cNvSpPr>
            <a:spLocks noGrp="1"/>
          </p:cNvSpPr>
          <p:nvPr/>
        </p:nvSpPr>
        <p:spPr>
          <a:xfrm>
            <a:off x="7505700" y="1619250"/>
            <a:ext cx="4000500" cy="809625"/>
          </a:xfrm>
          <a:prstGeom prst="rect">
            <a:avLst/>
          </a:prstGeom>
          <a:noFill/>
          <a:ln w="0">
            <a:noFill/>
          </a:ln>
        </p:spPr>
        <p:txBody>
          <a:bodyPr lIns="0" tIns="0" rIns="0" bIns="0" anchor="ctr">
            <a:noAutofit/>
          </a:bodyPr>
          <a:lstStyle>
            <a:defPPr>
              <a:defRPr sz="4200" b="1">
                <a:solidFill>
                  <a:srgbClr val="176FBD"/>
                </a:solidFill>
                <a:latin typeface="Helvetica Neue"/>
                <a:ea typeface="Helvetica Neue"/>
                <a:cs typeface="Helvetica Neue"/>
              </a:defRPr>
            </a:defPPr>
            <a:lvl1pPr>
              <a:defRPr sz="4200" b="1">
                <a:solidFill>
                  <a:srgbClr val="176FBD"/>
                </a:solidFill>
                <a:latin typeface="Helvetica Neue"/>
                <a:ea typeface="Helvetica Neue"/>
                <a:cs typeface="Helvetica Neue"/>
              </a:defRPr>
            </a:lvl1pPr>
            <a:lvl2pPr>
              <a:defRPr sz="4200" b="1">
                <a:solidFill>
                  <a:srgbClr val="176FBD"/>
                </a:solidFill>
                <a:latin typeface="Helvetica Neue"/>
                <a:ea typeface="Helvetica Neue"/>
                <a:cs typeface="Helvetica Neue"/>
              </a:defRPr>
            </a:lvl2pPr>
            <a:lvl3pPr>
              <a:defRPr sz="4200" b="1">
                <a:solidFill>
                  <a:srgbClr val="176FBD"/>
                </a:solidFill>
                <a:latin typeface="Helvetica Neue"/>
                <a:ea typeface="Helvetica Neue"/>
                <a:cs typeface="Helvetica Neue"/>
              </a:defRPr>
            </a:lvl3pPr>
            <a:lvl4pPr>
              <a:defRPr sz="4200" b="1">
                <a:solidFill>
                  <a:srgbClr val="176FBD"/>
                </a:solidFill>
                <a:latin typeface="Helvetica Neue"/>
                <a:ea typeface="Helvetica Neue"/>
                <a:cs typeface="Helvetica Neue"/>
              </a:defRPr>
            </a:lvl4pPr>
            <a:lvl5pPr>
              <a:defRPr sz="4200" b="1">
                <a:solidFill>
                  <a:srgbClr val="176FBD"/>
                </a:solidFill>
                <a:latin typeface="Helvetica Neue"/>
                <a:ea typeface="Helvetica Neue"/>
                <a:cs typeface="Helvetica Neue"/>
              </a:defRPr>
            </a:lvl5pPr>
            <a:lvl6pPr>
              <a:defRPr sz="4200" b="1">
                <a:solidFill>
                  <a:srgbClr val="176FBD"/>
                </a:solidFill>
                <a:latin typeface="Helvetica Neue"/>
                <a:ea typeface="Helvetica Neue"/>
                <a:cs typeface="Helvetica Neue"/>
              </a:defRPr>
            </a:lvl6pPr>
            <a:lvl7pPr>
              <a:defRPr sz="4200" b="1">
                <a:solidFill>
                  <a:srgbClr val="176FBD"/>
                </a:solidFill>
                <a:latin typeface="Helvetica Neue"/>
                <a:ea typeface="Helvetica Neue"/>
                <a:cs typeface="Helvetica Neue"/>
              </a:defRPr>
            </a:lvl7pPr>
            <a:lvl8pPr>
              <a:defRPr sz="4200" b="1">
                <a:solidFill>
                  <a:srgbClr val="176FBD"/>
                </a:solidFill>
                <a:latin typeface="Helvetica Neue"/>
                <a:ea typeface="Helvetica Neue"/>
                <a:cs typeface="Helvetica Neue"/>
              </a:defRPr>
            </a:lvl8pPr>
            <a:lvl9pPr>
              <a:defRPr sz="4200" b="1">
                <a:solidFill>
                  <a:srgbClr val="176FBD"/>
                </a:solidFill>
                <a:latin typeface="Helvetica Neue"/>
                <a:ea typeface="Helvetica Neue"/>
                <a:cs typeface="Helvetica Neue"/>
              </a:defRPr>
            </a:lvl9pPr>
          </a:lstStyle>
          <a:p>
            <a:pPr>
              <a:defRPr sz="4200" b="1">
                <a:solidFill>
                  <a:srgbClr val="176FBD"/>
                </a:solidFill>
                <a:latin typeface="Helvetica Neue"/>
                <a:ea typeface="Helvetica Neue"/>
                <a:cs typeface="Helvetica Neue"/>
              </a:defRPr>
            </a:pPr>
            <a:r>
              <a:rPr sz="4200" b="1">
                <a:solidFill>
                  <a:srgbClr val="176FBD"/>
                </a:solidFill>
                <a:latin typeface="Helvetica Neue"/>
                <a:ea typeface="Helvetica Neue"/>
                <a:cs typeface="Helvetica Neue"/>
              </a:rPr>
              <a:t>13.8 cm</a:t>
            </a:r>
          </a:p>
        </p:txBody>
      </p:sp>
      <p:sp>
        <p:nvSpPr>
          <p:cNvPr id="8" name="Rectangle 7">
            <a:extLst>
              <a:ext uri="{FF2B5EF4-FFF2-40B4-BE49-F238E27FC236}">
                <a16:creationId xmlns:a16="http://schemas.microsoft.com/office/drawing/2014/main" id="{A4825F35-CD00-4391-A984-788EF4FCCF6C}"/>
              </a:ext>
            </a:extLst>
          </p:cNvPr>
          <p:cNvSpPr>
            <a:spLocks noGrp="1"/>
          </p:cNvSpPr>
          <p:nvPr/>
        </p:nvSpPr>
        <p:spPr>
          <a:xfrm>
            <a:off x="7505700" y="2457450"/>
            <a:ext cx="4000500" cy="704850"/>
          </a:xfrm>
          <a:prstGeom prst="rect">
            <a:avLst/>
          </a:prstGeom>
          <a:noFill/>
          <a:ln w="0">
            <a:noFill/>
          </a:ln>
        </p:spPr>
        <p:txBody>
          <a:bodyPr lIns="0" tIns="0" rIns="0" bIns="0" anchor="ctr">
            <a:noAutofit/>
          </a:bodyPr>
          <a:lstStyle>
            <a:defPPr>
              <a:defRPr sz="2025" b="0">
                <a:solidFill>
                  <a:srgbClr val="14283F"/>
                </a:solidFill>
                <a:latin typeface="Helvetica Neue"/>
                <a:ea typeface="Helvetica Neue"/>
                <a:cs typeface="Helvetica Neue"/>
              </a:defRPr>
            </a:defPPr>
            <a:lvl1pPr>
              <a:defRPr sz="2025" b="0">
                <a:solidFill>
                  <a:srgbClr val="14283F"/>
                </a:solidFill>
                <a:latin typeface="Helvetica Neue"/>
                <a:ea typeface="Helvetica Neue"/>
                <a:cs typeface="Helvetica Neue"/>
              </a:defRPr>
            </a:lvl1pPr>
            <a:lvl2pPr>
              <a:defRPr sz="2025" b="0">
                <a:solidFill>
                  <a:srgbClr val="14283F"/>
                </a:solidFill>
                <a:latin typeface="Helvetica Neue"/>
                <a:ea typeface="Helvetica Neue"/>
                <a:cs typeface="Helvetica Neue"/>
              </a:defRPr>
            </a:lvl2pPr>
            <a:lvl3pPr>
              <a:defRPr sz="2025" b="0">
                <a:solidFill>
                  <a:srgbClr val="14283F"/>
                </a:solidFill>
                <a:latin typeface="Helvetica Neue"/>
                <a:ea typeface="Helvetica Neue"/>
                <a:cs typeface="Helvetica Neue"/>
              </a:defRPr>
            </a:lvl3pPr>
            <a:lvl4pPr>
              <a:defRPr sz="2025" b="0">
                <a:solidFill>
                  <a:srgbClr val="14283F"/>
                </a:solidFill>
                <a:latin typeface="Helvetica Neue"/>
                <a:ea typeface="Helvetica Neue"/>
                <a:cs typeface="Helvetica Neue"/>
              </a:defRPr>
            </a:lvl4pPr>
            <a:lvl5pPr>
              <a:defRPr sz="2025" b="0">
                <a:solidFill>
                  <a:srgbClr val="14283F"/>
                </a:solidFill>
                <a:latin typeface="Helvetica Neue"/>
                <a:ea typeface="Helvetica Neue"/>
                <a:cs typeface="Helvetica Neue"/>
              </a:defRPr>
            </a:lvl5pPr>
            <a:lvl6pPr>
              <a:defRPr sz="2025" b="0">
                <a:solidFill>
                  <a:srgbClr val="14283F"/>
                </a:solidFill>
                <a:latin typeface="Helvetica Neue"/>
                <a:ea typeface="Helvetica Neue"/>
                <a:cs typeface="Helvetica Neue"/>
              </a:defRPr>
            </a:lvl6pPr>
            <a:lvl7pPr>
              <a:defRPr sz="2025" b="0">
                <a:solidFill>
                  <a:srgbClr val="14283F"/>
                </a:solidFill>
                <a:latin typeface="Helvetica Neue"/>
                <a:ea typeface="Helvetica Neue"/>
                <a:cs typeface="Helvetica Neue"/>
              </a:defRPr>
            </a:lvl7pPr>
            <a:lvl8pPr>
              <a:defRPr sz="2025" b="0">
                <a:solidFill>
                  <a:srgbClr val="14283F"/>
                </a:solidFill>
                <a:latin typeface="Helvetica Neue"/>
                <a:ea typeface="Helvetica Neue"/>
                <a:cs typeface="Helvetica Neue"/>
              </a:defRPr>
            </a:lvl8pPr>
            <a:lvl9pPr>
              <a:defRPr sz="2025" b="0">
                <a:solidFill>
                  <a:srgbClr val="14283F"/>
                </a:solidFill>
                <a:latin typeface="Helvetica Neue"/>
                <a:ea typeface="Helvetica Neue"/>
                <a:cs typeface="Helvetica Neue"/>
              </a:defRPr>
            </a:lvl9pPr>
          </a:lstStyle>
          <a:p>
            <a:pPr>
              <a:defRPr sz="2025" b="0">
                <a:solidFill>
                  <a:srgbClr val="14283F"/>
                </a:solidFill>
                <a:latin typeface="Helvetica Neue"/>
                <a:ea typeface="Helvetica Neue"/>
                <a:cs typeface="Helvetica Neue"/>
              </a:defRPr>
            </a:pPr>
            <a:r>
              <a:rPr sz="2025" b="0">
                <a:solidFill>
                  <a:srgbClr val="14283F"/>
                </a:solidFill>
                <a:latin typeface="Helvetica Neue"/>
                <a:ea typeface="Helvetica Neue"/>
                <a:cs typeface="Helvetica Neue"/>
              </a:rPr>
              <a:t>lift, followed by a five-second hold</a:t>
            </a:r>
          </a:p>
        </p:txBody>
      </p:sp>
      <p:sp>
        <p:nvSpPr>
          <p:cNvPr id="9" name="Rectangle 8">
            <a:extLst>
              <a:ext uri="{FF2B5EF4-FFF2-40B4-BE49-F238E27FC236}">
                <a16:creationId xmlns:a16="http://schemas.microsoft.com/office/drawing/2014/main" id="{573F96BB-0006-4E38-A229-DC4FE4EEDECA}"/>
              </a:ext>
            </a:extLst>
          </p:cNvPr>
          <p:cNvSpPr>
            <a:spLocks noGrp="1"/>
          </p:cNvSpPr>
          <p:nvPr/>
        </p:nvSpPr>
        <p:spPr>
          <a:xfrm>
            <a:off x="7505700" y="3429000"/>
            <a:ext cx="4000500" cy="1381125"/>
          </a:xfrm>
          <a:prstGeom prst="rect">
            <a:avLst/>
          </a:prstGeom>
          <a:noFill/>
          <a:ln w="0">
            <a:noFill/>
          </a:ln>
        </p:spPr>
        <p:txBody>
          <a:bodyPr lIns="0" tIns="0" rIns="0" bIns="0" anchor="ctr">
            <a:noAutofit/>
          </a:bodyPr>
          <a:lstStyle>
            <a:defPPr>
              <a:defRPr sz="2100" b="0">
                <a:solidFill>
                  <a:srgbClr val="14283F"/>
                </a:solidFill>
                <a:latin typeface="Helvetica Neue"/>
                <a:ea typeface="Helvetica Neue"/>
                <a:cs typeface="Helvetica Neue"/>
              </a:defRPr>
            </a:defPPr>
            <a:lvl1pPr>
              <a:defRPr sz="2100" b="0">
                <a:solidFill>
                  <a:srgbClr val="14283F"/>
                </a:solidFill>
                <a:latin typeface="Helvetica Neue"/>
                <a:ea typeface="Helvetica Neue"/>
                <a:cs typeface="Helvetica Neue"/>
              </a:defRPr>
            </a:lvl1pPr>
            <a:lvl2pPr>
              <a:defRPr sz="2100" b="0">
                <a:solidFill>
                  <a:srgbClr val="14283F"/>
                </a:solidFill>
                <a:latin typeface="Helvetica Neue"/>
                <a:ea typeface="Helvetica Neue"/>
                <a:cs typeface="Helvetica Neue"/>
              </a:defRPr>
            </a:lvl2pPr>
            <a:lvl3pPr>
              <a:defRPr sz="2100" b="0">
                <a:solidFill>
                  <a:srgbClr val="14283F"/>
                </a:solidFill>
                <a:latin typeface="Helvetica Neue"/>
                <a:ea typeface="Helvetica Neue"/>
                <a:cs typeface="Helvetica Neue"/>
              </a:defRPr>
            </a:lvl3pPr>
            <a:lvl4pPr>
              <a:defRPr sz="2100" b="0">
                <a:solidFill>
                  <a:srgbClr val="14283F"/>
                </a:solidFill>
                <a:latin typeface="Helvetica Neue"/>
                <a:ea typeface="Helvetica Neue"/>
                <a:cs typeface="Helvetica Neue"/>
              </a:defRPr>
            </a:lvl4pPr>
            <a:lvl5pPr>
              <a:defRPr sz="2100" b="0">
                <a:solidFill>
                  <a:srgbClr val="14283F"/>
                </a:solidFill>
                <a:latin typeface="Helvetica Neue"/>
                <a:ea typeface="Helvetica Neue"/>
                <a:cs typeface="Helvetica Neue"/>
              </a:defRPr>
            </a:lvl5pPr>
            <a:lvl6pPr>
              <a:defRPr sz="2100" b="0">
                <a:solidFill>
                  <a:srgbClr val="14283F"/>
                </a:solidFill>
                <a:latin typeface="Helvetica Neue"/>
                <a:ea typeface="Helvetica Neue"/>
                <a:cs typeface="Helvetica Neue"/>
              </a:defRPr>
            </a:lvl6pPr>
            <a:lvl7pPr>
              <a:defRPr sz="2100" b="0">
                <a:solidFill>
                  <a:srgbClr val="14283F"/>
                </a:solidFill>
                <a:latin typeface="Helvetica Neue"/>
                <a:ea typeface="Helvetica Neue"/>
                <a:cs typeface="Helvetica Neue"/>
              </a:defRPr>
            </a:lvl7pPr>
            <a:lvl8pPr>
              <a:defRPr sz="2100" b="0">
                <a:solidFill>
                  <a:srgbClr val="14283F"/>
                </a:solidFill>
                <a:latin typeface="Helvetica Neue"/>
                <a:ea typeface="Helvetica Neue"/>
                <a:cs typeface="Helvetica Neue"/>
              </a:defRPr>
            </a:lvl8pPr>
            <a:lvl9pPr>
              <a:defRPr sz="2100" b="0">
                <a:solidFill>
                  <a:srgbClr val="14283F"/>
                </a:solidFill>
                <a:latin typeface="Helvetica Neue"/>
                <a:ea typeface="Helvetica Neue"/>
                <a:cs typeface="Helvetica Neue"/>
              </a:defRPr>
            </a:lvl9pPr>
          </a:lstStyle>
          <a:p>
            <a:pPr>
              <a:defRPr sz="2100" b="0">
                <a:solidFill>
                  <a:srgbClr val="14283F"/>
                </a:solidFill>
                <a:latin typeface="Helvetica Neue"/>
                <a:ea typeface="Helvetica Neue"/>
                <a:cs typeface="Helvetica Neue"/>
              </a:defRPr>
            </a:pPr>
            <a:r>
              <a:rPr sz="2100" b="0">
                <a:solidFill>
                  <a:srgbClr val="14283F"/>
                </a:solidFill>
                <a:latin typeface="Helvetica Neue"/>
                <a:ea typeface="Helvetica Neue"/>
                <a:cs typeface="Helvetica Neue"/>
              </a:rPr>
              <a:t>120 reward-only search episodes.</a:t>
            </a:r>
          </a:p>
          <a:p>
            <a:pPr>
              <a:defRPr sz="2100" b="0">
                <a:solidFill>
                  <a:srgbClr val="14283F"/>
                </a:solidFill>
                <a:latin typeface="Helvetica Neue"/>
                <a:ea typeface="Helvetica Neue"/>
                <a:cs typeface="Helvetica Neue"/>
              </a:defRPr>
            </a:pPr>
            <a:r>
              <a:rPr sz="2100" b="0">
                <a:solidFill>
                  <a:srgbClr val="14283F"/>
                </a:solidFill>
                <a:latin typeface="Helvetica Neue"/>
                <a:ea typeface="Helvetica Neue"/>
                <a:cs typeface="Helvetica Neue"/>
              </a:rPr>
              <a:t>The ball stays off the table after the arm stops.</a:t>
            </a:r>
          </a:p>
        </p:txBody>
      </p:sp>
    </p:spTree>
    <p:extLst>
      <p:ext uri="{BB962C8B-B14F-4D97-AF65-F5344CB8AC3E}">
        <p14:creationId xmlns:p14="http://schemas.microsoft.com/office/powerpoint/2010/main" val="1843678111"/>
      </p:ext>
    </p:extLst>
  </p:cSld>
  <p:clrMapOvr>
    <a:masterClrMapping/>
  </p:clrMapOvr>
  <p:timing>
    <p:tnLst>
      <p:par>
        <p:cTn id="1" dur="indefinite" restart="never" fill="hold" nodeType="tmRoot">
          <p:childTnLst>
            <p:seq concurrent="1" prevAc="none" nextAc="seek">
              <p:cTn id="2" dur="indefinite" fill="hold"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 fill="hold"/>
                                        <p:tgtEl>
                                          <p:spTgt spid="5"/>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100000">
                <p:cTn id="7" fill="hold" display="0">
                  <p:stCondLst>
                    <p:cond delay="indefinite"/>
                  </p:stCondLst>
                </p:cTn>
                <p:tgtEl>
                  <p:spTgt spid="5"/>
                </p:tgtEl>
              </p:cMediaNode>
            </p:video>
            <p:seq concurrent="1" prevAc="none" nextAc="seek">
              <p:cTn id="8" restart="whenNotActive" fill="hold" evtFilter="cancelBubble" nodeType="interactiveSeq">
                <p:stCondLst>
                  <p:cond evt="onClick" delay="0">
                    <p:tgtEl>
                      <p:spTgt spid="5"/>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5"/>
                                        </p:tgtEl>
                                      </p:cBhvr>
                                    </p:cmd>
                                  </p:childTnLst>
                                </p:cTn>
                              </p:par>
                            </p:childTnLst>
                          </p:cTn>
                        </p:par>
                      </p:childTnLst>
                    </p:cTn>
                  </p:par>
                </p:childTnLst>
              </p:cTn>
              <p:nextCondLst>
                <p:cond evt="onClick" delay="0">
                  <p:tgtEl>
                    <p:spTgt spid="5"/>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80182B66-9E30-4EA7-A60C-6D0C3E792CD9}"/>
              </a:ext>
            </a:extLst>
          </p:cNvPr>
          <p:cNvSpPr>
            <a:spLocks noGrp="1"/>
          </p:cNvSpPr>
          <p:nvPr/>
        </p:nvSpPr>
        <p:spPr>
          <a:xfrm>
            <a:off x="609600" y="400050"/>
            <a:ext cx="10972800" cy="800100"/>
          </a:xfrm>
          <a:prstGeom prst="rect">
            <a:avLst/>
          </a:prstGeom>
          <a:noFill/>
          <a:ln w="0">
            <a:noFill/>
          </a:ln>
        </p:spPr>
        <p:txBody>
          <a:bodyPr lIns="0" tIns="0" rIns="0" bIns="0" anchor="ctr">
            <a:noAutofit/>
          </a:bodyPr>
          <a:lstStyle>
            <a:defPPr>
              <a:defRPr sz="3600" b="1">
                <a:solidFill>
                  <a:srgbClr val="14283F"/>
                </a:solidFill>
                <a:latin typeface="Helvetica Neue"/>
                <a:ea typeface="Helvetica Neue"/>
                <a:cs typeface="Helvetica Neue"/>
              </a:defRPr>
            </a:defPPr>
            <a:lvl1pPr>
              <a:defRPr sz="3600" b="1">
                <a:solidFill>
                  <a:srgbClr val="14283F"/>
                </a:solidFill>
                <a:latin typeface="Helvetica Neue"/>
                <a:ea typeface="Helvetica Neue"/>
                <a:cs typeface="Helvetica Neue"/>
              </a:defRPr>
            </a:lvl1pPr>
            <a:lvl2pPr>
              <a:defRPr sz="3600" b="1">
                <a:solidFill>
                  <a:srgbClr val="14283F"/>
                </a:solidFill>
                <a:latin typeface="Helvetica Neue"/>
                <a:ea typeface="Helvetica Neue"/>
                <a:cs typeface="Helvetica Neue"/>
              </a:defRPr>
            </a:lvl2pPr>
            <a:lvl3pPr>
              <a:defRPr sz="3600" b="1">
                <a:solidFill>
                  <a:srgbClr val="14283F"/>
                </a:solidFill>
                <a:latin typeface="Helvetica Neue"/>
                <a:ea typeface="Helvetica Neue"/>
                <a:cs typeface="Helvetica Neue"/>
              </a:defRPr>
            </a:lvl3pPr>
            <a:lvl4pPr>
              <a:defRPr sz="3600" b="1">
                <a:solidFill>
                  <a:srgbClr val="14283F"/>
                </a:solidFill>
                <a:latin typeface="Helvetica Neue"/>
                <a:ea typeface="Helvetica Neue"/>
                <a:cs typeface="Helvetica Neue"/>
              </a:defRPr>
            </a:lvl4pPr>
            <a:lvl5pPr>
              <a:defRPr sz="3600" b="1">
                <a:solidFill>
                  <a:srgbClr val="14283F"/>
                </a:solidFill>
                <a:latin typeface="Helvetica Neue"/>
                <a:ea typeface="Helvetica Neue"/>
                <a:cs typeface="Helvetica Neue"/>
              </a:defRPr>
            </a:lvl5pPr>
            <a:lvl6pPr>
              <a:defRPr sz="3600" b="1">
                <a:solidFill>
                  <a:srgbClr val="14283F"/>
                </a:solidFill>
                <a:latin typeface="Helvetica Neue"/>
                <a:ea typeface="Helvetica Neue"/>
                <a:cs typeface="Helvetica Neue"/>
              </a:defRPr>
            </a:lvl6pPr>
            <a:lvl7pPr>
              <a:defRPr sz="3600" b="1">
                <a:solidFill>
                  <a:srgbClr val="14283F"/>
                </a:solidFill>
                <a:latin typeface="Helvetica Neue"/>
                <a:ea typeface="Helvetica Neue"/>
                <a:cs typeface="Helvetica Neue"/>
              </a:defRPr>
            </a:lvl7pPr>
            <a:lvl8pPr>
              <a:defRPr sz="3600" b="1">
                <a:solidFill>
                  <a:srgbClr val="14283F"/>
                </a:solidFill>
                <a:latin typeface="Helvetica Neue"/>
                <a:ea typeface="Helvetica Neue"/>
                <a:cs typeface="Helvetica Neue"/>
              </a:defRPr>
            </a:lvl8pPr>
            <a:lvl9pPr>
              <a:defRPr sz="3600" b="1">
                <a:solidFill>
                  <a:srgbClr val="14283F"/>
                </a:solidFill>
                <a:latin typeface="Helvetica Neue"/>
                <a:ea typeface="Helvetica Neue"/>
                <a:cs typeface="Helvetica Neue"/>
              </a:defRPr>
            </a:lvl9pPr>
          </a:lstStyle>
          <a:p>
            <a:pPr>
              <a:defRPr sz="3600" b="1">
                <a:solidFill>
                  <a:srgbClr val="14283F"/>
                </a:solidFill>
                <a:latin typeface="Helvetica Neue"/>
                <a:ea typeface="Helvetica Neue"/>
                <a:cs typeface="Helvetica Neue"/>
              </a:defRPr>
            </a:pPr>
            <a:r>
              <a:rPr sz="3600" b="1">
                <a:solidFill>
                  <a:srgbClr val="14283F"/>
                </a:solidFill>
                <a:latin typeface="Helvetica Neue"/>
                <a:ea typeface="Helvetica Neue"/>
                <a:cs typeface="Helvetica Neue"/>
              </a:rPr>
              <a:t>Lift-and-hold evaluation</a:t>
            </a:r>
          </a:p>
        </p:txBody>
      </p:sp>
      <p:sp>
        <p:nvSpPr>
          <p:cNvPr id="4" name="Rectangle 3">
            <a:extLst>
              <a:ext uri="{FF2B5EF4-FFF2-40B4-BE49-F238E27FC236}">
                <a16:creationId xmlns:a16="http://schemas.microsoft.com/office/drawing/2014/main" id="{3B8FC9BE-2DD1-45F9-A639-C8039412A28E}"/>
              </a:ext>
            </a:extLst>
          </p:cNvPr>
          <p:cNvSpPr>
            <a:spLocks noGrp="1"/>
          </p:cNvSpPr>
          <p:nvPr/>
        </p:nvSpPr>
        <p:spPr>
          <a:xfrm>
            <a:off x="11277600" y="6438900"/>
            <a:ext cx="381000" cy="228600"/>
          </a:xfrm>
          <a:prstGeom prst="rect">
            <a:avLst/>
          </a:prstGeom>
          <a:noFill/>
          <a:ln w="0">
            <a:noFill/>
          </a:ln>
        </p:spPr>
        <p:txBody>
          <a:bodyPr lIns="0" tIns="0" rIns="0" bIns="0" anchor="ctr">
            <a:noAutofit/>
          </a:bodyPr>
          <a:lstStyle>
            <a:defPPr>
              <a:defRPr sz="1425" b="0">
                <a:solidFill>
                  <a:srgbClr val="566779"/>
                </a:solidFill>
                <a:latin typeface="Helvetica Neue"/>
                <a:ea typeface="Helvetica Neue"/>
                <a:cs typeface="Helvetica Neue"/>
              </a:defRPr>
            </a:defPPr>
            <a:lvl1pPr>
              <a:defRPr sz="1425" b="0">
                <a:solidFill>
                  <a:srgbClr val="566779"/>
                </a:solidFill>
                <a:latin typeface="Helvetica Neue"/>
                <a:ea typeface="Helvetica Neue"/>
                <a:cs typeface="Helvetica Neue"/>
              </a:defRPr>
            </a:lvl1pPr>
            <a:lvl2pPr>
              <a:defRPr sz="1425" b="0">
                <a:solidFill>
                  <a:srgbClr val="566779"/>
                </a:solidFill>
                <a:latin typeface="Helvetica Neue"/>
                <a:ea typeface="Helvetica Neue"/>
                <a:cs typeface="Helvetica Neue"/>
              </a:defRPr>
            </a:lvl2pPr>
            <a:lvl3pPr>
              <a:defRPr sz="1425" b="0">
                <a:solidFill>
                  <a:srgbClr val="566779"/>
                </a:solidFill>
                <a:latin typeface="Helvetica Neue"/>
                <a:ea typeface="Helvetica Neue"/>
                <a:cs typeface="Helvetica Neue"/>
              </a:defRPr>
            </a:lvl3pPr>
            <a:lvl4pPr>
              <a:defRPr sz="1425" b="0">
                <a:solidFill>
                  <a:srgbClr val="566779"/>
                </a:solidFill>
                <a:latin typeface="Helvetica Neue"/>
                <a:ea typeface="Helvetica Neue"/>
                <a:cs typeface="Helvetica Neue"/>
              </a:defRPr>
            </a:lvl4pPr>
            <a:lvl5pPr>
              <a:defRPr sz="1425" b="0">
                <a:solidFill>
                  <a:srgbClr val="566779"/>
                </a:solidFill>
                <a:latin typeface="Helvetica Neue"/>
                <a:ea typeface="Helvetica Neue"/>
                <a:cs typeface="Helvetica Neue"/>
              </a:defRPr>
            </a:lvl5pPr>
            <a:lvl6pPr>
              <a:defRPr sz="1425" b="0">
                <a:solidFill>
                  <a:srgbClr val="566779"/>
                </a:solidFill>
                <a:latin typeface="Helvetica Neue"/>
                <a:ea typeface="Helvetica Neue"/>
                <a:cs typeface="Helvetica Neue"/>
              </a:defRPr>
            </a:lvl6pPr>
            <a:lvl7pPr>
              <a:defRPr sz="1425" b="0">
                <a:solidFill>
                  <a:srgbClr val="566779"/>
                </a:solidFill>
                <a:latin typeface="Helvetica Neue"/>
                <a:ea typeface="Helvetica Neue"/>
                <a:cs typeface="Helvetica Neue"/>
              </a:defRPr>
            </a:lvl7pPr>
            <a:lvl8pPr>
              <a:defRPr sz="1425" b="0">
                <a:solidFill>
                  <a:srgbClr val="566779"/>
                </a:solidFill>
                <a:latin typeface="Helvetica Neue"/>
                <a:ea typeface="Helvetica Neue"/>
                <a:cs typeface="Helvetica Neue"/>
              </a:defRPr>
            </a:lvl8pPr>
            <a:lvl9pPr>
              <a:defRPr sz="1425" b="0">
                <a:solidFill>
                  <a:srgbClr val="566779"/>
                </a:solidFill>
                <a:latin typeface="Helvetica Neue"/>
                <a:ea typeface="Helvetica Neue"/>
                <a:cs typeface="Helvetica Neue"/>
              </a:defRPr>
            </a:lvl9pPr>
          </a:lstStyle>
          <a:p>
            <a:pPr>
              <a:defRPr sz="1425" b="0">
                <a:solidFill>
                  <a:srgbClr val="566779"/>
                </a:solidFill>
                <a:latin typeface="Helvetica Neue"/>
                <a:ea typeface="Helvetica Neue"/>
                <a:cs typeface="Helvetica Neue"/>
              </a:defRPr>
            </a:pPr>
            <a:r>
              <a:rPr sz="1425" b="0">
                <a:solidFill>
                  <a:srgbClr val="566779"/>
                </a:solidFill>
                <a:latin typeface="Helvetica Neue"/>
                <a:ea typeface="Helvetica Neue"/>
                <a:cs typeface="Helvetica Neue"/>
              </a:rPr>
              <a:t>10</a:t>
            </a:r>
          </a:p>
        </p:txBody>
      </p:sp>
      <p:graphicFrame>
        <p:nvGraphicFramePr>
          <p:cNvPr id="5" name="Table 4">
            <a:extLst>
              <a:ext uri="{FF2B5EF4-FFF2-40B4-BE49-F238E27FC236}">
                <a16:creationId xmlns:a16="http://schemas.microsoft.com/office/drawing/2014/main" id="{DAA83B43-9555-49BA-93BB-BCD4C4CC9303}"/>
              </a:ext>
            </a:extLst>
          </p:cNvPr>
          <p:cNvGraphicFramePr/>
          <p:nvPr/>
        </p:nvGraphicFramePr>
        <p:xfrm>
          <a:off x="685800" y="1695450"/>
          <a:ext cx="10820400" cy="2857500"/>
        </p:xfrm>
        <a:graphic>
          <a:graphicData uri="http://schemas.openxmlformats.org/drawingml/2006/table">
            <a:tbl>
              <a:tblPr/>
              <a:tblGrid>
                <a:gridCol w="6191250">
                  <a:extLst>
                    <a:ext uri="{9D8B030D-6E8A-4147-A177-3AD203B41FA5}">
                      <a16:colId xmlns:a16="http://schemas.microsoft.com/office/drawing/2014/main" val="20000"/>
                    </a:ext>
                  </a:extLst>
                </a:gridCol>
                <a:gridCol w="2314575">
                  <a:extLst>
                    <a:ext uri="{9D8B030D-6E8A-4147-A177-3AD203B41FA5}">
                      <a16:colId xmlns:a16="http://schemas.microsoft.com/office/drawing/2014/main" val="20001"/>
                    </a:ext>
                  </a:extLst>
                </a:gridCol>
                <a:gridCol w="2314575">
                  <a:extLst>
                    <a:ext uri="{9D8B030D-6E8A-4147-A177-3AD203B41FA5}">
                      <a16:colId xmlns:a16="http://schemas.microsoft.com/office/drawing/2014/main" val="20002"/>
                    </a:ext>
                  </a:extLst>
                </a:gridCol>
              </a:tblGrid>
              <a:tr h="714375">
                <a:tc>
                  <a:txBody>
                    <a:bodyPr/>
                    <a:lstStyle/>
                    <a:p>
                      <a:r>
                        <a:rPr sz="2100" b="1">
                          <a:solidFill>
                            <a:srgbClr val="FFFFFF"/>
                          </a:solidFill>
                          <a:latin typeface="Helvetica Neue"/>
                          <a:ea typeface="Helvetica Neue"/>
                          <a:cs typeface="Helvetica Neue"/>
                        </a:rPr>
                        <a:t>30 nearby contact states</a:t>
                      </a:r>
                    </a:p>
                  </a:txBody>
                  <a:tcPr marL="171450" marR="171450" marT="114300" marB="114300">
                    <a:lnL w="6668">
                      <a:solidFill>
                        <a:srgbClr val="CDD8E3"/>
                      </a:solidFill>
                      <a:prstDash val="solid"/>
                    </a:lnL>
                    <a:lnR w="6668">
                      <a:solidFill>
                        <a:srgbClr val="CDD8E3"/>
                      </a:solidFill>
                      <a:prstDash val="solid"/>
                    </a:lnR>
                    <a:lnT w="6668">
                      <a:solidFill>
                        <a:srgbClr val="CDD8E3"/>
                      </a:solidFill>
                      <a:prstDash val="solid"/>
                    </a:lnT>
                    <a:lnB w="6668">
                      <a:solidFill>
                        <a:srgbClr val="CDD8E3"/>
                      </a:solidFill>
                      <a:prstDash val="solid"/>
                    </a:lnB>
                    <a:solidFill>
                      <a:srgbClr val="102339"/>
                    </a:solidFill>
                  </a:tcPr>
                </a:tc>
                <a:tc>
                  <a:txBody>
                    <a:bodyPr/>
                    <a:lstStyle/>
                    <a:p>
                      <a:r>
                        <a:rPr sz="2100" b="1">
                          <a:solidFill>
                            <a:srgbClr val="FFFFFF"/>
                          </a:solidFill>
                          <a:latin typeface="Helvetica Neue"/>
                          <a:ea typeface="Helvetica Neue"/>
                          <a:cs typeface="Helvetica Neue"/>
                        </a:rPr>
                        <a:t>Episodes</a:t>
                      </a:r>
                    </a:p>
                  </a:txBody>
                  <a:tcPr marL="171450" marR="171450" marT="114300" marB="114300">
                    <a:lnL w="6668" cap="flat" cmpd="sng" algn="ctr">
                      <a:solidFill>
                        <a:srgbClr val="CDD8E3"/>
                      </a:solidFill>
                      <a:prstDash val="solid"/>
                      <a:round/>
                      <a:headEnd type="none" w="med" len="med"/>
                      <a:tailEnd type="none" w="med" len="med"/>
                    </a:lnL>
                    <a:lnR w="6668">
                      <a:solidFill>
                        <a:srgbClr val="CDD8E3"/>
                      </a:solidFill>
                      <a:prstDash val="solid"/>
                    </a:lnR>
                    <a:lnT w="6668">
                      <a:solidFill>
                        <a:srgbClr val="CDD8E3"/>
                      </a:solidFill>
                      <a:prstDash val="solid"/>
                    </a:lnT>
                    <a:lnB w="6668">
                      <a:solidFill>
                        <a:srgbClr val="CDD8E3"/>
                      </a:solidFill>
                      <a:prstDash val="solid"/>
                    </a:lnB>
                    <a:solidFill>
                      <a:srgbClr val="102339"/>
                    </a:solidFill>
                  </a:tcPr>
                </a:tc>
                <a:tc>
                  <a:txBody>
                    <a:bodyPr/>
                    <a:lstStyle/>
                    <a:p>
                      <a:r>
                        <a:rPr sz="2100" b="1">
                          <a:solidFill>
                            <a:srgbClr val="FFFFFF"/>
                          </a:solidFill>
                          <a:latin typeface="Helvetica Neue"/>
                          <a:ea typeface="Helvetica Neue"/>
                          <a:cs typeface="Helvetica Neue"/>
                        </a:rPr>
                        <a:t>Rate</a:t>
                      </a:r>
                    </a:p>
                  </a:txBody>
                  <a:tcPr marL="171450" marR="171450" marT="114300" marB="114300">
                    <a:lnL w="6668" cap="flat" cmpd="sng" algn="ctr">
                      <a:solidFill>
                        <a:srgbClr val="CDD8E3"/>
                      </a:solidFill>
                      <a:prstDash val="solid"/>
                      <a:round/>
                      <a:headEnd type="none" w="med" len="med"/>
                      <a:tailEnd type="none" w="med" len="med"/>
                    </a:lnL>
                    <a:lnR w="6668">
                      <a:solidFill>
                        <a:srgbClr val="CDD8E3"/>
                      </a:solidFill>
                      <a:prstDash val="solid"/>
                    </a:lnR>
                    <a:lnT w="6668">
                      <a:solidFill>
                        <a:srgbClr val="CDD8E3"/>
                      </a:solidFill>
                      <a:prstDash val="solid"/>
                    </a:lnT>
                    <a:lnB w="6668">
                      <a:solidFill>
                        <a:srgbClr val="CDD8E3"/>
                      </a:solidFill>
                      <a:prstDash val="solid"/>
                    </a:lnB>
                    <a:solidFill>
                      <a:srgbClr val="102339"/>
                    </a:solidFill>
                  </a:tcPr>
                </a:tc>
                <a:extLst>
                  <a:ext uri="{0D108BD9-81ED-4DB2-BD59-A6C34878D82A}">
                    <a16:rowId xmlns:a16="http://schemas.microsoft.com/office/drawing/2014/main" val="10000"/>
                  </a:ext>
                </a:extLst>
              </a:tr>
              <a:tr h="714375">
                <a:tc>
                  <a:txBody>
                    <a:bodyPr/>
                    <a:lstStyle/>
                    <a:p>
                      <a:r>
                        <a:rPr sz="2100" b="0">
                          <a:solidFill>
                            <a:srgbClr val="14283F"/>
                          </a:solidFill>
                          <a:latin typeface="Helvetica Neue"/>
                          <a:ea typeface="Helvetica Neue"/>
                          <a:cs typeface="Helvetica Neue"/>
                        </a:rPr>
                        <a:t>Lift and five-second hold</a:t>
                      </a:r>
                    </a:p>
                  </a:txBody>
                  <a:tcPr marL="171450" marR="171450" marT="114300" marB="114300">
                    <a:lnL w="6668">
                      <a:solidFill>
                        <a:srgbClr val="CDD8E3"/>
                      </a:solidFill>
                      <a:prstDash val="solid"/>
                    </a:lnL>
                    <a:lnR w="6668">
                      <a:solidFill>
                        <a:srgbClr val="CDD8E3"/>
                      </a:solidFill>
                      <a:prstDash val="solid"/>
                    </a:lnR>
                    <a:lnT w="6668" cap="flat" cmpd="sng" algn="ctr">
                      <a:solidFill>
                        <a:srgbClr val="CDD8E3"/>
                      </a:solidFill>
                      <a:prstDash val="solid"/>
                      <a:round/>
                      <a:headEnd type="none" w="med" len="med"/>
                      <a:tailEnd type="none" w="med" len="med"/>
                    </a:lnT>
                    <a:lnB w="6668">
                      <a:solidFill>
                        <a:srgbClr val="CDD8E3"/>
                      </a:solidFill>
                      <a:prstDash val="solid"/>
                    </a:lnB>
                    <a:solidFill>
                      <a:srgbClr val="FFFFFF"/>
                    </a:solidFill>
                  </a:tcPr>
                </a:tc>
                <a:tc>
                  <a:txBody>
                    <a:bodyPr/>
                    <a:lstStyle/>
                    <a:p>
                      <a:r>
                        <a:rPr sz="2100" b="0">
                          <a:solidFill>
                            <a:srgbClr val="14283F"/>
                          </a:solidFill>
                          <a:latin typeface="Helvetica Neue"/>
                          <a:ea typeface="Helvetica Neue"/>
                          <a:cs typeface="Helvetica Neue"/>
                        </a:rPr>
                        <a:t>20 / 30</a:t>
                      </a:r>
                    </a:p>
                  </a:txBody>
                  <a:tcPr marL="171450" marR="171450" marT="114300" marB="114300">
                    <a:lnL w="6668" cap="flat" cmpd="sng" algn="ctr">
                      <a:solidFill>
                        <a:srgbClr val="CDD8E3"/>
                      </a:solidFill>
                      <a:prstDash val="solid"/>
                      <a:round/>
                      <a:headEnd type="none" w="med" len="med"/>
                      <a:tailEnd type="none" w="med" len="med"/>
                    </a:lnL>
                    <a:lnR w="6668">
                      <a:solidFill>
                        <a:srgbClr val="CDD8E3"/>
                      </a:solidFill>
                      <a:prstDash val="solid"/>
                    </a:lnR>
                    <a:lnT w="6668" cap="flat" cmpd="sng" algn="ctr">
                      <a:solidFill>
                        <a:srgbClr val="CDD8E3"/>
                      </a:solidFill>
                      <a:prstDash val="solid"/>
                      <a:round/>
                      <a:headEnd type="none" w="med" len="med"/>
                      <a:tailEnd type="none" w="med" len="med"/>
                    </a:lnT>
                    <a:lnB w="6668">
                      <a:solidFill>
                        <a:srgbClr val="CDD8E3"/>
                      </a:solidFill>
                      <a:prstDash val="solid"/>
                    </a:lnB>
                    <a:solidFill>
                      <a:srgbClr val="FFFFFF"/>
                    </a:solidFill>
                  </a:tcPr>
                </a:tc>
                <a:tc>
                  <a:txBody>
                    <a:bodyPr/>
                    <a:lstStyle/>
                    <a:p>
                      <a:r>
                        <a:rPr sz="2100" b="0">
                          <a:solidFill>
                            <a:srgbClr val="14283F"/>
                          </a:solidFill>
                          <a:latin typeface="Helvetica Neue"/>
                          <a:ea typeface="Helvetica Neue"/>
                          <a:cs typeface="Helvetica Neue"/>
                        </a:rPr>
                        <a:t>66.7%</a:t>
                      </a:r>
                    </a:p>
                  </a:txBody>
                  <a:tcPr marL="171450" marR="171450" marT="114300" marB="114300">
                    <a:lnL w="6668" cap="flat" cmpd="sng" algn="ctr">
                      <a:solidFill>
                        <a:srgbClr val="CDD8E3"/>
                      </a:solidFill>
                      <a:prstDash val="solid"/>
                      <a:round/>
                      <a:headEnd type="none" w="med" len="med"/>
                      <a:tailEnd type="none" w="med" len="med"/>
                    </a:lnL>
                    <a:lnR w="6668">
                      <a:solidFill>
                        <a:srgbClr val="CDD8E3"/>
                      </a:solidFill>
                      <a:prstDash val="solid"/>
                    </a:lnR>
                    <a:lnT w="6668" cap="flat" cmpd="sng" algn="ctr">
                      <a:solidFill>
                        <a:srgbClr val="CDD8E3"/>
                      </a:solidFill>
                      <a:prstDash val="solid"/>
                      <a:round/>
                      <a:headEnd type="none" w="med" len="med"/>
                      <a:tailEnd type="none" w="med" len="med"/>
                    </a:lnT>
                    <a:lnB w="6668">
                      <a:solidFill>
                        <a:srgbClr val="CDD8E3"/>
                      </a:solidFill>
                      <a:prstDash val="solid"/>
                    </a:lnB>
                    <a:solidFill>
                      <a:srgbClr val="FFFFFF"/>
                    </a:solidFill>
                  </a:tcPr>
                </a:tc>
                <a:extLst>
                  <a:ext uri="{0D108BD9-81ED-4DB2-BD59-A6C34878D82A}">
                    <a16:rowId xmlns:a16="http://schemas.microsoft.com/office/drawing/2014/main" val="10001"/>
                  </a:ext>
                </a:extLst>
              </a:tr>
              <a:tr h="714375">
                <a:tc>
                  <a:txBody>
                    <a:bodyPr/>
                    <a:lstStyle/>
                    <a:p>
                      <a:r>
                        <a:rPr sz="2100" b="0">
                          <a:solidFill>
                            <a:srgbClr val="14283F"/>
                          </a:solidFill>
                          <a:latin typeface="Helvetica Neue"/>
                          <a:ea typeface="Helvetica Neue"/>
                          <a:cs typeface="Helvetica Neue"/>
                        </a:rPr>
                        <a:t>Drops</a:t>
                      </a:r>
                    </a:p>
                  </a:txBody>
                  <a:tcPr marL="171450" marR="171450" marT="114300" marB="114300">
                    <a:lnL w="6668">
                      <a:solidFill>
                        <a:srgbClr val="CDD8E3"/>
                      </a:solidFill>
                      <a:prstDash val="solid"/>
                    </a:lnL>
                    <a:lnR w="6668">
                      <a:solidFill>
                        <a:srgbClr val="CDD8E3"/>
                      </a:solidFill>
                      <a:prstDash val="solid"/>
                    </a:lnR>
                    <a:lnT w="6668" cap="flat" cmpd="sng" algn="ctr">
                      <a:solidFill>
                        <a:srgbClr val="CDD8E3"/>
                      </a:solidFill>
                      <a:prstDash val="solid"/>
                      <a:round/>
                      <a:headEnd type="none" w="med" len="med"/>
                      <a:tailEnd type="none" w="med" len="med"/>
                    </a:lnT>
                    <a:lnB w="6668">
                      <a:solidFill>
                        <a:srgbClr val="CDD8E3"/>
                      </a:solidFill>
                      <a:prstDash val="solid"/>
                    </a:lnB>
                    <a:solidFill>
                      <a:srgbClr val="FFFFFF"/>
                    </a:solidFill>
                  </a:tcPr>
                </a:tc>
                <a:tc>
                  <a:txBody>
                    <a:bodyPr/>
                    <a:lstStyle/>
                    <a:p>
                      <a:r>
                        <a:rPr sz="2100" b="0">
                          <a:solidFill>
                            <a:srgbClr val="14283F"/>
                          </a:solidFill>
                          <a:latin typeface="Helvetica Neue"/>
                          <a:ea typeface="Helvetica Neue"/>
                          <a:cs typeface="Helvetica Neue"/>
                        </a:rPr>
                        <a:t>4 / 30</a:t>
                      </a:r>
                    </a:p>
                  </a:txBody>
                  <a:tcPr marL="171450" marR="171450" marT="114300" marB="114300">
                    <a:lnL w="6668" cap="flat" cmpd="sng" algn="ctr">
                      <a:solidFill>
                        <a:srgbClr val="CDD8E3"/>
                      </a:solidFill>
                      <a:prstDash val="solid"/>
                      <a:round/>
                      <a:headEnd type="none" w="med" len="med"/>
                      <a:tailEnd type="none" w="med" len="med"/>
                    </a:lnL>
                    <a:lnR w="6668">
                      <a:solidFill>
                        <a:srgbClr val="CDD8E3"/>
                      </a:solidFill>
                      <a:prstDash val="solid"/>
                    </a:lnR>
                    <a:lnT w="6668" cap="flat" cmpd="sng" algn="ctr">
                      <a:solidFill>
                        <a:srgbClr val="CDD8E3"/>
                      </a:solidFill>
                      <a:prstDash val="solid"/>
                      <a:round/>
                      <a:headEnd type="none" w="med" len="med"/>
                      <a:tailEnd type="none" w="med" len="med"/>
                    </a:lnT>
                    <a:lnB w="6668">
                      <a:solidFill>
                        <a:srgbClr val="CDD8E3"/>
                      </a:solidFill>
                      <a:prstDash val="solid"/>
                    </a:lnB>
                    <a:solidFill>
                      <a:srgbClr val="FFFFFF"/>
                    </a:solidFill>
                  </a:tcPr>
                </a:tc>
                <a:tc>
                  <a:txBody>
                    <a:bodyPr/>
                    <a:lstStyle/>
                    <a:p>
                      <a:r>
                        <a:rPr sz="2100" b="0">
                          <a:solidFill>
                            <a:srgbClr val="14283F"/>
                          </a:solidFill>
                          <a:latin typeface="Helvetica Neue"/>
                          <a:ea typeface="Helvetica Neue"/>
                          <a:cs typeface="Helvetica Neue"/>
                        </a:rPr>
                        <a:t>13.3%</a:t>
                      </a:r>
                    </a:p>
                  </a:txBody>
                  <a:tcPr marL="171450" marR="171450" marT="114300" marB="114300">
                    <a:lnL w="6668" cap="flat" cmpd="sng" algn="ctr">
                      <a:solidFill>
                        <a:srgbClr val="CDD8E3"/>
                      </a:solidFill>
                      <a:prstDash val="solid"/>
                      <a:round/>
                      <a:headEnd type="none" w="med" len="med"/>
                      <a:tailEnd type="none" w="med" len="med"/>
                    </a:lnL>
                    <a:lnR w="6668">
                      <a:solidFill>
                        <a:srgbClr val="CDD8E3"/>
                      </a:solidFill>
                      <a:prstDash val="solid"/>
                    </a:lnR>
                    <a:lnT w="6668" cap="flat" cmpd="sng" algn="ctr">
                      <a:solidFill>
                        <a:srgbClr val="CDD8E3"/>
                      </a:solidFill>
                      <a:prstDash val="solid"/>
                      <a:round/>
                      <a:headEnd type="none" w="med" len="med"/>
                      <a:tailEnd type="none" w="med" len="med"/>
                    </a:lnT>
                    <a:lnB w="6668">
                      <a:solidFill>
                        <a:srgbClr val="CDD8E3"/>
                      </a:solidFill>
                      <a:prstDash val="solid"/>
                    </a:lnB>
                    <a:solidFill>
                      <a:srgbClr val="FFFFFF"/>
                    </a:solidFill>
                  </a:tcPr>
                </a:tc>
                <a:extLst>
                  <a:ext uri="{0D108BD9-81ED-4DB2-BD59-A6C34878D82A}">
                    <a16:rowId xmlns:a16="http://schemas.microsoft.com/office/drawing/2014/main" val="10002"/>
                  </a:ext>
                </a:extLst>
              </a:tr>
              <a:tr h="714375">
                <a:tc>
                  <a:txBody>
                    <a:bodyPr/>
                    <a:lstStyle/>
                    <a:p>
                      <a:r>
                        <a:rPr sz="2100" b="0">
                          <a:solidFill>
                            <a:srgbClr val="14283F"/>
                          </a:solidFill>
                          <a:latin typeface="Helvetica Neue"/>
                          <a:ea typeface="Helvetica Neue"/>
                          <a:cs typeface="Helvetica Neue"/>
                        </a:rPr>
                        <a:t>Torso contact</a:t>
                      </a:r>
                    </a:p>
                  </a:txBody>
                  <a:tcPr marL="171450" marR="171450" marT="114300" marB="114300">
                    <a:lnL w="6668">
                      <a:solidFill>
                        <a:srgbClr val="CDD8E3"/>
                      </a:solidFill>
                      <a:prstDash val="solid"/>
                    </a:lnL>
                    <a:lnR w="6668">
                      <a:solidFill>
                        <a:srgbClr val="CDD8E3"/>
                      </a:solidFill>
                      <a:prstDash val="solid"/>
                    </a:lnR>
                    <a:lnT w="6668" cap="flat" cmpd="sng" algn="ctr">
                      <a:solidFill>
                        <a:srgbClr val="CDD8E3"/>
                      </a:solidFill>
                      <a:prstDash val="solid"/>
                      <a:round/>
                      <a:headEnd type="none" w="med" len="med"/>
                      <a:tailEnd type="none" w="med" len="med"/>
                    </a:lnT>
                    <a:lnB w="6668">
                      <a:solidFill>
                        <a:srgbClr val="CDD8E3"/>
                      </a:solidFill>
                      <a:prstDash val="solid"/>
                    </a:lnB>
                    <a:solidFill>
                      <a:srgbClr val="FFFFFF"/>
                    </a:solidFill>
                  </a:tcPr>
                </a:tc>
                <a:tc>
                  <a:txBody>
                    <a:bodyPr/>
                    <a:lstStyle/>
                    <a:p>
                      <a:r>
                        <a:rPr sz="2100" b="0">
                          <a:solidFill>
                            <a:srgbClr val="14283F"/>
                          </a:solidFill>
                          <a:latin typeface="Helvetica Neue"/>
                          <a:ea typeface="Helvetica Neue"/>
                          <a:cs typeface="Helvetica Neue"/>
                        </a:rPr>
                        <a:t>0 / 30</a:t>
                      </a:r>
                    </a:p>
                  </a:txBody>
                  <a:tcPr marL="171450" marR="171450" marT="114300" marB="114300">
                    <a:lnL w="6668" cap="flat" cmpd="sng" algn="ctr">
                      <a:solidFill>
                        <a:srgbClr val="CDD8E3"/>
                      </a:solidFill>
                      <a:prstDash val="solid"/>
                      <a:round/>
                      <a:headEnd type="none" w="med" len="med"/>
                      <a:tailEnd type="none" w="med" len="med"/>
                    </a:lnL>
                    <a:lnR w="6668">
                      <a:solidFill>
                        <a:srgbClr val="CDD8E3"/>
                      </a:solidFill>
                      <a:prstDash val="solid"/>
                    </a:lnR>
                    <a:lnT w="6668" cap="flat" cmpd="sng" algn="ctr">
                      <a:solidFill>
                        <a:srgbClr val="CDD8E3"/>
                      </a:solidFill>
                      <a:prstDash val="solid"/>
                      <a:round/>
                      <a:headEnd type="none" w="med" len="med"/>
                      <a:tailEnd type="none" w="med" len="med"/>
                    </a:lnT>
                    <a:lnB w="6668">
                      <a:solidFill>
                        <a:srgbClr val="CDD8E3"/>
                      </a:solidFill>
                      <a:prstDash val="solid"/>
                    </a:lnB>
                    <a:solidFill>
                      <a:srgbClr val="FFFFFF"/>
                    </a:solidFill>
                  </a:tcPr>
                </a:tc>
                <a:tc>
                  <a:txBody>
                    <a:bodyPr/>
                    <a:lstStyle/>
                    <a:p>
                      <a:r>
                        <a:rPr sz="2100" b="0">
                          <a:solidFill>
                            <a:srgbClr val="14283F"/>
                          </a:solidFill>
                          <a:latin typeface="Helvetica Neue"/>
                          <a:ea typeface="Helvetica Neue"/>
                          <a:cs typeface="Helvetica Neue"/>
                        </a:rPr>
                        <a:t>0%</a:t>
                      </a:r>
                    </a:p>
                  </a:txBody>
                  <a:tcPr marL="171450" marR="171450" marT="114300" marB="114300">
                    <a:lnL w="6668" cap="flat" cmpd="sng" algn="ctr">
                      <a:solidFill>
                        <a:srgbClr val="CDD8E3"/>
                      </a:solidFill>
                      <a:prstDash val="solid"/>
                      <a:round/>
                      <a:headEnd type="none" w="med" len="med"/>
                      <a:tailEnd type="none" w="med" len="med"/>
                    </a:lnL>
                    <a:lnR w="6668">
                      <a:solidFill>
                        <a:srgbClr val="CDD8E3"/>
                      </a:solidFill>
                      <a:prstDash val="solid"/>
                    </a:lnR>
                    <a:lnT w="6668" cap="flat" cmpd="sng" algn="ctr">
                      <a:solidFill>
                        <a:srgbClr val="CDD8E3"/>
                      </a:solidFill>
                      <a:prstDash val="solid"/>
                      <a:round/>
                      <a:headEnd type="none" w="med" len="med"/>
                      <a:tailEnd type="none" w="med" len="med"/>
                    </a:lnT>
                    <a:lnB w="6668">
                      <a:solidFill>
                        <a:srgbClr val="CDD8E3"/>
                      </a:solidFill>
                      <a:prstDash val="solid"/>
                    </a:lnB>
                    <a:solidFill>
                      <a:srgbClr val="FFFFFF"/>
                    </a:solidFill>
                  </a:tcPr>
                </a:tc>
                <a:extLst>
                  <a:ext uri="{0D108BD9-81ED-4DB2-BD59-A6C34878D82A}">
                    <a16:rowId xmlns:a16="http://schemas.microsoft.com/office/drawing/2014/main" val="10003"/>
                  </a:ext>
                </a:extLst>
              </a:tr>
            </a:tbl>
          </a:graphicData>
        </a:graphic>
      </p:graphicFrame>
      <p:sp>
        <p:nvSpPr>
          <p:cNvPr id="6" name="Rectangle 5">
            <a:extLst>
              <a:ext uri="{FF2B5EF4-FFF2-40B4-BE49-F238E27FC236}">
                <a16:creationId xmlns:a16="http://schemas.microsoft.com/office/drawing/2014/main" id="{13EB309B-0035-47B3-A4B5-57996F1C1D53}"/>
              </a:ext>
            </a:extLst>
          </p:cNvPr>
          <p:cNvSpPr>
            <a:spLocks noGrp="1"/>
          </p:cNvSpPr>
          <p:nvPr/>
        </p:nvSpPr>
        <p:spPr>
          <a:xfrm>
            <a:off x="685800" y="4867275"/>
            <a:ext cx="10668000" cy="619125"/>
          </a:xfrm>
          <a:prstGeom prst="rect">
            <a:avLst/>
          </a:prstGeom>
          <a:noFill/>
          <a:ln w="0">
            <a:noFill/>
          </a:ln>
        </p:spPr>
        <p:txBody>
          <a:bodyPr lIns="0" tIns="0" rIns="0" bIns="0" anchor="ctr">
            <a:noAutofit/>
          </a:bodyPr>
          <a:lstStyle>
            <a:defPPr>
              <a:defRPr sz="2025" b="0">
                <a:solidFill>
                  <a:srgbClr val="14283F"/>
                </a:solidFill>
                <a:latin typeface="Helvetica Neue"/>
                <a:ea typeface="Helvetica Neue"/>
                <a:cs typeface="Helvetica Neue"/>
              </a:defRPr>
            </a:defPPr>
            <a:lvl1pPr>
              <a:defRPr sz="2025" b="0">
                <a:solidFill>
                  <a:srgbClr val="14283F"/>
                </a:solidFill>
                <a:latin typeface="Helvetica Neue"/>
                <a:ea typeface="Helvetica Neue"/>
                <a:cs typeface="Helvetica Neue"/>
              </a:defRPr>
            </a:lvl1pPr>
            <a:lvl2pPr>
              <a:defRPr sz="2025" b="0">
                <a:solidFill>
                  <a:srgbClr val="14283F"/>
                </a:solidFill>
                <a:latin typeface="Helvetica Neue"/>
                <a:ea typeface="Helvetica Neue"/>
                <a:cs typeface="Helvetica Neue"/>
              </a:defRPr>
            </a:lvl2pPr>
            <a:lvl3pPr>
              <a:defRPr sz="2025" b="0">
                <a:solidFill>
                  <a:srgbClr val="14283F"/>
                </a:solidFill>
                <a:latin typeface="Helvetica Neue"/>
                <a:ea typeface="Helvetica Neue"/>
                <a:cs typeface="Helvetica Neue"/>
              </a:defRPr>
            </a:lvl3pPr>
            <a:lvl4pPr>
              <a:defRPr sz="2025" b="0">
                <a:solidFill>
                  <a:srgbClr val="14283F"/>
                </a:solidFill>
                <a:latin typeface="Helvetica Neue"/>
                <a:ea typeface="Helvetica Neue"/>
                <a:cs typeface="Helvetica Neue"/>
              </a:defRPr>
            </a:lvl4pPr>
            <a:lvl5pPr>
              <a:defRPr sz="2025" b="0">
                <a:solidFill>
                  <a:srgbClr val="14283F"/>
                </a:solidFill>
                <a:latin typeface="Helvetica Neue"/>
                <a:ea typeface="Helvetica Neue"/>
                <a:cs typeface="Helvetica Neue"/>
              </a:defRPr>
            </a:lvl5pPr>
            <a:lvl6pPr>
              <a:defRPr sz="2025" b="0">
                <a:solidFill>
                  <a:srgbClr val="14283F"/>
                </a:solidFill>
                <a:latin typeface="Helvetica Neue"/>
                <a:ea typeface="Helvetica Neue"/>
                <a:cs typeface="Helvetica Neue"/>
              </a:defRPr>
            </a:lvl6pPr>
            <a:lvl7pPr>
              <a:defRPr sz="2025" b="0">
                <a:solidFill>
                  <a:srgbClr val="14283F"/>
                </a:solidFill>
                <a:latin typeface="Helvetica Neue"/>
                <a:ea typeface="Helvetica Neue"/>
                <a:cs typeface="Helvetica Neue"/>
              </a:defRPr>
            </a:lvl7pPr>
            <a:lvl8pPr>
              <a:defRPr sz="2025" b="0">
                <a:solidFill>
                  <a:srgbClr val="14283F"/>
                </a:solidFill>
                <a:latin typeface="Helvetica Neue"/>
                <a:ea typeface="Helvetica Neue"/>
                <a:cs typeface="Helvetica Neue"/>
              </a:defRPr>
            </a:lvl8pPr>
            <a:lvl9pPr>
              <a:defRPr sz="2025" b="0">
                <a:solidFill>
                  <a:srgbClr val="14283F"/>
                </a:solidFill>
                <a:latin typeface="Helvetica Neue"/>
                <a:ea typeface="Helvetica Neue"/>
                <a:cs typeface="Helvetica Neue"/>
              </a:defRPr>
            </a:lvl9pPr>
          </a:lstStyle>
          <a:p>
            <a:pPr>
              <a:defRPr sz="2025" b="0">
                <a:solidFill>
                  <a:srgbClr val="14283F"/>
                </a:solidFill>
                <a:latin typeface="Helvetica Neue"/>
                <a:ea typeface="Helvetica Neue"/>
                <a:cs typeface="Helvetica Neue"/>
              </a:defRPr>
            </a:pPr>
            <a:r>
              <a:rPr sz="2025" b="0">
                <a:solidFill>
                  <a:srgbClr val="14283F"/>
                </a:solidFill>
                <a:latin typeface="Helvetica Neue"/>
                <a:ea typeface="Helvetica Neue"/>
                <a:cs typeface="Helvetica Neue"/>
              </a:rPr>
              <a:t>Fresh contact states reached by the existing policy.</a:t>
            </a:r>
          </a:p>
          <a:p>
            <a:pPr>
              <a:defRPr sz="2025" b="0">
                <a:solidFill>
                  <a:srgbClr val="14283F"/>
                </a:solidFill>
                <a:latin typeface="Helvetica Neue"/>
                <a:ea typeface="Helvetica Neue"/>
                <a:cs typeface="Helvetica Neue"/>
              </a:defRPr>
            </a:pPr>
            <a:r>
              <a:rPr sz="2025" b="0">
                <a:solidFill>
                  <a:srgbClr val="14283F"/>
                </a:solidFill>
                <a:latin typeface="Helvetica Neue"/>
                <a:ea typeface="Helvetica Neue"/>
                <a:cs typeface="Helvetica Neue"/>
              </a:rPr>
              <a:t>Each test uses 8 seconds of motion and a 5-second hold.</a:t>
            </a:r>
          </a:p>
        </p:txBody>
      </p:sp>
    </p:spTree>
    <p:extLst>
      <p:ext uri="{BB962C8B-B14F-4D97-AF65-F5344CB8AC3E}">
        <p14:creationId xmlns:p14="http://schemas.microsoft.com/office/powerpoint/2010/main" val="71469970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D35C1ECA-FD6A-475D-8ED1-FCB5AC2788FA}"/>
              </a:ext>
            </a:extLst>
          </p:cNvPr>
          <p:cNvSpPr>
            <a:spLocks noGrp="1"/>
          </p:cNvSpPr>
          <p:nvPr/>
        </p:nvSpPr>
        <p:spPr>
          <a:xfrm>
            <a:off x="609600" y="400050"/>
            <a:ext cx="10972800" cy="800100"/>
          </a:xfrm>
          <a:prstGeom prst="rect">
            <a:avLst/>
          </a:prstGeom>
          <a:noFill/>
          <a:ln w="0">
            <a:noFill/>
          </a:ln>
        </p:spPr>
        <p:txBody>
          <a:bodyPr lIns="0" tIns="0" rIns="0" bIns="0" anchor="ctr">
            <a:noAutofit/>
          </a:bodyPr>
          <a:lstStyle>
            <a:defPPr>
              <a:defRPr sz="3600" b="1">
                <a:solidFill>
                  <a:srgbClr val="14283F"/>
                </a:solidFill>
                <a:latin typeface="Helvetica Neue"/>
                <a:ea typeface="Helvetica Neue"/>
                <a:cs typeface="Helvetica Neue"/>
              </a:defRPr>
            </a:defPPr>
            <a:lvl1pPr>
              <a:defRPr sz="3600" b="1">
                <a:solidFill>
                  <a:srgbClr val="14283F"/>
                </a:solidFill>
                <a:latin typeface="Helvetica Neue"/>
                <a:ea typeface="Helvetica Neue"/>
                <a:cs typeface="Helvetica Neue"/>
              </a:defRPr>
            </a:lvl1pPr>
            <a:lvl2pPr>
              <a:defRPr sz="3600" b="1">
                <a:solidFill>
                  <a:srgbClr val="14283F"/>
                </a:solidFill>
                <a:latin typeface="Helvetica Neue"/>
                <a:ea typeface="Helvetica Neue"/>
                <a:cs typeface="Helvetica Neue"/>
              </a:defRPr>
            </a:lvl2pPr>
            <a:lvl3pPr>
              <a:defRPr sz="3600" b="1">
                <a:solidFill>
                  <a:srgbClr val="14283F"/>
                </a:solidFill>
                <a:latin typeface="Helvetica Neue"/>
                <a:ea typeface="Helvetica Neue"/>
                <a:cs typeface="Helvetica Neue"/>
              </a:defRPr>
            </a:lvl3pPr>
            <a:lvl4pPr>
              <a:defRPr sz="3600" b="1">
                <a:solidFill>
                  <a:srgbClr val="14283F"/>
                </a:solidFill>
                <a:latin typeface="Helvetica Neue"/>
                <a:ea typeface="Helvetica Neue"/>
                <a:cs typeface="Helvetica Neue"/>
              </a:defRPr>
            </a:lvl4pPr>
            <a:lvl5pPr>
              <a:defRPr sz="3600" b="1">
                <a:solidFill>
                  <a:srgbClr val="14283F"/>
                </a:solidFill>
                <a:latin typeface="Helvetica Neue"/>
                <a:ea typeface="Helvetica Neue"/>
                <a:cs typeface="Helvetica Neue"/>
              </a:defRPr>
            </a:lvl5pPr>
            <a:lvl6pPr>
              <a:defRPr sz="3600" b="1">
                <a:solidFill>
                  <a:srgbClr val="14283F"/>
                </a:solidFill>
                <a:latin typeface="Helvetica Neue"/>
                <a:ea typeface="Helvetica Neue"/>
                <a:cs typeface="Helvetica Neue"/>
              </a:defRPr>
            </a:lvl6pPr>
            <a:lvl7pPr>
              <a:defRPr sz="3600" b="1">
                <a:solidFill>
                  <a:srgbClr val="14283F"/>
                </a:solidFill>
                <a:latin typeface="Helvetica Neue"/>
                <a:ea typeface="Helvetica Neue"/>
                <a:cs typeface="Helvetica Neue"/>
              </a:defRPr>
            </a:lvl7pPr>
            <a:lvl8pPr>
              <a:defRPr sz="3600" b="1">
                <a:solidFill>
                  <a:srgbClr val="14283F"/>
                </a:solidFill>
                <a:latin typeface="Helvetica Neue"/>
                <a:ea typeface="Helvetica Neue"/>
                <a:cs typeface="Helvetica Neue"/>
              </a:defRPr>
            </a:lvl8pPr>
            <a:lvl9pPr>
              <a:defRPr sz="3600" b="1">
                <a:solidFill>
                  <a:srgbClr val="14283F"/>
                </a:solidFill>
                <a:latin typeface="Helvetica Neue"/>
                <a:ea typeface="Helvetica Neue"/>
                <a:cs typeface="Helvetica Neue"/>
              </a:defRPr>
            </a:lvl9pPr>
          </a:lstStyle>
          <a:p>
            <a:pPr>
              <a:defRPr sz="3600" b="1">
                <a:solidFill>
                  <a:srgbClr val="14283F"/>
                </a:solidFill>
                <a:latin typeface="Helvetica Neue"/>
                <a:ea typeface="Helvetica Neue"/>
                <a:cs typeface="Helvetica Neue"/>
              </a:defRPr>
            </a:pPr>
            <a:r>
              <a:rPr sz="3600" b="1">
                <a:solidFill>
                  <a:srgbClr val="14283F"/>
                </a:solidFill>
                <a:latin typeface="Helvetica Neue"/>
                <a:ea typeface="Helvetica Neue"/>
                <a:cs typeface="Helvetica Neue"/>
              </a:rPr>
              <a:t>Current scope</a:t>
            </a:r>
          </a:p>
        </p:txBody>
      </p:sp>
      <p:sp>
        <p:nvSpPr>
          <p:cNvPr id="4" name="Rectangle 3">
            <a:extLst>
              <a:ext uri="{FF2B5EF4-FFF2-40B4-BE49-F238E27FC236}">
                <a16:creationId xmlns:a16="http://schemas.microsoft.com/office/drawing/2014/main" id="{6C289724-4855-4907-9063-0B07E4545108}"/>
              </a:ext>
            </a:extLst>
          </p:cNvPr>
          <p:cNvSpPr>
            <a:spLocks noGrp="1"/>
          </p:cNvSpPr>
          <p:nvPr/>
        </p:nvSpPr>
        <p:spPr>
          <a:xfrm>
            <a:off x="11277600" y="6438900"/>
            <a:ext cx="381000" cy="228600"/>
          </a:xfrm>
          <a:prstGeom prst="rect">
            <a:avLst/>
          </a:prstGeom>
          <a:noFill/>
          <a:ln w="0">
            <a:noFill/>
          </a:ln>
        </p:spPr>
        <p:txBody>
          <a:bodyPr lIns="0" tIns="0" rIns="0" bIns="0" anchor="ctr">
            <a:noAutofit/>
          </a:bodyPr>
          <a:lstStyle>
            <a:defPPr>
              <a:defRPr sz="1425" b="0">
                <a:solidFill>
                  <a:srgbClr val="566779"/>
                </a:solidFill>
                <a:latin typeface="Helvetica Neue"/>
                <a:ea typeface="Helvetica Neue"/>
                <a:cs typeface="Helvetica Neue"/>
              </a:defRPr>
            </a:defPPr>
            <a:lvl1pPr>
              <a:defRPr sz="1425" b="0">
                <a:solidFill>
                  <a:srgbClr val="566779"/>
                </a:solidFill>
                <a:latin typeface="Helvetica Neue"/>
                <a:ea typeface="Helvetica Neue"/>
                <a:cs typeface="Helvetica Neue"/>
              </a:defRPr>
            </a:lvl1pPr>
            <a:lvl2pPr>
              <a:defRPr sz="1425" b="0">
                <a:solidFill>
                  <a:srgbClr val="566779"/>
                </a:solidFill>
                <a:latin typeface="Helvetica Neue"/>
                <a:ea typeface="Helvetica Neue"/>
                <a:cs typeface="Helvetica Neue"/>
              </a:defRPr>
            </a:lvl2pPr>
            <a:lvl3pPr>
              <a:defRPr sz="1425" b="0">
                <a:solidFill>
                  <a:srgbClr val="566779"/>
                </a:solidFill>
                <a:latin typeface="Helvetica Neue"/>
                <a:ea typeface="Helvetica Neue"/>
                <a:cs typeface="Helvetica Neue"/>
              </a:defRPr>
            </a:lvl3pPr>
            <a:lvl4pPr>
              <a:defRPr sz="1425" b="0">
                <a:solidFill>
                  <a:srgbClr val="566779"/>
                </a:solidFill>
                <a:latin typeface="Helvetica Neue"/>
                <a:ea typeface="Helvetica Neue"/>
                <a:cs typeface="Helvetica Neue"/>
              </a:defRPr>
            </a:lvl4pPr>
            <a:lvl5pPr>
              <a:defRPr sz="1425" b="0">
                <a:solidFill>
                  <a:srgbClr val="566779"/>
                </a:solidFill>
                <a:latin typeface="Helvetica Neue"/>
                <a:ea typeface="Helvetica Neue"/>
                <a:cs typeface="Helvetica Neue"/>
              </a:defRPr>
            </a:lvl5pPr>
            <a:lvl6pPr>
              <a:defRPr sz="1425" b="0">
                <a:solidFill>
                  <a:srgbClr val="566779"/>
                </a:solidFill>
                <a:latin typeface="Helvetica Neue"/>
                <a:ea typeface="Helvetica Neue"/>
                <a:cs typeface="Helvetica Neue"/>
              </a:defRPr>
            </a:lvl6pPr>
            <a:lvl7pPr>
              <a:defRPr sz="1425" b="0">
                <a:solidFill>
                  <a:srgbClr val="566779"/>
                </a:solidFill>
                <a:latin typeface="Helvetica Neue"/>
                <a:ea typeface="Helvetica Neue"/>
                <a:cs typeface="Helvetica Neue"/>
              </a:defRPr>
            </a:lvl7pPr>
            <a:lvl8pPr>
              <a:defRPr sz="1425" b="0">
                <a:solidFill>
                  <a:srgbClr val="566779"/>
                </a:solidFill>
                <a:latin typeface="Helvetica Neue"/>
                <a:ea typeface="Helvetica Neue"/>
                <a:cs typeface="Helvetica Neue"/>
              </a:defRPr>
            </a:lvl8pPr>
            <a:lvl9pPr>
              <a:defRPr sz="1425" b="0">
                <a:solidFill>
                  <a:srgbClr val="566779"/>
                </a:solidFill>
                <a:latin typeface="Helvetica Neue"/>
                <a:ea typeface="Helvetica Neue"/>
                <a:cs typeface="Helvetica Neue"/>
              </a:defRPr>
            </a:lvl9pPr>
          </a:lstStyle>
          <a:p>
            <a:pPr>
              <a:defRPr sz="1425" b="0">
                <a:solidFill>
                  <a:srgbClr val="566779"/>
                </a:solidFill>
                <a:latin typeface="Helvetica Neue"/>
                <a:ea typeface="Helvetica Neue"/>
                <a:cs typeface="Helvetica Neue"/>
              </a:defRPr>
            </a:pPr>
            <a:r>
              <a:rPr sz="1425" b="0">
                <a:solidFill>
                  <a:srgbClr val="566779"/>
                </a:solidFill>
                <a:latin typeface="Helvetica Neue"/>
                <a:ea typeface="Helvetica Neue"/>
                <a:cs typeface="Helvetica Neue"/>
              </a:rPr>
              <a:t>11</a:t>
            </a:r>
          </a:p>
        </p:txBody>
      </p:sp>
      <p:sp>
        <p:nvSpPr>
          <p:cNvPr id="5" name="Rectangle 4">
            <a:extLst>
              <a:ext uri="{FF2B5EF4-FFF2-40B4-BE49-F238E27FC236}">
                <a16:creationId xmlns:a16="http://schemas.microsoft.com/office/drawing/2014/main" id="{90F6EE24-3C01-4E37-ABA4-A99D8F3D6599}"/>
              </a:ext>
            </a:extLst>
          </p:cNvPr>
          <p:cNvSpPr>
            <a:spLocks noGrp="1"/>
          </p:cNvSpPr>
          <p:nvPr/>
        </p:nvSpPr>
        <p:spPr>
          <a:xfrm>
            <a:off x="685800" y="1543050"/>
            <a:ext cx="10668000" cy="819150"/>
          </a:xfrm>
          <a:prstGeom prst="rect">
            <a:avLst/>
          </a:prstGeom>
          <a:noFill/>
          <a:ln w="0">
            <a:noFill/>
          </a:ln>
        </p:spPr>
        <p:txBody>
          <a:bodyPr lIns="0" tIns="0" rIns="0" bIns="0" anchor="ctr">
            <a:noAutofit/>
          </a:bodyPr>
          <a:lstStyle>
            <a:defPPr>
              <a:defRPr sz="2625" b="1">
                <a:solidFill>
                  <a:srgbClr val="176FBD"/>
                </a:solidFill>
                <a:latin typeface="Helvetica Neue"/>
                <a:ea typeface="Helvetica Neue"/>
                <a:cs typeface="Helvetica Neue"/>
              </a:defRPr>
            </a:defPPr>
            <a:lvl1pPr>
              <a:defRPr sz="2625" b="1">
                <a:solidFill>
                  <a:srgbClr val="176FBD"/>
                </a:solidFill>
                <a:latin typeface="Helvetica Neue"/>
                <a:ea typeface="Helvetica Neue"/>
                <a:cs typeface="Helvetica Neue"/>
              </a:defRPr>
            </a:lvl1pPr>
            <a:lvl2pPr>
              <a:defRPr sz="2625" b="1">
                <a:solidFill>
                  <a:srgbClr val="176FBD"/>
                </a:solidFill>
                <a:latin typeface="Helvetica Neue"/>
                <a:ea typeface="Helvetica Neue"/>
                <a:cs typeface="Helvetica Neue"/>
              </a:defRPr>
            </a:lvl2pPr>
            <a:lvl3pPr>
              <a:defRPr sz="2625" b="1">
                <a:solidFill>
                  <a:srgbClr val="176FBD"/>
                </a:solidFill>
                <a:latin typeface="Helvetica Neue"/>
                <a:ea typeface="Helvetica Neue"/>
                <a:cs typeface="Helvetica Neue"/>
              </a:defRPr>
            </a:lvl3pPr>
            <a:lvl4pPr>
              <a:defRPr sz="2625" b="1">
                <a:solidFill>
                  <a:srgbClr val="176FBD"/>
                </a:solidFill>
                <a:latin typeface="Helvetica Neue"/>
                <a:ea typeface="Helvetica Neue"/>
                <a:cs typeface="Helvetica Neue"/>
              </a:defRPr>
            </a:lvl4pPr>
            <a:lvl5pPr>
              <a:defRPr sz="2625" b="1">
                <a:solidFill>
                  <a:srgbClr val="176FBD"/>
                </a:solidFill>
                <a:latin typeface="Helvetica Neue"/>
                <a:ea typeface="Helvetica Neue"/>
                <a:cs typeface="Helvetica Neue"/>
              </a:defRPr>
            </a:lvl5pPr>
            <a:lvl6pPr>
              <a:defRPr sz="2625" b="1">
                <a:solidFill>
                  <a:srgbClr val="176FBD"/>
                </a:solidFill>
                <a:latin typeface="Helvetica Neue"/>
                <a:ea typeface="Helvetica Neue"/>
                <a:cs typeface="Helvetica Neue"/>
              </a:defRPr>
            </a:lvl6pPr>
            <a:lvl7pPr>
              <a:defRPr sz="2625" b="1">
                <a:solidFill>
                  <a:srgbClr val="176FBD"/>
                </a:solidFill>
                <a:latin typeface="Helvetica Neue"/>
                <a:ea typeface="Helvetica Neue"/>
                <a:cs typeface="Helvetica Neue"/>
              </a:defRPr>
            </a:lvl7pPr>
            <a:lvl8pPr>
              <a:defRPr sz="2625" b="1">
                <a:solidFill>
                  <a:srgbClr val="176FBD"/>
                </a:solidFill>
                <a:latin typeface="Helvetica Neue"/>
                <a:ea typeface="Helvetica Neue"/>
                <a:cs typeface="Helvetica Neue"/>
              </a:defRPr>
            </a:lvl8pPr>
            <a:lvl9pPr>
              <a:defRPr sz="2625" b="1">
                <a:solidFill>
                  <a:srgbClr val="176FBD"/>
                </a:solidFill>
                <a:latin typeface="Helvetica Neue"/>
                <a:ea typeface="Helvetica Neue"/>
                <a:cs typeface="Helvetica Neue"/>
              </a:defRPr>
            </a:lvl9pPr>
          </a:lstStyle>
          <a:p>
            <a:pPr>
              <a:defRPr sz="2625" b="1">
                <a:solidFill>
                  <a:srgbClr val="176FBD"/>
                </a:solidFill>
                <a:latin typeface="Helvetica Neue"/>
                <a:ea typeface="Helvetica Neue"/>
                <a:cs typeface="Helvetica Neue"/>
              </a:defRPr>
            </a:pPr>
            <a:r>
              <a:rPr sz="2625" b="1">
                <a:solidFill>
                  <a:srgbClr val="176FBD"/>
                </a:solidFill>
                <a:latin typeface="Helvetica Neue"/>
                <a:ea typeface="Helvetica Neue"/>
                <a:cs typeface="Helvetica Neue"/>
              </a:rPr>
              <a:t>The arm can lift and hold from a learned contact state.</a:t>
            </a:r>
          </a:p>
        </p:txBody>
      </p:sp>
      <p:sp>
        <p:nvSpPr>
          <p:cNvPr id="6" name="Rectangle 5">
            <a:extLst>
              <a:ext uri="{FF2B5EF4-FFF2-40B4-BE49-F238E27FC236}">
                <a16:creationId xmlns:a16="http://schemas.microsoft.com/office/drawing/2014/main" id="{6EAD49AA-F149-4157-BBCF-D2D67D90FFB7}"/>
              </a:ext>
            </a:extLst>
          </p:cNvPr>
          <p:cNvSpPr>
            <a:spLocks noGrp="1"/>
          </p:cNvSpPr>
          <p:nvPr/>
        </p:nvSpPr>
        <p:spPr>
          <a:xfrm>
            <a:off x="685800" y="2647950"/>
            <a:ext cx="10668000" cy="933450"/>
          </a:xfrm>
          <a:prstGeom prst="rect">
            <a:avLst/>
          </a:prstGeom>
          <a:noFill/>
          <a:ln w="0">
            <a:noFill/>
          </a:ln>
        </p:spPr>
        <p:txBody>
          <a:bodyPr lIns="0" tIns="0" rIns="0" bIns="0" anchor="ctr">
            <a:noAutofit/>
          </a:bodyPr>
          <a:lstStyle>
            <a:defPPr>
              <a:defRPr sz="2250" b="0">
                <a:solidFill>
                  <a:srgbClr val="14283F"/>
                </a:solidFill>
                <a:latin typeface="Helvetica Neue"/>
                <a:ea typeface="Helvetica Neue"/>
                <a:cs typeface="Helvetica Neue"/>
              </a:defRPr>
            </a:defPPr>
            <a:lvl1pPr>
              <a:defRPr sz="2250" b="0">
                <a:solidFill>
                  <a:srgbClr val="14283F"/>
                </a:solidFill>
                <a:latin typeface="Helvetica Neue"/>
                <a:ea typeface="Helvetica Neue"/>
                <a:cs typeface="Helvetica Neue"/>
              </a:defRPr>
            </a:lvl1pPr>
            <a:lvl2pPr>
              <a:defRPr sz="2250" b="0">
                <a:solidFill>
                  <a:srgbClr val="14283F"/>
                </a:solidFill>
                <a:latin typeface="Helvetica Neue"/>
                <a:ea typeface="Helvetica Neue"/>
                <a:cs typeface="Helvetica Neue"/>
              </a:defRPr>
            </a:lvl2pPr>
            <a:lvl3pPr>
              <a:defRPr sz="2250" b="0">
                <a:solidFill>
                  <a:srgbClr val="14283F"/>
                </a:solidFill>
                <a:latin typeface="Helvetica Neue"/>
                <a:ea typeface="Helvetica Neue"/>
                <a:cs typeface="Helvetica Neue"/>
              </a:defRPr>
            </a:lvl3pPr>
            <a:lvl4pPr>
              <a:defRPr sz="2250" b="0">
                <a:solidFill>
                  <a:srgbClr val="14283F"/>
                </a:solidFill>
                <a:latin typeface="Helvetica Neue"/>
                <a:ea typeface="Helvetica Neue"/>
                <a:cs typeface="Helvetica Neue"/>
              </a:defRPr>
            </a:lvl4pPr>
            <a:lvl5pPr>
              <a:defRPr sz="2250" b="0">
                <a:solidFill>
                  <a:srgbClr val="14283F"/>
                </a:solidFill>
                <a:latin typeface="Helvetica Neue"/>
                <a:ea typeface="Helvetica Neue"/>
                <a:cs typeface="Helvetica Neue"/>
              </a:defRPr>
            </a:lvl5pPr>
            <a:lvl6pPr>
              <a:defRPr sz="2250" b="0">
                <a:solidFill>
                  <a:srgbClr val="14283F"/>
                </a:solidFill>
                <a:latin typeface="Helvetica Neue"/>
                <a:ea typeface="Helvetica Neue"/>
                <a:cs typeface="Helvetica Neue"/>
              </a:defRPr>
            </a:lvl6pPr>
            <a:lvl7pPr>
              <a:defRPr sz="2250" b="0">
                <a:solidFill>
                  <a:srgbClr val="14283F"/>
                </a:solidFill>
                <a:latin typeface="Helvetica Neue"/>
                <a:ea typeface="Helvetica Neue"/>
                <a:cs typeface="Helvetica Neue"/>
              </a:defRPr>
            </a:lvl7pPr>
            <a:lvl8pPr>
              <a:defRPr sz="2250" b="0">
                <a:solidFill>
                  <a:srgbClr val="14283F"/>
                </a:solidFill>
                <a:latin typeface="Helvetica Neue"/>
                <a:ea typeface="Helvetica Neue"/>
                <a:cs typeface="Helvetica Neue"/>
              </a:defRPr>
            </a:lvl8pPr>
            <a:lvl9pPr>
              <a:defRPr sz="2250" b="0">
                <a:solidFill>
                  <a:srgbClr val="14283F"/>
                </a:solidFill>
                <a:latin typeface="Helvetica Neue"/>
                <a:ea typeface="Helvetica Neue"/>
                <a:cs typeface="Helvetica Neue"/>
              </a:defRPr>
            </a:lvl9pPr>
          </a:lstStyle>
          <a:p>
            <a:pPr>
              <a:defRPr sz="2250" b="0">
                <a:solidFill>
                  <a:srgbClr val="14283F"/>
                </a:solidFill>
                <a:latin typeface="Helvetica Neue"/>
                <a:ea typeface="Helvetica Neue"/>
                <a:cs typeface="Helvetica Neue"/>
              </a:defRPr>
            </a:pPr>
            <a:r>
              <a:rPr sz="2250" b="0">
                <a:solidFill>
                  <a:srgbClr val="14283F"/>
                </a:solidFill>
                <a:latin typeface="Helvetica Neue"/>
                <a:ea typeface="Helvetica Neue"/>
                <a:cs typeface="Helvetica Neue"/>
              </a:rPr>
              <a:t>The focused controller succeeds in 20 of 30 nearby contact states.</a:t>
            </a:r>
          </a:p>
          <a:p>
            <a:pPr>
              <a:defRPr sz="2250" b="0">
                <a:solidFill>
                  <a:srgbClr val="14283F"/>
                </a:solidFill>
                <a:latin typeface="Helvetica Neue"/>
                <a:ea typeface="Helvetica Neue"/>
                <a:cs typeface="Helvetica Neue"/>
              </a:defRPr>
            </a:pPr>
            <a:r>
              <a:rPr sz="2250" b="0">
                <a:solidFill>
                  <a:srgbClr val="14283F"/>
                </a:solidFill>
                <a:latin typeface="Helvetica Neue"/>
                <a:ea typeface="Helvetica Neue"/>
                <a:cs typeface="Helvetica Neue"/>
              </a:rPr>
              <a:t>Wider starting poses still need evaluation and further training.</a:t>
            </a:r>
          </a:p>
        </p:txBody>
      </p:sp>
      <p:sp>
        <p:nvSpPr>
          <p:cNvPr id="7" name="Rectangle 6">
            <a:extLst>
              <a:ext uri="{FF2B5EF4-FFF2-40B4-BE49-F238E27FC236}">
                <a16:creationId xmlns:a16="http://schemas.microsoft.com/office/drawing/2014/main" id="{30607BA5-08FD-4983-B3F2-C281CCE4CF26}"/>
              </a:ext>
            </a:extLst>
          </p:cNvPr>
          <p:cNvSpPr>
            <a:spLocks noGrp="1"/>
          </p:cNvSpPr>
          <p:nvPr/>
        </p:nvSpPr>
        <p:spPr>
          <a:xfrm>
            <a:off x="685800" y="3943350"/>
            <a:ext cx="10668000" cy="857250"/>
          </a:xfrm>
          <a:prstGeom prst="rect">
            <a:avLst/>
          </a:prstGeom>
          <a:noFill/>
          <a:ln w="0">
            <a:noFill/>
          </a:ln>
        </p:spPr>
        <p:txBody>
          <a:bodyPr lIns="0" tIns="0" rIns="0" bIns="0" anchor="ctr">
            <a:noAutofit/>
          </a:bodyPr>
          <a:lstStyle>
            <a:defPPr>
              <a:defRPr sz="2250" b="0">
                <a:solidFill>
                  <a:srgbClr val="14283F"/>
                </a:solidFill>
                <a:latin typeface="Helvetica Neue"/>
                <a:ea typeface="Helvetica Neue"/>
                <a:cs typeface="Helvetica Neue"/>
              </a:defRPr>
            </a:defPPr>
            <a:lvl1pPr>
              <a:defRPr sz="2250" b="0">
                <a:solidFill>
                  <a:srgbClr val="14283F"/>
                </a:solidFill>
                <a:latin typeface="Helvetica Neue"/>
                <a:ea typeface="Helvetica Neue"/>
                <a:cs typeface="Helvetica Neue"/>
              </a:defRPr>
            </a:lvl1pPr>
            <a:lvl2pPr>
              <a:defRPr sz="2250" b="0">
                <a:solidFill>
                  <a:srgbClr val="14283F"/>
                </a:solidFill>
                <a:latin typeface="Helvetica Neue"/>
                <a:ea typeface="Helvetica Neue"/>
                <a:cs typeface="Helvetica Neue"/>
              </a:defRPr>
            </a:lvl2pPr>
            <a:lvl3pPr>
              <a:defRPr sz="2250" b="0">
                <a:solidFill>
                  <a:srgbClr val="14283F"/>
                </a:solidFill>
                <a:latin typeface="Helvetica Neue"/>
                <a:ea typeface="Helvetica Neue"/>
                <a:cs typeface="Helvetica Neue"/>
              </a:defRPr>
            </a:lvl3pPr>
            <a:lvl4pPr>
              <a:defRPr sz="2250" b="0">
                <a:solidFill>
                  <a:srgbClr val="14283F"/>
                </a:solidFill>
                <a:latin typeface="Helvetica Neue"/>
                <a:ea typeface="Helvetica Neue"/>
                <a:cs typeface="Helvetica Neue"/>
              </a:defRPr>
            </a:lvl4pPr>
            <a:lvl5pPr>
              <a:defRPr sz="2250" b="0">
                <a:solidFill>
                  <a:srgbClr val="14283F"/>
                </a:solidFill>
                <a:latin typeface="Helvetica Neue"/>
                <a:ea typeface="Helvetica Neue"/>
                <a:cs typeface="Helvetica Neue"/>
              </a:defRPr>
            </a:lvl5pPr>
            <a:lvl6pPr>
              <a:defRPr sz="2250" b="0">
                <a:solidFill>
                  <a:srgbClr val="14283F"/>
                </a:solidFill>
                <a:latin typeface="Helvetica Neue"/>
                <a:ea typeface="Helvetica Neue"/>
                <a:cs typeface="Helvetica Neue"/>
              </a:defRPr>
            </a:lvl6pPr>
            <a:lvl7pPr>
              <a:defRPr sz="2250" b="0">
                <a:solidFill>
                  <a:srgbClr val="14283F"/>
                </a:solidFill>
                <a:latin typeface="Helvetica Neue"/>
                <a:ea typeface="Helvetica Neue"/>
                <a:cs typeface="Helvetica Neue"/>
              </a:defRPr>
            </a:lvl7pPr>
            <a:lvl8pPr>
              <a:defRPr sz="2250" b="0">
                <a:solidFill>
                  <a:srgbClr val="14283F"/>
                </a:solidFill>
                <a:latin typeface="Helvetica Neue"/>
                <a:ea typeface="Helvetica Neue"/>
                <a:cs typeface="Helvetica Neue"/>
              </a:defRPr>
            </a:lvl8pPr>
            <a:lvl9pPr>
              <a:defRPr sz="2250" b="0">
                <a:solidFill>
                  <a:srgbClr val="14283F"/>
                </a:solidFill>
                <a:latin typeface="Helvetica Neue"/>
                <a:ea typeface="Helvetica Neue"/>
                <a:cs typeface="Helvetica Neue"/>
              </a:defRPr>
            </a:lvl9pPr>
          </a:lstStyle>
          <a:p>
            <a:pPr>
              <a:defRPr sz="2250" b="0">
                <a:solidFill>
                  <a:srgbClr val="14283F"/>
                </a:solidFill>
                <a:latin typeface="Helvetica Neue"/>
                <a:ea typeface="Helvetica Neue"/>
                <a:cs typeface="Helvetica Neue"/>
              </a:defRPr>
            </a:pPr>
            <a:r>
              <a:rPr sz="2250" b="0">
                <a:solidFill>
                  <a:srgbClr val="14283F"/>
                </a:solidFill>
                <a:latin typeface="Helvetica Neue"/>
                <a:ea typeface="Helvetica Neue"/>
                <a:cs typeface="Helvetica Neue"/>
              </a:rPr>
              <a:t>CEM learns a timed motion sequence.</a:t>
            </a:r>
          </a:p>
          <a:p>
            <a:pPr>
              <a:defRPr sz="2250" b="0">
                <a:solidFill>
                  <a:srgbClr val="14283F"/>
                </a:solidFill>
                <a:latin typeface="Helvetica Neue"/>
                <a:ea typeface="Helvetica Neue"/>
                <a:cs typeface="Helvetica Neue"/>
              </a:defRPr>
            </a:pPr>
            <a:r>
              <a:rPr sz="2250" b="0">
                <a:solidFill>
                  <a:srgbClr val="14283F"/>
                </a:solidFill>
                <a:latin typeface="Helvetica Neue"/>
                <a:ea typeface="Helvetica Neue"/>
                <a:cs typeface="Helvetica Neue"/>
              </a:rPr>
              <a:t>Feedback-based recovery is a next step.</a:t>
            </a:r>
          </a:p>
        </p:txBody>
      </p:sp>
    </p:spTree>
    <p:extLst>
      <p:ext uri="{BB962C8B-B14F-4D97-AF65-F5344CB8AC3E}">
        <p14:creationId xmlns:p14="http://schemas.microsoft.com/office/powerpoint/2010/main" val="156057298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0708D679-C7B9-41DA-AC98-32390D7B6204}"/>
              </a:ext>
            </a:extLst>
          </p:cNvPr>
          <p:cNvSpPr>
            <a:spLocks noGrp="1"/>
          </p:cNvSpPr>
          <p:nvPr/>
        </p:nvSpPr>
        <p:spPr>
          <a:xfrm>
            <a:off x="609600" y="400050"/>
            <a:ext cx="10972800" cy="800100"/>
          </a:xfrm>
          <a:prstGeom prst="rect">
            <a:avLst/>
          </a:prstGeom>
          <a:noFill/>
          <a:ln w="0">
            <a:noFill/>
          </a:ln>
        </p:spPr>
        <p:txBody>
          <a:bodyPr lIns="0" tIns="0" rIns="0" bIns="0" anchor="ctr">
            <a:noAutofit/>
          </a:bodyPr>
          <a:lstStyle>
            <a:defPPr>
              <a:defRPr sz="3600" b="1">
                <a:solidFill>
                  <a:srgbClr val="14283F"/>
                </a:solidFill>
                <a:latin typeface="Helvetica Neue"/>
                <a:ea typeface="Helvetica Neue"/>
                <a:cs typeface="Helvetica Neue"/>
              </a:defRPr>
            </a:defPPr>
            <a:lvl1pPr>
              <a:defRPr sz="3600" b="1">
                <a:solidFill>
                  <a:srgbClr val="14283F"/>
                </a:solidFill>
                <a:latin typeface="Helvetica Neue"/>
                <a:ea typeface="Helvetica Neue"/>
                <a:cs typeface="Helvetica Neue"/>
              </a:defRPr>
            </a:lvl1pPr>
            <a:lvl2pPr>
              <a:defRPr sz="3600" b="1">
                <a:solidFill>
                  <a:srgbClr val="14283F"/>
                </a:solidFill>
                <a:latin typeface="Helvetica Neue"/>
                <a:ea typeface="Helvetica Neue"/>
                <a:cs typeface="Helvetica Neue"/>
              </a:defRPr>
            </a:lvl2pPr>
            <a:lvl3pPr>
              <a:defRPr sz="3600" b="1">
                <a:solidFill>
                  <a:srgbClr val="14283F"/>
                </a:solidFill>
                <a:latin typeface="Helvetica Neue"/>
                <a:ea typeface="Helvetica Neue"/>
                <a:cs typeface="Helvetica Neue"/>
              </a:defRPr>
            </a:lvl3pPr>
            <a:lvl4pPr>
              <a:defRPr sz="3600" b="1">
                <a:solidFill>
                  <a:srgbClr val="14283F"/>
                </a:solidFill>
                <a:latin typeface="Helvetica Neue"/>
                <a:ea typeface="Helvetica Neue"/>
                <a:cs typeface="Helvetica Neue"/>
              </a:defRPr>
            </a:lvl4pPr>
            <a:lvl5pPr>
              <a:defRPr sz="3600" b="1">
                <a:solidFill>
                  <a:srgbClr val="14283F"/>
                </a:solidFill>
                <a:latin typeface="Helvetica Neue"/>
                <a:ea typeface="Helvetica Neue"/>
                <a:cs typeface="Helvetica Neue"/>
              </a:defRPr>
            </a:lvl5pPr>
            <a:lvl6pPr>
              <a:defRPr sz="3600" b="1">
                <a:solidFill>
                  <a:srgbClr val="14283F"/>
                </a:solidFill>
                <a:latin typeface="Helvetica Neue"/>
                <a:ea typeface="Helvetica Neue"/>
                <a:cs typeface="Helvetica Neue"/>
              </a:defRPr>
            </a:lvl6pPr>
            <a:lvl7pPr>
              <a:defRPr sz="3600" b="1">
                <a:solidFill>
                  <a:srgbClr val="14283F"/>
                </a:solidFill>
                <a:latin typeface="Helvetica Neue"/>
                <a:ea typeface="Helvetica Neue"/>
                <a:cs typeface="Helvetica Neue"/>
              </a:defRPr>
            </a:lvl7pPr>
            <a:lvl8pPr>
              <a:defRPr sz="3600" b="1">
                <a:solidFill>
                  <a:srgbClr val="14283F"/>
                </a:solidFill>
                <a:latin typeface="Helvetica Neue"/>
                <a:ea typeface="Helvetica Neue"/>
                <a:cs typeface="Helvetica Neue"/>
              </a:defRPr>
            </a:lvl8pPr>
            <a:lvl9pPr>
              <a:defRPr sz="3600" b="1">
                <a:solidFill>
                  <a:srgbClr val="14283F"/>
                </a:solidFill>
                <a:latin typeface="Helvetica Neue"/>
                <a:ea typeface="Helvetica Neue"/>
                <a:cs typeface="Helvetica Neue"/>
              </a:defRPr>
            </a:lvl9pPr>
          </a:lstStyle>
          <a:p>
            <a:pPr>
              <a:defRPr sz="3600" b="1">
                <a:solidFill>
                  <a:srgbClr val="14283F"/>
                </a:solidFill>
                <a:latin typeface="Helvetica Neue"/>
                <a:ea typeface="Helvetica Neue"/>
                <a:cs typeface="Helvetica Neue"/>
              </a:defRPr>
            </a:pPr>
            <a:r>
              <a:rPr sz="3600" b="1">
                <a:solidFill>
                  <a:srgbClr val="14283F"/>
                </a:solidFill>
                <a:latin typeface="Helvetica Neue"/>
                <a:ea typeface="Helvetica Neue"/>
                <a:cs typeface="Helvetica Neue"/>
              </a:rPr>
              <a:t>References</a:t>
            </a:r>
          </a:p>
        </p:txBody>
      </p:sp>
      <p:sp>
        <p:nvSpPr>
          <p:cNvPr id="3" name="Rectangle 2">
            <a:extLst>
              <a:ext uri="{FF2B5EF4-FFF2-40B4-BE49-F238E27FC236}">
                <a16:creationId xmlns:a16="http://schemas.microsoft.com/office/drawing/2014/main" id="{6DE9AD29-8210-4041-B089-0A848EA3CAB0}"/>
              </a:ext>
            </a:extLst>
          </p:cNvPr>
          <p:cNvSpPr>
            <a:spLocks noGrp="1"/>
          </p:cNvSpPr>
          <p:nvPr/>
        </p:nvSpPr>
        <p:spPr>
          <a:xfrm>
            <a:off x="685800" y="6391275"/>
            <a:ext cx="10001250" cy="266700"/>
          </a:xfrm>
          <a:prstGeom prst="rect">
            <a:avLst/>
          </a:prstGeom>
          <a:noFill/>
          <a:ln w="0">
            <a:noFill/>
          </a:ln>
        </p:spPr>
        <p:txBody>
          <a:bodyPr lIns="0" tIns="0" rIns="0" bIns="0" anchor="ctr">
            <a:noAutofit/>
          </a:bodyPr>
          <a:lstStyle>
            <a:defPPr>
              <a:defRPr sz="1575" b="0">
                <a:solidFill>
                  <a:srgbClr val="566779"/>
                </a:solidFill>
                <a:latin typeface="Helvetica Neue"/>
                <a:ea typeface="Helvetica Neue"/>
                <a:cs typeface="Helvetica Neue"/>
              </a:defRPr>
            </a:defPPr>
            <a:lvl1pPr>
              <a:defRPr sz="1575" b="0">
                <a:solidFill>
                  <a:srgbClr val="566779"/>
                </a:solidFill>
                <a:latin typeface="Helvetica Neue"/>
                <a:ea typeface="Helvetica Neue"/>
                <a:cs typeface="Helvetica Neue"/>
              </a:defRPr>
            </a:lvl1pPr>
            <a:lvl2pPr>
              <a:defRPr sz="1575" b="0">
                <a:solidFill>
                  <a:srgbClr val="566779"/>
                </a:solidFill>
                <a:latin typeface="Helvetica Neue"/>
                <a:ea typeface="Helvetica Neue"/>
                <a:cs typeface="Helvetica Neue"/>
              </a:defRPr>
            </a:lvl2pPr>
            <a:lvl3pPr>
              <a:defRPr sz="1575" b="0">
                <a:solidFill>
                  <a:srgbClr val="566779"/>
                </a:solidFill>
                <a:latin typeface="Helvetica Neue"/>
                <a:ea typeface="Helvetica Neue"/>
                <a:cs typeface="Helvetica Neue"/>
              </a:defRPr>
            </a:lvl3pPr>
            <a:lvl4pPr>
              <a:defRPr sz="1575" b="0">
                <a:solidFill>
                  <a:srgbClr val="566779"/>
                </a:solidFill>
                <a:latin typeface="Helvetica Neue"/>
                <a:ea typeface="Helvetica Neue"/>
                <a:cs typeface="Helvetica Neue"/>
              </a:defRPr>
            </a:lvl4pPr>
            <a:lvl5pPr>
              <a:defRPr sz="1575" b="0">
                <a:solidFill>
                  <a:srgbClr val="566779"/>
                </a:solidFill>
                <a:latin typeface="Helvetica Neue"/>
                <a:ea typeface="Helvetica Neue"/>
                <a:cs typeface="Helvetica Neue"/>
              </a:defRPr>
            </a:lvl5pPr>
            <a:lvl6pPr>
              <a:defRPr sz="1575" b="0">
                <a:solidFill>
                  <a:srgbClr val="566779"/>
                </a:solidFill>
                <a:latin typeface="Helvetica Neue"/>
                <a:ea typeface="Helvetica Neue"/>
                <a:cs typeface="Helvetica Neue"/>
              </a:defRPr>
            </a:lvl6pPr>
            <a:lvl7pPr>
              <a:defRPr sz="1575" b="0">
                <a:solidFill>
                  <a:srgbClr val="566779"/>
                </a:solidFill>
                <a:latin typeface="Helvetica Neue"/>
                <a:ea typeface="Helvetica Neue"/>
                <a:cs typeface="Helvetica Neue"/>
              </a:defRPr>
            </a:lvl7pPr>
            <a:lvl8pPr>
              <a:defRPr sz="1575" b="0">
                <a:solidFill>
                  <a:srgbClr val="566779"/>
                </a:solidFill>
                <a:latin typeface="Helvetica Neue"/>
                <a:ea typeface="Helvetica Neue"/>
                <a:cs typeface="Helvetica Neue"/>
              </a:defRPr>
            </a:lvl8pPr>
            <a:lvl9pPr>
              <a:defRPr sz="1575" b="0">
                <a:solidFill>
                  <a:srgbClr val="566779"/>
                </a:solidFill>
                <a:latin typeface="Helvetica Neue"/>
                <a:ea typeface="Helvetica Neue"/>
                <a:cs typeface="Helvetica Neue"/>
              </a:defRPr>
            </a:lvl9pPr>
          </a:lstStyle>
          <a:p>
            <a:endParaRPr/>
          </a:p>
        </p:txBody>
      </p:sp>
      <p:sp>
        <p:nvSpPr>
          <p:cNvPr id="4" name="Rectangle 3">
            <a:extLst>
              <a:ext uri="{FF2B5EF4-FFF2-40B4-BE49-F238E27FC236}">
                <a16:creationId xmlns:a16="http://schemas.microsoft.com/office/drawing/2014/main" id="{72BFDDFB-4C46-4FA4-BC15-F85C1EAEB08B}"/>
              </a:ext>
            </a:extLst>
          </p:cNvPr>
          <p:cNvSpPr>
            <a:spLocks noGrp="1"/>
          </p:cNvSpPr>
          <p:nvPr/>
        </p:nvSpPr>
        <p:spPr>
          <a:xfrm>
            <a:off x="11277600" y="6438900"/>
            <a:ext cx="381000" cy="228600"/>
          </a:xfrm>
          <a:prstGeom prst="rect">
            <a:avLst/>
          </a:prstGeom>
          <a:noFill/>
          <a:ln w="0">
            <a:noFill/>
          </a:ln>
        </p:spPr>
        <p:txBody>
          <a:bodyPr lIns="0" tIns="0" rIns="0" bIns="0" anchor="ctr">
            <a:noAutofit/>
          </a:bodyPr>
          <a:lstStyle>
            <a:defPPr>
              <a:defRPr sz="1425" b="0">
                <a:solidFill>
                  <a:srgbClr val="566779"/>
                </a:solidFill>
                <a:latin typeface="Helvetica Neue"/>
                <a:ea typeface="Helvetica Neue"/>
                <a:cs typeface="Helvetica Neue"/>
              </a:defRPr>
            </a:defPPr>
            <a:lvl1pPr>
              <a:defRPr sz="1425" b="0">
                <a:solidFill>
                  <a:srgbClr val="566779"/>
                </a:solidFill>
                <a:latin typeface="Helvetica Neue"/>
                <a:ea typeface="Helvetica Neue"/>
                <a:cs typeface="Helvetica Neue"/>
              </a:defRPr>
            </a:lvl1pPr>
            <a:lvl2pPr>
              <a:defRPr sz="1425" b="0">
                <a:solidFill>
                  <a:srgbClr val="566779"/>
                </a:solidFill>
                <a:latin typeface="Helvetica Neue"/>
                <a:ea typeface="Helvetica Neue"/>
                <a:cs typeface="Helvetica Neue"/>
              </a:defRPr>
            </a:lvl2pPr>
            <a:lvl3pPr>
              <a:defRPr sz="1425" b="0">
                <a:solidFill>
                  <a:srgbClr val="566779"/>
                </a:solidFill>
                <a:latin typeface="Helvetica Neue"/>
                <a:ea typeface="Helvetica Neue"/>
                <a:cs typeface="Helvetica Neue"/>
              </a:defRPr>
            </a:lvl3pPr>
            <a:lvl4pPr>
              <a:defRPr sz="1425" b="0">
                <a:solidFill>
                  <a:srgbClr val="566779"/>
                </a:solidFill>
                <a:latin typeface="Helvetica Neue"/>
                <a:ea typeface="Helvetica Neue"/>
                <a:cs typeface="Helvetica Neue"/>
              </a:defRPr>
            </a:lvl4pPr>
            <a:lvl5pPr>
              <a:defRPr sz="1425" b="0">
                <a:solidFill>
                  <a:srgbClr val="566779"/>
                </a:solidFill>
                <a:latin typeface="Helvetica Neue"/>
                <a:ea typeface="Helvetica Neue"/>
                <a:cs typeface="Helvetica Neue"/>
              </a:defRPr>
            </a:lvl5pPr>
            <a:lvl6pPr>
              <a:defRPr sz="1425" b="0">
                <a:solidFill>
                  <a:srgbClr val="566779"/>
                </a:solidFill>
                <a:latin typeface="Helvetica Neue"/>
                <a:ea typeface="Helvetica Neue"/>
                <a:cs typeface="Helvetica Neue"/>
              </a:defRPr>
            </a:lvl6pPr>
            <a:lvl7pPr>
              <a:defRPr sz="1425" b="0">
                <a:solidFill>
                  <a:srgbClr val="566779"/>
                </a:solidFill>
                <a:latin typeface="Helvetica Neue"/>
                <a:ea typeface="Helvetica Neue"/>
                <a:cs typeface="Helvetica Neue"/>
              </a:defRPr>
            </a:lvl7pPr>
            <a:lvl8pPr>
              <a:defRPr sz="1425" b="0">
                <a:solidFill>
                  <a:srgbClr val="566779"/>
                </a:solidFill>
                <a:latin typeface="Helvetica Neue"/>
                <a:ea typeface="Helvetica Neue"/>
                <a:cs typeface="Helvetica Neue"/>
              </a:defRPr>
            </a:lvl8pPr>
            <a:lvl9pPr>
              <a:defRPr sz="1425" b="0">
                <a:solidFill>
                  <a:srgbClr val="566779"/>
                </a:solidFill>
                <a:latin typeface="Helvetica Neue"/>
                <a:ea typeface="Helvetica Neue"/>
                <a:cs typeface="Helvetica Neue"/>
              </a:defRPr>
            </a:lvl9pPr>
          </a:lstStyle>
          <a:p>
            <a:pPr>
              <a:defRPr sz="1425" b="0">
                <a:solidFill>
                  <a:srgbClr val="566779"/>
                </a:solidFill>
                <a:latin typeface="Helvetica Neue"/>
                <a:ea typeface="Helvetica Neue"/>
                <a:cs typeface="Helvetica Neue"/>
              </a:defRPr>
            </a:pPr>
            <a:r>
              <a:rPr sz="1425" b="0">
                <a:solidFill>
                  <a:srgbClr val="566779"/>
                </a:solidFill>
                <a:latin typeface="Helvetica Neue"/>
                <a:ea typeface="Helvetica Neue"/>
                <a:cs typeface="Helvetica Neue"/>
              </a:rPr>
              <a:t>12</a:t>
            </a:r>
          </a:p>
        </p:txBody>
      </p:sp>
      <p:sp>
        <p:nvSpPr>
          <p:cNvPr id="5" name="Rectangle 4">
            <a:extLst>
              <a:ext uri="{FF2B5EF4-FFF2-40B4-BE49-F238E27FC236}">
                <a16:creationId xmlns:a16="http://schemas.microsoft.com/office/drawing/2014/main" id="{3A306A4F-714C-4B58-8DEE-76A7F94E0F5C}"/>
              </a:ext>
            </a:extLst>
          </p:cNvPr>
          <p:cNvSpPr>
            <a:spLocks noGrp="1"/>
          </p:cNvSpPr>
          <p:nvPr/>
        </p:nvSpPr>
        <p:spPr>
          <a:xfrm>
            <a:off x="609600" y="1352550"/>
            <a:ext cx="476250" cy="847725"/>
          </a:xfrm>
          <a:prstGeom prst="rect">
            <a:avLst/>
          </a:prstGeom>
          <a:noFill/>
          <a:ln w="0">
            <a:noFill/>
          </a:ln>
        </p:spPr>
        <p:txBody>
          <a:bodyPr lIns="0" tIns="0" rIns="0" bIns="0" anchor="ctr">
            <a:noAutofit/>
          </a:bodyPr>
          <a:lstStyle>
            <a:defPPr>
              <a:defRPr sz="1725" b="0">
                <a:solidFill>
                  <a:srgbClr val="14283F"/>
                </a:solidFill>
                <a:latin typeface="Helvetica Neue"/>
                <a:ea typeface="Helvetica Neue"/>
                <a:cs typeface="Helvetica Neue"/>
              </a:defRPr>
            </a:defPPr>
            <a:lvl1pPr>
              <a:defRPr sz="1725" b="0">
                <a:solidFill>
                  <a:srgbClr val="14283F"/>
                </a:solidFill>
                <a:latin typeface="Helvetica Neue"/>
                <a:ea typeface="Helvetica Neue"/>
                <a:cs typeface="Helvetica Neue"/>
              </a:defRPr>
            </a:lvl1pPr>
            <a:lvl2pPr>
              <a:defRPr sz="1725" b="0">
                <a:solidFill>
                  <a:srgbClr val="14283F"/>
                </a:solidFill>
                <a:latin typeface="Helvetica Neue"/>
                <a:ea typeface="Helvetica Neue"/>
                <a:cs typeface="Helvetica Neue"/>
              </a:defRPr>
            </a:lvl2pPr>
            <a:lvl3pPr>
              <a:defRPr sz="1725" b="0">
                <a:solidFill>
                  <a:srgbClr val="14283F"/>
                </a:solidFill>
                <a:latin typeface="Helvetica Neue"/>
                <a:ea typeface="Helvetica Neue"/>
                <a:cs typeface="Helvetica Neue"/>
              </a:defRPr>
            </a:lvl3pPr>
            <a:lvl4pPr>
              <a:defRPr sz="1725" b="0">
                <a:solidFill>
                  <a:srgbClr val="14283F"/>
                </a:solidFill>
                <a:latin typeface="Helvetica Neue"/>
                <a:ea typeface="Helvetica Neue"/>
                <a:cs typeface="Helvetica Neue"/>
              </a:defRPr>
            </a:lvl4pPr>
            <a:lvl5pPr>
              <a:defRPr sz="1725" b="0">
                <a:solidFill>
                  <a:srgbClr val="14283F"/>
                </a:solidFill>
                <a:latin typeface="Helvetica Neue"/>
                <a:ea typeface="Helvetica Neue"/>
                <a:cs typeface="Helvetica Neue"/>
              </a:defRPr>
            </a:lvl5pPr>
            <a:lvl6pPr>
              <a:defRPr sz="1725" b="0">
                <a:solidFill>
                  <a:srgbClr val="14283F"/>
                </a:solidFill>
                <a:latin typeface="Helvetica Neue"/>
                <a:ea typeface="Helvetica Neue"/>
                <a:cs typeface="Helvetica Neue"/>
              </a:defRPr>
            </a:lvl6pPr>
            <a:lvl7pPr>
              <a:defRPr sz="1725" b="0">
                <a:solidFill>
                  <a:srgbClr val="14283F"/>
                </a:solidFill>
                <a:latin typeface="Helvetica Neue"/>
                <a:ea typeface="Helvetica Neue"/>
                <a:cs typeface="Helvetica Neue"/>
              </a:defRPr>
            </a:lvl7pPr>
            <a:lvl8pPr>
              <a:defRPr sz="1725" b="0">
                <a:solidFill>
                  <a:srgbClr val="14283F"/>
                </a:solidFill>
                <a:latin typeface="Helvetica Neue"/>
                <a:ea typeface="Helvetica Neue"/>
                <a:cs typeface="Helvetica Neue"/>
              </a:defRPr>
            </a:lvl8pPr>
            <a:lvl9pPr>
              <a:defRPr sz="1725" b="0">
                <a:solidFill>
                  <a:srgbClr val="14283F"/>
                </a:solidFill>
                <a:latin typeface="Helvetica Neue"/>
                <a:ea typeface="Helvetica Neue"/>
                <a:cs typeface="Helvetica Neue"/>
              </a:defRPr>
            </a:lvl9pPr>
          </a:lstStyle>
          <a:p>
            <a:pPr>
              <a:defRPr sz="1725" b="0">
                <a:solidFill>
                  <a:srgbClr val="14283F"/>
                </a:solidFill>
                <a:latin typeface="Helvetica Neue"/>
                <a:ea typeface="Helvetica Neue"/>
                <a:cs typeface="Helvetica Neue"/>
              </a:defRPr>
            </a:pPr>
            <a:r>
              <a:rPr sz="1725" b="0">
                <a:solidFill>
                  <a:srgbClr val="14283F"/>
                </a:solidFill>
                <a:latin typeface="Helvetica Neue"/>
                <a:ea typeface="Helvetica Neue"/>
                <a:cs typeface="Helvetica Neue"/>
              </a:rPr>
              <a:t>[1]</a:t>
            </a:r>
          </a:p>
        </p:txBody>
      </p:sp>
      <p:sp>
        <p:nvSpPr>
          <p:cNvPr id="6" name="Rectangle 5">
            <a:extLst>
              <a:ext uri="{FF2B5EF4-FFF2-40B4-BE49-F238E27FC236}">
                <a16:creationId xmlns:a16="http://schemas.microsoft.com/office/drawing/2014/main" id="{8974FBB3-5686-4850-8819-2E1A3C8D6C85}"/>
              </a:ext>
            </a:extLst>
          </p:cNvPr>
          <p:cNvSpPr>
            <a:spLocks noGrp="1"/>
          </p:cNvSpPr>
          <p:nvPr/>
        </p:nvSpPr>
        <p:spPr>
          <a:xfrm>
            <a:off x="1104900" y="1352550"/>
            <a:ext cx="10401300" cy="847725"/>
          </a:xfrm>
          <a:prstGeom prst="rect">
            <a:avLst/>
          </a:prstGeom>
          <a:noFill/>
          <a:ln w="0">
            <a:noFill/>
          </a:ln>
        </p:spPr>
        <p:txBody>
          <a:bodyPr lIns="0" tIns="0" rIns="0" bIns="0" anchor="ctr">
            <a:noAutofit/>
          </a:bodyPr>
          <a:lstStyle>
            <a:defPPr>
              <a:defRPr sz="1725" b="0">
                <a:solidFill>
                  <a:srgbClr val="14283F"/>
                </a:solidFill>
                <a:latin typeface="Helvetica Neue"/>
                <a:ea typeface="Helvetica Neue"/>
                <a:cs typeface="Helvetica Neue"/>
              </a:defRPr>
            </a:defPPr>
            <a:lvl1pPr>
              <a:defRPr sz="1725" b="0">
                <a:solidFill>
                  <a:srgbClr val="14283F"/>
                </a:solidFill>
                <a:latin typeface="Helvetica Neue"/>
                <a:ea typeface="Helvetica Neue"/>
                <a:cs typeface="Helvetica Neue"/>
              </a:defRPr>
            </a:lvl1pPr>
            <a:lvl2pPr>
              <a:defRPr sz="1725" b="0">
                <a:solidFill>
                  <a:srgbClr val="14283F"/>
                </a:solidFill>
                <a:latin typeface="Helvetica Neue"/>
                <a:ea typeface="Helvetica Neue"/>
                <a:cs typeface="Helvetica Neue"/>
              </a:defRPr>
            </a:lvl2pPr>
            <a:lvl3pPr>
              <a:defRPr sz="1725" b="0">
                <a:solidFill>
                  <a:srgbClr val="14283F"/>
                </a:solidFill>
                <a:latin typeface="Helvetica Neue"/>
                <a:ea typeface="Helvetica Neue"/>
                <a:cs typeface="Helvetica Neue"/>
              </a:defRPr>
            </a:lvl3pPr>
            <a:lvl4pPr>
              <a:defRPr sz="1725" b="0">
                <a:solidFill>
                  <a:srgbClr val="14283F"/>
                </a:solidFill>
                <a:latin typeface="Helvetica Neue"/>
                <a:ea typeface="Helvetica Neue"/>
                <a:cs typeface="Helvetica Neue"/>
              </a:defRPr>
            </a:lvl4pPr>
            <a:lvl5pPr>
              <a:defRPr sz="1725" b="0">
                <a:solidFill>
                  <a:srgbClr val="14283F"/>
                </a:solidFill>
                <a:latin typeface="Helvetica Neue"/>
                <a:ea typeface="Helvetica Neue"/>
                <a:cs typeface="Helvetica Neue"/>
              </a:defRPr>
            </a:lvl5pPr>
            <a:lvl6pPr>
              <a:defRPr sz="1725" b="0">
                <a:solidFill>
                  <a:srgbClr val="14283F"/>
                </a:solidFill>
                <a:latin typeface="Helvetica Neue"/>
                <a:ea typeface="Helvetica Neue"/>
                <a:cs typeface="Helvetica Neue"/>
              </a:defRPr>
            </a:lvl6pPr>
            <a:lvl7pPr>
              <a:defRPr sz="1725" b="0">
                <a:solidFill>
                  <a:srgbClr val="14283F"/>
                </a:solidFill>
                <a:latin typeface="Helvetica Neue"/>
                <a:ea typeface="Helvetica Neue"/>
                <a:cs typeface="Helvetica Neue"/>
              </a:defRPr>
            </a:lvl7pPr>
            <a:lvl8pPr>
              <a:defRPr sz="1725" b="0">
                <a:solidFill>
                  <a:srgbClr val="14283F"/>
                </a:solidFill>
                <a:latin typeface="Helvetica Neue"/>
                <a:ea typeface="Helvetica Neue"/>
                <a:cs typeface="Helvetica Neue"/>
              </a:defRPr>
            </a:lvl8pPr>
            <a:lvl9pPr>
              <a:defRPr sz="1725" b="0">
                <a:solidFill>
                  <a:srgbClr val="14283F"/>
                </a:solidFill>
                <a:latin typeface="Helvetica Neue"/>
                <a:ea typeface="Helvetica Neue"/>
                <a:cs typeface="Helvetica Neue"/>
              </a:defRPr>
            </a:lvl9pPr>
          </a:lstStyle>
          <a:p>
            <a:pPr>
              <a:defRPr sz="1725" b="0">
                <a:solidFill>
                  <a:srgbClr val="14283F"/>
                </a:solidFill>
                <a:latin typeface="Helvetica Neue"/>
                <a:ea typeface="Helvetica Neue"/>
                <a:cs typeface="Helvetica Neue"/>
              </a:defRPr>
            </a:pPr>
            <a:r>
              <a:rPr sz="1725" b="0">
                <a:solidFill>
                  <a:srgbClr val="14283F"/>
                </a:solidFill>
                <a:latin typeface="Helvetica Neue"/>
                <a:ea typeface="Helvetica Neue"/>
                <a:cs typeface="Helvetica Neue"/>
              </a:rPr>
              <a:t>T. Haarnoja, A. Zhou, P. Abbeel, and S. Levine, “Soft actor-critic: Off-policy maximum entropy deep reinforcement learning with a stochastic actor,” in Proc. ICML, vol. 80, 2018, pp. 1861–1870.</a:t>
            </a:r>
          </a:p>
        </p:txBody>
      </p:sp>
      <p:sp>
        <p:nvSpPr>
          <p:cNvPr id="7" name="Rectangle 6">
            <a:extLst>
              <a:ext uri="{FF2B5EF4-FFF2-40B4-BE49-F238E27FC236}">
                <a16:creationId xmlns:a16="http://schemas.microsoft.com/office/drawing/2014/main" id="{CF5938BB-A66D-434A-89E5-3BB3410CE761}"/>
              </a:ext>
            </a:extLst>
          </p:cNvPr>
          <p:cNvSpPr>
            <a:spLocks noGrp="1"/>
          </p:cNvSpPr>
          <p:nvPr/>
        </p:nvSpPr>
        <p:spPr>
          <a:xfrm>
            <a:off x="609600" y="2295525"/>
            <a:ext cx="476250" cy="571500"/>
          </a:xfrm>
          <a:prstGeom prst="rect">
            <a:avLst/>
          </a:prstGeom>
          <a:noFill/>
          <a:ln w="0">
            <a:noFill/>
          </a:ln>
        </p:spPr>
        <p:txBody>
          <a:bodyPr lIns="0" tIns="0" rIns="0" bIns="0" anchor="ctr">
            <a:noAutofit/>
          </a:bodyPr>
          <a:lstStyle>
            <a:defPPr>
              <a:defRPr sz="1725" b="0">
                <a:solidFill>
                  <a:srgbClr val="14283F"/>
                </a:solidFill>
                <a:latin typeface="Helvetica Neue"/>
                <a:ea typeface="Helvetica Neue"/>
                <a:cs typeface="Helvetica Neue"/>
              </a:defRPr>
            </a:defPPr>
            <a:lvl1pPr>
              <a:defRPr sz="1725" b="0">
                <a:solidFill>
                  <a:srgbClr val="14283F"/>
                </a:solidFill>
                <a:latin typeface="Helvetica Neue"/>
                <a:ea typeface="Helvetica Neue"/>
                <a:cs typeface="Helvetica Neue"/>
              </a:defRPr>
            </a:lvl1pPr>
            <a:lvl2pPr>
              <a:defRPr sz="1725" b="0">
                <a:solidFill>
                  <a:srgbClr val="14283F"/>
                </a:solidFill>
                <a:latin typeface="Helvetica Neue"/>
                <a:ea typeface="Helvetica Neue"/>
                <a:cs typeface="Helvetica Neue"/>
              </a:defRPr>
            </a:lvl2pPr>
            <a:lvl3pPr>
              <a:defRPr sz="1725" b="0">
                <a:solidFill>
                  <a:srgbClr val="14283F"/>
                </a:solidFill>
                <a:latin typeface="Helvetica Neue"/>
                <a:ea typeface="Helvetica Neue"/>
                <a:cs typeface="Helvetica Neue"/>
              </a:defRPr>
            </a:lvl3pPr>
            <a:lvl4pPr>
              <a:defRPr sz="1725" b="0">
                <a:solidFill>
                  <a:srgbClr val="14283F"/>
                </a:solidFill>
                <a:latin typeface="Helvetica Neue"/>
                <a:ea typeface="Helvetica Neue"/>
                <a:cs typeface="Helvetica Neue"/>
              </a:defRPr>
            </a:lvl4pPr>
            <a:lvl5pPr>
              <a:defRPr sz="1725" b="0">
                <a:solidFill>
                  <a:srgbClr val="14283F"/>
                </a:solidFill>
                <a:latin typeface="Helvetica Neue"/>
                <a:ea typeface="Helvetica Neue"/>
                <a:cs typeface="Helvetica Neue"/>
              </a:defRPr>
            </a:lvl5pPr>
            <a:lvl6pPr>
              <a:defRPr sz="1725" b="0">
                <a:solidFill>
                  <a:srgbClr val="14283F"/>
                </a:solidFill>
                <a:latin typeface="Helvetica Neue"/>
                <a:ea typeface="Helvetica Neue"/>
                <a:cs typeface="Helvetica Neue"/>
              </a:defRPr>
            </a:lvl6pPr>
            <a:lvl7pPr>
              <a:defRPr sz="1725" b="0">
                <a:solidFill>
                  <a:srgbClr val="14283F"/>
                </a:solidFill>
                <a:latin typeface="Helvetica Neue"/>
                <a:ea typeface="Helvetica Neue"/>
                <a:cs typeface="Helvetica Neue"/>
              </a:defRPr>
            </a:lvl7pPr>
            <a:lvl8pPr>
              <a:defRPr sz="1725" b="0">
                <a:solidFill>
                  <a:srgbClr val="14283F"/>
                </a:solidFill>
                <a:latin typeface="Helvetica Neue"/>
                <a:ea typeface="Helvetica Neue"/>
                <a:cs typeface="Helvetica Neue"/>
              </a:defRPr>
            </a:lvl8pPr>
            <a:lvl9pPr>
              <a:defRPr sz="1725" b="0">
                <a:solidFill>
                  <a:srgbClr val="14283F"/>
                </a:solidFill>
                <a:latin typeface="Helvetica Neue"/>
                <a:ea typeface="Helvetica Neue"/>
                <a:cs typeface="Helvetica Neue"/>
              </a:defRPr>
            </a:lvl9pPr>
          </a:lstStyle>
          <a:p>
            <a:pPr>
              <a:defRPr sz="1725" b="0">
                <a:solidFill>
                  <a:srgbClr val="14283F"/>
                </a:solidFill>
                <a:latin typeface="Helvetica Neue"/>
                <a:ea typeface="Helvetica Neue"/>
                <a:cs typeface="Helvetica Neue"/>
              </a:defRPr>
            </a:pPr>
            <a:r>
              <a:rPr sz="1725" b="0">
                <a:solidFill>
                  <a:srgbClr val="14283F"/>
                </a:solidFill>
                <a:latin typeface="Helvetica Neue"/>
                <a:ea typeface="Helvetica Neue"/>
                <a:cs typeface="Helvetica Neue"/>
              </a:rPr>
              <a:t>[2]</a:t>
            </a:r>
          </a:p>
        </p:txBody>
      </p:sp>
      <p:sp>
        <p:nvSpPr>
          <p:cNvPr id="8" name="Rectangle 7">
            <a:extLst>
              <a:ext uri="{FF2B5EF4-FFF2-40B4-BE49-F238E27FC236}">
                <a16:creationId xmlns:a16="http://schemas.microsoft.com/office/drawing/2014/main" id="{DF5EC2C3-DEF9-4B24-ABEB-7171B80BB2D4}"/>
              </a:ext>
            </a:extLst>
          </p:cNvPr>
          <p:cNvSpPr>
            <a:spLocks noGrp="1"/>
          </p:cNvSpPr>
          <p:nvPr/>
        </p:nvSpPr>
        <p:spPr>
          <a:xfrm>
            <a:off x="1104900" y="2295525"/>
            <a:ext cx="10401300" cy="571500"/>
          </a:xfrm>
          <a:prstGeom prst="rect">
            <a:avLst/>
          </a:prstGeom>
          <a:noFill/>
          <a:ln w="0">
            <a:noFill/>
          </a:ln>
        </p:spPr>
        <p:txBody>
          <a:bodyPr lIns="0" tIns="0" rIns="0" bIns="0" anchor="ctr">
            <a:noAutofit/>
          </a:bodyPr>
          <a:lstStyle>
            <a:defPPr>
              <a:defRPr sz="1725" b="0">
                <a:solidFill>
                  <a:srgbClr val="14283F"/>
                </a:solidFill>
                <a:latin typeface="Helvetica Neue"/>
                <a:ea typeface="Helvetica Neue"/>
                <a:cs typeface="Helvetica Neue"/>
              </a:defRPr>
            </a:defPPr>
            <a:lvl1pPr>
              <a:defRPr sz="1725" b="0">
                <a:solidFill>
                  <a:srgbClr val="14283F"/>
                </a:solidFill>
                <a:latin typeface="Helvetica Neue"/>
                <a:ea typeface="Helvetica Neue"/>
                <a:cs typeface="Helvetica Neue"/>
              </a:defRPr>
            </a:lvl1pPr>
            <a:lvl2pPr>
              <a:defRPr sz="1725" b="0">
                <a:solidFill>
                  <a:srgbClr val="14283F"/>
                </a:solidFill>
                <a:latin typeface="Helvetica Neue"/>
                <a:ea typeface="Helvetica Neue"/>
                <a:cs typeface="Helvetica Neue"/>
              </a:defRPr>
            </a:lvl2pPr>
            <a:lvl3pPr>
              <a:defRPr sz="1725" b="0">
                <a:solidFill>
                  <a:srgbClr val="14283F"/>
                </a:solidFill>
                <a:latin typeface="Helvetica Neue"/>
                <a:ea typeface="Helvetica Neue"/>
                <a:cs typeface="Helvetica Neue"/>
              </a:defRPr>
            </a:lvl3pPr>
            <a:lvl4pPr>
              <a:defRPr sz="1725" b="0">
                <a:solidFill>
                  <a:srgbClr val="14283F"/>
                </a:solidFill>
                <a:latin typeface="Helvetica Neue"/>
                <a:ea typeface="Helvetica Neue"/>
                <a:cs typeface="Helvetica Neue"/>
              </a:defRPr>
            </a:lvl4pPr>
            <a:lvl5pPr>
              <a:defRPr sz="1725" b="0">
                <a:solidFill>
                  <a:srgbClr val="14283F"/>
                </a:solidFill>
                <a:latin typeface="Helvetica Neue"/>
                <a:ea typeface="Helvetica Neue"/>
                <a:cs typeface="Helvetica Neue"/>
              </a:defRPr>
            </a:lvl5pPr>
            <a:lvl6pPr>
              <a:defRPr sz="1725" b="0">
                <a:solidFill>
                  <a:srgbClr val="14283F"/>
                </a:solidFill>
                <a:latin typeface="Helvetica Neue"/>
                <a:ea typeface="Helvetica Neue"/>
                <a:cs typeface="Helvetica Neue"/>
              </a:defRPr>
            </a:lvl6pPr>
            <a:lvl7pPr>
              <a:defRPr sz="1725" b="0">
                <a:solidFill>
                  <a:srgbClr val="14283F"/>
                </a:solidFill>
                <a:latin typeface="Helvetica Neue"/>
                <a:ea typeface="Helvetica Neue"/>
                <a:cs typeface="Helvetica Neue"/>
              </a:defRPr>
            </a:lvl7pPr>
            <a:lvl8pPr>
              <a:defRPr sz="1725" b="0">
                <a:solidFill>
                  <a:srgbClr val="14283F"/>
                </a:solidFill>
                <a:latin typeface="Helvetica Neue"/>
                <a:ea typeface="Helvetica Neue"/>
                <a:cs typeface="Helvetica Neue"/>
              </a:defRPr>
            </a:lvl8pPr>
            <a:lvl9pPr>
              <a:defRPr sz="1725" b="0">
                <a:solidFill>
                  <a:srgbClr val="14283F"/>
                </a:solidFill>
                <a:latin typeface="Helvetica Neue"/>
                <a:ea typeface="Helvetica Neue"/>
                <a:cs typeface="Helvetica Neue"/>
              </a:defRPr>
            </a:lvl9pPr>
          </a:lstStyle>
          <a:p>
            <a:pPr>
              <a:defRPr sz="1725" b="0">
                <a:solidFill>
                  <a:srgbClr val="14283F"/>
                </a:solidFill>
                <a:latin typeface="Helvetica Neue"/>
                <a:ea typeface="Helvetica Neue"/>
                <a:cs typeface="Helvetica Neue"/>
              </a:defRPr>
            </a:pPr>
            <a:r>
              <a:rPr sz="1725" b="0">
                <a:solidFill>
                  <a:srgbClr val="14283F"/>
                </a:solidFill>
                <a:latin typeface="Helvetica Neue"/>
                <a:ea typeface="Helvetica Neue"/>
                <a:cs typeface="Helvetica Neue"/>
              </a:rPr>
              <a:t>M. Andrychowicz et al., “Hindsight experience replay,” in Advances in Neural Information Processing Systems, vol. 30, 2017.</a:t>
            </a:r>
          </a:p>
        </p:txBody>
      </p:sp>
      <p:sp>
        <p:nvSpPr>
          <p:cNvPr id="9" name="Rectangle 8">
            <a:extLst>
              <a:ext uri="{FF2B5EF4-FFF2-40B4-BE49-F238E27FC236}">
                <a16:creationId xmlns:a16="http://schemas.microsoft.com/office/drawing/2014/main" id="{07C12000-836D-4091-BAC2-4C6360B3773F}"/>
              </a:ext>
            </a:extLst>
          </p:cNvPr>
          <p:cNvSpPr>
            <a:spLocks noGrp="1"/>
          </p:cNvSpPr>
          <p:nvPr/>
        </p:nvSpPr>
        <p:spPr>
          <a:xfrm>
            <a:off x="609600" y="2943225"/>
            <a:ext cx="476250" cy="771525"/>
          </a:xfrm>
          <a:prstGeom prst="rect">
            <a:avLst/>
          </a:prstGeom>
          <a:noFill/>
          <a:ln w="0">
            <a:noFill/>
          </a:ln>
        </p:spPr>
        <p:txBody>
          <a:bodyPr lIns="0" tIns="0" rIns="0" bIns="0" anchor="ctr">
            <a:noAutofit/>
          </a:bodyPr>
          <a:lstStyle>
            <a:defPPr>
              <a:defRPr sz="1725" b="0">
                <a:solidFill>
                  <a:srgbClr val="14283F"/>
                </a:solidFill>
                <a:latin typeface="Helvetica Neue"/>
                <a:ea typeface="Helvetica Neue"/>
                <a:cs typeface="Helvetica Neue"/>
              </a:defRPr>
            </a:defPPr>
            <a:lvl1pPr>
              <a:defRPr sz="1725" b="0">
                <a:solidFill>
                  <a:srgbClr val="14283F"/>
                </a:solidFill>
                <a:latin typeface="Helvetica Neue"/>
                <a:ea typeface="Helvetica Neue"/>
                <a:cs typeface="Helvetica Neue"/>
              </a:defRPr>
            </a:lvl1pPr>
            <a:lvl2pPr>
              <a:defRPr sz="1725" b="0">
                <a:solidFill>
                  <a:srgbClr val="14283F"/>
                </a:solidFill>
                <a:latin typeface="Helvetica Neue"/>
                <a:ea typeface="Helvetica Neue"/>
                <a:cs typeface="Helvetica Neue"/>
              </a:defRPr>
            </a:lvl2pPr>
            <a:lvl3pPr>
              <a:defRPr sz="1725" b="0">
                <a:solidFill>
                  <a:srgbClr val="14283F"/>
                </a:solidFill>
                <a:latin typeface="Helvetica Neue"/>
                <a:ea typeface="Helvetica Neue"/>
                <a:cs typeface="Helvetica Neue"/>
              </a:defRPr>
            </a:lvl3pPr>
            <a:lvl4pPr>
              <a:defRPr sz="1725" b="0">
                <a:solidFill>
                  <a:srgbClr val="14283F"/>
                </a:solidFill>
                <a:latin typeface="Helvetica Neue"/>
                <a:ea typeface="Helvetica Neue"/>
                <a:cs typeface="Helvetica Neue"/>
              </a:defRPr>
            </a:lvl4pPr>
            <a:lvl5pPr>
              <a:defRPr sz="1725" b="0">
                <a:solidFill>
                  <a:srgbClr val="14283F"/>
                </a:solidFill>
                <a:latin typeface="Helvetica Neue"/>
                <a:ea typeface="Helvetica Neue"/>
                <a:cs typeface="Helvetica Neue"/>
              </a:defRPr>
            </a:lvl5pPr>
            <a:lvl6pPr>
              <a:defRPr sz="1725" b="0">
                <a:solidFill>
                  <a:srgbClr val="14283F"/>
                </a:solidFill>
                <a:latin typeface="Helvetica Neue"/>
                <a:ea typeface="Helvetica Neue"/>
                <a:cs typeface="Helvetica Neue"/>
              </a:defRPr>
            </a:lvl6pPr>
            <a:lvl7pPr>
              <a:defRPr sz="1725" b="0">
                <a:solidFill>
                  <a:srgbClr val="14283F"/>
                </a:solidFill>
                <a:latin typeface="Helvetica Neue"/>
                <a:ea typeface="Helvetica Neue"/>
                <a:cs typeface="Helvetica Neue"/>
              </a:defRPr>
            </a:lvl7pPr>
            <a:lvl8pPr>
              <a:defRPr sz="1725" b="0">
                <a:solidFill>
                  <a:srgbClr val="14283F"/>
                </a:solidFill>
                <a:latin typeface="Helvetica Neue"/>
                <a:ea typeface="Helvetica Neue"/>
                <a:cs typeface="Helvetica Neue"/>
              </a:defRPr>
            </a:lvl8pPr>
            <a:lvl9pPr>
              <a:defRPr sz="1725" b="0">
                <a:solidFill>
                  <a:srgbClr val="14283F"/>
                </a:solidFill>
                <a:latin typeface="Helvetica Neue"/>
                <a:ea typeface="Helvetica Neue"/>
                <a:cs typeface="Helvetica Neue"/>
              </a:defRPr>
            </a:lvl9pPr>
          </a:lstStyle>
          <a:p>
            <a:pPr>
              <a:defRPr sz="1725" b="0">
                <a:solidFill>
                  <a:srgbClr val="14283F"/>
                </a:solidFill>
                <a:latin typeface="Helvetica Neue"/>
                <a:ea typeface="Helvetica Neue"/>
                <a:cs typeface="Helvetica Neue"/>
              </a:defRPr>
            </a:pPr>
            <a:r>
              <a:rPr sz="1725" b="0">
                <a:solidFill>
                  <a:srgbClr val="14283F"/>
                </a:solidFill>
                <a:latin typeface="Helvetica Neue"/>
                <a:ea typeface="Helvetica Neue"/>
                <a:cs typeface="Helvetica Neue"/>
              </a:rPr>
              <a:t>[3]</a:t>
            </a:r>
          </a:p>
        </p:txBody>
      </p:sp>
      <p:sp>
        <p:nvSpPr>
          <p:cNvPr id="10" name="Rectangle 9">
            <a:extLst>
              <a:ext uri="{FF2B5EF4-FFF2-40B4-BE49-F238E27FC236}">
                <a16:creationId xmlns:a16="http://schemas.microsoft.com/office/drawing/2014/main" id="{B3A6E9A7-E9CD-4F60-B5E8-6F73A402EAAE}"/>
              </a:ext>
            </a:extLst>
          </p:cNvPr>
          <p:cNvSpPr>
            <a:spLocks noGrp="1"/>
          </p:cNvSpPr>
          <p:nvPr/>
        </p:nvSpPr>
        <p:spPr>
          <a:xfrm>
            <a:off x="1104900" y="2943225"/>
            <a:ext cx="10401300" cy="771525"/>
          </a:xfrm>
          <a:prstGeom prst="rect">
            <a:avLst/>
          </a:prstGeom>
          <a:noFill/>
          <a:ln w="0">
            <a:noFill/>
          </a:ln>
        </p:spPr>
        <p:txBody>
          <a:bodyPr lIns="0" tIns="0" rIns="0" bIns="0" anchor="ctr">
            <a:noAutofit/>
          </a:bodyPr>
          <a:lstStyle>
            <a:defPPr>
              <a:defRPr sz="1725" b="0">
                <a:solidFill>
                  <a:srgbClr val="14283F"/>
                </a:solidFill>
                <a:latin typeface="Helvetica Neue"/>
                <a:ea typeface="Helvetica Neue"/>
                <a:cs typeface="Helvetica Neue"/>
              </a:defRPr>
            </a:defPPr>
            <a:lvl1pPr>
              <a:defRPr sz="1725" b="0">
                <a:solidFill>
                  <a:srgbClr val="14283F"/>
                </a:solidFill>
                <a:latin typeface="Helvetica Neue"/>
                <a:ea typeface="Helvetica Neue"/>
                <a:cs typeface="Helvetica Neue"/>
              </a:defRPr>
            </a:lvl1pPr>
            <a:lvl2pPr>
              <a:defRPr sz="1725" b="0">
                <a:solidFill>
                  <a:srgbClr val="14283F"/>
                </a:solidFill>
                <a:latin typeface="Helvetica Neue"/>
                <a:ea typeface="Helvetica Neue"/>
                <a:cs typeface="Helvetica Neue"/>
              </a:defRPr>
            </a:lvl2pPr>
            <a:lvl3pPr>
              <a:defRPr sz="1725" b="0">
                <a:solidFill>
                  <a:srgbClr val="14283F"/>
                </a:solidFill>
                <a:latin typeface="Helvetica Neue"/>
                <a:ea typeface="Helvetica Neue"/>
                <a:cs typeface="Helvetica Neue"/>
              </a:defRPr>
            </a:lvl3pPr>
            <a:lvl4pPr>
              <a:defRPr sz="1725" b="0">
                <a:solidFill>
                  <a:srgbClr val="14283F"/>
                </a:solidFill>
                <a:latin typeface="Helvetica Neue"/>
                <a:ea typeface="Helvetica Neue"/>
                <a:cs typeface="Helvetica Neue"/>
              </a:defRPr>
            </a:lvl4pPr>
            <a:lvl5pPr>
              <a:defRPr sz="1725" b="0">
                <a:solidFill>
                  <a:srgbClr val="14283F"/>
                </a:solidFill>
                <a:latin typeface="Helvetica Neue"/>
                <a:ea typeface="Helvetica Neue"/>
                <a:cs typeface="Helvetica Neue"/>
              </a:defRPr>
            </a:lvl5pPr>
            <a:lvl6pPr>
              <a:defRPr sz="1725" b="0">
                <a:solidFill>
                  <a:srgbClr val="14283F"/>
                </a:solidFill>
                <a:latin typeface="Helvetica Neue"/>
                <a:ea typeface="Helvetica Neue"/>
                <a:cs typeface="Helvetica Neue"/>
              </a:defRPr>
            </a:lvl6pPr>
            <a:lvl7pPr>
              <a:defRPr sz="1725" b="0">
                <a:solidFill>
                  <a:srgbClr val="14283F"/>
                </a:solidFill>
                <a:latin typeface="Helvetica Neue"/>
                <a:ea typeface="Helvetica Neue"/>
                <a:cs typeface="Helvetica Neue"/>
              </a:defRPr>
            </a:lvl7pPr>
            <a:lvl8pPr>
              <a:defRPr sz="1725" b="0">
                <a:solidFill>
                  <a:srgbClr val="14283F"/>
                </a:solidFill>
                <a:latin typeface="Helvetica Neue"/>
                <a:ea typeface="Helvetica Neue"/>
                <a:cs typeface="Helvetica Neue"/>
              </a:defRPr>
            </a:lvl8pPr>
            <a:lvl9pPr>
              <a:defRPr sz="1725" b="0">
                <a:solidFill>
                  <a:srgbClr val="14283F"/>
                </a:solidFill>
                <a:latin typeface="Helvetica Neue"/>
                <a:ea typeface="Helvetica Neue"/>
                <a:cs typeface="Helvetica Neue"/>
              </a:defRPr>
            </a:lvl9pPr>
          </a:lstStyle>
          <a:p>
            <a:pPr>
              <a:defRPr sz="1725" b="0">
                <a:solidFill>
                  <a:srgbClr val="14283F"/>
                </a:solidFill>
                <a:latin typeface="Helvetica Neue"/>
                <a:ea typeface="Helvetica Neue"/>
                <a:cs typeface="Helvetica Neue"/>
              </a:defRPr>
            </a:pPr>
            <a:r>
              <a:rPr sz="1725" b="0">
                <a:solidFill>
                  <a:srgbClr val="14283F"/>
                </a:solidFill>
                <a:latin typeface="Helvetica Neue"/>
                <a:ea typeface="Helvetica Neue"/>
                <a:cs typeface="Helvetica Neue"/>
              </a:rPr>
              <a:t>S. Mannor, R. Rubinstein, and Y. Gat, “The cross entropy method for fast policy search,” in Proc. 20th Int. Conf. Machine Learning, 2003.</a:t>
            </a:r>
          </a:p>
        </p:txBody>
      </p:sp>
      <p:sp>
        <p:nvSpPr>
          <p:cNvPr id="11" name="Rectangle 10">
            <a:extLst>
              <a:ext uri="{FF2B5EF4-FFF2-40B4-BE49-F238E27FC236}">
                <a16:creationId xmlns:a16="http://schemas.microsoft.com/office/drawing/2014/main" id="{B6766196-347D-435F-B933-0428C1C15878}"/>
              </a:ext>
            </a:extLst>
          </p:cNvPr>
          <p:cNvSpPr>
            <a:spLocks noGrp="1"/>
          </p:cNvSpPr>
          <p:nvPr/>
        </p:nvSpPr>
        <p:spPr>
          <a:xfrm>
            <a:off x="609600" y="3790950"/>
            <a:ext cx="476250" cy="771525"/>
          </a:xfrm>
          <a:prstGeom prst="rect">
            <a:avLst/>
          </a:prstGeom>
          <a:noFill/>
          <a:ln w="0">
            <a:noFill/>
          </a:ln>
        </p:spPr>
        <p:txBody>
          <a:bodyPr lIns="0" tIns="0" rIns="0" bIns="0" anchor="ctr">
            <a:noAutofit/>
          </a:bodyPr>
          <a:lstStyle>
            <a:defPPr>
              <a:defRPr sz="1725" b="0">
                <a:solidFill>
                  <a:srgbClr val="14283F"/>
                </a:solidFill>
                <a:latin typeface="Helvetica Neue"/>
                <a:ea typeface="Helvetica Neue"/>
                <a:cs typeface="Helvetica Neue"/>
              </a:defRPr>
            </a:defPPr>
            <a:lvl1pPr>
              <a:defRPr sz="1725" b="0">
                <a:solidFill>
                  <a:srgbClr val="14283F"/>
                </a:solidFill>
                <a:latin typeface="Helvetica Neue"/>
                <a:ea typeface="Helvetica Neue"/>
                <a:cs typeface="Helvetica Neue"/>
              </a:defRPr>
            </a:lvl1pPr>
            <a:lvl2pPr>
              <a:defRPr sz="1725" b="0">
                <a:solidFill>
                  <a:srgbClr val="14283F"/>
                </a:solidFill>
                <a:latin typeface="Helvetica Neue"/>
                <a:ea typeface="Helvetica Neue"/>
                <a:cs typeface="Helvetica Neue"/>
              </a:defRPr>
            </a:lvl2pPr>
            <a:lvl3pPr>
              <a:defRPr sz="1725" b="0">
                <a:solidFill>
                  <a:srgbClr val="14283F"/>
                </a:solidFill>
                <a:latin typeface="Helvetica Neue"/>
                <a:ea typeface="Helvetica Neue"/>
                <a:cs typeface="Helvetica Neue"/>
              </a:defRPr>
            </a:lvl3pPr>
            <a:lvl4pPr>
              <a:defRPr sz="1725" b="0">
                <a:solidFill>
                  <a:srgbClr val="14283F"/>
                </a:solidFill>
                <a:latin typeface="Helvetica Neue"/>
                <a:ea typeface="Helvetica Neue"/>
                <a:cs typeface="Helvetica Neue"/>
              </a:defRPr>
            </a:lvl4pPr>
            <a:lvl5pPr>
              <a:defRPr sz="1725" b="0">
                <a:solidFill>
                  <a:srgbClr val="14283F"/>
                </a:solidFill>
                <a:latin typeface="Helvetica Neue"/>
                <a:ea typeface="Helvetica Neue"/>
                <a:cs typeface="Helvetica Neue"/>
              </a:defRPr>
            </a:lvl5pPr>
            <a:lvl6pPr>
              <a:defRPr sz="1725" b="0">
                <a:solidFill>
                  <a:srgbClr val="14283F"/>
                </a:solidFill>
                <a:latin typeface="Helvetica Neue"/>
                <a:ea typeface="Helvetica Neue"/>
                <a:cs typeface="Helvetica Neue"/>
              </a:defRPr>
            </a:lvl6pPr>
            <a:lvl7pPr>
              <a:defRPr sz="1725" b="0">
                <a:solidFill>
                  <a:srgbClr val="14283F"/>
                </a:solidFill>
                <a:latin typeface="Helvetica Neue"/>
                <a:ea typeface="Helvetica Neue"/>
                <a:cs typeface="Helvetica Neue"/>
              </a:defRPr>
            </a:lvl7pPr>
            <a:lvl8pPr>
              <a:defRPr sz="1725" b="0">
                <a:solidFill>
                  <a:srgbClr val="14283F"/>
                </a:solidFill>
                <a:latin typeface="Helvetica Neue"/>
                <a:ea typeface="Helvetica Neue"/>
                <a:cs typeface="Helvetica Neue"/>
              </a:defRPr>
            </a:lvl8pPr>
            <a:lvl9pPr>
              <a:defRPr sz="1725" b="0">
                <a:solidFill>
                  <a:srgbClr val="14283F"/>
                </a:solidFill>
                <a:latin typeface="Helvetica Neue"/>
                <a:ea typeface="Helvetica Neue"/>
                <a:cs typeface="Helvetica Neue"/>
              </a:defRPr>
            </a:lvl9pPr>
          </a:lstStyle>
          <a:p>
            <a:pPr>
              <a:defRPr sz="1725" b="0">
                <a:solidFill>
                  <a:srgbClr val="14283F"/>
                </a:solidFill>
                <a:latin typeface="Helvetica Neue"/>
                <a:ea typeface="Helvetica Neue"/>
                <a:cs typeface="Helvetica Neue"/>
              </a:defRPr>
            </a:pPr>
            <a:r>
              <a:rPr sz="1725" b="0">
                <a:solidFill>
                  <a:srgbClr val="14283F"/>
                </a:solidFill>
                <a:latin typeface="Helvetica Neue"/>
                <a:ea typeface="Helvetica Neue"/>
                <a:cs typeface="Helvetica Neue"/>
              </a:rPr>
              <a:t>[4]</a:t>
            </a:r>
          </a:p>
        </p:txBody>
      </p:sp>
      <p:sp>
        <p:nvSpPr>
          <p:cNvPr id="12" name="Rectangle 11">
            <a:extLst>
              <a:ext uri="{FF2B5EF4-FFF2-40B4-BE49-F238E27FC236}">
                <a16:creationId xmlns:a16="http://schemas.microsoft.com/office/drawing/2014/main" id="{8E813465-94F7-40FA-A2DB-76D87A2B18E8}"/>
              </a:ext>
            </a:extLst>
          </p:cNvPr>
          <p:cNvSpPr>
            <a:spLocks noGrp="1"/>
          </p:cNvSpPr>
          <p:nvPr/>
        </p:nvSpPr>
        <p:spPr>
          <a:xfrm>
            <a:off x="1104900" y="3790950"/>
            <a:ext cx="10401300" cy="771525"/>
          </a:xfrm>
          <a:prstGeom prst="rect">
            <a:avLst/>
          </a:prstGeom>
          <a:noFill/>
          <a:ln w="0">
            <a:noFill/>
          </a:ln>
        </p:spPr>
        <p:txBody>
          <a:bodyPr lIns="0" tIns="0" rIns="0" bIns="0" anchor="ctr">
            <a:noAutofit/>
          </a:bodyPr>
          <a:lstStyle>
            <a:defPPr>
              <a:defRPr sz="1725" b="0">
                <a:solidFill>
                  <a:srgbClr val="14283F"/>
                </a:solidFill>
                <a:latin typeface="Helvetica Neue"/>
                <a:ea typeface="Helvetica Neue"/>
                <a:cs typeface="Helvetica Neue"/>
              </a:defRPr>
            </a:defPPr>
            <a:lvl1pPr>
              <a:defRPr sz="1725" b="0">
                <a:solidFill>
                  <a:srgbClr val="14283F"/>
                </a:solidFill>
                <a:latin typeface="Helvetica Neue"/>
                <a:ea typeface="Helvetica Neue"/>
                <a:cs typeface="Helvetica Neue"/>
              </a:defRPr>
            </a:lvl1pPr>
            <a:lvl2pPr>
              <a:defRPr sz="1725" b="0">
                <a:solidFill>
                  <a:srgbClr val="14283F"/>
                </a:solidFill>
                <a:latin typeface="Helvetica Neue"/>
                <a:ea typeface="Helvetica Neue"/>
                <a:cs typeface="Helvetica Neue"/>
              </a:defRPr>
            </a:lvl2pPr>
            <a:lvl3pPr>
              <a:defRPr sz="1725" b="0">
                <a:solidFill>
                  <a:srgbClr val="14283F"/>
                </a:solidFill>
                <a:latin typeface="Helvetica Neue"/>
                <a:ea typeface="Helvetica Neue"/>
                <a:cs typeface="Helvetica Neue"/>
              </a:defRPr>
            </a:lvl3pPr>
            <a:lvl4pPr>
              <a:defRPr sz="1725" b="0">
                <a:solidFill>
                  <a:srgbClr val="14283F"/>
                </a:solidFill>
                <a:latin typeface="Helvetica Neue"/>
                <a:ea typeface="Helvetica Neue"/>
                <a:cs typeface="Helvetica Neue"/>
              </a:defRPr>
            </a:lvl4pPr>
            <a:lvl5pPr>
              <a:defRPr sz="1725" b="0">
                <a:solidFill>
                  <a:srgbClr val="14283F"/>
                </a:solidFill>
                <a:latin typeface="Helvetica Neue"/>
                <a:ea typeface="Helvetica Neue"/>
                <a:cs typeface="Helvetica Neue"/>
              </a:defRPr>
            </a:lvl5pPr>
            <a:lvl6pPr>
              <a:defRPr sz="1725" b="0">
                <a:solidFill>
                  <a:srgbClr val="14283F"/>
                </a:solidFill>
                <a:latin typeface="Helvetica Neue"/>
                <a:ea typeface="Helvetica Neue"/>
                <a:cs typeface="Helvetica Neue"/>
              </a:defRPr>
            </a:lvl6pPr>
            <a:lvl7pPr>
              <a:defRPr sz="1725" b="0">
                <a:solidFill>
                  <a:srgbClr val="14283F"/>
                </a:solidFill>
                <a:latin typeface="Helvetica Neue"/>
                <a:ea typeface="Helvetica Neue"/>
                <a:cs typeface="Helvetica Neue"/>
              </a:defRPr>
            </a:lvl7pPr>
            <a:lvl8pPr>
              <a:defRPr sz="1725" b="0">
                <a:solidFill>
                  <a:srgbClr val="14283F"/>
                </a:solidFill>
                <a:latin typeface="Helvetica Neue"/>
                <a:ea typeface="Helvetica Neue"/>
                <a:cs typeface="Helvetica Neue"/>
              </a:defRPr>
            </a:lvl8pPr>
            <a:lvl9pPr>
              <a:defRPr sz="1725" b="0">
                <a:solidFill>
                  <a:srgbClr val="14283F"/>
                </a:solidFill>
                <a:latin typeface="Helvetica Neue"/>
                <a:ea typeface="Helvetica Neue"/>
                <a:cs typeface="Helvetica Neue"/>
              </a:defRPr>
            </a:lvl9pPr>
          </a:lstStyle>
          <a:p>
            <a:pPr>
              <a:defRPr sz="1725" b="0">
                <a:solidFill>
                  <a:srgbClr val="14283F"/>
                </a:solidFill>
                <a:latin typeface="Helvetica Neue"/>
                <a:ea typeface="Helvetica Neue"/>
                <a:cs typeface="Helvetica Neue"/>
              </a:defRPr>
            </a:pPr>
            <a:r>
              <a:rPr sz="1725" b="0">
                <a:solidFill>
                  <a:srgbClr val="14283F"/>
                </a:solidFill>
                <a:latin typeface="Helvetica Neue"/>
                <a:ea typeface="Helvetica Neue"/>
                <a:cs typeface="Helvetica Neue"/>
              </a:rPr>
              <a:t>MuJoCo, “Computation,” MuJoCo Documentation. Accessed: Oct. 21, 2026. [Online]. Available: https://mujoco.readthedocs.io/en/stable/computation/</a:t>
            </a:r>
          </a:p>
        </p:txBody>
      </p:sp>
      <p:sp>
        <p:nvSpPr>
          <p:cNvPr id="13" name="Rectangle 12">
            <a:extLst>
              <a:ext uri="{FF2B5EF4-FFF2-40B4-BE49-F238E27FC236}">
                <a16:creationId xmlns:a16="http://schemas.microsoft.com/office/drawing/2014/main" id="{9C257EA1-1AB9-481B-B352-E6F6603E9FE2}"/>
              </a:ext>
            </a:extLst>
          </p:cNvPr>
          <p:cNvSpPr>
            <a:spLocks noGrp="1"/>
          </p:cNvSpPr>
          <p:nvPr/>
        </p:nvSpPr>
        <p:spPr>
          <a:xfrm>
            <a:off x="609600" y="4638675"/>
            <a:ext cx="476250" cy="771525"/>
          </a:xfrm>
          <a:prstGeom prst="rect">
            <a:avLst/>
          </a:prstGeom>
          <a:noFill/>
          <a:ln w="0">
            <a:noFill/>
          </a:ln>
        </p:spPr>
        <p:txBody>
          <a:bodyPr lIns="0" tIns="0" rIns="0" bIns="0" anchor="ctr">
            <a:noAutofit/>
          </a:bodyPr>
          <a:lstStyle>
            <a:defPPr>
              <a:defRPr sz="1725" b="0">
                <a:solidFill>
                  <a:srgbClr val="14283F"/>
                </a:solidFill>
                <a:latin typeface="Helvetica Neue"/>
                <a:ea typeface="Helvetica Neue"/>
                <a:cs typeface="Helvetica Neue"/>
              </a:defRPr>
            </a:defPPr>
            <a:lvl1pPr>
              <a:defRPr sz="1725" b="0">
                <a:solidFill>
                  <a:srgbClr val="14283F"/>
                </a:solidFill>
                <a:latin typeface="Helvetica Neue"/>
                <a:ea typeface="Helvetica Neue"/>
                <a:cs typeface="Helvetica Neue"/>
              </a:defRPr>
            </a:lvl1pPr>
            <a:lvl2pPr>
              <a:defRPr sz="1725" b="0">
                <a:solidFill>
                  <a:srgbClr val="14283F"/>
                </a:solidFill>
                <a:latin typeface="Helvetica Neue"/>
                <a:ea typeface="Helvetica Neue"/>
                <a:cs typeface="Helvetica Neue"/>
              </a:defRPr>
            </a:lvl2pPr>
            <a:lvl3pPr>
              <a:defRPr sz="1725" b="0">
                <a:solidFill>
                  <a:srgbClr val="14283F"/>
                </a:solidFill>
                <a:latin typeface="Helvetica Neue"/>
                <a:ea typeface="Helvetica Neue"/>
                <a:cs typeface="Helvetica Neue"/>
              </a:defRPr>
            </a:lvl3pPr>
            <a:lvl4pPr>
              <a:defRPr sz="1725" b="0">
                <a:solidFill>
                  <a:srgbClr val="14283F"/>
                </a:solidFill>
                <a:latin typeface="Helvetica Neue"/>
                <a:ea typeface="Helvetica Neue"/>
                <a:cs typeface="Helvetica Neue"/>
              </a:defRPr>
            </a:lvl4pPr>
            <a:lvl5pPr>
              <a:defRPr sz="1725" b="0">
                <a:solidFill>
                  <a:srgbClr val="14283F"/>
                </a:solidFill>
                <a:latin typeface="Helvetica Neue"/>
                <a:ea typeface="Helvetica Neue"/>
                <a:cs typeface="Helvetica Neue"/>
              </a:defRPr>
            </a:lvl5pPr>
            <a:lvl6pPr>
              <a:defRPr sz="1725" b="0">
                <a:solidFill>
                  <a:srgbClr val="14283F"/>
                </a:solidFill>
                <a:latin typeface="Helvetica Neue"/>
                <a:ea typeface="Helvetica Neue"/>
                <a:cs typeface="Helvetica Neue"/>
              </a:defRPr>
            </a:lvl6pPr>
            <a:lvl7pPr>
              <a:defRPr sz="1725" b="0">
                <a:solidFill>
                  <a:srgbClr val="14283F"/>
                </a:solidFill>
                <a:latin typeface="Helvetica Neue"/>
                <a:ea typeface="Helvetica Neue"/>
                <a:cs typeface="Helvetica Neue"/>
              </a:defRPr>
            </a:lvl7pPr>
            <a:lvl8pPr>
              <a:defRPr sz="1725" b="0">
                <a:solidFill>
                  <a:srgbClr val="14283F"/>
                </a:solidFill>
                <a:latin typeface="Helvetica Neue"/>
                <a:ea typeface="Helvetica Neue"/>
                <a:cs typeface="Helvetica Neue"/>
              </a:defRPr>
            </a:lvl8pPr>
            <a:lvl9pPr>
              <a:defRPr sz="1725" b="0">
                <a:solidFill>
                  <a:srgbClr val="14283F"/>
                </a:solidFill>
                <a:latin typeface="Helvetica Neue"/>
                <a:ea typeface="Helvetica Neue"/>
                <a:cs typeface="Helvetica Neue"/>
              </a:defRPr>
            </a:lvl9pPr>
          </a:lstStyle>
          <a:p>
            <a:pPr>
              <a:defRPr sz="1725" b="0">
                <a:solidFill>
                  <a:srgbClr val="14283F"/>
                </a:solidFill>
                <a:latin typeface="Helvetica Neue"/>
                <a:ea typeface="Helvetica Neue"/>
                <a:cs typeface="Helvetica Neue"/>
              </a:defRPr>
            </a:pPr>
            <a:r>
              <a:rPr sz="1725" b="0">
                <a:solidFill>
                  <a:srgbClr val="14283F"/>
                </a:solidFill>
                <a:latin typeface="Helvetica Neue"/>
                <a:ea typeface="Helvetica Neue"/>
                <a:cs typeface="Helvetica Neue"/>
              </a:rPr>
              <a:t>[5]</a:t>
            </a:r>
          </a:p>
        </p:txBody>
      </p:sp>
      <p:sp>
        <p:nvSpPr>
          <p:cNvPr id="14" name="Rectangle 13">
            <a:extLst>
              <a:ext uri="{FF2B5EF4-FFF2-40B4-BE49-F238E27FC236}">
                <a16:creationId xmlns:a16="http://schemas.microsoft.com/office/drawing/2014/main" id="{CC696B82-4785-48E8-B7DC-CD6F2300F116}"/>
              </a:ext>
            </a:extLst>
          </p:cNvPr>
          <p:cNvSpPr>
            <a:spLocks noGrp="1"/>
          </p:cNvSpPr>
          <p:nvPr/>
        </p:nvSpPr>
        <p:spPr>
          <a:xfrm>
            <a:off x="1104900" y="4638675"/>
            <a:ext cx="10401300" cy="771525"/>
          </a:xfrm>
          <a:prstGeom prst="rect">
            <a:avLst/>
          </a:prstGeom>
          <a:noFill/>
          <a:ln w="0">
            <a:noFill/>
          </a:ln>
        </p:spPr>
        <p:txBody>
          <a:bodyPr lIns="0" tIns="0" rIns="0" bIns="0" anchor="ctr">
            <a:noAutofit/>
          </a:bodyPr>
          <a:lstStyle>
            <a:defPPr>
              <a:defRPr sz="1725" b="0">
                <a:solidFill>
                  <a:srgbClr val="14283F"/>
                </a:solidFill>
                <a:latin typeface="Helvetica Neue"/>
                <a:ea typeface="Helvetica Neue"/>
                <a:cs typeface="Helvetica Neue"/>
              </a:defRPr>
            </a:defPPr>
            <a:lvl1pPr>
              <a:defRPr sz="1725" b="0">
                <a:solidFill>
                  <a:srgbClr val="14283F"/>
                </a:solidFill>
                <a:latin typeface="Helvetica Neue"/>
                <a:ea typeface="Helvetica Neue"/>
                <a:cs typeface="Helvetica Neue"/>
              </a:defRPr>
            </a:lvl1pPr>
            <a:lvl2pPr>
              <a:defRPr sz="1725" b="0">
                <a:solidFill>
                  <a:srgbClr val="14283F"/>
                </a:solidFill>
                <a:latin typeface="Helvetica Neue"/>
                <a:ea typeface="Helvetica Neue"/>
                <a:cs typeface="Helvetica Neue"/>
              </a:defRPr>
            </a:lvl2pPr>
            <a:lvl3pPr>
              <a:defRPr sz="1725" b="0">
                <a:solidFill>
                  <a:srgbClr val="14283F"/>
                </a:solidFill>
                <a:latin typeface="Helvetica Neue"/>
                <a:ea typeface="Helvetica Neue"/>
                <a:cs typeface="Helvetica Neue"/>
              </a:defRPr>
            </a:lvl3pPr>
            <a:lvl4pPr>
              <a:defRPr sz="1725" b="0">
                <a:solidFill>
                  <a:srgbClr val="14283F"/>
                </a:solidFill>
                <a:latin typeface="Helvetica Neue"/>
                <a:ea typeface="Helvetica Neue"/>
                <a:cs typeface="Helvetica Neue"/>
              </a:defRPr>
            </a:lvl4pPr>
            <a:lvl5pPr>
              <a:defRPr sz="1725" b="0">
                <a:solidFill>
                  <a:srgbClr val="14283F"/>
                </a:solidFill>
                <a:latin typeface="Helvetica Neue"/>
                <a:ea typeface="Helvetica Neue"/>
                <a:cs typeface="Helvetica Neue"/>
              </a:defRPr>
            </a:lvl5pPr>
            <a:lvl6pPr>
              <a:defRPr sz="1725" b="0">
                <a:solidFill>
                  <a:srgbClr val="14283F"/>
                </a:solidFill>
                <a:latin typeface="Helvetica Neue"/>
                <a:ea typeface="Helvetica Neue"/>
                <a:cs typeface="Helvetica Neue"/>
              </a:defRPr>
            </a:lvl6pPr>
            <a:lvl7pPr>
              <a:defRPr sz="1725" b="0">
                <a:solidFill>
                  <a:srgbClr val="14283F"/>
                </a:solidFill>
                <a:latin typeface="Helvetica Neue"/>
                <a:ea typeface="Helvetica Neue"/>
                <a:cs typeface="Helvetica Neue"/>
              </a:defRPr>
            </a:lvl7pPr>
            <a:lvl8pPr>
              <a:defRPr sz="1725" b="0">
                <a:solidFill>
                  <a:srgbClr val="14283F"/>
                </a:solidFill>
                <a:latin typeface="Helvetica Neue"/>
                <a:ea typeface="Helvetica Neue"/>
                <a:cs typeface="Helvetica Neue"/>
              </a:defRPr>
            </a:lvl8pPr>
            <a:lvl9pPr>
              <a:defRPr sz="1725" b="0">
                <a:solidFill>
                  <a:srgbClr val="14283F"/>
                </a:solidFill>
                <a:latin typeface="Helvetica Neue"/>
                <a:ea typeface="Helvetica Neue"/>
                <a:cs typeface="Helvetica Neue"/>
              </a:defRPr>
            </a:lvl9pPr>
          </a:lstStyle>
          <a:p>
            <a:pPr>
              <a:defRPr sz="1725" b="0">
                <a:solidFill>
                  <a:srgbClr val="14283F"/>
                </a:solidFill>
                <a:latin typeface="Helvetica Neue"/>
                <a:ea typeface="Helvetica Neue"/>
                <a:cs typeface="Helvetica Neue"/>
              </a:defRPr>
            </a:pPr>
            <a:r>
              <a:rPr sz="1725" b="0">
                <a:solidFill>
                  <a:srgbClr val="14283F"/>
                </a:solidFill>
                <a:latin typeface="Helvetica Neue"/>
                <a:ea typeface="Helvetica Neue"/>
                <a:cs typeface="Helvetica Neue"/>
              </a:rPr>
              <a:t>Stable-Baselines3, “SAC,” Documentation. Accessed: Oct. 21, 2026. [Online]. Available: https://stable-baselines3.readthedocs.io/en/master/modules/sac.html</a:t>
            </a:r>
          </a:p>
        </p:txBody>
      </p:sp>
    </p:spTree>
    <p:extLst>
      <p:ext uri="{BB962C8B-B14F-4D97-AF65-F5344CB8AC3E}">
        <p14:creationId xmlns:p14="http://schemas.microsoft.com/office/powerpoint/2010/main" val="1983047170"/>
      </p:ext>
    </p:extLst>
  </p:cSld>
  <p:clrMapOvr>
    <a:masterClrMapping/>
  </p:clrMapOvr>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2296</Words>
  <Application>Microsoft Macintosh PowerPoint</Application>
  <DocSecurity>0</DocSecurity>
  <PresentationFormat>Widescreen</PresentationFormat>
  <Paragraphs>143</Paragraphs>
  <Slides>12</Slides>
  <Notes>12</Notes>
  <HiddenSlides>0</HiddenSlides>
  <MMClips>2</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Aptos</vt:lpstr>
      <vt:lpstr>Helvetica Neue</vt:lpstr>
      <vt:lpstr>ChatGPT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Cesar Pascal</cp:lastModifiedBy>
  <cp:revision>1</cp:revision>
  <dcterms:created xsi:type="dcterms:W3CDTF">2026-10-21T21:56:03Z</dcterms:created>
  <dcterms:modified xsi:type="dcterms:W3CDTF">2026-10-21T22:15:00Z</dcterms:modified>
</cp:coreProperties>
</file>