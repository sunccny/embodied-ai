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60604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3F1EA"/>
                </a:solidFill>
                <a:latin typeface="Georgia"/>
              </a:rPr>
              <a:t>Embodied AI — Week 21</a:t>
            </a:r>
          </a:p>
          <a:p>
            <a:pPr>
              <a:spcBef>
                <a:spcPts val="1600"/>
              </a:spcBef>
            </a:pPr>
            <a:r>
              <a:rPr sz="1800">
                <a:solidFill>
                  <a:srgbClr val="3FBBA8"/>
                </a:solidFill>
              </a:rPr>
              <a:t>A new focus, a paper, and a workshop series — Shaoqin Li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E2320"/>
                </a:solidFill>
                <a:latin typeface="Georgia"/>
              </a:rPr>
              <a:t>Today's Story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6B6F68"/>
                </a:solidFill>
              </a:rPr>
              <a:t>From a compute ceiling, to a new direction, to a workshop series for Prof. Sun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1">
                <a:solidFill>
                  <a:srgbClr val="1E2320"/>
                </a:solidFill>
              </a:rPr>
              <a:t>›  What my laptop can actually do — and the evidence behind the compute-ceiling verdict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1E2320"/>
                </a:solidFill>
              </a:rPr>
              <a:t>›  New focus: video → robot retargeting — and how it's a different pipeline stage from Mario's work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1E2320"/>
                </a:solidFill>
              </a:rPr>
              <a:t>›  One paper on this topic, read the way I now read all of them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1E2320"/>
                </a:solidFill>
              </a:rPr>
              <a:t>›  The CUNY AI workshop: a 6-experiment series, checked against Prof. Sun's actual brief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6B6F68"/>
                </a:solidFill>
              </a:rPr>
              <a:t>Embodied AI — Week 21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E2320"/>
                </a:solidFill>
                <a:latin typeface="Georgia"/>
              </a:rPr>
              <a:t>What My Laptop Can Actually Do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6B6F68"/>
                </a:solidFill>
              </a:rPr>
              <a:t>GTX 1650 · 4GB VRAM · 4 cores · WSL2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50" b="1">
                <a:solidFill>
                  <a:srgbClr val="1E2320"/>
                </a:solidFill>
              </a:rPr>
              <a:t>›  Diagnosis &amp; evaluation: YES — the sim2sim root-cause work, the lockstep harness fix (2.42s → 5.76s), and 5 controlled training experiments all ran here</a:t>
            </a:r>
          </a:p>
          <a:p>
            <a:pPr>
              <a:spcAft>
                <a:spcPts val="1000"/>
              </a:spcAft>
            </a:pPr>
            <a:r>
              <a:rPr sz="1750" b="1">
                <a:solidFill>
                  <a:srgbClr val="1E2320"/>
                </a:solidFill>
              </a:rPr>
              <a:t>›  Robust training at scale: NO — 5 separate experiments (reward redesign, jitter DR, deploy-exact model, and more) all showed gains on the training curve but zero real-harness transfer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6B6F68"/>
                </a:solidFill>
              </a:rPr>
              <a:t>      –  Every one landed in the same 1.7–2.8s survival cluster on the real DDS harness, regardless of which lever was pulled</a:t>
            </a:r>
          </a:p>
          <a:p>
            <a:pPr>
              <a:spcAft>
                <a:spcPts val="1000"/>
              </a:spcAft>
            </a:pPr>
            <a:r>
              <a:rPr sz="1750" b="1">
                <a:solidFill>
                  <a:srgbClr val="1E2320"/>
                </a:solidFill>
              </a:rPr>
              <a:t>›  Mechanism: single-environment PPO can't average out the variance of domain-randomized returns — a compute ceiling, not a training-time problem</a:t>
            </a:r>
          </a:p>
          <a:p>
            <a:pPr>
              <a:spcAft>
                <a:spcPts val="1000"/>
              </a:spcAft>
            </a:pPr>
            <a:r>
              <a:rPr sz="1750" b="1">
                <a:solidFill>
                  <a:srgbClr val="1E2320"/>
                </a:solidFill>
              </a:rPr>
              <a:t>›  This week's own probe (4 envs vs. 1) supports the same conclusion — see the workshop's "does compute matter" experiment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5257800"/>
            <a:ext cx="11064240" cy="1005840"/>
          </a:xfrm>
          <a:prstGeom prst="roundRect">
            <a:avLst>
              <a:gd name="adj" fmla="val 3000"/>
            </a:avLst>
          </a:prstGeom>
          <a:solidFill>
            <a:srgbClr val="E9F2EF"/>
          </a:solidFill>
          <a:ln w="9525">
            <a:solidFill>
              <a:srgbClr val="0F7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5257800"/>
            <a:ext cx="54864" cy="1005840"/>
          </a:xfrm>
          <a:prstGeom prst="rect">
            <a:avLst/>
          </a:prstGeom>
          <a:solidFill>
            <a:srgbClr val="0F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39496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F7A6B"/>
                </a:solidFill>
              </a:rPr>
              <a:t>Verdict carried to Prof. Sun: training work is PAUSED, not abandoned, pending workstation access. Foreground shifted to laptop-viable work — the rest of this deck.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6B6F68"/>
                </a:solidFill>
              </a:rPr>
              <a:t>Embodied AI — Week 21  |  Laptop Capability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E2320"/>
                </a:solidFill>
                <a:latin typeface="Georgia"/>
              </a:rPr>
              <a:t>What's Open On This Hardware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6B6F68"/>
                </a:solidFill>
              </a:rPr>
              <a:t>8 active 2026 G1/R1 research directions — sorted by whether they need training-scale compute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54480"/>
          <a:ext cx="1106424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89520"/>
                <a:gridCol w="3474720"/>
              </a:tblGrid>
              <a:tr h="497840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Direction</a:t>
                      </a:r>
                    </a:p>
                  </a:txBody>
                  <a:tcPr marT="50800" marB="50800">
                    <a:solidFill>
                      <a:srgbClr val="0F7A6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T="50800" marB="50800">
                    <a:solidFill>
                      <a:srgbClr val="0F7A6B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400">
                          <a:solidFill>
                            <a:srgbClr val="1E2320"/>
                          </a:solidFill>
                          <a:latin typeface="Calibri"/>
                        </a:rPr>
                        <a:t>1. Massively-parallel RL locomotion</a:t>
                      </a:r>
                    </a:p>
                  </a:txBody>
                  <a:tcPr marT="50800" marB="50800"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400">
                          <a:solidFill>
                            <a:srgbClr val="1E2320"/>
                          </a:solidFill>
                          <a:latin typeface="Calibri"/>
                        </a:rPr>
                        <a:t>Blocked — needs parallel envs</a:t>
                      </a:r>
                    </a:p>
                  </a:txBody>
                  <a:tcPr marT="50800" marB="50800">
                    <a:solidFill>
                      <a:srgbClr val="FBFAF7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400">
                          <a:solidFill>
                            <a:srgbClr val="1E2320"/>
                          </a:solidFill>
                          <a:latin typeface="Calibri"/>
                        </a:rPr>
                        <a:t>2. Multi-gait unified controllers</a:t>
                      </a:r>
                    </a:p>
                  </a:txBody>
                  <a:tcPr marT="50800" marB="50800">
                    <a:solidFill>
                      <a:srgbClr val="F1F0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400">
                          <a:solidFill>
                            <a:srgbClr val="1E2320"/>
                          </a:solidFill>
                          <a:latin typeface="Calibri"/>
                        </a:rPr>
                        <a:t>Blocked — needs parallel envs</a:t>
                      </a:r>
                    </a:p>
                  </a:txBody>
                  <a:tcPr marT="50800" marB="50800">
                    <a:solidFill>
                      <a:srgbClr val="F1F0EA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400">
                          <a:solidFill>
                            <a:srgbClr val="1E2320"/>
                          </a:solidFill>
                          <a:latin typeface="Calibri"/>
                        </a:rPr>
                        <a:t>3. Motion tracking / imitation  →  my slice: kinematics-only retargeting</a:t>
                      </a:r>
                    </a:p>
                  </a:txBody>
                  <a:tcPr marT="50800" marB="50800"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400">
                          <a:solidFill>
                            <a:srgbClr val="1E2320"/>
                          </a:solidFill>
                          <a:latin typeface="Calibri"/>
                        </a:rPr>
                        <a:t>OPEN — chosen</a:t>
                      </a:r>
                    </a:p>
                  </a:txBody>
                  <a:tcPr marT="50800" marB="50800">
                    <a:solidFill>
                      <a:srgbClr val="FBFAF7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400">
                          <a:solidFill>
                            <a:srgbClr val="1E2320"/>
                          </a:solidFill>
                          <a:latin typeface="Calibri"/>
                        </a:rPr>
                        <a:t>4. Agile skills (fall recovery, parkour)</a:t>
                      </a:r>
                    </a:p>
                  </a:txBody>
                  <a:tcPr marT="50800" marB="50800">
                    <a:solidFill>
                      <a:srgbClr val="F1F0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400">
                          <a:solidFill>
                            <a:srgbClr val="1E2320"/>
                          </a:solidFill>
                          <a:latin typeface="Calibri"/>
                        </a:rPr>
                        <a:t>Blocked — needs heavier DR</a:t>
                      </a:r>
                    </a:p>
                  </a:txBody>
                  <a:tcPr marT="50800" marB="50800">
                    <a:solidFill>
                      <a:srgbClr val="F1F0EA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400">
                          <a:solidFill>
                            <a:srgbClr val="1E2320"/>
                          </a:solidFill>
                          <a:latin typeface="Calibri"/>
                        </a:rPr>
                        <a:t>5. Sim2real methodology (writeup)</a:t>
                      </a:r>
                    </a:p>
                  </a:txBody>
                  <a:tcPr marT="50800" marB="50800"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400">
                          <a:solidFill>
                            <a:srgbClr val="1E2320"/>
                          </a:solidFill>
                          <a:latin typeface="Calibri"/>
                        </a:rPr>
                        <a:t>OPEN — chosen</a:t>
                      </a:r>
                    </a:p>
                  </a:txBody>
                  <a:tcPr marT="50800" marB="50800">
                    <a:solidFill>
                      <a:srgbClr val="FBFAF7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400">
                          <a:solidFill>
                            <a:srgbClr val="1E2320"/>
                          </a:solidFill>
                          <a:latin typeface="Calibri"/>
                        </a:rPr>
                        <a:t>6. Whole-body loco-manipulation  (Cesar: R1 door-opening)</a:t>
                      </a:r>
                    </a:p>
                  </a:txBody>
                  <a:tcPr marT="50800" marB="50800">
                    <a:solidFill>
                      <a:srgbClr val="F1F0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400">
                          <a:solidFill>
                            <a:srgbClr val="1E2320"/>
                          </a:solidFill>
                          <a:latin typeface="Calibri"/>
                        </a:rPr>
                        <a:t>Blocked — hardware + compute</a:t>
                      </a:r>
                    </a:p>
                  </a:txBody>
                  <a:tcPr marT="50800" marB="50800">
                    <a:solidFill>
                      <a:srgbClr val="F1F0EA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400">
                          <a:solidFill>
                            <a:srgbClr val="1E2320"/>
                          </a:solidFill>
                          <a:latin typeface="Calibri"/>
                        </a:rPr>
                        <a:t>7. Teleop as a data engine</a:t>
                      </a:r>
                    </a:p>
                  </a:txBody>
                  <a:tcPr marT="50800" marB="50800"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400">
                          <a:solidFill>
                            <a:srgbClr val="1E2320"/>
                          </a:solidFill>
                          <a:latin typeface="Calibri"/>
                        </a:rPr>
                        <a:t>Blocked — needs teleop rig</a:t>
                      </a:r>
                    </a:p>
                  </a:txBody>
                  <a:tcPr marT="50800" marB="50800">
                    <a:solidFill>
                      <a:srgbClr val="FBFAF7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400">
                          <a:solidFill>
                            <a:srgbClr val="1E2320"/>
                          </a:solidFill>
                          <a:latin typeface="Calibri"/>
                        </a:rPr>
                        <a:t>8. Humanoid VLA</a:t>
                      </a:r>
                    </a:p>
                  </a:txBody>
                  <a:tcPr marT="50800" marB="50800">
                    <a:solidFill>
                      <a:srgbClr val="F1F0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400">
                          <a:solidFill>
                            <a:srgbClr val="1E2320"/>
                          </a:solidFill>
                          <a:latin typeface="Calibri"/>
                        </a:rPr>
                        <a:t>Blocked — needs large pretraining</a:t>
                      </a:r>
                    </a:p>
                  </a:txBody>
                  <a:tcPr marT="50800" marB="50800">
                    <a:solidFill>
                      <a:srgbClr val="F1F0E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6B6F68"/>
                </a:solidFill>
              </a:rPr>
              <a:t>Embodied AI — Week 21  |  Field Landscape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3317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3FBBA8"/>
                </a:solidFill>
                <a:latin typeface="Calibri"/>
              </a:rPr>
              <a:t>NEW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651760"/>
            <a:ext cx="11064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>
                <a:solidFill>
                  <a:srgbClr val="F3F1EA"/>
                </a:solidFill>
                <a:latin typeface="Georgia"/>
              </a:rPr>
              <a:t>Video → Robot Retargeting</a:t>
            </a:r>
          </a:p>
          <a:p>
            <a:pPr>
              <a:spcBef>
                <a:spcPts val="1400"/>
              </a:spcBef>
            </a:pPr>
            <a:r>
              <a:rPr sz="1700">
                <a:solidFill>
                  <a:srgbClr val="B8C4BE"/>
                </a:solidFill>
              </a:rPr>
              <a:t>The upstream pipeline stage the compute ceiling doesn't block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E2320"/>
                </a:solidFill>
                <a:latin typeface="Georgia"/>
              </a:rPr>
              <a:t>Why Video Retargeting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1">
                <a:solidFill>
                  <a:srgbClr val="1E2320"/>
                </a:solidFill>
              </a:rPr>
              <a:t>›  The problem: turning ordinary video into motion a humanoid can execute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1E2320"/>
                </a:solidFill>
              </a:rPr>
              <a:t>›  No RL training loop involved — kinematics + heuristics only, so the single-env compute ceiling doesn't apply here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1E2320"/>
                </a:solidFill>
              </a:rPr>
              <a:t>›  Almost no published work targets Unitree R1 specifically — every retargeting paper I've found uses G1 or H1/H1-2. An open niche for this lab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1E2320"/>
                </a:solidFill>
              </a:rPr>
              <a:t>›  Feeds directly into imitation/RL pipelines — including Mario's — as a reusable upstream input, not a competing effort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6B6F68"/>
                </a:solidFill>
              </a:rPr>
              <a:t>Embodied AI — Week 21  |  Video Retargeting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E2320"/>
                </a:solidFill>
                <a:latin typeface="Georgia"/>
              </a:rPr>
              <a:t>Not Duplicating Mario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6B6F68"/>
                </a:solidFill>
              </a:rPr>
              <a:t>Two different pipeline stages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2423160" cy="1188720"/>
          </a:xfrm>
          <a:prstGeom prst="roundRect">
            <a:avLst>
              <a:gd name="adj" fmla="val 8000"/>
            </a:avLst>
          </a:prstGeom>
          <a:solidFill>
            <a:srgbClr val="6B6F6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VIDEO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017520" y="1874520"/>
            <a:ext cx="365760" cy="274320"/>
          </a:xfrm>
          <a:prstGeom prst="rightArrow">
            <a:avLst/>
          </a:prstGeom>
          <a:solidFill>
            <a:srgbClr val="6B6F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429000" y="1417320"/>
            <a:ext cx="2423160" cy="1188720"/>
          </a:xfrm>
          <a:prstGeom prst="roundRect">
            <a:avLst>
              <a:gd name="adj" fmla="val 8000"/>
            </a:avLst>
          </a:prstGeom>
          <a:solidFill>
            <a:srgbClr val="0F7A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RETARGETING
(me)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897880" y="1874520"/>
            <a:ext cx="365760" cy="274320"/>
          </a:xfrm>
          <a:prstGeom prst="rightArrow">
            <a:avLst/>
          </a:prstGeom>
          <a:solidFill>
            <a:srgbClr val="6B6F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09360" y="1417320"/>
            <a:ext cx="2423160" cy="1188720"/>
          </a:xfrm>
          <a:prstGeom prst="roundRect">
            <a:avLst>
              <a:gd name="adj" fmla="val 8000"/>
            </a:avLst>
          </a:prstGeom>
          <a:solidFill>
            <a:srgbClr val="B8862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RL + IL TRAINING
(Mario, Isaac Lab)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778240" y="1874520"/>
            <a:ext cx="365760" cy="274320"/>
          </a:xfrm>
          <a:prstGeom prst="rightArrow">
            <a:avLst/>
          </a:prstGeom>
          <a:solidFill>
            <a:srgbClr val="6B6F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89720" y="1417320"/>
            <a:ext cx="2423160" cy="1188720"/>
          </a:xfrm>
          <a:prstGeom prst="roundRect">
            <a:avLst>
              <a:gd name="adj" fmla="val 8000"/>
            </a:avLst>
          </a:prstGeom>
          <a:solidFill>
            <a:srgbClr val="6B6F6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DEPLOYED
POLICY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10896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50" b="1">
                <a:solidFill>
                  <a:srgbClr val="1E2320"/>
                </a:solidFill>
              </a:rPr>
              <a:t>›  R1-specific kinematic mapping — no published R1 retargeting exists yet   [CORE]</a:t>
            </a:r>
          </a:p>
          <a:p>
            <a:pPr>
              <a:spcAft>
                <a:spcPts val="1000"/>
              </a:spcAft>
            </a:pPr>
            <a:r>
              <a:rPr sz="1550" b="1">
                <a:solidFill>
                  <a:srgbClr val="1E2320"/>
                </a:solidFill>
              </a:rPr>
              <a:t>›  Non-learned physical-plausibility filtering — contact / joint-limit / self-collision checks, no RL   [CORE]</a:t>
            </a:r>
          </a:p>
          <a:p>
            <a:pPr>
              <a:spcAft>
                <a:spcPts val="1000"/>
              </a:spcAft>
            </a:pPr>
            <a:r>
              <a:rPr sz="1550" b="1">
                <a:solidFill>
                  <a:srgbClr val="1E2320"/>
                </a:solidFill>
              </a:rPr>
              <a:t>›  Reusable retargeted-motion library — a deliverable Mario's RL+IL could consume later</a:t>
            </a:r>
          </a:p>
          <a:p>
            <a:pPr>
              <a:spcAft>
                <a:spcPts val="1000"/>
              </a:spcAft>
            </a:pPr>
            <a:r>
              <a:rPr sz="1550" b="1">
                <a:solidFill>
                  <a:srgbClr val="1E2320"/>
                </a:solidFill>
              </a:rPr>
              <a:t>›  In-the-wild video robustness — occlusion, off-angle shots, multi-person scenes</a:t>
            </a:r>
          </a:p>
          <a:p>
            <a:pPr>
              <a:spcAft>
                <a:spcPts val="1000"/>
              </a:spcAft>
            </a:pPr>
            <a:r>
              <a:rPr sz="1550" b="1">
                <a:solidFill>
                  <a:srgbClr val="1E2320"/>
                </a:solidFill>
              </a:rPr>
              <a:t>›  Cross-embodiment R1-vs-G1 comparison — ties directly into the sim2real-methodology writeup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6B6F68"/>
                </a:solidFill>
              </a:rPr>
              <a:t>Embodied AI — Week 21  |  Video Retargeting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173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3FBBA8"/>
                </a:solidFill>
                <a:latin typeface="Calibri"/>
              </a:rPr>
              <a:t>FEATURED PAPER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3F1EA"/>
                </a:solidFill>
                <a:latin typeface="Georgia"/>
              </a:rPr>
              <a:t>World-Coordinate Human Motion Retargeting
via SAM 3D Body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3FBBA8"/>
                </a:solidFill>
              </a:rPr>
              <a:t>Tu, Su, Zhu, Zheng  ·  arXiv 2512.21573  ·  target platform: Unitree G1</a:t>
            </a:r>
          </a:p>
        </p:txBody>
      </p:sp>
      <p:pic>
        <p:nvPicPr>
          <p:cNvPr id="6" name="Picture 5" descr="sam3d_fi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360" y="4297680"/>
            <a:ext cx="8686800" cy="416296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F3F1EA"/>
                </a:solidFill>
              </a:rPr>
              <a:t>Embodied AI — Week 21  |  Featured Paper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0F7A6B"/>
                </a:solidFill>
                <a:latin typeface="Calibri"/>
              </a:rPr>
              <a:t>FEATURED PAPER · 1 OF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E2320"/>
                </a:solidFill>
                <a:latin typeface="Georgia"/>
              </a:rPr>
              <a:t>Problem &amp; Core Idea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1">
                <a:solidFill>
                  <a:srgbClr val="1E2320"/>
                </a:solidFill>
              </a:rPr>
              <a:t>›  Per-frame 3D pose estimators place a person correctly relative to the CAMERA — not in the real world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1E2320"/>
                </a:solidFill>
              </a:rPr>
              <a:t>›  No guarantee of a fixed skeleton size, or that feet actually touch the floor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1E2320"/>
                </a:solidFill>
              </a:rPr>
              <a:t>›  Core idea: wrap a frozen, off-the-shelf pose estimator (SAM 3D Body) with three cheap fixes — lock skeleton size, smooth pose in a compact latent code, physically ground the feet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1E2320"/>
                </a:solidFill>
              </a:rPr>
              <a:t>›  Then retarget onto a Unitree G1 — no SLAM system required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6B6F68"/>
                </a:solidFill>
              </a:rPr>
              <a:t>Embodied AI — Week 21  |  Featured Paper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0F7A6B"/>
                </a:solidFill>
                <a:latin typeface="Calibri"/>
              </a:rPr>
              <a:t>FEATURED PAPER · 2 OF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E2320"/>
                </a:solidFill>
                <a:latin typeface="Georgia"/>
              </a:rPr>
              <a:t>Core Challenges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00200"/>
            <a:ext cx="3520440" cy="4206240"/>
          </a:xfrm>
          <a:prstGeom prst="roundRect">
            <a:avLst>
              <a:gd name="adj" fmla="val 3000"/>
            </a:avLst>
          </a:prstGeom>
          <a:solidFill>
            <a:srgbClr val="F1F0EA"/>
          </a:solidFill>
          <a:ln w="9525">
            <a:solidFill>
              <a:srgbClr val="D8D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600200"/>
            <a:ext cx="54864" cy="4206240"/>
          </a:xfrm>
          <a:prstGeom prst="rect">
            <a:avLst/>
          </a:prstGeom>
          <a:solidFill>
            <a:srgbClr val="0F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F7A6B"/>
                </a:solidFill>
              </a:rPr>
              <a:t>Camera-frame vs. world-frame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651760"/>
            <a:ext cx="3108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1E2320"/>
                </a:solidFill>
              </a:rPr>
              <a:t>A photo tells you a joint angle, not whether the person is walking across a room — especially if the camera itself is moving.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59" y="1600200"/>
            <a:ext cx="3520440" cy="4206240"/>
          </a:xfrm>
          <a:prstGeom prst="roundRect">
            <a:avLst>
              <a:gd name="adj" fmla="val 3000"/>
            </a:avLst>
          </a:prstGeom>
          <a:solidFill>
            <a:srgbClr val="F1F0EA"/>
          </a:solidFill>
          <a:ln w="9525">
            <a:solidFill>
              <a:srgbClr val="D8D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1959" y="1600200"/>
            <a:ext cx="54864" cy="4206240"/>
          </a:xfrm>
          <a:prstGeom prst="rect">
            <a:avLst/>
          </a:prstGeom>
          <a:solidFill>
            <a:srgbClr val="0F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59" y="178308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F7A6B"/>
                </a:solidFill>
              </a:rPr>
              <a:t>Skeleton drift across frames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59" y="2651760"/>
            <a:ext cx="3108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1E2320"/>
                </a:solidFill>
              </a:rPr>
              <a:t>Independent per-frame estimates make bone lengths wobble — like a tailor re-measuring the same person differently every few seconds.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1600200"/>
            <a:ext cx="3520440" cy="4206240"/>
          </a:xfrm>
          <a:prstGeom prst="roundRect">
            <a:avLst>
              <a:gd name="adj" fmla="val 3000"/>
            </a:avLst>
          </a:prstGeom>
          <a:solidFill>
            <a:srgbClr val="F1F0EA"/>
          </a:solidFill>
          <a:ln w="9525">
            <a:solidFill>
              <a:srgbClr val="D8D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55279" y="1600200"/>
            <a:ext cx="54864" cy="4206240"/>
          </a:xfrm>
          <a:prstGeom prst="rect">
            <a:avLst/>
          </a:prstGeom>
          <a:solidFill>
            <a:srgbClr val="0F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79" y="178308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F7A6B"/>
                </a:solidFill>
              </a:rPr>
              <a:t>Feet sliding through the floor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79" y="2651760"/>
            <a:ext cx="3108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1E2320"/>
                </a:solidFill>
              </a:rPr>
              <a:t>Kinematics alone has no notion of gravity — feet can glide or clip through the ground like a puppet on ice.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6B6F68"/>
                </a:solidFill>
              </a:rPr>
              <a:t>Embodied AI — Week 21  |  Featured Paper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0F7A6B"/>
                </a:solidFill>
                <a:latin typeface="Calibri"/>
              </a:rPr>
              <a:t>FEATURED PAPER · 3 OF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E2320"/>
                </a:solidFill>
                <a:latin typeface="Georgia"/>
              </a:rPr>
              <a:t>Method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50" b="1">
                <a:solidFill>
                  <a:srgbClr val="1E2320"/>
                </a:solidFill>
              </a:rPr>
              <a:t>›  Frozen SAM 3D Body extracts per-frame MHR pose codes</a:t>
            </a:r>
          </a:p>
          <a:p>
            <a:pPr>
              <a:spcAft>
                <a:spcPts val="1000"/>
              </a:spcAft>
            </a:pPr>
            <a:r>
              <a:rPr sz="1550" b="1">
                <a:solidFill>
                  <a:srgbClr val="1E2320"/>
                </a:solidFill>
              </a:rPr>
              <a:t>›  SORT + Kalman tracking keeps identities straight across frames and people</a:t>
            </a:r>
          </a:p>
          <a:p>
            <a:pPr>
              <a:spcAft>
                <a:spcPts val="1000"/>
              </a:spcAft>
            </a:pPr>
            <a:r>
              <a:rPr sz="1550" b="1">
                <a:solidFill>
                  <a:srgbClr val="1E2320"/>
                </a:solidFill>
              </a:rPr>
              <a:t>›  Shape-locking averages and freezes skeleton size</a:t>
            </a:r>
          </a:p>
          <a:p>
            <a:pPr>
              <a:spcAft>
                <a:spcPts val="1000"/>
              </a:spcAft>
            </a:pPr>
            <a:r>
              <a:rPr sz="1550" b="1">
                <a:solidFill>
                  <a:srgbClr val="1E2320"/>
                </a:solidFill>
              </a:rPr>
              <a:t>›  Sliding-window optimizer smooths the compact latent code (not raw joint coordinates)</a:t>
            </a:r>
          </a:p>
          <a:p>
            <a:pPr>
              <a:spcAft>
                <a:spcPts val="1000"/>
              </a:spcAft>
            </a:pPr>
            <a:r>
              <a:rPr sz="1550" b="1">
                <a:solidFill>
                  <a:srgbClr val="1E2320"/>
                </a:solidFill>
              </a:rPr>
              <a:t>›  Differentiable contact model grounds the feet while solving for world trajectory</a:t>
            </a:r>
          </a:p>
          <a:p>
            <a:pPr>
              <a:spcAft>
                <a:spcPts val="1000"/>
              </a:spcAft>
            </a:pPr>
            <a:r>
              <a:rPr sz="1550" b="1">
                <a:solidFill>
                  <a:srgbClr val="1E2320"/>
                </a:solidFill>
              </a:rPr>
              <a:t>›  Two-stage IK retargets 14 matched joints onto the G1</a:t>
            </a:r>
          </a:p>
        </p:txBody>
      </p:sp>
      <p:pic>
        <p:nvPicPr>
          <p:cNvPr id="6" name="Picture 5" descr="sam3d_fi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737360"/>
            <a:ext cx="5486400" cy="262923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309360" y="4366599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i="1">
                <a:solidFill>
                  <a:srgbClr val="6B6F68"/>
                </a:solidFill>
              </a:rPr>
              <a:t>Figure 1 — full pipeline, as published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6B6F68"/>
                </a:solidFill>
              </a:rPr>
              <a:t>Embodied AI — Week 21  |  Featured Paper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0F7A6B"/>
                </a:solidFill>
                <a:latin typeface="Calibri"/>
              </a:rPr>
              <a:t>FEATURED PAPER · 4 OF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E2320"/>
                </a:solidFill>
                <a:latin typeface="Georgia"/>
              </a:rPr>
              <a:t>Results — read honestly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08760"/>
            <a:ext cx="5394960" cy="1188720"/>
          </a:xfrm>
          <a:prstGeom prst="roundRect">
            <a:avLst>
              <a:gd name="adj" fmla="val 3000"/>
            </a:avLst>
          </a:prstGeom>
          <a:solidFill>
            <a:srgbClr val="F6ECDA"/>
          </a:solidFill>
          <a:ln w="9525">
            <a:solidFill>
              <a:srgbClr val="B88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54864" cy="1188720"/>
          </a:xfrm>
          <a:prstGeom prst="rect">
            <a:avLst/>
          </a:prstGeom>
          <a:solidFill>
            <a:srgbClr val="B8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45920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1">
                <a:solidFill>
                  <a:srgbClr val="B8862E"/>
                </a:solidFill>
              </a:rPr>
              <a:t>ZERO quantitative results, baselines, or ablations. Qualitative-only evidence — this is the headline, not a footnote.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880360"/>
            <a:ext cx="5394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1E2320"/>
                </a:solidFill>
              </a:rPr>
              <a:t>›  Visual figures show stable single- and multi-person reconstruction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E2320"/>
                </a:solidFill>
              </a:rPr>
              <a:t>›  And reduced foot-sliding vs. the unrefined estimate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E2320"/>
                </a:solidFill>
              </a:rPr>
              <a:t>›  No evidence a controller was ever run on the retargeted G1 output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E2320"/>
                </a:solidFill>
              </a:rPr>
              <a:t>›  No code or project page released</a:t>
            </a:r>
          </a:p>
        </p:txBody>
      </p:sp>
      <p:pic>
        <p:nvPicPr>
          <p:cNvPr id="9" name="Picture 8" descr="sam3d_fig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554480"/>
            <a:ext cx="5486400" cy="218153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09360" y="3736015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i="1">
                <a:solidFill>
                  <a:srgbClr val="6B6F68"/>
                </a:solidFill>
              </a:rPr>
              <a:t>Figure 2 — qualitative results (a) single-person (b) multi-person (c) contact refinement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6B6F68"/>
                </a:solidFill>
              </a:rPr>
              <a:t>Embodied AI — Week 21  |  Featured Paper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0F7A6B"/>
                </a:solidFill>
                <a:latin typeface="Calibri"/>
              </a:rPr>
              <a:t>FEATURED PAPER · 5 OF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E2320"/>
                </a:solidFill>
                <a:latin typeface="Georgia"/>
              </a:rPr>
              <a:t>Why It Matters — to my own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1">
                <a:solidFill>
                  <a:srgbClr val="1E2320"/>
                </a:solidFill>
              </a:rPr>
              <a:t>›  A genuinely lightweight recipe — no SLAM, no heavy transformer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1E2320"/>
                </a:solidFill>
              </a:rPr>
              <a:t>›  Close to a reference architecture for a kinematics-only retargeting pipeline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1E2320"/>
                </a:solidFill>
              </a:rPr>
              <a:t>›  But the lack of quantitative validation means I'll need my own plausibility metrics before trusting it as a data source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1E2320"/>
                </a:solidFill>
              </a:rPr>
              <a:t>›  That gap is exactly sub-direction #2 from three slides ago — non-learned physical-plausibility filtering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6B6F68"/>
                </a:solidFill>
              </a:rPr>
              <a:t>Embodied AI — Week 21  |  Featured Paper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3317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3FBBA8"/>
                </a:solidFill>
                <a:latin typeface="Calibri"/>
              </a:rPr>
              <a:t>CUNY AI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651760"/>
            <a:ext cx="11064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>
                <a:solidFill>
                  <a:srgbClr val="F3F1EA"/>
                </a:solidFill>
                <a:latin typeface="Georgia"/>
              </a:rPr>
              <a:t>Embodied AI Workshop</a:t>
            </a:r>
          </a:p>
          <a:p>
            <a:pPr>
              <a:spcBef>
                <a:spcPts val="1400"/>
              </a:spcBef>
            </a:pPr>
            <a:r>
              <a:rPr sz="1700">
                <a:solidFill>
                  <a:srgbClr val="B8C4BE"/>
                </a:solidFill>
              </a:rPr>
              <a:t>A 6-experiment series for beginners — checked against Prof. Sun's actual brief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E2320"/>
                </a:solidFill>
                <a:latin typeface="Georgia"/>
              </a:rPr>
              <a:t>6 Experiments, Checked Against The Brief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6B6F68"/>
                </a:solidFill>
              </a:rPr>
              <a:t>Simulator-only · targeted at embodied AI training · ≥4 required (more welcome) · easy → advanced · integration optional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737360"/>
          <a:ext cx="110642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4572000"/>
                <a:gridCol w="2194560"/>
                <a:gridCol w="3840480"/>
              </a:tblGrid>
              <a:tr h="470262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T="50800" marB="50800">
                    <a:solidFill>
                      <a:srgbClr val="0F7A6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Experiment</a:t>
                      </a:r>
                    </a:p>
                  </a:txBody>
                  <a:tcPr marT="50800" marB="50800">
                    <a:solidFill>
                      <a:srgbClr val="0F7A6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 marT="50800" marB="50800">
                    <a:solidFill>
                      <a:srgbClr val="0F7A6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Literally “training”?</a:t>
                      </a:r>
                    </a:p>
                  </a:txBody>
                  <a:tcPr marT="50800" marB="50800">
                    <a:solidFill>
                      <a:srgbClr val="0F7A6B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350">
                          <a:solidFill>
                            <a:srgbClr val="1E232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T="50800" marB="50800"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350">
                          <a:solidFill>
                            <a:srgbClr val="1E2320"/>
                          </a:solidFill>
                          <a:latin typeface="Calibri"/>
                        </a:rPr>
                        <a:t>Stand without RL — kp/kd tuning</a:t>
                      </a:r>
                    </a:p>
                  </a:txBody>
                  <a:tcPr marT="50800" marB="50800"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350">
                          <a:solidFill>
                            <a:srgbClr val="1E2320"/>
                          </a:solidFill>
                          <a:latin typeface="Calibri"/>
                        </a:rPr>
                        <a:t>Control</a:t>
                      </a:r>
                    </a:p>
                  </a:txBody>
                  <a:tcPr marT="50800" marB="50800"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350">
                          <a:solidFill>
                            <a:srgbClr val="1E2320"/>
                          </a:solidFill>
                          <a:latin typeface="Calibri"/>
                        </a:rPr>
                        <a:t>No — pre-training baseline</a:t>
                      </a:r>
                    </a:p>
                  </a:txBody>
                  <a:tcPr marT="50800" marB="50800">
                    <a:solidFill>
                      <a:srgbClr val="FBFAF7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350">
                          <a:solidFill>
                            <a:srgbClr val="1E232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T="50800" marB="50800">
                    <a:solidFill>
                      <a:srgbClr val="F1F0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350">
                          <a:solidFill>
                            <a:srgbClr val="1E2320"/>
                          </a:solidFill>
                          <a:latin typeface="Calibri"/>
                        </a:rPr>
                        <a:t>Train your first policy</a:t>
                      </a:r>
                    </a:p>
                  </a:txBody>
                  <a:tcPr marT="50800" marB="50800">
                    <a:solidFill>
                      <a:srgbClr val="F1F0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350">
                          <a:solidFill>
                            <a:srgbClr val="1E2320"/>
                          </a:solidFill>
                          <a:latin typeface="Calibri"/>
                        </a:rPr>
                        <a:t>Training</a:t>
                      </a:r>
                    </a:p>
                  </a:txBody>
                  <a:tcPr marT="50800" marB="50800">
                    <a:solidFill>
                      <a:srgbClr val="F1F0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350">
                          <a:solidFill>
                            <a:srgbClr val="1E232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T="50800" marB="50800">
                    <a:solidFill>
                      <a:srgbClr val="F1F0EA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350">
                          <a:solidFill>
                            <a:srgbClr val="1E232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T="50800" marB="50800"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350">
                          <a:solidFill>
                            <a:srgbClr val="1E2320"/>
                          </a:solidFill>
                          <a:latin typeface="Calibri"/>
                        </a:rPr>
                        <a:t>Reward shaping &amp; the robotic walk</a:t>
                      </a:r>
                    </a:p>
                  </a:txBody>
                  <a:tcPr marT="50800" marB="50800"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350">
                          <a:solidFill>
                            <a:srgbClr val="1E2320"/>
                          </a:solidFill>
                          <a:latin typeface="Calibri"/>
                        </a:rPr>
                        <a:t>Training</a:t>
                      </a:r>
                    </a:p>
                  </a:txBody>
                  <a:tcPr marT="50800" marB="50800"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350">
                          <a:solidFill>
                            <a:srgbClr val="1E232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T="50800" marB="50800">
                    <a:solidFill>
                      <a:srgbClr val="FBFAF7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350">
                          <a:solidFill>
                            <a:srgbClr val="1E2320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T="50800" marB="50800">
                    <a:solidFill>
                      <a:srgbClr val="F1F0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350">
                          <a:solidFill>
                            <a:srgbClr val="1E2320"/>
                          </a:solidFill>
                          <a:latin typeface="Calibri"/>
                        </a:rPr>
                        <a:t>Does compute matter?</a:t>
                      </a:r>
                    </a:p>
                  </a:txBody>
                  <a:tcPr marT="50800" marB="50800">
                    <a:solidFill>
                      <a:srgbClr val="F1F0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350">
                          <a:solidFill>
                            <a:srgbClr val="1E2320"/>
                          </a:solidFill>
                          <a:latin typeface="Calibri"/>
                        </a:rPr>
                        <a:t>Training</a:t>
                      </a:r>
                    </a:p>
                  </a:txBody>
                  <a:tcPr marT="50800" marB="50800">
                    <a:solidFill>
                      <a:srgbClr val="F1F0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350">
                          <a:solidFill>
                            <a:srgbClr val="1E232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T="50800" marB="50800">
                    <a:solidFill>
                      <a:srgbClr val="F1F0EA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350">
                          <a:solidFill>
                            <a:srgbClr val="1E2320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T="50800" marB="50800"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350">
                          <a:solidFill>
                            <a:srgbClr val="1E2320"/>
                          </a:solidFill>
                          <a:latin typeface="Calibri"/>
                        </a:rPr>
                        <a:t>The sim2sim gap, live  (capstone)</a:t>
                      </a:r>
                    </a:p>
                  </a:txBody>
                  <a:tcPr marT="50800" marB="50800"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350">
                          <a:solidFill>
                            <a:srgbClr val="1E2320"/>
                          </a:solidFill>
                          <a:latin typeface="Calibri"/>
                        </a:rPr>
                        <a:t>Transfer / Eval</a:t>
                      </a:r>
                    </a:p>
                  </a:txBody>
                  <a:tcPr marT="50800" marB="50800"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350">
                          <a:solidFill>
                            <a:srgbClr val="1E2320"/>
                          </a:solidFill>
                          <a:latin typeface="Calibri"/>
                        </a:rPr>
                        <a:t>Yes — evaluates training's output</a:t>
                      </a:r>
                    </a:p>
                  </a:txBody>
                  <a:tcPr marT="50800" marB="50800">
                    <a:solidFill>
                      <a:srgbClr val="FBFAF7"/>
                    </a:solidFill>
                  </a:tcPr>
                </a:tc>
              </a:tr>
              <a:tr h="470268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350">
                          <a:solidFill>
                            <a:srgbClr val="1E2320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T="50800" marB="50800">
                    <a:solidFill>
                      <a:srgbClr val="F1F0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350">
                          <a:solidFill>
                            <a:srgbClr val="1E2320"/>
                          </a:solidFill>
                          <a:latin typeface="Calibri"/>
                        </a:rPr>
                        <a:t>Human video → robot motion  (bonus)</a:t>
                      </a:r>
                    </a:p>
                  </a:txBody>
                  <a:tcPr marT="50800" marB="50800">
                    <a:solidFill>
                      <a:srgbClr val="F1F0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350">
                          <a:solidFill>
                            <a:srgbClr val="1E2320"/>
                          </a:solidFill>
                          <a:latin typeface="Calibri"/>
                        </a:rPr>
                        <a:t>Data pipeline</a:t>
                      </a:r>
                    </a:p>
                  </a:txBody>
                  <a:tcPr marT="50800" marB="50800">
                    <a:solidFill>
                      <a:srgbClr val="F1F0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350">
                          <a:solidFill>
                            <a:srgbClr val="1E2320"/>
                          </a:solidFill>
                          <a:latin typeface="Calibri"/>
                        </a:rPr>
                        <a:t>No — advanced / Mario tie-in</a:t>
                      </a:r>
                    </a:p>
                  </a:txBody>
                  <a:tcPr marT="50800" marB="50800">
                    <a:solidFill>
                      <a:srgbClr val="F1F0EA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48640" y="5257800"/>
            <a:ext cx="11064240" cy="1051560"/>
          </a:xfrm>
          <a:prstGeom prst="roundRect">
            <a:avLst>
              <a:gd name="adj" fmla="val 3000"/>
            </a:avLst>
          </a:prstGeom>
          <a:solidFill>
            <a:srgbClr val="E9F2EF"/>
          </a:solidFill>
          <a:ln w="9525">
            <a:solidFill>
              <a:srgbClr val="0F7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5257800"/>
            <a:ext cx="54864" cy="1051560"/>
          </a:xfrm>
          <a:prstGeom prst="rect">
            <a:avLst/>
          </a:prstGeom>
          <a:solidFill>
            <a:srgbClr val="0F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3949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0F7A6B"/>
                </a:solidFill>
              </a:rPr>
              <a:t>Arc: control baseline → learning → transfer &amp; scale → (bonus) data pipeline. #5 moved from mid-series to capstone — it's the conceptually hardest item, so it reads better as the reveal than a middle step.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6B6F68"/>
                </a:solidFill>
              </a:rPr>
              <a:t>Embodied AI — Week 21  |  Workshop Overview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0F7A6B"/>
                </a:solidFill>
                <a:latin typeface="Calibri"/>
              </a:rPr>
              <a:t>CUNY WORKSHOP · EXPERIMENT 1 OF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E2320"/>
                </a:solidFill>
                <a:latin typeface="Georgia"/>
              </a:rPr>
              <a:t>Stand Without RL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92640" y="457200"/>
            <a:ext cx="1920240" cy="310896"/>
          </a:xfrm>
          <a:prstGeom prst="roundRect">
            <a:avLst>
              <a:gd name="adj" fmla="val 50000"/>
            </a:avLst>
          </a:prstGeom>
          <a:solidFill>
            <a:srgbClr val="0F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BEGINNER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5577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50" b="1">
                <a:solidFill>
                  <a:srgbClr val="1E2320"/>
                </a:solidFill>
              </a:rPr>
              <a:t>›  What students do: open the R1 standing model in the MuJoCo viewer; live-adjust kp (stiffness) and kd (damping) on a joint and watch the robot hold — or lose — its balance</a:t>
            </a:r>
          </a:p>
          <a:p>
            <a:pPr>
              <a:spcAft>
                <a:spcPts val="1000"/>
              </a:spcAft>
            </a:pPr>
            <a:r>
              <a:rPr sz="1550" b="1">
                <a:solidFill>
                  <a:srgbClr val="1E2320"/>
                </a:solidFill>
              </a:rPr>
              <a:t>›  What they learn: a PD controller is just a spring + damper; standing is possible with the right gains and zero learning — which motivates why we need RL for anything harder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554480"/>
            <a:ext cx="5212080" cy="4206240"/>
          </a:xfrm>
          <a:prstGeom prst="roundRect">
            <a:avLst>
              <a:gd name="adj" fmla="val 3000"/>
            </a:avLst>
          </a:prstGeom>
          <a:solidFill>
            <a:srgbClr val="F1F0EA"/>
          </a:solidFill>
          <a:ln w="9525">
            <a:solidFill>
              <a:srgbClr val="D8D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0" y="1554480"/>
            <a:ext cx="54864" cy="4206240"/>
          </a:xfrm>
          <a:prstGeom prst="rect">
            <a:avLst/>
          </a:prstGeom>
          <a:solidFill>
            <a:srgbClr val="0F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828800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F7A6B"/>
                </a:solidFill>
              </a:rPr>
              <a:t>PD control at one joint</a:t>
            </a:r>
          </a:p>
        </p:txBody>
      </p:sp>
      <p:sp>
        <p:nvSpPr>
          <p:cNvPr id="10" name="Oval 9"/>
          <p:cNvSpPr/>
          <p:nvPr/>
        </p:nvSpPr>
        <p:spPr>
          <a:xfrm>
            <a:off x="8595360" y="2651760"/>
            <a:ext cx="640080" cy="640080"/>
          </a:xfrm>
          <a:prstGeom prst="ellipse">
            <a:avLst/>
          </a:prstGeom>
          <a:solidFill>
            <a:srgbClr val="B8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3566160"/>
            <a:ext cx="44805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E2320"/>
                </a:solidFill>
              </a:rPr>
              <a:t>torque = kp · (target − position)  −  kd · velocity</a:t>
            </a:r>
          </a:p>
          <a:p>
            <a:pPr algn="ctr">
              <a:spcBef>
                <a:spcPts val="1400"/>
              </a:spcBef>
            </a:pPr>
            <a:r>
              <a:rPr sz="1300">
                <a:solidFill>
                  <a:srgbClr val="6B6F68"/>
                </a:solidFill>
              </a:rPr>
              <a:t>turn kp up → stiffer, snappier, can overshoot
turn kd up → mushier, more damped, can't react fast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6B6F68"/>
                </a:solidFill>
              </a:rPr>
              <a:t>Embodied AI — Week 21  |  Workshop · Exp. 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0F7A6B"/>
                </a:solidFill>
                <a:latin typeface="Calibri"/>
              </a:rPr>
              <a:t>CUNY WORKSHOP · EXPERIMENT 2 OF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E2320"/>
                </a:solidFill>
                <a:latin typeface="Georgia"/>
              </a:rPr>
              <a:t>Train Your First Policy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92640" y="457200"/>
            <a:ext cx="1920240" cy="310896"/>
          </a:xfrm>
          <a:prstGeom prst="roundRect">
            <a:avLst>
              <a:gd name="adj" fmla="val 50000"/>
            </a:avLst>
          </a:prstGeom>
          <a:solidFill>
            <a:srgbClr val="0F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BEGINNER+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51206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50" b="1">
                <a:solidFill>
                  <a:srgbClr val="1E2320"/>
                </a:solidFill>
              </a:rPr>
              <a:t>›  What students do: launch a short PPO run on the R1 standing task — minutes on a laptop — and watch the live reward curve</a:t>
            </a:r>
          </a:p>
          <a:p>
            <a:pPr>
              <a:spcAft>
                <a:spcPts val="1000"/>
              </a:spcAft>
            </a:pPr>
            <a:r>
              <a:rPr sz="1550" b="1">
                <a:solidFill>
                  <a:srgbClr val="1E2320"/>
                </a:solidFill>
              </a:rPr>
              <a:t>›  What they learn: what “learning” looks like as a number going up, noisily; compare an early checkpoint's flailing to a late checkpoint's stability</a:t>
            </a:r>
          </a:p>
        </p:txBody>
      </p:sp>
      <p:pic>
        <p:nvPicPr>
          <p:cNvPr id="7" name="Picture 6" descr="first_policy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691640"/>
            <a:ext cx="5669280" cy="302910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0" y="4720749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i="1">
                <a:solidFill>
                  <a:srgbClr val="6B6F68"/>
                </a:solidFill>
              </a:rPr>
              <a:t>A real early training curve — noisy, but climbing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6B6F68"/>
                </a:solidFill>
              </a:rPr>
              <a:t>Embodied AI — Week 21  |  Workshop · Exp. 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0F7A6B"/>
                </a:solidFill>
                <a:latin typeface="Calibri"/>
              </a:rPr>
              <a:t>CUNY WORKSHOP · EXPERIMENT 3 OF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E2320"/>
                </a:solidFill>
                <a:latin typeface="Georgia"/>
              </a:rPr>
              <a:t>Reward Shaping &amp; The Robotic Walk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92640" y="457200"/>
            <a:ext cx="1920240" cy="310896"/>
          </a:xfrm>
          <a:prstGeom prst="roundRect">
            <a:avLst>
              <a:gd name="adj" fmla="val 50000"/>
            </a:avLst>
          </a:prstGeom>
          <a:solidFill>
            <a:srgbClr val="B8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INTERMEDIATE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5394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1E2320"/>
                </a:solidFill>
              </a:rPr>
              <a:t>›  What students do: take a working walking policy, change one reward term (e.g. remove the torque penalty), retrain briefly, watch the walking style change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E2320"/>
                </a:solidFill>
              </a:rPr>
              <a:t>›  What they learn: RL optimizes exactly what you reward, not what you intend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E2320"/>
                </a:solidFill>
              </a:rPr>
              <a:t>›  A torque-averse reward produces a shuffling, low-margin gait — the instructor's own walk1-vs-walk3b comparison is the worked example</a:t>
            </a:r>
          </a:p>
        </p:txBody>
      </p:sp>
      <p:pic>
        <p:nvPicPr>
          <p:cNvPr id="7" name="Picture 6" descr="plain_mujoco_m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737360"/>
            <a:ext cx="5486400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126480" y="58521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i="1">
                <a:solidFill>
                  <a:srgbClr val="6B6F68"/>
                </a:solidFill>
              </a:rPr>
              <a:t>walk3b — the trained result students will be reshaping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6B6F68"/>
                </a:solidFill>
              </a:rPr>
              <a:t>Embodied AI — Week 21  |  Workshop · Exp. 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0F7A6B"/>
                </a:solidFill>
                <a:latin typeface="Calibri"/>
              </a:rPr>
              <a:t>CUNY WORKSHOP · EXPERIMENT 4 OF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E2320"/>
                </a:solidFill>
                <a:latin typeface="Georgia"/>
              </a:rPr>
              <a:t>Does Compute Matter?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92640" y="457200"/>
            <a:ext cx="1920240" cy="310896"/>
          </a:xfrm>
          <a:prstGeom prst="roundRect">
            <a:avLst>
              <a:gd name="adj" fmla="val 50000"/>
            </a:avLst>
          </a:prstGeom>
          <a:solidFill>
            <a:srgbClr val="B8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INTERMEDIATE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5394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50" b="1">
                <a:solidFill>
                  <a:srgbClr val="1E2320"/>
                </a:solidFill>
              </a:rPr>
              <a:t>›  What students do: compare two provided training logs — one single-env run, one 4-env run, same warm start and reward</a:t>
            </a:r>
          </a:p>
          <a:p>
            <a:pPr>
              <a:spcAft>
                <a:spcPts val="1000"/>
              </a:spcAft>
            </a:pPr>
            <a:r>
              <a:rPr sz="1450" b="1">
                <a:solidFill>
                  <a:srgbClr val="1E2320"/>
                </a:solidFill>
              </a:rPr>
              <a:t>›  What they learn: more parallel environments measurably stabilizes training — this week's own probe result</a:t>
            </a:r>
          </a:p>
          <a:p>
            <a:pPr>
              <a:spcAft>
                <a:spcPts val="1000"/>
              </a:spcAft>
            </a:pPr>
            <a:r>
              <a:rPr sz="1450" b="1">
                <a:solidFill>
                  <a:srgbClr val="1E2320"/>
                </a:solidFill>
              </a:rPr>
              <a:t>›  Ties to a published finding (RGMT): compute/data efficiency is an active, solvable research question — not just a hardware excuse</a:t>
            </a:r>
          </a:p>
        </p:txBody>
      </p:sp>
      <p:pic>
        <p:nvPicPr>
          <p:cNvPr id="7" name="Picture 6" descr="compute_matters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600200"/>
            <a:ext cx="5486400" cy="2971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6B6F68"/>
                </a:solidFill>
              </a:rPr>
              <a:t>Embodied AI — Week 21  |  Workshop · Exp. 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0F7A6B"/>
                </a:solidFill>
                <a:latin typeface="Calibri"/>
              </a:rPr>
              <a:t>CUNY WORKSHOP · EXPERIMENT 5 OF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E2320"/>
                </a:solidFill>
                <a:latin typeface="Georgia"/>
              </a:rPr>
              <a:t>The Sim2Sim Gap, Live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92640" y="457200"/>
            <a:ext cx="1920240" cy="310896"/>
          </a:xfrm>
          <a:prstGeom prst="roundRect">
            <a:avLst>
              <a:gd name="adj" fmla="val 50000"/>
            </a:avLst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ADVANCED · CAPSTONE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1E2320"/>
                </a:solidFill>
              </a:rPr>
              <a:t>›  What students do: watch ONE trained policy run in three settings, and hypothesize why before the reveal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1E2320"/>
                </a:solidFill>
              </a:rPr>
              <a:t>›  What they learn: a gap between simulators isn't always physics — this one was CONTROL-LOOP TIMING, not “reality”</a:t>
            </a:r>
          </a:p>
        </p:txBody>
      </p:sp>
      <p:pic>
        <p:nvPicPr>
          <p:cNvPr id="7" name="Picture 6" descr="plain_mujoco_m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926080"/>
            <a:ext cx="3611880" cy="270891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634990"/>
            <a:ext cx="3611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i="1">
                <a:solidFill>
                  <a:srgbClr val="6B6F68"/>
                </a:solidFill>
              </a:rPr>
              <a:t>Clean batch sim — 20s, full success</a:t>
            </a:r>
          </a:p>
        </p:txBody>
      </p:sp>
      <p:pic>
        <p:nvPicPr>
          <p:cNvPr id="9" name="Picture 8" descr="unitree_fall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2926080"/>
            <a:ext cx="3611880" cy="270891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343400" y="5634990"/>
            <a:ext cx="3611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i="1">
                <a:solidFill>
                  <a:srgbClr val="6B6F68"/>
                </a:solidFill>
              </a:rPr>
              <a:t>Real DDS harness — falls ~2.4s</a:t>
            </a:r>
          </a:p>
        </p:txBody>
      </p:sp>
      <p:pic>
        <p:nvPicPr>
          <p:cNvPr id="11" name="Picture 10" descr="deploy_mi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2926080"/>
            <a:ext cx="3611880" cy="270891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138160" y="5634990"/>
            <a:ext cx="3611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i="1">
                <a:solidFill>
                  <a:srgbClr val="6B6F68"/>
                </a:solidFill>
              </a:rPr>
              <a:t>Lockstep fix — 5.76s, exact same physics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6B6F68"/>
                </a:solidFill>
              </a:rPr>
              <a:t>Embodied AI — Week 21  |  Workshop · Exp. 5 — the signature demo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0F7A6B"/>
                </a:solidFill>
                <a:latin typeface="Calibri"/>
              </a:rPr>
              <a:t>CUNY WORKSHOP · EXPERIMENT 6 OF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E2320"/>
                </a:solidFill>
                <a:latin typeface="Georgia"/>
              </a:rPr>
              <a:t>Human Video → Robot Motion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92640" y="457200"/>
            <a:ext cx="1920240" cy="310896"/>
          </a:xfrm>
          <a:prstGeom prst="roundRect">
            <a:avLst>
              <a:gd name="adj" fmla="val 50000"/>
            </a:avLst>
          </a:prstGeom>
          <a:solidFill>
            <a:srgbClr val="6B4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ADVANCED · BONUS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1E2320"/>
                </a:solidFill>
              </a:rPr>
              <a:t>›  What students do: run a short video of a person walking through pose estimation (MediaPipe), retarget the skeleton onto the R1's joints, replay it in MuJoCo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1E2320"/>
                </a:solidFill>
              </a:rPr>
              <a:t>›  What they learn: how motion actually gets from a phone camera to a robot joint command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017520"/>
            <a:ext cx="2514600" cy="1280160"/>
          </a:xfrm>
          <a:prstGeom prst="roundRect">
            <a:avLst>
              <a:gd name="adj" fmla="val 8000"/>
            </a:avLst>
          </a:prstGeom>
          <a:solidFill>
            <a:srgbClr val="6B6F6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VIDEO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108960" y="3520440"/>
            <a:ext cx="411480" cy="274320"/>
          </a:xfrm>
          <a:prstGeom prst="rightArrow">
            <a:avLst/>
          </a:prstGeom>
          <a:solidFill>
            <a:srgbClr val="6B6F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566160" y="3017520"/>
            <a:ext cx="2514600" cy="1280160"/>
          </a:xfrm>
          <a:prstGeom prst="roundRect">
            <a:avLst>
              <a:gd name="adj" fmla="val 8000"/>
            </a:avLst>
          </a:prstGeom>
          <a:solidFill>
            <a:srgbClr val="0F7A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MEDIAPIPE
POSE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126480" y="3520440"/>
            <a:ext cx="411480" cy="274320"/>
          </a:xfrm>
          <a:prstGeom prst="rightArrow">
            <a:avLst/>
          </a:prstGeom>
          <a:solidFill>
            <a:srgbClr val="6B6F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79" y="3017520"/>
            <a:ext cx="2514600" cy="1280160"/>
          </a:xfrm>
          <a:prstGeom prst="roundRect">
            <a:avLst>
              <a:gd name="adj" fmla="val 8000"/>
            </a:avLst>
          </a:prstGeom>
          <a:solidFill>
            <a:srgbClr val="B8862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RETARGET
TO R1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144000" y="3520440"/>
            <a:ext cx="411480" cy="274320"/>
          </a:xfrm>
          <a:prstGeom prst="rightArrow">
            <a:avLst/>
          </a:prstGeom>
          <a:solidFill>
            <a:srgbClr val="6B6F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601200" y="3017520"/>
            <a:ext cx="2514600" cy="1280160"/>
          </a:xfrm>
          <a:prstGeom prst="roundRect">
            <a:avLst>
              <a:gd name="adj" fmla="val 8000"/>
            </a:avLst>
          </a:prstGeom>
          <a:solidFill>
            <a:srgbClr val="6B6F6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MUJOCO
REPLAY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937760"/>
            <a:ext cx="11064240" cy="1005840"/>
          </a:xfrm>
          <a:prstGeom prst="roundRect">
            <a:avLst>
              <a:gd name="adj" fmla="val 3000"/>
            </a:avLst>
          </a:prstGeom>
          <a:solidFill>
            <a:srgbClr val="EFEAF5"/>
          </a:solidFill>
          <a:ln w="9525">
            <a:solidFill>
              <a:srgbClr val="6B4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4937760"/>
            <a:ext cx="54864" cy="1005840"/>
          </a:xfrm>
          <a:prstGeom prst="rect">
            <a:avLst/>
          </a:prstGeom>
          <a:solidFill>
            <a:srgbClr val="6B4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507492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6B4E9E"/>
                </a:solidFill>
              </a:rPr>
              <a:t>Same pipeline stage as this week's featured paper — and the natural bridge into Mario's imitation-learning module.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6B6F68"/>
                </a:solidFill>
              </a:rPr>
              <a:t>Embodied AI — Week 21  |  Workshop · Exp. 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3FBBA8"/>
                </a:solidFill>
                <a:latin typeface="Calibri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9601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F3F1EA"/>
                </a:solidFill>
              </a:rPr>
              <a:t>›  Check the pending walk_probe_4env lockstep result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F3F1EA"/>
                </a:solidFill>
              </a:rPr>
              <a:t>›  Start Phase 0 of the R1-specific retargeting pipeline (kinematic mapping + plausibility filtering)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F3F1EA"/>
                </a:solidFill>
              </a:rPr>
              <a:t>›  Draft the written one-page-per-experiment proposal for Prof. Sun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F3F1EA"/>
                </a:solidFill>
              </a:rPr>
              <a:t>›  Keep chasing workstation (RTX 5080) access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303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3FBBA8"/>
                </a:solidFill>
                <a:latin typeface="Georgia"/>
              </a:rPr>
              <a:t>Questions?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F3F1EA"/>
                </a:solidFill>
              </a:rPr>
              <a:t>Embodied AI — Week 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