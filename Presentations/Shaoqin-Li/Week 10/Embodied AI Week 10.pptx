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A8D1-9937-6281-9DFC-647204C51086}"/>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2E354732-FC1B-8E4D-3748-289B6BBB9E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33400C2F-6B7E-38EA-E37A-D2AF0C513FA0}"/>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5" name="Footer Placeholder 4">
            <a:extLst>
              <a:ext uri="{FF2B5EF4-FFF2-40B4-BE49-F238E27FC236}">
                <a16:creationId xmlns:a16="http://schemas.microsoft.com/office/drawing/2014/main" id="{8C92BACD-22F0-45F9-ED2C-42518450D3C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A224060B-C9E2-A51F-5CC1-50133FA8E40F}"/>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357186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E8286-946C-28B3-DD22-48DEDBF67F98}"/>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34F1ED88-22C3-1A08-BA7A-86FF92893E90}"/>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7578A42A-D5B1-6AE4-23A6-1FA7BC331B1B}"/>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5" name="Footer Placeholder 4">
            <a:extLst>
              <a:ext uri="{FF2B5EF4-FFF2-40B4-BE49-F238E27FC236}">
                <a16:creationId xmlns:a16="http://schemas.microsoft.com/office/drawing/2014/main" id="{60AFC559-09BE-290C-01E6-49FA92CACC6F}"/>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FB690093-70E0-F399-6199-A7580DB4ACBD}"/>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2502550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D9E48-A7A7-B942-4B15-CB3383183EE0}"/>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831D236F-C2EE-5E28-2650-D347ED9A7A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1C4DD24B-994E-7134-97F9-A7E2DDD325A0}"/>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5" name="Footer Placeholder 4">
            <a:extLst>
              <a:ext uri="{FF2B5EF4-FFF2-40B4-BE49-F238E27FC236}">
                <a16:creationId xmlns:a16="http://schemas.microsoft.com/office/drawing/2014/main" id="{FBFF1FE3-9BFE-C2B5-1D2A-5788501AABF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0E8BF15-7F61-8A2F-B20A-E165A3CBB382}"/>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3173394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60687-8C3F-84DF-8EDB-EDCAAB4CD96A}"/>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FCA2C614-D1B8-0FC1-4D37-DB078D048B5A}"/>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B7D59BFB-C80E-6AE3-984B-881FF809C106}"/>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DE75DEC5-2FA3-CB6F-0BC8-00041879389F}"/>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6" name="Footer Placeholder 5">
            <a:extLst>
              <a:ext uri="{FF2B5EF4-FFF2-40B4-BE49-F238E27FC236}">
                <a16:creationId xmlns:a16="http://schemas.microsoft.com/office/drawing/2014/main" id="{62FA3BC4-D2D5-E293-F38B-121F2355EA6F}"/>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994BA735-41C5-F76D-C0D6-F9A8143B673D}"/>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3973629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18F6A-066D-9EC4-369E-FA534708BBD3}"/>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18516A39-FE6B-9686-B95F-BE15810098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5BF90884-9A10-77F6-09DF-4AE5DE1A3243}"/>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05636DE7-7210-CCFE-5AAC-46E4D7D06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7449C283-F0DA-14ED-3A20-5447FE8CED92}"/>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EA457CED-76DD-F084-855C-7F6B82AD9C98}"/>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8" name="Footer Placeholder 7">
            <a:extLst>
              <a:ext uri="{FF2B5EF4-FFF2-40B4-BE49-F238E27FC236}">
                <a16:creationId xmlns:a16="http://schemas.microsoft.com/office/drawing/2014/main" id="{526BE4B6-BBC5-A52A-89C9-C28CE04425D1}"/>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A222D064-F357-C2BD-3193-EF9D8A6A15BD}"/>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4088413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AA220-7538-208F-299D-4984B9ABEED1}"/>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4F0AB919-F9D5-97A5-A6B0-00C3FE9085C8}"/>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4" name="Footer Placeholder 3">
            <a:extLst>
              <a:ext uri="{FF2B5EF4-FFF2-40B4-BE49-F238E27FC236}">
                <a16:creationId xmlns:a16="http://schemas.microsoft.com/office/drawing/2014/main" id="{C225CB10-B47E-7107-DCCA-F12462DFCB23}"/>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114C5AA3-B3F8-3C9A-14A9-E51A0C3EAB77}"/>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3422453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E3C77F-BB42-FEA3-DDB1-6CE7C97D389E}"/>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3" name="Footer Placeholder 2">
            <a:extLst>
              <a:ext uri="{FF2B5EF4-FFF2-40B4-BE49-F238E27FC236}">
                <a16:creationId xmlns:a16="http://schemas.microsoft.com/office/drawing/2014/main" id="{BE06C3A3-E5F4-3723-C082-B5A8E0371192}"/>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80C7035E-6F70-39AD-1570-F64B1074153F}"/>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3172698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ED7FC-F934-AC2B-719D-A6156FC8DBAA}"/>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3A9B97B0-0E81-F93D-790B-C744A86736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BA5CEA8C-561D-0DC0-5111-D51FB6730E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7C8C8E1A-13D9-A497-B9EB-3522F84DDCE8}"/>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6" name="Footer Placeholder 5">
            <a:extLst>
              <a:ext uri="{FF2B5EF4-FFF2-40B4-BE49-F238E27FC236}">
                <a16:creationId xmlns:a16="http://schemas.microsoft.com/office/drawing/2014/main" id="{03F4C82A-9245-1FAF-09C7-011809608667}"/>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82F5A832-93B5-4CEC-7303-EB862821921A}"/>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3797240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AEDB-1913-1637-1C52-3141A48E9CF4}"/>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557EAA3D-E0A2-BFA2-8232-B262F65356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EE5393D9-0926-0071-1CED-B46087629C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0ED27703-09E8-8F85-5490-2D0B9ECCA9CD}"/>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6" name="Footer Placeholder 5">
            <a:extLst>
              <a:ext uri="{FF2B5EF4-FFF2-40B4-BE49-F238E27FC236}">
                <a16:creationId xmlns:a16="http://schemas.microsoft.com/office/drawing/2014/main" id="{0769D056-2D27-D72B-6E05-A5C65EFDD9AE}"/>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E1D13898-CE00-BD3B-3970-776D0F8268DB}"/>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913457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29E98-EBF7-CEC5-32F3-ACDB60EC6EE4}"/>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13EDB3B0-9349-F9BC-845F-0F4AB91669E2}"/>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24CF13C5-8AE6-2A7B-61F3-B00B94A315E1}"/>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5" name="Footer Placeholder 4">
            <a:extLst>
              <a:ext uri="{FF2B5EF4-FFF2-40B4-BE49-F238E27FC236}">
                <a16:creationId xmlns:a16="http://schemas.microsoft.com/office/drawing/2014/main" id="{9DCF7576-CE15-4026-94FE-BD15863BD63A}"/>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CBBDDE91-9E5B-D6FC-3BE8-8F49759D8F69}"/>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3777424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A680F-7E37-2D90-B26C-21BAE3B8484B}"/>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C7945834-C87B-06D7-453C-AEF89463AE77}"/>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CD593D25-D341-88CD-599C-C7C4AE175273}"/>
              </a:ext>
            </a:extLst>
          </p:cNvPr>
          <p:cNvSpPr>
            <a:spLocks noGrp="1"/>
          </p:cNvSpPr>
          <p:nvPr>
            <p:ph type="dt" sz="half" idx="10"/>
          </p:nvPr>
        </p:nvSpPr>
        <p:spPr/>
        <p:txBody>
          <a:bodyPr/>
          <a:lstStyle/>
          <a:p>
            <a:fld id="{BE99B4FA-A826-443A-A9CC-FD5CCBACC808}" type="datetimeFigureOut">
              <a:rPr lang="zh-CN" altLang="en-US" smtClean="0"/>
              <a:t>2026/4/10</a:t>
            </a:fld>
            <a:endParaRPr lang="zh-CN" altLang="en-US"/>
          </a:p>
        </p:txBody>
      </p:sp>
      <p:sp>
        <p:nvSpPr>
          <p:cNvPr id="5" name="Footer Placeholder 4">
            <a:extLst>
              <a:ext uri="{FF2B5EF4-FFF2-40B4-BE49-F238E27FC236}">
                <a16:creationId xmlns:a16="http://schemas.microsoft.com/office/drawing/2014/main" id="{EABD0540-A162-0BD9-0131-9D4B833F6406}"/>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18B05C91-7A21-FA9E-47ED-6B147CB69286}"/>
              </a:ext>
            </a:extLst>
          </p:cNvPr>
          <p:cNvSpPr>
            <a:spLocks noGrp="1"/>
          </p:cNvSpPr>
          <p:nvPr>
            <p:ph type="sldNum" sz="quarter" idx="12"/>
          </p:nvPr>
        </p:nvSpPr>
        <p:spPr/>
        <p:txBody>
          <a:body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3304228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943259-2F2D-784C-E850-3AE30C4803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700DF641-09DD-1FEB-C743-18DAF5A01E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599FAC89-3FAB-B252-1BFC-8AD31C17A3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99B4FA-A826-443A-A9CC-FD5CCBACC808}" type="datetimeFigureOut">
              <a:rPr lang="zh-CN" altLang="en-US" smtClean="0"/>
              <a:t>2026/4/10</a:t>
            </a:fld>
            <a:endParaRPr lang="zh-CN" altLang="en-US"/>
          </a:p>
        </p:txBody>
      </p:sp>
      <p:sp>
        <p:nvSpPr>
          <p:cNvPr id="5" name="Footer Placeholder 4">
            <a:extLst>
              <a:ext uri="{FF2B5EF4-FFF2-40B4-BE49-F238E27FC236}">
                <a16:creationId xmlns:a16="http://schemas.microsoft.com/office/drawing/2014/main" id="{6130FC97-D48E-5CF3-AC7D-E124038EB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08EE8858-8DD5-C7DA-249D-C85E2EADC2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50F276-B10D-45E7-B94B-F982263BEE75}" type="slidenum">
              <a:rPr lang="zh-CN" altLang="en-US" smtClean="0"/>
              <a:t>‹#›</a:t>
            </a:fld>
            <a:endParaRPr lang="zh-CN" altLang="en-US"/>
          </a:p>
        </p:txBody>
      </p:sp>
    </p:spTree>
    <p:extLst>
      <p:ext uri="{BB962C8B-B14F-4D97-AF65-F5344CB8AC3E}">
        <p14:creationId xmlns:p14="http://schemas.microsoft.com/office/powerpoint/2010/main" val="14868842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F417C-E4FE-7B76-34B8-67B299D2653F}"/>
              </a:ext>
            </a:extLst>
          </p:cNvPr>
          <p:cNvSpPr>
            <a:spLocks noGrp="1"/>
          </p:cNvSpPr>
          <p:nvPr>
            <p:ph type="ctrTitle"/>
          </p:nvPr>
        </p:nvSpPr>
        <p:spPr/>
        <p:txBody>
          <a:bodyPr/>
          <a:lstStyle/>
          <a:p>
            <a:r>
              <a:rPr lang="en-US" altLang="zh-CN" dirty="0"/>
              <a:t>Embodied AI week 10</a:t>
            </a:r>
            <a:endParaRPr lang="zh-CN" altLang="en-US" dirty="0"/>
          </a:p>
        </p:txBody>
      </p:sp>
      <p:sp>
        <p:nvSpPr>
          <p:cNvPr id="3" name="Subtitle 2">
            <a:extLst>
              <a:ext uri="{FF2B5EF4-FFF2-40B4-BE49-F238E27FC236}">
                <a16:creationId xmlns:a16="http://schemas.microsoft.com/office/drawing/2014/main" id="{823B9D81-4FCD-C310-53B0-5AAE1FA52CDD}"/>
              </a:ext>
            </a:extLst>
          </p:cNvPr>
          <p:cNvSpPr>
            <a:spLocks noGrp="1"/>
          </p:cNvSpPr>
          <p:nvPr>
            <p:ph type="subTitle" idx="1"/>
          </p:nvPr>
        </p:nvSpPr>
        <p:spPr/>
        <p:txBody>
          <a:bodyPr/>
          <a:lstStyle/>
          <a:p>
            <a:r>
              <a:rPr lang="en-US" altLang="zh-CN" dirty="0"/>
              <a:t>- </a:t>
            </a:r>
            <a:r>
              <a:rPr lang="en-US" altLang="zh-CN" dirty="0" err="1"/>
              <a:t>Shaoqin</a:t>
            </a:r>
            <a:r>
              <a:rPr lang="en-US" altLang="zh-CN" dirty="0"/>
              <a:t> Li</a:t>
            </a:r>
            <a:endParaRPr lang="zh-CN" altLang="en-US" dirty="0"/>
          </a:p>
        </p:txBody>
      </p:sp>
    </p:spTree>
    <p:extLst>
      <p:ext uri="{BB962C8B-B14F-4D97-AF65-F5344CB8AC3E}">
        <p14:creationId xmlns:p14="http://schemas.microsoft.com/office/powerpoint/2010/main" val="279008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ED74B-B36D-AF19-2661-5B1944C29EE2}"/>
              </a:ext>
            </a:extLst>
          </p:cNvPr>
          <p:cNvSpPr>
            <a:spLocks noGrp="1"/>
          </p:cNvSpPr>
          <p:nvPr>
            <p:ph type="title"/>
          </p:nvPr>
        </p:nvSpPr>
        <p:spPr/>
        <p:txBody>
          <a:bodyPr/>
          <a:lstStyle/>
          <a:p>
            <a:r>
              <a:rPr lang="en-US" altLang="zh-CN" dirty="0"/>
              <a:t>Training result</a:t>
            </a:r>
            <a:endParaRPr lang="zh-CN" altLang="en-US" dirty="0"/>
          </a:p>
        </p:txBody>
      </p:sp>
      <p:pic>
        <p:nvPicPr>
          <p:cNvPr id="4" name="Recording 2026-04-10 103053">
            <a:hlinkClick r:id="" action="ppaction://media"/>
            <a:extLst>
              <a:ext uri="{FF2B5EF4-FFF2-40B4-BE49-F238E27FC236}">
                <a16:creationId xmlns:a16="http://schemas.microsoft.com/office/drawing/2014/main" id="{792E4DB1-400E-94DC-443D-8517C2F7389F}"/>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371725" y="1825625"/>
            <a:ext cx="7448550" cy="4351338"/>
          </a:xfrm>
        </p:spPr>
      </p:pic>
    </p:spTree>
    <p:extLst>
      <p:ext uri="{BB962C8B-B14F-4D97-AF65-F5344CB8AC3E}">
        <p14:creationId xmlns:p14="http://schemas.microsoft.com/office/powerpoint/2010/main" val="1579539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7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B8A00-AE06-E197-2D9E-880456E6E029}"/>
              </a:ext>
            </a:extLst>
          </p:cNvPr>
          <p:cNvSpPr>
            <a:spLocks noGrp="1"/>
          </p:cNvSpPr>
          <p:nvPr>
            <p:ph type="title"/>
          </p:nvPr>
        </p:nvSpPr>
        <p:spPr/>
        <p:txBody>
          <a:bodyPr/>
          <a:lstStyle/>
          <a:p>
            <a:r>
              <a:rPr lang="en-US" altLang="zh-CN" dirty="0"/>
              <a:t>Reflection</a:t>
            </a:r>
            <a:endParaRPr lang="zh-CN" altLang="en-US" dirty="0"/>
          </a:p>
        </p:txBody>
      </p:sp>
      <p:sp>
        <p:nvSpPr>
          <p:cNvPr id="3" name="Content Placeholder 2">
            <a:extLst>
              <a:ext uri="{FF2B5EF4-FFF2-40B4-BE49-F238E27FC236}">
                <a16:creationId xmlns:a16="http://schemas.microsoft.com/office/drawing/2014/main" id="{22CF5F4E-DF5E-C3B8-C045-16734FEAE24D}"/>
              </a:ext>
            </a:extLst>
          </p:cNvPr>
          <p:cNvSpPr>
            <a:spLocks noGrp="1"/>
          </p:cNvSpPr>
          <p:nvPr>
            <p:ph idx="1"/>
          </p:nvPr>
        </p:nvSpPr>
        <p:spPr/>
        <p:txBody>
          <a:bodyPr/>
          <a:lstStyle/>
          <a:p>
            <a:r>
              <a:rPr lang="en-US" altLang="zh-CN" dirty="0"/>
              <a:t>As we can see, there are some movements on the legs this time. But there are 3 major issues remaining:</a:t>
            </a:r>
          </a:p>
          <a:p>
            <a:r>
              <a:rPr lang="en-US" altLang="zh-CN" dirty="0"/>
              <a:t>Wide leg distance</a:t>
            </a:r>
          </a:p>
          <a:p>
            <a:r>
              <a:rPr lang="en-US" altLang="zh-CN" dirty="0"/>
              <a:t>Spinning</a:t>
            </a:r>
          </a:p>
          <a:p>
            <a:r>
              <a:rPr lang="en-US" altLang="zh-CN" dirty="0"/>
              <a:t>Not Walking straight</a:t>
            </a:r>
          </a:p>
          <a:p>
            <a:endParaRPr lang="zh-CN" altLang="en-US" dirty="0"/>
          </a:p>
        </p:txBody>
      </p:sp>
      <p:pic>
        <p:nvPicPr>
          <p:cNvPr id="5" name="Picture 4">
            <a:extLst>
              <a:ext uri="{FF2B5EF4-FFF2-40B4-BE49-F238E27FC236}">
                <a16:creationId xmlns:a16="http://schemas.microsoft.com/office/drawing/2014/main" id="{C8C32B27-CD12-7DB1-1EBD-0F4A305ADBF8}"/>
              </a:ext>
            </a:extLst>
          </p:cNvPr>
          <p:cNvPicPr>
            <a:picLocks noChangeAspect="1"/>
          </p:cNvPicPr>
          <p:nvPr/>
        </p:nvPicPr>
        <p:blipFill>
          <a:blip r:embed="rId2"/>
          <a:stretch>
            <a:fillRect/>
          </a:stretch>
        </p:blipFill>
        <p:spPr>
          <a:xfrm>
            <a:off x="7417559" y="2355464"/>
            <a:ext cx="3124636" cy="4277322"/>
          </a:xfrm>
          <a:prstGeom prst="rect">
            <a:avLst/>
          </a:prstGeom>
        </p:spPr>
      </p:pic>
    </p:spTree>
    <p:extLst>
      <p:ext uri="{BB962C8B-B14F-4D97-AF65-F5344CB8AC3E}">
        <p14:creationId xmlns:p14="http://schemas.microsoft.com/office/powerpoint/2010/main" val="1844871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D53B3-47C7-52ED-2285-CBDE4F8F9371}"/>
              </a:ext>
            </a:extLst>
          </p:cNvPr>
          <p:cNvSpPr>
            <a:spLocks noGrp="1"/>
          </p:cNvSpPr>
          <p:nvPr>
            <p:ph type="title"/>
          </p:nvPr>
        </p:nvSpPr>
        <p:spPr/>
        <p:txBody>
          <a:bodyPr/>
          <a:lstStyle/>
          <a:p>
            <a:r>
              <a:rPr lang="en-US" altLang="zh-CN" dirty="0"/>
              <a:t>How to fix</a:t>
            </a:r>
            <a:endParaRPr lang="zh-CN" altLang="en-US" dirty="0"/>
          </a:p>
        </p:txBody>
      </p:sp>
      <p:sp>
        <p:nvSpPr>
          <p:cNvPr id="3" name="Content Placeholder 2">
            <a:extLst>
              <a:ext uri="{FF2B5EF4-FFF2-40B4-BE49-F238E27FC236}">
                <a16:creationId xmlns:a16="http://schemas.microsoft.com/office/drawing/2014/main" id="{8139C987-0174-53CE-0399-2D3EF85B8881}"/>
              </a:ext>
            </a:extLst>
          </p:cNvPr>
          <p:cNvSpPr>
            <a:spLocks noGrp="1"/>
          </p:cNvSpPr>
          <p:nvPr>
            <p:ph idx="1"/>
          </p:nvPr>
        </p:nvSpPr>
        <p:spPr/>
        <p:txBody>
          <a:bodyPr/>
          <a:lstStyle/>
          <a:p>
            <a:r>
              <a:rPr lang="en-US" altLang="zh-CN" dirty="0"/>
              <a:t>Leg stance</a:t>
            </a:r>
          </a:p>
          <a:p>
            <a:pPr lvl="1"/>
            <a:r>
              <a:rPr lang="en-US" altLang="zh-CN" dirty="0"/>
              <a:t>The reward related to the leg distance is </a:t>
            </a:r>
            <a:r>
              <a:rPr lang="en-US" altLang="zh-CN" dirty="0" err="1"/>
              <a:t>w_hip_pos</a:t>
            </a:r>
            <a:r>
              <a:rPr lang="en-US" altLang="zh-CN" dirty="0"/>
              <a:t>, which I set it as a penalty. But it seems like I either not punish it hard enough or the array for this penalty is wrong, making it punish the wrong joints</a:t>
            </a:r>
          </a:p>
          <a:p>
            <a:r>
              <a:rPr lang="en-US" altLang="zh-CN" dirty="0"/>
              <a:t>Spinning</a:t>
            </a:r>
          </a:p>
          <a:p>
            <a:pPr lvl="1"/>
            <a:r>
              <a:rPr lang="en-US" altLang="zh-CN" dirty="0" err="1"/>
              <a:t>w_ang_vel_xy</a:t>
            </a:r>
            <a:r>
              <a:rPr lang="en-US" altLang="zh-CN" dirty="0"/>
              <a:t> is the issue, it means the agent will get reward no matter what position it is at</a:t>
            </a:r>
          </a:p>
          <a:p>
            <a:r>
              <a:rPr lang="en-US" altLang="zh-CN" dirty="0"/>
              <a:t>Not walking Straight</a:t>
            </a:r>
          </a:p>
          <a:p>
            <a:pPr lvl="1"/>
            <a:r>
              <a:rPr lang="en-US" altLang="zh-CN" dirty="0"/>
              <a:t>My velocity command is in the world frame, but the agent doesn’t know which direction is x.</a:t>
            </a:r>
          </a:p>
          <a:p>
            <a:endParaRPr lang="en-US" altLang="zh-CN" dirty="0"/>
          </a:p>
          <a:p>
            <a:endParaRPr lang="zh-CN" altLang="en-US" dirty="0"/>
          </a:p>
        </p:txBody>
      </p:sp>
    </p:spTree>
    <p:extLst>
      <p:ext uri="{BB962C8B-B14F-4D97-AF65-F5344CB8AC3E}">
        <p14:creationId xmlns:p14="http://schemas.microsoft.com/office/powerpoint/2010/main" val="3251546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35990FB-9B18-33FE-BDB4-FF075A019799}"/>
              </a:ext>
            </a:extLst>
          </p:cNvPr>
          <p:cNvSpPr>
            <a:spLocks noGrp="1"/>
          </p:cNvSpPr>
          <p:nvPr>
            <p:ph type="title"/>
          </p:nvPr>
        </p:nvSpPr>
        <p:spPr>
          <a:xfrm>
            <a:off x="1137034" y="609597"/>
            <a:ext cx="9392421" cy="1330841"/>
          </a:xfrm>
        </p:spPr>
        <p:txBody>
          <a:bodyPr>
            <a:normAutofit/>
          </a:bodyPr>
          <a:lstStyle/>
          <a:p>
            <a:br>
              <a:rPr lang="en-US" altLang="zh-CN" sz="2100" b="1" dirty="0"/>
            </a:br>
            <a:r>
              <a:rPr lang="en-US" altLang="zh-CN" sz="2100" b="1" dirty="0" err="1"/>
              <a:t>RoboClaw</a:t>
            </a:r>
            <a:r>
              <a:rPr lang="en-US" altLang="zh-CN" sz="2100" b="1" dirty="0"/>
              <a:t>: An Agentic Framework for Scalable Long-Horizon Robotic Tasks</a:t>
            </a:r>
            <a:br>
              <a:rPr lang="en-US" altLang="zh-CN" sz="2100" b="1" dirty="0"/>
            </a:br>
            <a:endParaRPr lang="zh-CN" altLang="en-US" sz="2100" dirty="0"/>
          </a:p>
        </p:txBody>
      </p:sp>
      <p:sp>
        <p:nvSpPr>
          <p:cNvPr id="3" name="Content Placeholder 2">
            <a:extLst>
              <a:ext uri="{FF2B5EF4-FFF2-40B4-BE49-F238E27FC236}">
                <a16:creationId xmlns:a16="http://schemas.microsoft.com/office/drawing/2014/main" id="{3843C4BB-6CEB-D143-AC86-2232FCAB0654}"/>
              </a:ext>
            </a:extLst>
          </p:cNvPr>
          <p:cNvSpPr>
            <a:spLocks noGrp="1"/>
          </p:cNvSpPr>
          <p:nvPr>
            <p:ph idx="1"/>
          </p:nvPr>
        </p:nvSpPr>
        <p:spPr>
          <a:xfrm>
            <a:off x="1137034" y="2061836"/>
            <a:ext cx="4958966" cy="3917773"/>
          </a:xfrm>
        </p:spPr>
        <p:txBody>
          <a:bodyPr>
            <a:normAutofit fontScale="70000" lnSpcReduction="20000"/>
          </a:bodyPr>
          <a:lstStyle/>
          <a:p>
            <a:r>
              <a:rPr lang="en-US" altLang="zh-CN" dirty="0" err="1"/>
              <a:t>RoboClaw</a:t>
            </a:r>
            <a:r>
              <a:rPr lang="en-US" altLang="zh-CN" dirty="0"/>
              <a:t> is an agentic robotics framework for long-horizon manipulation created by groups from </a:t>
            </a:r>
            <a:r>
              <a:rPr lang="en-US" altLang="zh-CN" dirty="0" err="1"/>
              <a:t>AgiBot</a:t>
            </a:r>
            <a:r>
              <a:rPr lang="en-US" altLang="zh-CN" dirty="0"/>
              <a:t>, National University of Singapore and Shanghai Jiao Tong University. It uses a vision-language model as the high-level controller and keeps the same agent in the loop during data collection, policy learning, and deployment.</a:t>
            </a:r>
          </a:p>
          <a:p>
            <a:r>
              <a:rPr lang="en-US" altLang="zh-CN" dirty="0"/>
              <a:t>Instead of treating those stages as separate systems, </a:t>
            </a:r>
            <a:r>
              <a:rPr lang="en-US" altLang="zh-CN" dirty="0" err="1"/>
              <a:t>RoboClaw</a:t>
            </a:r>
            <a:r>
              <a:rPr lang="en-US" altLang="zh-CN" dirty="0"/>
              <a:t> lets the agent reason over context, choose skills, monitor execution, and feed deployment experience back into training.</a:t>
            </a:r>
          </a:p>
          <a:p>
            <a:endParaRPr lang="zh-CN" altLang="en-US" sz="2000" dirty="0"/>
          </a:p>
        </p:txBody>
      </p:sp>
      <p:pic>
        <p:nvPicPr>
          <p:cNvPr id="5" name="Picture 4">
            <a:extLst>
              <a:ext uri="{FF2B5EF4-FFF2-40B4-BE49-F238E27FC236}">
                <a16:creationId xmlns:a16="http://schemas.microsoft.com/office/drawing/2014/main" id="{7F9DE188-470C-B502-279C-B7A815CF760B}"/>
              </a:ext>
            </a:extLst>
          </p:cNvPr>
          <p:cNvPicPr>
            <a:picLocks noChangeAspect="1"/>
          </p:cNvPicPr>
          <p:nvPr/>
        </p:nvPicPr>
        <p:blipFill>
          <a:blip r:embed="rId2"/>
          <a:stretch>
            <a:fillRect/>
          </a:stretch>
        </p:blipFill>
        <p:spPr>
          <a:xfrm>
            <a:off x="6719367" y="2823846"/>
            <a:ext cx="4788505" cy="2478050"/>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96391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8AD44-90F8-E672-0E60-8C52C90870E0}"/>
              </a:ext>
            </a:extLst>
          </p:cNvPr>
          <p:cNvSpPr>
            <a:spLocks noGrp="1"/>
          </p:cNvSpPr>
          <p:nvPr>
            <p:ph type="title"/>
          </p:nvPr>
        </p:nvSpPr>
        <p:spPr/>
        <p:txBody>
          <a:bodyPr/>
          <a:lstStyle/>
          <a:p>
            <a:r>
              <a:rPr lang="en-US" altLang="zh-CN" dirty="0"/>
              <a:t>Core Problems</a:t>
            </a:r>
            <a:endParaRPr lang="zh-CN" altLang="en-US" dirty="0"/>
          </a:p>
        </p:txBody>
      </p:sp>
      <p:sp>
        <p:nvSpPr>
          <p:cNvPr id="3" name="Content Placeholder 2">
            <a:extLst>
              <a:ext uri="{FF2B5EF4-FFF2-40B4-BE49-F238E27FC236}">
                <a16:creationId xmlns:a16="http://schemas.microsoft.com/office/drawing/2014/main" id="{4DA29C08-89F1-AEB1-02F7-E790FEDCFF29}"/>
              </a:ext>
            </a:extLst>
          </p:cNvPr>
          <p:cNvSpPr>
            <a:spLocks noGrp="1"/>
          </p:cNvSpPr>
          <p:nvPr>
            <p:ph idx="1"/>
          </p:nvPr>
        </p:nvSpPr>
        <p:spPr/>
        <p:txBody>
          <a:bodyPr>
            <a:normAutofit fontScale="92500" lnSpcReduction="10000"/>
          </a:bodyPr>
          <a:lstStyle/>
          <a:p>
            <a:r>
              <a:rPr lang="en-US" altLang="zh-CN" dirty="0"/>
              <a:t>Long Horizon Tasks are difficult</a:t>
            </a:r>
          </a:p>
          <a:p>
            <a:pPr lvl="1"/>
            <a:r>
              <a:rPr lang="en-US" altLang="zh-CN" dirty="0"/>
              <a:t>In long-horizon tasks, small errors do not stay local — they propagate and compound through subsequent steps. This makes robustness to distribution shift and consistent inter-policy semantics critically important. Existing methods lack a unified mechanism to achieve this.</a:t>
            </a:r>
            <a:endParaRPr lang="zh-CN" altLang="zh-CN" dirty="0"/>
          </a:p>
          <a:p>
            <a:r>
              <a:rPr lang="en-US" altLang="zh-CN" dirty="0"/>
              <a:t>The Fragmentation Problem in Existing Pipelines</a:t>
            </a:r>
          </a:p>
          <a:p>
            <a:pPr lvl="1"/>
            <a:r>
              <a:rPr lang="en-US" altLang="zh-CN" dirty="0"/>
              <a:t>Reset dependency: Manual environment resets are required between data collection episodes, imposing high human labor costs and limiting scalability.</a:t>
            </a:r>
            <a:endParaRPr lang="zh-CN" altLang="zh-CN" dirty="0"/>
          </a:p>
          <a:p>
            <a:pPr lvl="1"/>
            <a:r>
              <a:rPr lang="en-US" altLang="zh-CN" dirty="0"/>
              <a:t>Train-deploy mismatch: When data collection, model training, and execution are driven by independent processes, the training data distribution diverges from deployment conditions — causing cascading failures in multi-step tasks.</a:t>
            </a:r>
            <a:endParaRPr lang="zh-CN" altLang="zh-CN" dirty="0"/>
          </a:p>
          <a:p>
            <a:pPr lvl="1"/>
            <a:r>
              <a:rPr lang="en-US" altLang="zh-CN" dirty="0"/>
              <a:t>Multi-policy brittleness: Different modules for data gathering, policy learning, and orchestration introduce mismatched semantic representations, making long-horizon task chains inherently fragile</a:t>
            </a:r>
            <a:endParaRPr lang="zh-CN" altLang="en-US" dirty="0"/>
          </a:p>
        </p:txBody>
      </p:sp>
    </p:spTree>
    <p:extLst>
      <p:ext uri="{BB962C8B-B14F-4D97-AF65-F5344CB8AC3E}">
        <p14:creationId xmlns:p14="http://schemas.microsoft.com/office/powerpoint/2010/main" val="2329106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1541D-1899-9CC8-9572-01C797E6A66B}"/>
              </a:ext>
            </a:extLst>
          </p:cNvPr>
          <p:cNvSpPr>
            <a:spLocks noGrp="1"/>
          </p:cNvSpPr>
          <p:nvPr>
            <p:ph type="title"/>
          </p:nvPr>
        </p:nvSpPr>
        <p:spPr/>
        <p:txBody>
          <a:bodyPr>
            <a:normAutofit fontScale="90000"/>
          </a:bodyPr>
          <a:lstStyle/>
          <a:p>
            <a:r>
              <a:rPr lang="en-US" altLang="zh-CN" dirty="0"/>
              <a:t>Framework -Unified VLM-Driven Agent Architecture</a:t>
            </a:r>
            <a:br>
              <a:rPr lang="zh-CN" altLang="zh-CN" dirty="0"/>
            </a:br>
            <a:endParaRPr lang="zh-CN" altLang="en-US" dirty="0"/>
          </a:p>
        </p:txBody>
      </p:sp>
      <p:sp>
        <p:nvSpPr>
          <p:cNvPr id="3" name="Content Placeholder 2">
            <a:extLst>
              <a:ext uri="{FF2B5EF4-FFF2-40B4-BE49-F238E27FC236}">
                <a16:creationId xmlns:a16="http://schemas.microsoft.com/office/drawing/2014/main" id="{7DD01C88-17DC-858A-40E8-545C1F1B25F2}"/>
              </a:ext>
            </a:extLst>
          </p:cNvPr>
          <p:cNvSpPr>
            <a:spLocks noGrp="1"/>
          </p:cNvSpPr>
          <p:nvPr>
            <p:ph idx="1"/>
          </p:nvPr>
        </p:nvSpPr>
        <p:spPr/>
        <p:txBody>
          <a:bodyPr/>
          <a:lstStyle/>
          <a:p>
            <a:pPr marL="0" indent="0">
              <a:buNone/>
            </a:pPr>
            <a:r>
              <a:rPr lang="en-US" altLang="zh-CN" dirty="0" err="1"/>
              <a:t>RoboClaw</a:t>
            </a:r>
            <a:r>
              <a:rPr lang="en-US" altLang="zh-CN" dirty="0"/>
              <a:t> follows a single interaction paradigm: a user sends a natural-language task instruction, and the robot autonomously reasons and executes. The same VLM controller governs data collection, iterative policy refinement, and final task deployment — ensuring semantic consistency across all stages.</a:t>
            </a:r>
            <a:endParaRPr lang="zh-CN" altLang="zh-CN" dirty="0"/>
          </a:p>
          <a:p>
            <a:endParaRPr lang="zh-CN" altLang="en-US" dirty="0"/>
          </a:p>
        </p:txBody>
      </p:sp>
    </p:spTree>
    <p:extLst>
      <p:ext uri="{BB962C8B-B14F-4D97-AF65-F5344CB8AC3E}">
        <p14:creationId xmlns:p14="http://schemas.microsoft.com/office/powerpoint/2010/main" val="2849845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7A83D-281C-F64A-1D5A-E3E9E434DD61}"/>
              </a:ext>
            </a:extLst>
          </p:cNvPr>
          <p:cNvSpPr>
            <a:spLocks noGrp="1"/>
          </p:cNvSpPr>
          <p:nvPr>
            <p:ph type="title"/>
          </p:nvPr>
        </p:nvSpPr>
        <p:spPr/>
        <p:txBody>
          <a:bodyPr/>
          <a:lstStyle/>
          <a:p>
            <a:r>
              <a:rPr lang="en-US" altLang="zh-CN" dirty="0"/>
              <a:t>Framework-Entangled Action Pairs (EAP)</a:t>
            </a:r>
            <a:endParaRPr lang="zh-CN" altLang="en-US" dirty="0"/>
          </a:p>
        </p:txBody>
      </p:sp>
      <p:sp>
        <p:nvSpPr>
          <p:cNvPr id="3" name="Content Placeholder 2">
            <a:extLst>
              <a:ext uri="{FF2B5EF4-FFF2-40B4-BE49-F238E27FC236}">
                <a16:creationId xmlns:a16="http://schemas.microsoft.com/office/drawing/2014/main" id="{DFCE0D7C-1AB9-7C7B-7141-E50A902A10A5}"/>
              </a:ext>
            </a:extLst>
          </p:cNvPr>
          <p:cNvSpPr>
            <a:spLocks noGrp="1"/>
          </p:cNvSpPr>
          <p:nvPr>
            <p:ph idx="1"/>
          </p:nvPr>
        </p:nvSpPr>
        <p:spPr/>
        <p:txBody>
          <a:bodyPr>
            <a:normAutofit fontScale="92500" lnSpcReduction="20000"/>
          </a:bodyPr>
          <a:lstStyle/>
          <a:p>
            <a:pPr marL="0" indent="0">
              <a:buNone/>
            </a:pPr>
            <a:r>
              <a:rPr lang="en-US" altLang="zh-CN" dirty="0"/>
              <a:t>The central technical contribution of </a:t>
            </a:r>
            <a:r>
              <a:rPr lang="en-US" altLang="zh-CN" dirty="0" err="1"/>
              <a:t>RoboClaw</a:t>
            </a:r>
            <a:r>
              <a:rPr lang="en-US" altLang="zh-CN" dirty="0"/>
              <a:t> is the Entangled Action Pair (EAP) mechanism. For each manipulation skill, </a:t>
            </a:r>
            <a:r>
              <a:rPr lang="en-US" altLang="zh-CN" dirty="0" err="1"/>
              <a:t>RoboClaw</a:t>
            </a:r>
            <a:r>
              <a:rPr lang="en-US" altLang="zh-CN" dirty="0"/>
              <a:t> pairs:</a:t>
            </a:r>
            <a:endParaRPr lang="zh-CN" altLang="zh-CN" dirty="0"/>
          </a:p>
          <a:p>
            <a:pPr lvl="0"/>
            <a:r>
              <a:rPr lang="en-US" altLang="zh-CN" dirty="0"/>
              <a:t>Forward action: A forward manipulation behavior (e.g., pick up an object)</a:t>
            </a:r>
            <a:endParaRPr lang="zh-CN" altLang="zh-CN" dirty="0"/>
          </a:p>
          <a:p>
            <a:pPr lvl="0"/>
            <a:r>
              <a:rPr lang="en-US" altLang="zh-CN" dirty="0"/>
              <a:t>Inverse action: A complementary inverse recovery action that returns the environment to a reusable starting state (e.g., place the object back)</a:t>
            </a:r>
            <a:endParaRPr lang="zh-CN" altLang="zh-CN" dirty="0"/>
          </a:p>
          <a:p>
            <a:pPr marL="0" indent="0">
              <a:buNone/>
            </a:pPr>
            <a:r>
              <a:rPr lang="en-US" altLang="zh-CN" dirty="0"/>
              <a:t> </a:t>
            </a:r>
            <a:endParaRPr lang="zh-CN" altLang="zh-CN" dirty="0"/>
          </a:p>
          <a:p>
            <a:pPr marL="0" indent="0">
              <a:buNone/>
            </a:pPr>
            <a:r>
              <a:rPr lang="en-US" altLang="zh-CN" dirty="0"/>
              <a:t>These paired actions alternate execution under agent control, forming a self-resetting loop. This enables the robot to practice the same skill continuously without any human intervention to reset the scene. The result is autonomous, on-policy data collection at scale — eliminating one of the most labor-intensive bottlenecks in robotics research.</a:t>
            </a:r>
            <a:endParaRPr lang="zh-CN" altLang="zh-CN" dirty="0"/>
          </a:p>
          <a:p>
            <a:endParaRPr lang="zh-CN" altLang="en-US" dirty="0"/>
          </a:p>
        </p:txBody>
      </p:sp>
    </p:spTree>
    <p:extLst>
      <p:ext uri="{BB962C8B-B14F-4D97-AF65-F5344CB8AC3E}">
        <p14:creationId xmlns:p14="http://schemas.microsoft.com/office/powerpoint/2010/main" val="833792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D6742-B7D1-0FBD-FC2F-07DBD2CC3D98}"/>
              </a:ext>
            </a:extLst>
          </p:cNvPr>
          <p:cNvSpPr>
            <a:spLocks noGrp="1"/>
          </p:cNvSpPr>
          <p:nvPr>
            <p:ph type="title"/>
          </p:nvPr>
        </p:nvSpPr>
        <p:spPr/>
        <p:txBody>
          <a:bodyPr/>
          <a:lstStyle/>
          <a:p>
            <a:r>
              <a:rPr lang="en-US" altLang="zh-CN" dirty="0"/>
              <a:t>Framework-Dynamic Skill Orchestration at Deployment</a:t>
            </a:r>
            <a:endParaRPr lang="zh-CN" altLang="en-US" dirty="0"/>
          </a:p>
        </p:txBody>
      </p:sp>
      <p:sp>
        <p:nvSpPr>
          <p:cNvPr id="3" name="Content Placeholder 2">
            <a:extLst>
              <a:ext uri="{FF2B5EF4-FFF2-40B4-BE49-F238E27FC236}">
                <a16:creationId xmlns:a16="http://schemas.microsoft.com/office/drawing/2014/main" id="{DE65D47C-92BC-F2BB-C1A0-7E9079CDE2FF}"/>
              </a:ext>
            </a:extLst>
          </p:cNvPr>
          <p:cNvSpPr>
            <a:spLocks noGrp="1"/>
          </p:cNvSpPr>
          <p:nvPr>
            <p:ph idx="1"/>
          </p:nvPr>
        </p:nvSpPr>
        <p:spPr/>
        <p:txBody>
          <a:bodyPr/>
          <a:lstStyle/>
          <a:p>
            <a:r>
              <a:rPr lang="en-US" altLang="zh-CN" dirty="0"/>
              <a:t>At inference time, the same VLM agent performs high-level task reasoning and dynamically schedules learned skill primitives based on the current environmental context. Rather than following a static, pre-planned skill sequence, the agent monitors subtask states in real time, validates execution conditions, and triggers recovery behaviors when deviations are detected. This makes the system robust to partial failures and environmental perturbations</a:t>
            </a:r>
            <a:endParaRPr lang="zh-CN" altLang="en-US" dirty="0"/>
          </a:p>
        </p:txBody>
      </p:sp>
    </p:spTree>
    <p:extLst>
      <p:ext uri="{BB962C8B-B14F-4D97-AF65-F5344CB8AC3E}">
        <p14:creationId xmlns:p14="http://schemas.microsoft.com/office/powerpoint/2010/main" val="4206047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C5CEE-CAAE-83ED-6EAA-DE1920AF7C1B}"/>
              </a:ext>
            </a:extLst>
          </p:cNvPr>
          <p:cNvSpPr>
            <a:spLocks noGrp="1"/>
          </p:cNvSpPr>
          <p:nvPr>
            <p:ph type="title"/>
          </p:nvPr>
        </p:nvSpPr>
        <p:spPr/>
        <p:txBody>
          <a:bodyPr/>
          <a:lstStyle/>
          <a:p>
            <a:r>
              <a:rPr lang="en-US" altLang="zh-CN" dirty="0"/>
              <a:t>Results</a:t>
            </a:r>
            <a:endParaRPr lang="zh-CN" altLang="en-US" dirty="0"/>
          </a:p>
        </p:txBody>
      </p:sp>
      <p:sp>
        <p:nvSpPr>
          <p:cNvPr id="3" name="Content Placeholder 2">
            <a:extLst>
              <a:ext uri="{FF2B5EF4-FFF2-40B4-BE49-F238E27FC236}">
                <a16:creationId xmlns:a16="http://schemas.microsoft.com/office/drawing/2014/main" id="{58393941-4924-53C0-457E-94360BF92B4F}"/>
              </a:ext>
            </a:extLst>
          </p:cNvPr>
          <p:cNvSpPr>
            <a:spLocks noGrp="1"/>
          </p:cNvSpPr>
          <p:nvPr>
            <p:ph idx="1"/>
          </p:nvPr>
        </p:nvSpPr>
        <p:spPr/>
        <p:txBody>
          <a:bodyPr/>
          <a:lstStyle/>
          <a:p>
            <a:r>
              <a:rPr lang="en-US" altLang="zh-CN" dirty="0" err="1"/>
              <a:t>RoboClaw</a:t>
            </a:r>
            <a:r>
              <a:rPr lang="en-US" altLang="zh-CN" dirty="0"/>
              <a:t> was evaluated on real-world manipulation tasks and demonstrated substantial improvements over conventional open-loop baselines:</a:t>
            </a:r>
            <a:endParaRPr lang="zh-CN" altLang="zh-CN" dirty="0"/>
          </a:p>
          <a:p>
            <a:r>
              <a:rPr lang="en-US" altLang="zh-CN" b="1" dirty="0"/>
              <a:t>Task success: </a:t>
            </a:r>
            <a:r>
              <a:rPr lang="en-US" altLang="zh-CN" dirty="0"/>
              <a:t>Average success rate improved by 25% over baseline methods on long-horizon tasks.</a:t>
            </a:r>
            <a:endParaRPr lang="zh-CN" altLang="zh-CN" dirty="0"/>
          </a:p>
          <a:p>
            <a:r>
              <a:rPr lang="en-US" altLang="zh-CN" b="1" dirty="0"/>
              <a:t>Efficiency: </a:t>
            </a:r>
            <a:r>
              <a:rPr lang="en-US" altLang="zh-CN" dirty="0"/>
              <a:t>Human time investment reduced by 53.7% across the full robot lifecycle (data collection, training, deployment).</a:t>
            </a:r>
            <a:endParaRPr lang="zh-CN" altLang="zh-CN" dirty="0"/>
          </a:p>
          <a:p>
            <a:pPr lvl="0"/>
            <a:r>
              <a:rPr lang="en-US" altLang="zh-CN" b="1" dirty="0"/>
              <a:t>Robustness: </a:t>
            </a:r>
            <a:r>
              <a:rPr lang="en-US" altLang="zh-CN" dirty="0"/>
              <a:t>Improved multi-policy robustness compared to conventional pipelines, with fewer cascading failures.</a:t>
            </a:r>
            <a:endParaRPr lang="zh-CN" altLang="zh-CN" dirty="0"/>
          </a:p>
          <a:p>
            <a:endParaRPr lang="zh-CN" altLang="en-US" dirty="0"/>
          </a:p>
        </p:txBody>
      </p:sp>
    </p:spTree>
    <p:extLst>
      <p:ext uri="{BB962C8B-B14F-4D97-AF65-F5344CB8AC3E}">
        <p14:creationId xmlns:p14="http://schemas.microsoft.com/office/powerpoint/2010/main" val="541059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11E1A-30E2-D162-8E02-594EC51ED069}"/>
              </a:ext>
            </a:extLst>
          </p:cNvPr>
          <p:cNvSpPr>
            <a:spLocks noGrp="1"/>
          </p:cNvSpPr>
          <p:nvPr>
            <p:ph type="title"/>
          </p:nvPr>
        </p:nvSpPr>
        <p:spPr/>
        <p:txBody>
          <a:bodyPr/>
          <a:lstStyle/>
          <a:p>
            <a:r>
              <a:rPr lang="en-US" altLang="zh-CN" dirty="0"/>
              <a:t>Why it matters to us</a:t>
            </a:r>
            <a:endParaRPr lang="zh-CN" altLang="en-US" dirty="0"/>
          </a:p>
        </p:txBody>
      </p:sp>
      <p:sp>
        <p:nvSpPr>
          <p:cNvPr id="3" name="Content Placeholder 2">
            <a:extLst>
              <a:ext uri="{FF2B5EF4-FFF2-40B4-BE49-F238E27FC236}">
                <a16:creationId xmlns:a16="http://schemas.microsoft.com/office/drawing/2014/main" id="{D4D6D322-6A70-D0D8-ABC9-C9C7B7344E6B}"/>
              </a:ext>
            </a:extLst>
          </p:cNvPr>
          <p:cNvSpPr>
            <a:spLocks noGrp="1"/>
          </p:cNvSpPr>
          <p:nvPr>
            <p:ph idx="1"/>
          </p:nvPr>
        </p:nvSpPr>
        <p:spPr/>
        <p:txBody>
          <a:bodyPr/>
          <a:lstStyle/>
          <a:p>
            <a:r>
              <a:rPr lang="en-US" altLang="zh-CN" dirty="0" err="1"/>
              <a:t>RoboClaw</a:t>
            </a:r>
            <a:r>
              <a:rPr lang="en-US" altLang="zh-CN" dirty="0"/>
              <a:t> represents a meaningful shift in how the robotics community thinks about the learning pipeline. Rather than treating data collection, training, and deployment as independent engineering concerns, </a:t>
            </a:r>
            <a:r>
              <a:rPr lang="en-US" altLang="zh-CN" dirty="0" err="1"/>
              <a:t>RoboClaw</a:t>
            </a:r>
            <a:r>
              <a:rPr lang="en-US" altLang="zh-CN" dirty="0"/>
              <a:t> demonstrates that unifying them under a single agent — with consistent semantics and self-resetting data loops — yields measurable gains in both performance and scalability. The 53.7% reduction in human effort is particularly significant for real-world deployment, where operator time is often the primary cost bottleneck.</a:t>
            </a:r>
            <a:endParaRPr lang="zh-CN" altLang="en-US" dirty="0"/>
          </a:p>
        </p:txBody>
      </p:sp>
    </p:spTree>
    <p:extLst>
      <p:ext uri="{BB962C8B-B14F-4D97-AF65-F5344CB8AC3E}">
        <p14:creationId xmlns:p14="http://schemas.microsoft.com/office/powerpoint/2010/main" val="1897060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305</TotalTime>
  <Words>787</Words>
  <Application>Microsoft Office PowerPoint</Application>
  <PresentationFormat>Widescreen</PresentationFormat>
  <Paragraphs>42</Paragraphs>
  <Slides>11</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等线</vt:lpstr>
      <vt:lpstr>等线 Light</vt:lpstr>
      <vt:lpstr>Arial</vt:lpstr>
      <vt:lpstr>Office Theme</vt:lpstr>
      <vt:lpstr>Embodied AI week 10</vt:lpstr>
      <vt:lpstr>Training result</vt:lpstr>
      <vt:lpstr>Reflection</vt:lpstr>
      <vt:lpstr>How to fix</vt:lpstr>
      <vt:lpstr> RoboClaw: An Agentic Framework for Scalable Long-Horizon Robotic Tasks </vt:lpstr>
      <vt:lpstr>Core Problems</vt:lpstr>
      <vt:lpstr>Framework -Unified VLM-Driven Agent Architecture </vt:lpstr>
      <vt:lpstr>Framework-Entangled Action Pairs (EAP)</vt:lpstr>
      <vt:lpstr>Framework-Dynamic Skill Orchestration at Deployment</vt:lpstr>
      <vt:lpstr>Results</vt:lpstr>
      <vt:lpstr>Why it matters to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SHAOQIN LI</dc:creator>
  <cp:lastModifiedBy>SHAOQIN LI</cp:lastModifiedBy>
  <cp:revision>2</cp:revision>
  <dcterms:created xsi:type="dcterms:W3CDTF">2026-04-10T14:32:10Z</dcterms:created>
  <dcterms:modified xsi:type="dcterms:W3CDTF">2026-04-10T19:37:33Z</dcterms:modified>
</cp:coreProperties>
</file>