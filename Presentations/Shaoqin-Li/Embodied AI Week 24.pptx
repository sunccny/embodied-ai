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5.png"/><Relationship Id="rId5" Type="http://schemas.microsoft.com/office/2007/relationships/media" Target="../media/media4.mp4"/><Relationship Id="rId6" Type="http://schemas.openxmlformats.org/officeDocument/2006/relationships/video" Target="../media/media4.mp4"/><Relationship Id="rId7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7.png"/><Relationship Id="rId5" Type="http://schemas.microsoft.com/office/2007/relationships/media" Target="../media/media6.mp4"/><Relationship Id="rId6" Type="http://schemas.openxmlformats.org/officeDocument/2006/relationships/video" Target="../media/media6.mp4"/><Relationship Id="rId7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7.png"/><Relationship Id="rId5" Type="http://schemas.microsoft.com/office/2007/relationships/media" Target="../media/media7.mp4"/><Relationship Id="rId6" Type="http://schemas.openxmlformats.org/officeDocument/2006/relationships/video" Target="../media/media7.mp4"/><Relationship Id="rId7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8.mp4"/><Relationship Id="rId3" Type="http://schemas.openxmlformats.org/officeDocument/2006/relationships/video" Target="../media/media8.mp4"/><Relationship Id="rId4" Type="http://schemas.openxmlformats.org/officeDocument/2006/relationships/image" Target="../media/image10.png"/><Relationship Id="rId5" Type="http://schemas.microsoft.com/office/2007/relationships/media" Target="../media/media9.mp4"/><Relationship Id="rId6" Type="http://schemas.openxmlformats.org/officeDocument/2006/relationships/video" Target="../media/media9.mp4"/><Relationship Id="rId7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0.mp4"/><Relationship Id="rId3" Type="http://schemas.openxmlformats.org/officeDocument/2006/relationships/video" Target="../media/media10.mp4"/><Relationship Id="rId4" Type="http://schemas.openxmlformats.org/officeDocument/2006/relationships/image" Target="../media/image1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6916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B8862E"/>
                </a:solidFill>
                <a:latin typeface="Calibri"/>
              </a:rPr>
              <a:t>EMBODIED AI · WEEK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84831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FFFFF"/>
                </a:solidFill>
                <a:latin typeface="Calibri"/>
              </a:rPr>
              <a:t>Four experiments, and what 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6148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FFFFF"/>
                </a:solidFill>
                <a:latin typeface="Calibri"/>
              </a:rPr>
              <a:t>of them refuses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675887"/>
            <a:ext cx="1828800" cy="45720"/>
          </a:xfrm>
          <a:prstGeom prst="rect">
            <a:avLst/>
          </a:prstGeom>
          <a:solidFill>
            <a:srgbClr val="B8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C9D2DA"/>
                </a:solidFill>
                <a:latin typeface="Calibri"/>
              </a:rPr>
              <a:t>Experiment 1 — stand with no learning at all, and the playground I built so students can feel it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C9D2DA"/>
                </a:solidFill>
                <a:latin typeface="Calibri"/>
              </a:rPr>
              <a:t>rather than read it.      Experiment 2 — let something learn instead.      Experiment 3 — attack both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C9D2DA"/>
                </a:solidFill>
                <a:latin typeface="Calibri"/>
              </a:rPr>
              <a:t>and find what actually breaks.      Experiment 4 — copy a human, and measure whether a robot could.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150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F9EAC"/>
                </a:solidFill>
                <a:latin typeface="Calibri"/>
              </a:rPr>
              <a:t>Shaoqin Li  ·  Prof. Yi Sun  ·  CCNY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A"/>
                </a:solidFill>
                <a:latin typeface="Calibri"/>
              </a:rPr>
              <a:t>Where the course stands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8755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A6068"/>
                </a:solidFill>
                <a:latin typeface="Calibri"/>
              </a:rPr>
              <a:t>Four experiments. All four now have a written student lab and a tested file bundle.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600200"/>
            <a:ext cx="11064240" cy="914400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6384" y="1837943"/>
            <a:ext cx="438912" cy="438912"/>
          </a:xfrm>
          <a:prstGeom prst="ellipse">
            <a:avLst/>
          </a:prstGeom>
          <a:solidFill>
            <a:srgbClr val="0A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883664"/>
            <a:ext cx="438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26464" y="172821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B2A3A"/>
                </a:solidFill>
                <a:latin typeface="Calibri"/>
              </a:rPr>
              <a:t>Stand without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6464" y="2112264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A6068"/>
                </a:solidFill>
                <a:latin typeface="Calibri"/>
              </a:rPr>
              <a:t>two dials, 49 settings, no AI at 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190195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 i="0">
                <a:solidFill>
                  <a:srgbClr val="0AA08A"/>
                </a:solidFill>
                <a:latin typeface="Calibri"/>
              </a:rPr>
              <a:t>DONE  ·  lab + package shipped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60904"/>
            <a:ext cx="11064240" cy="914400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86384" y="2898648"/>
            <a:ext cx="438912" cy="438912"/>
          </a:xfrm>
          <a:prstGeom prst="ellipse">
            <a:avLst/>
          </a:prstGeom>
          <a:solidFill>
            <a:srgbClr val="0A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2944368"/>
            <a:ext cx="438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2788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B2A3A"/>
                </a:solidFill>
                <a:latin typeface="Calibri"/>
              </a:rPr>
              <a:t>Teach it to stand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26464" y="3172968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A6068"/>
                </a:solidFill>
                <a:latin typeface="Calibri"/>
              </a:rPr>
              <a:t>PPO, 3M steps, the same test as Experiment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2962656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 i="0">
                <a:solidFill>
                  <a:srgbClr val="0AA08A"/>
                </a:solidFill>
                <a:latin typeface="Calibri"/>
              </a:rPr>
              <a:t>DONE  ·  lab + package shipped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721608"/>
            <a:ext cx="11064240" cy="914400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86384" y="3959352"/>
            <a:ext cx="438912" cy="438912"/>
          </a:xfrm>
          <a:prstGeom prst="ellipse">
            <a:avLst/>
          </a:prstGeom>
          <a:solidFill>
            <a:srgbClr val="0A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005072"/>
            <a:ext cx="438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26464" y="384962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B2A3A"/>
                </a:solidFill>
                <a:latin typeface="Calibri"/>
              </a:rPr>
              <a:t>Where it breaks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26464" y="4233672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A6068"/>
                </a:solidFill>
                <a:latin typeface="Calibri"/>
              </a:rPr>
              <a:t>delay, one corrupted sensor, a different simulator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40233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 i="0">
                <a:solidFill>
                  <a:srgbClr val="0AA08A"/>
                </a:solidFill>
                <a:latin typeface="Calibri"/>
              </a:rPr>
              <a:t>DONE  ·  lab + package shipped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782312"/>
            <a:ext cx="11064240" cy="914400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6384" y="5020055"/>
            <a:ext cx="438912" cy="438912"/>
          </a:xfrm>
          <a:prstGeom prst="ellipse">
            <a:avLst/>
          </a:prstGeom>
          <a:solidFill>
            <a:srgbClr val="0A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" y="5065775"/>
            <a:ext cx="438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26464" y="4910327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B2A3A"/>
                </a:solidFill>
                <a:latin typeface="Calibri"/>
              </a:rPr>
              <a:t>Make the robot copy a human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26464" y="5294375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A6068"/>
                </a:solidFill>
                <a:latin typeface="Calibri"/>
              </a:rPr>
              <a:t>retargeting a motion capture onto the R1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5084064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 i="0">
                <a:solidFill>
                  <a:srgbClr val="0AA08A"/>
                </a:solidFill>
                <a:latin typeface="Calibri"/>
              </a:rPr>
              <a:t>DONE  ·  lab + package shipped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59893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5A6068"/>
                </a:solidFill>
                <a:latin typeface="Calibri"/>
              </a:rPr>
              <a:t>All four run on a student laptop with no GPU and no admin rights. Experiments 1–3 need about 100 MB of packages; Experiment 4 needs a 3.6 GB research repo, installed at home before the session.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5840" y="2240280"/>
            <a:ext cx="82296" cy="1920240"/>
          </a:xfrm>
          <a:prstGeom prst="rect">
            <a:avLst/>
          </a:prstGeom>
          <a:solidFill>
            <a:srgbClr val="B8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12848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B8862E"/>
                </a:solidFill>
                <a:latin typeface="Calibri"/>
              </a:rPr>
              <a:t>EXPERIMENT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60604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Stand Without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5204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C9D2DA"/>
                </a:solidFill>
                <a:latin typeface="Calibri"/>
              </a:rPr>
              <a:t>Two numbers, applied 500 times a second — and nothing else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605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8F9EAC"/>
                </a:solidFill>
                <a:latin typeface="Calibri"/>
              </a:rPr>
              <a:t>The point is not that it works. The point is exactly how far it gets before it cannot.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A"/>
                </a:solidFill>
                <a:latin typeface="Calibri"/>
              </a:rPr>
              <a:t>Experiment 1, in one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8755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A6068"/>
                </a:solidFill>
                <a:latin typeface="Calibri"/>
              </a:rPr>
              <a:t>One stiffness dial, one damping dial, applied to all twelve leg joints. I ran all 49 combinations.</a:t>
            </a:r>
          </a:p>
        </p:txBody>
      </p:sp>
      <p:pic>
        <p:nvPicPr>
          <p:cNvPr id="4" name="Picture 3" descr="w22_map_rev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288" y="1463040"/>
            <a:ext cx="6810703" cy="4114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18120" y="1508760"/>
            <a:ext cx="3822191" cy="3977639"/>
          </a:xfrm>
          <a:prstGeom prst="round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92440" y="171907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A6068"/>
                </a:solidFill>
                <a:latin typeface="Calibri"/>
              </a:rPr>
              <a:t>THREE REGIONS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210312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22252A"/>
                </a:solidFill>
                <a:latin typeface="Calibri"/>
              </a:rPr>
              <a:t>15  stand</a:t>
            </a:r>
          </a:p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22252A"/>
                </a:solidFill>
                <a:latin typeface="Calibri"/>
              </a:rPr>
              <a:t>12  topple over</a:t>
            </a:r>
          </a:p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22252A"/>
                </a:solidFill>
                <a:latin typeface="Calibri"/>
              </a:rPr>
              <a:t>22  blow up the simulator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329184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The most common outcome is not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the robot failing. It is the TOOL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failing — and telling them apart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is the whole lesson.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457200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1">
                <a:solidFill>
                  <a:srgbClr val="0F7A6B"/>
                </a:solidFill>
                <a:latin typeface="Calibri"/>
              </a:rPr>
              <a:t>The floor is horizontal — physics.</a:t>
            </a:r>
          </a:p>
          <a:p>
            <a:pPr algn="l">
              <a:lnSpc>
                <a:spcPct val="130000"/>
              </a:lnSpc>
            </a:pPr>
            <a:r>
              <a:rPr sz="1350" b="0" i="1">
                <a:solidFill>
                  <a:srgbClr val="0F7A6B"/>
                </a:solidFill>
                <a:latin typeface="Calibri"/>
              </a:rPr>
              <a:t>The ceiling is vertical — arithmetic.</a:t>
            </a:r>
          </a:p>
          <a:p>
            <a:pPr algn="l">
              <a:lnSpc>
                <a:spcPct val="130000"/>
              </a:lnSpc>
            </a:pPr>
            <a:r>
              <a:rPr sz="1350" b="0" i="1">
                <a:solidFill>
                  <a:srgbClr val="0F7A6B"/>
                </a:solidFill>
                <a:latin typeface="Calibri"/>
              </a:rPr>
              <a:t>Two unrelated causes.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760720"/>
            <a:ext cx="11064240" cy="685800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907024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F7A6B"/>
                </a:solidFill>
                <a:latin typeface="Calibri"/>
              </a:rPr>
              <a:t>A student can read that chart in ten seconds and feel nothing. That was the problem I set out to fix.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A"/>
                </a:solidFill>
                <a:latin typeface="Calibri"/>
              </a:rPr>
              <a:t>The two ways it fails are not the same thing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8755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A6068"/>
                </a:solidFill>
                <a:latin typeface="Calibri"/>
              </a:rPr>
              <a:t>Confusing them is the most common mistake in the lab — and the most useful thing to get right.</a:t>
            </a:r>
          </a:p>
        </p:txBody>
      </p:sp>
      <p:pic>
        <p:nvPicPr>
          <p:cNvPr id="4" name="pd_toppling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05840" y="1444752"/>
            <a:ext cx="3840480" cy="29489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4448556"/>
            <a:ext cx="3840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A6068"/>
                </a:solidFill>
                <a:latin typeface="Calibri"/>
              </a:rPr>
              <a:t>▶  the robot toppling — real physics, a real fall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06440" y="1517904"/>
            <a:ext cx="5824728" cy="1965960"/>
          </a:xfrm>
          <a:prstGeom prst="roundRect">
            <a:avLst/>
          </a:prstGeom>
          <a:solidFill>
            <a:srgbClr val="F4E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80760" y="168249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8862E"/>
                </a:solidFill>
                <a:latin typeface="Calibri"/>
              </a:rPr>
              <a:t>TOPPLE  —  kp = 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60" y="2048256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 i="0">
                <a:solidFill>
                  <a:srgbClr val="22252A"/>
                </a:solidFill>
                <a:latin typeface="Calibri"/>
              </a:rPr>
              <a:t>Every number is real. diverged = False.</a:t>
            </a:r>
          </a:p>
          <a:p>
            <a:pPr algn="l">
              <a:lnSpc>
                <a:spcPct val="128000"/>
              </a:lnSpc>
            </a:pPr>
            <a:r>
              <a:rPr sz="1450" b="0" i="0">
                <a:solidFill>
                  <a:srgbClr val="22252A"/>
                </a:solidFill>
                <a:latin typeface="Calibri"/>
              </a:rPr>
              <a:t>A real robot would do exactly this.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2761488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It fell using 17 N·m — LESS than the 31 N·m</a:t>
            </a:r>
          </a:p>
          <a:p>
            <a:pPr algn="l">
              <a:lnSpc>
                <a:spcPct val="128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the one that stood used. Not weakness. Lean.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6440" y="3611880"/>
            <a:ext cx="5824728" cy="1920240"/>
          </a:xfrm>
          <a:prstGeom prst="roundRect">
            <a:avLst/>
          </a:prstGeom>
          <a:solidFill>
            <a:srgbClr val="F6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377647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0473C"/>
                </a:solidFill>
                <a:latin typeface="Calibri"/>
              </a:rPr>
              <a:t>BLOW UP  —  kd = 120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4142232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 i="0">
                <a:solidFill>
                  <a:srgbClr val="22252A"/>
                </a:solidFill>
                <a:latin typeface="Calibri"/>
              </a:rPr>
              <a:t>diverged = True, every measurement nan,</a:t>
            </a:r>
          </a:p>
          <a:p>
            <a:pPr algn="l">
              <a:lnSpc>
                <a:spcPct val="128000"/>
              </a:lnSpc>
            </a:pPr>
            <a:r>
              <a:rPr sz="1450" b="0" i="0">
                <a:solidFill>
                  <a:srgbClr val="22252A"/>
                </a:solidFill>
                <a:latin typeface="Calibri"/>
              </a:rPr>
              <a:t>"failed" after 22 simulator steps.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4855464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Nothing physical happened. The arithmetic</a:t>
            </a:r>
          </a:p>
          <a:p>
            <a:pPr algn="l">
              <a:lnSpc>
                <a:spcPct val="128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ran away. No real robot can do this.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892040"/>
            <a:ext cx="4718304" cy="1417320"/>
          </a:xfrm>
          <a:prstGeom prst="roundRect">
            <a:avLst/>
          </a:prstGeom>
          <a:solidFill>
            <a:srgbClr val="14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5001768"/>
            <a:ext cx="42611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F93A6"/>
                </a:solidFill>
                <a:latin typeface="Consolas"/>
              </a:rPr>
              <a:t>captured output — the topple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5294376"/>
            <a:ext cx="426110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DDE4EC"/>
                </a:solidFill>
                <a:latin typeface="Consolas"/>
              </a:rPr>
              <a:t>  stood            False</a:t>
            </a:r>
          </a:p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DDE4EC"/>
                </a:solidFill>
                <a:latin typeface="Consolas"/>
              </a:rPr>
              <a:t>  fall_t           1.142</a:t>
            </a:r>
          </a:p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DDE4EC"/>
                </a:solidFill>
                <a:latin typeface="Consolas"/>
              </a:rPr>
              <a:t>  max_tilt_deg     90.93</a:t>
            </a:r>
          </a:p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DDE4EC"/>
                </a:solidFill>
                <a:latin typeface="Consolas"/>
              </a:rPr>
              <a:t>  peak_torque_Nm   17.4</a:t>
            </a:r>
          </a:p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DDE4EC"/>
                </a:solidFill>
                <a:latin typeface="Consolas"/>
              </a:rPr>
              <a:t>  diverged         False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A"/>
                </a:solidFill>
                <a:latin typeface="Calibri"/>
              </a:rPr>
              <a:t>The problem with handing someone a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8755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A6068"/>
                </a:solidFill>
                <a:latin typeface="Calibri"/>
              </a:rPr>
              <a:t>They can recite the answer without ever having produced it. So I built the thing that makes them produce 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54480"/>
            <a:ext cx="5394960" cy="2606040"/>
          </a:xfrm>
          <a:prstGeom prst="roundRect">
            <a:avLst/>
          </a:prstGeom>
          <a:solidFill>
            <a:srgbClr val="F6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5564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0473C"/>
                </a:solidFill>
                <a:latin typeface="Calibri"/>
              </a:rPr>
              <a:t>WHAT A STUDENT HAD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21408"/>
            <a:ext cx="48463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22252A"/>
                </a:solidFill>
                <a:latin typeface="Calibri"/>
              </a:rPr>
              <a:t>A six-minute batch sweep and a CSV.</a:t>
            </a: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22252A"/>
                </a:solidFill>
                <a:latin typeface="Calibri"/>
              </a:rPr>
              <a:t>Run it, wait, read 49 rows of text.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22252A"/>
                </a:solidFill>
                <a:latin typeface="Calibri"/>
              </a:rPr>
              <a:t>The interesting moment — the robot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22252A"/>
                </a:solidFill>
                <a:latin typeface="Calibri"/>
              </a:rPr>
              <a:t>leaning further and further until it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22252A"/>
                </a:solidFill>
                <a:latin typeface="Calibri"/>
              </a:rPr>
              <a:t>goes — happens invisibly, inside a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22252A"/>
                </a:solidFill>
                <a:latin typeface="Calibri"/>
              </a:rPr>
              <a:t>number.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554480"/>
            <a:ext cx="5367528" cy="2606040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175564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7A6B"/>
                </a:solidFill>
                <a:latin typeface="Calibri"/>
              </a:rPr>
              <a:t>WHAT I WANTED THEM TO HAVE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392" y="2121408"/>
            <a:ext cx="4754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22252A"/>
                </a:solidFill>
                <a:latin typeface="Calibri"/>
              </a:rPr>
              <a:t>A dial they can turn with a finger,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22252A"/>
                </a:solidFill>
                <a:latin typeface="Calibri"/>
              </a:rPr>
              <a:t>and a robot that reacts instantly.</a:t>
            </a: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22252A"/>
                </a:solidFill>
                <a:latin typeface="Calibri"/>
              </a:rPr>
              <a:t>Change one thing. See the result.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22252A"/>
                </a:solidFill>
                <a:latin typeface="Calibri"/>
              </a:rPr>
              <a:t>Change it back. That loop is what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22252A"/>
                </a:solidFill>
                <a:latin typeface="Calibri"/>
              </a:rPr>
              <a:t>builds an intuition — and it has to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22252A"/>
                </a:solidFill>
                <a:latin typeface="Calibri"/>
              </a:rPr>
              <a:t>be fast enough to stay a loop.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370832"/>
            <a:ext cx="11064240" cy="2240280"/>
          </a:xfrm>
          <a:prstGeom prst="round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55371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A6068"/>
                </a:solidFill>
                <a:latin typeface="Calibri"/>
              </a:rPr>
              <a:t>THE DESIGN RULE I ENDED UP WITH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901184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1B2A3A"/>
                </a:solidFill>
                <a:latin typeface="Calibri"/>
              </a:rPr>
              <a:t>Every keypress resets the robot to the same starting pose.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413248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22252A"/>
                </a:solidFill>
                <a:latin typeface="Calibri"/>
              </a:rPr>
              <a:t>Without that, a student changes a dial while the robot is already halfway to the floor, sees it fall, and concludes the dial did it.</a:t>
            </a:r>
          </a:p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22252A"/>
                </a:solidFill>
                <a:latin typeface="Calibri"/>
              </a:rPr>
              <a:t>With it, the only thing that differs between two runs is the number they just changed — so what they see is caused by the dial, and nothing else.</a:t>
            </a:r>
          </a:p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22252A"/>
                </a:solidFill>
                <a:latin typeface="Calibri"/>
              </a:rPr>
              <a:t>That is a controlled experiment, and they run one every time they press a key without ever being told the phrase.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A"/>
                </a:solidFill>
                <a:latin typeface="Calibri"/>
              </a:rPr>
              <a:t>exp1_playground.py — the whole tool is the keyboard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8755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A6068"/>
                </a:solidFill>
                <a:latin typeface="Calibri"/>
              </a:rPr>
              <a:t>129 lines. It opens a real MuJoCo window, and the arrow keys are wired straight to the two dials.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54480"/>
            <a:ext cx="5943600" cy="603504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1673352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B2A3A"/>
                </a:solidFill>
                <a:latin typeface="Calibri"/>
              </a:rPr>
              <a:t>↑  /  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691639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2252A"/>
                </a:solidFill>
                <a:latin typeface="Calibri"/>
              </a:rPr>
              <a:t>stiffer / softer spring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700784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 i="0">
                <a:solidFill>
                  <a:srgbClr val="0F7A6B"/>
                </a:solidFill>
                <a:latin typeface="Calibri"/>
              </a:rPr>
              <a:t>kp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267712"/>
            <a:ext cx="5943600" cy="603504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386584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B2A3A"/>
                </a:solidFill>
                <a:latin typeface="Calibri"/>
              </a:rPr>
              <a:t>←  /  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40487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2252A"/>
                </a:solidFill>
                <a:latin typeface="Calibri"/>
              </a:rPr>
              <a:t>less / more syrup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241401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 i="0">
                <a:solidFill>
                  <a:srgbClr val="0F7A6B"/>
                </a:solidFill>
                <a:latin typeface="Calibri"/>
              </a:rPr>
              <a:t>kd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80944"/>
            <a:ext cx="5943600" cy="603504"/>
          </a:xfrm>
          <a:prstGeom prst="round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3099815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B2A3A"/>
                </a:solidFill>
                <a:latin typeface="Calibri"/>
              </a:rPr>
              <a:t>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118103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2252A"/>
                </a:solidFill>
                <a:latin typeface="Calibri"/>
              </a:rPr>
              <a:t>restart this setting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694176"/>
            <a:ext cx="5943600" cy="603504"/>
          </a:xfrm>
          <a:prstGeom prst="round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381304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B2A3A"/>
                </a:solidFill>
                <a:latin typeface="Calibri"/>
              </a:rPr>
              <a:t>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383133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2252A"/>
                </a:solidFill>
                <a:latin typeface="Calibri"/>
              </a:rPr>
              <a:t>shove it, 0.20 m/s, right now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407408"/>
            <a:ext cx="5943600" cy="603504"/>
          </a:xfrm>
          <a:prstGeom prst="round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452628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B2A3A"/>
                </a:solidFill>
                <a:latin typeface="Calibri"/>
              </a:rPr>
              <a:t>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454456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2252A"/>
                </a:solidFill>
                <a:latin typeface="Calibri"/>
              </a:rPr>
              <a:t>toggle the automatic tour of all 49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12280" y="1554480"/>
            <a:ext cx="4818888" cy="3200400"/>
          </a:xfrm>
          <a:prstGeom prst="roundRect">
            <a:avLst/>
          </a:prstGeom>
          <a:solidFill>
            <a:srgbClr val="F4E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6600" y="1755648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8862E"/>
                </a:solidFill>
                <a:latin typeface="Calibri"/>
              </a:rPr>
              <a:t>AND ONE MODE FOR THE INSTRUCTOR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2121408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B2A3A"/>
                </a:solidFill>
                <a:latin typeface="Consolas"/>
              </a:rPr>
              <a:t>--tour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2560320"/>
            <a:ext cx="4297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22252A"/>
                </a:solidFill>
                <a:latin typeface="Calibri"/>
              </a:rPr>
              <a:t>walks all 49 settings by itself,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22252A"/>
                </a:solidFill>
                <a:latin typeface="Calibri"/>
              </a:rPr>
              <a:t>about four seconds each.</a:t>
            </a: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22252A"/>
                </a:solidFill>
                <a:latin typeface="Calibri"/>
              </a:rPr>
              <a:t>It is the CSV from the batch sweep,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22252A"/>
                </a:solidFill>
                <a:latin typeface="Calibri"/>
              </a:rPr>
              <a:t>played as a movie — same numbers,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22252A"/>
                </a:solidFill>
                <a:latin typeface="Calibri"/>
              </a:rPr>
              <a:t>but now you watch the island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22252A"/>
                </a:solidFill>
                <a:latin typeface="Calibri"/>
              </a:rPr>
              <a:t>appear and disappear.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5138928"/>
            <a:ext cx="11064240" cy="1078992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28523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7A6B"/>
                </a:solidFill>
                <a:latin typeface="Calibri"/>
              </a:rPr>
              <a:t>Two things to try, and they teach opposite lessons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65099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Walk DOWN the kp column at kd = 5 — the lean grows visibly before each fall.        Then sit at kp = 600 and walk RIGHT along kd — 0, 1, 5, 15, 30 look identical, then 60 detonates with no warning.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The playground, running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96112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9FB0C0"/>
                </a:solidFill>
                <a:latin typeface="Calibri"/>
              </a:rPr>
              <a:t>Recorded by the tool itself. Same physics, same key handling, same reset-every-press rule — rendered offscreen instead of shown in a window.</a:t>
            </a:r>
          </a:p>
        </p:txBody>
      </p:sp>
      <p:pic>
        <p:nvPicPr>
          <p:cNvPr id="4" name="playground_demo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94359" y="1417320"/>
            <a:ext cx="6675120" cy="504342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635240" y="1463040"/>
            <a:ext cx="3995928" cy="4754880"/>
          </a:xfrm>
          <a:prstGeom prst="roundRect">
            <a:avLst/>
          </a:prstGeom>
          <a:solidFill>
            <a:srgbClr val="243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09560" y="166420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8862E"/>
                </a:solidFill>
                <a:latin typeface="Calibri"/>
              </a:rPr>
              <a:t>WHAT HAPPENS, IN 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0" y="2066543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onsolas"/>
              </a:rPr>
              <a:t>kp 600, kd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228600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AA08A"/>
                </a:solidFill>
                <a:latin typeface="Calibri"/>
              </a:rPr>
              <a:t>stands, barely moving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263347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onsolas"/>
              </a:rPr>
              <a:t>↓  kp 400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85292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AA08A"/>
                </a:solidFill>
                <a:latin typeface="Calibri"/>
              </a:rPr>
              <a:t>still stands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32004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onsolas"/>
              </a:rPr>
              <a:t>↓  kp 200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341985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B8862E"/>
                </a:solidFill>
                <a:latin typeface="Calibri"/>
              </a:rPr>
              <a:t>falls at 1.46 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3767327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onsolas"/>
              </a:rPr>
              <a:t>↓  kp 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3986783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B8862E"/>
                </a:solidFill>
                <a:latin typeface="Calibri"/>
              </a:rPr>
              <a:t>falls at 1.16 s — sooner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433425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onsolas"/>
              </a:rPr>
              <a:t>↑↑↑ back to 600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455371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AA08A"/>
                </a:solidFill>
                <a:latin typeface="Calibri"/>
              </a:rPr>
              <a:t>stands again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4901183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onsolas"/>
              </a:rPr>
              <a:t>→  kd 60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512064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B0473C"/>
                </a:solidFill>
                <a:latin typeface="Calibri"/>
              </a:rPr>
              <a:t>BLEW UP — the simulator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546811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onsolas"/>
              </a:rPr>
              <a:t>P  shove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568756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B0473C"/>
                </a:solidFill>
                <a:latin typeface="Calibri"/>
              </a:rPr>
              <a:t>0.20 m/s and it goes down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587044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8F9EAC"/>
                </a:solidFill>
                <a:latin typeface="Calibri"/>
              </a:rPr>
              <a:t>25 seconds. Every number on screen is live.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A"/>
                </a:solidFill>
                <a:latin typeface="Calibri"/>
              </a:rPr>
              <a:t>Building it changed the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8755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A6068"/>
                </a:solidFill>
                <a:latin typeface="Calibri"/>
              </a:rPr>
              <a:t>The tool was supposed to be a nicer way to show a known result. It produced two findings of its own.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08760"/>
            <a:ext cx="5394960" cy="3310128"/>
          </a:xfrm>
          <a:prstGeom prst="roundRect">
            <a:avLst/>
          </a:prstGeom>
          <a:solidFill>
            <a:srgbClr val="F4E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0992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8862E"/>
                </a:solidFill>
                <a:latin typeface="Calibri"/>
              </a:rPr>
              <a:t>FINDING 1  ·  the default had to change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75688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kd = 30 stands perfectly — but it sits ABOVE</a:t>
            </a:r>
          </a:p>
          <a:p>
            <a:pPr algn="l">
              <a:lnSpc>
                <a:spcPct val="128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the stability bound and survives only because</a:t>
            </a:r>
          </a:p>
          <a:p>
            <a:pPr algn="l">
              <a:lnSpc>
                <a:spcPct val="128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a still robot has almost no velocity.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999232"/>
            <a:ext cx="4791456" cy="1207008"/>
          </a:xfrm>
          <a:prstGeom prst="roundRect">
            <a:avLst/>
          </a:prstGeom>
          <a:solidFill>
            <a:srgbClr val="14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" y="3163824"/>
            <a:ext cx="4334256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DDE4EC"/>
                </a:solidFill>
                <a:latin typeface="Consolas"/>
              </a:rPr>
              <a:t>change            kd = 30      kd = 5</a:t>
            </a:r>
          </a:p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DDE4EC"/>
                </a:solidFill>
                <a:latin typeface="Consolas"/>
              </a:rPr>
              <a:t>mass x1.5         blew up      falls 8.60s</a:t>
            </a:r>
          </a:p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DDE4EC"/>
                </a:solidFill>
                <a:latin typeface="Consolas"/>
              </a:rPr>
              <a:t>icy floor + push  blew up      stands</a:t>
            </a:r>
          </a:p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DDE4EC"/>
                </a:solidFill>
                <a:latin typeface="Consolas"/>
              </a:rPr>
              <a:t>knee sine wave    blew up      falls 1.32s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315968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B8862E"/>
                </a:solidFill>
                <a:latin typeface="Calibri"/>
              </a:rPr>
              <a:t>A sandbox default must be numerically robust,</a:t>
            </a:r>
          </a:p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B8862E"/>
                </a:solidFill>
                <a:latin typeface="Calibri"/>
              </a:rPr>
              <a:t>not merely a setting that stands.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08760"/>
            <a:ext cx="5367528" cy="3310128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170992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7A6B"/>
                </a:solidFill>
                <a:latin typeface="Calibri"/>
              </a:rPr>
              <a:t>FINDING 2  ·  every commanded motion topples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2075688"/>
            <a:ext cx="4754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I tried making the target pose move — knees,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hip yaw, ankle roll — from 0.25 rad down to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0.05 rad.</a:t>
            </a: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The gentlest motion still falls, at 2.66 s.</a:t>
            </a: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This controller has so little margin that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moving on purpose loses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029200"/>
            <a:ext cx="11064240" cy="1417320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13892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F7A6B"/>
                </a:solidFill>
                <a:latin typeface="Calibri"/>
              </a:rPr>
              <a:t>Which is exactly why Experiment 2 exists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59612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22252A"/>
                </a:solidFill>
                <a:latin typeface="Calibri"/>
              </a:rPr>
              <a:t>A student finishes Experiment 1 having personally failed to hand-write a rule that survives a shove. That failure is the setup —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22252A"/>
                </a:solidFill>
                <a:latin typeface="Calibri"/>
              </a:rPr>
              <a:t>they are not told a learned policy is better, they are shown the wall first and then handed something that gets over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5840" y="2240280"/>
            <a:ext cx="82296" cy="1920240"/>
          </a:xfrm>
          <a:prstGeom prst="rect">
            <a:avLst/>
          </a:prstGeom>
          <a:solidFill>
            <a:srgbClr val="B8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12848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B8862E"/>
                </a:solidFill>
                <a:latin typeface="Calibri"/>
              </a:rPr>
              <a:t>EXPERIMENT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60604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Teach It To Stand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5204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C9D2DA"/>
                </a:solidFill>
                <a:latin typeface="Calibri"/>
              </a:rPr>
              <a:t>Same robot, same physics, same test — but now something learns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605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8F9EAC"/>
                </a:solidFill>
                <a:latin typeface="Calibri"/>
              </a:rPr>
              <a:t>The only honest comparison is one where I changed exactly one thing.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A"/>
                </a:solidFill>
                <a:latin typeface="Calibri"/>
              </a:rPr>
              <a:t>What actually changed between Experiment 1 and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8755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A6068"/>
                </a:solidFill>
                <a:latin typeface="Calibri"/>
              </a:rPr>
              <a:t>Not the robot, not the physics, not the test. Only what decides the target pose.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481328"/>
            <a:ext cx="5394960" cy="457200"/>
          </a:xfrm>
          <a:prstGeom prst="roundRect">
            <a:avLst/>
          </a:prstGeom>
          <a:solidFill>
            <a:srgbClr val="B04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544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EXPERIMENT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048256"/>
            <a:ext cx="5394960" cy="694944"/>
          </a:xfrm>
          <a:prstGeom prst="roundRect">
            <a:avLst/>
          </a:prstGeom>
          <a:solidFill>
            <a:srgbClr val="F6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211226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6068"/>
                </a:solidFill>
                <a:latin typeface="Calibri"/>
              </a:rPr>
              <a:t>what decides the 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35915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2252A"/>
                </a:solidFill>
                <a:latin typeface="Calibri"/>
              </a:rPr>
              <a:t>a constant I typed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34640"/>
            <a:ext cx="5394960" cy="694944"/>
          </a:xfrm>
          <a:prstGeom prst="round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289864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6068"/>
                </a:solidFill>
                <a:latin typeface="Calibri"/>
              </a:rPr>
              <a:t>how many numbers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314553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2252A"/>
                </a:solidFill>
                <a:latin typeface="Calibri"/>
              </a:rPr>
              <a:t>2  (kp and kd)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621024"/>
            <a:ext cx="5394960" cy="694944"/>
          </a:xfrm>
          <a:prstGeom prst="roundRect">
            <a:avLst/>
          </a:prstGeom>
          <a:solidFill>
            <a:srgbClr val="F6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368503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6068"/>
                </a:solidFill>
                <a:latin typeface="Calibri"/>
              </a:rPr>
              <a:t>where they came from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393192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2252A"/>
                </a:solidFill>
                <a:latin typeface="Calibri"/>
              </a:rPr>
              <a:t>I tuned them by hand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07408"/>
            <a:ext cx="5394960" cy="694944"/>
          </a:xfrm>
          <a:prstGeom prst="round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447141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6068"/>
                </a:solidFill>
                <a:latin typeface="Calibri"/>
              </a:rPr>
              <a:t>can it change its mind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471830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2252A"/>
                </a:solidFill>
                <a:latin typeface="Calibri"/>
              </a:rPr>
              <a:t>no — STAND_POS never moves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193792"/>
            <a:ext cx="5394960" cy="694944"/>
          </a:xfrm>
          <a:prstGeom prst="roundRect">
            <a:avLst/>
          </a:prstGeom>
          <a:solidFill>
            <a:srgbClr val="F6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52578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6068"/>
                </a:solidFill>
                <a:latin typeface="Calibri"/>
              </a:rPr>
              <a:t>survives a push of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550468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B0473C"/>
                </a:solidFill>
                <a:latin typeface="Calibri"/>
              </a:rPr>
              <a:t>0.15 m/s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1481328"/>
            <a:ext cx="5394960" cy="457200"/>
          </a:xfrm>
          <a:prstGeom prst="roundRect">
            <a:avLst/>
          </a:prstGeom>
          <a:solidFill>
            <a:srgbClr val="0A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15544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EXPERIMENT 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2048256"/>
            <a:ext cx="5394960" cy="694944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37376" y="211226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6068"/>
                </a:solidFill>
                <a:latin typeface="Calibri"/>
              </a:rPr>
              <a:t>what decides the pose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7376" y="235915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2252A"/>
                </a:solidFill>
                <a:latin typeface="Calibri"/>
              </a:rPr>
              <a:t>a neural network, 50x a second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6208" y="2834640"/>
            <a:ext cx="5394960" cy="694944"/>
          </a:xfrm>
          <a:prstGeom prst="round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37376" y="289864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6068"/>
                </a:solidFill>
                <a:latin typeface="Calibri"/>
              </a:rPr>
              <a:t>how many numbers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7376" y="314553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2252A"/>
                </a:solidFill>
                <a:latin typeface="Calibri"/>
              </a:rPr>
              <a:t>45 in → 256 → 256 → 12 out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6208" y="3621024"/>
            <a:ext cx="5394960" cy="694944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37376" y="368503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6068"/>
                </a:solidFill>
                <a:latin typeface="Calibri"/>
              </a:rPr>
              <a:t>where they came from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37376" y="393192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2252A"/>
                </a:solidFill>
                <a:latin typeface="Calibri"/>
              </a:rPr>
              <a:t>3M steps of PPO, 49 minutes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36208" y="4407408"/>
            <a:ext cx="5394960" cy="694944"/>
          </a:xfrm>
          <a:prstGeom prst="round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37376" y="447141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6068"/>
                </a:solidFill>
                <a:latin typeface="Calibri"/>
              </a:rPr>
              <a:t>can it change its mind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37376" y="471830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2252A"/>
                </a:solidFill>
                <a:latin typeface="Calibri"/>
              </a:rPr>
              <a:t>yes — a new target every 20 ms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36208" y="5193792"/>
            <a:ext cx="5394960" cy="694944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37376" y="52578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6068"/>
                </a:solidFill>
                <a:latin typeface="Calibri"/>
              </a:rPr>
              <a:t>survives a push of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37376" y="550468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AA08A"/>
                </a:solidFill>
                <a:latin typeface="Calibri"/>
              </a:rPr>
              <a:t>0.30 m/s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6053328"/>
            <a:ext cx="11064240" cy="566928"/>
          </a:xfrm>
          <a:prstGeom prst="round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" y="6172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A6068"/>
                </a:solidFill>
                <a:latin typeface="Calibri"/>
              </a:rPr>
              <a:t>Everything else is byte-identical — same environment file, same reward code, same XML, same evaluation script.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A"/>
                </a:solidFill>
                <a:latin typeface="Calibri"/>
              </a:rPr>
              <a:t>Training it, and the one number that 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8755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A6068"/>
                </a:solidFill>
                <a:latin typeface="Calibri"/>
              </a:rPr>
              <a:t>4 environments on the CPU, 3 million steps, 49 minutes. No GPU anywhere in this course.</a:t>
            </a:r>
          </a:p>
        </p:txBody>
      </p:sp>
      <p:pic>
        <p:nvPicPr>
          <p:cNvPr id="4" name="Picture 3" descr="exp2_fig1_trai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59" y="1463040"/>
            <a:ext cx="5943600" cy="361981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903720" y="1481328"/>
            <a:ext cx="4727448" cy="3840480"/>
          </a:xfrm>
          <a:prstGeom prst="roundRect">
            <a:avLst/>
          </a:prstGeom>
          <a:solidFill>
            <a:srgbClr val="F4E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78040" y="1682496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8862E"/>
                </a:solidFill>
                <a:latin typeface="Calibri"/>
              </a:rPr>
              <a:t>THE CURVE RISES THE WHOLE 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78040" y="2048256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So I evaluated the saved checkpoints</a:t>
            </a:r>
          </a:p>
          <a:p>
            <a:pPr algn="l">
              <a:lnSpc>
                <a:spcPct val="128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one by one instead of trusting it: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8040" y="2651760"/>
            <a:ext cx="4206240" cy="1417320"/>
          </a:xfrm>
          <a:prstGeom prst="roundRect">
            <a:avLst/>
          </a:prstGeom>
          <a:solidFill>
            <a:srgbClr val="14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97496" y="2816352"/>
            <a:ext cx="374903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DDE4EC"/>
                </a:solidFill>
                <a:latin typeface="Consolas"/>
              </a:rPr>
              <a:t>ckpt   reward   survival</a:t>
            </a:r>
          </a:p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DDE4EC"/>
                </a:solidFill>
                <a:latin typeface="Consolas"/>
              </a:rPr>
              <a:t> 1.0M     159     20.00s  OK</a:t>
            </a:r>
          </a:p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DDE4EC"/>
                </a:solidFill>
                <a:latin typeface="Consolas"/>
              </a:rPr>
              <a:t> 1.5M     417      1.46s  BROKEN</a:t>
            </a:r>
          </a:p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DDE4EC"/>
                </a:solidFill>
                <a:latin typeface="Consolas"/>
              </a:rPr>
              <a:t> 1.65M    436      1.57s  BROKEN</a:t>
            </a:r>
          </a:p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DDE4EC"/>
                </a:solidFill>
                <a:latin typeface="Consolas"/>
              </a:rPr>
              <a:t> 2.0M     617     20.00s  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4187952"/>
            <a:ext cx="4206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1" i="0">
                <a:solidFill>
                  <a:srgbClr val="B0473C"/>
                </a:solidFill>
                <a:latin typeface="Calibri"/>
              </a:rPr>
              <a:t>Training reward hit an ALL-TIME BEST</a:t>
            </a:r>
          </a:p>
          <a:p>
            <a:pPr algn="l">
              <a:lnSpc>
                <a:spcPct val="128000"/>
              </a:lnSpc>
            </a:pPr>
            <a:r>
              <a:rPr sz="1400" b="1" i="0">
                <a:solidFill>
                  <a:srgbClr val="B0473C"/>
                </a:solidFill>
                <a:latin typeface="Calibri"/>
              </a:rPr>
              <a:t>twice while the policy could not stand</a:t>
            </a:r>
          </a:p>
          <a:p>
            <a:pPr algn="l">
              <a:lnSpc>
                <a:spcPct val="128000"/>
              </a:lnSpc>
            </a:pPr>
            <a:r>
              <a:rPr sz="1400" b="1" i="0">
                <a:solidFill>
                  <a:srgbClr val="B0473C"/>
                </a:solidFill>
                <a:latin typeface="Calibri"/>
              </a:rPr>
              <a:t>for two seconds.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5532120"/>
            <a:ext cx="11064240" cy="960120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68756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22252A"/>
                </a:solidFill>
                <a:latin typeface="Calibri"/>
              </a:rPr>
              <a:t>Why: training reward is measured with randomisation and pushes ON, averaged over recent episodes. Evaluation runs with them OFF.</a:t>
            </a:r>
          </a:p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22252A"/>
                </a:solidFill>
                <a:latin typeface="Calibri"/>
              </a:rPr>
              <a:t>Different quantities — and here they disagree completely. The only way to know whether a policy works is to evaluate 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A"/>
                </a:solidFill>
                <a:latin typeface="Calibri"/>
              </a:rPr>
              <a:t>The test is copied from Experiment 1, deliberately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8755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A6068"/>
                </a:solidFill>
                <a:latin typeface="Calibri"/>
              </a:rPr>
              <a:t>If I had invented a nicer test for the learned policy, the comparison would be worth nothing.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54480"/>
            <a:ext cx="7680960" cy="640080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190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A3A"/>
                </a:solidFill>
                <a:latin typeface="Calibri"/>
              </a:rPr>
              <a:t>same robot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173736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2252A"/>
                </a:solidFill>
                <a:latin typeface="Calibri"/>
              </a:rPr>
              <a:t>r1 standalone, 12 leg joints, identical XML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304288"/>
            <a:ext cx="7680960" cy="640080"/>
          </a:xfrm>
          <a:prstGeom prst="round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A3A"/>
                </a:solidFill>
                <a:latin typeface="Calibri"/>
              </a:rPr>
              <a:t>same starting 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2487168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2252A"/>
                </a:solidFill>
                <a:latin typeface="Calibri"/>
              </a:rPr>
              <a:t>the same slight crouch, reset the same way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054096"/>
            <a:ext cx="7680960" cy="640080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21868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A3A"/>
                </a:solidFill>
                <a:latin typeface="Calibri"/>
              </a:rPr>
              <a:t>same shove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3236976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2252A"/>
                </a:solidFill>
                <a:latin typeface="Calibri"/>
              </a:rPr>
              <a:t>sideways velocity added at t = 1 s, in m/s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803904"/>
            <a:ext cx="7680960" cy="640080"/>
          </a:xfrm>
          <a:prstGeom prst="round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96849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A3A"/>
                </a:solidFill>
                <a:latin typeface="Calibri"/>
              </a:rPr>
              <a:t>same fall detector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3986784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2252A"/>
                </a:solidFill>
                <a:latin typeface="Calibri"/>
              </a:rPr>
              <a:t>pelvis below 60% of start height, or 45° of tilt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553712"/>
            <a:ext cx="7680960" cy="640080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718303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A3A"/>
                </a:solidFill>
                <a:latin typeface="Calibri"/>
              </a:rPr>
              <a:t>same trial length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473659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2252A"/>
                </a:solidFill>
                <a:latin typeface="Calibri"/>
              </a:rPr>
              <a:t>and the same number of episodes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49640" y="1554480"/>
            <a:ext cx="3081528" cy="3310128"/>
          </a:xfrm>
          <a:prstGeom prst="roundRect">
            <a:avLst/>
          </a:prstGeom>
          <a:solidFill>
            <a:srgbClr val="F4E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96528" y="17556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8862E"/>
                </a:solidFill>
                <a:latin typeface="Calibri"/>
              </a:rPr>
              <a:t>THE ONLY DIFFERENCE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96528" y="2139696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22252A"/>
                </a:solidFill>
                <a:latin typeface="Calibri"/>
              </a:rPr>
              <a:t>what produces the</a:t>
            </a:r>
          </a:p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22252A"/>
                </a:solidFill>
                <a:latin typeface="Calibri"/>
              </a:rPr>
              <a:t>target pose.</a:t>
            </a:r>
          </a:p>
          <a:p>
            <a:pPr algn="l">
              <a:lnSpc>
                <a:spcPct val="135000"/>
              </a:lnSpc>
            </a:pPr>
          </a:p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22252A"/>
                </a:solidFill>
                <a:latin typeface="Calibri"/>
              </a:rPr>
              <a:t>That is the entire</a:t>
            </a:r>
          </a:p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22252A"/>
                </a:solidFill>
                <a:latin typeface="Calibri"/>
              </a:rPr>
              <a:t>experiment.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394960"/>
            <a:ext cx="11064240" cy="914400"/>
          </a:xfrm>
          <a:prstGeom prst="round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5595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1">
                <a:solidFill>
                  <a:srgbClr val="5A6068"/>
                </a:solidFill>
                <a:latin typeface="Calibri"/>
              </a:rPr>
              <a:t>This is the same discipline as the null control in Experiment 3, and the same reason Experiment 2 reused Experiment 1's environment file:</a:t>
            </a:r>
          </a:p>
          <a:p>
            <a:pPr algn="l">
              <a:lnSpc>
                <a:spcPct val="130000"/>
              </a:lnSpc>
            </a:pPr>
            <a:r>
              <a:rPr sz="1450" b="0" i="1">
                <a:solidFill>
                  <a:srgbClr val="5A6068"/>
                </a:solidFill>
                <a:latin typeface="Calibri"/>
              </a:rPr>
              <a:t>a result is only as good as the thing you are comparing it against.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A"/>
                </a:solidFill>
                <a:latin typeface="Calibri"/>
              </a:rPr>
              <a:t>The push — and this is the headline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8755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A6068"/>
                </a:solidFill>
                <a:latin typeface="Calibri"/>
              </a:rPr>
              <a:t>The identical shove that beat the hand-tuned controller in Experiment 1.</a:t>
            </a:r>
          </a:p>
        </p:txBody>
      </p:sp>
      <p:pic>
        <p:nvPicPr>
          <p:cNvPr id="4" name="rl_push_030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34440" y="1389888"/>
            <a:ext cx="3840480" cy="29489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34440" y="4393692"/>
            <a:ext cx="3840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A6068"/>
                </a:solidFill>
                <a:latin typeface="Calibri"/>
              </a:rPr>
              <a:t>▶  learned policy, 0.30 m/s — stays up</a:t>
            </a:r>
          </a:p>
        </p:txBody>
      </p:sp>
      <p:pic>
        <p:nvPicPr>
          <p:cNvPr id="6" name="rl_push_040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943600" y="1389888"/>
            <a:ext cx="3840480" cy="29489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0" y="4393692"/>
            <a:ext cx="3840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A6068"/>
                </a:solidFill>
                <a:latin typeface="Calibri"/>
              </a:rPr>
              <a:t>▶  learned policy, 0.40 m/s — down at 2.06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828032"/>
            <a:ext cx="11064240" cy="1691640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01091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B0473C"/>
                </a:solidFill>
                <a:latin typeface="Calibri"/>
              </a:rPr>
              <a:t>0.15 m/s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596128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5A6068"/>
                </a:solidFill>
                <a:latin typeface="Calibri"/>
              </a:rPr>
              <a:t>Experiment 1</a:t>
            </a:r>
          </a:p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5A6068"/>
                </a:solidFill>
                <a:latin typeface="Calibri"/>
              </a:rPr>
              <a:t>hand-tuned, best 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5065776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5A6068"/>
                </a:solidFill>
                <a:latin typeface="Calibri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501091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0AA08A"/>
                </a:solidFill>
                <a:latin typeface="Calibri"/>
              </a:rPr>
              <a:t>0.30 m/s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5596128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5A6068"/>
                </a:solidFill>
                <a:latin typeface="Calibri"/>
              </a:rPr>
              <a:t>Experiment 2</a:t>
            </a:r>
          </a:p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5A6068"/>
                </a:solidFill>
                <a:latin typeface="Calibri"/>
              </a:rPr>
              <a:t>learned policy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5138928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22252A"/>
                </a:solidFill>
                <a:latin typeface="Calibri"/>
              </a:rPr>
              <a:t>Twice the shove, on the same robot, with the same test.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22252A"/>
                </a:solidFill>
                <a:latin typeface="Calibri"/>
              </a:rPr>
              <a:t>And it fails at 0.40 — so this is a measured limit, not a claim that it is unbreakable.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A"/>
                </a:solidFill>
                <a:latin typeface="Calibri"/>
              </a:rPr>
              <a:t>Why it survives, and why no amount of tuning could have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8755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A6068"/>
                </a:solidFill>
                <a:latin typeface="Calibri"/>
              </a:rPr>
              <a:t>This is a structural difference, not a better-tuned version of the same thing.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36192"/>
            <a:ext cx="5394960" cy="4133087"/>
          </a:xfrm>
          <a:prstGeom prst="roundRect">
            <a:avLst/>
          </a:prstGeom>
          <a:solidFill>
            <a:srgbClr val="F6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0473C"/>
                </a:solidFill>
                <a:latin typeface="Calibri"/>
              </a:rPr>
              <a:t>THE PD CONTROLLER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031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knows exactly one instruction: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1B2A3A"/>
                </a:solidFill>
                <a:latin typeface="Calibri"/>
              </a:rPr>
              <a:t>“get back to the pose</a:t>
            </a:r>
          </a:p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1B2A3A"/>
                </a:solidFill>
                <a:latin typeface="Calibri"/>
              </a:rPr>
              <a:t>I was told to hold”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364992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Recovering from a shove means choosing a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DIFFERENT pose — stepping, bending, shifting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weight onto one foot.</a:t>
            </a: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STAND_POS is a constant. There is no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mechanism in the whole controller for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deciding to change it.</a:t>
            </a: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So this is not a tuning failure. It is a limit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of what that kind of controller 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36192"/>
            <a:ext cx="5367528" cy="4133087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17373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7A6B"/>
                </a:solidFill>
                <a:latin typeface="Calibri"/>
              </a:rPr>
              <a:t>THE LEARNED POLICY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21031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outputs a new target 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24688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B2A3A"/>
                </a:solidFill>
                <a:latin typeface="Calibri"/>
              </a:rPr>
              <a:t>fifty times a second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3035808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It sees where it is — joint angles, joint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speeds, which way is up — and picks the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pose that helps from there.</a:t>
            </a: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Shoved sideways, it can crouch, shift its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weight, and lean back into the push, because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nothing forces it to want the pose it started in.</a:t>
            </a: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Nobody wrote that recovery. It was found.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5806440"/>
            <a:ext cx="11064240" cy="841248"/>
          </a:xfrm>
          <a:prstGeom prst="roundRect">
            <a:avLst/>
          </a:prstGeom>
          <a:solidFill>
            <a:srgbClr val="F4E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998464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B8862E"/>
                </a:solidFill>
                <a:latin typeface="Calibri"/>
              </a:rPr>
              <a:t>Worth saying out loud: the learned policy is not smarter. It is doing something the other one cannot express at all.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5840" y="2240280"/>
            <a:ext cx="82296" cy="1920240"/>
          </a:xfrm>
          <a:prstGeom prst="rect">
            <a:avLst/>
          </a:prstGeom>
          <a:solidFill>
            <a:srgbClr val="B8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12848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B8862E"/>
                </a:solidFill>
                <a:latin typeface="Calibri"/>
              </a:rPr>
              <a:t>EXPERIMENT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60604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Where It Breaks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5204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C9D2DA"/>
                </a:solidFill>
                <a:latin typeface="Calibri"/>
              </a:rPr>
              <a:t>Three attacks on two finished policies — and the third result is not a failure at 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605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8F9EAC"/>
                </a:solidFill>
                <a:latin typeface="Calibri"/>
              </a:rPr>
              <a:t>Nothing trains. Nothing is random. Every number reproduces exactly on a student laptop.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A"/>
                </a:solidFill>
                <a:latin typeface="Calibri"/>
              </a:rPr>
              <a:t>Attack 1 — make the controller 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8755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A6068"/>
                </a:solidFill>
                <a:latin typeface="Calibri"/>
              </a:rPr>
              <a:t>A real robot cannot act instantly: sensor → network → compute → motor all cost time.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481328"/>
            <a:ext cx="5486400" cy="2514600"/>
          </a:xfrm>
          <a:prstGeom prst="roundRect">
            <a:avLst/>
          </a:prstGeom>
          <a:solidFill>
            <a:srgbClr val="14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159105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F93A6"/>
                </a:solidFill>
                <a:latin typeface="Consolas"/>
              </a:rPr>
              <a:t>python exp3_sweep.py latency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883664"/>
            <a:ext cx="50292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DDE4EC"/>
                </a:solidFill>
                <a:latin typeface="Consolas"/>
              </a:rPr>
              <a:t>  delay         standing       walking</a:t>
            </a:r>
          </a:p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DDE4EC"/>
                </a:solidFill>
                <a:latin typeface="Consolas"/>
              </a:rPr>
              <a:t>  ------------------------------------</a:t>
            </a:r>
          </a:p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DDE4EC"/>
                </a:solidFill>
                <a:latin typeface="Consolas"/>
              </a:rPr>
              <a:t>     0 ms       survived      survived</a:t>
            </a:r>
          </a:p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DDE4EC"/>
                </a:solidFill>
                <a:latin typeface="Consolas"/>
              </a:rPr>
              <a:t>    20 ms       survived      survived</a:t>
            </a:r>
          </a:p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DDE4EC"/>
                </a:solidFill>
                <a:latin typeface="Consolas"/>
              </a:rPr>
              <a:t>    40 ms       survived       4.12s</a:t>
            </a:r>
          </a:p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DDE4EC"/>
                </a:solidFill>
                <a:latin typeface="Consolas"/>
              </a:rPr>
              <a:t>    60 ms       survived       1.56s</a:t>
            </a:r>
          </a:p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DDE4EC"/>
                </a:solidFill>
                <a:latin typeface="Consolas"/>
              </a:rPr>
              <a:t>   120 ms       survived       1.80s</a:t>
            </a:r>
          </a:p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DDE4EC"/>
                </a:solidFill>
                <a:latin typeface="Consolas"/>
              </a:rPr>
              <a:t>   160 ms        2.44s         1.94s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4133087"/>
            <a:ext cx="5486400" cy="2542032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42976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7A6B"/>
                </a:solidFill>
                <a:latin typeface="Calibri"/>
              </a:rPr>
              <a:t>Standing tolerates 120 ms. Walking tolerates 20 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700016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22252A"/>
                </a:solidFill>
                <a:latin typeface="Calibri"/>
              </a:rPr>
              <a:t>Same robot, same simulator. The difference is what each</a:t>
            </a:r>
          </a:p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22252A"/>
                </a:solidFill>
                <a:latin typeface="Calibri"/>
              </a:rPr>
              <a:t>policy is stabilising:</a:t>
            </a:r>
          </a:p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22252A"/>
                </a:solidFill>
                <a:latin typeface="Calibri"/>
              </a:rPr>
              <a:t>Standing holds a FIXED POINT — errors decay.</a:t>
            </a:r>
          </a:p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22252A"/>
                </a:solidFill>
                <a:latin typeface="Calibri"/>
              </a:rPr>
              <a:t>Walking holds a LIMIT CYCLE — delay shifts the phase, and</a:t>
            </a:r>
          </a:p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22252A"/>
                </a:solidFill>
                <a:latin typeface="Calibri"/>
              </a:rPr>
              <a:t>phase error compounds every step.</a:t>
            </a:r>
          </a:p>
        </p:txBody>
      </p:sp>
      <p:pic>
        <p:nvPicPr>
          <p:cNvPr id="10" name="e5_nodelay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795260" y="1463040"/>
            <a:ext cx="2788920" cy="214532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95260" y="3663227"/>
            <a:ext cx="2788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A6068"/>
                </a:solidFill>
                <a:latin typeface="Calibri"/>
              </a:rPr>
              <a:t>▶  no delay — walking normally</a:t>
            </a:r>
          </a:p>
        </p:txBody>
      </p:sp>
      <p:pic>
        <p:nvPicPr>
          <p:cNvPr id="12" name="e5_delay160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795260" y="4041648"/>
            <a:ext cx="2788920" cy="214532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95260" y="6241835"/>
            <a:ext cx="2788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A6068"/>
                </a:solidFill>
                <a:latin typeface="Calibri"/>
              </a:rPr>
              <a:t>▶  160 ms of delay — down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6089904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1">
                <a:solidFill>
                  <a:srgbClr val="5A6068"/>
                </a:solidFill>
                <a:latin typeface="Calibri"/>
              </a:rPr>
              <a:t>One deterministic rollout per row — which is why it reproduces exactly.</a:t>
            </a:r>
          </a:p>
          <a:p>
            <a:pPr algn="l">
              <a:lnSpc>
                <a:spcPct val="122000"/>
              </a:lnSpc>
            </a:pPr>
            <a:r>
              <a:rPr sz="1050" b="0" i="1">
                <a:solidFill>
                  <a:srgbClr val="5A6068"/>
                </a:solidFill>
                <a:latin typeface="Calibri"/>
              </a:rPr>
              <a:t>The 20-episode research run reads 80 ms vs 20 ms: 4× rather than 6×.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A"/>
                </a:solidFill>
                <a:latin typeface="Calibri"/>
              </a:rPr>
              <a:t>Attack 2 — corrupt one sensor at a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8755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A6068"/>
                </a:solidFill>
                <a:latin typeface="Calibri"/>
              </a:rPr>
              <a:t>Five channels. Which one, corrupted, kills a balance policy first? I asked people to predict before running 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481328"/>
            <a:ext cx="6035040" cy="3108960"/>
          </a:xfrm>
          <a:prstGeom prst="roundRect">
            <a:avLst/>
          </a:prstGeom>
          <a:solidFill>
            <a:srgbClr val="14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1591056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F93A6"/>
                </a:solidFill>
                <a:latin typeface="Consolas"/>
              </a:rPr>
              <a:t>python exp3_sweep.py noise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883664"/>
            <a:ext cx="5577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 i="0">
                <a:solidFill>
                  <a:srgbClr val="DDE4EC"/>
                </a:solidFill>
                <a:latin typeface="Consolas"/>
              </a:rPr>
              <a:t>  clean            max tilt   3.35 deg   survived</a:t>
            </a:r>
          </a:p>
          <a:p>
            <a:pPr algn="l">
              <a:lnSpc>
                <a:spcPct val="106000"/>
              </a:lnSpc>
            </a:pPr>
            <a:r>
              <a:rPr sz="1200" b="0" i="0">
                <a:solidFill>
                  <a:srgbClr val="DDE4EC"/>
                </a:solidFill>
                <a:latin typeface="Consolas"/>
              </a:rPr>
              <a:t>  command zeroed   max tilt   3.35 deg   survived</a:t>
            </a:r>
          </a:p>
          <a:p>
            <a:pPr algn="l">
              <a:lnSpc>
                <a:spcPct val="106000"/>
              </a:lnSpc>
            </a:pPr>
            <a:r>
              <a:rPr sz="1200" b="0" i="0">
                <a:solidFill>
                  <a:srgbClr val="DDE4EC"/>
                </a:solidFill>
                <a:latin typeface="Consolas"/>
              </a:rPr>
              <a:t>  -&gt; PASS, identical. The tool is honest.</a:t>
            </a:r>
          </a:p>
          <a:p>
            <a:pPr algn="l">
              <a:lnSpc>
                <a:spcPct val="106000"/>
              </a:lnSpc>
            </a:pPr>
          </a:p>
          <a:p>
            <a:pPr algn="l">
              <a:lnSpc>
                <a:spcPct val="106000"/>
              </a:lnSpc>
            </a:pPr>
            <a:r>
              <a:rPr sz="1200" b="0" i="0">
                <a:solidFill>
                  <a:srgbClr val="DDE4EC"/>
                </a:solidFill>
                <a:latin typeface="Consolas"/>
              </a:rPr>
              <a:t>  sensor         x1     x5    x10    x20</a:t>
            </a:r>
          </a:p>
          <a:p>
            <a:pPr algn="l">
              <a:lnSpc>
                <a:spcPct val="106000"/>
              </a:lnSpc>
            </a:pPr>
            <a:r>
              <a:rPr sz="1200" b="0" i="0">
                <a:solidFill>
                  <a:srgbClr val="DDE4EC"/>
                </a:solidFill>
                <a:latin typeface="Consolas"/>
              </a:rPr>
              <a:t>  ---------------------------------------</a:t>
            </a:r>
          </a:p>
          <a:p>
            <a:pPr algn="l">
              <a:lnSpc>
                <a:spcPct val="106000"/>
              </a:lnSpc>
            </a:pPr>
            <a:r>
              <a:rPr sz="1200" b="0" i="0">
                <a:solidFill>
                  <a:srgbClr val="DDE4EC"/>
                </a:solidFill>
                <a:latin typeface="Consolas"/>
              </a:rPr>
              <a:t>  angvel        3/3    3/3    3/3    3/3</a:t>
            </a:r>
          </a:p>
          <a:p>
            <a:pPr algn="l">
              <a:lnSpc>
                <a:spcPct val="106000"/>
              </a:lnSpc>
            </a:pPr>
            <a:r>
              <a:rPr sz="1200" b="0" i="0">
                <a:solidFill>
                  <a:srgbClr val="DDE4EC"/>
                </a:solidFill>
                <a:latin typeface="Consolas"/>
              </a:rPr>
              <a:t>  gravity       3/3    3/3    0/3    0/3   &lt;- breaks</a:t>
            </a:r>
          </a:p>
          <a:p>
            <a:pPr algn="l">
              <a:lnSpc>
                <a:spcPct val="106000"/>
              </a:lnSpc>
            </a:pPr>
            <a:r>
              <a:rPr sz="1200" b="0" i="0">
                <a:solidFill>
                  <a:srgbClr val="DDE4EC"/>
                </a:solidFill>
                <a:latin typeface="Consolas"/>
              </a:rPr>
              <a:t>  dofpos        3/3    3/3    2/3    0/3</a:t>
            </a:r>
          </a:p>
          <a:p>
            <a:pPr algn="l">
              <a:lnSpc>
                <a:spcPct val="106000"/>
              </a:lnSpc>
            </a:pPr>
            <a:r>
              <a:rPr sz="1200" b="0" i="0">
                <a:solidFill>
                  <a:srgbClr val="DDE4EC"/>
                </a:solidFill>
                <a:latin typeface="Consolas"/>
              </a:rPr>
              <a:t>  dofvel        3/3    3/3    3/3    2/3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4736592"/>
            <a:ext cx="6035040" cy="1508760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490118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7A6B"/>
                </a:solidFill>
                <a:latin typeface="Calibri"/>
              </a:rPr>
              <a:t>Gravity breaks first. Angular velocity survives everything.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285232"/>
            <a:ext cx="5486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22252A"/>
                </a:solidFill>
                <a:latin typeface="Calibri"/>
              </a:rPr>
              <a:t>Projected gravity is the only ABSOLUTE orientation reference in the</a:t>
            </a:r>
          </a:p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22252A"/>
                </a:solidFill>
                <a:latin typeface="Calibri"/>
              </a:rPr>
              <a:t>observation. Joint sensors are all relative to the body; angular velocity</a:t>
            </a:r>
          </a:p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22252A"/>
                </a:solidFill>
                <a:latin typeface="Calibri"/>
              </a:rPr>
              <a:t>is a rate you must integrate, and integration drifts.</a:t>
            </a:r>
          </a:p>
        </p:txBody>
      </p:sp>
      <p:pic>
        <p:nvPicPr>
          <p:cNvPr id="10" name="e4_clean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909560" y="1463040"/>
            <a:ext cx="2743200" cy="211015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909560" y="3628057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A6068"/>
                </a:solidFill>
                <a:latin typeface="Calibri"/>
              </a:rPr>
              <a:t>▶  clean sensors — stands</a:t>
            </a:r>
          </a:p>
        </p:txBody>
      </p:sp>
      <p:pic>
        <p:nvPicPr>
          <p:cNvPr id="12" name="e4_gravity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909560" y="4005072"/>
            <a:ext cx="2743200" cy="211015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909560" y="6170089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A6068"/>
                </a:solidFill>
                <a:latin typeface="Calibri"/>
              </a:rPr>
              <a:t>▶  gravity ×10 — down at 1.92 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6291072"/>
            <a:ext cx="6035040" cy="475488"/>
          </a:xfrm>
          <a:prstGeom prst="roundRect">
            <a:avLst/>
          </a:prstGeom>
          <a:solidFill>
            <a:srgbClr val="F4E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6409944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B8862E"/>
                </a:solidFill>
                <a:latin typeface="Calibri"/>
              </a:rPr>
              <a:t>Pre-registration predicted angular velocity. It was wrong — written down first.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A"/>
                </a:solidFill>
                <a:latin typeface="Calibri"/>
              </a:rPr>
              <a:t>Attack 3 — swap the entire simulator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8755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A6068"/>
                </a:solidFill>
                <a:latin typeface="Calibri"/>
              </a:rPr>
              <a:t>Same frozen weights, same kinematic tree, different collision geometry. Prediction: how long until it falls?</a:t>
            </a:r>
          </a:p>
        </p:txBody>
      </p:sp>
      <p:pic>
        <p:nvPicPr>
          <p:cNvPr id="4" name="e6_modelA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34440" y="1371600"/>
            <a:ext cx="3657600" cy="28135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34440" y="4240002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A6068"/>
                </a:solidFill>
                <a:latin typeface="Calibri"/>
              </a:rPr>
              <a:t>▶  model A — the training physics</a:t>
            </a:r>
          </a:p>
        </p:txBody>
      </p:sp>
      <p:pic>
        <p:nvPicPr>
          <p:cNvPr id="6" name="e6_modelB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669279" y="1371600"/>
            <a:ext cx="3657600" cy="281353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79" y="4240002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A6068"/>
                </a:solidFill>
                <a:latin typeface="Calibri"/>
              </a:rPr>
              <a:t>▶  model B — the deployment physics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626864"/>
            <a:ext cx="5394960" cy="932688"/>
          </a:xfrm>
          <a:prstGeom prst="roundRect">
            <a:avLst/>
          </a:prstGeom>
          <a:solidFill>
            <a:srgbClr val="14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4791456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DDE4EC"/>
                </a:solidFill>
                <a:latin typeface="Consolas"/>
              </a:rPr>
              <a:t>STANDING  20s:  0.008 m apart   upright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5120640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0C070"/>
                </a:solidFill>
                <a:latin typeface="Consolas"/>
              </a:rPr>
              <a:t>WALKING   20s:  1.604 m apart   upright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4626864"/>
            <a:ext cx="5367528" cy="932688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473659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F7A6B"/>
                </a:solidFill>
                <a:latin typeface="Calibri"/>
              </a:rPr>
              <a:t>NEITHER ONE FALLS.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51206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2252A"/>
                </a:solidFill>
                <a:latin typeface="Calibri"/>
              </a:rPr>
              <a:t>The sim2sim gap is not a fall. It is a drift.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5687568"/>
            <a:ext cx="11064240" cy="914400"/>
          </a:xfrm>
          <a:prstGeom prst="roundRect">
            <a:avLst/>
          </a:prstGeom>
          <a:solidFill>
            <a:srgbClr val="F4E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833872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And the control proves what bounds it: replay one simulator's actions blindly into the other — feedback off — and a robot topples in 2.68 s.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Feedback was cancelling the physics gap fifty times a second. Standing clamps divergence near 0.01 rad; walking near 0.10, and walking INTEGRATES it.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A"/>
                </a:solidFill>
                <a:latin typeface="Calibri"/>
              </a:rPr>
              <a:t>What Experiment 3 actually settles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8755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A6068"/>
                </a:solidFill>
                <a:latin typeface="Calibri"/>
              </a:rPr>
              <a:t>Three attacks, and together they point away from the suspect everyone starts with.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17904"/>
            <a:ext cx="11064240" cy="457200"/>
          </a:xfrm>
          <a:prstGeom prst="roundRect">
            <a:avLst/>
          </a:prstGeom>
          <a:solidFill>
            <a:srgbClr val="1B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9105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ATTACK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159105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STANDING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159105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WALKING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591056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WOULD REAL HARDWARE SEE IT?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048256"/>
            <a:ext cx="11064240" cy="694944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23113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A3A"/>
                </a:solidFill>
                <a:latin typeface="Calibri"/>
              </a:rPr>
              <a:t>Control delay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240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120 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2240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20 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2402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0AA08A"/>
                </a:solidFill>
                <a:latin typeface="Calibri"/>
              </a:rPr>
              <a:t>yes — every real system has latency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834640"/>
            <a:ext cx="11064240" cy="694944"/>
          </a:xfrm>
          <a:prstGeom prst="round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017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A3A"/>
                </a:solidFill>
                <a:latin typeface="Calibri"/>
              </a:rPr>
              <a:t>Corrupt gravity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302666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breaks at ×10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302666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3026664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B8862E"/>
                </a:solidFill>
                <a:latin typeface="Calibri"/>
              </a:rPr>
              <a:t>yes — IMUs drift and get knocked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621024"/>
            <a:ext cx="11064240" cy="694944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80390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A3A"/>
                </a:solidFill>
                <a:latin typeface="Calibri"/>
              </a:rPr>
              <a:t>Different simulator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38130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8 mm drift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38130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1.6 m drift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381304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B0473C"/>
                </a:solidFill>
                <a:latin typeface="Calibri"/>
              </a:rPr>
              <a:t>yes, as drift — not as a fall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480560"/>
            <a:ext cx="11064240" cy="2057400"/>
          </a:xfrm>
          <a:prstGeom prst="roundRect">
            <a:avLst/>
          </a:prstGeom>
          <a:solidFill>
            <a:srgbClr val="F4E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64515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B8862E"/>
                </a:solidFill>
                <a:latin typeface="Calibri"/>
              </a:rPr>
              <a:t>So where does the sim2sim gap actually live? Not in sensing.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065776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22252A"/>
                </a:solidFill>
                <a:latin typeface="Calibri"/>
              </a:rPr>
              <a:t>The policy survived a ten-times corrupted joint sensor and a sixth of a second of delay. It did not fall when the entire world model changed.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22252A"/>
                </a:solidFill>
                <a:latin typeface="Calibri"/>
              </a:rPr>
              <a:t>This project spent weeks assuming otherwise — the walking policy transferred badly and domain randomisation was the obvious fix. It was not: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22252A"/>
                </a:solidFill>
                <a:latin typeface="Calibri"/>
              </a:rPr>
              <a:t>the policy walks 20 s on the exact deployment model. The gap was in the REAL-TIME CONTROL HARNESS — timing, not perception.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22252A"/>
                </a:solidFill>
                <a:latin typeface="Calibri"/>
              </a:rPr>
              <a:t>Attack 1 was the clue, handed over first: delay is precisely what walking cannot tolerate.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5840" y="2240280"/>
            <a:ext cx="82296" cy="1920240"/>
          </a:xfrm>
          <a:prstGeom prst="rect">
            <a:avLst/>
          </a:prstGeom>
          <a:solidFill>
            <a:srgbClr val="B8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12848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B8862E"/>
                </a:solidFill>
                <a:latin typeface="Calibri"/>
              </a:rPr>
              <a:t>EXPERIMENT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60604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Make the Robot Copy a Human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5204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C9D2DA"/>
                </a:solidFill>
                <a:latin typeface="Calibri"/>
              </a:rPr>
              <a:t>Take a real human motion capture and put it on the R1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605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8F9EAC"/>
                </a:solidFill>
                <a:latin typeface="Calibri"/>
              </a:rPr>
              <a:t>The first three experiments asked whether it stays up. This one asks whether the motion was ever possible.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A"/>
                </a:solidFill>
                <a:latin typeface="Calibri"/>
              </a:rPr>
              <a:t>Retargeting, and what had to be added for the 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8755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A6068"/>
                </a:solidFill>
                <a:latin typeface="Calibri"/>
              </a:rPr>
              <a:t>A motion capture records a person. The R1 is not a person — different limbs, different axes, 24 motors.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17904"/>
            <a:ext cx="5394960" cy="1371600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0078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7A6B"/>
                </a:solidFill>
                <a:latin typeface="Calibri"/>
              </a:rPr>
              <a:t>THE PROBLEM IT SOLVES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66543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22252A"/>
                </a:solidFill>
                <a:latin typeface="Calibri"/>
              </a:rPr>
              <a:t>For each frame: what joint angles put THIS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22252A"/>
                </a:solidFill>
                <a:latin typeface="Calibri"/>
              </a:rPr>
              <a:t>robot's body closest to where the human's was?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517904"/>
            <a:ext cx="5367528" cy="1371600"/>
          </a:xfrm>
          <a:prstGeom prst="roundRect">
            <a:avLst/>
          </a:prstGeom>
          <a:solidFill>
            <a:srgbClr val="F4E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170078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8862E"/>
                </a:solidFill>
                <a:latin typeface="Calibri"/>
              </a:rPr>
              <a:t>WHAT IT IS NEVER ASKED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392" y="2066543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22252A"/>
                </a:solidFill>
                <a:latin typeface="Calibri"/>
              </a:rPr>
              <a:t>Anything about gravity, contact, torque, or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22252A"/>
                </a:solidFill>
                <a:latin typeface="Calibri"/>
              </a:rPr>
              <a:t>whether the robot could stay upright.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054096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GMR is the research tool that does this. It ships with several robots — the R1 was not one of them. Support for it is four things added by this project: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547872"/>
            <a:ext cx="6949440" cy="512064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666744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B2A3A"/>
                </a:solidFill>
                <a:latin typeface="Consolas"/>
              </a:rPr>
              <a:t>assets/unitree_r1/r1_scene.xml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3675887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A6068"/>
                </a:solidFill>
                <a:latin typeface="Calibri"/>
              </a:rPr>
              <a:t>the robot model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133087"/>
            <a:ext cx="6949440" cy="512064"/>
          </a:xfrm>
          <a:prstGeom prst="round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4251959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B2A3A"/>
                </a:solidFill>
                <a:latin typeface="Consolas"/>
              </a:rPr>
              <a:t>ik_configs/bvh_xsens_to_r1.json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4261103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A6068"/>
                </a:solidFill>
                <a:latin typeface="Calibri"/>
              </a:rPr>
              <a:t>Xsens motion capture → R1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718304"/>
            <a:ext cx="6949440" cy="512064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4837176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B2A3A"/>
                </a:solidFill>
                <a:latin typeface="Consolas"/>
              </a:rPr>
              <a:t>ik_configs/smplx_to_r1.json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48463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A6068"/>
                </a:solidFill>
                <a:latin typeface="Calibri"/>
              </a:rPr>
              <a:t>SMPL-X / AMASS → R1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303520"/>
            <a:ext cx="6949440" cy="512064"/>
          </a:xfrm>
          <a:prstGeom prst="round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542239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B2A3A"/>
                </a:solidFill>
                <a:latin typeface="Consolas"/>
              </a:rPr>
              <a:t>5 entries in params.py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543153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A6068"/>
                </a:solidFill>
                <a:latin typeface="Calibri"/>
              </a:rPr>
              <a:t>model path, IK configs, root body, camera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18120" y="3547872"/>
            <a:ext cx="3813048" cy="2377440"/>
          </a:xfrm>
          <a:prstGeom prst="roundRect">
            <a:avLst/>
          </a:prstGeom>
          <a:solidFill>
            <a:srgbClr val="F4E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65008" y="3712463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B8862E"/>
                </a:solidFill>
                <a:latin typeface="Calibri"/>
              </a:rPr>
              <a:t>THE IK CONFIG IS THE CONTRIBUTION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65008" y="4078224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22252A"/>
                </a:solidFill>
                <a:latin typeface="Calibri"/>
              </a:rPr>
              <a:t>A JSON file saying which human body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22252A"/>
                </a:solidFill>
                <a:latin typeface="Calibri"/>
              </a:rPr>
              <a:t>part drives which robot body, and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22252A"/>
                </a:solidFill>
                <a:latin typeface="Calibri"/>
              </a:rPr>
              <a:t>how much each one matters.</a:t>
            </a: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22252A"/>
                </a:solidFill>
                <a:latin typeface="Calibri"/>
              </a:rPr>
              <a:t>That mapping is what a new robot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22252A"/>
                </a:solidFill>
                <a:latin typeface="Calibri"/>
              </a:rPr>
              <a:t>needs. Writing one is the work.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6035040"/>
            <a:ext cx="11064240" cy="603504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616305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7A6B"/>
                </a:solidFill>
                <a:latin typeface="Calibri"/>
              </a:rPr>
              <a:t>R1 accepts SMPL-X and Xsens BVH. It does NOT accept LAFAN1 — the dataset most GMR tutorials use. No LAFAN1→R1 mapping has been written yet.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A"/>
                </a:solidFill>
                <a:latin typeface="Calibri"/>
              </a:rPr>
              <a:t>Run it, and watch a robot 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8755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A6068"/>
                </a:solidFill>
                <a:latin typeface="Calibri"/>
              </a:rPr>
              <a:t>GMR ships one motion capture: 35 seconds of boxing at 120 Hz. I retargeted ten seconds of it.</a:t>
            </a:r>
          </a:p>
        </p:txBody>
      </p:sp>
      <p:pic>
        <p:nvPicPr>
          <p:cNvPr id="4" name="r1_boxing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68679" y="1444752"/>
            <a:ext cx="5669280" cy="4251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79" y="5751576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A6068"/>
                </a:solidFill>
                <a:latin typeface="Calibri"/>
              </a:rPr>
              <a:t>▶  the retargeted motion — does that look like a real robot boxing?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03720" y="1481328"/>
            <a:ext cx="4727448" cy="2148840"/>
          </a:xfrm>
          <a:prstGeom prst="roundRect">
            <a:avLst/>
          </a:prstGeom>
          <a:solidFill>
            <a:srgbClr val="14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50608" y="1700784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DDE4EC"/>
                </a:solidFill>
                <a:latin typeface="Consolas"/>
              </a:rPr>
              <a:t>[headless] IK solve rate: 217.1 FPS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50608" y="1938528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DDE4EC"/>
                </a:solidFill>
                <a:latin typeface="Consolas"/>
              </a:rPr>
              <a:t>  (5.5s for 1200 frames), motion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50608" y="2176272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0E0B0"/>
                </a:solidFill>
                <a:latin typeface="Consolas"/>
              </a:rPr>
              <a:t>  120 fps -&gt; real-time capable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0608" y="246888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DDE4EC"/>
                </a:solidFill>
                <a:latin typeface="Consolas"/>
              </a:rPr>
              <a:t>[headless] motion saved to out/mine.pkl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50608" y="2798064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A8B8C8"/>
                </a:solidFill>
                <a:latin typeface="Calibri"/>
              </a:rPr>
              <a:t>217 FPS against a 120 fps motion — nearly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A8B8C8"/>
                </a:solidFill>
                <a:latin typeface="Calibri"/>
              </a:rPr>
              <a:t>twice real time. This could run LIVE off a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A8B8C8"/>
                </a:solidFill>
                <a:latin typeface="Calibri"/>
              </a:rPr>
              <a:t>streaming mocap suit, not just offline.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3794760"/>
            <a:ext cx="4727448" cy="1371600"/>
          </a:xfrm>
          <a:prstGeom prst="roundRect">
            <a:avLst/>
          </a:prstGeom>
          <a:solidFill>
            <a:srgbClr val="F4E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50608" y="3950208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B8862E"/>
                </a:solidFill>
                <a:latin typeface="Calibri"/>
              </a:rPr>
              <a:t>AND ONE MEASUREMENT WORTH KEEPING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50608" y="4297680"/>
            <a:ext cx="4297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22252A"/>
                </a:solidFill>
                <a:latin typeface="Calibri"/>
              </a:rPr>
              <a:t>Pass --video_path and it drops to about</a:t>
            </a:r>
          </a:p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22252A"/>
                </a:solidFill>
                <a:latin typeface="Calibri"/>
              </a:rPr>
              <a:t>4 FPS. Fifty times slower. The bottleneck</a:t>
            </a:r>
          </a:p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22252A"/>
                </a:solidFill>
                <a:latin typeface="Calibri"/>
              </a:rPr>
              <a:t>is drawing pixels, not the mathematics.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5349240"/>
            <a:ext cx="4727448" cy="1051560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50608" y="548640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7A6B"/>
                </a:solidFill>
                <a:latin typeface="Calibri"/>
              </a:rPr>
              <a:t>It is genuinely convincing.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50608" y="5815584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2252A"/>
                </a:solidFill>
                <a:latin typeface="Calibri"/>
              </a:rPr>
              <a:t>The guard comes up, the weight shifts, the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2252A"/>
                </a:solidFill>
                <a:latin typeface="Calibri"/>
              </a:rPr>
              <a:t>feet stay planted. Nothing looks wrong.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A"/>
                </a:solidFill>
                <a:latin typeface="Calibri"/>
              </a:rPr>
              <a:t>Now measure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8755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A6068"/>
                </a:solidFill>
                <a:latin typeface="Calibri"/>
              </a:rPr>
              <a:t>Four questions the video cannot answer: do the feet touch the ground, does the body move, is any joint over its stop, could a motor move that fast?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72768"/>
            <a:ext cx="6400800" cy="3246120"/>
          </a:xfrm>
          <a:prstGeom prst="roundRect">
            <a:avLst/>
          </a:prstGeom>
          <a:solidFill>
            <a:srgbClr val="14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1682495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F93A6"/>
                </a:solidFill>
                <a:latin typeface="Consolas"/>
              </a:rPr>
              <a:t>python exp4_check_motion.py reference/r1_boxing.pkl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975104"/>
            <a:ext cx="594360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DDE4EC"/>
                </a:solidFill>
                <a:latin typeface="Consolas"/>
              </a:rPr>
              <a:t>  1. FEET -- does the robot ever touch the ground?</a:t>
            </a:r>
          </a:p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DDE4EC"/>
                </a:solidFill>
                <a:latin typeface="Consolas"/>
              </a:rPr>
              <a:t>       lowest contact point:  min  -1.15 cm   max  +1.80 cm</a:t>
            </a:r>
          </a:p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DDE4EC"/>
                </a:solidFill>
                <a:latin typeface="Consolas"/>
              </a:rPr>
              <a:t>       -&gt; touches down on 762/1200 frames (64%)</a:t>
            </a:r>
          </a:p>
          <a:p>
            <a:pPr algn="l">
              <a:lnSpc>
                <a:spcPct val="106000"/>
              </a:lnSpc>
            </a:pPr>
          </a:p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DDE4EC"/>
                </a:solidFill>
                <a:latin typeface="Consolas"/>
              </a:rPr>
              <a:t>  2. PELVIS -- does the body rise and fall like a real one?</a:t>
            </a:r>
          </a:p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DDE4EC"/>
                </a:solidFill>
                <a:latin typeface="Consolas"/>
              </a:rPr>
              <a:t>       height 0.648 .. 0.733 m   (range 8.49 cm)</a:t>
            </a:r>
          </a:p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DDE4EC"/>
                </a:solidFill>
                <a:latin typeface="Consolas"/>
              </a:rPr>
              <a:t>       -&gt; moves, as a real body would</a:t>
            </a:r>
          </a:p>
          <a:p>
            <a:pPr algn="l">
              <a:lnSpc>
                <a:spcPct val="106000"/>
              </a:lnSpc>
            </a:pPr>
          </a:p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DDE4EC"/>
                </a:solidFill>
                <a:latin typeface="Consolas"/>
              </a:rPr>
              <a:t>  3. LIMITS -- any joint past its mechanical stop?</a:t>
            </a:r>
          </a:p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DDE4EC"/>
                </a:solidFill>
                <a:latin typeface="Consolas"/>
              </a:rPr>
              <a:t>       -&gt; none. every joint stays inside its range.</a:t>
            </a:r>
          </a:p>
          <a:p>
            <a:pPr algn="l">
              <a:lnSpc>
                <a:spcPct val="106000"/>
              </a:lnSpc>
            </a:pPr>
          </a:p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DDE4EC"/>
                </a:solidFill>
                <a:latin typeface="Consolas"/>
              </a:rPr>
              <a:t>  4. SPEED -- could a motor actually move this fast?</a:t>
            </a:r>
          </a:p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DDE4EC"/>
                </a:solidFill>
                <a:latin typeface="Consolas"/>
              </a:rPr>
              <a:t>       peak joint speed 27.3 rad/s   (limit set to 20)</a:t>
            </a:r>
          </a:p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DDE4EC"/>
                </a:solidFill>
                <a:latin typeface="Consolas"/>
              </a:rPr>
              <a:t>       -&gt; exceeded on 5 frames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69480" y="1572768"/>
            <a:ext cx="4361688" cy="1481328"/>
          </a:xfrm>
          <a:prstGeom prst="roundRect">
            <a:avLst/>
          </a:prstGeom>
          <a:solidFill>
            <a:srgbClr val="F6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16368" y="17373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B0473C"/>
                </a:solidFill>
                <a:latin typeface="Calibri"/>
              </a:rPr>
              <a:t>VERDICT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16368" y="2066543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B0473C"/>
                </a:solidFill>
                <a:latin typeface="Calibri"/>
              </a:rPr>
              <a:t>NOT physically realisable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16368" y="2523744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22252A"/>
                </a:solidFill>
                <a:latin typeface="Calibri"/>
              </a:rPr>
              <a:t>the foot penetrates the floor by 1.15 cm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22252A"/>
                </a:solidFill>
                <a:latin typeface="Calibri"/>
              </a:rPr>
              <a:t>and 5 frames need an impossible speed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3218688"/>
            <a:ext cx="4361688" cy="1600200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16368" y="33832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7A6B"/>
                </a:solidFill>
                <a:latin typeface="Calibri"/>
              </a:rPr>
              <a:t>TWO OF THE FOUR PASS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16368" y="3712463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22252A"/>
                </a:solidFill>
                <a:latin typeface="Calibri"/>
              </a:rPr>
              <a:t>The pelvis moves 8.5 cm, like a real body.</a:t>
            </a:r>
          </a:p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22252A"/>
                </a:solidFill>
                <a:latin typeface="Calibri"/>
              </a:rPr>
              <a:t>No joint is driven past its stop.</a:t>
            </a:r>
          </a:p>
          <a:p>
            <a:pPr algn="l">
              <a:lnSpc>
                <a:spcPct val="128000"/>
              </a:lnSpc>
            </a:pPr>
          </a:p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22252A"/>
                </a:solidFill>
                <a:latin typeface="Calibri"/>
              </a:rPr>
              <a:t>Whoever built this did not do it carelessly.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956048"/>
            <a:ext cx="11064240" cy="1719072"/>
          </a:xfrm>
          <a:prstGeom prst="roundRect">
            <a:avLst/>
          </a:prstGeom>
          <a:solidFill>
            <a:srgbClr val="F4E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1206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B8862E"/>
                </a:solidFill>
                <a:latin typeface="Calibri"/>
              </a:rPr>
              <a:t>Why that is not a bug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504688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22252A"/>
                </a:solidFill>
                <a:latin typeface="Calibri"/>
              </a:rPr>
              <a:t>Retargeting was given one problem: put the robot's limbs where the human's were. It solves that well — which is why the video convinces.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22252A"/>
                </a:solidFill>
                <a:latin typeface="Calibri"/>
              </a:rPr>
              <a:t>Nothing in the pipeline ever asked about the floor, so nothing in the output respects it.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22252A"/>
                </a:solidFill>
                <a:latin typeface="Calibri"/>
              </a:rPr>
              <a:t>A tool that solves the problem you gave it is not broken when it fails a problem you never mentioned.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A"/>
                </a:solidFill>
                <a:latin typeface="Calibri"/>
              </a:rPr>
              <a:t>The wrong answer I reported 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8755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A6068"/>
                </a:solidFill>
                <a:latin typeface="Calibri"/>
              </a:rPr>
              <a:t>Students are told to go and reproduce this deliberately. It is the most useful five minutes in the lab.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72768"/>
            <a:ext cx="6400800" cy="2514600"/>
          </a:xfrm>
          <a:prstGeom prst="roundRect">
            <a:avLst/>
          </a:prstGeom>
          <a:solidFill>
            <a:srgbClr val="14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1682495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F93A6"/>
                </a:solidFill>
                <a:latin typeface="Consolas"/>
              </a:rPr>
              <a:t>the same tool, run on frames 0-360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975104"/>
            <a:ext cx="59436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DDE4EC"/>
                </a:solidFill>
                <a:latin typeface="Consolas"/>
              </a:rPr>
              <a:t>  1. FEET</a:t>
            </a:r>
          </a:p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DDE4EC"/>
                </a:solidFill>
                <a:latin typeface="Consolas"/>
              </a:rPr>
              <a:t>       lowest contact point:  min  +4.53 cm   max  +4.63 cm</a:t>
            </a:r>
          </a:p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DDE4EC"/>
                </a:solidFill>
                <a:latin typeface="Consolas"/>
              </a:rPr>
              <a:t>       -&gt; FLOATING the whole time.  0 of 360 frames contact.</a:t>
            </a:r>
          </a:p>
          <a:p>
            <a:pPr algn="l">
              <a:lnSpc>
                <a:spcPct val="106000"/>
              </a:lnSpc>
            </a:pPr>
          </a:p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DDE4EC"/>
                </a:solidFill>
                <a:latin typeface="Consolas"/>
              </a:rPr>
              <a:t>  2. PELVIS</a:t>
            </a:r>
          </a:p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DDE4EC"/>
                </a:solidFill>
                <a:latin typeface="Consolas"/>
              </a:rPr>
              <a:t>       height 0.787 .. 0.787 m   (range 0.06 cm)</a:t>
            </a:r>
          </a:p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DDE4EC"/>
                </a:solidFill>
                <a:latin typeface="Consolas"/>
              </a:rPr>
              <a:t>       -&gt; FROZEN. A moving human does not hold this constant.</a:t>
            </a:r>
          </a:p>
          <a:p>
            <a:pPr algn="l">
              <a:lnSpc>
                <a:spcPct val="106000"/>
              </a:lnSpc>
            </a:pPr>
          </a:p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DDE4EC"/>
                </a:solidFill>
                <a:latin typeface="Consolas"/>
              </a:rPr>
              <a:t>  4. SPEED</a:t>
            </a:r>
          </a:p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DDE4EC"/>
                </a:solidFill>
                <a:latin typeface="Consolas"/>
              </a:rPr>
              <a:t>       peak joint speed 0.6 rad/s   (limit set to 20)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4224528"/>
            <a:ext cx="6400800" cy="960120"/>
          </a:xfrm>
          <a:prstGeom prst="roundRect">
            <a:avLst/>
          </a:prstGeom>
          <a:solidFill>
            <a:srgbClr val="F6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37083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B0473C"/>
                </a:solidFill>
                <a:latin typeface="Calibri"/>
              </a:rPr>
              <a:t>A far better story — and completely wrong.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3659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22252A"/>
                </a:solidFill>
                <a:latin typeface="Calibri"/>
              </a:rPr>
              <a:t>“The robot never touches the ground and its pelvis never moves.”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9480" y="1572768"/>
            <a:ext cx="4361688" cy="4041648"/>
          </a:xfrm>
          <a:prstGeom prst="roundRect">
            <a:avLst/>
          </a:prstGeom>
          <a:solidFill>
            <a:srgbClr val="F4E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16368" y="17373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B8862E"/>
                </a:solidFill>
                <a:latin typeface="Calibri"/>
              </a:rPr>
              <a:t>WHAT ACTUALLY HAPPENED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16368" y="2084831"/>
            <a:ext cx="3840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22252A"/>
                </a:solidFill>
                <a:latin typeface="Calibri"/>
              </a:rPr>
              <a:t>Every Xsens capture opens with the</a:t>
            </a:r>
          </a:p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22252A"/>
                </a:solidFill>
                <a:latin typeface="Calibri"/>
              </a:rPr>
              <a:t>performer standing still in a calibration</a:t>
            </a:r>
          </a:p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22252A"/>
                </a:solidFill>
                <a:latin typeface="Calibri"/>
              </a:rPr>
              <a:t>T-pose. I measured that, not the boxing.</a:t>
            </a:r>
          </a:p>
          <a:p>
            <a:pPr algn="l">
              <a:lnSpc>
                <a:spcPct val="128000"/>
              </a:lnSpc>
            </a:pPr>
          </a:p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22252A"/>
                </a:solidFill>
                <a:latin typeface="Calibri"/>
              </a:rPr>
              <a:t>Every number above is true of the T-pose</a:t>
            </a:r>
          </a:p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22252A"/>
                </a:solidFill>
                <a:latin typeface="Calibri"/>
              </a:rPr>
              <a:t>and false of the motion.</a:t>
            </a:r>
          </a:p>
          <a:p>
            <a:pPr algn="l">
              <a:lnSpc>
                <a:spcPct val="128000"/>
              </a:lnSpc>
            </a:pPr>
          </a:p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22252A"/>
                </a:solidFill>
                <a:latin typeface="Calibri"/>
              </a:rPr>
              <a:t>THE GIVEAWAY was check 4, the one I was</a:t>
            </a:r>
          </a:p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22252A"/>
                </a:solidFill>
                <a:latin typeface="Calibri"/>
              </a:rPr>
              <a:t>not even looking at: 0.6 rad/s is impossibly</a:t>
            </a:r>
          </a:p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22252A"/>
                </a:solidFill>
                <a:latin typeface="Calibri"/>
              </a:rPr>
              <a:t>slow for someone throwing punches.</a:t>
            </a:r>
          </a:p>
          <a:p>
            <a:pPr algn="l">
              <a:lnSpc>
                <a:spcPct val="128000"/>
              </a:lnSpc>
            </a:pPr>
          </a:p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22252A"/>
                </a:solidFill>
                <a:latin typeface="Calibri"/>
              </a:rPr>
              <a:t>An implausible number in a check you are</a:t>
            </a:r>
          </a:p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22252A"/>
                </a:solidFill>
                <a:latin typeface="Calibri"/>
              </a:rPr>
              <a:t>not focused on is what exposes a mistake</a:t>
            </a:r>
          </a:p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22252A"/>
                </a:solidFill>
                <a:latin typeface="Calibri"/>
              </a:rPr>
              <a:t>in the one you are.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349240"/>
            <a:ext cx="6400800" cy="1234440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50468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7A6B"/>
                </a:solidFill>
                <a:latin typeface="Calibri"/>
              </a:rPr>
              <a:t>The tool now refuses to answer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888736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F7A6B"/>
                </a:solidFill>
                <a:latin typeface="Consolas"/>
              </a:rPr>
              <a:t>VERDICT: withheld -- you measured a calibration pose.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163056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1">
                <a:solidFill>
                  <a:srgbClr val="22252A"/>
                </a:solidFill>
                <a:latin typeface="Calibri"/>
              </a:rPr>
              <a:t>A measurement tool that cannot say “I do not trust this input”</a:t>
            </a:r>
          </a:p>
          <a:p>
            <a:pPr algn="l">
              <a:lnSpc>
                <a:spcPct val="122000"/>
              </a:lnSpc>
            </a:pPr>
            <a:r>
              <a:rPr sz="1250" b="0" i="1">
                <a:solidFill>
                  <a:srgbClr val="22252A"/>
                </a:solidFill>
                <a:latin typeface="Calibri"/>
              </a:rPr>
              <a:t>will eventually hand you a confident wrong answer.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A"/>
                </a:solidFill>
                <a:latin typeface="Calibri"/>
              </a:rPr>
              <a:t>So what is a retargeted motion good for?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8755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A6068"/>
                </a:solidFill>
                <a:latin typeface="Calibri"/>
              </a:rPr>
              <a:t>It is a reference, not a controller. It says what the robot should look like — nothing about how to stay standing.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17904"/>
            <a:ext cx="5394960" cy="2651760"/>
          </a:xfrm>
          <a:prstGeom prst="roundRect">
            <a:avLst/>
          </a:prstGeom>
          <a:solidFill>
            <a:srgbClr val="F4E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70078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8862E"/>
                </a:solidFill>
                <a:latin typeface="Calibri"/>
              </a:rPr>
              <a:t>RETARGETING  —  Experiment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2084831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6068"/>
                </a:solidFill>
                <a:latin typeface="Calibri"/>
              </a:rPr>
              <a:t>WHAT IT GIVES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35915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22252A"/>
                </a:solidFill>
                <a:latin typeface="Calibri"/>
              </a:rPr>
              <a:t>a rich, human-like motion, from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22252A"/>
                </a:solidFill>
                <a:latin typeface="Calibri"/>
              </a:rPr>
              <a:t>cheap capture or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312724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6068"/>
                </a:solidFill>
                <a:latin typeface="Calibri"/>
              </a:rPr>
              <a:t>WHAT IT CANNOT 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401568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22252A"/>
                </a:solidFill>
                <a:latin typeface="Calibri"/>
              </a:rPr>
              <a:t>respect gravity, contact, or torque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517904"/>
            <a:ext cx="5394960" cy="2651760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170078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AA08A"/>
                </a:solidFill>
                <a:latin typeface="Calibri"/>
              </a:rPr>
              <a:t>RL POLICY  —  Experiment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2084831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6068"/>
                </a:solidFill>
                <a:latin typeface="Calibri"/>
              </a:rPr>
              <a:t>WHAT IT GIVES YOU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35915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22252A"/>
                </a:solidFill>
                <a:latin typeface="Calibri"/>
              </a:rPr>
              <a:t>balance, push recovery, real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22252A"/>
                </a:solidFill>
                <a:latin typeface="Calibri"/>
              </a:rPr>
              <a:t>physics it cannot cheat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312724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6068"/>
                </a:solidFill>
                <a:latin typeface="Calibri"/>
              </a:rPr>
              <a:t>WHAT IT CANNOT 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3401568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22252A"/>
                </a:solidFill>
                <a:latin typeface="Calibri"/>
              </a:rPr>
              <a:t>invent an interesting motion to perform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70832"/>
            <a:ext cx="11064240" cy="1051560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535424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0F7A6B"/>
                </a:solidFill>
                <a:latin typeface="Calibri"/>
              </a:rPr>
              <a:t>Retarget to get the reference, then train a policy to track it while actually balancing.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956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The reward gains one term — stay close to the reference pose — on top of everything Experiment 2 already had.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596128"/>
            <a:ext cx="11064240" cy="960120"/>
          </a:xfrm>
          <a:prstGeom prst="round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74243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22252A"/>
                </a:solidFill>
                <a:latin typeface="Calibri"/>
              </a:rPr>
              <a:t>That two-stage design is the architecture behind essentially every humanoid-imitation paper in the reading packet. A student who finishes the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22252A"/>
                </a:solidFill>
                <a:latin typeface="Calibri"/>
              </a:rPr>
              <a:t>course has built both halves and measured why neither is sufficient alone — and can reject an impossible motion in ten seconds, before spending an hour training a policy to track it.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Where this leaves the workshop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572768"/>
            <a:ext cx="5394960" cy="3703320"/>
          </a:xfrm>
          <a:prstGeom prst="roundRect">
            <a:avLst/>
          </a:prstGeom>
          <a:solidFill>
            <a:srgbClr val="243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177393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AA08A"/>
                </a:solidFill>
                <a:latin typeface="Calibri"/>
              </a:rPr>
              <a:t>SHIPPED — READY FOR STUDENTS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2157984"/>
            <a:ext cx="48463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C9D2DA"/>
                </a:solidFill>
                <a:latin typeface="Calibri"/>
              </a:rPr>
              <a:t>Four labs, each a Word/PDF manual with a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C9D2DA"/>
                </a:solidFill>
                <a:latin typeface="Calibri"/>
              </a:rPr>
              <a:t>cover, contents and boxed commands, plus a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C9D2DA"/>
                </a:solidFill>
                <a:latin typeface="Calibri"/>
              </a:rPr>
              <a:t>file bundle tested from an empty folder.</a:t>
            </a: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C9D2DA"/>
                </a:solidFill>
                <a:latin typeface="Calibri"/>
              </a:rPr>
              <a:t>Lab 1   45–60 min   50 files    9.9 MB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C9D2DA"/>
                </a:solidFill>
                <a:latin typeface="Calibri"/>
              </a:rPr>
              <a:t>Lab 2   60 min        52 files   12.0 MB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C9D2DA"/>
                </a:solidFill>
                <a:latin typeface="Calibri"/>
              </a:rPr>
              <a:t>Lab 3   60 min        50 files   10.5 MB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C9D2DA"/>
                </a:solidFill>
                <a:latin typeface="Calibri"/>
              </a:rPr>
              <a:t>Lab 4   60 min         5 files    2.2 MB</a:t>
            </a: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C9D2DA"/>
                </a:solidFill>
                <a:latin typeface="Calibri"/>
              </a:rPr>
              <a:t>Every Expected block in all four was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C9D2DA"/>
                </a:solidFill>
                <a:latin typeface="Calibri"/>
              </a:rPr>
              <a:t>produced by actually running the command.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572768"/>
            <a:ext cx="4818888" cy="3703320"/>
          </a:xfrm>
          <a:prstGeom prst="roundRect">
            <a:avLst/>
          </a:prstGeom>
          <a:solidFill>
            <a:srgbClr val="332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30568" y="1773936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8862E"/>
                </a:solidFill>
                <a:latin typeface="Calibri"/>
              </a:rPr>
              <a:t>WHAT IS ACTUALLY LEFT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30568" y="2157984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D8CDB4"/>
                </a:solidFill>
                <a:latin typeface="Calibri"/>
              </a:rPr>
              <a:t>Nobody has run all four end to end in one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D8CDB4"/>
                </a:solidFill>
                <a:latin typeface="Calibri"/>
              </a:rPr>
              <a:t>sitting yet — Experiment 1 has been done on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D8CDB4"/>
                </a:solidFill>
                <a:latin typeface="Calibri"/>
              </a:rPr>
              <a:t>a clean Windows machine, the rest on mine.</a:t>
            </a: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D8CDB4"/>
                </a:solidFill>
                <a:latin typeface="Calibri"/>
              </a:rPr>
              <a:t>macOS is untested across every lab.</a:t>
            </a: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D8CDB4"/>
                </a:solidFill>
                <a:latin typeface="Calibri"/>
              </a:rPr>
              <a:t>And there is one genuinely unclaimed piece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D8CDB4"/>
                </a:solidFill>
                <a:latin typeface="Calibri"/>
              </a:rPr>
              <a:t>of work: no LAFAN1 → R1 mapping exists, so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D8CDB4"/>
                </a:solidFill>
                <a:latin typeface="Calibri"/>
              </a:rPr>
              <a:t>the largest public BVH dataset is closed to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D8CDB4"/>
                </a:solidFill>
                <a:latin typeface="Calibri"/>
              </a:rPr>
              <a:t>us. Writing that config would open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376672"/>
            <a:ext cx="10533888" cy="1298448"/>
          </a:xfrm>
          <a:prstGeom prst="roundRect">
            <a:avLst/>
          </a:prstGeom>
          <a:solidFill>
            <a:srgbClr val="143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548640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AA08A"/>
                </a:solidFill>
                <a:latin typeface="Calibri"/>
              </a:rPr>
              <a:t>The thread running through all four experiments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5833872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B8D5CE"/>
                </a:solidFill>
                <a:latin typeface="Calibri"/>
              </a:rPr>
              <a:t>Each one found a number that looked like the thing I cared about and was not: a NaN check blind to a blown-up simulator; a training reward</a:t>
            </a:r>
          </a:p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B8D5CE"/>
                </a:solidFill>
                <a:latin typeface="Calibri"/>
              </a:rPr>
              <a:t>at an all-time best while the policy could not stand; a “max tilt” printing the final tilt; a floating robot that was really a calibration pose.</a:t>
            </a:r>
          </a:p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B8D5CE"/>
                </a:solidFill>
                <a:latin typeface="Calibri"/>
              </a:rPr>
              <a:t>The last one was mine, reported as a finding before I caught it. That is the course.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