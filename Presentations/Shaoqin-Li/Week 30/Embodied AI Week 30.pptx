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 seconds.**</a:t>
            </a:r>
          </a:p>
          <a:p/>
          <a:p>
            <a:r>
              <a:t>This week I tested the video-to-R1 pipeline on videos with moving cameras. I wanted to see how the existing method behaves before trying to improve it. I will show what failed, what I fixed, and the resulting robot motions. Then I will introduce two next steps: using our lab robot's data to calibrate simulation, and connecting separate skills into a game.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40 seconds.**</a:t>
            </a:r>
          </a:p>
          <a:p/>
          <a:p>
            <a:r>
              <a:t>I have three questions. First, how much freedom do I have when choosing an input video? So far I have selected clear, full-body clips with one main person, and my earlier presentation used a fixed camera. Those choices make the pipeline easier to use, but they also limit the videos I can use. Second, can existing measurements from our real R1 tell me which simulator settings are realistic? Third, can I move from copying one motion to connecting several motions that I control interactively?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 seconds.**</a:t>
            </a:r>
          </a:p>
          <a:p/>
          <a:p>
            <a:r>
              <a:t>I started with GVHMR's existing moving-camera path. I did not train a new human-motion model. This part is an evaluation of the existing pipeline, including the compatibility problems I had to resolve to run it in my software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50 seconds.**</a:t>
            </a:r>
          </a:p>
          <a:p/>
          <a:p>
            <a:r>
              <a:t>These are my practical video-selection rules. I prefer the whole body, including the feet, to remain visible because leg motion and foot contact matter when I retarget the result to the robot. GVHMR may infer a hidden joint, but that is different from observing it, and I have not measured reconstruction accuracy on cropped clips. I also select one clear subject. The demo follows one person track, so extra people can complicate tracking; I am not claiming that any second person makes the method fail. A fixed camera avoids the camera-estimation stage. A moving camera is supported, and that is the path I tested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seconds.**</a:t>
            </a:r>
          </a:p>
          <a:p/>
          <a:p>
            <a:r>
              <a:t>I downloaded and screened eighteen candidate clips, checking people count, body visibility and camera motion, and then inspected them visually. I kept a fixed-camera home dance, a boxing clip where the camera follows the person, and a handheld street-dance clip. These tests were run on October 14. The fixed-camera dance is a reference example from the same pipeline. It is not a controlled camera experiment, because the person, motion and scene also change between clips. I credit the original Pexels videos in the source notes.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seconds.**</a:t>
            </a:r>
          </a:p>
          <a:p/>
          <a:p>
            <a:r>
              <a:t>The fixed-camera clip ran, but both moving-camera clips hit problems in the camera-estimation path. First, pycolmap sometimes classified nearly identical frame pairs as a watermark case and returned no camera pose. The following line tried to use a matrix that did not exist. Second, newer PyTorch refused to reload the saved camera-trajectory data with its default loading behavior. The error text on this slide comes from the recorded setup notes. It is not a new terminal traceback captured for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55 seconds.**</a:t>
            </a:r>
          </a:p>
          <a:p/>
          <a:p>
            <a:r>
              <a:t>The patch makes two parts of the existing path compatible with the environment. It disables watermark detection in the two-view solver, and it checks whether a pose was returned before using its matrix. If no pose is available, that frame pair falls back to no camera motion. The second edit allows loading the trajectory file that the pipeline itself produced. With those edits, both moving-camera clips ran through the pipeline. These changes do not improve the learned human-pose model. The no-motion fallback also does not prove that the camera was actually stationary; it is a limitation to examine when evaluating reconstruction quality.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40 seconds, including the 8.7-second video.**</a:t>
            </a:r>
          </a:p>
          <a:p/>
          <a:p>
            <a:r>
              <a:t>**Cue:** Play the video once. Point to the human on the left and the simulated robot on the right.</a:t>
            </a:r>
          </a:p>
          <a:p/>
          <a:p>
            <a:r>
              <a:t>This is the fixed-camera reference example. The video goes through human-motion recovery, retargeting and policy training, then the trained policy runs in plain MuJoCo. I am showing the final delay-trained policy under nominal conditions. The side-by-side view helps me inspect the sequence and timing. It does not supply a ground-truth three-dimensional human pose.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seconds, including the 15-second video.**</a:t>
            </a:r>
          </a:p>
          <a:p/>
          <a:p>
            <a:r>
              <a:t>**Cue:** Play the video once. Draw attention to the moving viewpoint and the wide stance.</a:t>
            </a:r>
          </a:p>
          <a:p/>
          <a:p>
            <a:r>
              <a:t>Here the camera follows the boxer. The pipeline still produced a motion that the R1 policy could perform in simulation. This was the least robust of the three under strong pushes and low friction. In the retargeted reference, each ankle roll reaches its limit in more than half the frames. That could contribute to the difficulty, but I have not changed the ankle constraint and repeated the experiment, so I cannot claim it is the proven cause.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40 seconds, including the 15-second video.**</a:t>
            </a:r>
          </a:p>
          <a:p/>
          <a:p>
            <a:r>
              <a:t>**Cue:** Play the video once. Point out handheld camera motion while the robot completes the sequence.</a:t>
            </a:r>
          </a:p>
          <a:p/>
          <a:p>
            <a:r>
              <a:t>The third clip uses a handheld camera. It also completed the pipeline and produced a policy that transfers to plain MuJoCo. This extends the examples beyond a fixed-camera tennis serve. It does not establish that the method works for every handheld video, severe occlusion, multiple interacting people or camera cuts. Those would require additional tests.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70 seconds.**</a:t>
            </a:r>
          </a:p>
          <a:p/>
          <a:p>
            <a:r>
              <a:t>The table compares the policy after the first training stage with the policy after an additional delay-training stage. Each motion has its own policy. Under the usual training randomization, twenty-nine or thirty of the thirty trials survived. At forty milliseconds of added delay, the fixed-camera dance changed from zero to twenty surviving trials, boxing from zero to nineteen, and street dance from one to nineteen, each out of twenty. The sixty-millisecond tests improved too, but not every trial survived. The boxing policy remained vulnerable to strong pushes and a slippery floor. These are robot-survival measurements, not measurements of human-pose reconstruction accuracy.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70 seconds.**</a:t>
            </a:r>
          </a:p>
          <a:p/>
          <a:p>
            <a:r>
              <a:t>There are several limits I want to keep clear. The delay stage also adds three thousand training iterations. This table alone cannot tell me whether the improvement came from delay exposure or simply more training. The earlier tennis study used matched extra-training controls and three training seeds to separate those effects. Here I have only one training seed per clip. Also, different motions with different camera conditions do not isolate the camera effect. I do not have ground-truth human poses for the stock clips. Finally, I found that the earlier twenty-five-frame-per-second dance had been treated as thirty frames per second, so its robot motion ran one-point-two times too fast. These new clips use their source frame rates.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 seconds.**</a:t>
            </a:r>
          </a:p>
          <a:p/>
          <a:p>
            <a:r>
              <a:t>My second topic is a proposal for using data from our real R1. This week I am presenting the approach. I have not run a new experiment on the physical robot, and I will not do that while the gantry is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seconds.**</a:t>
            </a:r>
          </a:p>
          <a:p/>
          <a:p>
            <a:r>
              <a:t>Delay is the clearest reason to measure rather than guess. I tested chosen delay settings in simulation, but I have not measured the real robot's command-to-motion delay. Our lab robot is the R1 EDU Light with non-dexterous hands, and its SDK and logs are available. Prof. Sun advised waiting for the gantry before testing in person. I can still inspect existing logs offline. I also checked the official SDK example: it takes control and sends commands, so it is not something to run unchanged just to read sensor data.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65 seconds.**</a:t>
            </a:r>
          </a:p>
          <a:p/>
          <a:p>
            <a:r>
              <a:t>First I would inventory the existing logs: which joint states, IMU signals, commands and timestamps were recorded, and whether they share a synchronized clock. Then I would fit the behavior the data can actually identify, starting with delay and motor response. I would keep some recorded motions out of the fitting process and use those to check the prediction. If the model predicts those held-out motions better, I can use measured parameter ranges in simulation and randomization. Existing logs may not contain enough commands or excitation to identify every parameter. Estimated torque is not a calibrated torque measurement, and an IMU does not directly give drift-free base velocity. Any new collection stays deferred until testing is permitted.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 seconds.**</a:t>
            </a:r>
          </a:p>
          <a:p/>
          <a:p>
            <a:r>
              <a:t>My next series is a library of separately trained skills. Instead of ending at a single motion demonstration, I want to connect the skills and control the robot in a MuJoCo game. The first complete milestone is a fluent walk, run and jump sequence.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seconds.**</a:t>
            </a:r>
          </a:p>
          <a:p/>
          <a:p>
            <a:r>
              <a:t>Each item in the bag contains a trained policy and the information needed to run it: its reference motion, joint order, control settings and entry and exit conditions. The game sends my movement and action choices to a controller that selects the appropriate skill. The controller must keep the robot's state continuous during a switch. The school scene is the setting for the challenge, but the main technical result is the robot moving between points with connected skills. Kick, punch and object handling remain later extensions.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seconds.**</a:t>
            </a:r>
          </a:p>
          <a:p/>
          <a:p>
            <a:r>
              <a:t>I searched for work I could reuse before designing a new framework. RoboJuDo is a useful reference because it separates the input controller, policy and simulator and supports switching between locomotion and motion-imitation policies. Its documented integrations do not establish an R1 drop-in for this project. ASE provides a reference for reusable skills and higher-level control. DeepMimic already includes humanoid jump, punch, walk and run motion examples, and its repository now points to MimicKit. The gap I need to address is integrating suitable R1 policies and testing the full walk-run-jump chain, not inventing the existence of these actions. One 2026 paper, Switch, deals directly with switching between skills, and the next slides present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 seconds.**</a:t>
            </a:r>
          </a:p>
          <a:p/>
          <a:p>
            <a:r>
              <a:t>I picked Switch because it addresses the part of my next project that I expect to be hardest: connecting skills fluently. This is an April 2026 preprint by Yuen-Fui Lau and collaborators. I am presenting their work as a reference for my R1 project. These are their results, not experiments I ran.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seconds.**</a:t>
            </a:r>
          </a:p>
          <a:p/>
          <a:p>
            <a:r>
              <a:t>My idea starts with a bag of motions. But three successful demonstrations do not automatically give me one successful chain. Switch combines a skill graph, a transition-trained tracker and an online scheduler. I find that useful because it treats the handoff as something to design and test. For my project, I would judge the connected rollout rather than only show walking, running and jumping in separate videos.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seconds.**</a:t>
            </a:r>
          </a:p>
          <a:p/>
          <a:p>
            <a:r>
              <a:t>A switch changes what the controller is asked to do while the robot is already moving. The next policy receives the actual pose, velocity and foot contact left by the previous action. It cannot assume a reset to a convenient training pose. The paper identifies mismatched states and unfamiliar transitions as key difficulties. In my game, pressing jump during a run should lead to a feasible takeoff, not an instant change into the first frame of a jump clip.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60 seconds.**</a:t>
            </a:r>
          </a:p>
          <a:p/>
          <a:p>
            <a:r>
              <a:t>I read this figure like a route map. The graph connects similar motion states; training includes transition buffers; the scheduler selects the next reference online. The paper's hardware uses its nearest-neighbor scheduler variant. The useful idea for me is that selecting a destination skill is different from choosing a path into it. I would need to check whether my R1 can execute those handoffs, rather than assume that a visually smooth reference is physically stable.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60 seconds.**</a:t>
            </a:r>
          </a:p>
          <a:p/>
          <a:p>
            <a:r>
              <a:t>This is a summary of the authors' MuJoCo table, with fifty evaluation trials per difficulty. The difficulties require one, two or three switches. The graph-trained variants reach one hundred percent success in these tests. That does not prove universal reliability, and fifty evaluation trials are not fifty independent training runs. The buffers and contact reward cannot raise a success column already at one hundred percent, so I should not credit every component with that gain. I would want the same discipline in my own results: define success, show the baseline, and inspect the failures.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seconds.**</a:t>
            </a:r>
          </a:p>
          <a:p/>
          <a:p>
            <a:r>
              <a:t>My takeaway is to make transitions part of the experiment. I would compare direct switching with a transition-aware controller, keep the robot's state continuous, and measure whether the complete walk-run-jump chain succeeds. Switch uses a unified tracker, which differs from my initial independent-policy plan. Its G1 work does not establish the R1 result I want, and I have not verified an author code release. It gives me a method to study, not a completed game to download.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60 seconds.**</a:t>
            </a:r>
          </a:p>
          <a:p/>
          <a:p>
            <a:r>
              <a:t>Three independent policies can each look good and still fail when connected. A walk clip does not automatically become a controller that follows my chosen heading and speed. At a switch, the next policy receives the position, velocity and contact state left by the previous one. It must handle that state instead of restarting from its training pose. Running into a jump also needs an appropriate takeoff phase, then a stable landing and return to locomotion. I will judge fluency from the actual connected rollout: no reset, no teleport, no fall, and no large movement discontinuity. That is the milestone; simply loading three policy files is not enough.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seconds.**</a:t>
            </a:r>
          </a:p>
          <a:p/>
          <a:p>
            <a:r>
              <a:t>I would develop the milestone in stages. First I would establish controllable walking and running and test their transitions. Then I would add a jump that can start from locomotion, land and continue moving. Those stages together complete the first milestone; I am not dropping the jump requirement. After the chain works in a simple scene, I would add the school layout and test reaching points using the same controls. In parallel, I can review existing lab logs offline. Physical measurements stay deferred until the gantry arrives and Prof. Sun permits testing.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2.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3.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1005840" y="2240280"/>
            <a:ext cx="82296" cy="192024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12848"/>
            <a:ext cx="9601200" cy="365760"/>
          </a:xfrm>
          <a:prstGeom prst="rect">
            <a:avLst/>
          </a:prstGeom>
          <a:noFill/>
        </p:spPr>
        <p:txBody>
          <a:bodyPr wrap="square">
            <a:spAutoFit/>
          </a:bodyPr>
          <a:lstStyle/>
          <a:p>
            <a:pPr algn="l">
              <a:lnSpc>
                <a:spcPct val="100000"/>
              </a:lnSpc>
            </a:pPr>
            <a:r>
              <a:rPr sz="1500" b="0" i="0">
                <a:solidFill>
                  <a:srgbClr val="B8862E"/>
                </a:solidFill>
                <a:latin typeface="Calibri"/>
              </a:rPr>
              <a:t>WEEK 30</a:t>
            </a:r>
          </a:p>
        </p:txBody>
      </p:sp>
      <p:sp>
        <p:nvSpPr>
          <p:cNvPr id="4" name="TextBox 3"/>
          <p:cNvSpPr txBox="1"/>
          <p:nvPr/>
        </p:nvSpPr>
        <p:spPr>
          <a:xfrm>
            <a:off x="1371600" y="2606040"/>
            <a:ext cx="9601200" cy="822960"/>
          </a:xfrm>
          <a:prstGeom prst="rect">
            <a:avLst/>
          </a:prstGeom>
          <a:noFill/>
        </p:spPr>
        <p:txBody>
          <a:bodyPr wrap="square">
            <a:spAutoFit/>
          </a:bodyPr>
          <a:lstStyle/>
          <a:p>
            <a:pPr algn="l">
              <a:lnSpc>
                <a:spcPct val="100000"/>
              </a:lnSpc>
            </a:pPr>
            <a:r>
              <a:rPr sz="4000" b="1" i="0">
                <a:solidFill>
                  <a:srgbClr val="FFFFFF"/>
                </a:solidFill>
                <a:latin typeface="Calibri"/>
              </a:rPr>
              <a:t>GVHMR on a moving camera</a:t>
            </a:r>
          </a:p>
        </p:txBody>
      </p:sp>
      <p:sp>
        <p:nvSpPr>
          <p:cNvPr id="5" name="TextBox 4"/>
          <p:cNvSpPr txBox="1"/>
          <p:nvPr/>
        </p:nvSpPr>
        <p:spPr>
          <a:xfrm>
            <a:off x="1371600" y="3520440"/>
            <a:ext cx="9601200" cy="457200"/>
          </a:xfrm>
          <a:prstGeom prst="rect">
            <a:avLst/>
          </a:prstGeom>
          <a:noFill/>
        </p:spPr>
        <p:txBody>
          <a:bodyPr wrap="square">
            <a:spAutoFit/>
          </a:bodyPr>
          <a:lstStyle/>
          <a:p>
            <a:pPr algn="l">
              <a:lnSpc>
                <a:spcPct val="100000"/>
              </a:lnSpc>
            </a:pPr>
            <a:r>
              <a:rPr sz="2000" b="0" i="0">
                <a:solidFill>
                  <a:srgbClr val="C9D2DA"/>
                </a:solidFill>
                <a:latin typeface="Calibri"/>
              </a:rPr>
              <a:t>plus: making the simulator more real, and a new series of R1 skills</a:t>
            </a:r>
          </a:p>
        </p:txBody>
      </p:sp>
      <p:sp>
        <p:nvSpPr>
          <p:cNvPr id="6" name="TextBox 5"/>
          <p:cNvSpPr txBox="1"/>
          <p:nvPr/>
        </p:nvSpPr>
        <p:spPr>
          <a:xfrm>
            <a:off x="1371600" y="4160520"/>
            <a:ext cx="9601200" cy="548640"/>
          </a:xfrm>
          <a:prstGeom prst="rect">
            <a:avLst/>
          </a:prstGeom>
          <a:noFill/>
        </p:spPr>
        <p:txBody>
          <a:bodyPr wrap="square">
            <a:spAutoFit/>
          </a:bodyPr>
          <a:lstStyle/>
          <a:p>
            <a:pPr algn="l">
              <a:lnSpc>
                <a:spcPct val="100000"/>
              </a:lnSpc>
            </a:pPr>
            <a:r>
              <a:rPr sz="1500" b="0" i="1">
                <a:solidFill>
                  <a:srgbClr val="8F9EAC"/>
                </a:solidFill>
                <a:latin typeface="Calibri"/>
              </a:rPr>
              <a:t>tests run on 2026-10-14 -- simulation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What I set out to answer</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Three questions this week</a:t>
            </a:r>
          </a:p>
        </p:txBody>
      </p:sp>
      <p:sp>
        <p:nvSpPr>
          <p:cNvPr id="4" name="Rounded Rectangle 3"/>
          <p:cNvSpPr/>
          <p:nvPr/>
        </p:nvSpPr>
        <p:spPr>
          <a:xfrm>
            <a:off x="548640" y="1737360"/>
            <a:ext cx="3566160" cy="384048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920240"/>
            <a:ext cx="3054096" cy="657225"/>
          </a:xfrm>
          <a:prstGeom prst="rect">
            <a:avLst/>
          </a:prstGeom>
          <a:noFill/>
        </p:spPr>
        <p:txBody>
          <a:bodyPr wrap="square">
            <a:spAutoFit/>
          </a:bodyPr>
          <a:lstStyle/>
          <a:p>
            <a:pPr algn="l">
              <a:lnSpc>
                <a:spcPct val="100000"/>
              </a:lnSpc>
            </a:pPr>
            <a:r>
              <a:rPr sz="1500" b="1" i="0">
                <a:solidFill>
                  <a:srgbClr val="1B2A3A"/>
                </a:solidFill>
                <a:latin typeface="Calibri"/>
              </a:rPr>
              <a:t>1. What does GVHMR need from a video?</a:t>
            </a:r>
          </a:p>
        </p:txBody>
      </p:sp>
      <p:sp>
        <p:nvSpPr>
          <p:cNvPr id="6" name="TextBox 5"/>
          <p:cNvSpPr txBox="1"/>
          <p:nvPr/>
        </p:nvSpPr>
        <p:spPr>
          <a:xfrm>
            <a:off x="804672" y="2650617"/>
            <a:ext cx="3054096" cy="2790062"/>
          </a:xfrm>
          <a:prstGeom prst="rect">
            <a:avLst/>
          </a:prstGeom>
          <a:noFill/>
        </p:spPr>
        <p:txBody>
          <a:bodyPr wrap="square">
            <a:spAutoFit/>
          </a:bodyPr>
          <a:lstStyle/>
          <a:p>
            <a:pPr algn="l">
              <a:lnSpc>
                <a:spcPct val="112000"/>
              </a:lnSpc>
            </a:pPr>
            <a:r>
              <a:rPr sz="1300" b="0" i="0">
                <a:solidFill>
                  <a:srgbClr val="22252A"/>
                </a:solidFill>
                <a:latin typeface="Calibri"/>
              </a:rPr>
              <a:t>It works best when the whole body, feet included, is in frame, one person is in the shot and the camera is fixed. Those are a lot of restrictions.</a:t>
            </a:r>
          </a:p>
          <a:p>
            <a:pPr algn="l">
              <a:lnSpc>
                <a:spcPct val="112000"/>
              </a:lnSpc>
            </a:pPr>
          </a:p>
          <a:p>
            <a:pPr algn="l">
              <a:lnSpc>
                <a:spcPct val="112000"/>
              </a:lnSpc>
            </a:pPr>
            <a:r>
              <a:rPr sz="1300" b="0" i="0">
                <a:solidFill>
                  <a:srgbClr val="22252A"/>
                </a:solidFill>
                <a:latin typeface="Calibri"/>
              </a:rPr>
              <a:t>Before I try to improve it, I tested how it behaves as it is, on videos where the camera moves.</a:t>
            </a:r>
          </a:p>
        </p:txBody>
      </p:sp>
      <p:sp>
        <p:nvSpPr>
          <p:cNvPr id="7" name="Rounded Rectangle 6"/>
          <p:cNvSpPr/>
          <p:nvPr/>
        </p:nvSpPr>
        <p:spPr>
          <a:xfrm>
            <a:off x="4315968" y="1737360"/>
            <a:ext cx="3566160" cy="384048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920240"/>
            <a:ext cx="3054096" cy="657225"/>
          </a:xfrm>
          <a:prstGeom prst="rect">
            <a:avLst/>
          </a:prstGeom>
          <a:noFill/>
        </p:spPr>
        <p:txBody>
          <a:bodyPr wrap="square">
            <a:spAutoFit/>
          </a:bodyPr>
          <a:lstStyle/>
          <a:p>
            <a:pPr algn="l">
              <a:lnSpc>
                <a:spcPct val="100000"/>
              </a:lnSpc>
            </a:pPr>
            <a:r>
              <a:rPr sz="1500" b="1" i="0">
                <a:solidFill>
                  <a:srgbClr val="1B2A3A"/>
                </a:solidFill>
                <a:latin typeface="Calibri"/>
              </a:rPr>
              <a:t>2. Can real R1 data make the simulator more real?</a:t>
            </a:r>
          </a:p>
        </p:txBody>
      </p:sp>
      <p:sp>
        <p:nvSpPr>
          <p:cNvPr id="9" name="TextBox 8"/>
          <p:cNvSpPr txBox="1"/>
          <p:nvPr/>
        </p:nvSpPr>
        <p:spPr>
          <a:xfrm>
            <a:off x="4572000" y="2650617"/>
            <a:ext cx="3054096" cy="2790062"/>
          </a:xfrm>
          <a:prstGeom prst="rect">
            <a:avLst/>
          </a:prstGeom>
          <a:noFill/>
        </p:spPr>
        <p:txBody>
          <a:bodyPr wrap="square">
            <a:spAutoFit/>
          </a:bodyPr>
          <a:lstStyle/>
          <a:p>
            <a:pPr algn="l">
              <a:lnSpc>
                <a:spcPct val="112000"/>
              </a:lnSpc>
            </a:pPr>
            <a:r>
              <a:rPr sz="1300" b="0" i="0">
                <a:solidFill>
                  <a:srgbClr val="22252A"/>
                </a:solidFill>
                <a:latin typeface="Calibri"/>
              </a:rPr>
              <a:t>My policies survive in simulation but break when I add a command delay. I looked at how to measure that on the lab R1 instead of guessing it.</a:t>
            </a:r>
          </a:p>
        </p:txBody>
      </p:sp>
      <p:sp>
        <p:nvSpPr>
          <p:cNvPr id="10" name="Rounded Rectangle 9"/>
          <p:cNvSpPr/>
          <p:nvPr/>
        </p:nvSpPr>
        <p:spPr>
          <a:xfrm>
            <a:off x="8083296" y="1737360"/>
            <a:ext cx="3566160" cy="384048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9327"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3. What is the next series?</a:t>
            </a:r>
          </a:p>
        </p:txBody>
      </p:sp>
      <p:sp>
        <p:nvSpPr>
          <p:cNvPr id="12" name="TextBox 11"/>
          <p:cNvSpPr txBox="1"/>
          <p:nvPr/>
        </p:nvSpPr>
        <p:spPr>
          <a:xfrm>
            <a:off x="8339327" y="2359152"/>
            <a:ext cx="3054096" cy="3081527"/>
          </a:xfrm>
          <a:prstGeom prst="rect">
            <a:avLst/>
          </a:prstGeom>
          <a:noFill/>
        </p:spPr>
        <p:txBody>
          <a:bodyPr wrap="square">
            <a:spAutoFit/>
          </a:bodyPr>
          <a:lstStyle/>
          <a:p>
            <a:pPr algn="l">
              <a:lnSpc>
                <a:spcPct val="112000"/>
              </a:lnSpc>
            </a:pPr>
            <a:r>
              <a:rPr sz="1300" b="0" i="0">
                <a:solidFill>
                  <a:srgbClr val="22252A"/>
                </a:solidFill>
                <a:latin typeface="Calibri"/>
              </a:rPr>
              <a:t>Train the R1 on single skills (walk, run, jump, kick, punch, grab), keep each as an item in a bag, and chain them in a MuJoCo game I steer myself.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1005840" y="2240280"/>
            <a:ext cx="82296" cy="192024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12848"/>
            <a:ext cx="9601200" cy="365760"/>
          </a:xfrm>
          <a:prstGeom prst="rect">
            <a:avLst/>
          </a:prstGeom>
          <a:noFill/>
        </p:spPr>
        <p:txBody>
          <a:bodyPr wrap="square">
            <a:spAutoFit/>
          </a:bodyPr>
          <a:lstStyle/>
          <a:p>
            <a:pPr algn="l">
              <a:lnSpc>
                <a:spcPct val="100000"/>
              </a:lnSpc>
            </a:pPr>
            <a:r>
              <a:rPr sz="1500" b="0" i="0">
                <a:solidFill>
                  <a:srgbClr val="B8862E"/>
                </a:solidFill>
                <a:latin typeface="Calibri"/>
              </a:rPr>
              <a:t>PART 1</a:t>
            </a:r>
          </a:p>
        </p:txBody>
      </p:sp>
      <p:sp>
        <p:nvSpPr>
          <p:cNvPr id="4" name="TextBox 3"/>
          <p:cNvSpPr txBox="1"/>
          <p:nvPr/>
        </p:nvSpPr>
        <p:spPr>
          <a:xfrm>
            <a:off x="1371600" y="2606040"/>
            <a:ext cx="9601200" cy="822960"/>
          </a:xfrm>
          <a:prstGeom prst="rect">
            <a:avLst/>
          </a:prstGeom>
          <a:noFill/>
        </p:spPr>
        <p:txBody>
          <a:bodyPr wrap="square">
            <a:spAutoFit/>
          </a:bodyPr>
          <a:lstStyle/>
          <a:p>
            <a:pPr algn="l">
              <a:lnSpc>
                <a:spcPct val="100000"/>
              </a:lnSpc>
            </a:pPr>
            <a:r>
              <a:rPr sz="4000" b="1" i="0">
                <a:solidFill>
                  <a:srgbClr val="FFFFFF"/>
                </a:solidFill>
                <a:latin typeface="Calibri"/>
              </a:rPr>
              <a:t>The moving-camera test</a:t>
            </a:r>
          </a:p>
        </p:txBody>
      </p:sp>
      <p:sp>
        <p:nvSpPr>
          <p:cNvPr id="5" name="TextBox 4"/>
          <p:cNvSpPr txBox="1"/>
          <p:nvPr/>
        </p:nvSpPr>
        <p:spPr>
          <a:xfrm>
            <a:off x="1371600" y="3520440"/>
            <a:ext cx="9601200" cy="457200"/>
          </a:xfrm>
          <a:prstGeom prst="rect">
            <a:avLst/>
          </a:prstGeom>
          <a:noFill/>
        </p:spPr>
        <p:txBody>
          <a:bodyPr wrap="square">
            <a:spAutoFit/>
          </a:bodyPr>
          <a:lstStyle/>
          <a:p>
            <a:pPr algn="l">
              <a:lnSpc>
                <a:spcPct val="100000"/>
              </a:lnSpc>
            </a:pPr>
            <a:r>
              <a:rPr sz="2000" b="0" i="0">
                <a:solidFill>
                  <a:srgbClr val="C9D2DA"/>
                </a:solidFill>
                <a:latin typeface="Calibri"/>
              </a:rPr>
              <a:t>I ran the original GVHMR path before changing anything</a:t>
            </a:r>
          </a:p>
        </p:txBody>
      </p:sp>
      <p:sp>
        <p:nvSpPr>
          <p:cNvPr id="6" name="TextBox 5"/>
          <p:cNvSpPr txBox="1"/>
          <p:nvPr/>
        </p:nvSpPr>
        <p:spPr>
          <a:xfrm>
            <a:off x="1371600" y="4160520"/>
            <a:ext cx="9601200" cy="548640"/>
          </a:xfrm>
          <a:prstGeom prst="rect">
            <a:avLst/>
          </a:prstGeom>
          <a:noFill/>
        </p:spPr>
        <p:txBody>
          <a:bodyPr wrap="square">
            <a:spAutoFit/>
          </a:bodyPr>
          <a:lstStyle/>
          <a:p>
            <a:pPr algn="l">
              <a:lnSpc>
                <a:spcPct val="100000"/>
              </a:lnSpc>
            </a:pPr>
            <a:r>
              <a:rPr sz="1500" b="0" i="1">
                <a:solidFill>
                  <a:srgbClr val="8F9EAC"/>
                </a:solidFill>
                <a:latin typeface="Calibri"/>
              </a:rPr>
              <a:t>what it needs, what broke, how it got fixed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What GVHMR asks of a video</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The rules I follow so the result is reliable</a:t>
            </a:r>
          </a:p>
        </p:txBody>
      </p:sp>
      <p:sp>
        <p:nvSpPr>
          <p:cNvPr id="4" name="Rounded Rectangle 3"/>
          <p:cNvSpPr/>
          <p:nvPr/>
        </p:nvSpPr>
        <p:spPr>
          <a:xfrm>
            <a:off x="548640" y="1737360"/>
            <a:ext cx="3566160" cy="320040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Whole body in frame</a:t>
            </a:r>
          </a:p>
        </p:txBody>
      </p:sp>
      <p:sp>
        <p:nvSpPr>
          <p:cNvPr id="6" name="TextBox 5"/>
          <p:cNvSpPr txBox="1"/>
          <p:nvPr/>
        </p:nvSpPr>
        <p:spPr>
          <a:xfrm>
            <a:off x="804672" y="2359152"/>
            <a:ext cx="3054096" cy="2441448"/>
          </a:xfrm>
          <a:prstGeom prst="rect">
            <a:avLst/>
          </a:prstGeom>
          <a:noFill/>
        </p:spPr>
        <p:txBody>
          <a:bodyPr wrap="square">
            <a:spAutoFit/>
          </a:bodyPr>
          <a:lstStyle/>
          <a:p>
            <a:pPr algn="l">
              <a:lnSpc>
                <a:spcPct val="112000"/>
              </a:lnSpc>
            </a:pPr>
            <a:r>
              <a:rPr sz="1300" b="0" i="0">
                <a:solidFill>
                  <a:srgbClr val="22252A"/>
                </a:solidFill>
                <a:latin typeface="Calibri"/>
              </a:rPr>
              <a:t>Feet included. GVHMR can guess hidden joints, but I expect the result to get less reliable when the legs are cut off, and I did not measure how much. Most stock boxing footage is upper-body close-ups, so I had to hunt for a usable clip.</a:t>
            </a:r>
          </a:p>
        </p:txBody>
      </p:sp>
      <p:sp>
        <p:nvSpPr>
          <p:cNvPr id="7" name="Rounded Rectangle 6"/>
          <p:cNvSpPr/>
          <p:nvPr/>
        </p:nvSpPr>
        <p:spPr>
          <a:xfrm>
            <a:off x="4315968" y="1737360"/>
            <a:ext cx="3566160" cy="320040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One person</a:t>
            </a:r>
          </a:p>
        </p:txBody>
      </p:sp>
      <p:sp>
        <p:nvSpPr>
          <p:cNvPr id="9" name="TextBox 8"/>
          <p:cNvSpPr txBox="1"/>
          <p:nvPr/>
        </p:nvSpPr>
        <p:spPr>
          <a:xfrm>
            <a:off x="4572000" y="2359152"/>
            <a:ext cx="3054096" cy="2441448"/>
          </a:xfrm>
          <a:prstGeom prst="rect">
            <a:avLst/>
          </a:prstGeom>
          <a:noFill/>
        </p:spPr>
        <p:txBody>
          <a:bodyPr wrap="square">
            <a:spAutoFit/>
          </a:bodyPr>
          <a:lstStyle/>
          <a:p>
            <a:pPr algn="l">
              <a:lnSpc>
                <a:spcPct val="112000"/>
              </a:lnSpc>
            </a:pPr>
            <a:r>
              <a:rPr sz="1300" b="0" i="0">
                <a:solidFill>
                  <a:srgbClr val="22252A"/>
                </a:solidFill>
                <a:latin typeface="Calibri"/>
              </a:rPr>
              <a:t>GVHMR follows a single person track. I choose clips with one person in view; I did not test what happens with a crowd.</a:t>
            </a:r>
          </a:p>
        </p:txBody>
      </p:sp>
      <p:sp>
        <p:nvSpPr>
          <p:cNvPr id="10" name="Rounded Rectangle 9"/>
          <p:cNvSpPr/>
          <p:nvPr/>
        </p:nvSpPr>
        <p:spPr>
          <a:xfrm>
            <a:off x="8083296" y="1737360"/>
            <a:ext cx="3566160" cy="320040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9327"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A fixed camera is preferred</a:t>
            </a:r>
          </a:p>
        </p:txBody>
      </p:sp>
      <p:sp>
        <p:nvSpPr>
          <p:cNvPr id="12" name="TextBox 11"/>
          <p:cNvSpPr txBox="1"/>
          <p:nvPr/>
        </p:nvSpPr>
        <p:spPr>
          <a:xfrm>
            <a:off x="8339327" y="2359152"/>
            <a:ext cx="3054096" cy="2441448"/>
          </a:xfrm>
          <a:prstGeom prst="rect">
            <a:avLst/>
          </a:prstGeom>
          <a:noFill/>
        </p:spPr>
        <p:txBody>
          <a:bodyPr wrap="square">
            <a:spAutoFit/>
          </a:bodyPr>
          <a:lstStyle/>
          <a:p>
            <a:pPr algn="l">
              <a:lnSpc>
                <a:spcPct val="112000"/>
              </a:lnSpc>
            </a:pPr>
            <a:r>
              <a:rPr sz="1300" b="0" i="0">
                <a:solidFill>
                  <a:srgbClr val="22252A"/>
                </a:solidFill>
                <a:latin typeface="Calibri"/>
              </a:rPr>
              <a:t>GVHMR can handle a moving camera, but my earlier tests (the tennis serve) used a fixed camera. This week is the first time I ran the moving-camera path.</a:t>
            </a:r>
          </a:p>
        </p:txBody>
      </p:sp>
      <p:sp>
        <p:nvSpPr>
          <p:cNvPr id="13" name="TextBox 12"/>
          <p:cNvSpPr txBox="1"/>
          <p:nvPr/>
        </p:nvSpPr>
        <p:spPr>
          <a:xfrm>
            <a:off x="640080" y="5257800"/>
            <a:ext cx="10881360" cy="457200"/>
          </a:xfrm>
          <a:prstGeom prst="rect">
            <a:avLst/>
          </a:prstGeom>
          <a:noFill/>
        </p:spPr>
        <p:txBody>
          <a:bodyPr wrap="square">
            <a:spAutoFit/>
          </a:bodyPr>
          <a:lstStyle/>
          <a:p>
            <a:pPr algn="l">
              <a:lnSpc>
                <a:spcPct val="100000"/>
              </a:lnSpc>
            </a:pPr>
            <a:r>
              <a:rPr sz="1400" b="0" i="1">
                <a:solidFill>
                  <a:srgbClr val="5A6068"/>
                </a:solidFill>
                <a:latin typeface="Calibri"/>
              </a:rPr>
              <a:t>These are the rules I trust for my pipeline, not proven limits of the method.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The three clips</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Free Pexels stock videos, picked from 18 candidates</a:t>
            </a:r>
          </a:p>
        </p:txBody>
      </p:sp>
      <p:sp>
        <p:nvSpPr>
          <p:cNvPr id="4" name="TextBox 3"/>
          <p:cNvSpPr txBox="1"/>
          <p:nvPr/>
        </p:nvSpPr>
        <p:spPr>
          <a:xfrm>
            <a:off x="640080" y="1737360"/>
            <a:ext cx="3017520" cy="320040"/>
          </a:xfrm>
          <a:prstGeom prst="rect">
            <a:avLst/>
          </a:prstGeom>
          <a:noFill/>
        </p:spPr>
        <p:txBody>
          <a:bodyPr wrap="square">
            <a:spAutoFit/>
          </a:bodyPr>
          <a:lstStyle/>
          <a:p>
            <a:pPr algn="l">
              <a:lnSpc>
                <a:spcPct val="100000"/>
              </a:lnSpc>
            </a:pPr>
            <a:r>
              <a:rPr sz="1300" b="1" i="0">
                <a:solidFill>
                  <a:srgbClr val="1B2A3A"/>
                </a:solidFill>
                <a:latin typeface="Calibri"/>
              </a:rPr>
              <a:t>Clip</a:t>
            </a:r>
          </a:p>
        </p:txBody>
      </p:sp>
      <p:sp>
        <p:nvSpPr>
          <p:cNvPr id="5" name="TextBox 4"/>
          <p:cNvSpPr txBox="1"/>
          <p:nvPr/>
        </p:nvSpPr>
        <p:spPr>
          <a:xfrm>
            <a:off x="3749039" y="1737360"/>
            <a:ext cx="2377440" cy="320040"/>
          </a:xfrm>
          <a:prstGeom prst="rect">
            <a:avLst/>
          </a:prstGeom>
          <a:noFill/>
        </p:spPr>
        <p:txBody>
          <a:bodyPr wrap="square">
            <a:spAutoFit/>
          </a:bodyPr>
          <a:lstStyle/>
          <a:p>
            <a:pPr algn="l">
              <a:lnSpc>
                <a:spcPct val="100000"/>
              </a:lnSpc>
            </a:pPr>
            <a:r>
              <a:rPr sz="1300" b="1" i="0">
                <a:solidFill>
                  <a:srgbClr val="1B2A3A"/>
                </a:solidFill>
                <a:latin typeface="Calibri"/>
              </a:rPr>
              <a:t>Camera</a:t>
            </a:r>
          </a:p>
        </p:txBody>
      </p:sp>
      <p:sp>
        <p:nvSpPr>
          <p:cNvPr id="6" name="TextBox 5"/>
          <p:cNvSpPr txBox="1"/>
          <p:nvPr/>
        </p:nvSpPr>
        <p:spPr>
          <a:xfrm>
            <a:off x="6217920" y="1737360"/>
            <a:ext cx="1188720" cy="320040"/>
          </a:xfrm>
          <a:prstGeom prst="rect">
            <a:avLst/>
          </a:prstGeom>
          <a:noFill/>
        </p:spPr>
        <p:txBody>
          <a:bodyPr wrap="square">
            <a:spAutoFit/>
          </a:bodyPr>
          <a:lstStyle/>
          <a:p>
            <a:pPr algn="l">
              <a:lnSpc>
                <a:spcPct val="100000"/>
              </a:lnSpc>
            </a:pPr>
            <a:r>
              <a:rPr sz="1300" b="1" i="0">
                <a:solidFill>
                  <a:srgbClr val="1B2A3A"/>
                </a:solidFill>
                <a:latin typeface="Calibri"/>
              </a:rPr>
              <a:t>Length</a:t>
            </a:r>
          </a:p>
        </p:txBody>
      </p:sp>
      <p:sp>
        <p:nvSpPr>
          <p:cNvPr id="7" name="TextBox 6"/>
          <p:cNvSpPr txBox="1"/>
          <p:nvPr/>
        </p:nvSpPr>
        <p:spPr>
          <a:xfrm>
            <a:off x="7498079" y="1737360"/>
            <a:ext cx="4114800" cy="320040"/>
          </a:xfrm>
          <a:prstGeom prst="rect">
            <a:avLst/>
          </a:prstGeom>
          <a:noFill/>
        </p:spPr>
        <p:txBody>
          <a:bodyPr wrap="square">
            <a:spAutoFit/>
          </a:bodyPr>
          <a:lstStyle/>
          <a:p>
            <a:pPr algn="l">
              <a:lnSpc>
                <a:spcPct val="100000"/>
              </a:lnSpc>
            </a:pPr>
            <a:r>
              <a:rPr sz="1300" b="1" i="0">
                <a:solidFill>
                  <a:srgbClr val="1B2A3A"/>
                </a:solidFill>
                <a:latin typeface="Calibri"/>
              </a:rPr>
              <a:t>Note</a:t>
            </a:r>
          </a:p>
        </p:txBody>
      </p:sp>
      <p:sp>
        <p:nvSpPr>
          <p:cNvPr id="8" name="Rectangle 7"/>
          <p:cNvSpPr/>
          <p:nvPr/>
        </p:nvSpPr>
        <p:spPr>
          <a:xfrm>
            <a:off x="548640" y="2103120"/>
            <a:ext cx="11109960" cy="731520"/>
          </a:xfrm>
          <a:prstGeom prst="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48840"/>
            <a:ext cx="3017520" cy="640080"/>
          </a:xfrm>
          <a:prstGeom prst="rect">
            <a:avLst/>
          </a:prstGeom>
          <a:noFill/>
        </p:spPr>
        <p:txBody>
          <a:bodyPr wrap="square">
            <a:spAutoFit/>
          </a:bodyPr>
          <a:lstStyle/>
          <a:p>
            <a:pPr algn="l">
              <a:lnSpc>
                <a:spcPct val="100000"/>
              </a:lnSpc>
            </a:pPr>
            <a:r>
              <a:rPr sz="1300" b="0" i="0">
                <a:solidFill>
                  <a:srgbClr val="22252A"/>
                </a:solidFill>
                <a:latin typeface="Calibri"/>
              </a:rPr>
              <a:t>Woman dancing at home</a:t>
            </a:r>
          </a:p>
        </p:txBody>
      </p:sp>
      <p:sp>
        <p:nvSpPr>
          <p:cNvPr id="10" name="TextBox 9"/>
          <p:cNvSpPr txBox="1"/>
          <p:nvPr/>
        </p:nvSpPr>
        <p:spPr>
          <a:xfrm>
            <a:off x="3749039" y="2148840"/>
            <a:ext cx="2377440" cy="640080"/>
          </a:xfrm>
          <a:prstGeom prst="rect">
            <a:avLst/>
          </a:prstGeom>
          <a:noFill/>
        </p:spPr>
        <p:txBody>
          <a:bodyPr wrap="square">
            <a:spAutoFit/>
          </a:bodyPr>
          <a:lstStyle/>
          <a:p>
            <a:pPr algn="l">
              <a:lnSpc>
                <a:spcPct val="100000"/>
              </a:lnSpc>
            </a:pPr>
            <a:r>
              <a:rPr sz="1300" b="0" i="0">
                <a:solidFill>
                  <a:srgbClr val="22252A"/>
                </a:solidFill>
                <a:latin typeface="Calibri"/>
              </a:rPr>
              <a:t>fixed</a:t>
            </a:r>
          </a:p>
        </p:txBody>
      </p:sp>
      <p:sp>
        <p:nvSpPr>
          <p:cNvPr id="11" name="TextBox 10"/>
          <p:cNvSpPr txBox="1"/>
          <p:nvPr/>
        </p:nvSpPr>
        <p:spPr>
          <a:xfrm>
            <a:off x="6217920" y="2148840"/>
            <a:ext cx="1188720" cy="640080"/>
          </a:xfrm>
          <a:prstGeom prst="rect">
            <a:avLst/>
          </a:prstGeom>
          <a:noFill/>
        </p:spPr>
        <p:txBody>
          <a:bodyPr wrap="square">
            <a:spAutoFit/>
          </a:bodyPr>
          <a:lstStyle/>
          <a:p>
            <a:pPr algn="l">
              <a:lnSpc>
                <a:spcPct val="100000"/>
              </a:lnSpc>
            </a:pPr>
            <a:r>
              <a:rPr sz="1300" b="0" i="0">
                <a:solidFill>
                  <a:srgbClr val="22252A"/>
                </a:solidFill>
                <a:latin typeface="Calibri"/>
              </a:rPr>
              <a:t>8.7 s</a:t>
            </a:r>
          </a:p>
        </p:txBody>
      </p:sp>
      <p:sp>
        <p:nvSpPr>
          <p:cNvPr id="12" name="TextBox 11"/>
          <p:cNvSpPr txBox="1"/>
          <p:nvPr/>
        </p:nvSpPr>
        <p:spPr>
          <a:xfrm>
            <a:off x="7498079" y="2148840"/>
            <a:ext cx="4114800" cy="640080"/>
          </a:xfrm>
          <a:prstGeom prst="rect">
            <a:avLst/>
          </a:prstGeom>
          <a:noFill/>
        </p:spPr>
        <p:txBody>
          <a:bodyPr wrap="square">
            <a:spAutoFit/>
          </a:bodyPr>
          <a:lstStyle/>
          <a:p>
            <a:pPr algn="l">
              <a:lnSpc>
                <a:spcPct val="100000"/>
              </a:lnSpc>
            </a:pPr>
            <a:r>
              <a:rPr sz="1200" b="0" i="0">
                <a:solidFill>
                  <a:srgbClr val="22252A"/>
                </a:solidFill>
                <a:latin typeface="Calibri"/>
              </a:rPr>
              <a:t>fixed-camera reference example (different motion and scene)</a:t>
            </a:r>
          </a:p>
        </p:txBody>
      </p:sp>
      <p:sp>
        <p:nvSpPr>
          <p:cNvPr id="13" name="Rectangle 12"/>
          <p:cNvSpPr/>
          <p:nvPr/>
        </p:nvSpPr>
        <p:spPr>
          <a:xfrm>
            <a:off x="548640" y="2971800"/>
            <a:ext cx="11109960" cy="731520"/>
          </a:xfrm>
          <a:prstGeom prst="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017520"/>
            <a:ext cx="3017520" cy="640080"/>
          </a:xfrm>
          <a:prstGeom prst="rect">
            <a:avLst/>
          </a:prstGeom>
          <a:noFill/>
        </p:spPr>
        <p:txBody>
          <a:bodyPr wrap="square">
            <a:spAutoFit/>
          </a:bodyPr>
          <a:lstStyle/>
          <a:p>
            <a:pPr algn="l">
              <a:lnSpc>
                <a:spcPct val="100000"/>
              </a:lnSpc>
            </a:pPr>
            <a:r>
              <a:rPr sz="1300" b="0" i="0">
                <a:solidFill>
                  <a:srgbClr val="22252A"/>
                </a:solidFill>
                <a:latin typeface="Calibri"/>
              </a:rPr>
              <a:t>Man shadow boxing</a:t>
            </a:r>
          </a:p>
        </p:txBody>
      </p:sp>
      <p:sp>
        <p:nvSpPr>
          <p:cNvPr id="15" name="TextBox 14"/>
          <p:cNvSpPr txBox="1"/>
          <p:nvPr/>
        </p:nvSpPr>
        <p:spPr>
          <a:xfrm>
            <a:off x="3749039" y="3017520"/>
            <a:ext cx="2377440" cy="640080"/>
          </a:xfrm>
          <a:prstGeom prst="rect">
            <a:avLst/>
          </a:prstGeom>
          <a:noFill/>
        </p:spPr>
        <p:txBody>
          <a:bodyPr wrap="square">
            <a:spAutoFit/>
          </a:bodyPr>
          <a:lstStyle/>
          <a:p>
            <a:pPr algn="l">
              <a:lnSpc>
                <a:spcPct val="100000"/>
              </a:lnSpc>
            </a:pPr>
            <a:r>
              <a:rPr sz="1300" b="0" i="0">
                <a:solidFill>
                  <a:srgbClr val="22252A"/>
                </a:solidFill>
                <a:latin typeface="Calibri"/>
              </a:rPr>
              <a:t>moving, follows him</a:t>
            </a:r>
          </a:p>
        </p:txBody>
      </p:sp>
      <p:sp>
        <p:nvSpPr>
          <p:cNvPr id="16" name="TextBox 15"/>
          <p:cNvSpPr txBox="1"/>
          <p:nvPr/>
        </p:nvSpPr>
        <p:spPr>
          <a:xfrm>
            <a:off x="6217920" y="3017520"/>
            <a:ext cx="1188720" cy="640080"/>
          </a:xfrm>
          <a:prstGeom prst="rect">
            <a:avLst/>
          </a:prstGeom>
          <a:noFill/>
        </p:spPr>
        <p:txBody>
          <a:bodyPr wrap="square">
            <a:spAutoFit/>
          </a:bodyPr>
          <a:lstStyle/>
          <a:p>
            <a:pPr algn="l">
              <a:lnSpc>
                <a:spcPct val="100000"/>
              </a:lnSpc>
            </a:pPr>
            <a:r>
              <a:rPr sz="1300" b="0" i="0">
                <a:solidFill>
                  <a:srgbClr val="22252A"/>
                </a:solidFill>
                <a:latin typeface="Calibri"/>
              </a:rPr>
              <a:t>15 s</a:t>
            </a:r>
          </a:p>
        </p:txBody>
      </p:sp>
      <p:sp>
        <p:nvSpPr>
          <p:cNvPr id="17" name="TextBox 16"/>
          <p:cNvSpPr txBox="1"/>
          <p:nvPr/>
        </p:nvSpPr>
        <p:spPr>
          <a:xfrm>
            <a:off x="7498079" y="3017520"/>
            <a:ext cx="4114800" cy="640080"/>
          </a:xfrm>
          <a:prstGeom prst="rect">
            <a:avLst/>
          </a:prstGeom>
          <a:noFill/>
        </p:spPr>
        <p:txBody>
          <a:bodyPr wrap="square">
            <a:spAutoFit/>
          </a:bodyPr>
          <a:lstStyle/>
          <a:p>
            <a:pPr algn="l">
              <a:lnSpc>
                <a:spcPct val="100000"/>
              </a:lnSpc>
            </a:pPr>
            <a:r>
              <a:rPr sz="1200" b="0" i="0">
                <a:solidFill>
                  <a:srgbClr val="22252A"/>
                </a:solidFill>
                <a:latin typeface="Calibri"/>
              </a:rPr>
              <a:t>backlit silhouette; both ankles pinned at their limits in the stance</a:t>
            </a:r>
          </a:p>
        </p:txBody>
      </p:sp>
      <p:sp>
        <p:nvSpPr>
          <p:cNvPr id="18" name="Rectangle 17"/>
          <p:cNvSpPr/>
          <p:nvPr/>
        </p:nvSpPr>
        <p:spPr>
          <a:xfrm>
            <a:off x="548640" y="3840480"/>
            <a:ext cx="11109960" cy="731520"/>
          </a:xfrm>
          <a:prstGeom prst="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886200"/>
            <a:ext cx="3017520" cy="640080"/>
          </a:xfrm>
          <a:prstGeom prst="rect">
            <a:avLst/>
          </a:prstGeom>
          <a:noFill/>
        </p:spPr>
        <p:txBody>
          <a:bodyPr wrap="square">
            <a:spAutoFit/>
          </a:bodyPr>
          <a:lstStyle/>
          <a:p>
            <a:pPr algn="l">
              <a:lnSpc>
                <a:spcPct val="100000"/>
              </a:lnSpc>
            </a:pPr>
            <a:r>
              <a:rPr sz="1300" b="0" i="0">
                <a:solidFill>
                  <a:srgbClr val="22252A"/>
                </a:solidFill>
                <a:latin typeface="Calibri"/>
              </a:rPr>
              <a:t>Person dancing (street)</a:t>
            </a:r>
          </a:p>
        </p:txBody>
      </p:sp>
      <p:sp>
        <p:nvSpPr>
          <p:cNvPr id="20" name="TextBox 19"/>
          <p:cNvSpPr txBox="1"/>
          <p:nvPr/>
        </p:nvSpPr>
        <p:spPr>
          <a:xfrm>
            <a:off x="3749039" y="3886200"/>
            <a:ext cx="2377440" cy="640080"/>
          </a:xfrm>
          <a:prstGeom prst="rect">
            <a:avLst/>
          </a:prstGeom>
          <a:noFill/>
        </p:spPr>
        <p:txBody>
          <a:bodyPr wrap="square">
            <a:spAutoFit/>
          </a:bodyPr>
          <a:lstStyle/>
          <a:p>
            <a:pPr algn="l">
              <a:lnSpc>
                <a:spcPct val="100000"/>
              </a:lnSpc>
            </a:pPr>
            <a:r>
              <a:rPr sz="1300" b="0" i="0">
                <a:solidFill>
                  <a:srgbClr val="22252A"/>
                </a:solidFill>
                <a:latin typeface="Calibri"/>
              </a:rPr>
              <a:t>moving, handheld</a:t>
            </a:r>
          </a:p>
        </p:txBody>
      </p:sp>
      <p:sp>
        <p:nvSpPr>
          <p:cNvPr id="21" name="TextBox 20"/>
          <p:cNvSpPr txBox="1"/>
          <p:nvPr/>
        </p:nvSpPr>
        <p:spPr>
          <a:xfrm>
            <a:off x="6217920" y="3886200"/>
            <a:ext cx="1188720" cy="640080"/>
          </a:xfrm>
          <a:prstGeom prst="rect">
            <a:avLst/>
          </a:prstGeom>
          <a:noFill/>
        </p:spPr>
        <p:txBody>
          <a:bodyPr wrap="square">
            <a:spAutoFit/>
          </a:bodyPr>
          <a:lstStyle/>
          <a:p>
            <a:pPr algn="l">
              <a:lnSpc>
                <a:spcPct val="100000"/>
              </a:lnSpc>
            </a:pPr>
            <a:r>
              <a:rPr sz="1300" b="0" i="0">
                <a:solidFill>
                  <a:srgbClr val="22252A"/>
                </a:solidFill>
                <a:latin typeface="Calibri"/>
              </a:rPr>
              <a:t>15 s</a:t>
            </a:r>
          </a:p>
        </p:txBody>
      </p:sp>
      <p:sp>
        <p:nvSpPr>
          <p:cNvPr id="22" name="TextBox 21"/>
          <p:cNvSpPr txBox="1"/>
          <p:nvPr/>
        </p:nvSpPr>
        <p:spPr>
          <a:xfrm>
            <a:off x="7498079" y="3886200"/>
            <a:ext cx="4114800" cy="640080"/>
          </a:xfrm>
          <a:prstGeom prst="rect">
            <a:avLst/>
          </a:prstGeom>
          <a:noFill/>
        </p:spPr>
        <p:txBody>
          <a:bodyPr wrap="square">
            <a:spAutoFit/>
          </a:bodyPr>
          <a:lstStyle/>
          <a:p>
            <a:pPr algn="l">
              <a:lnSpc>
                <a:spcPct val="100000"/>
              </a:lnSpc>
            </a:pPr>
            <a:r>
              <a:rPr sz="1200" b="0" i="0">
                <a:solidFill>
                  <a:srgbClr val="22252A"/>
                </a:solidFill>
                <a:latin typeface="Calibri"/>
              </a:rPr>
              <a:t>handheld shake</a:t>
            </a:r>
          </a:p>
        </p:txBody>
      </p:sp>
      <p:sp>
        <p:nvSpPr>
          <p:cNvPr id="23" name="TextBox 22"/>
          <p:cNvSpPr txBox="1"/>
          <p:nvPr/>
        </p:nvSpPr>
        <p:spPr>
          <a:xfrm>
            <a:off x="640080" y="4937760"/>
            <a:ext cx="10881360" cy="914400"/>
          </a:xfrm>
          <a:prstGeom prst="rect">
            <a:avLst/>
          </a:prstGeom>
          <a:noFill/>
        </p:spPr>
        <p:txBody>
          <a:bodyPr wrap="square">
            <a:spAutoFit/>
          </a:bodyPr>
          <a:lstStyle/>
          <a:p>
            <a:pPr algn="l">
              <a:lnSpc>
                <a:spcPct val="120000"/>
              </a:lnSpc>
            </a:pPr>
            <a:r>
              <a:rPr sz="1400" b="0" i="0">
                <a:solidFill>
                  <a:srgbClr val="5A6068"/>
                </a:solidFill>
                <a:latin typeface="Calibri"/>
              </a:rPr>
              <a:t>I counted people per frame, checked whether the body touches the frame edge and estimated camera motion for all 18 candidates, then checked each one by eye. Clips are credited to their Pexels contributors.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What broke first</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The fixed-camera clip ran unchanged. Both moving-camera clips crashed.</a:t>
            </a:r>
          </a:p>
        </p:txBody>
      </p:sp>
      <p:sp>
        <p:nvSpPr>
          <p:cNvPr id="4" name="Rounded Rectangle 3"/>
          <p:cNvSpPr/>
          <p:nvPr/>
        </p:nvSpPr>
        <p:spPr>
          <a:xfrm>
            <a:off x="640080" y="1737360"/>
            <a:ext cx="10881360" cy="2468880"/>
          </a:xfrm>
          <a:prstGeom prst="roundRect">
            <a:avLst/>
          </a:prstGeom>
          <a:solidFill>
            <a:srgbClr val="14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847088"/>
            <a:ext cx="10424160" cy="256032"/>
          </a:xfrm>
          <a:prstGeom prst="rect">
            <a:avLst/>
          </a:prstGeom>
          <a:noFill/>
        </p:spPr>
        <p:txBody>
          <a:bodyPr wrap="square">
            <a:spAutoFit/>
          </a:bodyPr>
          <a:lstStyle/>
          <a:p>
            <a:pPr algn="l">
              <a:lnSpc>
                <a:spcPct val="100000"/>
              </a:lnSpc>
            </a:pPr>
            <a:r>
              <a:rPr sz="1100" b="0" i="0">
                <a:solidFill>
                  <a:srgbClr val="7F93A6"/>
                </a:solidFill>
                <a:latin typeface="Consolas"/>
              </a:rPr>
              <a:t>error text recorded in SETUP.md (stage 1, moving-camera clips)</a:t>
            </a:r>
          </a:p>
        </p:txBody>
      </p:sp>
      <p:sp>
        <p:nvSpPr>
          <p:cNvPr id="6" name="TextBox 5"/>
          <p:cNvSpPr txBox="1"/>
          <p:nvPr/>
        </p:nvSpPr>
        <p:spPr>
          <a:xfrm>
            <a:off x="859536" y="2139696"/>
            <a:ext cx="10424160" cy="1901952"/>
          </a:xfrm>
          <a:prstGeom prst="rect">
            <a:avLst/>
          </a:prstGeom>
          <a:noFill/>
        </p:spPr>
        <p:txBody>
          <a:bodyPr wrap="square">
            <a:spAutoFit/>
          </a:bodyPr>
          <a:lstStyle/>
          <a:p>
            <a:pPr algn="l">
              <a:lnSpc>
                <a:spcPct val="106000"/>
              </a:lnSpc>
            </a:pPr>
            <a:r>
              <a:rPr sz="1250" b="0" i="0">
                <a:solidFill>
                  <a:srgbClr val="DDE4EC"/>
                </a:solidFill>
                <a:latin typeface="Consolas"/>
              </a:rPr>
              <a:t># error text as recorded in SETUP.md (stage 1, moving-camera clips, no patch)</a:t>
            </a:r>
          </a:p>
          <a:p>
            <a:pPr algn="l">
              <a:lnSpc>
                <a:spcPct val="106000"/>
              </a:lnSpc>
            </a:pPr>
            <a:r>
              <a:rPr sz="1250" b="0" i="0">
                <a:solidFill>
                  <a:srgbClr val="DDE4EC"/>
                </a:solidFill>
                <a:latin typeface="Consolas"/>
              </a:rPr>
              <a:t>crash 1  AttributeError: 'NoneType' object has no attribute 'matrix'</a:t>
            </a:r>
          </a:p>
          <a:p>
            <a:pPr algn="l">
              <a:lnSpc>
                <a:spcPct val="106000"/>
              </a:lnSpc>
            </a:pPr>
            <a:r>
              <a:rPr sz="1250" b="0" i="0">
                <a:solidFill>
                  <a:srgbClr val="DDE4EC"/>
                </a:solidFill>
                <a:latin typeface="Consolas"/>
              </a:rPr>
              <a:t>         (pycolmap marks near-static frame pairs as a "watermark"</a:t>
            </a:r>
          </a:p>
          <a:p>
            <a:pPr algn="l">
              <a:lnSpc>
                <a:spcPct val="106000"/>
              </a:lnSpc>
            </a:pPr>
            <a:r>
              <a:rPr sz="1250" b="0" i="0">
                <a:solidFill>
                  <a:srgbClr val="DDE4EC"/>
                </a:solidFill>
                <a:latin typeface="Consolas"/>
              </a:rPr>
              <a:t>          and returns no camera pose)</a:t>
            </a:r>
          </a:p>
          <a:p>
            <a:pPr algn="l">
              <a:lnSpc>
                <a:spcPct val="106000"/>
              </a:lnSpc>
            </a:pPr>
            <a:r>
              <a:rPr sz="1250" b="0" i="0">
                <a:solidFill>
                  <a:srgbClr val="DDE4EC"/>
                </a:solidFill>
                <a:latin typeface="Consolas"/>
              </a:rPr>
              <a:t>crash 2  Weights only load failed</a:t>
            </a:r>
          </a:p>
          <a:p>
            <a:pPr algn="l">
              <a:lnSpc>
                <a:spcPct val="106000"/>
              </a:lnSpc>
            </a:pPr>
            <a:r>
              <a:rPr sz="1250" b="0" i="0">
                <a:solidFill>
                  <a:srgbClr val="DDE4EC"/>
                </a:solidFill>
                <a:latin typeface="Consolas"/>
              </a:rPr>
              <a:t>         (torch &gt;= 2.6 refuses to reload GVHMR's own</a:t>
            </a:r>
          </a:p>
          <a:p>
            <a:pPr algn="l">
              <a:lnSpc>
                <a:spcPct val="106000"/>
              </a:lnSpc>
            </a:pPr>
            <a:r>
              <a:rPr sz="1250" b="0" i="0">
                <a:solidFill>
                  <a:srgbClr val="DDE4EC"/>
                </a:solidFill>
                <a:latin typeface="Consolas"/>
              </a:rPr>
              <a:t>          camera-trajectory file)</a:t>
            </a:r>
          </a:p>
          <a:p>
            <a:pPr algn="l">
              <a:lnSpc>
                <a:spcPct val="106000"/>
              </a:lnSpc>
            </a:pPr>
            <a:r>
              <a:rPr sz="1250" b="0" i="0">
                <a:solidFill>
                  <a:srgbClr val="DDE4EC"/>
                </a:solidFill>
                <a:latin typeface="Consolas"/>
              </a:rPr>
              <a:t>fixed-camera path (-s): unaffected</a:t>
            </a:r>
          </a:p>
        </p:txBody>
      </p:sp>
      <p:sp>
        <p:nvSpPr>
          <p:cNvPr id="7" name="Rounded Rectangle 6"/>
          <p:cNvSpPr/>
          <p:nvPr/>
        </p:nvSpPr>
        <p:spPr>
          <a:xfrm>
            <a:off x="640080" y="4434840"/>
            <a:ext cx="5303520" cy="1554480"/>
          </a:xfrm>
          <a:prstGeom prst="round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4617720"/>
            <a:ext cx="4791456" cy="365760"/>
          </a:xfrm>
          <a:prstGeom prst="rect">
            <a:avLst/>
          </a:prstGeom>
          <a:noFill/>
        </p:spPr>
        <p:txBody>
          <a:bodyPr wrap="square">
            <a:spAutoFit/>
          </a:bodyPr>
          <a:lstStyle/>
          <a:p>
            <a:pPr algn="l">
              <a:lnSpc>
                <a:spcPct val="100000"/>
              </a:lnSpc>
            </a:pPr>
            <a:r>
              <a:rPr sz="1500" b="1" i="0">
                <a:solidFill>
                  <a:srgbClr val="1B2A3A"/>
                </a:solidFill>
                <a:latin typeface="Calibri"/>
              </a:rPr>
              <a:t>Crash 1: no camera pose</a:t>
            </a:r>
          </a:p>
        </p:txBody>
      </p:sp>
      <p:sp>
        <p:nvSpPr>
          <p:cNvPr id="9" name="TextBox 8"/>
          <p:cNvSpPr txBox="1"/>
          <p:nvPr/>
        </p:nvSpPr>
        <p:spPr>
          <a:xfrm>
            <a:off x="896112" y="5056632"/>
            <a:ext cx="4791456" cy="795527"/>
          </a:xfrm>
          <a:prstGeom prst="rect">
            <a:avLst/>
          </a:prstGeom>
          <a:noFill/>
        </p:spPr>
        <p:txBody>
          <a:bodyPr wrap="square">
            <a:spAutoFit/>
          </a:bodyPr>
          <a:lstStyle/>
          <a:p>
            <a:pPr algn="l">
              <a:lnSpc>
                <a:spcPct val="112000"/>
              </a:lnSpc>
            </a:pPr>
            <a:r>
              <a:rPr sz="1300" b="0" i="0">
                <a:solidFill>
                  <a:srgbClr val="22252A"/>
                </a:solidFill>
                <a:latin typeface="Calibri"/>
              </a:rPr>
              <a:t>pycolmap treats two nearly identical frames as a watermark and returns no camera pose, so the next line fails.</a:t>
            </a:r>
          </a:p>
        </p:txBody>
      </p:sp>
      <p:sp>
        <p:nvSpPr>
          <p:cNvPr id="10" name="Rounded Rectangle 9"/>
          <p:cNvSpPr/>
          <p:nvPr/>
        </p:nvSpPr>
        <p:spPr>
          <a:xfrm>
            <a:off x="6217920" y="4434840"/>
            <a:ext cx="5303520" cy="1554480"/>
          </a:xfrm>
          <a:prstGeom prst="round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4617720"/>
            <a:ext cx="4791456" cy="365760"/>
          </a:xfrm>
          <a:prstGeom prst="rect">
            <a:avLst/>
          </a:prstGeom>
          <a:noFill/>
        </p:spPr>
        <p:txBody>
          <a:bodyPr wrap="square">
            <a:spAutoFit/>
          </a:bodyPr>
          <a:lstStyle/>
          <a:p>
            <a:pPr algn="l">
              <a:lnSpc>
                <a:spcPct val="100000"/>
              </a:lnSpc>
            </a:pPr>
            <a:r>
              <a:rPr sz="1500" b="1" i="0">
                <a:solidFill>
                  <a:srgbClr val="1B2A3A"/>
                </a:solidFill>
                <a:latin typeface="Calibri"/>
              </a:rPr>
              <a:t>Crash 2: torch refuses its own file</a:t>
            </a:r>
          </a:p>
        </p:txBody>
      </p:sp>
      <p:sp>
        <p:nvSpPr>
          <p:cNvPr id="12" name="TextBox 11"/>
          <p:cNvSpPr txBox="1"/>
          <p:nvPr/>
        </p:nvSpPr>
        <p:spPr>
          <a:xfrm>
            <a:off x="6473952" y="5056632"/>
            <a:ext cx="4791456" cy="795527"/>
          </a:xfrm>
          <a:prstGeom prst="rect">
            <a:avLst/>
          </a:prstGeom>
          <a:noFill/>
        </p:spPr>
        <p:txBody>
          <a:bodyPr wrap="square">
            <a:spAutoFit/>
          </a:bodyPr>
          <a:lstStyle/>
          <a:p>
            <a:pPr algn="l">
              <a:lnSpc>
                <a:spcPct val="112000"/>
              </a:lnSpc>
            </a:pPr>
            <a:r>
              <a:rPr sz="1300" b="0" i="0">
                <a:solidFill>
                  <a:srgbClr val="22252A"/>
                </a:solidFill>
                <a:latin typeface="Calibri"/>
              </a:rPr>
              <a:t>Newer torch refuses to reload GVHMR's own saved camera trajectory unless I allow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How it got fixed</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Two small edits to GVHMR's existing moving-camera path</a:t>
            </a:r>
          </a:p>
        </p:txBody>
      </p:sp>
      <p:sp>
        <p:nvSpPr>
          <p:cNvPr id="4" name="Rounded Rectangle 3"/>
          <p:cNvSpPr/>
          <p:nvPr/>
        </p:nvSpPr>
        <p:spPr>
          <a:xfrm>
            <a:off x="640080" y="1600200"/>
            <a:ext cx="10881360" cy="3749039"/>
          </a:xfrm>
          <a:prstGeom prst="roundRect">
            <a:avLst/>
          </a:prstGeom>
          <a:solidFill>
            <a:srgbClr val="14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9928"/>
            <a:ext cx="10424160" cy="256032"/>
          </a:xfrm>
          <a:prstGeom prst="rect">
            <a:avLst/>
          </a:prstGeom>
          <a:noFill/>
        </p:spPr>
        <p:txBody>
          <a:bodyPr wrap="square">
            <a:spAutoFit/>
          </a:bodyPr>
          <a:lstStyle/>
          <a:p>
            <a:pPr algn="l">
              <a:lnSpc>
                <a:spcPct val="100000"/>
              </a:lnSpc>
            </a:pPr>
            <a:r>
              <a:rPr sz="1100" b="0" i="0">
                <a:solidFill>
                  <a:srgbClr val="7F93A6"/>
                </a:solidFill>
                <a:latin typeface="Consolas"/>
              </a:rPr>
              <a:t>the changed lines of gvhmr_ee960bb_pycolmap4.patch (- removed, + added)</a:t>
            </a:r>
          </a:p>
        </p:txBody>
      </p:sp>
      <p:sp>
        <p:nvSpPr>
          <p:cNvPr id="6" name="TextBox 5"/>
          <p:cNvSpPr txBox="1"/>
          <p:nvPr/>
        </p:nvSpPr>
        <p:spPr>
          <a:xfrm>
            <a:off x="859536" y="2002536"/>
            <a:ext cx="10424160" cy="3182111"/>
          </a:xfrm>
          <a:prstGeom prst="rect">
            <a:avLst/>
          </a:prstGeom>
          <a:noFill/>
        </p:spPr>
        <p:txBody>
          <a:bodyPr wrap="square">
            <a:spAutoFit/>
          </a:bodyPr>
          <a:lstStyle/>
          <a:p>
            <a:pPr algn="l">
              <a:lnSpc>
                <a:spcPct val="106000"/>
              </a:lnSpc>
            </a:pPr>
            <a:r>
              <a:rPr sz="1250" b="0" i="0">
                <a:solidFill>
                  <a:srgbClr val="DDE4EC"/>
                </a:solidFill>
                <a:latin typeface="Consolas"/>
              </a:rPr>
              <a:t>+++ hmr4d/utils/preproc/relpose/solver_two_view.py</a:t>
            </a:r>
          </a:p>
          <a:p>
            <a:pPr algn="l">
              <a:lnSpc>
                <a:spcPct val="106000"/>
              </a:lnSpc>
            </a:pPr>
            <a:r>
              <a:rPr sz="1250" b="0" i="0">
                <a:solidFill>
                  <a:srgbClr val="DDE4EC"/>
                </a:solidFill>
                <a:latin typeface="Consolas"/>
              </a:rPr>
              <a:t>+            detect_watermark=False,  # pycolmap&gt;=3.11 flags near-static frame pairs as a watermark and returns no pose</a:t>
            </a:r>
          </a:p>
          <a:p>
            <a:pPr algn="l">
              <a:lnSpc>
                <a:spcPct val="106000"/>
              </a:lnSpc>
            </a:pPr>
            <a:r>
              <a:rPr sz="1250" b="0" i="0">
                <a:solidFill>
                  <a:srgbClr val="DDE4EC"/>
                </a:solidFill>
                <a:latin typeface="Consolas"/>
              </a:rPr>
              <a:t>-        Rt = answer.cam2_from_cam1.matrix().astype(np.float32)  # shape (3, 4)</a:t>
            </a:r>
          </a:p>
          <a:p>
            <a:pPr algn="l">
              <a:lnSpc>
                <a:spcPct val="106000"/>
              </a:lnSpc>
            </a:pPr>
            <a:r>
              <a:rPr sz="1250" b="0" i="0">
                <a:solidFill>
                  <a:srgbClr val="DDE4EC"/>
                </a:solidFill>
                <a:latin typeface="Consolas"/>
              </a:rPr>
              <a:t>-        T[:3] = Rt</a:t>
            </a:r>
          </a:p>
          <a:p>
            <a:pPr algn="l">
              <a:lnSpc>
                <a:spcPct val="106000"/>
              </a:lnSpc>
            </a:pPr>
            <a:r>
              <a:rPr sz="1250" b="0" i="0">
                <a:solidFill>
                  <a:srgbClr val="DDE4EC"/>
                </a:solidFill>
                <a:latin typeface="Consolas"/>
              </a:rPr>
              <a:t>+        if answer.cam2_from_cam1 is not None:  # None = no reliable two-view pose; treat as no camera motion</a:t>
            </a:r>
          </a:p>
          <a:p>
            <a:pPr algn="l">
              <a:lnSpc>
                <a:spcPct val="106000"/>
              </a:lnSpc>
            </a:pPr>
            <a:r>
              <a:rPr sz="1250" b="0" i="0">
                <a:solidFill>
                  <a:srgbClr val="DDE4EC"/>
                </a:solidFill>
                <a:latin typeface="Consolas"/>
              </a:rPr>
              <a:t>+            T[:3] = answer.cam2_from_cam1.matrix().astype(np.float32)  # shape (3, 4)</a:t>
            </a:r>
          </a:p>
          <a:p>
            <a:pPr algn="l">
              <a:lnSpc>
                <a:spcPct val="106000"/>
              </a:lnSpc>
            </a:pPr>
            <a:r>
              <a:rPr sz="1250" b="0" i="0">
                <a:solidFill>
                  <a:srgbClr val="DDE4EC"/>
                </a:solidFill>
                <a:latin typeface="Consolas"/>
              </a:rPr>
              <a:t>+++ tools/demo/demo.py</a:t>
            </a:r>
          </a:p>
          <a:p>
            <a:pPr algn="l">
              <a:lnSpc>
                <a:spcPct val="106000"/>
              </a:lnSpc>
            </a:pPr>
            <a:r>
              <a:rPr sz="1250" b="0" i="0">
                <a:solidFill>
                  <a:srgbClr val="DDE4EC"/>
                </a:solidFill>
                <a:latin typeface="Consolas"/>
              </a:rPr>
              <a:t>-        traj = torch.load(cfg.paths.slam)</a:t>
            </a:r>
          </a:p>
          <a:p>
            <a:pPr algn="l">
              <a:lnSpc>
                <a:spcPct val="106000"/>
              </a:lnSpc>
            </a:pPr>
            <a:r>
              <a:rPr sz="1250" b="0" i="0">
                <a:solidFill>
                  <a:srgbClr val="DDE4EC"/>
                </a:solidFill>
                <a:latin typeface="Consolas"/>
              </a:rPr>
              <a:t>+        traj = torch.load(cfg.paths.slam, weights_only=False)  # our own numpy VO output; torch&gt;=2.6 defaults to weights_only=True</a:t>
            </a:r>
          </a:p>
        </p:txBody>
      </p:sp>
      <p:sp>
        <p:nvSpPr>
          <p:cNvPr id="7" name="TextBox 6"/>
          <p:cNvSpPr txBox="1"/>
          <p:nvPr/>
        </p:nvSpPr>
        <p:spPr>
          <a:xfrm>
            <a:off x="640080" y="5532120"/>
            <a:ext cx="10881360" cy="731520"/>
          </a:xfrm>
          <a:prstGeom prst="rect">
            <a:avLst/>
          </a:prstGeom>
          <a:noFill/>
        </p:spPr>
        <p:txBody>
          <a:bodyPr wrap="square">
            <a:spAutoFit/>
          </a:bodyPr>
          <a:lstStyle/>
          <a:p>
            <a:pPr algn="l">
              <a:lnSpc>
                <a:spcPct val="100000"/>
              </a:lnSpc>
            </a:pPr>
            <a:r>
              <a:rPr sz="1400" b="0" i="1">
                <a:solidFill>
                  <a:srgbClr val="5A6068"/>
                </a:solidFill>
                <a:latin typeface="Calibri"/>
              </a:rPr>
              <a:t>These are compatibility patches, not a new motion-recovery algorithm. With them the moving-camera clips ran end to 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Fixed camera: video next to the R1</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A fixed-camera reference example, 8.7 s</a:t>
            </a:r>
          </a:p>
        </p:txBody>
      </p:sp>
      <p:pic>
        <p:nvPicPr>
          <p:cNvPr id="4" name="woman_home_fixed.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984248" y="1554480"/>
            <a:ext cx="8229600" cy="3138406"/>
          </a:xfrm>
          <a:prstGeom prst="rect">
            <a:avLst/>
          </a:prstGeom>
        </p:spPr>
      </p:pic>
      <p:sp>
        <p:nvSpPr>
          <p:cNvPr id="5" name="TextBox 4"/>
          <p:cNvSpPr txBox="1"/>
          <p:nvPr/>
        </p:nvSpPr>
        <p:spPr>
          <a:xfrm>
            <a:off x="1984248" y="4747750"/>
            <a:ext cx="8229600" cy="310896"/>
          </a:xfrm>
          <a:prstGeom prst="rect">
            <a:avLst/>
          </a:prstGeom>
          <a:noFill/>
        </p:spPr>
        <p:txBody>
          <a:bodyPr wrap="square">
            <a:spAutoFit/>
          </a:bodyPr>
          <a:lstStyle/>
          <a:p>
            <a:pPr algn="ctr">
              <a:lnSpc>
                <a:spcPct val="100000"/>
              </a:lnSpc>
            </a:pPr>
            <a:r>
              <a:rPr sz="1200" b="0" i="1">
                <a:solidFill>
                  <a:srgbClr val="5A6068"/>
                </a:solidFill>
                <a:latin typeface="Calibri"/>
              </a:rPr>
              <a:t>left: original video   right: the R1 doing the same motion in MuJoCo</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Moving camera: boxing</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Camera follows him; the weakest of the three</a:t>
            </a:r>
          </a:p>
        </p:txBody>
      </p:sp>
      <p:pic>
        <p:nvPicPr>
          <p:cNvPr id="4" name="rdne_boxing_mov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3264408" y="1554480"/>
            <a:ext cx="5669280" cy="4017600"/>
          </a:xfrm>
          <a:prstGeom prst="rect">
            <a:avLst/>
          </a:prstGeom>
        </p:spPr>
      </p:pic>
      <p:sp>
        <p:nvSpPr>
          <p:cNvPr id="5" name="TextBox 4"/>
          <p:cNvSpPr txBox="1"/>
          <p:nvPr/>
        </p:nvSpPr>
        <p:spPr>
          <a:xfrm>
            <a:off x="3264408" y="5626944"/>
            <a:ext cx="5669280" cy="310896"/>
          </a:xfrm>
          <a:prstGeom prst="rect">
            <a:avLst/>
          </a:prstGeom>
          <a:noFill/>
        </p:spPr>
        <p:txBody>
          <a:bodyPr wrap="square">
            <a:spAutoFit/>
          </a:bodyPr>
          <a:lstStyle/>
          <a:p>
            <a:pPr algn="ctr">
              <a:lnSpc>
                <a:spcPct val="100000"/>
              </a:lnSpc>
            </a:pPr>
            <a:r>
              <a:rPr sz="1200" b="0" i="1">
                <a:solidFill>
                  <a:srgbClr val="5A6068"/>
                </a:solidFill>
                <a:latin typeface="Calibri"/>
              </a:rPr>
              <a:t>left: original video   right: the R1 (simulation)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Moving camera: street dance</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Handheld shake</a:t>
            </a:r>
          </a:p>
        </p:txBody>
      </p:sp>
      <p:pic>
        <p:nvPicPr>
          <p:cNvPr id="4" name="street_hiphop_mov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3721608" y="1554480"/>
            <a:ext cx="4754880" cy="3369600"/>
          </a:xfrm>
          <a:prstGeom prst="rect">
            <a:avLst/>
          </a:prstGeom>
        </p:spPr>
      </p:pic>
      <p:sp>
        <p:nvSpPr>
          <p:cNvPr id="5" name="TextBox 4"/>
          <p:cNvSpPr txBox="1"/>
          <p:nvPr/>
        </p:nvSpPr>
        <p:spPr>
          <a:xfrm>
            <a:off x="3721608" y="4978943"/>
            <a:ext cx="4754880" cy="310896"/>
          </a:xfrm>
          <a:prstGeom prst="rect">
            <a:avLst/>
          </a:prstGeom>
          <a:noFill/>
        </p:spPr>
        <p:txBody>
          <a:bodyPr wrap="square">
            <a:spAutoFit/>
          </a:bodyPr>
          <a:lstStyle/>
          <a:p>
            <a:pPr algn="ctr">
              <a:lnSpc>
                <a:spcPct val="100000"/>
              </a:lnSpc>
            </a:pPr>
            <a:r>
              <a:rPr sz="1200" b="0" i="1">
                <a:solidFill>
                  <a:srgbClr val="5A6068"/>
                </a:solidFill>
                <a:latin typeface="Calibri"/>
              </a:rPr>
              <a:t>left: original video   right: the R1 (simulation)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Did the robot survive in a second simulator?</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Survival out of 20 runs in plain MuJoCo, before -&gt; after delay training</a:t>
            </a:r>
          </a:p>
        </p:txBody>
      </p:sp>
      <p:sp>
        <p:nvSpPr>
          <p:cNvPr id="4" name="TextBox 3"/>
          <p:cNvSpPr txBox="1"/>
          <p:nvPr/>
        </p:nvSpPr>
        <p:spPr>
          <a:xfrm>
            <a:off x="640080" y="1737360"/>
            <a:ext cx="2194560" cy="320040"/>
          </a:xfrm>
          <a:prstGeom prst="rect">
            <a:avLst/>
          </a:prstGeom>
          <a:noFill/>
        </p:spPr>
        <p:txBody>
          <a:bodyPr wrap="square">
            <a:spAutoFit/>
          </a:bodyPr>
          <a:lstStyle/>
          <a:p>
            <a:pPr algn="l">
              <a:lnSpc>
                <a:spcPct val="100000"/>
              </a:lnSpc>
            </a:pPr>
            <a:r>
              <a:rPr sz="1300" b="1" i="0">
                <a:solidFill>
                  <a:srgbClr val="1B2A3A"/>
                </a:solidFill>
                <a:latin typeface="Calibri"/>
              </a:rPr>
              <a:t>Test</a:t>
            </a:r>
          </a:p>
        </p:txBody>
      </p:sp>
      <p:sp>
        <p:nvSpPr>
          <p:cNvPr id="5" name="TextBox 4"/>
          <p:cNvSpPr txBox="1"/>
          <p:nvPr/>
        </p:nvSpPr>
        <p:spPr>
          <a:xfrm>
            <a:off x="4754880" y="1737360"/>
            <a:ext cx="2194560" cy="320040"/>
          </a:xfrm>
          <a:prstGeom prst="rect">
            <a:avLst/>
          </a:prstGeom>
          <a:noFill/>
        </p:spPr>
        <p:txBody>
          <a:bodyPr wrap="square">
            <a:spAutoFit/>
          </a:bodyPr>
          <a:lstStyle/>
          <a:p>
            <a:pPr algn="l">
              <a:lnSpc>
                <a:spcPct val="100000"/>
              </a:lnSpc>
            </a:pPr>
            <a:r>
              <a:rPr sz="1300" b="1" i="0">
                <a:solidFill>
                  <a:srgbClr val="1B2A3A"/>
                </a:solidFill>
                <a:latin typeface="Calibri"/>
              </a:rPr>
              <a:t>woman (fixed)</a:t>
            </a:r>
          </a:p>
        </p:txBody>
      </p:sp>
      <p:sp>
        <p:nvSpPr>
          <p:cNvPr id="6" name="TextBox 5"/>
          <p:cNvSpPr txBox="1"/>
          <p:nvPr/>
        </p:nvSpPr>
        <p:spPr>
          <a:xfrm>
            <a:off x="6949440" y="1737360"/>
            <a:ext cx="2194560" cy="320040"/>
          </a:xfrm>
          <a:prstGeom prst="rect">
            <a:avLst/>
          </a:prstGeom>
          <a:noFill/>
        </p:spPr>
        <p:txBody>
          <a:bodyPr wrap="square">
            <a:spAutoFit/>
          </a:bodyPr>
          <a:lstStyle/>
          <a:p>
            <a:pPr algn="l">
              <a:lnSpc>
                <a:spcPct val="100000"/>
              </a:lnSpc>
            </a:pPr>
            <a:r>
              <a:rPr sz="1300" b="1" i="0">
                <a:solidFill>
                  <a:srgbClr val="1B2A3A"/>
                </a:solidFill>
                <a:latin typeface="Calibri"/>
              </a:rPr>
              <a:t>boxing (moving)</a:t>
            </a:r>
          </a:p>
        </p:txBody>
      </p:sp>
      <p:sp>
        <p:nvSpPr>
          <p:cNvPr id="7" name="TextBox 6"/>
          <p:cNvSpPr txBox="1"/>
          <p:nvPr/>
        </p:nvSpPr>
        <p:spPr>
          <a:xfrm>
            <a:off x="9144000" y="1737360"/>
            <a:ext cx="2194560" cy="320040"/>
          </a:xfrm>
          <a:prstGeom prst="rect">
            <a:avLst/>
          </a:prstGeom>
          <a:noFill/>
        </p:spPr>
        <p:txBody>
          <a:bodyPr wrap="square">
            <a:spAutoFit/>
          </a:bodyPr>
          <a:lstStyle/>
          <a:p>
            <a:pPr algn="l">
              <a:lnSpc>
                <a:spcPct val="100000"/>
              </a:lnSpc>
            </a:pPr>
            <a:r>
              <a:rPr sz="1300" b="1" i="0">
                <a:solidFill>
                  <a:srgbClr val="1B2A3A"/>
                </a:solidFill>
                <a:latin typeface="Calibri"/>
              </a:rPr>
              <a:t>street (moving)</a:t>
            </a:r>
          </a:p>
        </p:txBody>
      </p:sp>
      <p:sp>
        <p:nvSpPr>
          <p:cNvPr id="8" name="Rectangle 7"/>
          <p:cNvSpPr/>
          <p:nvPr/>
        </p:nvSpPr>
        <p:spPr>
          <a:xfrm>
            <a:off x="548640" y="2075688"/>
            <a:ext cx="11109960" cy="457200"/>
          </a:xfrm>
          <a:prstGeom prst="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03120"/>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training randomization (of 30)</a:t>
            </a:r>
          </a:p>
        </p:txBody>
      </p:sp>
      <p:sp>
        <p:nvSpPr>
          <p:cNvPr id="10" name="TextBox 9"/>
          <p:cNvSpPr txBox="1"/>
          <p:nvPr/>
        </p:nvSpPr>
        <p:spPr>
          <a:xfrm>
            <a:off x="4754880" y="2103120"/>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30 -&gt; 30</a:t>
            </a:r>
          </a:p>
        </p:txBody>
      </p:sp>
      <p:sp>
        <p:nvSpPr>
          <p:cNvPr id="11" name="TextBox 10"/>
          <p:cNvSpPr txBox="1"/>
          <p:nvPr/>
        </p:nvSpPr>
        <p:spPr>
          <a:xfrm>
            <a:off x="6949440" y="2103120"/>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29 -&gt; 30</a:t>
            </a:r>
          </a:p>
        </p:txBody>
      </p:sp>
      <p:sp>
        <p:nvSpPr>
          <p:cNvPr id="12" name="TextBox 11"/>
          <p:cNvSpPr txBox="1"/>
          <p:nvPr/>
        </p:nvSpPr>
        <p:spPr>
          <a:xfrm>
            <a:off x="9144000" y="2103120"/>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29 -&gt; 29</a:t>
            </a:r>
          </a:p>
        </p:txBody>
      </p:sp>
      <p:sp>
        <p:nvSpPr>
          <p:cNvPr id="13" name="Rectangle 12"/>
          <p:cNvSpPr/>
          <p:nvPr/>
        </p:nvSpPr>
        <p:spPr>
          <a:xfrm>
            <a:off x="548640" y="2587752"/>
            <a:ext cx="11109960" cy="457200"/>
          </a:xfrm>
          <a:prstGeom prst="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15184"/>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+20 ms delay</a:t>
            </a:r>
          </a:p>
        </p:txBody>
      </p:sp>
      <p:sp>
        <p:nvSpPr>
          <p:cNvPr id="15" name="TextBox 14"/>
          <p:cNvSpPr txBox="1"/>
          <p:nvPr/>
        </p:nvSpPr>
        <p:spPr>
          <a:xfrm>
            <a:off x="4754880" y="2615184"/>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20 -&gt; 20</a:t>
            </a:r>
          </a:p>
        </p:txBody>
      </p:sp>
      <p:sp>
        <p:nvSpPr>
          <p:cNvPr id="16" name="TextBox 15"/>
          <p:cNvSpPr txBox="1"/>
          <p:nvPr/>
        </p:nvSpPr>
        <p:spPr>
          <a:xfrm>
            <a:off x="6949440" y="2615184"/>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17 -&gt; 19</a:t>
            </a:r>
          </a:p>
        </p:txBody>
      </p:sp>
      <p:sp>
        <p:nvSpPr>
          <p:cNvPr id="17" name="TextBox 16"/>
          <p:cNvSpPr txBox="1"/>
          <p:nvPr/>
        </p:nvSpPr>
        <p:spPr>
          <a:xfrm>
            <a:off x="9144000" y="2615184"/>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17 -&gt; 20</a:t>
            </a:r>
          </a:p>
        </p:txBody>
      </p:sp>
      <p:sp>
        <p:nvSpPr>
          <p:cNvPr id="18" name="Rectangle 17"/>
          <p:cNvSpPr/>
          <p:nvPr/>
        </p:nvSpPr>
        <p:spPr>
          <a:xfrm>
            <a:off x="548640" y="3099816"/>
            <a:ext cx="11109960" cy="457200"/>
          </a:xfrm>
          <a:prstGeom prst="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127248"/>
            <a:ext cx="2194560" cy="365760"/>
          </a:xfrm>
          <a:prstGeom prst="rect">
            <a:avLst/>
          </a:prstGeom>
          <a:noFill/>
        </p:spPr>
        <p:txBody>
          <a:bodyPr wrap="square">
            <a:spAutoFit/>
          </a:bodyPr>
          <a:lstStyle/>
          <a:p>
            <a:pPr algn="l">
              <a:lnSpc>
                <a:spcPct val="100000"/>
              </a:lnSpc>
            </a:pPr>
            <a:r>
              <a:rPr sz="1300" b="1" i="0">
                <a:solidFill>
                  <a:srgbClr val="22252A"/>
                </a:solidFill>
                <a:latin typeface="Calibri"/>
              </a:rPr>
              <a:t>+40 ms delay</a:t>
            </a:r>
          </a:p>
        </p:txBody>
      </p:sp>
      <p:sp>
        <p:nvSpPr>
          <p:cNvPr id="20" name="TextBox 19"/>
          <p:cNvSpPr txBox="1"/>
          <p:nvPr/>
        </p:nvSpPr>
        <p:spPr>
          <a:xfrm>
            <a:off x="4754880" y="3127248"/>
            <a:ext cx="2194560" cy="365760"/>
          </a:xfrm>
          <a:prstGeom prst="rect">
            <a:avLst/>
          </a:prstGeom>
          <a:noFill/>
        </p:spPr>
        <p:txBody>
          <a:bodyPr wrap="square">
            <a:spAutoFit/>
          </a:bodyPr>
          <a:lstStyle/>
          <a:p>
            <a:pPr algn="l">
              <a:lnSpc>
                <a:spcPct val="100000"/>
              </a:lnSpc>
            </a:pPr>
            <a:r>
              <a:rPr sz="1300" b="1" i="0">
                <a:solidFill>
                  <a:srgbClr val="22252A"/>
                </a:solidFill>
                <a:latin typeface="Calibri"/>
              </a:rPr>
              <a:t>0 -&gt; 20</a:t>
            </a:r>
          </a:p>
        </p:txBody>
      </p:sp>
      <p:sp>
        <p:nvSpPr>
          <p:cNvPr id="21" name="TextBox 20"/>
          <p:cNvSpPr txBox="1"/>
          <p:nvPr/>
        </p:nvSpPr>
        <p:spPr>
          <a:xfrm>
            <a:off x="6949440" y="3127248"/>
            <a:ext cx="2194560" cy="365760"/>
          </a:xfrm>
          <a:prstGeom prst="rect">
            <a:avLst/>
          </a:prstGeom>
          <a:noFill/>
        </p:spPr>
        <p:txBody>
          <a:bodyPr wrap="square">
            <a:spAutoFit/>
          </a:bodyPr>
          <a:lstStyle/>
          <a:p>
            <a:pPr algn="l">
              <a:lnSpc>
                <a:spcPct val="100000"/>
              </a:lnSpc>
            </a:pPr>
            <a:r>
              <a:rPr sz="1300" b="1" i="0">
                <a:solidFill>
                  <a:srgbClr val="22252A"/>
                </a:solidFill>
                <a:latin typeface="Calibri"/>
              </a:rPr>
              <a:t>0 -&gt; 19</a:t>
            </a:r>
          </a:p>
        </p:txBody>
      </p:sp>
      <p:sp>
        <p:nvSpPr>
          <p:cNvPr id="22" name="TextBox 21"/>
          <p:cNvSpPr txBox="1"/>
          <p:nvPr/>
        </p:nvSpPr>
        <p:spPr>
          <a:xfrm>
            <a:off x="9144000" y="3127248"/>
            <a:ext cx="2194560" cy="365760"/>
          </a:xfrm>
          <a:prstGeom prst="rect">
            <a:avLst/>
          </a:prstGeom>
          <a:noFill/>
        </p:spPr>
        <p:txBody>
          <a:bodyPr wrap="square">
            <a:spAutoFit/>
          </a:bodyPr>
          <a:lstStyle/>
          <a:p>
            <a:pPr algn="l">
              <a:lnSpc>
                <a:spcPct val="100000"/>
              </a:lnSpc>
            </a:pPr>
            <a:r>
              <a:rPr sz="1300" b="1" i="0">
                <a:solidFill>
                  <a:srgbClr val="22252A"/>
                </a:solidFill>
                <a:latin typeface="Calibri"/>
              </a:rPr>
              <a:t>1 -&gt; 19</a:t>
            </a:r>
          </a:p>
        </p:txBody>
      </p:sp>
      <p:sp>
        <p:nvSpPr>
          <p:cNvPr id="23" name="Rectangle 22"/>
          <p:cNvSpPr/>
          <p:nvPr/>
        </p:nvSpPr>
        <p:spPr>
          <a:xfrm>
            <a:off x="548640" y="3611880"/>
            <a:ext cx="11109960" cy="457200"/>
          </a:xfrm>
          <a:prstGeom prst="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639312"/>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+60 ms delay</a:t>
            </a:r>
          </a:p>
        </p:txBody>
      </p:sp>
      <p:sp>
        <p:nvSpPr>
          <p:cNvPr id="25" name="TextBox 24"/>
          <p:cNvSpPr txBox="1"/>
          <p:nvPr/>
        </p:nvSpPr>
        <p:spPr>
          <a:xfrm>
            <a:off x="4754880" y="3639312"/>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0 -&gt; 16</a:t>
            </a:r>
          </a:p>
        </p:txBody>
      </p:sp>
      <p:sp>
        <p:nvSpPr>
          <p:cNvPr id="26" name="TextBox 25"/>
          <p:cNvSpPr txBox="1"/>
          <p:nvPr/>
        </p:nvSpPr>
        <p:spPr>
          <a:xfrm>
            <a:off x="6949440" y="3639312"/>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0 -&gt; 13</a:t>
            </a:r>
          </a:p>
        </p:txBody>
      </p:sp>
      <p:sp>
        <p:nvSpPr>
          <p:cNvPr id="27" name="TextBox 26"/>
          <p:cNvSpPr txBox="1"/>
          <p:nvPr/>
        </p:nvSpPr>
        <p:spPr>
          <a:xfrm>
            <a:off x="9144000" y="3639312"/>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0 -&gt; 14</a:t>
            </a:r>
          </a:p>
        </p:txBody>
      </p:sp>
      <p:sp>
        <p:nvSpPr>
          <p:cNvPr id="28" name="Rectangle 27"/>
          <p:cNvSpPr/>
          <p:nvPr/>
        </p:nvSpPr>
        <p:spPr>
          <a:xfrm>
            <a:off x="548640" y="4123944"/>
            <a:ext cx="11109960" cy="457200"/>
          </a:xfrm>
          <a:prstGeom prst="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151376"/>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3x pushes</a:t>
            </a:r>
          </a:p>
        </p:txBody>
      </p:sp>
      <p:sp>
        <p:nvSpPr>
          <p:cNvPr id="30" name="TextBox 29"/>
          <p:cNvSpPr txBox="1"/>
          <p:nvPr/>
        </p:nvSpPr>
        <p:spPr>
          <a:xfrm>
            <a:off x="4754880" y="4151376"/>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15 -&gt; 18</a:t>
            </a:r>
          </a:p>
        </p:txBody>
      </p:sp>
      <p:sp>
        <p:nvSpPr>
          <p:cNvPr id="31" name="TextBox 30"/>
          <p:cNvSpPr txBox="1"/>
          <p:nvPr/>
        </p:nvSpPr>
        <p:spPr>
          <a:xfrm>
            <a:off x="6949440" y="4151376"/>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5 -&gt; 7</a:t>
            </a:r>
          </a:p>
        </p:txBody>
      </p:sp>
      <p:sp>
        <p:nvSpPr>
          <p:cNvPr id="32" name="TextBox 31"/>
          <p:cNvSpPr txBox="1"/>
          <p:nvPr/>
        </p:nvSpPr>
        <p:spPr>
          <a:xfrm>
            <a:off x="9144000" y="4151376"/>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3 -&gt; 8</a:t>
            </a:r>
          </a:p>
        </p:txBody>
      </p:sp>
      <p:sp>
        <p:nvSpPr>
          <p:cNvPr id="33" name="Rectangle 32"/>
          <p:cNvSpPr/>
          <p:nvPr/>
        </p:nvSpPr>
        <p:spPr>
          <a:xfrm>
            <a:off x="548640" y="4636007"/>
            <a:ext cx="11109960" cy="457200"/>
          </a:xfrm>
          <a:prstGeom prst="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663440"/>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slippery floor</a:t>
            </a:r>
          </a:p>
        </p:txBody>
      </p:sp>
      <p:sp>
        <p:nvSpPr>
          <p:cNvPr id="35" name="TextBox 34"/>
          <p:cNvSpPr txBox="1"/>
          <p:nvPr/>
        </p:nvSpPr>
        <p:spPr>
          <a:xfrm>
            <a:off x="4754880" y="4663440"/>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15 -&gt; 15</a:t>
            </a:r>
          </a:p>
        </p:txBody>
      </p:sp>
      <p:sp>
        <p:nvSpPr>
          <p:cNvPr id="36" name="TextBox 35"/>
          <p:cNvSpPr txBox="1"/>
          <p:nvPr/>
        </p:nvSpPr>
        <p:spPr>
          <a:xfrm>
            <a:off x="6949440" y="4663440"/>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2 -&gt; 3</a:t>
            </a:r>
          </a:p>
        </p:txBody>
      </p:sp>
      <p:sp>
        <p:nvSpPr>
          <p:cNvPr id="37" name="TextBox 36"/>
          <p:cNvSpPr txBox="1"/>
          <p:nvPr/>
        </p:nvSpPr>
        <p:spPr>
          <a:xfrm>
            <a:off x="9144000" y="4663440"/>
            <a:ext cx="2194560" cy="365760"/>
          </a:xfrm>
          <a:prstGeom prst="rect">
            <a:avLst/>
          </a:prstGeom>
          <a:noFill/>
        </p:spPr>
        <p:txBody>
          <a:bodyPr wrap="square">
            <a:spAutoFit/>
          </a:bodyPr>
          <a:lstStyle/>
          <a:p>
            <a:pPr algn="l">
              <a:lnSpc>
                <a:spcPct val="100000"/>
              </a:lnSpc>
            </a:pPr>
            <a:r>
              <a:rPr sz="1300" b="0" i="0">
                <a:solidFill>
                  <a:srgbClr val="22252A"/>
                </a:solidFill>
                <a:latin typeface="Calibri"/>
              </a:rPr>
              <a:t>14 -&gt; 18</a:t>
            </a:r>
          </a:p>
        </p:txBody>
      </p:sp>
      <p:sp>
        <p:nvSpPr>
          <p:cNvPr id="38" name="TextBox 37"/>
          <p:cNvSpPr txBox="1"/>
          <p:nvPr/>
        </p:nvSpPr>
        <p:spPr>
          <a:xfrm>
            <a:off x="640080" y="5394960"/>
            <a:ext cx="10881360" cy="822960"/>
          </a:xfrm>
          <a:prstGeom prst="rect">
            <a:avLst/>
          </a:prstGeom>
          <a:noFill/>
        </p:spPr>
        <p:txBody>
          <a:bodyPr wrap="square">
            <a:spAutoFit/>
          </a:bodyPr>
          <a:lstStyle/>
          <a:p>
            <a:pPr algn="l">
              <a:lnSpc>
                <a:spcPct val="120000"/>
              </a:lnSpc>
            </a:pPr>
            <a:r>
              <a:rPr sz="1350" b="0" i="0">
                <a:solidFill>
                  <a:srgbClr val="5A6068"/>
                </a:solidFill>
                <a:latin typeface="Calibri"/>
              </a:rPr>
              <a:t>All three motions transferred: 29 to 30 of 30 trials survived the normal training randomization. At 40 ms delay almost nothing survived without delay training and almost everything did with it, on fixed and moving cameras alike.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What this does not show</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The honest slide</a:t>
            </a:r>
          </a:p>
        </p:txBody>
      </p:sp>
      <p:sp>
        <p:nvSpPr>
          <p:cNvPr id="4" name="Oval 3"/>
          <p:cNvSpPr/>
          <p:nvPr/>
        </p:nvSpPr>
        <p:spPr>
          <a:xfrm>
            <a:off x="640080" y="1828800"/>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19" y="1691639"/>
            <a:ext cx="10561320" cy="996696"/>
          </a:xfrm>
          <a:prstGeom prst="rect">
            <a:avLst/>
          </a:prstGeom>
          <a:noFill/>
        </p:spPr>
        <p:txBody>
          <a:bodyPr wrap="square">
            <a:spAutoFit/>
          </a:bodyPr>
          <a:lstStyle/>
          <a:p>
            <a:pPr algn="l">
              <a:lnSpc>
                <a:spcPct val="112000"/>
              </a:lnSpc>
            </a:pPr>
            <a:r>
              <a:rPr sz="1450" b="0" i="0">
                <a:solidFill>
                  <a:srgbClr val="22252A"/>
                </a:solidFill>
                <a:latin typeface="Calibri"/>
              </a:rPr>
              <a:t>Each clip got its own newly trained policy, with 3,000 extra training iterations in the delay stage. Only the earlier tennis test, with three seeds and a no-delay control, separates delay training from extra training.</a:t>
            </a:r>
          </a:p>
        </p:txBody>
      </p:sp>
      <p:sp>
        <p:nvSpPr>
          <p:cNvPr id="6" name="Oval 5"/>
          <p:cNvSpPr/>
          <p:nvPr/>
        </p:nvSpPr>
        <p:spPr>
          <a:xfrm>
            <a:off x="640080" y="2871216"/>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2734056"/>
            <a:ext cx="10561320" cy="393192"/>
          </a:xfrm>
          <a:prstGeom prst="rect">
            <a:avLst/>
          </a:prstGeom>
          <a:noFill/>
        </p:spPr>
        <p:txBody>
          <a:bodyPr wrap="square">
            <a:spAutoFit/>
          </a:bodyPr>
          <a:lstStyle/>
          <a:p>
            <a:pPr algn="l">
              <a:lnSpc>
                <a:spcPct val="112000"/>
              </a:lnSpc>
            </a:pPr>
            <a:r>
              <a:rPr sz="1450" b="0" i="0">
                <a:solidFill>
                  <a:srgbClr val="22252A"/>
                </a:solidFill>
                <a:latin typeface="Calibri"/>
              </a:rPr>
              <a:t>Three different clips with three different cameras cannot isolate the effect of the camera.</a:t>
            </a:r>
          </a:p>
        </p:txBody>
      </p:sp>
      <p:sp>
        <p:nvSpPr>
          <p:cNvPr id="8" name="Oval 7"/>
          <p:cNvSpPr/>
          <p:nvPr/>
        </p:nvSpPr>
        <p:spPr>
          <a:xfrm>
            <a:off x="640080" y="3310128"/>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3172968"/>
            <a:ext cx="10561320" cy="694944"/>
          </a:xfrm>
          <a:prstGeom prst="rect">
            <a:avLst/>
          </a:prstGeom>
          <a:noFill/>
        </p:spPr>
        <p:txBody>
          <a:bodyPr wrap="square">
            <a:spAutoFit/>
          </a:bodyPr>
          <a:lstStyle/>
          <a:p>
            <a:pPr algn="l">
              <a:lnSpc>
                <a:spcPct val="112000"/>
              </a:lnSpc>
            </a:pPr>
            <a:r>
              <a:rPr sz="1450" b="0" i="0">
                <a:solidFill>
                  <a:srgbClr val="22252A"/>
                </a:solidFill>
                <a:latin typeface="Calibri"/>
              </a:rPr>
              <a:t>I have no true human pose for these stock clips, so robot tracking error is not a measure of how well GVHMR reconstructed the person.</a:t>
            </a:r>
          </a:p>
        </p:txBody>
      </p:sp>
      <p:sp>
        <p:nvSpPr>
          <p:cNvPr id="10" name="Oval 9"/>
          <p:cNvSpPr/>
          <p:nvPr/>
        </p:nvSpPr>
        <p:spPr>
          <a:xfrm>
            <a:off x="640080" y="4050791"/>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19" y="3913632"/>
            <a:ext cx="10561320" cy="694944"/>
          </a:xfrm>
          <a:prstGeom prst="rect">
            <a:avLst/>
          </a:prstGeom>
          <a:noFill/>
        </p:spPr>
        <p:txBody>
          <a:bodyPr wrap="square">
            <a:spAutoFit/>
          </a:bodyPr>
          <a:lstStyle/>
          <a:p>
            <a:pPr algn="l">
              <a:lnSpc>
                <a:spcPct val="112000"/>
              </a:lnSpc>
            </a:pPr>
            <a:r>
              <a:rPr sz="1450" b="0" i="0">
                <a:solidFill>
                  <a:srgbClr val="22252A"/>
                </a:solidFill>
                <a:latin typeface="Calibri"/>
              </a:rPr>
              <a:t>Boxing is weakest. Its reference holds both ankles at their limits most of the time, which is a likely explanation, not a tested one.</a:t>
            </a:r>
          </a:p>
        </p:txBody>
      </p:sp>
      <p:sp>
        <p:nvSpPr>
          <p:cNvPr id="12" name="Oval 11"/>
          <p:cNvSpPr/>
          <p:nvPr/>
        </p:nvSpPr>
        <p:spPr>
          <a:xfrm>
            <a:off x="640080" y="4791456"/>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19" y="4654296"/>
            <a:ext cx="10561320" cy="393192"/>
          </a:xfrm>
          <a:prstGeom prst="rect">
            <a:avLst/>
          </a:prstGeom>
          <a:noFill/>
        </p:spPr>
        <p:txBody>
          <a:bodyPr wrap="square">
            <a:spAutoFit/>
          </a:bodyPr>
          <a:lstStyle/>
          <a:p>
            <a:pPr algn="l">
              <a:lnSpc>
                <a:spcPct val="112000"/>
              </a:lnSpc>
            </a:pPr>
            <a:r>
              <a:rPr sz="1450" b="0" i="0">
                <a:solidFill>
                  <a:srgbClr val="22252A"/>
                </a:solidFill>
                <a:latin typeface="Calibri"/>
              </a:rPr>
              <a:t>One seed per clip. Simulation only. No hardware.</a:t>
            </a:r>
          </a:p>
        </p:txBody>
      </p:sp>
      <p:sp>
        <p:nvSpPr>
          <p:cNvPr id="14" name="Oval 13"/>
          <p:cNvSpPr/>
          <p:nvPr/>
        </p:nvSpPr>
        <p:spPr>
          <a:xfrm>
            <a:off x="640080" y="5230368"/>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19" y="5093208"/>
            <a:ext cx="10561320" cy="694944"/>
          </a:xfrm>
          <a:prstGeom prst="rect">
            <a:avLst/>
          </a:prstGeom>
          <a:noFill/>
        </p:spPr>
        <p:txBody>
          <a:bodyPr wrap="square">
            <a:spAutoFit/>
          </a:bodyPr>
          <a:lstStyle/>
          <a:p>
            <a:pPr algn="l">
              <a:lnSpc>
                <a:spcPct val="112000"/>
              </a:lnSpc>
            </a:pPr>
            <a:r>
              <a:rPr sz="1450" b="0" i="0">
                <a:solidFill>
                  <a:srgbClr val="22252A"/>
                </a:solidFill>
                <a:latin typeface="Calibri"/>
              </a:rPr>
              <a:t>GMR assumes 30 fps. My earlier dance clip was retargeted 1.2x too fast; the new clips use their real frame rates.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1005840" y="2240280"/>
            <a:ext cx="82296" cy="192024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12848"/>
            <a:ext cx="9601200" cy="365760"/>
          </a:xfrm>
          <a:prstGeom prst="rect">
            <a:avLst/>
          </a:prstGeom>
          <a:noFill/>
        </p:spPr>
        <p:txBody>
          <a:bodyPr wrap="square">
            <a:spAutoFit/>
          </a:bodyPr>
          <a:lstStyle/>
          <a:p>
            <a:pPr algn="l">
              <a:lnSpc>
                <a:spcPct val="100000"/>
              </a:lnSpc>
            </a:pPr>
            <a:r>
              <a:rPr sz="1500" b="0" i="0">
                <a:solidFill>
                  <a:srgbClr val="B8862E"/>
                </a:solidFill>
                <a:latin typeface="Calibri"/>
              </a:rPr>
              <a:t>PART 2</a:t>
            </a:r>
          </a:p>
        </p:txBody>
      </p:sp>
      <p:sp>
        <p:nvSpPr>
          <p:cNvPr id="4" name="TextBox 3"/>
          <p:cNvSpPr txBox="1"/>
          <p:nvPr/>
        </p:nvSpPr>
        <p:spPr>
          <a:xfrm>
            <a:off x="1371600" y="2606040"/>
            <a:ext cx="9601200" cy="822960"/>
          </a:xfrm>
          <a:prstGeom prst="rect">
            <a:avLst/>
          </a:prstGeom>
          <a:noFill/>
        </p:spPr>
        <p:txBody>
          <a:bodyPr wrap="square">
            <a:spAutoFit/>
          </a:bodyPr>
          <a:lstStyle/>
          <a:p>
            <a:pPr algn="l">
              <a:lnSpc>
                <a:spcPct val="100000"/>
              </a:lnSpc>
            </a:pPr>
            <a:r>
              <a:rPr sz="4000" b="1" i="0">
                <a:solidFill>
                  <a:srgbClr val="FFFFFF"/>
                </a:solidFill>
                <a:latin typeface="Calibri"/>
              </a:rPr>
              <a:t>Making the simulator more real</a:t>
            </a:r>
          </a:p>
        </p:txBody>
      </p:sp>
      <p:sp>
        <p:nvSpPr>
          <p:cNvPr id="5" name="TextBox 4"/>
          <p:cNvSpPr txBox="1"/>
          <p:nvPr/>
        </p:nvSpPr>
        <p:spPr>
          <a:xfrm>
            <a:off x="1371600" y="3520440"/>
            <a:ext cx="9601200" cy="457200"/>
          </a:xfrm>
          <a:prstGeom prst="rect">
            <a:avLst/>
          </a:prstGeom>
          <a:noFill/>
        </p:spPr>
        <p:txBody>
          <a:bodyPr wrap="square">
            <a:spAutoFit/>
          </a:bodyPr>
          <a:lstStyle/>
          <a:p>
            <a:pPr algn="l">
              <a:lnSpc>
                <a:spcPct val="100000"/>
              </a:lnSpc>
            </a:pPr>
            <a:r>
              <a:rPr sz="2000" b="0" i="0">
                <a:solidFill>
                  <a:srgbClr val="C9D2DA"/>
                </a:solidFill>
                <a:latin typeface="Calibri"/>
              </a:rPr>
              <a:t>using data from the real R1 in the lab</a:t>
            </a:r>
          </a:p>
        </p:txBody>
      </p:sp>
      <p:sp>
        <p:nvSpPr>
          <p:cNvPr id="6" name="TextBox 5"/>
          <p:cNvSpPr txBox="1"/>
          <p:nvPr/>
        </p:nvSpPr>
        <p:spPr>
          <a:xfrm>
            <a:off x="1371600" y="4160520"/>
            <a:ext cx="9601200" cy="548640"/>
          </a:xfrm>
          <a:prstGeom prst="rect">
            <a:avLst/>
          </a:prstGeom>
          <a:noFill/>
        </p:spPr>
        <p:txBody>
          <a:bodyPr wrap="square">
            <a:spAutoFit/>
          </a:bodyPr>
          <a:lstStyle/>
          <a:p>
            <a:pPr algn="l">
              <a:lnSpc>
                <a:spcPct val="100000"/>
              </a:lnSpc>
            </a:pPr>
            <a:r>
              <a:rPr sz="1500" b="0" i="1">
                <a:solidFill>
                  <a:srgbClr val="8F9EAC"/>
                </a:solidFill>
                <a:latin typeface="Calibri"/>
              </a:rPr>
              <a:t>a plan this week -- the safety gantry has not arrived, so nothing runs on the robot yet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Why I need real data</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My policies are only as good as the simulator they train in</a:t>
            </a:r>
          </a:p>
        </p:txBody>
      </p:sp>
      <p:sp>
        <p:nvSpPr>
          <p:cNvPr id="4" name="Oval 3"/>
          <p:cNvSpPr/>
          <p:nvPr/>
        </p:nvSpPr>
        <p:spPr>
          <a:xfrm>
            <a:off x="640080" y="1828800"/>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19" y="1691639"/>
            <a:ext cx="10561320" cy="713232"/>
          </a:xfrm>
          <a:prstGeom prst="rect">
            <a:avLst/>
          </a:prstGeom>
          <a:noFill/>
        </p:spPr>
        <p:txBody>
          <a:bodyPr wrap="square">
            <a:spAutoFit/>
          </a:bodyPr>
          <a:lstStyle/>
          <a:p>
            <a:pPr algn="l">
              <a:lnSpc>
                <a:spcPct val="112000"/>
              </a:lnSpc>
            </a:pPr>
            <a:r>
              <a:rPr sz="1450" b="0" i="0">
                <a:solidFill>
                  <a:srgbClr val="22252A"/>
                </a:solidFill>
                <a:latin typeface="Calibri"/>
              </a:rPr>
              <a:t>Command delay is the clearest example: at 40 ms the policy trained without delay mostly falls, while the delay-trained one survives. I picked those delays; I have not measured the real robot's.</a:t>
            </a:r>
          </a:p>
        </p:txBody>
      </p:sp>
      <p:sp>
        <p:nvSpPr>
          <p:cNvPr id="6" name="Oval 5"/>
          <p:cNvSpPr/>
          <p:nvPr/>
        </p:nvSpPr>
        <p:spPr>
          <a:xfrm>
            <a:off x="640080" y="2633472"/>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2496312"/>
            <a:ext cx="10561320" cy="402336"/>
          </a:xfrm>
          <a:prstGeom prst="rect">
            <a:avLst/>
          </a:prstGeom>
          <a:noFill/>
        </p:spPr>
        <p:txBody>
          <a:bodyPr wrap="square">
            <a:spAutoFit/>
          </a:bodyPr>
          <a:lstStyle/>
          <a:p>
            <a:pPr algn="l">
              <a:lnSpc>
                <a:spcPct val="112000"/>
              </a:lnSpc>
            </a:pPr>
            <a:r>
              <a:rPr sz="1450" b="0" i="0">
                <a:solidFill>
                  <a:srgbClr val="22252A"/>
                </a:solidFill>
                <a:latin typeface="Calibri"/>
              </a:rPr>
              <a:t>The lab robot is an R1 EDU light version with non-dexterous hands. The SDK and logs are available.</a:t>
            </a:r>
          </a:p>
        </p:txBody>
      </p:sp>
      <p:sp>
        <p:nvSpPr>
          <p:cNvPr id="8" name="Oval 7"/>
          <p:cNvSpPr/>
          <p:nvPr/>
        </p:nvSpPr>
        <p:spPr>
          <a:xfrm>
            <a:off x="640080" y="3127248"/>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2990088"/>
            <a:ext cx="10561320" cy="713232"/>
          </a:xfrm>
          <a:prstGeom prst="rect">
            <a:avLst/>
          </a:prstGeom>
          <a:noFill/>
        </p:spPr>
        <p:txBody>
          <a:bodyPr wrap="square">
            <a:spAutoFit/>
          </a:bodyPr>
          <a:lstStyle/>
          <a:p>
            <a:pPr algn="l">
              <a:lnSpc>
                <a:spcPct val="112000"/>
              </a:lnSpc>
            </a:pPr>
            <a:r>
              <a:rPr sz="1450" b="0" i="0">
                <a:solidFill>
                  <a:srgbClr val="22252A"/>
                </a:solidFill>
                <a:latin typeface="Calibri"/>
              </a:rPr>
              <a:t>Prof. Sun does not recommend testing it in person until the safety gantry arrives, so I will not run anything on it yet.</a:t>
            </a:r>
          </a:p>
        </p:txBody>
      </p:sp>
      <p:sp>
        <p:nvSpPr>
          <p:cNvPr id="10" name="Oval 9"/>
          <p:cNvSpPr/>
          <p:nvPr/>
        </p:nvSpPr>
        <p:spPr>
          <a:xfrm>
            <a:off x="640080" y="3931920"/>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19" y="3794760"/>
            <a:ext cx="10561320" cy="713232"/>
          </a:xfrm>
          <a:prstGeom prst="rect">
            <a:avLst/>
          </a:prstGeom>
          <a:noFill/>
        </p:spPr>
        <p:txBody>
          <a:bodyPr wrap="square">
            <a:spAutoFit/>
          </a:bodyPr>
          <a:lstStyle/>
          <a:p>
            <a:pPr algn="l">
              <a:lnSpc>
                <a:spcPct val="112000"/>
              </a:lnSpc>
            </a:pPr>
            <a:r>
              <a:rPr sz="1450" b="0" i="0">
                <a:solidFill>
                  <a:srgbClr val="22252A"/>
                </a:solidFill>
                <a:latin typeface="Calibri"/>
              </a:rPr>
              <a:t>The official SDK example is not a passive logger: it takes over the robot's motion service and publishes commands. I will not run it unchanged.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The approach I propose</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Measure first, then tune the simulator, then check on motions it has not seen</a:t>
            </a:r>
          </a:p>
        </p:txBody>
      </p:sp>
      <p:sp>
        <p:nvSpPr>
          <p:cNvPr id="4" name="Rounded Rectangle 3"/>
          <p:cNvSpPr/>
          <p:nvPr/>
        </p:nvSpPr>
        <p:spPr>
          <a:xfrm>
            <a:off x="548640" y="1828800"/>
            <a:ext cx="2606040" cy="256032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2011680"/>
            <a:ext cx="2093976" cy="365760"/>
          </a:xfrm>
          <a:prstGeom prst="rect">
            <a:avLst/>
          </a:prstGeom>
          <a:noFill/>
        </p:spPr>
        <p:txBody>
          <a:bodyPr wrap="square">
            <a:spAutoFit/>
          </a:bodyPr>
          <a:lstStyle/>
          <a:p>
            <a:pPr algn="l">
              <a:lnSpc>
                <a:spcPct val="100000"/>
              </a:lnSpc>
            </a:pPr>
            <a:r>
              <a:rPr sz="1500" b="1" i="0">
                <a:solidFill>
                  <a:srgbClr val="1B2A3A"/>
                </a:solidFill>
                <a:latin typeface="Calibri"/>
              </a:rPr>
              <a:t>1. Start with logs</a:t>
            </a:r>
          </a:p>
        </p:txBody>
      </p:sp>
      <p:sp>
        <p:nvSpPr>
          <p:cNvPr id="6" name="TextBox 5"/>
          <p:cNvSpPr txBox="1"/>
          <p:nvPr/>
        </p:nvSpPr>
        <p:spPr>
          <a:xfrm>
            <a:off x="804672" y="2450592"/>
            <a:ext cx="2093976" cy="1801367"/>
          </a:xfrm>
          <a:prstGeom prst="rect">
            <a:avLst/>
          </a:prstGeom>
          <a:noFill/>
        </p:spPr>
        <p:txBody>
          <a:bodyPr wrap="square">
            <a:spAutoFit/>
          </a:bodyPr>
          <a:lstStyle/>
          <a:p>
            <a:pPr algn="l">
              <a:lnSpc>
                <a:spcPct val="112000"/>
              </a:lnSpc>
            </a:pPr>
            <a:r>
              <a:rPr sz="1300" b="0" i="0">
                <a:solidFill>
                  <a:srgbClr val="22252A"/>
                </a:solidFill>
                <a:latin typeface="Calibri"/>
              </a:rPr>
              <a:t>use the logs that already exist now; record new timestamped joint data and commands only after the gantry arrives</a:t>
            </a:r>
          </a:p>
        </p:txBody>
      </p:sp>
      <p:sp>
        <p:nvSpPr>
          <p:cNvPr id="7" name="Right Arrow 6"/>
          <p:cNvSpPr/>
          <p:nvPr/>
        </p:nvSpPr>
        <p:spPr>
          <a:xfrm>
            <a:off x="3182112" y="2926080"/>
            <a:ext cx="274320" cy="320040"/>
          </a:xfrm>
          <a:prstGeom prst="rightArrow">
            <a:avLst/>
          </a:prstGeom>
          <a:solidFill>
            <a:srgbClr val="5A6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29000" y="1828800"/>
            <a:ext cx="2606040" cy="256032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85032" y="2011680"/>
            <a:ext cx="2093976" cy="365760"/>
          </a:xfrm>
          <a:prstGeom prst="rect">
            <a:avLst/>
          </a:prstGeom>
          <a:noFill/>
        </p:spPr>
        <p:txBody>
          <a:bodyPr wrap="square">
            <a:spAutoFit/>
          </a:bodyPr>
          <a:lstStyle/>
          <a:p>
            <a:pPr algn="l">
              <a:lnSpc>
                <a:spcPct val="100000"/>
              </a:lnSpc>
            </a:pPr>
            <a:r>
              <a:rPr sz="1500" b="1" i="0">
                <a:solidFill>
                  <a:srgbClr val="1B2A3A"/>
                </a:solidFill>
                <a:latin typeface="Calibri"/>
              </a:rPr>
              <a:t>2. Fit</a:t>
            </a:r>
          </a:p>
        </p:txBody>
      </p:sp>
      <p:sp>
        <p:nvSpPr>
          <p:cNvPr id="10" name="TextBox 9"/>
          <p:cNvSpPr txBox="1"/>
          <p:nvPr/>
        </p:nvSpPr>
        <p:spPr>
          <a:xfrm>
            <a:off x="3685032" y="2450592"/>
            <a:ext cx="2093976" cy="1801367"/>
          </a:xfrm>
          <a:prstGeom prst="rect">
            <a:avLst/>
          </a:prstGeom>
          <a:noFill/>
        </p:spPr>
        <p:txBody>
          <a:bodyPr wrap="square">
            <a:spAutoFit/>
          </a:bodyPr>
          <a:lstStyle/>
          <a:p>
            <a:pPr algn="l">
              <a:lnSpc>
                <a:spcPct val="112000"/>
              </a:lnSpc>
            </a:pPr>
            <a:r>
              <a:rPr sz="1300" b="0" i="0">
                <a:solidFill>
                  <a:srgbClr val="22252A"/>
                </a:solidFill>
                <a:latin typeface="Calibri"/>
              </a:rPr>
              <a:t>the delay, how fast each motor responds, and its limits and friction</a:t>
            </a:r>
          </a:p>
        </p:txBody>
      </p:sp>
      <p:sp>
        <p:nvSpPr>
          <p:cNvPr id="11" name="Right Arrow 10"/>
          <p:cNvSpPr/>
          <p:nvPr/>
        </p:nvSpPr>
        <p:spPr>
          <a:xfrm>
            <a:off x="6062472" y="2926080"/>
            <a:ext cx="274320" cy="320040"/>
          </a:xfrm>
          <a:prstGeom prst="rightArrow">
            <a:avLst/>
          </a:prstGeom>
          <a:solidFill>
            <a:srgbClr val="5A6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9360" y="1828800"/>
            <a:ext cx="2606040" cy="256032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2011680"/>
            <a:ext cx="2093976" cy="365760"/>
          </a:xfrm>
          <a:prstGeom prst="rect">
            <a:avLst/>
          </a:prstGeom>
          <a:noFill/>
        </p:spPr>
        <p:txBody>
          <a:bodyPr wrap="square">
            <a:spAutoFit/>
          </a:bodyPr>
          <a:lstStyle/>
          <a:p>
            <a:pPr algn="l">
              <a:lnSpc>
                <a:spcPct val="100000"/>
              </a:lnSpc>
            </a:pPr>
            <a:r>
              <a:rPr sz="1500" b="1" i="0">
                <a:solidFill>
                  <a:srgbClr val="1B2A3A"/>
                </a:solidFill>
                <a:latin typeface="Calibri"/>
              </a:rPr>
              <a:t>3. Check</a:t>
            </a:r>
          </a:p>
        </p:txBody>
      </p:sp>
      <p:sp>
        <p:nvSpPr>
          <p:cNvPr id="14" name="TextBox 13"/>
          <p:cNvSpPr txBox="1"/>
          <p:nvPr/>
        </p:nvSpPr>
        <p:spPr>
          <a:xfrm>
            <a:off x="6565392" y="2450592"/>
            <a:ext cx="2093976" cy="1801367"/>
          </a:xfrm>
          <a:prstGeom prst="rect">
            <a:avLst/>
          </a:prstGeom>
          <a:noFill/>
        </p:spPr>
        <p:txBody>
          <a:bodyPr wrap="square">
            <a:spAutoFit/>
          </a:bodyPr>
          <a:lstStyle/>
          <a:p>
            <a:pPr algn="l">
              <a:lnSpc>
                <a:spcPct val="112000"/>
              </a:lnSpc>
            </a:pPr>
            <a:r>
              <a:rPr sz="1300" b="0" i="0">
                <a:solidFill>
                  <a:srgbClr val="22252A"/>
                </a:solidFill>
                <a:latin typeface="Calibri"/>
              </a:rPr>
              <a:t>predict a motion I did not use for fitting and compare it with the recording</a:t>
            </a:r>
          </a:p>
        </p:txBody>
      </p:sp>
      <p:sp>
        <p:nvSpPr>
          <p:cNvPr id="15" name="Right Arrow 14"/>
          <p:cNvSpPr/>
          <p:nvPr/>
        </p:nvSpPr>
        <p:spPr>
          <a:xfrm>
            <a:off x="8942832" y="2926080"/>
            <a:ext cx="274320" cy="320040"/>
          </a:xfrm>
          <a:prstGeom prst="rightArrow">
            <a:avLst/>
          </a:prstGeom>
          <a:solidFill>
            <a:srgbClr val="5A6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89720" y="1828800"/>
            <a:ext cx="2606040" cy="256032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45752" y="2011680"/>
            <a:ext cx="2093976" cy="365760"/>
          </a:xfrm>
          <a:prstGeom prst="rect">
            <a:avLst/>
          </a:prstGeom>
          <a:noFill/>
        </p:spPr>
        <p:txBody>
          <a:bodyPr wrap="square">
            <a:spAutoFit/>
          </a:bodyPr>
          <a:lstStyle/>
          <a:p>
            <a:pPr algn="l">
              <a:lnSpc>
                <a:spcPct val="100000"/>
              </a:lnSpc>
            </a:pPr>
            <a:r>
              <a:rPr sz="1500" b="1" i="0">
                <a:solidFill>
                  <a:srgbClr val="1B2A3A"/>
                </a:solidFill>
                <a:latin typeface="Calibri"/>
              </a:rPr>
              <a:t>4. Use</a:t>
            </a:r>
          </a:p>
        </p:txBody>
      </p:sp>
      <p:sp>
        <p:nvSpPr>
          <p:cNvPr id="18" name="TextBox 17"/>
          <p:cNvSpPr txBox="1"/>
          <p:nvPr/>
        </p:nvSpPr>
        <p:spPr>
          <a:xfrm>
            <a:off x="9445752" y="2450592"/>
            <a:ext cx="2093976" cy="1801367"/>
          </a:xfrm>
          <a:prstGeom prst="rect">
            <a:avLst/>
          </a:prstGeom>
          <a:noFill/>
        </p:spPr>
        <p:txBody>
          <a:bodyPr wrap="square">
            <a:spAutoFit/>
          </a:bodyPr>
          <a:lstStyle/>
          <a:p>
            <a:pPr algn="l">
              <a:lnSpc>
                <a:spcPct val="112000"/>
              </a:lnSpc>
            </a:pPr>
            <a:r>
              <a:rPr sz="1300" b="0" i="0">
                <a:solidFill>
                  <a:srgbClr val="22252A"/>
                </a:solidFill>
                <a:latin typeface="Calibri"/>
              </a:rPr>
              <a:t>put the measured ranges into the training randomization</a:t>
            </a:r>
          </a:p>
        </p:txBody>
      </p:sp>
      <p:sp>
        <p:nvSpPr>
          <p:cNvPr id="19" name="TextBox 18"/>
          <p:cNvSpPr txBox="1"/>
          <p:nvPr/>
        </p:nvSpPr>
        <p:spPr>
          <a:xfrm>
            <a:off x="640080" y="4709160"/>
            <a:ext cx="10881360" cy="1280160"/>
          </a:xfrm>
          <a:prstGeom prst="rect">
            <a:avLst/>
          </a:prstGeom>
          <a:noFill/>
        </p:spPr>
        <p:txBody>
          <a:bodyPr wrap="square">
            <a:spAutoFit/>
          </a:bodyPr>
          <a:lstStyle/>
          <a:p>
            <a:pPr algn="l">
              <a:lnSpc>
                <a:spcPct val="120000"/>
              </a:lnSpc>
            </a:pPr>
            <a:r>
              <a:rPr sz="1350" b="0" i="0">
                <a:solidFill>
                  <a:srgbClr val="5A6068"/>
                </a:solidFill>
                <a:latin typeface="Calibri"/>
              </a:rPr>
              <a:t>A learned actuator model is a later option, if the simple fit still leaves a systematic gap. Things to confirm first: the joint mapping (the SDK example lists 26 joints with the head; my simulation controls 24), and that estimated torque is not ground truth and a body sensor (IMU) alone does not give a drift-free base velocity.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1005840" y="2240280"/>
            <a:ext cx="82296" cy="192024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12848"/>
            <a:ext cx="9601200" cy="365760"/>
          </a:xfrm>
          <a:prstGeom prst="rect">
            <a:avLst/>
          </a:prstGeom>
          <a:noFill/>
        </p:spPr>
        <p:txBody>
          <a:bodyPr wrap="square">
            <a:spAutoFit/>
          </a:bodyPr>
          <a:lstStyle/>
          <a:p>
            <a:pPr algn="l">
              <a:lnSpc>
                <a:spcPct val="100000"/>
              </a:lnSpc>
            </a:pPr>
            <a:r>
              <a:rPr sz="1500" b="0" i="0">
                <a:solidFill>
                  <a:srgbClr val="B8862E"/>
                </a:solidFill>
                <a:latin typeface="Calibri"/>
              </a:rPr>
              <a:t>PART 3</a:t>
            </a:r>
          </a:p>
        </p:txBody>
      </p:sp>
      <p:sp>
        <p:nvSpPr>
          <p:cNvPr id="4" name="TextBox 3"/>
          <p:cNvSpPr txBox="1"/>
          <p:nvPr/>
        </p:nvSpPr>
        <p:spPr>
          <a:xfrm>
            <a:off x="1371600" y="2606040"/>
            <a:ext cx="9601200" cy="822960"/>
          </a:xfrm>
          <a:prstGeom prst="rect">
            <a:avLst/>
          </a:prstGeom>
          <a:noFill/>
        </p:spPr>
        <p:txBody>
          <a:bodyPr wrap="square">
            <a:spAutoFit/>
          </a:bodyPr>
          <a:lstStyle/>
          <a:p>
            <a:pPr algn="l">
              <a:lnSpc>
                <a:spcPct val="100000"/>
              </a:lnSpc>
            </a:pPr>
            <a:r>
              <a:rPr sz="4000" b="1" i="0">
                <a:solidFill>
                  <a:srgbClr val="FFFFFF"/>
                </a:solidFill>
                <a:latin typeface="Calibri"/>
              </a:rPr>
              <a:t>A bag of R1 skills</a:t>
            </a:r>
          </a:p>
        </p:txBody>
      </p:sp>
      <p:sp>
        <p:nvSpPr>
          <p:cNvPr id="5" name="TextBox 4"/>
          <p:cNvSpPr txBox="1"/>
          <p:nvPr/>
        </p:nvSpPr>
        <p:spPr>
          <a:xfrm>
            <a:off x="1371600" y="3520440"/>
            <a:ext cx="9601200" cy="457200"/>
          </a:xfrm>
          <a:prstGeom prst="rect">
            <a:avLst/>
          </a:prstGeom>
          <a:noFill/>
        </p:spPr>
        <p:txBody>
          <a:bodyPr wrap="square">
            <a:spAutoFit/>
          </a:bodyPr>
          <a:lstStyle/>
          <a:p>
            <a:pPr algn="l">
              <a:lnSpc>
                <a:spcPct val="100000"/>
              </a:lnSpc>
            </a:pPr>
            <a:r>
              <a:rPr sz="2000" b="0" i="0">
                <a:solidFill>
                  <a:srgbClr val="C9D2DA"/>
                </a:solidFill>
                <a:latin typeface="Calibri"/>
              </a:rPr>
              <a:t>train single actions, then chain them in a MuJoCo game I steer myself</a:t>
            </a:r>
          </a:p>
        </p:txBody>
      </p:sp>
      <p:sp>
        <p:nvSpPr>
          <p:cNvPr id="6" name="TextBox 5"/>
          <p:cNvSpPr txBox="1"/>
          <p:nvPr/>
        </p:nvSpPr>
        <p:spPr>
          <a:xfrm>
            <a:off x="1371600" y="4160520"/>
            <a:ext cx="9601200" cy="548640"/>
          </a:xfrm>
          <a:prstGeom prst="rect">
            <a:avLst/>
          </a:prstGeom>
          <a:noFill/>
        </p:spPr>
        <p:txBody>
          <a:bodyPr wrap="square">
            <a:spAutoFit/>
          </a:bodyPr>
          <a:lstStyle/>
          <a:p>
            <a:pPr algn="l">
              <a:lnSpc>
                <a:spcPct val="100000"/>
              </a:lnSpc>
            </a:pPr>
            <a:r>
              <a:rPr sz="1500" b="0" i="1">
                <a:solidFill>
                  <a:srgbClr val="8F9EAC"/>
                </a:solidFill>
                <a:latin typeface="Calibri"/>
              </a:rPr>
              <a:t>walk, run, jump, kick, punch, grab -- each trained separately through my pipeline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The idea</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A school scene in MuJoCo, and the R1 gets from one point to another with the skills in the bag</a:t>
            </a:r>
          </a:p>
        </p:txBody>
      </p:sp>
      <p:sp>
        <p:nvSpPr>
          <p:cNvPr id="4" name="Rounded Rectangle 3"/>
          <p:cNvSpPr/>
          <p:nvPr/>
        </p:nvSpPr>
        <p:spPr>
          <a:xfrm>
            <a:off x="548640" y="1737360"/>
            <a:ext cx="3566160" cy="283464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One policy per skill</a:t>
            </a:r>
          </a:p>
        </p:txBody>
      </p:sp>
      <p:sp>
        <p:nvSpPr>
          <p:cNvPr id="6" name="TextBox 5"/>
          <p:cNvSpPr txBox="1"/>
          <p:nvPr/>
        </p:nvSpPr>
        <p:spPr>
          <a:xfrm>
            <a:off x="804672" y="2359152"/>
            <a:ext cx="3054096" cy="2075688"/>
          </a:xfrm>
          <a:prstGeom prst="rect">
            <a:avLst/>
          </a:prstGeom>
          <a:noFill/>
        </p:spPr>
        <p:txBody>
          <a:bodyPr wrap="square">
            <a:spAutoFit/>
          </a:bodyPr>
          <a:lstStyle/>
          <a:p>
            <a:pPr algn="l">
              <a:lnSpc>
                <a:spcPct val="112000"/>
              </a:lnSpc>
            </a:pPr>
            <a:r>
              <a:rPr sz="1300" b="0" i="0">
                <a:solidFill>
                  <a:srgbClr val="22252A"/>
                </a:solidFill>
                <a:latin typeface="Calibri"/>
              </a:rPr>
              <a:t>Each skill is a motion video or mocap clip, retargeted by GMR and trained as its own policy. Each is one item in the bag.</a:t>
            </a:r>
          </a:p>
        </p:txBody>
      </p:sp>
      <p:sp>
        <p:nvSpPr>
          <p:cNvPr id="7" name="Rounded Rectangle 6"/>
          <p:cNvSpPr/>
          <p:nvPr/>
        </p:nvSpPr>
        <p:spPr>
          <a:xfrm>
            <a:off x="4315968" y="1737360"/>
            <a:ext cx="3566160" cy="283464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A switcher</a:t>
            </a:r>
          </a:p>
        </p:txBody>
      </p:sp>
      <p:sp>
        <p:nvSpPr>
          <p:cNvPr id="9" name="TextBox 8"/>
          <p:cNvSpPr txBox="1"/>
          <p:nvPr/>
        </p:nvSpPr>
        <p:spPr>
          <a:xfrm>
            <a:off x="4572000" y="2359152"/>
            <a:ext cx="3054096" cy="2075688"/>
          </a:xfrm>
          <a:prstGeom prst="rect">
            <a:avLst/>
          </a:prstGeom>
          <a:noFill/>
        </p:spPr>
        <p:txBody>
          <a:bodyPr wrap="square">
            <a:spAutoFit/>
          </a:bodyPr>
          <a:lstStyle/>
          <a:p>
            <a:pPr algn="l">
              <a:lnSpc>
                <a:spcPct val="112000"/>
              </a:lnSpc>
            </a:pPr>
            <a:r>
              <a:rPr sz="1300" b="0" i="0">
                <a:solidFill>
                  <a:srgbClr val="22252A"/>
                </a:solidFill>
                <a:latin typeface="Calibri"/>
              </a:rPr>
              <a:t>I pick the skill, the switcher blends from one policy to the next.</a:t>
            </a:r>
          </a:p>
        </p:txBody>
      </p:sp>
      <p:sp>
        <p:nvSpPr>
          <p:cNvPr id="10" name="Rounded Rectangle 9"/>
          <p:cNvSpPr/>
          <p:nvPr/>
        </p:nvSpPr>
        <p:spPr>
          <a:xfrm>
            <a:off x="8083296" y="1737360"/>
            <a:ext cx="3566160" cy="283464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9327"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A game</a:t>
            </a:r>
          </a:p>
        </p:txBody>
      </p:sp>
      <p:sp>
        <p:nvSpPr>
          <p:cNvPr id="12" name="TextBox 11"/>
          <p:cNvSpPr txBox="1"/>
          <p:nvPr/>
        </p:nvSpPr>
        <p:spPr>
          <a:xfrm>
            <a:off x="8339327" y="2359152"/>
            <a:ext cx="3054096" cy="2075688"/>
          </a:xfrm>
          <a:prstGeom prst="rect">
            <a:avLst/>
          </a:prstGeom>
          <a:noFill/>
        </p:spPr>
        <p:txBody>
          <a:bodyPr wrap="square">
            <a:spAutoFit/>
          </a:bodyPr>
          <a:lstStyle/>
          <a:p>
            <a:pPr algn="l">
              <a:lnSpc>
                <a:spcPct val="112000"/>
              </a:lnSpc>
            </a:pPr>
            <a:r>
              <a:rPr sz="1300" b="0" i="0">
                <a:solidFill>
                  <a:srgbClr val="22252A"/>
                </a:solidFill>
                <a:latin typeface="Calibri"/>
              </a:rPr>
              <a:t>A school scene in MuJoCo. I steer the R1 and it uses the skills to travel between points.</a:t>
            </a:r>
          </a:p>
        </p:txBody>
      </p:sp>
      <p:sp>
        <p:nvSpPr>
          <p:cNvPr id="13" name="TextBox 12"/>
          <p:cNvSpPr txBox="1"/>
          <p:nvPr/>
        </p:nvSpPr>
        <p:spPr>
          <a:xfrm>
            <a:off x="640080" y="4892040"/>
            <a:ext cx="10881360" cy="457200"/>
          </a:xfrm>
          <a:prstGeom prst="rect">
            <a:avLst/>
          </a:prstGeom>
          <a:noFill/>
        </p:spPr>
        <p:txBody>
          <a:bodyPr wrap="square">
            <a:spAutoFit/>
          </a:bodyPr>
          <a:lstStyle/>
          <a:p>
            <a:pPr algn="l">
              <a:lnSpc>
                <a:spcPct val="100000"/>
              </a:lnSpc>
            </a:pPr>
            <a:r>
              <a:rPr sz="1700" b="1" i="0">
                <a:solidFill>
                  <a:srgbClr val="1B2A3A"/>
                </a:solidFill>
                <a:latin typeface="Calibri"/>
              </a:rPr>
              <a:t>First milestone I set: connect walk, run and jump fluently, as one chain.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What already exists</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I checked for similar work before designing anything</a:t>
            </a:r>
          </a:p>
        </p:txBody>
      </p:sp>
      <p:sp>
        <p:nvSpPr>
          <p:cNvPr id="4" name="Oval 3"/>
          <p:cNvSpPr/>
          <p:nvPr/>
        </p:nvSpPr>
        <p:spPr>
          <a:xfrm>
            <a:off x="640080" y="1828800"/>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19" y="1691639"/>
            <a:ext cx="10561320" cy="1024128"/>
          </a:xfrm>
          <a:prstGeom prst="rect">
            <a:avLst/>
          </a:prstGeom>
          <a:noFill/>
        </p:spPr>
        <p:txBody>
          <a:bodyPr wrap="square">
            <a:spAutoFit/>
          </a:bodyPr>
          <a:lstStyle/>
          <a:p>
            <a:pPr algn="l">
              <a:lnSpc>
                <a:spcPct val="112000"/>
              </a:lnSpc>
            </a:pPr>
            <a:r>
              <a:rPr sz="1450" b="0" i="0">
                <a:solidFill>
                  <a:srgbClr val="22252A"/>
                </a:solidFill>
                <a:latin typeface="Calibri"/>
              </a:rPr>
              <a:t>RoboJuDo switches between several trained policies with interpolation, supports BeyondMimic-style motion policies and keyboard control. Its published robot support is G1, H1 and GR1, not the R1, so it is a reference to adapt, not a drop-in.</a:t>
            </a:r>
          </a:p>
        </p:txBody>
      </p:sp>
      <p:sp>
        <p:nvSpPr>
          <p:cNvPr id="6" name="Oval 5"/>
          <p:cNvSpPr/>
          <p:nvPr/>
        </p:nvSpPr>
        <p:spPr>
          <a:xfrm>
            <a:off x="640080" y="2944368"/>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2807208"/>
            <a:ext cx="10561320" cy="1024128"/>
          </a:xfrm>
          <a:prstGeom prst="rect">
            <a:avLst/>
          </a:prstGeom>
          <a:noFill/>
        </p:spPr>
        <p:txBody>
          <a:bodyPr wrap="square">
            <a:spAutoFit/>
          </a:bodyPr>
          <a:lstStyle/>
          <a:p>
            <a:pPr algn="l">
              <a:lnSpc>
                <a:spcPct val="112000"/>
              </a:lnSpc>
            </a:pPr>
            <a:r>
              <a:rPr sz="1450" b="0" i="0">
                <a:solidFill>
                  <a:srgbClr val="22252A"/>
                </a:solidFill>
                <a:latin typeface="Calibri"/>
              </a:rPr>
              <a:t>ASE and DeepMimic are the classic multi-skill and hierarchy references. DeepMimic's own motion data includes walk, run, jump and punch for its simulated humanoid, and its README now points to MimicKit. Neither gives a ready policy for the R1.</a:t>
            </a:r>
          </a:p>
        </p:txBody>
      </p:sp>
      <p:sp>
        <p:nvSpPr>
          <p:cNvPr id="8" name="Oval 7"/>
          <p:cNvSpPr/>
          <p:nvPr/>
        </p:nvSpPr>
        <p:spPr>
          <a:xfrm>
            <a:off x="640080" y="4059935"/>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3922776"/>
            <a:ext cx="10561320" cy="713232"/>
          </a:xfrm>
          <a:prstGeom prst="rect">
            <a:avLst/>
          </a:prstGeom>
          <a:noFill/>
        </p:spPr>
        <p:txBody>
          <a:bodyPr wrap="square">
            <a:spAutoFit/>
          </a:bodyPr>
          <a:lstStyle/>
          <a:p>
            <a:pPr algn="l">
              <a:lnSpc>
                <a:spcPct val="112000"/>
              </a:lnSpc>
            </a:pPr>
            <a:r>
              <a:rPr sz="1450" b="0" i="0">
                <a:solidFill>
                  <a:srgbClr val="22252A"/>
                </a:solidFill>
                <a:latin typeface="Calibri"/>
              </a:rPr>
              <a:t>A 2026 paper, Switch, trains one tracker on skill transitions and switches skills on a G1 humanoid. It is the paper I present next.</a:t>
            </a:r>
          </a:p>
        </p:txBody>
      </p:sp>
      <p:sp>
        <p:nvSpPr>
          <p:cNvPr id="10" name="Oval 9"/>
          <p:cNvSpPr/>
          <p:nvPr/>
        </p:nvSpPr>
        <p:spPr>
          <a:xfrm>
            <a:off x="640080" y="4864607"/>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19" y="4727448"/>
            <a:ext cx="10561320" cy="402336"/>
          </a:xfrm>
          <a:prstGeom prst="rect">
            <a:avLst/>
          </a:prstGeom>
          <a:noFill/>
        </p:spPr>
        <p:txBody>
          <a:bodyPr wrap="square">
            <a:spAutoFit/>
          </a:bodyPr>
          <a:lstStyle/>
          <a:p>
            <a:pPr algn="l">
              <a:lnSpc>
                <a:spcPct val="112000"/>
              </a:lnSpc>
            </a:pPr>
            <a:r>
              <a:rPr sz="1450" b="0" i="0">
                <a:solidFill>
                  <a:srgbClr val="22252A"/>
                </a:solidFill>
                <a:latin typeface="Calibri"/>
              </a:rPr>
              <a:t>No verified R1-ready walk, run and jump switching package was established in this review.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A paper for this idea: Switch</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Learning Agile Skills Switching for Humanoid Robots</a:t>
            </a:r>
          </a:p>
        </p:txBody>
      </p:sp>
      <p:pic>
        <p:nvPicPr>
          <p:cNvPr id="4" name="Picture 3" descr="switch_fig1.png"/>
          <p:cNvPicPr>
            <a:picLocks noChangeAspect="1"/>
          </p:cNvPicPr>
          <p:nvPr/>
        </p:nvPicPr>
        <p:blipFill>
          <a:blip r:embed="rId2"/>
          <a:stretch>
            <a:fillRect/>
          </a:stretch>
        </p:blipFill>
        <p:spPr>
          <a:xfrm>
            <a:off x="1028635" y="1554480"/>
            <a:ext cx="10140824" cy="2834640"/>
          </a:xfrm>
          <a:prstGeom prst="rect">
            <a:avLst/>
          </a:prstGeom>
        </p:spPr>
      </p:pic>
      <p:sp>
        <p:nvSpPr>
          <p:cNvPr id="5" name="TextBox 4"/>
          <p:cNvSpPr txBox="1"/>
          <p:nvPr/>
        </p:nvSpPr>
        <p:spPr>
          <a:xfrm>
            <a:off x="640080" y="4407408"/>
            <a:ext cx="10881360" cy="320040"/>
          </a:xfrm>
          <a:prstGeom prst="rect">
            <a:avLst/>
          </a:prstGeom>
          <a:noFill/>
        </p:spPr>
        <p:txBody>
          <a:bodyPr wrap="square">
            <a:spAutoFit/>
          </a:bodyPr>
          <a:lstStyle/>
          <a:p>
            <a:pPr algn="ctr">
              <a:lnSpc>
                <a:spcPct val="100000"/>
              </a:lnSpc>
            </a:pPr>
            <a:r>
              <a:rPr sz="1200" b="0" i="1">
                <a:solidFill>
                  <a:srgbClr val="5A6068"/>
                </a:solidFill>
                <a:latin typeface="Calibri"/>
              </a:rPr>
              <a:t>Figure 1 of the paper: the authors' G1 robot switching between skills. Source: Lau et al., arXiv 2604.14834.</a:t>
            </a:r>
          </a:p>
        </p:txBody>
      </p:sp>
      <p:sp>
        <p:nvSpPr>
          <p:cNvPr id="6" name="Rounded Rectangle 5"/>
          <p:cNvSpPr/>
          <p:nvPr/>
        </p:nvSpPr>
        <p:spPr>
          <a:xfrm>
            <a:off x="548640" y="4846320"/>
            <a:ext cx="5486400" cy="160020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5029200"/>
            <a:ext cx="4974336" cy="365760"/>
          </a:xfrm>
          <a:prstGeom prst="rect">
            <a:avLst/>
          </a:prstGeom>
          <a:noFill/>
        </p:spPr>
        <p:txBody>
          <a:bodyPr wrap="square">
            <a:spAutoFit/>
          </a:bodyPr>
          <a:lstStyle/>
          <a:p>
            <a:pPr algn="l">
              <a:lnSpc>
                <a:spcPct val="100000"/>
              </a:lnSpc>
            </a:pPr>
            <a:r>
              <a:rPr sz="1500" b="1" i="0">
                <a:solidFill>
                  <a:srgbClr val="1B2A3A"/>
                </a:solidFill>
                <a:latin typeface="Calibri"/>
              </a:rPr>
              <a:t>The paper</a:t>
            </a:r>
          </a:p>
        </p:txBody>
      </p:sp>
      <p:sp>
        <p:nvSpPr>
          <p:cNvPr id="8" name="TextBox 7"/>
          <p:cNvSpPr txBox="1"/>
          <p:nvPr/>
        </p:nvSpPr>
        <p:spPr>
          <a:xfrm>
            <a:off x="804672" y="5468112"/>
            <a:ext cx="4974336" cy="841247"/>
          </a:xfrm>
          <a:prstGeom prst="rect">
            <a:avLst/>
          </a:prstGeom>
          <a:noFill/>
        </p:spPr>
        <p:txBody>
          <a:bodyPr wrap="square">
            <a:spAutoFit/>
          </a:bodyPr>
          <a:lstStyle/>
          <a:p>
            <a:pPr algn="l">
              <a:lnSpc>
                <a:spcPct val="112000"/>
              </a:lnSpc>
            </a:pPr>
            <a:r>
              <a:rPr sz="1250" b="0" i="0">
                <a:solidFill>
                  <a:srgbClr val="22252A"/>
                </a:solidFill>
                <a:latin typeface="Calibri"/>
              </a:rPr>
              <a:t>Yuen-Fui Lau, Qihan Zhao, Yinhuai Wang, Runyi Yu, Hok Wai Tsui, Qifeng Chen, Ping Tan. HKUST. April 2026 preprint. Unitree G1 humanoid.</a:t>
            </a:r>
          </a:p>
        </p:txBody>
      </p:sp>
      <p:sp>
        <p:nvSpPr>
          <p:cNvPr id="9" name="Rounded Rectangle 8"/>
          <p:cNvSpPr/>
          <p:nvPr/>
        </p:nvSpPr>
        <p:spPr>
          <a:xfrm>
            <a:off x="6172200" y="4846320"/>
            <a:ext cx="5486400" cy="160020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2" y="5029200"/>
            <a:ext cx="4974336" cy="365760"/>
          </a:xfrm>
          <a:prstGeom prst="rect">
            <a:avLst/>
          </a:prstGeom>
          <a:noFill/>
        </p:spPr>
        <p:txBody>
          <a:bodyPr wrap="square">
            <a:spAutoFit/>
          </a:bodyPr>
          <a:lstStyle/>
          <a:p>
            <a:pPr algn="l">
              <a:lnSpc>
                <a:spcPct val="100000"/>
              </a:lnSpc>
            </a:pPr>
            <a:r>
              <a:rPr sz="1500" b="1" i="0">
                <a:solidFill>
                  <a:srgbClr val="1B2A3A"/>
                </a:solidFill>
                <a:latin typeface="Calibri"/>
              </a:rPr>
              <a:t>Why I picked it</a:t>
            </a:r>
          </a:p>
        </p:txBody>
      </p:sp>
      <p:sp>
        <p:nvSpPr>
          <p:cNvPr id="11" name="TextBox 10"/>
          <p:cNvSpPr txBox="1"/>
          <p:nvPr/>
        </p:nvSpPr>
        <p:spPr>
          <a:xfrm>
            <a:off x="6428232" y="5468112"/>
            <a:ext cx="4974336" cy="841247"/>
          </a:xfrm>
          <a:prstGeom prst="rect">
            <a:avLst/>
          </a:prstGeom>
          <a:noFill/>
        </p:spPr>
        <p:txBody>
          <a:bodyPr wrap="square">
            <a:spAutoFit/>
          </a:bodyPr>
          <a:lstStyle/>
          <a:p>
            <a:pPr algn="l">
              <a:lnSpc>
                <a:spcPct val="112000"/>
              </a:lnSpc>
            </a:pPr>
            <a:r>
              <a:rPr sz="1250" b="0" i="0">
                <a:solidFill>
                  <a:srgbClr val="22252A"/>
                </a:solidFill>
                <a:latin typeface="Calibri"/>
              </a:rPr>
              <a:t>Connecting my walk, run and jump skills is my next challenge, and this paper is about exactly that. I present their work, not an experiment of mine.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Introduction and summary</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Skills that work alone can still fail at the handoff</a:t>
            </a:r>
          </a:p>
        </p:txBody>
      </p:sp>
      <p:sp>
        <p:nvSpPr>
          <p:cNvPr id="4" name="Rounded Rectangle 3"/>
          <p:cNvSpPr/>
          <p:nvPr/>
        </p:nvSpPr>
        <p:spPr>
          <a:xfrm>
            <a:off x="548640" y="1737360"/>
            <a:ext cx="3566160" cy="329184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The problem they see</a:t>
            </a:r>
          </a:p>
        </p:txBody>
      </p:sp>
      <p:sp>
        <p:nvSpPr>
          <p:cNvPr id="6" name="TextBox 5"/>
          <p:cNvSpPr txBox="1"/>
          <p:nvPr/>
        </p:nvSpPr>
        <p:spPr>
          <a:xfrm>
            <a:off x="804672" y="2359152"/>
            <a:ext cx="3054096" cy="2532888"/>
          </a:xfrm>
          <a:prstGeom prst="rect">
            <a:avLst/>
          </a:prstGeom>
          <a:noFill/>
        </p:spPr>
        <p:txBody>
          <a:bodyPr wrap="square">
            <a:spAutoFit/>
          </a:bodyPr>
          <a:lstStyle/>
          <a:p>
            <a:pPr algn="l">
              <a:lnSpc>
                <a:spcPct val="112000"/>
              </a:lnSpc>
            </a:pPr>
            <a:r>
              <a:rPr sz="1450" b="0" i="0">
                <a:solidFill>
                  <a:srgbClr val="22252A"/>
                </a:solidFill>
                <a:latin typeface="Calibri"/>
              </a:rPr>
              <a:t>Whole-body controllers can now do agile single skills. Switching between two of them is still unreliable, because the controller never trained on the states that appear during a switch.</a:t>
            </a:r>
          </a:p>
        </p:txBody>
      </p:sp>
      <p:sp>
        <p:nvSpPr>
          <p:cNvPr id="7" name="Rounded Rectangle 6"/>
          <p:cNvSpPr/>
          <p:nvPr/>
        </p:nvSpPr>
        <p:spPr>
          <a:xfrm>
            <a:off x="4315968" y="1737360"/>
            <a:ext cx="3566160" cy="329184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What Switch does</a:t>
            </a:r>
          </a:p>
        </p:txBody>
      </p:sp>
      <p:sp>
        <p:nvSpPr>
          <p:cNvPr id="9" name="TextBox 8"/>
          <p:cNvSpPr txBox="1"/>
          <p:nvPr/>
        </p:nvSpPr>
        <p:spPr>
          <a:xfrm>
            <a:off x="4572000" y="2359152"/>
            <a:ext cx="3054096" cy="2532888"/>
          </a:xfrm>
          <a:prstGeom prst="rect">
            <a:avLst/>
          </a:prstGeom>
          <a:noFill/>
        </p:spPr>
        <p:txBody>
          <a:bodyPr wrap="square">
            <a:spAutoFit/>
          </a:bodyPr>
          <a:lstStyle/>
          <a:p>
            <a:pPr algn="l">
              <a:lnSpc>
                <a:spcPct val="112000"/>
              </a:lnSpc>
            </a:pPr>
            <a:r>
              <a:rPr sz="1500" b="0" i="0">
                <a:solidFill>
                  <a:srgbClr val="22252A"/>
                </a:solidFill>
                <a:latin typeface="Calibri"/>
              </a:rPr>
              <a:t>Three parts: a skill graph that links similar moments of different skills, one tracking policy trained on those links, and an online scheduler that picks the path to the skill you ask for.</a:t>
            </a:r>
          </a:p>
        </p:txBody>
      </p:sp>
      <p:sp>
        <p:nvSpPr>
          <p:cNvPr id="10" name="Rounded Rectangle 9"/>
          <p:cNvSpPr/>
          <p:nvPr/>
        </p:nvSpPr>
        <p:spPr>
          <a:xfrm>
            <a:off x="8083296" y="1737360"/>
            <a:ext cx="3566160" cy="329184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9327"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My connection</a:t>
            </a:r>
          </a:p>
        </p:txBody>
      </p:sp>
      <p:sp>
        <p:nvSpPr>
          <p:cNvPr id="12" name="TextBox 11"/>
          <p:cNvSpPr txBox="1"/>
          <p:nvPr/>
        </p:nvSpPr>
        <p:spPr>
          <a:xfrm>
            <a:off x="8339327" y="2359152"/>
            <a:ext cx="3054096" cy="2532888"/>
          </a:xfrm>
          <a:prstGeom prst="rect">
            <a:avLst/>
          </a:prstGeom>
          <a:noFill/>
        </p:spPr>
        <p:txBody>
          <a:bodyPr wrap="square">
            <a:spAutoFit/>
          </a:bodyPr>
          <a:lstStyle/>
          <a:p>
            <a:pPr algn="l">
              <a:lnSpc>
                <a:spcPct val="112000"/>
              </a:lnSpc>
            </a:pPr>
            <a:r>
              <a:rPr sz="1500" b="0" i="0">
                <a:solidFill>
                  <a:srgbClr val="22252A"/>
                </a:solidFill>
                <a:latin typeface="Calibri"/>
              </a:rPr>
              <a:t>A bag of three good clips is not a chain. I should judge my R1 on the connected rollout, not only on walk, run and jump shown separately.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Core challenges</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Why switching fails, and what plain tracking does after a push</a:t>
            </a:r>
          </a:p>
        </p:txBody>
      </p:sp>
      <p:pic>
        <p:nvPicPr>
          <p:cNvPr id="4" name="Picture 3" descr="switch_fig3.png"/>
          <p:cNvPicPr>
            <a:picLocks noChangeAspect="1"/>
          </p:cNvPicPr>
          <p:nvPr/>
        </p:nvPicPr>
        <p:blipFill>
          <a:blip r:embed="rId2"/>
          <a:stretch>
            <a:fillRect/>
          </a:stretch>
        </p:blipFill>
        <p:spPr>
          <a:xfrm>
            <a:off x="566928" y="1481328"/>
            <a:ext cx="11064240" cy="2112660"/>
          </a:xfrm>
          <a:prstGeom prst="rect">
            <a:avLst/>
          </a:prstGeom>
        </p:spPr>
      </p:pic>
      <p:sp>
        <p:nvSpPr>
          <p:cNvPr id="5" name="TextBox 4"/>
          <p:cNvSpPr txBox="1"/>
          <p:nvPr/>
        </p:nvSpPr>
        <p:spPr>
          <a:xfrm>
            <a:off x="640080" y="3657600"/>
            <a:ext cx="10881360" cy="502920"/>
          </a:xfrm>
          <a:prstGeom prst="rect">
            <a:avLst/>
          </a:prstGeom>
          <a:noFill/>
        </p:spPr>
        <p:txBody>
          <a:bodyPr wrap="square">
            <a:spAutoFit/>
          </a:bodyPr>
          <a:lstStyle/>
          <a:p>
            <a:pPr algn="ctr">
              <a:lnSpc>
                <a:spcPct val="110000"/>
              </a:lnSpc>
            </a:pPr>
            <a:r>
              <a:rPr sz="1200" b="0" i="1">
                <a:solidFill>
                  <a:srgbClr val="5A6068"/>
                </a:solidFill>
                <a:latin typeface="Calibri"/>
              </a:rPr>
              <a:t>Figure 3 of the paper (their simulation): a 500 N push knocks the robot down. Top: with the scheduler it gets up and resumes the kick. Bottom: plain tracking stays down.</a:t>
            </a:r>
          </a:p>
        </p:txBody>
      </p:sp>
      <p:sp>
        <p:nvSpPr>
          <p:cNvPr id="6" name="Rounded Rectangle 5"/>
          <p:cNvSpPr/>
          <p:nvPr/>
        </p:nvSpPr>
        <p:spPr>
          <a:xfrm>
            <a:off x="548640" y="4251960"/>
            <a:ext cx="3566160" cy="205740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44348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Unseen transition states</a:t>
            </a:r>
          </a:p>
        </p:txBody>
      </p:sp>
      <p:sp>
        <p:nvSpPr>
          <p:cNvPr id="8" name="TextBox 7"/>
          <p:cNvSpPr txBox="1"/>
          <p:nvPr/>
        </p:nvSpPr>
        <p:spPr>
          <a:xfrm>
            <a:off x="804672" y="4873752"/>
            <a:ext cx="3054096" cy="1298447"/>
          </a:xfrm>
          <a:prstGeom prst="rect">
            <a:avLst/>
          </a:prstGeom>
          <a:noFill/>
        </p:spPr>
        <p:txBody>
          <a:bodyPr wrap="square">
            <a:spAutoFit/>
          </a:bodyPr>
          <a:lstStyle/>
          <a:p>
            <a:pPr algn="l">
              <a:lnSpc>
                <a:spcPct val="112000"/>
              </a:lnSpc>
            </a:pPr>
            <a:r>
              <a:rPr sz="1250" b="0" i="0">
                <a:solidFill>
                  <a:srgbClr val="22252A"/>
                </a:solidFill>
                <a:latin typeface="Calibri"/>
              </a:rPr>
              <a:t>The controller fails when it meets states it was never trained on, such as the moment between two skills.</a:t>
            </a:r>
          </a:p>
        </p:txBody>
      </p:sp>
      <p:sp>
        <p:nvSpPr>
          <p:cNvPr id="9" name="Rounded Rectangle 8"/>
          <p:cNvSpPr/>
          <p:nvPr/>
        </p:nvSpPr>
        <p:spPr>
          <a:xfrm>
            <a:off x="4315968" y="4251960"/>
            <a:ext cx="3566160" cy="205740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44348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Too many pairs</a:t>
            </a:r>
          </a:p>
        </p:txBody>
      </p:sp>
      <p:sp>
        <p:nvSpPr>
          <p:cNvPr id="11" name="TextBox 10"/>
          <p:cNvSpPr txBox="1"/>
          <p:nvPr/>
        </p:nvSpPr>
        <p:spPr>
          <a:xfrm>
            <a:off x="4572000" y="4873752"/>
            <a:ext cx="3054096" cy="1298447"/>
          </a:xfrm>
          <a:prstGeom prst="rect">
            <a:avLst/>
          </a:prstGeom>
          <a:noFill/>
        </p:spPr>
        <p:txBody>
          <a:bodyPr wrap="square">
            <a:spAutoFit/>
          </a:bodyPr>
          <a:lstStyle/>
          <a:p>
            <a:pPr algn="l">
              <a:lnSpc>
                <a:spcPct val="112000"/>
              </a:lnSpc>
            </a:pPr>
            <a:r>
              <a:rPr sz="1250" b="0" i="0">
                <a:solidFill>
                  <a:srgbClr val="22252A"/>
                </a:solidFill>
                <a:latin typeface="Calibri"/>
              </a:rPr>
              <a:t>Recording every possible transition between every pair of skills grows too fast as skills are added.</a:t>
            </a:r>
          </a:p>
        </p:txBody>
      </p:sp>
      <p:sp>
        <p:nvSpPr>
          <p:cNvPr id="12" name="Rounded Rectangle 11"/>
          <p:cNvSpPr/>
          <p:nvPr/>
        </p:nvSpPr>
        <p:spPr>
          <a:xfrm>
            <a:off x="8083296" y="4251960"/>
            <a:ext cx="3566160" cy="205740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44348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No recovery plan</a:t>
            </a:r>
          </a:p>
        </p:txBody>
      </p:sp>
      <p:sp>
        <p:nvSpPr>
          <p:cNvPr id="14" name="TextBox 13"/>
          <p:cNvSpPr txBox="1"/>
          <p:nvPr/>
        </p:nvSpPr>
        <p:spPr>
          <a:xfrm>
            <a:off x="8339327" y="4873752"/>
            <a:ext cx="3054096" cy="1298447"/>
          </a:xfrm>
          <a:prstGeom prst="rect">
            <a:avLst/>
          </a:prstGeom>
          <a:noFill/>
        </p:spPr>
        <p:txBody>
          <a:bodyPr wrap="square">
            <a:spAutoFit/>
          </a:bodyPr>
          <a:lstStyle/>
          <a:p>
            <a:pPr algn="l">
              <a:lnSpc>
                <a:spcPct val="112000"/>
              </a:lnSpc>
            </a:pPr>
            <a:r>
              <a:rPr sz="1050" b="0" i="0">
                <a:solidFill>
                  <a:srgbClr val="22252A"/>
                </a:solidFill>
                <a:latin typeface="Calibri"/>
              </a:rPr>
              <a:t>A fixed reference has no explicit recovery plan after a large deviation, even though the low-level tracker still reacts to feedback. For me: a jump has to start from the state the run leaves, and a bad landing needs a recovery.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Framework</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Three steps: link similar states, train on the links, plan online</a:t>
            </a:r>
          </a:p>
        </p:txBody>
      </p:sp>
      <p:pic>
        <p:nvPicPr>
          <p:cNvPr id="4" name="Picture 3" descr="switch_fig2.png"/>
          <p:cNvPicPr>
            <a:picLocks noChangeAspect="1"/>
          </p:cNvPicPr>
          <p:nvPr/>
        </p:nvPicPr>
        <p:blipFill>
          <a:blip r:embed="rId2"/>
          <a:stretch>
            <a:fillRect/>
          </a:stretch>
        </p:blipFill>
        <p:spPr>
          <a:xfrm>
            <a:off x="1272916" y="1417320"/>
            <a:ext cx="9652263" cy="2926080"/>
          </a:xfrm>
          <a:prstGeom prst="rect">
            <a:avLst/>
          </a:prstGeom>
        </p:spPr>
      </p:pic>
      <p:sp>
        <p:nvSpPr>
          <p:cNvPr id="5" name="TextBox 4"/>
          <p:cNvSpPr txBox="1"/>
          <p:nvPr/>
        </p:nvSpPr>
        <p:spPr>
          <a:xfrm>
            <a:off x="640080" y="4370832"/>
            <a:ext cx="10881360" cy="274320"/>
          </a:xfrm>
          <a:prstGeom prst="rect">
            <a:avLst/>
          </a:prstGeom>
          <a:noFill/>
        </p:spPr>
        <p:txBody>
          <a:bodyPr wrap="square">
            <a:spAutoFit/>
          </a:bodyPr>
          <a:lstStyle/>
          <a:p>
            <a:pPr algn="ctr">
              <a:lnSpc>
                <a:spcPct val="100000"/>
              </a:lnSpc>
            </a:pPr>
            <a:r>
              <a:rPr sz="1200" b="0" i="1">
                <a:solidFill>
                  <a:srgbClr val="5A6068"/>
                </a:solidFill>
                <a:latin typeface="Calibri"/>
              </a:rPr>
              <a:t>Figure 2 of the paper (Lau et al.).</a:t>
            </a:r>
          </a:p>
        </p:txBody>
      </p:sp>
      <p:sp>
        <p:nvSpPr>
          <p:cNvPr id="6" name="Rounded Rectangle 5"/>
          <p:cNvSpPr/>
          <p:nvPr/>
        </p:nvSpPr>
        <p:spPr>
          <a:xfrm>
            <a:off x="548640" y="4709160"/>
            <a:ext cx="3566160" cy="182880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4892040"/>
            <a:ext cx="3054096" cy="365760"/>
          </a:xfrm>
          <a:prstGeom prst="rect">
            <a:avLst/>
          </a:prstGeom>
          <a:noFill/>
        </p:spPr>
        <p:txBody>
          <a:bodyPr wrap="square">
            <a:spAutoFit/>
          </a:bodyPr>
          <a:lstStyle/>
          <a:p>
            <a:pPr algn="l">
              <a:lnSpc>
                <a:spcPct val="100000"/>
              </a:lnSpc>
            </a:pPr>
            <a:r>
              <a:rPr sz="1400" b="1" i="0">
                <a:solidFill>
                  <a:srgbClr val="1B2A3A"/>
                </a:solidFill>
                <a:latin typeface="Calibri"/>
              </a:rPr>
              <a:t>a. Build a skill graph</a:t>
            </a:r>
          </a:p>
        </p:txBody>
      </p:sp>
      <p:sp>
        <p:nvSpPr>
          <p:cNvPr id="8" name="TextBox 7"/>
          <p:cNvSpPr txBox="1"/>
          <p:nvPr/>
        </p:nvSpPr>
        <p:spPr>
          <a:xfrm>
            <a:off x="804672" y="5330952"/>
            <a:ext cx="3054096" cy="1069847"/>
          </a:xfrm>
          <a:prstGeom prst="rect">
            <a:avLst/>
          </a:prstGeom>
          <a:noFill/>
        </p:spPr>
        <p:txBody>
          <a:bodyPr wrap="square">
            <a:spAutoFit/>
          </a:bodyPr>
          <a:lstStyle/>
          <a:p>
            <a:pPr algn="l">
              <a:lnSpc>
                <a:spcPct val="112000"/>
              </a:lnSpc>
            </a:pPr>
            <a:r>
              <a:rPr sz="1250" b="0" i="0">
                <a:solidFill>
                  <a:srgbClr val="22252A"/>
                </a:solidFill>
                <a:latin typeface="Calibri"/>
              </a:rPr>
              <a:t>Each motion frame is a point. Similar frames of different skills get a link, with extra buffer frames where the gap is large.</a:t>
            </a:r>
          </a:p>
        </p:txBody>
      </p:sp>
      <p:sp>
        <p:nvSpPr>
          <p:cNvPr id="9" name="Rounded Rectangle 8"/>
          <p:cNvSpPr/>
          <p:nvPr/>
        </p:nvSpPr>
        <p:spPr>
          <a:xfrm>
            <a:off x="4315968" y="4709160"/>
            <a:ext cx="3566160" cy="182880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4892040"/>
            <a:ext cx="3054096" cy="365760"/>
          </a:xfrm>
          <a:prstGeom prst="rect">
            <a:avLst/>
          </a:prstGeom>
          <a:noFill/>
        </p:spPr>
        <p:txBody>
          <a:bodyPr wrap="square">
            <a:spAutoFit/>
          </a:bodyPr>
          <a:lstStyle/>
          <a:p>
            <a:pPr algn="l">
              <a:lnSpc>
                <a:spcPct val="100000"/>
              </a:lnSpc>
            </a:pPr>
            <a:r>
              <a:rPr sz="1400" b="1" i="0">
                <a:solidFill>
                  <a:srgbClr val="1B2A3A"/>
                </a:solidFill>
                <a:latin typeface="Calibri"/>
              </a:rPr>
              <a:t>b. Train one tracker</a:t>
            </a:r>
          </a:p>
        </p:txBody>
      </p:sp>
      <p:sp>
        <p:nvSpPr>
          <p:cNvPr id="11" name="TextBox 10"/>
          <p:cNvSpPr txBox="1"/>
          <p:nvPr/>
        </p:nvSpPr>
        <p:spPr>
          <a:xfrm>
            <a:off x="4572000" y="5330952"/>
            <a:ext cx="3054096" cy="1069847"/>
          </a:xfrm>
          <a:prstGeom prst="rect">
            <a:avLst/>
          </a:prstGeom>
          <a:noFill/>
        </p:spPr>
        <p:txBody>
          <a:bodyPr wrap="square">
            <a:spAutoFit/>
          </a:bodyPr>
          <a:lstStyle/>
          <a:p>
            <a:pPr algn="l">
              <a:lnSpc>
                <a:spcPct val="112000"/>
              </a:lnSpc>
            </a:pPr>
            <a:r>
              <a:rPr sz="1300" b="0" i="0">
                <a:solidFill>
                  <a:srgbClr val="22252A"/>
                </a:solidFill>
                <a:latin typeface="Calibri"/>
              </a:rPr>
              <a:t>The policy practices the linked transitions in simulation, with a reward that guides it through the buffer frames.</a:t>
            </a:r>
          </a:p>
        </p:txBody>
      </p:sp>
      <p:sp>
        <p:nvSpPr>
          <p:cNvPr id="12" name="Rounded Rectangle 11"/>
          <p:cNvSpPr/>
          <p:nvPr/>
        </p:nvSpPr>
        <p:spPr>
          <a:xfrm>
            <a:off x="8083296" y="4709160"/>
            <a:ext cx="3566160" cy="182880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4892040"/>
            <a:ext cx="3054096" cy="365760"/>
          </a:xfrm>
          <a:prstGeom prst="rect">
            <a:avLst/>
          </a:prstGeom>
          <a:noFill/>
        </p:spPr>
        <p:txBody>
          <a:bodyPr wrap="square">
            <a:spAutoFit/>
          </a:bodyPr>
          <a:lstStyle/>
          <a:p>
            <a:pPr algn="l">
              <a:lnSpc>
                <a:spcPct val="100000"/>
              </a:lnSpc>
            </a:pPr>
            <a:r>
              <a:rPr sz="1400" b="1" i="0">
                <a:solidFill>
                  <a:srgbClr val="1B2A3A"/>
                </a:solidFill>
                <a:latin typeface="Calibri"/>
              </a:rPr>
              <a:t>c. Schedule online</a:t>
            </a:r>
          </a:p>
        </p:txBody>
      </p:sp>
      <p:sp>
        <p:nvSpPr>
          <p:cNvPr id="14" name="TextBox 13"/>
          <p:cNvSpPr txBox="1"/>
          <p:nvPr/>
        </p:nvSpPr>
        <p:spPr>
          <a:xfrm>
            <a:off x="8339327" y="5330952"/>
            <a:ext cx="3054096" cy="1069847"/>
          </a:xfrm>
          <a:prstGeom prst="rect">
            <a:avLst/>
          </a:prstGeom>
          <a:noFill/>
        </p:spPr>
        <p:txBody>
          <a:bodyPr wrap="square">
            <a:spAutoFit/>
          </a:bodyPr>
          <a:lstStyle/>
          <a:p>
            <a:pPr algn="l">
              <a:lnSpc>
                <a:spcPct val="112000"/>
              </a:lnSpc>
            </a:pPr>
            <a:r>
              <a:rPr sz="1150" b="0" i="0">
                <a:solidFill>
                  <a:srgbClr val="22252A"/>
                </a:solidFill>
                <a:latin typeface="Calibri"/>
              </a:rPr>
              <a:t>From the robot's current state, the scheduler finds the path to the commanded skill. The hardware runs the simpler nearest-neighbor variant.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Results (the authors' numbers)</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Skill switching success in their MuJoCo test, % of 50 trials</a:t>
            </a:r>
          </a:p>
        </p:txBody>
      </p:sp>
      <p:sp>
        <p:nvSpPr>
          <p:cNvPr id="4" name="TextBox 3"/>
          <p:cNvSpPr txBox="1"/>
          <p:nvPr/>
        </p:nvSpPr>
        <p:spPr>
          <a:xfrm>
            <a:off x="640080" y="1645920"/>
            <a:ext cx="2194560" cy="320040"/>
          </a:xfrm>
          <a:prstGeom prst="rect">
            <a:avLst/>
          </a:prstGeom>
          <a:noFill/>
        </p:spPr>
        <p:txBody>
          <a:bodyPr wrap="square">
            <a:spAutoFit/>
          </a:bodyPr>
          <a:lstStyle/>
          <a:p>
            <a:pPr algn="l">
              <a:lnSpc>
                <a:spcPct val="100000"/>
              </a:lnSpc>
            </a:pPr>
            <a:r>
              <a:rPr sz="1300" b="1" i="0">
                <a:solidFill>
                  <a:srgbClr val="1B2A3A"/>
                </a:solidFill>
                <a:latin typeface="Calibri"/>
              </a:rPr>
              <a:t>Method</a:t>
            </a:r>
          </a:p>
        </p:txBody>
      </p:sp>
      <p:sp>
        <p:nvSpPr>
          <p:cNvPr id="5" name="TextBox 4"/>
          <p:cNvSpPr txBox="1"/>
          <p:nvPr/>
        </p:nvSpPr>
        <p:spPr>
          <a:xfrm>
            <a:off x="5486400" y="1645920"/>
            <a:ext cx="2194560" cy="320040"/>
          </a:xfrm>
          <a:prstGeom prst="rect">
            <a:avLst/>
          </a:prstGeom>
          <a:noFill/>
        </p:spPr>
        <p:txBody>
          <a:bodyPr wrap="square">
            <a:spAutoFit/>
          </a:bodyPr>
          <a:lstStyle/>
          <a:p>
            <a:pPr algn="l">
              <a:lnSpc>
                <a:spcPct val="100000"/>
              </a:lnSpc>
            </a:pPr>
            <a:r>
              <a:rPr sz="1300" b="1" i="0">
                <a:solidFill>
                  <a:srgbClr val="1B2A3A"/>
                </a:solidFill>
                <a:latin typeface="Calibri"/>
              </a:rPr>
              <a:t>1 switch</a:t>
            </a:r>
          </a:p>
        </p:txBody>
      </p:sp>
      <p:sp>
        <p:nvSpPr>
          <p:cNvPr id="6" name="TextBox 5"/>
          <p:cNvSpPr txBox="1"/>
          <p:nvPr/>
        </p:nvSpPr>
        <p:spPr>
          <a:xfrm>
            <a:off x="7406640" y="1645920"/>
            <a:ext cx="2194560" cy="320040"/>
          </a:xfrm>
          <a:prstGeom prst="rect">
            <a:avLst/>
          </a:prstGeom>
          <a:noFill/>
        </p:spPr>
        <p:txBody>
          <a:bodyPr wrap="square">
            <a:spAutoFit/>
          </a:bodyPr>
          <a:lstStyle/>
          <a:p>
            <a:pPr algn="l">
              <a:lnSpc>
                <a:spcPct val="100000"/>
              </a:lnSpc>
            </a:pPr>
            <a:r>
              <a:rPr sz="1300" b="1" i="0">
                <a:solidFill>
                  <a:srgbClr val="1B2A3A"/>
                </a:solidFill>
                <a:latin typeface="Calibri"/>
              </a:rPr>
              <a:t>2 switches</a:t>
            </a:r>
          </a:p>
        </p:txBody>
      </p:sp>
      <p:sp>
        <p:nvSpPr>
          <p:cNvPr id="7" name="TextBox 6"/>
          <p:cNvSpPr txBox="1"/>
          <p:nvPr/>
        </p:nvSpPr>
        <p:spPr>
          <a:xfrm>
            <a:off x="9326880" y="1645920"/>
            <a:ext cx="2194560" cy="320040"/>
          </a:xfrm>
          <a:prstGeom prst="rect">
            <a:avLst/>
          </a:prstGeom>
          <a:noFill/>
        </p:spPr>
        <p:txBody>
          <a:bodyPr wrap="square">
            <a:spAutoFit/>
          </a:bodyPr>
          <a:lstStyle/>
          <a:p>
            <a:pPr algn="l">
              <a:lnSpc>
                <a:spcPct val="100000"/>
              </a:lnSpc>
            </a:pPr>
            <a:r>
              <a:rPr sz="1300" b="1" i="0">
                <a:solidFill>
                  <a:srgbClr val="1B2A3A"/>
                </a:solidFill>
                <a:latin typeface="Calibri"/>
              </a:rPr>
              <a:t>3 switches</a:t>
            </a:r>
          </a:p>
        </p:txBody>
      </p:sp>
      <p:sp>
        <p:nvSpPr>
          <p:cNvPr id="8" name="Rectangle 7"/>
          <p:cNvSpPr/>
          <p:nvPr/>
        </p:nvSpPr>
        <p:spPr>
          <a:xfrm>
            <a:off x="548640" y="1984248"/>
            <a:ext cx="11109960" cy="457200"/>
          </a:xfrm>
          <a:prstGeom prst="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011680"/>
            <a:ext cx="4389120" cy="365760"/>
          </a:xfrm>
          <a:prstGeom prst="rect">
            <a:avLst/>
          </a:prstGeom>
          <a:noFill/>
        </p:spPr>
        <p:txBody>
          <a:bodyPr wrap="square">
            <a:spAutoFit/>
          </a:bodyPr>
          <a:lstStyle/>
          <a:p>
            <a:pPr algn="l">
              <a:lnSpc>
                <a:spcPct val="100000"/>
              </a:lnSpc>
            </a:pPr>
            <a:r>
              <a:rPr sz="1300" b="0" i="0">
                <a:solidFill>
                  <a:srgbClr val="22252A"/>
                </a:solidFill>
                <a:latin typeface="Calibri"/>
              </a:rPr>
              <a:t>Base (trained on single skills)</a:t>
            </a:r>
          </a:p>
        </p:txBody>
      </p:sp>
      <p:sp>
        <p:nvSpPr>
          <p:cNvPr id="10" name="TextBox 9"/>
          <p:cNvSpPr txBox="1"/>
          <p:nvPr/>
        </p:nvSpPr>
        <p:spPr>
          <a:xfrm>
            <a:off x="5486400" y="2011680"/>
            <a:ext cx="1828800" cy="365760"/>
          </a:xfrm>
          <a:prstGeom prst="rect">
            <a:avLst/>
          </a:prstGeom>
          <a:noFill/>
        </p:spPr>
        <p:txBody>
          <a:bodyPr wrap="square">
            <a:spAutoFit/>
          </a:bodyPr>
          <a:lstStyle/>
          <a:p>
            <a:pPr algn="l">
              <a:lnSpc>
                <a:spcPct val="100000"/>
              </a:lnSpc>
            </a:pPr>
            <a:r>
              <a:rPr sz="1300" b="0" i="0">
                <a:solidFill>
                  <a:srgbClr val="22252A"/>
                </a:solidFill>
                <a:latin typeface="Calibri"/>
              </a:rPr>
              <a:t>2</a:t>
            </a:r>
          </a:p>
        </p:txBody>
      </p:sp>
      <p:sp>
        <p:nvSpPr>
          <p:cNvPr id="11" name="TextBox 10"/>
          <p:cNvSpPr txBox="1"/>
          <p:nvPr/>
        </p:nvSpPr>
        <p:spPr>
          <a:xfrm>
            <a:off x="7406640" y="2011680"/>
            <a:ext cx="1828800" cy="365760"/>
          </a:xfrm>
          <a:prstGeom prst="rect">
            <a:avLst/>
          </a:prstGeom>
          <a:noFill/>
        </p:spPr>
        <p:txBody>
          <a:bodyPr wrap="square">
            <a:spAutoFit/>
          </a:bodyPr>
          <a:lstStyle/>
          <a:p>
            <a:pPr algn="l">
              <a:lnSpc>
                <a:spcPct val="100000"/>
              </a:lnSpc>
            </a:pPr>
            <a:r>
              <a:rPr sz="1300" b="0" i="0">
                <a:solidFill>
                  <a:srgbClr val="22252A"/>
                </a:solidFill>
                <a:latin typeface="Calibri"/>
              </a:rPr>
              <a:t>2</a:t>
            </a:r>
          </a:p>
        </p:txBody>
      </p:sp>
      <p:sp>
        <p:nvSpPr>
          <p:cNvPr id="12" name="TextBox 11"/>
          <p:cNvSpPr txBox="1"/>
          <p:nvPr/>
        </p:nvSpPr>
        <p:spPr>
          <a:xfrm>
            <a:off x="9326880" y="2011680"/>
            <a:ext cx="1828800" cy="365760"/>
          </a:xfrm>
          <a:prstGeom prst="rect">
            <a:avLst/>
          </a:prstGeom>
          <a:noFill/>
        </p:spPr>
        <p:txBody>
          <a:bodyPr wrap="square">
            <a:spAutoFit/>
          </a:bodyPr>
          <a:lstStyle/>
          <a:p>
            <a:pPr algn="l">
              <a:lnSpc>
                <a:spcPct val="100000"/>
              </a:lnSpc>
            </a:pPr>
            <a:r>
              <a:rPr sz="1300" b="0" i="0">
                <a:solidFill>
                  <a:srgbClr val="22252A"/>
                </a:solidFill>
                <a:latin typeface="Calibri"/>
              </a:rPr>
              <a:t>2</a:t>
            </a:r>
          </a:p>
        </p:txBody>
      </p:sp>
      <p:sp>
        <p:nvSpPr>
          <p:cNvPr id="13" name="Rectangle 12"/>
          <p:cNvSpPr/>
          <p:nvPr/>
        </p:nvSpPr>
        <p:spPr>
          <a:xfrm>
            <a:off x="548640" y="2496312"/>
            <a:ext cx="11109960" cy="457200"/>
          </a:xfrm>
          <a:prstGeom prst="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523744"/>
            <a:ext cx="4389120" cy="365760"/>
          </a:xfrm>
          <a:prstGeom prst="rect">
            <a:avLst/>
          </a:prstGeom>
          <a:noFill/>
        </p:spPr>
        <p:txBody>
          <a:bodyPr wrap="square">
            <a:spAutoFit/>
          </a:bodyPr>
          <a:lstStyle/>
          <a:p>
            <a:pPr algn="l">
              <a:lnSpc>
                <a:spcPct val="100000"/>
              </a:lnSpc>
            </a:pPr>
            <a:r>
              <a:rPr sz="1300" b="0" i="0">
                <a:solidFill>
                  <a:srgbClr val="22252A"/>
                </a:solidFill>
                <a:latin typeface="Calibri"/>
              </a:rPr>
              <a:t>GMT (general tracker)</a:t>
            </a:r>
          </a:p>
        </p:txBody>
      </p:sp>
      <p:sp>
        <p:nvSpPr>
          <p:cNvPr id="15" name="TextBox 14"/>
          <p:cNvSpPr txBox="1"/>
          <p:nvPr/>
        </p:nvSpPr>
        <p:spPr>
          <a:xfrm>
            <a:off x="5486400" y="2523744"/>
            <a:ext cx="1828800" cy="365760"/>
          </a:xfrm>
          <a:prstGeom prst="rect">
            <a:avLst/>
          </a:prstGeom>
          <a:noFill/>
        </p:spPr>
        <p:txBody>
          <a:bodyPr wrap="square">
            <a:spAutoFit/>
          </a:bodyPr>
          <a:lstStyle/>
          <a:p>
            <a:pPr algn="l">
              <a:lnSpc>
                <a:spcPct val="100000"/>
              </a:lnSpc>
            </a:pPr>
            <a:r>
              <a:rPr sz="1300" b="0" i="0">
                <a:solidFill>
                  <a:srgbClr val="22252A"/>
                </a:solidFill>
                <a:latin typeface="Calibri"/>
              </a:rPr>
              <a:t>30</a:t>
            </a:r>
          </a:p>
        </p:txBody>
      </p:sp>
      <p:sp>
        <p:nvSpPr>
          <p:cNvPr id="16" name="TextBox 15"/>
          <p:cNvSpPr txBox="1"/>
          <p:nvPr/>
        </p:nvSpPr>
        <p:spPr>
          <a:xfrm>
            <a:off x="7406640" y="2523744"/>
            <a:ext cx="1828800" cy="365760"/>
          </a:xfrm>
          <a:prstGeom prst="rect">
            <a:avLst/>
          </a:prstGeom>
          <a:noFill/>
        </p:spPr>
        <p:txBody>
          <a:bodyPr wrap="square">
            <a:spAutoFit/>
          </a:bodyPr>
          <a:lstStyle/>
          <a:p>
            <a:pPr algn="l">
              <a:lnSpc>
                <a:spcPct val="100000"/>
              </a:lnSpc>
            </a:pPr>
            <a:r>
              <a:rPr sz="1300" b="0" i="0">
                <a:solidFill>
                  <a:srgbClr val="22252A"/>
                </a:solidFill>
                <a:latin typeface="Calibri"/>
              </a:rPr>
              <a:t>10</a:t>
            </a:r>
          </a:p>
        </p:txBody>
      </p:sp>
      <p:sp>
        <p:nvSpPr>
          <p:cNvPr id="17" name="TextBox 16"/>
          <p:cNvSpPr txBox="1"/>
          <p:nvPr/>
        </p:nvSpPr>
        <p:spPr>
          <a:xfrm>
            <a:off x="9326880" y="2523744"/>
            <a:ext cx="1828800" cy="365760"/>
          </a:xfrm>
          <a:prstGeom prst="rect">
            <a:avLst/>
          </a:prstGeom>
          <a:noFill/>
        </p:spPr>
        <p:txBody>
          <a:bodyPr wrap="square">
            <a:spAutoFit/>
          </a:bodyPr>
          <a:lstStyle/>
          <a:p>
            <a:pPr algn="l">
              <a:lnSpc>
                <a:spcPct val="100000"/>
              </a:lnSpc>
            </a:pPr>
            <a:r>
              <a:rPr sz="1300" b="0" i="0">
                <a:solidFill>
                  <a:srgbClr val="22252A"/>
                </a:solidFill>
                <a:latin typeface="Calibri"/>
              </a:rPr>
              <a:t>2</a:t>
            </a:r>
          </a:p>
        </p:txBody>
      </p:sp>
      <p:sp>
        <p:nvSpPr>
          <p:cNvPr id="18" name="Rectangle 17"/>
          <p:cNvSpPr/>
          <p:nvPr/>
        </p:nvSpPr>
        <p:spPr>
          <a:xfrm>
            <a:off x="548640" y="3008376"/>
            <a:ext cx="11109960" cy="457200"/>
          </a:xfrm>
          <a:prstGeom prst="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035808"/>
            <a:ext cx="4389120" cy="365760"/>
          </a:xfrm>
          <a:prstGeom prst="rect">
            <a:avLst/>
          </a:prstGeom>
          <a:noFill/>
        </p:spPr>
        <p:txBody>
          <a:bodyPr wrap="square">
            <a:spAutoFit/>
          </a:bodyPr>
          <a:lstStyle/>
          <a:p>
            <a:pPr algn="l">
              <a:lnSpc>
                <a:spcPct val="100000"/>
              </a:lnSpc>
            </a:pPr>
            <a:r>
              <a:rPr sz="1300" b="0" i="0">
                <a:solidFill>
                  <a:srgbClr val="22252A"/>
                </a:solidFill>
                <a:latin typeface="Calibri"/>
              </a:rPr>
              <a:t>Base + skill graph</a:t>
            </a:r>
          </a:p>
        </p:txBody>
      </p:sp>
      <p:sp>
        <p:nvSpPr>
          <p:cNvPr id="20" name="TextBox 19"/>
          <p:cNvSpPr txBox="1"/>
          <p:nvPr/>
        </p:nvSpPr>
        <p:spPr>
          <a:xfrm>
            <a:off x="5486400" y="3035808"/>
            <a:ext cx="1828800" cy="365760"/>
          </a:xfrm>
          <a:prstGeom prst="rect">
            <a:avLst/>
          </a:prstGeom>
          <a:noFill/>
        </p:spPr>
        <p:txBody>
          <a:bodyPr wrap="square">
            <a:spAutoFit/>
          </a:bodyPr>
          <a:lstStyle/>
          <a:p>
            <a:pPr algn="l">
              <a:lnSpc>
                <a:spcPct val="100000"/>
              </a:lnSpc>
            </a:pPr>
            <a:r>
              <a:rPr sz="1300" b="0" i="0">
                <a:solidFill>
                  <a:srgbClr val="22252A"/>
                </a:solidFill>
                <a:latin typeface="Calibri"/>
              </a:rPr>
              <a:t>100</a:t>
            </a:r>
          </a:p>
        </p:txBody>
      </p:sp>
      <p:sp>
        <p:nvSpPr>
          <p:cNvPr id="21" name="TextBox 20"/>
          <p:cNvSpPr txBox="1"/>
          <p:nvPr/>
        </p:nvSpPr>
        <p:spPr>
          <a:xfrm>
            <a:off x="7406640" y="3035808"/>
            <a:ext cx="1828800" cy="365760"/>
          </a:xfrm>
          <a:prstGeom prst="rect">
            <a:avLst/>
          </a:prstGeom>
          <a:noFill/>
        </p:spPr>
        <p:txBody>
          <a:bodyPr wrap="square">
            <a:spAutoFit/>
          </a:bodyPr>
          <a:lstStyle/>
          <a:p>
            <a:pPr algn="l">
              <a:lnSpc>
                <a:spcPct val="100000"/>
              </a:lnSpc>
            </a:pPr>
            <a:r>
              <a:rPr sz="1300" b="0" i="0">
                <a:solidFill>
                  <a:srgbClr val="22252A"/>
                </a:solidFill>
                <a:latin typeface="Calibri"/>
              </a:rPr>
              <a:t>100</a:t>
            </a:r>
          </a:p>
        </p:txBody>
      </p:sp>
      <p:sp>
        <p:nvSpPr>
          <p:cNvPr id="22" name="TextBox 21"/>
          <p:cNvSpPr txBox="1"/>
          <p:nvPr/>
        </p:nvSpPr>
        <p:spPr>
          <a:xfrm>
            <a:off x="9326880" y="3035808"/>
            <a:ext cx="1828800" cy="365760"/>
          </a:xfrm>
          <a:prstGeom prst="rect">
            <a:avLst/>
          </a:prstGeom>
          <a:noFill/>
        </p:spPr>
        <p:txBody>
          <a:bodyPr wrap="square">
            <a:spAutoFit/>
          </a:bodyPr>
          <a:lstStyle/>
          <a:p>
            <a:pPr algn="l">
              <a:lnSpc>
                <a:spcPct val="100000"/>
              </a:lnSpc>
            </a:pPr>
            <a:r>
              <a:rPr sz="1300" b="0" i="0">
                <a:solidFill>
                  <a:srgbClr val="22252A"/>
                </a:solidFill>
                <a:latin typeface="Calibri"/>
              </a:rPr>
              <a:t>100</a:t>
            </a:r>
          </a:p>
        </p:txBody>
      </p:sp>
      <p:sp>
        <p:nvSpPr>
          <p:cNvPr id="23" name="Rectangle 22"/>
          <p:cNvSpPr/>
          <p:nvPr/>
        </p:nvSpPr>
        <p:spPr>
          <a:xfrm>
            <a:off x="548640" y="3520440"/>
            <a:ext cx="11109960" cy="457200"/>
          </a:xfrm>
          <a:prstGeom prst="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547872"/>
            <a:ext cx="4389120" cy="365760"/>
          </a:xfrm>
          <a:prstGeom prst="rect">
            <a:avLst/>
          </a:prstGeom>
          <a:noFill/>
        </p:spPr>
        <p:txBody>
          <a:bodyPr wrap="square">
            <a:spAutoFit/>
          </a:bodyPr>
          <a:lstStyle/>
          <a:p>
            <a:pPr algn="l">
              <a:lnSpc>
                <a:spcPct val="100000"/>
              </a:lnSpc>
            </a:pPr>
            <a:r>
              <a:rPr sz="1300" b="0" i="0">
                <a:solidFill>
                  <a:srgbClr val="22252A"/>
                </a:solidFill>
                <a:latin typeface="Calibri"/>
              </a:rPr>
              <a:t>Base + skill graph + buffer frames</a:t>
            </a:r>
          </a:p>
        </p:txBody>
      </p:sp>
      <p:sp>
        <p:nvSpPr>
          <p:cNvPr id="25" name="TextBox 24"/>
          <p:cNvSpPr txBox="1"/>
          <p:nvPr/>
        </p:nvSpPr>
        <p:spPr>
          <a:xfrm>
            <a:off x="5486400" y="3547872"/>
            <a:ext cx="1828800" cy="365760"/>
          </a:xfrm>
          <a:prstGeom prst="rect">
            <a:avLst/>
          </a:prstGeom>
          <a:noFill/>
        </p:spPr>
        <p:txBody>
          <a:bodyPr wrap="square">
            <a:spAutoFit/>
          </a:bodyPr>
          <a:lstStyle/>
          <a:p>
            <a:pPr algn="l">
              <a:lnSpc>
                <a:spcPct val="100000"/>
              </a:lnSpc>
            </a:pPr>
            <a:r>
              <a:rPr sz="1300" b="0" i="0">
                <a:solidFill>
                  <a:srgbClr val="22252A"/>
                </a:solidFill>
                <a:latin typeface="Calibri"/>
              </a:rPr>
              <a:t>100</a:t>
            </a:r>
          </a:p>
        </p:txBody>
      </p:sp>
      <p:sp>
        <p:nvSpPr>
          <p:cNvPr id="26" name="TextBox 25"/>
          <p:cNvSpPr txBox="1"/>
          <p:nvPr/>
        </p:nvSpPr>
        <p:spPr>
          <a:xfrm>
            <a:off x="7406640" y="3547872"/>
            <a:ext cx="1828800" cy="365760"/>
          </a:xfrm>
          <a:prstGeom prst="rect">
            <a:avLst/>
          </a:prstGeom>
          <a:noFill/>
        </p:spPr>
        <p:txBody>
          <a:bodyPr wrap="square">
            <a:spAutoFit/>
          </a:bodyPr>
          <a:lstStyle/>
          <a:p>
            <a:pPr algn="l">
              <a:lnSpc>
                <a:spcPct val="100000"/>
              </a:lnSpc>
            </a:pPr>
            <a:r>
              <a:rPr sz="1300" b="0" i="0">
                <a:solidFill>
                  <a:srgbClr val="22252A"/>
                </a:solidFill>
                <a:latin typeface="Calibri"/>
              </a:rPr>
              <a:t>100</a:t>
            </a:r>
          </a:p>
        </p:txBody>
      </p:sp>
      <p:sp>
        <p:nvSpPr>
          <p:cNvPr id="27" name="TextBox 26"/>
          <p:cNvSpPr txBox="1"/>
          <p:nvPr/>
        </p:nvSpPr>
        <p:spPr>
          <a:xfrm>
            <a:off x="9326880" y="3547872"/>
            <a:ext cx="1828800" cy="365760"/>
          </a:xfrm>
          <a:prstGeom prst="rect">
            <a:avLst/>
          </a:prstGeom>
          <a:noFill/>
        </p:spPr>
        <p:txBody>
          <a:bodyPr wrap="square">
            <a:spAutoFit/>
          </a:bodyPr>
          <a:lstStyle/>
          <a:p>
            <a:pPr algn="l">
              <a:lnSpc>
                <a:spcPct val="100000"/>
              </a:lnSpc>
            </a:pPr>
            <a:r>
              <a:rPr sz="1300" b="0" i="0">
                <a:solidFill>
                  <a:srgbClr val="22252A"/>
                </a:solidFill>
                <a:latin typeface="Calibri"/>
              </a:rPr>
              <a:t>100</a:t>
            </a:r>
          </a:p>
        </p:txBody>
      </p:sp>
      <p:sp>
        <p:nvSpPr>
          <p:cNvPr id="28" name="Rectangle 27"/>
          <p:cNvSpPr/>
          <p:nvPr/>
        </p:nvSpPr>
        <p:spPr>
          <a:xfrm>
            <a:off x="548640" y="4032504"/>
            <a:ext cx="11109960" cy="457200"/>
          </a:xfrm>
          <a:prstGeom prst="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059936"/>
            <a:ext cx="4389120" cy="365760"/>
          </a:xfrm>
          <a:prstGeom prst="rect">
            <a:avLst/>
          </a:prstGeom>
          <a:noFill/>
        </p:spPr>
        <p:txBody>
          <a:bodyPr wrap="square">
            <a:spAutoFit/>
          </a:bodyPr>
          <a:lstStyle/>
          <a:p>
            <a:pPr algn="l">
              <a:lnSpc>
                <a:spcPct val="100000"/>
              </a:lnSpc>
            </a:pPr>
            <a:r>
              <a:rPr sz="1300" b="1" i="0">
                <a:solidFill>
                  <a:srgbClr val="22252A"/>
                </a:solidFill>
                <a:latin typeface="Calibri"/>
              </a:rPr>
              <a:t>Full Switch (+ foot contact reward)</a:t>
            </a:r>
          </a:p>
        </p:txBody>
      </p:sp>
      <p:sp>
        <p:nvSpPr>
          <p:cNvPr id="30" name="TextBox 29"/>
          <p:cNvSpPr txBox="1"/>
          <p:nvPr/>
        </p:nvSpPr>
        <p:spPr>
          <a:xfrm>
            <a:off x="5486400" y="4059936"/>
            <a:ext cx="1828800" cy="365760"/>
          </a:xfrm>
          <a:prstGeom prst="rect">
            <a:avLst/>
          </a:prstGeom>
          <a:noFill/>
        </p:spPr>
        <p:txBody>
          <a:bodyPr wrap="square">
            <a:spAutoFit/>
          </a:bodyPr>
          <a:lstStyle/>
          <a:p>
            <a:pPr algn="l">
              <a:lnSpc>
                <a:spcPct val="100000"/>
              </a:lnSpc>
            </a:pPr>
            <a:r>
              <a:rPr sz="1300" b="1" i="0">
                <a:solidFill>
                  <a:srgbClr val="22252A"/>
                </a:solidFill>
                <a:latin typeface="Calibri"/>
              </a:rPr>
              <a:t>100</a:t>
            </a:r>
          </a:p>
        </p:txBody>
      </p:sp>
      <p:sp>
        <p:nvSpPr>
          <p:cNvPr id="31" name="TextBox 30"/>
          <p:cNvSpPr txBox="1"/>
          <p:nvPr/>
        </p:nvSpPr>
        <p:spPr>
          <a:xfrm>
            <a:off x="7406640" y="4059936"/>
            <a:ext cx="1828800" cy="365760"/>
          </a:xfrm>
          <a:prstGeom prst="rect">
            <a:avLst/>
          </a:prstGeom>
          <a:noFill/>
        </p:spPr>
        <p:txBody>
          <a:bodyPr wrap="square">
            <a:spAutoFit/>
          </a:bodyPr>
          <a:lstStyle/>
          <a:p>
            <a:pPr algn="l">
              <a:lnSpc>
                <a:spcPct val="100000"/>
              </a:lnSpc>
            </a:pPr>
            <a:r>
              <a:rPr sz="1300" b="1" i="0">
                <a:solidFill>
                  <a:srgbClr val="22252A"/>
                </a:solidFill>
                <a:latin typeface="Calibri"/>
              </a:rPr>
              <a:t>100</a:t>
            </a:r>
          </a:p>
        </p:txBody>
      </p:sp>
      <p:sp>
        <p:nvSpPr>
          <p:cNvPr id="32" name="TextBox 31"/>
          <p:cNvSpPr txBox="1"/>
          <p:nvPr/>
        </p:nvSpPr>
        <p:spPr>
          <a:xfrm>
            <a:off x="9326880" y="4059936"/>
            <a:ext cx="1828800" cy="365760"/>
          </a:xfrm>
          <a:prstGeom prst="rect">
            <a:avLst/>
          </a:prstGeom>
          <a:noFill/>
        </p:spPr>
        <p:txBody>
          <a:bodyPr wrap="square">
            <a:spAutoFit/>
          </a:bodyPr>
          <a:lstStyle/>
          <a:p>
            <a:pPr algn="l">
              <a:lnSpc>
                <a:spcPct val="100000"/>
              </a:lnSpc>
            </a:pPr>
            <a:r>
              <a:rPr sz="1300" b="1" i="0">
                <a:solidFill>
                  <a:srgbClr val="22252A"/>
                </a:solidFill>
                <a:latin typeface="Calibri"/>
              </a:rPr>
              <a:t>100</a:t>
            </a:r>
          </a:p>
        </p:txBody>
      </p:sp>
      <p:sp>
        <p:nvSpPr>
          <p:cNvPr id="33" name="TextBox 32"/>
          <p:cNvSpPr txBox="1"/>
          <p:nvPr/>
        </p:nvSpPr>
        <p:spPr>
          <a:xfrm>
            <a:off x="640080" y="4663440"/>
            <a:ext cx="10881360" cy="365760"/>
          </a:xfrm>
          <a:prstGeom prst="rect">
            <a:avLst/>
          </a:prstGeom>
          <a:noFill/>
        </p:spPr>
        <p:txBody>
          <a:bodyPr wrap="square">
            <a:spAutoFit/>
          </a:bodyPr>
          <a:lstStyle/>
          <a:p>
            <a:pPr algn="l">
              <a:lnSpc>
                <a:spcPct val="100000"/>
              </a:lnSpc>
            </a:pPr>
            <a:r>
              <a:rPr sz="1300" b="0" i="0">
                <a:solidFill>
                  <a:srgbClr val="22252A"/>
                </a:solidFill>
                <a:latin typeface="Calibri"/>
              </a:rPr>
              <a:t>Whole-body position error, Switch vs GMT (m, Table II): 0.075 vs 0.396, 0.090 vs 0.491, 0.098 vs 0.588 for 1, 2 and 3 switches.</a:t>
            </a:r>
          </a:p>
        </p:txBody>
      </p:sp>
      <p:sp>
        <p:nvSpPr>
          <p:cNvPr id="34" name="TextBox 33"/>
          <p:cNvSpPr txBox="1"/>
          <p:nvPr/>
        </p:nvSpPr>
        <p:spPr>
          <a:xfrm>
            <a:off x="640080" y="5120640"/>
            <a:ext cx="10881360" cy="1097280"/>
          </a:xfrm>
          <a:prstGeom prst="rect">
            <a:avLst/>
          </a:prstGeom>
          <a:noFill/>
        </p:spPr>
        <p:txBody>
          <a:bodyPr wrap="square">
            <a:spAutoFit/>
          </a:bodyPr>
          <a:lstStyle/>
          <a:p>
            <a:pPr algn="l">
              <a:lnSpc>
                <a:spcPct val="120000"/>
              </a:lnSpc>
            </a:pPr>
            <a:r>
              <a:rPr sz="1250" b="0" i="0">
                <a:solidFill>
                  <a:srgbClr val="5A6068"/>
                </a:solidFill>
                <a:latin typeface="Calibri"/>
              </a:rPr>
              <a:t>Policies trained in IsaacGym, tested in MuJoCo, four skills, 50 trials per difficulty. A trial counts as failed if the root-relative average body position error passes 0.5 m at any point. Fifty evaluation trials are not fifty training runs. The buffer frames and contact reward cannot raise a column that is already at 100, and some velocity and acceleration errors did not improve. These are their results, not mine.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Core values for my project</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What I would take from it, and what it does not show</a:t>
            </a:r>
          </a:p>
        </p:txBody>
      </p:sp>
      <p:sp>
        <p:nvSpPr>
          <p:cNvPr id="4" name="Rounded Rectangle 3"/>
          <p:cNvSpPr/>
          <p:nvPr/>
        </p:nvSpPr>
        <p:spPr>
          <a:xfrm>
            <a:off x="548640" y="1737360"/>
            <a:ext cx="3566160" cy="393192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What I would use</a:t>
            </a:r>
          </a:p>
        </p:txBody>
      </p:sp>
      <p:sp>
        <p:nvSpPr>
          <p:cNvPr id="6" name="TextBox 5"/>
          <p:cNvSpPr txBox="1"/>
          <p:nvPr/>
        </p:nvSpPr>
        <p:spPr>
          <a:xfrm>
            <a:off x="804672" y="2359152"/>
            <a:ext cx="3054096" cy="3172967"/>
          </a:xfrm>
          <a:prstGeom prst="rect">
            <a:avLst/>
          </a:prstGeom>
          <a:noFill/>
        </p:spPr>
        <p:txBody>
          <a:bodyPr wrap="square">
            <a:spAutoFit/>
          </a:bodyPr>
          <a:lstStyle/>
          <a:p>
            <a:pPr algn="l">
              <a:lnSpc>
                <a:spcPct val="112000"/>
              </a:lnSpc>
            </a:pPr>
            <a:r>
              <a:rPr sz="1450" b="0" i="0">
                <a:solidFill>
                  <a:srgbClr val="22252A"/>
                </a:solidFill>
                <a:latin typeface="Calibri"/>
              </a:rPr>
              <a:t>Treat the handoff as part of the experiment. Compare plain switching with a transition-aware controller, measure whether the complete walk, run and jump chain succeeds, and look at the failed landings. These are experiments I propose; none has been run.</a:t>
            </a:r>
          </a:p>
        </p:txBody>
      </p:sp>
      <p:sp>
        <p:nvSpPr>
          <p:cNvPr id="7" name="Rounded Rectangle 6"/>
          <p:cNvSpPr/>
          <p:nvPr/>
        </p:nvSpPr>
        <p:spPr>
          <a:xfrm>
            <a:off x="4315968" y="1737360"/>
            <a:ext cx="3566160" cy="393192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What it does not show</a:t>
            </a:r>
          </a:p>
        </p:txBody>
      </p:sp>
      <p:sp>
        <p:nvSpPr>
          <p:cNvPr id="9" name="TextBox 8"/>
          <p:cNvSpPr txBox="1"/>
          <p:nvPr/>
        </p:nvSpPr>
        <p:spPr>
          <a:xfrm>
            <a:off x="4572000" y="2359152"/>
            <a:ext cx="3054096" cy="3172967"/>
          </a:xfrm>
          <a:prstGeom prst="rect">
            <a:avLst/>
          </a:prstGeom>
          <a:noFill/>
        </p:spPr>
        <p:txBody>
          <a:bodyPr wrap="square">
            <a:spAutoFit/>
          </a:bodyPr>
          <a:lstStyle/>
          <a:p>
            <a:pPr algn="l">
              <a:lnSpc>
                <a:spcPct val="112000"/>
              </a:lnSpc>
            </a:pPr>
            <a:r>
              <a:rPr sz="1450" b="0" i="0">
                <a:solidFill>
                  <a:srgbClr val="22252A"/>
                </a:solidFill>
                <a:latin typeface="Calibri"/>
              </a:rPr>
              <a:t>Their robot is a G1, not the R1. Skills they show include kicks, Kung Fu, dance and getting up, not my walk, run and jump. Their 100% belongs to their tests. I did not find an author code release.</a:t>
            </a:r>
          </a:p>
        </p:txBody>
      </p:sp>
      <p:sp>
        <p:nvSpPr>
          <p:cNvPr id="10" name="Rounded Rectangle 9"/>
          <p:cNvSpPr/>
          <p:nvPr/>
        </p:nvSpPr>
        <p:spPr>
          <a:xfrm>
            <a:off x="8083296" y="1737360"/>
            <a:ext cx="3566160" cy="393192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9327"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How it differs from my plan</a:t>
            </a:r>
          </a:p>
        </p:txBody>
      </p:sp>
      <p:sp>
        <p:nvSpPr>
          <p:cNvPr id="12" name="TextBox 11"/>
          <p:cNvSpPr txBox="1"/>
          <p:nvPr/>
        </p:nvSpPr>
        <p:spPr>
          <a:xfrm>
            <a:off x="8339327" y="2359152"/>
            <a:ext cx="3054096" cy="3172967"/>
          </a:xfrm>
          <a:prstGeom prst="rect">
            <a:avLst/>
          </a:prstGeom>
          <a:noFill/>
        </p:spPr>
        <p:txBody>
          <a:bodyPr wrap="square">
            <a:spAutoFit/>
          </a:bodyPr>
          <a:lstStyle/>
          <a:p>
            <a:pPr algn="l">
              <a:lnSpc>
                <a:spcPct val="112000"/>
              </a:lnSpc>
            </a:pPr>
            <a:r>
              <a:rPr sz="1450" b="0" i="0">
                <a:solidFill>
                  <a:srgbClr val="22252A"/>
                </a:solidFill>
                <a:latin typeface="Calibri"/>
              </a:rPr>
              <a:t>Switch trains one tracker on the transitions. My first idea was one separate policy per skill. Separate policies stay as a baseline to compare against, and a shared tracker is the fallback if switching them fails.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Why fluent is harder than it sounds</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Three tracked clips are not a game</a:t>
            </a:r>
          </a:p>
        </p:txBody>
      </p:sp>
      <p:sp>
        <p:nvSpPr>
          <p:cNvPr id="4" name="Oval 3"/>
          <p:cNvSpPr/>
          <p:nvPr/>
        </p:nvSpPr>
        <p:spPr>
          <a:xfrm>
            <a:off x="640080" y="1828800"/>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19" y="1691639"/>
            <a:ext cx="10561320" cy="713232"/>
          </a:xfrm>
          <a:prstGeom prst="rect">
            <a:avLst/>
          </a:prstGeom>
          <a:noFill/>
        </p:spPr>
        <p:txBody>
          <a:bodyPr wrap="square">
            <a:spAutoFit/>
          </a:bodyPr>
          <a:lstStyle/>
          <a:p>
            <a:pPr algn="l">
              <a:lnSpc>
                <a:spcPct val="112000"/>
              </a:lnSpc>
            </a:pPr>
            <a:r>
              <a:rPr sz="1450" b="0" i="0">
                <a:solidFill>
                  <a:srgbClr val="22252A"/>
                </a:solidFill>
                <a:latin typeface="Calibri"/>
              </a:rPr>
              <a:t>A policy that tracks one walking clip does not walk in an arbitrary direction or speed. The game needs a walk I can steer.</a:t>
            </a:r>
          </a:p>
        </p:txBody>
      </p:sp>
      <p:sp>
        <p:nvSpPr>
          <p:cNvPr id="6" name="Oval 5"/>
          <p:cNvSpPr/>
          <p:nvPr/>
        </p:nvSpPr>
        <p:spPr>
          <a:xfrm>
            <a:off x="640080" y="2633472"/>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2496312"/>
            <a:ext cx="10561320" cy="713232"/>
          </a:xfrm>
          <a:prstGeom prst="rect">
            <a:avLst/>
          </a:prstGeom>
          <a:noFill/>
        </p:spPr>
        <p:txBody>
          <a:bodyPr wrap="square">
            <a:spAutoFit/>
          </a:bodyPr>
          <a:lstStyle/>
          <a:p>
            <a:pPr algn="l">
              <a:lnSpc>
                <a:spcPct val="112000"/>
              </a:lnSpc>
            </a:pPr>
            <a:r>
              <a:rPr sz="1450" b="0" i="0">
                <a:solidFill>
                  <a:srgbClr val="22252A"/>
                </a:solidFill>
                <a:latin typeface="Calibri"/>
              </a:rPr>
              <a:t>Switching needs the end of one skill to match the start of the next: matching speed, heading, and a stable posture.</a:t>
            </a:r>
          </a:p>
        </p:txBody>
      </p:sp>
      <p:sp>
        <p:nvSpPr>
          <p:cNvPr id="8" name="Oval 7"/>
          <p:cNvSpPr/>
          <p:nvPr/>
        </p:nvSpPr>
        <p:spPr>
          <a:xfrm>
            <a:off x="640080" y="3438144"/>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3300984"/>
            <a:ext cx="10561320" cy="402336"/>
          </a:xfrm>
          <a:prstGeom prst="rect">
            <a:avLst/>
          </a:prstGeom>
          <a:noFill/>
        </p:spPr>
        <p:txBody>
          <a:bodyPr wrap="square">
            <a:spAutoFit/>
          </a:bodyPr>
          <a:lstStyle/>
          <a:p>
            <a:pPr algn="l">
              <a:lnSpc>
                <a:spcPct val="112000"/>
              </a:lnSpc>
            </a:pPr>
            <a:r>
              <a:rPr sz="1450" b="0" i="0">
                <a:solidFill>
                  <a:srgbClr val="22252A"/>
                </a:solidFill>
                <a:latin typeface="Calibri"/>
              </a:rPr>
              <a:t>Jumping adds a landing, so the switcher needs a recovery path when a landing goes wrong.</a:t>
            </a:r>
          </a:p>
        </p:txBody>
      </p:sp>
      <p:sp>
        <p:nvSpPr>
          <p:cNvPr id="10" name="Oval 9"/>
          <p:cNvSpPr/>
          <p:nvPr/>
        </p:nvSpPr>
        <p:spPr>
          <a:xfrm>
            <a:off x="640080" y="3931920"/>
            <a:ext cx="128016" cy="128016"/>
          </a:xfrm>
          <a:prstGeom prst="ellipse">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19" y="3794760"/>
            <a:ext cx="10561320" cy="402336"/>
          </a:xfrm>
          <a:prstGeom prst="rect">
            <a:avLst/>
          </a:prstGeom>
          <a:noFill/>
        </p:spPr>
        <p:txBody>
          <a:bodyPr wrap="square">
            <a:spAutoFit/>
          </a:bodyPr>
          <a:lstStyle/>
          <a:p>
            <a:pPr algn="l">
              <a:lnSpc>
                <a:spcPct val="112000"/>
              </a:lnSpc>
            </a:pPr>
            <a:r>
              <a:rPr sz="1450" b="0" i="0">
                <a:solidFill>
                  <a:srgbClr val="22252A"/>
                </a:solidFill>
                <a:latin typeface="Calibri"/>
              </a:rPr>
              <a:t>Grabbing adds hands and objects, which my pipeline does not handle yet. It comes last.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Next</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My plan, in order</a:t>
            </a:r>
          </a:p>
        </p:txBody>
      </p:sp>
      <p:sp>
        <p:nvSpPr>
          <p:cNvPr id="4" name="Rounded Rectangle 3"/>
          <p:cNvSpPr/>
          <p:nvPr/>
        </p:nvSpPr>
        <p:spPr>
          <a:xfrm>
            <a:off x="548640" y="1737360"/>
            <a:ext cx="3566160" cy="338328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1. Walk and run</a:t>
            </a:r>
          </a:p>
        </p:txBody>
      </p:sp>
      <p:sp>
        <p:nvSpPr>
          <p:cNvPr id="6" name="TextBox 5"/>
          <p:cNvSpPr txBox="1"/>
          <p:nvPr/>
        </p:nvSpPr>
        <p:spPr>
          <a:xfrm>
            <a:off x="804672" y="2359152"/>
            <a:ext cx="3054096" cy="2624327"/>
          </a:xfrm>
          <a:prstGeom prst="rect">
            <a:avLst/>
          </a:prstGeom>
          <a:noFill/>
        </p:spPr>
        <p:txBody>
          <a:bodyPr wrap="square">
            <a:spAutoFit/>
          </a:bodyPr>
          <a:lstStyle/>
          <a:p>
            <a:pPr algn="l">
              <a:lnSpc>
                <a:spcPct val="112000"/>
              </a:lnSpc>
            </a:pPr>
            <a:r>
              <a:rPr sz="1350" b="0" i="0">
                <a:solidFill>
                  <a:srgbClr val="22252A"/>
                </a:solidFill>
                <a:latin typeface="Calibri"/>
              </a:rPr>
              <a:t>Train a steerable walk and a run, and make them switch cleanly. Walk to run first.</a:t>
            </a:r>
          </a:p>
        </p:txBody>
      </p:sp>
      <p:sp>
        <p:nvSpPr>
          <p:cNvPr id="7" name="Rounded Rectangle 6"/>
          <p:cNvSpPr/>
          <p:nvPr/>
        </p:nvSpPr>
        <p:spPr>
          <a:xfrm>
            <a:off x="4315968" y="1737360"/>
            <a:ext cx="3566160" cy="338328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2. Add jump</a:t>
            </a:r>
          </a:p>
        </p:txBody>
      </p:sp>
      <p:sp>
        <p:nvSpPr>
          <p:cNvPr id="9" name="TextBox 8"/>
          <p:cNvSpPr txBox="1"/>
          <p:nvPr/>
        </p:nvSpPr>
        <p:spPr>
          <a:xfrm>
            <a:off x="4572000" y="2359152"/>
            <a:ext cx="3054096" cy="2624327"/>
          </a:xfrm>
          <a:prstGeom prst="rect">
            <a:avLst/>
          </a:prstGeom>
          <a:noFill/>
        </p:spPr>
        <p:txBody>
          <a:bodyPr wrap="square">
            <a:spAutoFit/>
          </a:bodyPr>
          <a:lstStyle/>
          <a:p>
            <a:pPr algn="l">
              <a:lnSpc>
                <a:spcPct val="112000"/>
              </a:lnSpc>
            </a:pPr>
            <a:r>
              <a:rPr sz="1350" b="0" i="0">
                <a:solidFill>
                  <a:srgbClr val="22252A"/>
                </a:solidFill>
                <a:latin typeface="Calibri"/>
              </a:rPr>
              <a:t>Add jump with a landing and a recovery, then check the whole chain in a plain MuJoCo scene.</a:t>
            </a:r>
          </a:p>
        </p:txBody>
      </p:sp>
      <p:sp>
        <p:nvSpPr>
          <p:cNvPr id="10" name="Rounded Rectangle 9"/>
          <p:cNvSpPr/>
          <p:nvPr/>
        </p:nvSpPr>
        <p:spPr>
          <a:xfrm>
            <a:off x="8083296" y="1737360"/>
            <a:ext cx="3566160" cy="338328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9327" y="1920240"/>
            <a:ext cx="3054096" cy="365760"/>
          </a:xfrm>
          <a:prstGeom prst="rect">
            <a:avLst/>
          </a:prstGeom>
          <a:noFill/>
        </p:spPr>
        <p:txBody>
          <a:bodyPr wrap="square">
            <a:spAutoFit/>
          </a:bodyPr>
          <a:lstStyle/>
          <a:p>
            <a:pPr algn="l">
              <a:lnSpc>
                <a:spcPct val="100000"/>
              </a:lnSpc>
            </a:pPr>
            <a:r>
              <a:rPr sz="1500" b="1" i="0">
                <a:solidFill>
                  <a:srgbClr val="1B2A3A"/>
                </a:solidFill>
                <a:latin typeface="Calibri"/>
              </a:rPr>
              <a:t>3. School scene</a:t>
            </a:r>
          </a:p>
        </p:txBody>
      </p:sp>
      <p:sp>
        <p:nvSpPr>
          <p:cNvPr id="12" name="TextBox 11"/>
          <p:cNvSpPr txBox="1"/>
          <p:nvPr/>
        </p:nvSpPr>
        <p:spPr>
          <a:xfrm>
            <a:off x="8339327" y="2359152"/>
            <a:ext cx="3054096" cy="2624327"/>
          </a:xfrm>
          <a:prstGeom prst="rect">
            <a:avLst/>
          </a:prstGeom>
          <a:noFill/>
        </p:spPr>
        <p:txBody>
          <a:bodyPr wrap="square">
            <a:spAutoFit/>
          </a:bodyPr>
          <a:lstStyle/>
          <a:p>
            <a:pPr algn="l">
              <a:lnSpc>
                <a:spcPct val="112000"/>
              </a:lnSpc>
            </a:pPr>
            <a:r>
              <a:rPr sz="1350" b="0" i="0">
                <a:solidFill>
                  <a:srgbClr val="22252A"/>
                </a:solidFill>
                <a:latin typeface="Calibri"/>
              </a:rPr>
              <a:t>Build the school scene and steer the R1 from one point to another. Calibrate the simulator with real R1 data when the gantry arrives.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