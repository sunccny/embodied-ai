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20 seconds.**</a:t>
            </a:r>
          </a:p>
          <a:p/>
          <a:p>
            <a:r>
              <a:t>Last week I proposed a bag of R1 skills that I can chain in a MuJoCo game. You set the first milestone: walk, run and jump, connected smoothly. This week I worked on exactly that. Everything you will see is simulation; nothing ran on the real R1, because the safety gantry has not arrived.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45 seconds.**</a:t>
            </a:r>
          </a:p>
          <a:p/>
          <a:p>
            <a:r>
              <a:t>Three questions. One: can one trained motion hand over to another, because the game needs switching. Two: can the R1 walk and run when I give it a speed, and does that survive command delay. Three: can a jump come out of my video pipeline. Together they are the first milestone. Three words I will use all the time, at the bottom: a policy is the trained controller that turns what the robot senses into motor commands; command delay is a motor command that arrives late; and sim2sim means testing the same policy in a second, separate simulator. I'll go through the questions in this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60 seconds.**</a:t>
            </a:r>
          </a:p>
          <a:p/>
          <a:p>
            <a:r>
              <a:t>The paper is submitted to L4DC; the numbers on this slide are the paper's. Its question: how much command delay can a learned motion tracker take? Five motions from video, three seeds each, checked in a second simulator. With 40 milliseconds of delay, survival drops to 15 percent; training with a random delay of up to 50 milliseconds lifts it to 95. A control with the same extra training but no delay did not improve. In the figure, orange falls off around 30 to 40 milliseconds and blue holds to about 60. Why it matters: practising with delay is the fix I reuse this week, and the walk and the jumping jacks behave the same way, so they can strengthen a later version of the paper.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 seconds.**</a:t>
            </a:r>
          </a:p>
          <a:p/>
          <a:p>
            <a:r>
              <a:t>Part one. Before training new skills, I wanted to know whether switching is even the hard part.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60 seconds.**</a:t>
            </a:r>
          </a:p>
          <a:p/>
          <a:p>
            <a:r>
              <a:t>Here is the test. Policy A, tennis or dance, plays its motion. I stop it at the end, or 30, 50 or 70 percent of the way through. Then policy B takes over from exactly that state; I only move its motion so it starts where the robot is standing. 20 runs per case, and a run counts only if the robot gets through the switch and all of motion B. I tried three ways to hand over: a direct switch, a one-second blend, and going through the default standing pose first.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45 seconds.**</a:t>
            </a:r>
          </a:p>
          <a:p/>
          <a:p>
            <a:r>
              <a:t>This is one direct switch. Watch the label: tennis is in charge, then dance takes over in one step. At the switch the robot is far from the pose dance starts from, yet it recovers and dances to the end. Why it matters: a switch can work with no extra training at 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70 seconds.**</a:t>
            </a:r>
          </a:p>
          <a:p/>
          <a:p>
            <a:r>
              <a:t>Here are all the numbers; the pink cells are the failures. The direct switch survived almost everywhere, except one case: tennis cut at 70 percent, when the arm is up in the serve, then zero out of 20. The one-second blend raised that case to 19 of 20, but another case fell to 11. And the idea I expected to be safest, going through the standing pose, was the worst: one out of 20 from dance to tennis. Why it matters: in this test, where the switch happens matters. This is two motions and a few cut points, so it is a first look, not a rule.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60 seconds.**</a:t>
            </a:r>
          </a:p>
          <a:p/>
          <a:p>
            <a:r>
              <a:t>Four things. First, neither motion starts or ends at the standing pose, so I propose clips for the skill bag that start and end standing. Second, a direct switch usually works, but not when the robot is in an extreme pose. Third, the one-second ramp was inconsistent: it helped one case and hurt another, probably because the policies were never trained on blended targets. Fourth, and most important: in one test, holding the standing pose with only the motor springs tipped the robot over in about three seconds. So the stand between skills has to be a policy that balances. That led straight to part two.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 seconds.**</a:t>
            </a:r>
          </a:p>
          <a:p/>
          <a:p>
            <a:r>
              <a:t>Part two: walking and running, and standing still when the command is zero.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65 seconds.**</a:t>
            </a:r>
          </a:p>
          <a:p/>
          <a:p>
            <a:r>
              <a:t>I did not write this task myself. Unitree publishes an open-source training repo with an R1 task that follows a speed command. I set it up in its own environment, because it needs older library versions than my tracking work, and trained it on the 5080: 4,096 simulated environments in parallel, 10,001 iterations, just under five hours. The task raises the top speed from 1 to 2 meters per second halfway through, so one run gave me both a walk and a faster version. The terminal shows the real log: 4,096 environments, and at the last iteration none of them falls. Honestly, it took three launches: the first died when I closed the session, the second trained one simulated environment because I dropped a setting.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60 seconds.**</a:t>
            </a:r>
          </a:p>
          <a:p/>
          <a:p>
            <a:r>
              <a:t>On the left, the walk: it stands, walks at half a meter per second, then one meter per second, then stops. On the right, the later checkpoint goes up to two meters per second and stops again. Near the end it seems to turn toward the camera. That is slow heading drift, about one and a half degrees per second, because nothing tells it to hold a heading. It is not a spin. Why it matters: one policy covers standing, walking and walking fast, steered only by the speed I give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70 seconds.**</a:t>
            </a:r>
          </a:p>
          <a:p/>
          <a:p>
            <a:r>
              <a:t>The numbers. These are 64 simulated runs per speed in the training simulator. Within the tested command ranges, the largest speed gap is 0.07 meters per second. The walk checkpoint was not trained above one meter per second; at two, 37 of 64 runs fall. The later checkpoint reaches 1.98. On the right, three plain facts. It is not really running: both feet are in the air only 2.7 percent of the time, so I call it a fast walk. It stops without falling. And at zero command it stands still: 192 simulated runs, 64 for each checkpoint, no falls, less than five millimeters of drift. That is the balancing stand the switch test asked for. Backwards is the least accurate. Why it matters: within the commands it was trained to follow, this is close speed control for a game.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65 seconds.**</a:t>
            </a:r>
          </a:p>
          <a:p/>
          <a:p>
            <a:r>
              <a:t>I wanted to check the policy using the input wiring in Unitree's C++ deploy code. In the parity check, the exported ONNX actor and trained Torch actor differed by at most 0.000002; that compares actor outputs only, not the full deploy inputs or hardware. The check is documented in the walk/run evaluation README, section 5. Then I found a mismatch in Unitree's shipped deploy file: it scales every joint command by 0.25, but training used a different scale per joint group, from 0.15 for the legs to 0.41 for the arms. In this CPU simulation, with the shipped file, the policy falls in every walking run, usually within two seconds and always within three. Why it matters: the shipped settings failed in simulation, before any real test. My corrected copy is ready for a later real test.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65 seconds.**</a:t>
            </a:r>
          </a:p>
          <a:p/>
          <a:p>
            <a:r>
              <a:t>In this CPU simulation, the weakest skill under command delay was standing. At 40 milliseconds the base policy fell in four of ten standing runs. In the terminal, the top block is the base policy at zero speed and the bottom block is the delay-trained one. So I applied the paper's recipe: 3,000 more iterations with a random delay up to 50 milliseconds, and a control with the same 3,000 iterations and no delay. The control is a matched comparison: same extra training, no delay. One thing I changed on the way: this version of the training library gave each joint group its own random delay, so I set the simulation up so all 24 joints share one delay, and checked it. Why it matters: this shows how the stand handled the tested delays in this CPU simulation; actual delay on the R1 is not measured here.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60 seconds.**</a:t>
            </a:r>
          </a:p>
          <a:p/>
          <a:p>
            <a:r>
              <a:t>Here is the result. Each point is 50 runs, five speeds times ten. Green is the original, orange is the control with 3,000 extra iterations, blue is the delay-trained policy. Green and orange are nearly identical and fall apart between 40 and 60 milliseconds, so extra training alone did not help here. Blue survives everything up to 60 milliseconds and 46 of 50 at 80; the only failures are standing at 80. Why it matters: this run's matched control supports delay training as the reason, the same pattern as the paper. It is one seed per arm, so more seeds are needed.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55 seconds.**</a:t>
            </a:r>
          </a:p>
          <a:p/>
          <a:p>
            <a:r>
              <a:t>This is the delay-trained policy, going from standing up to two meters per second and back, with no falls. It is not free: at a two meter per second command it reaches 1.85, about seven and a half percent below, and backwards it reaches minus 0.39 for minus 0.5, about 22 percent below. Up to one meter per second it matches the others. Why it matters: that trade buys a 60 millisecond margin at stand, so this is now my best simulated candidate for the stand in the middle of the skill bag.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 seconds.**</a:t>
            </a:r>
          </a:p>
          <a:p/>
          <a:p>
            <a:r>
              <a:t>Part three: a jump, from a video, through the same pipeline as before.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55 seconds.**</a:t>
            </a:r>
          </a:p>
          <a:p/>
          <a:p>
            <a:r>
              <a:t>Picking the clip mattered more than anything else. I downloaded eleven clips and checked each. Most failed what GVHMR needs, as we saw last week: body cut off, a moving camera, more than one person, not flat ground, or slow motion. Jumping jacks was the best fit, and it starts and ends standing, which the switch test said we need. I added jump rope as a second, harder one. I did not find a clean single vertical jump.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50 seconds.**</a:t>
            </a:r>
          </a:p>
          <a:p/>
          <a:p>
            <a:r>
              <a:t>Here it is: the original video on the left, the R1 on the right in plain MuJoCo, the second simulator, frame by frame. In the simulation it really leaves the ground: both feet are in the air 20 percent of the time. Why it matters: the bag now has a simulated jump with a flight phase that starts and ends standing.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55 seconds.**</a:t>
            </a:r>
          </a:p>
          <a:p/>
          <a:p>
            <a:r>
              <a:t>This is the second simulator, with one fixed delay in each run plus the training's random changes. The plain policy falls apart at 40 milliseconds, two of twenty, and the delay-trained one holds 20 of 20 up to 50 and 19 at 60. Its weak point is pushes: with three times stronger pushes, 8 of 20 survive without delay training and 11 of 20 with it, because a push during flight cannot be corrected until the feet are down again. The average joint-angle error without random changes was about 34 degrees (0.59 rad). Why it matters: it improved in this run, like walking. But it is one seed, and the delay arm also got 3,000 extra iterations, so the cause is not isolated.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60 seconds.**</a:t>
            </a:r>
          </a:p>
          <a:p/>
          <a:p>
            <a:r>
              <a:t>Jump rope did not work. The man keeps his arms down and turns the rope with his wrists; the robot holds its arms out and barely hops. Is that the policy's fault? I drew the reference motion by itself, with no physics and no policy, at the bottom, and the arms are already out. So the policy is faithfully tracking a wrong target. The mistake is before training: in GVHMR, which has to read small fast wrist motion with handles in the hands, or in the retargeting, or both. I have not isolated it yet. Why it matters: check the copied motion first, before blaming training.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60 seconds.**</a:t>
            </a:r>
          </a:p>
          <a:p/>
          <a:p>
            <a:r>
              <a:t>What this does not show. All simulation. One seed per arm this week. The switch test is two motions with policies trained without delay. The key hand-off, from a motion into the walking stand, is not tested yet. The run is really a fast walk. For the jumps, extra training and delay are mixed; the walking control and the paper separate them. And the walking check has no pushes or rough ground.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60 seconds.**</a:t>
            </a:r>
          </a:p>
          <a:p/>
          <a:p>
            <a:r>
              <a:t>Next, in order. One, connect the pieces: switch from a motion into the delay-trained stand and back, then walk, jumping jacks, walk, in one MuJoCo scene. That is the first piece of the game. Two, a better jump: find which stage breaks jump rope, and get a clean vertical jump, possibly recorded on my phone. Three, a question for you, Professor: before the gantry arrives, may I record the robot's own sensor stream while it stays still, with no motion commands? What that recording can tell us, and whether it is safe enough, are open questions I would like your view 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 seconds.**</a:t>
            </a:r>
          </a:p>
          <a:p/>
          <a:p>
            <a:r>
              <a:t>References, with links, for anyone who wants to follow up. The Pexels clips are credited to their creators and free to use.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4.png"/><Relationship Id="rId5" Type="http://schemas.microsoft.com/office/2007/relationships/media" Target="../media/media3.mp4"/><Relationship Id="rId6" Type="http://schemas.openxmlformats.org/officeDocument/2006/relationships/video" Target="../media/media3.mp4"/><Relationship Id="rId7" Type="http://schemas.openxmlformats.org/officeDocument/2006/relationships/image" Target="../media/image5.png"/><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8.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9.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unitreerobotics/unitree_rl_mjlab" TargetMode="External"/><Relationship Id="rId3" Type="http://schemas.openxmlformats.org/officeDocument/2006/relationships/hyperlink" Target="https://github.com/mujocolab/mjlab" TargetMode="External"/><Relationship Id="rId4" Type="http://schemas.openxmlformats.org/officeDocument/2006/relationships/hyperlink" Target="https://github.com/zju3dv/GVHMR" TargetMode="External"/><Relationship Id="rId5" Type="http://schemas.openxmlformats.org/officeDocument/2006/relationships/hyperlink" Target="https://arxiv.org/abs/2409.06662" TargetMode="External"/><Relationship Id="rId6" Type="http://schemas.openxmlformats.org/officeDocument/2006/relationships/hyperlink" Target="https://github.com/YanjieZe/GMR" TargetMode="External"/><Relationship Id="rId7" Type="http://schemas.openxmlformats.org/officeDocument/2006/relationships/hyperlink" Target="https://arxiv.org/abs/2510.02252" TargetMode="External"/><Relationship Id="rId8" Type="http://schemas.openxmlformats.org/officeDocument/2006/relationships/hyperlink" Target="https://github.com/SunCCNY/Embodied-AI/tree/main/Presentations/Shaoqin-Li/Video-to-R1%20Pipeline" TargetMode="External"/><Relationship Id="rId9" Type="http://schemas.openxmlformats.org/officeDocument/2006/relationships/hyperlink" Target="https://www.pexels.com/video/elderly-man-doing-jumping-jacks-outside-7299359/" TargetMode="External"/><Relationship Id="rId10" Type="http://schemas.openxmlformats.org/officeDocument/2006/relationships/hyperlink" Target="https://www.pexels.com/video/a-man-jumping-over-the-skip-rope-4812842/" TargetMode="External"/><Relationship Id="rId11" Type="http://schemas.openxmlformats.org/officeDocument/2006/relationships/hyperlink" Target="https://github.com/google-deepmind/mujoco" TargetMode="External"/><Relationship Id="rId1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1005840" y="2240280"/>
            <a:ext cx="82296" cy="1920240"/>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12848"/>
            <a:ext cx="9601200" cy="365760"/>
          </a:xfrm>
          <a:prstGeom prst="rect">
            <a:avLst/>
          </a:prstGeom>
          <a:noFill/>
        </p:spPr>
        <p:txBody>
          <a:bodyPr wrap="square">
            <a:spAutoFit/>
          </a:bodyPr>
          <a:lstStyle/>
          <a:p>
            <a:pPr algn="l">
              <a:lnSpc>
                <a:spcPct val="100000"/>
              </a:lnSpc>
            </a:pPr>
            <a:r>
              <a:rPr sz="1500" b="0" i="0">
                <a:solidFill>
                  <a:srgbClr val="B8862E"/>
                </a:solidFill>
                <a:latin typeface="Calibri"/>
              </a:rPr>
              <a:t>WEEK 31</a:t>
            </a:r>
          </a:p>
        </p:txBody>
      </p:sp>
      <p:sp>
        <p:nvSpPr>
          <p:cNvPr id="4" name="TextBox 3"/>
          <p:cNvSpPr txBox="1"/>
          <p:nvPr/>
        </p:nvSpPr>
        <p:spPr>
          <a:xfrm>
            <a:off x="1371600" y="2606040"/>
            <a:ext cx="9601200" cy="822960"/>
          </a:xfrm>
          <a:prstGeom prst="rect">
            <a:avLst/>
          </a:prstGeom>
          <a:noFill/>
        </p:spPr>
        <p:txBody>
          <a:bodyPr wrap="square">
            <a:spAutoFit/>
          </a:bodyPr>
          <a:lstStyle/>
          <a:p>
            <a:pPr algn="l">
              <a:lnSpc>
                <a:spcPct val="100000"/>
              </a:lnSpc>
            </a:pPr>
            <a:r>
              <a:rPr sz="4000" b="1" i="0">
                <a:solidFill>
                  <a:srgbClr val="FFFFFF"/>
                </a:solidFill>
                <a:latin typeface="Calibri"/>
              </a:rPr>
              <a:t>Walk, run and jump: the first R1 skills</a:t>
            </a:r>
          </a:p>
        </p:txBody>
      </p:sp>
      <p:sp>
        <p:nvSpPr>
          <p:cNvPr id="5" name="TextBox 4"/>
          <p:cNvSpPr txBox="1"/>
          <p:nvPr/>
        </p:nvSpPr>
        <p:spPr>
          <a:xfrm>
            <a:off x="1371600" y="3520440"/>
            <a:ext cx="9601200" cy="457200"/>
          </a:xfrm>
          <a:prstGeom prst="rect">
            <a:avLst/>
          </a:prstGeom>
          <a:noFill/>
        </p:spPr>
        <p:txBody>
          <a:bodyPr wrap="square">
            <a:spAutoFit/>
          </a:bodyPr>
          <a:lstStyle/>
          <a:p>
            <a:pPr algn="l">
              <a:lnSpc>
                <a:spcPct val="100000"/>
              </a:lnSpc>
            </a:pPr>
            <a:r>
              <a:rPr sz="2000" b="0" i="0">
                <a:solidFill>
                  <a:srgbClr val="C9D2DA"/>
                </a:solidFill>
                <a:latin typeface="Calibri"/>
              </a:rPr>
              <a:t>plus: switching between two skills, and the paper went to L4DC</a:t>
            </a:r>
          </a:p>
        </p:txBody>
      </p:sp>
      <p:sp>
        <p:nvSpPr>
          <p:cNvPr id="6" name="TextBox 5"/>
          <p:cNvSpPr txBox="1"/>
          <p:nvPr/>
        </p:nvSpPr>
        <p:spPr>
          <a:xfrm>
            <a:off x="1371600" y="4160520"/>
            <a:ext cx="9601200" cy="548640"/>
          </a:xfrm>
          <a:prstGeom prst="rect">
            <a:avLst/>
          </a:prstGeom>
          <a:noFill/>
        </p:spPr>
        <p:txBody>
          <a:bodyPr wrap="square">
            <a:spAutoFit/>
          </a:bodyPr>
          <a:lstStyle/>
          <a:p>
            <a:pPr algn="l">
              <a:lnSpc>
                <a:spcPct val="100000"/>
              </a:lnSpc>
            </a:pPr>
            <a:r>
              <a:rPr sz="1500" b="0" i="1">
                <a:solidFill>
                  <a:srgbClr val="8F9EAC"/>
                </a:solidFill>
                <a:latin typeface="Calibri"/>
              </a:rPr>
              <a:t>tests run 2026-10-20 to 2026-10-23 -- simulation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What I set out to answer</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Three questions this week</a:t>
            </a:r>
          </a:p>
        </p:txBody>
      </p:sp>
      <p:sp>
        <p:nvSpPr>
          <p:cNvPr id="4" name="Rounded Rectangle 3"/>
          <p:cNvSpPr/>
          <p:nvPr/>
        </p:nvSpPr>
        <p:spPr>
          <a:xfrm>
            <a:off x="548640" y="1600200"/>
            <a:ext cx="3566160" cy="393192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783080"/>
            <a:ext cx="3054096" cy="657225"/>
          </a:xfrm>
          <a:prstGeom prst="rect">
            <a:avLst/>
          </a:prstGeom>
          <a:noFill/>
        </p:spPr>
        <p:txBody>
          <a:bodyPr wrap="square">
            <a:spAutoFit/>
          </a:bodyPr>
          <a:lstStyle/>
          <a:p>
            <a:pPr algn="l">
              <a:lnSpc>
                <a:spcPct val="100000"/>
              </a:lnSpc>
            </a:pPr>
            <a:r>
              <a:rPr sz="1500" b="1" i="0">
                <a:solidFill>
                  <a:srgbClr val="1B2A3A"/>
                </a:solidFill>
                <a:latin typeface="Calibri"/>
              </a:rPr>
              <a:t>1. Can one trained motion hand over to another?</a:t>
            </a:r>
          </a:p>
        </p:txBody>
      </p:sp>
      <p:sp>
        <p:nvSpPr>
          <p:cNvPr id="6" name="TextBox 5"/>
          <p:cNvSpPr txBox="1"/>
          <p:nvPr/>
        </p:nvSpPr>
        <p:spPr>
          <a:xfrm>
            <a:off x="804672" y="2513457"/>
            <a:ext cx="3054096" cy="2881502"/>
          </a:xfrm>
          <a:prstGeom prst="rect">
            <a:avLst/>
          </a:prstGeom>
          <a:noFill/>
        </p:spPr>
        <p:txBody>
          <a:bodyPr wrap="square">
            <a:spAutoFit/>
          </a:bodyPr>
          <a:lstStyle/>
          <a:p>
            <a:pPr algn="l">
              <a:lnSpc>
                <a:spcPct val="112000"/>
              </a:lnSpc>
            </a:pPr>
            <a:r>
              <a:rPr sz="1500" b="0" i="0">
                <a:solidFill>
                  <a:srgbClr val="22252A"/>
                </a:solidFill>
                <a:latin typeface="Calibri"/>
              </a:rPr>
              <a:t>The game needs the R1 to switch between skills.</a:t>
            </a:r>
          </a:p>
          <a:p>
            <a:pPr algn="l">
              <a:lnSpc>
                <a:spcPct val="112000"/>
              </a:lnSpc>
            </a:pPr>
          </a:p>
          <a:p>
            <a:pPr algn="l">
              <a:lnSpc>
                <a:spcPct val="112000"/>
              </a:lnSpc>
            </a:pPr>
            <a:r>
              <a:rPr sz="1500" b="0" i="0">
                <a:solidFill>
                  <a:srgbClr val="22252A"/>
                </a:solidFill>
                <a:latin typeface="Calibri"/>
              </a:rPr>
              <a:t>Before training anything new, I tested a switch between two policies I already had: tennis and dance.</a:t>
            </a:r>
          </a:p>
        </p:txBody>
      </p:sp>
      <p:sp>
        <p:nvSpPr>
          <p:cNvPr id="7" name="Rounded Rectangle 6"/>
          <p:cNvSpPr/>
          <p:nvPr/>
        </p:nvSpPr>
        <p:spPr>
          <a:xfrm>
            <a:off x="4315968" y="1600200"/>
            <a:ext cx="3566160" cy="393192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783080"/>
            <a:ext cx="3054096" cy="657225"/>
          </a:xfrm>
          <a:prstGeom prst="rect">
            <a:avLst/>
          </a:prstGeom>
          <a:noFill/>
        </p:spPr>
        <p:txBody>
          <a:bodyPr wrap="square">
            <a:spAutoFit/>
          </a:bodyPr>
          <a:lstStyle/>
          <a:p>
            <a:pPr algn="l">
              <a:lnSpc>
                <a:spcPct val="100000"/>
              </a:lnSpc>
            </a:pPr>
            <a:r>
              <a:rPr sz="1500" b="1" i="0">
                <a:solidFill>
                  <a:srgbClr val="1B2A3A"/>
                </a:solidFill>
                <a:latin typeface="Calibri"/>
              </a:rPr>
              <a:t>2. Can the R1 walk and run on command?</a:t>
            </a:r>
          </a:p>
        </p:txBody>
      </p:sp>
      <p:sp>
        <p:nvSpPr>
          <p:cNvPr id="9" name="TextBox 8"/>
          <p:cNvSpPr txBox="1"/>
          <p:nvPr/>
        </p:nvSpPr>
        <p:spPr>
          <a:xfrm>
            <a:off x="4572000" y="2513457"/>
            <a:ext cx="3054096" cy="2881502"/>
          </a:xfrm>
          <a:prstGeom prst="rect">
            <a:avLst/>
          </a:prstGeom>
          <a:noFill/>
        </p:spPr>
        <p:txBody>
          <a:bodyPr wrap="square">
            <a:spAutoFit/>
          </a:bodyPr>
          <a:lstStyle/>
          <a:p>
            <a:pPr algn="l">
              <a:lnSpc>
                <a:spcPct val="112000"/>
              </a:lnSpc>
            </a:pPr>
            <a:r>
              <a:rPr sz="1500" b="0" i="0">
                <a:solidFill>
                  <a:srgbClr val="22252A"/>
                </a:solidFill>
                <a:latin typeface="Calibri"/>
              </a:rPr>
              <a:t>I trained a policy that follows a speed command and stands still at zero.</a:t>
            </a:r>
          </a:p>
          <a:p>
            <a:pPr algn="l">
              <a:lnSpc>
                <a:spcPct val="112000"/>
              </a:lnSpc>
            </a:pPr>
          </a:p>
          <a:p>
            <a:pPr algn="l">
              <a:lnSpc>
                <a:spcPct val="112000"/>
              </a:lnSpc>
            </a:pPr>
            <a:r>
              <a:rPr sz="1500" b="0" i="0">
                <a:solidFill>
                  <a:srgbClr val="22252A"/>
                </a:solidFill>
                <a:latin typeface="Calibri"/>
              </a:rPr>
              <a:t>Then I tested how much command delay it survives, the same test as in my paper.</a:t>
            </a:r>
          </a:p>
        </p:txBody>
      </p:sp>
      <p:sp>
        <p:nvSpPr>
          <p:cNvPr id="10" name="Rounded Rectangle 9"/>
          <p:cNvSpPr/>
          <p:nvPr/>
        </p:nvSpPr>
        <p:spPr>
          <a:xfrm>
            <a:off x="8083296" y="1600200"/>
            <a:ext cx="3566160" cy="393192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39327" y="1783080"/>
            <a:ext cx="3054096" cy="657225"/>
          </a:xfrm>
          <a:prstGeom prst="rect">
            <a:avLst/>
          </a:prstGeom>
          <a:noFill/>
        </p:spPr>
        <p:txBody>
          <a:bodyPr wrap="square">
            <a:spAutoFit/>
          </a:bodyPr>
          <a:lstStyle/>
          <a:p>
            <a:pPr algn="l">
              <a:lnSpc>
                <a:spcPct val="100000"/>
              </a:lnSpc>
            </a:pPr>
            <a:r>
              <a:rPr sz="1500" b="1" i="0">
                <a:solidFill>
                  <a:srgbClr val="1B2A3A"/>
                </a:solidFill>
                <a:latin typeface="Calibri"/>
              </a:rPr>
              <a:t>3. Can a jump come from a video?</a:t>
            </a:r>
          </a:p>
        </p:txBody>
      </p:sp>
      <p:sp>
        <p:nvSpPr>
          <p:cNvPr id="12" name="TextBox 11"/>
          <p:cNvSpPr txBox="1"/>
          <p:nvPr/>
        </p:nvSpPr>
        <p:spPr>
          <a:xfrm>
            <a:off x="8339327" y="2513457"/>
            <a:ext cx="3054096" cy="2881502"/>
          </a:xfrm>
          <a:prstGeom prst="rect">
            <a:avLst/>
          </a:prstGeom>
          <a:noFill/>
        </p:spPr>
        <p:txBody>
          <a:bodyPr wrap="square">
            <a:spAutoFit/>
          </a:bodyPr>
          <a:lstStyle/>
          <a:p>
            <a:pPr algn="l">
              <a:lnSpc>
                <a:spcPct val="112000"/>
              </a:lnSpc>
            </a:pPr>
            <a:r>
              <a:rPr sz="1500" b="0" i="0">
                <a:solidFill>
                  <a:srgbClr val="22252A"/>
                </a:solidFill>
                <a:latin typeface="Calibri"/>
              </a:rPr>
              <a:t>I sent two jump clips through my video-to-R1 pipeline without changing it, and checked the result in a second simulator.</a:t>
            </a:r>
          </a:p>
        </p:txBody>
      </p:sp>
      <p:sp>
        <p:nvSpPr>
          <p:cNvPr id="13" name="Rounded Rectangle 12"/>
          <p:cNvSpPr/>
          <p:nvPr/>
        </p:nvSpPr>
        <p:spPr>
          <a:xfrm>
            <a:off x="548640" y="5669280"/>
            <a:ext cx="11091672" cy="896112"/>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5669280"/>
            <a:ext cx="82296" cy="896112"/>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733288"/>
            <a:ext cx="10744200" cy="786384"/>
          </a:xfrm>
          <a:prstGeom prst="rect">
            <a:avLst/>
          </a:prstGeom>
          <a:noFill/>
        </p:spPr>
        <p:txBody>
          <a:bodyPr wrap="square" anchor="ctr">
            <a:spAutoFit/>
          </a:bodyPr>
          <a:lstStyle/>
          <a:p>
            <a:r>
              <a:rPr sz="1500" b="1">
                <a:solidFill>
                  <a:srgbClr val="B8862E"/>
                </a:solidFill>
                <a:latin typeface="Calibri"/>
              </a:rPr>
              <a:t>Three words I use:  </a:t>
            </a:r>
            <a:r>
              <a:rPr sz="1500">
                <a:solidFill>
                  <a:srgbClr val="22252A"/>
                </a:solidFill>
                <a:latin typeface="Calibri"/>
              </a:rPr>
              <a:t>Policy = the trained controller that turns what the robot senses into motor commands.  Command delay = a motor command that arrives late.  Sim2sim = testing the same policy in a second, separate simulator.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The paper went to L4DC</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Submitted; this week's results can go into a later, longer version</a:t>
            </a:r>
          </a:p>
        </p:txBody>
      </p:sp>
      <p:sp>
        <p:nvSpPr>
          <p:cNvPr id="4" name="Rounded Rectangle 3"/>
          <p:cNvSpPr/>
          <p:nvPr/>
        </p:nvSpPr>
        <p:spPr>
          <a:xfrm>
            <a:off x="548640" y="1554480"/>
            <a:ext cx="4846320" cy="434340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737360"/>
            <a:ext cx="4334256" cy="657225"/>
          </a:xfrm>
          <a:prstGeom prst="rect">
            <a:avLst/>
          </a:prstGeom>
          <a:noFill/>
        </p:spPr>
        <p:txBody>
          <a:bodyPr wrap="square">
            <a:spAutoFit/>
          </a:bodyPr>
          <a:lstStyle/>
          <a:p>
            <a:pPr algn="l">
              <a:lnSpc>
                <a:spcPct val="100000"/>
              </a:lnSpc>
            </a:pPr>
            <a:r>
              <a:rPr sz="1500" b="1" i="0">
                <a:solidFill>
                  <a:srgbClr val="1B2A3A"/>
                </a:solidFill>
                <a:latin typeface="Calibri"/>
              </a:rPr>
              <a:t>How Much Command Delay Can a Learned Humanoid Motion Tracker Tolerate?</a:t>
            </a:r>
          </a:p>
        </p:txBody>
      </p:sp>
      <p:sp>
        <p:nvSpPr>
          <p:cNvPr id="6" name="TextBox 5"/>
          <p:cNvSpPr txBox="1"/>
          <p:nvPr/>
        </p:nvSpPr>
        <p:spPr>
          <a:xfrm>
            <a:off x="804672" y="2467737"/>
            <a:ext cx="4334256" cy="3292983"/>
          </a:xfrm>
          <a:prstGeom prst="rect">
            <a:avLst/>
          </a:prstGeom>
          <a:noFill/>
        </p:spPr>
        <p:txBody>
          <a:bodyPr wrap="square">
            <a:spAutoFit/>
          </a:bodyPr>
          <a:lstStyle/>
          <a:p>
            <a:pPr algn="l">
              <a:lnSpc>
                <a:spcPct val="112000"/>
              </a:lnSpc>
            </a:pPr>
            <a:r>
              <a:rPr sz="1500" b="0" i="0">
                <a:solidFill>
                  <a:srgbClr val="22252A"/>
                </a:solidFill>
                <a:latin typeface="Calibri"/>
              </a:rPr>
              <a:t>From the paper: five R1 motions from video, three training seeds each, tested in a second simulator.</a:t>
            </a:r>
          </a:p>
          <a:p>
            <a:pPr algn="l">
              <a:lnSpc>
                <a:spcPct val="112000"/>
              </a:lnSpc>
            </a:pPr>
          </a:p>
          <a:p>
            <a:pPr algn="l">
              <a:lnSpc>
                <a:spcPct val="112000"/>
              </a:lnSpc>
            </a:pPr>
            <a:r>
              <a:rPr sz="1500" b="0" i="0">
                <a:solidFill>
                  <a:srgbClr val="22252A"/>
                </a:solidFill>
                <a:latin typeface="Calibri"/>
              </a:rPr>
              <a:t>With 40 ms of command delay, survival fell to 15 % on average. With a random 0-50 ms delay in training, it was 95 %.</a:t>
            </a:r>
          </a:p>
          <a:p>
            <a:pPr algn="l">
              <a:lnSpc>
                <a:spcPct val="112000"/>
              </a:lnSpc>
            </a:pPr>
          </a:p>
          <a:p>
            <a:pPr algn="l">
              <a:lnSpc>
                <a:spcPct val="112000"/>
              </a:lnSpc>
            </a:pPr>
            <a:r>
              <a:rPr sz="1500" b="0" i="0">
                <a:solidFill>
                  <a:srgbClr val="22252A"/>
                </a:solidFill>
                <a:latin typeface="Calibri"/>
              </a:rPr>
              <a:t>The same amount of extra training without delay did not help, so the gain comes from the delay itself.</a:t>
            </a:r>
          </a:p>
        </p:txBody>
      </p:sp>
      <p:pic>
        <p:nvPicPr>
          <p:cNvPr id="7" name="Picture 6" descr="fig_delay_margin.png"/>
          <p:cNvPicPr>
            <a:picLocks noChangeAspect="1"/>
          </p:cNvPicPr>
          <p:nvPr/>
        </p:nvPicPr>
        <p:blipFill>
          <a:blip r:embed="rId2"/>
          <a:stretch>
            <a:fillRect/>
          </a:stretch>
        </p:blipFill>
        <p:spPr>
          <a:xfrm>
            <a:off x="5532119" y="1554480"/>
            <a:ext cx="6035040" cy="3566160"/>
          </a:xfrm>
          <a:prstGeom prst="rect">
            <a:avLst/>
          </a:prstGeom>
        </p:spPr>
      </p:pic>
      <p:sp>
        <p:nvSpPr>
          <p:cNvPr id="8" name="TextBox 7"/>
          <p:cNvSpPr txBox="1"/>
          <p:nvPr/>
        </p:nvSpPr>
        <p:spPr>
          <a:xfrm>
            <a:off x="5623560" y="5486400"/>
            <a:ext cx="5943600" cy="457200"/>
          </a:xfrm>
          <a:prstGeom prst="rect">
            <a:avLst/>
          </a:prstGeom>
          <a:noFill/>
        </p:spPr>
        <p:txBody>
          <a:bodyPr wrap="square">
            <a:spAutoFit/>
          </a:bodyPr>
          <a:lstStyle/>
          <a:p>
            <a:pPr algn="ctr">
              <a:lnSpc>
                <a:spcPct val="100000"/>
              </a:lnSpc>
            </a:pPr>
            <a:r>
              <a:rPr sz="1200" b="0" i="1">
                <a:solidFill>
                  <a:srgbClr val="5A6068"/>
                </a:solidFill>
                <a:latin typeface="Calibri"/>
              </a:rPr>
              <a:t>Orange = no delay in training. Blue = random 0-50 ms delay in training. The shaded band is the training range.</a:t>
            </a:r>
          </a:p>
        </p:txBody>
      </p:sp>
      <p:sp>
        <p:nvSpPr>
          <p:cNvPr id="9" name="Rounded Rectangle 8"/>
          <p:cNvSpPr/>
          <p:nvPr/>
        </p:nvSpPr>
        <p:spPr>
          <a:xfrm>
            <a:off x="548640" y="6053328"/>
            <a:ext cx="11091672" cy="512064"/>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6053328"/>
            <a:ext cx="82296" cy="512064"/>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6117336"/>
            <a:ext cx="10744200" cy="402336"/>
          </a:xfrm>
          <a:prstGeom prst="rect">
            <a:avLst/>
          </a:prstGeom>
          <a:noFill/>
        </p:spPr>
        <p:txBody>
          <a:bodyPr wrap="square" anchor="ctr">
            <a:spAutoFit/>
          </a:bodyPr>
          <a:lstStyle/>
          <a:p>
            <a:r>
              <a:rPr sz="1600" b="1">
                <a:solidFill>
                  <a:srgbClr val="B8862E"/>
                </a:solidFill>
                <a:latin typeface="Calibri"/>
              </a:rPr>
              <a:t>Why it matters:  </a:t>
            </a:r>
            <a:r>
              <a:rPr sz="1600">
                <a:solidFill>
                  <a:srgbClr val="22252A"/>
                </a:solidFill>
                <a:latin typeface="Calibri"/>
              </a:rPr>
              <a:t>practising with delay is the fix I reuse this week, on walking and on a jump.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1005840" y="2240280"/>
            <a:ext cx="82296" cy="1920240"/>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12848"/>
            <a:ext cx="9601200" cy="365760"/>
          </a:xfrm>
          <a:prstGeom prst="rect">
            <a:avLst/>
          </a:prstGeom>
          <a:noFill/>
        </p:spPr>
        <p:txBody>
          <a:bodyPr wrap="square">
            <a:spAutoFit/>
          </a:bodyPr>
          <a:lstStyle/>
          <a:p>
            <a:pPr algn="l">
              <a:lnSpc>
                <a:spcPct val="100000"/>
              </a:lnSpc>
            </a:pPr>
            <a:r>
              <a:rPr sz="1500" b="0" i="0">
                <a:solidFill>
                  <a:srgbClr val="B8862E"/>
                </a:solidFill>
                <a:latin typeface="Calibri"/>
              </a:rPr>
              <a:t>PART 1</a:t>
            </a:r>
          </a:p>
        </p:txBody>
      </p:sp>
      <p:sp>
        <p:nvSpPr>
          <p:cNvPr id="4" name="TextBox 3"/>
          <p:cNvSpPr txBox="1"/>
          <p:nvPr/>
        </p:nvSpPr>
        <p:spPr>
          <a:xfrm>
            <a:off x="1371600" y="2606040"/>
            <a:ext cx="9601200" cy="822960"/>
          </a:xfrm>
          <a:prstGeom prst="rect">
            <a:avLst/>
          </a:prstGeom>
          <a:noFill/>
        </p:spPr>
        <p:txBody>
          <a:bodyPr wrap="square">
            <a:spAutoFit/>
          </a:bodyPr>
          <a:lstStyle/>
          <a:p>
            <a:pPr algn="l">
              <a:lnSpc>
                <a:spcPct val="100000"/>
              </a:lnSpc>
            </a:pPr>
            <a:r>
              <a:rPr sz="4000" b="1" i="0">
                <a:solidFill>
                  <a:srgbClr val="FFFFFF"/>
                </a:solidFill>
                <a:latin typeface="Calibri"/>
              </a:rPr>
              <a:t>Switching between two skills</a:t>
            </a:r>
          </a:p>
        </p:txBody>
      </p:sp>
      <p:sp>
        <p:nvSpPr>
          <p:cNvPr id="5" name="TextBox 4"/>
          <p:cNvSpPr txBox="1"/>
          <p:nvPr/>
        </p:nvSpPr>
        <p:spPr>
          <a:xfrm>
            <a:off x="1371600" y="3520440"/>
            <a:ext cx="9601200" cy="457200"/>
          </a:xfrm>
          <a:prstGeom prst="rect">
            <a:avLst/>
          </a:prstGeom>
          <a:noFill/>
        </p:spPr>
        <p:txBody>
          <a:bodyPr wrap="square">
            <a:spAutoFit/>
          </a:bodyPr>
          <a:lstStyle/>
          <a:p>
            <a:pPr algn="l">
              <a:lnSpc>
                <a:spcPct val="100000"/>
              </a:lnSpc>
            </a:pPr>
            <a:r>
              <a:rPr sz="2000" b="0" i="0">
                <a:solidFill>
                  <a:srgbClr val="C9D2DA"/>
                </a:solidFill>
                <a:latin typeface="Calibri"/>
              </a:rPr>
              <a:t>Two policies I already had: tennis and dance</a:t>
            </a:r>
          </a:p>
        </p:txBody>
      </p:sp>
      <p:sp>
        <p:nvSpPr>
          <p:cNvPr id="6" name="TextBox 5"/>
          <p:cNvSpPr txBox="1"/>
          <p:nvPr/>
        </p:nvSpPr>
        <p:spPr>
          <a:xfrm>
            <a:off x="1371600" y="4160520"/>
            <a:ext cx="9601200" cy="548640"/>
          </a:xfrm>
          <a:prstGeom prst="rect">
            <a:avLst/>
          </a:prstGeom>
          <a:noFill/>
        </p:spPr>
        <p:txBody>
          <a:bodyPr wrap="square">
            <a:spAutoFit/>
          </a:bodyPr>
          <a:lstStyle/>
          <a:p>
            <a:pPr algn="l">
              <a:lnSpc>
                <a:spcPct val="100000"/>
              </a:lnSpc>
            </a:pPr>
            <a:r>
              <a:rPr sz="1500" b="0" i="1">
                <a:solidFill>
                  <a:srgbClr val="8F9EAC"/>
                </a:solidFill>
                <a:latin typeface="Calibri"/>
              </a:rPr>
              <a:t>no new training -- a quick check before building anything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How I tested a switch</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Same robot, same physics; only the policy in charge changes</a:t>
            </a:r>
          </a:p>
        </p:txBody>
      </p:sp>
      <p:sp>
        <p:nvSpPr>
          <p:cNvPr id="4" name="Rounded Rectangle 3"/>
          <p:cNvSpPr/>
          <p:nvPr/>
        </p:nvSpPr>
        <p:spPr>
          <a:xfrm>
            <a:off x="548640" y="1554480"/>
            <a:ext cx="2514600" cy="205740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737360"/>
            <a:ext cx="2002536" cy="365760"/>
          </a:xfrm>
          <a:prstGeom prst="rect">
            <a:avLst/>
          </a:prstGeom>
          <a:noFill/>
        </p:spPr>
        <p:txBody>
          <a:bodyPr wrap="square">
            <a:spAutoFit/>
          </a:bodyPr>
          <a:lstStyle/>
          <a:p>
            <a:pPr algn="l">
              <a:lnSpc>
                <a:spcPct val="100000"/>
              </a:lnSpc>
            </a:pPr>
            <a:r>
              <a:rPr sz="1500" b="1" i="0">
                <a:solidFill>
                  <a:srgbClr val="1B2A3A"/>
                </a:solidFill>
                <a:latin typeface="Calibri"/>
              </a:rPr>
              <a:t>1. Run A</a:t>
            </a:r>
          </a:p>
        </p:txBody>
      </p:sp>
      <p:sp>
        <p:nvSpPr>
          <p:cNvPr id="6" name="TextBox 5"/>
          <p:cNvSpPr txBox="1"/>
          <p:nvPr/>
        </p:nvSpPr>
        <p:spPr>
          <a:xfrm>
            <a:off x="804672" y="2176272"/>
            <a:ext cx="2002536" cy="1298448"/>
          </a:xfrm>
          <a:prstGeom prst="rect">
            <a:avLst/>
          </a:prstGeom>
          <a:noFill/>
        </p:spPr>
        <p:txBody>
          <a:bodyPr wrap="square">
            <a:spAutoFit/>
          </a:bodyPr>
          <a:lstStyle/>
          <a:p>
            <a:pPr algn="l">
              <a:lnSpc>
                <a:spcPct val="112000"/>
              </a:lnSpc>
            </a:pPr>
            <a:r>
              <a:rPr sz="1450" b="0" i="0">
                <a:solidFill>
                  <a:srgbClr val="22252A"/>
                </a:solidFill>
                <a:latin typeface="Calibri"/>
              </a:rPr>
              <a:t>Policy A (tennis or dance) plays its motion.</a:t>
            </a:r>
          </a:p>
        </p:txBody>
      </p:sp>
      <p:sp>
        <p:nvSpPr>
          <p:cNvPr id="7" name="Right Arrow 6"/>
          <p:cNvSpPr/>
          <p:nvPr/>
        </p:nvSpPr>
        <p:spPr>
          <a:xfrm>
            <a:off x="3090672" y="2423160"/>
            <a:ext cx="256032" cy="320040"/>
          </a:xfrm>
          <a:prstGeom prst="rightArrow">
            <a:avLst/>
          </a:prstGeom>
          <a:solidFill>
            <a:srgbClr val="5A6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383280" y="1554480"/>
            <a:ext cx="2514600" cy="205740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9312" y="1737360"/>
            <a:ext cx="2002536" cy="365760"/>
          </a:xfrm>
          <a:prstGeom prst="rect">
            <a:avLst/>
          </a:prstGeom>
          <a:noFill/>
        </p:spPr>
        <p:txBody>
          <a:bodyPr wrap="square">
            <a:spAutoFit/>
          </a:bodyPr>
          <a:lstStyle/>
          <a:p>
            <a:pPr algn="l">
              <a:lnSpc>
                <a:spcPct val="100000"/>
              </a:lnSpc>
            </a:pPr>
            <a:r>
              <a:rPr sz="1500" b="1" i="0">
                <a:solidFill>
                  <a:srgbClr val="1B2A3A"/>
                </a:solidFill>
                <a:latin typeface="Calibri"/>
              </a:rPr>
              <a:t>2. Cut</a:t>
            </a:r>
          </a:p>
        </p:txBody>
      </p:sp>
      <p:sp>
        <p:nvSpPr>
          <p:cNvPr id="10" name="TextBox 9"/>
          <p:cNvSpPr txBox="1"/>
          <p:nvPr/>
        </p:nvSpPr>
        <p:spPr>
          <a:xfrm>
            <a:off x="3639312" y="2176272"/>
            <a:ext cx="2002536" cy="1298448"/>
          </a:xfrm>
          <a:prstGeom prst="rect">
            <a:avLst/>
          </a:prstGeom>
          <a:noFill/>
        </p:spPr>
        <p:txBody>
          <a:bodyPr wrap="square">
            <a:spAutoFit/>
          </a:bodyPr>
          <a:lstStyle/>
          <a:p>
            <a:pPr algn="l">
              <a:lnSpc>
                <a:spcPct val="112000"/>
              </a:lnSpc>
            </a:pPr>
            <a:r>
              <a:rPr sz="1450" b="0" i="0">
                <a:solidFill>
                  <a:srgbClr val="22252A"/>
                </a:solidFill>
                <a:latin typeface="Calibri"/>
              </a:rPr>
              <a:t>Stop A at the end, or 30 %, 50 % or 70 % of the way through.</a:t>
            </a:r>
          </a:p>
        </p:txBody>
      </p:sp>
      <p:sp>
        <p:nvSpPr>
          <p:cNvPr id="11" name="Right Arrow 10"/>
          <p:cNvSpPr/>
          <p:nvPr/>
        </p:nvSpPr>
        <p:spPr>
          <a:xfrm>
            <a:off x="5925312" y="2423160"/>
            <a:ext cx="256032" cy="320040"/>
          </a:xfrm>
          <a:prstGeom prst="rightArrow">
            <a:avLst/>
          </a:prstGeom>
          <a:solidFill>
            <a:srgbClr val="5A6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17920" y="1554480"/>
            <a:ext cx="2514600" cy="205740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1737360"/>
            <a:ext cx="2002536" cy="365760"/>
          </a:xfrm>
          <a:prstGeom prst="rect">
            <a:avLst/>
          </a:prstGeom>
          <a:noFill/>
        </p:spPr>
        <p:txBody>
          <a:bodyPr wrap="square">
            <a:spAutoFit/>
          </a:bodyPr>
          <a:lstStyle/>
          <a:p>
            <a:pPr algn="l">
              <a:lnSpc>
                <a:spcPct val="100000"/>
              </a:lnSpc>
            </a:pPr>
            <a:r>
              <a:rPr sz="1500" b="1" i="0">
                <a:solidFill>
                  <a:srgbClr val="1B2A3A"/>
                </a:solidFill>
                <a:latin typeface="Calibri"/>
              </a:rPr>
              <a:t>3. Hand over</a:t>
            </a:r>
          </a:p>
        </p:txBody>
      </p:sp>
      <p:sp>
        <p:nvSpPr>
          <p:cNvPr id="14" name="TextBox 13"/>
          <p:cNvSpPr txBox="1"/>
          <p:nvPr/>
        </p:nvSpPr>
        <p:spPr>
          <a:xfrm>
            <a:off x="6473952" y="2176272"/>
            <a:ext cx="2002536" cy="1298448"/>
          </a:xfrm>
          <a:prstGeom prst="rect">
            <a:avLst/>
          </a:prstGeom>
          <a:noFill/>
        </p:spPr>
        <p:txBody>
          <a:bodyPr wrap="square">
            <a:spAutoFit/>
          </a:bodyPr>
          <a:lstStyle/>
          <a:p>
            <a:pPr algn="l">
              <a:lnSpc>
                <a:spcPct val="112000"/>
              </a:lnSpc>
            </a:pPr>
            <a:r>
              <a:rPr sz="1450" b="0" i="0">
                <a:solidFill>
                  <a:srgbClr val="22252A"/>
                </a:solidFill>
                <a:latin typeface="Calibri"/>
              </a:rPr>
              <a:t>Policy B takes over from exactly that robot state.</a:t>
            </a:r>
          </a:p>
        </p:txBody>
      </p:sp>
      <p:sp>
        <p:nvSpPr>
          <p:cNvPr id="15" name="Right Arrow 14"/>
          <p:cNvSpPr/>
          <p:nvPr/>
        </p:nvSpPr>
        <p:spPr>
          <a:xfrm>
            <a:off x="8759952" y="2423160"/>
            <a:ext cx="256032" cy="320040"/>
          </a:xfrm>
          <a:prstGeom prst="rightArrow">
            <a:avLst/>
          </a:prstGeom>
          <a:solidFill>
            <a:srgbClr val="5A6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52560" y="1554480"/>
            <a:ext cx="2514600" cy="205740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8592" y="1737360"/>
            <a:ext cx="2002536" cy="365760"/>
          </a:xfrm>
          <a:prstGeom prst="rect">
            <a:avLst/>
          </a:prstGeom>
          <a:noFill/>
        </p:spPr>
        <p:txBody>
          <a:bodyPr wrap="square">
            <a:spAutoFit/>
          </a:bodyPr>
          <a:lstStyle/>
          <a:p>
            <a:pPr algn="l">
              <a:lnSpc>
                <a:spcPct val="100000"/>
              </a:lnSpc>
            </a:pPr>
            <a:r>
              <a:rPr sz="1500" b="1" i="0">
                <a:solidFill>
                  <a:srgbClr val="1B2A3A"/>
                </a:solidFill>
                <a:latin typeface="Calibri"/>
              </a:rPr>
              <a:t>4. Count</a:t>
            </a:r>
          </a:p>
        </p:txBody>
      </p:sp>
      <p:sp>
        <p:nvSpPr>
          <p:cNvPr id="18" name="TextBox 17"/>
          <p:cNvSpPr txBox="1"/>
          <p:nvPr/>
        </p:nvSpPr>
        <p:spPr>
          <a:xfrm>
            <a:off x="9308592" y="2176272"/>
            <a:ext cx="2002536" cy="1298448"/>
          </a:xfrm>
          <a:prstGeom prst="rect">
            <a:avLst/>
          </a:prstGeom>
          <a:noFill/>
        </p:spPr>
        <p:txBody>
          <a:bodyPr wrap="square">
            <a:spAutoFit/>
          </a:bodyPr>
          <a:lstStyle/>
          <a:p>
            <a:pPr algn="l">
              <a:lnSpc>
                <a:spcPct val="112000"/>
              </a:lnSpc>
            </a:pPr>
            <a:r>
              <a:rPr sz="1450" b="0" i="0">
                <a:solidFill>
                  <a:srgbClr val="22252A"/>
                </a:solidFill>
                <a:latin typeface="Calibri"/>
              </a:rPr>
              <a:t>20 runs per case. A run counts if the robot gets through all of B without falling.</a:t>
            </a:r>
          </a:p>
        </p:txBody>
      </p:sp>
      <p:sp>
        <p:nvSpPr>
          <p:cNvPr id="19" name="TextBox 18"/>
          <p:cNvSpPr txBox="1"/>
          <p:nvPr/>
        </p:nvSpPr>
        <p:spPr>
          <a:xfrm>
            <a:off x="548640" y="3840480"/>
            <a:ext cx="5486400" cy="365760"/>
          </a:xfrm>
          <a:prstGeom prst="rect">
            <a:avLst/>
          </a:prstGeom>
          <a:noFill/>
        </p:spPr>
        <p:txBody>
          <a:bodyPr wrap="square">
            <a:spAutoFit/>
          </a:bodyPr>
          <a:lstStyle/>
          <a:p>
            <a:pPr algn="l">
              <a:lnSpc>
                <a:spcPct val="100000"/>
              </a:lnSpc>
            </a:pPr>
            <a:r>
              <a:rPr sz="1700" b="1" i="0">
                <a:solidFill>
                  <a:srgbClr val="1B2A3A"/>
                </a:solidFill>
                <a:latin typeface="Calibri"/>
              </a:rPr>
              <a:t>Three ways to hand over</a:t>
            </a:r>
          </a:p>
        </p:txBody>
      </p:sp>
      <p:sp>
        <p:nvSpPr>
          <p:cNvPr id="20" name="Rounded Rectangle 19"/>
          <p:cNvSpPr/>
          <p:nvPr/>
        </p:nvSpPr>
        <p:spPr>
          <a:xfrm>
            <a:off x="548640" y="4297680"/>
            <a:ext cx="3520440" cy="150876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4480560"/>
            <a:ext cx="3008376" cy="365760"/>
          </a:xfrm>
          <a:prstGeom prst="rect">
            <a:avLst/>
          </a:prstGeom>
          <a:noFill/>
        </p:spPr>
        <p:txBody>
          <a:bodyPr wrap="square">
            <a:spAutoFit/>
          </a:bodyPr>
          <a:lstStyle/>
          <a:p>
            <a:pPr algn="l">
              <a:lnSpc>
                <a:spcPct val="100000"/>
              </a:lnSpc>
            </a:pPr>
            <a:r>
              <a:rPr sz="1500" b="1" i="0">
                <a:solidFill>
                  <a:srgbClr val="1B2A3A"/>
                </a:solidFill>
                <a:latin typeface="Calibri"/>
              </a:rPr>
              <a:t>Direct</a:t>
            </a:r>
          </a:p>
        </p:txBody>
      </p:sp>
      <p:sp>
        <p:nvSpPr>
          <p:cNvPr id="22" name="TextBox 21"/>
          <p:cNvSpPr txBox="1"/>
          <p:nvPr/>
        </p:nvSpPr>
        <p:spPr>
          <a:xfrm>
            <a:off x="804672" y="4919472"/>
            <a:ext cx="3008376" cy="749807"/>
          </a:xfrm>
          <a:prstGeom prst="rect">
            <a:avLst/>
          </a:prstGeom>
          <a:noFill/>
        </p:spPr>
        <p:txBody>
          <a:bodyPr wrap="square">
            <a:spAutoFit/>
          </a:bodyPr>
          <a:lstStyle/>
          <a:p>
            <a:pPr algn="l">
              <a:lnSpc>
                <a:spcPct val="112000"/>
              </a:lnSpc>
            </a:pPr>
            <a:r>
              <a:rPr sz="1400" b="0" i="0">
                <a:solidFill>
                  <a:srgbClr val="22252A"/>
                </a:solidFill>
                <a:latin typeface="Calibri"/>
              </a:rPr>
              <a:t>B's first frame at once.</a:t>
            </a:r>
          </a:p>
        </p:txBody>
      </p:sp>
      <p:sp>
        <p:nvSpPr>
          <p:cNvPr id="23" name="Rounded Rectangle 22"/>
          <p:cNvSpPr/>
          <p:nvPr/>
        </p:nvSpPr>
        <p:spPr>
          <a:xfrm>
            <a:off x="4315968" y="4297680"/>
            <a:ext cx="3520440" cy="150876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4480560"/>
            <a:ext cx="3008376" cy="365760"/>
          </a:xfrm>
          <a:prstGeom prst="rect">
            <a:avLst/>
          </a:prstGeom>
          <a:noFill/>
        </p:spPr>
        <p:txBody>
          <a:bodyPr wrap="square">
            <a:spAutoFit/>
          </a:bodyPr>
          <a:lstStyle/>
          <a:p>
            <a:pPr algn="l">
              <a:lnSpc>
                <a:spcPct val="100000"/>
              </a:lnSpc>
            </a:pPr>
            <a:r>
              <a:rPr sz="1500" b="1" i="0">
                <a:solidFill>
                  <a:srgbClr val="1B2A3A"/>
                </a:solidFill>
                <a:latin typeface="Calibri"/>
              </a:rPr>
              <a:t>1 s ramp</a:t>
            </a:r>
          </a:p>
        </p:txBody>
      </p:sp>
      <p:sp>
        <p:nvSpPr>
          <p:cNvPr id="25" name="TextBox 24"/>
          <p:cNvSpPr txBox="1"/>
          <p:nvPr/>
        </p:nvSpPr>
        <p:spPr>
          <a:xfrm>
            <a:off x="4572000" y="4919472"/>
            <a:ext cx="3008376" cy="749807"/>
          </a:xfrm>
          <a:prstGeom prst="rect">
            <a:avLst/>
          </a:prstGeom>
          <a:noFill/>
        </p:spPr>
        <p:txBody>
          <a:bodyPr wrap="square">
            <a:spAutoFit/>
          </a:bodyPr>
          <a:lstStyle/>
          <a:p>
            <a:pPr algn="l">
              <a:lnSpc>
                <a:spcPct val="112000"/>
              </a:lnSpc>
            </a:pPr>
            <a:r>
              <a:rPr sz="1400" b="0" i="0">
                <a:solidFill>
                  <a:srgbClr val="22252A"/>
                </a:solidFill>
                <a:latin typeface="Calibri"/>
              </a:rPr>
              <a:t>Blend the target from where the robot is to B's first frame over one second.</a:t>
            </a:r>
          </a:p>
        </p:txBody>
      </p:sp>
      <p:sp>
        <p:nvSpPr>
          <p:cNvPr id="26" name="Rounded Rectangle 25"/>
          <p:cNvSpPr/>
          <p:nvPr/>
        </p:nvSpPr>
        <p:spPr>
          <a:xfrm>
            <a:off x="8083296" y="4297680"/>
            <a:ext cx="3520440" cy="150876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9327" y="4480560"/>
            <a:ext cx="3008376" cy="365760"/>
          </a:xfrm>
          <a:prstGeom prst="rect">
            <a:avLst/>
          </a:prstGeom>
          <a:noFill/>
        </p:spPr>
        <p:txBody>
          <a:bodyPr wrap="square">
            <a:spAutoFit/>
          </a:bodyPr>
          <a:lstStyle/>
          <a:p>
            <a:pPr algn="l">
              <a:lnSpc>
                <a:spcPct val="100000"/>
              </a:lnSpc>
            </a:pPr>
            <a:r>
              <a:rPr sz="1500" b="1" i="0">
                <a:solidFill>
                  <a:srgbClr val="1B2A3A"/>
                </a:solidFill>
                <a:latin typeface="Calibri"/>
              </a:rPr>
              <a:t>Via the stand</a:t>
            </a:r>
          </a:p>
        </p:txBody>
      </p:sp>
      <p:sp>
        <p:nvSpPr>
          <p:cNvPr id="28" name="TextBox 27"/>
          <p:cNvSpPr txBox="1"/>
          <p:nvPr/>
        </p:nvSpPr>
        <p:spPr>
          <a:xfrm>
            <a:off x="8339327" y="4919472"/>
            <a:ext cx="3008376" cy="749807"/>
          </a:xfrm>
          <a:prstGeom prst="rect">
            <a:avLst/>
          </a:prstGeom>
          <a:noFill/>
        </p:spPr>
        <p:txBody>
          <a:bodyPr wrap="square">
            <a:spAutoFit/>
          </a:bodyPr>
          <a:lstStyle/>
          <a:p>
            <a:pPr algn="l">
              <a:lnSpc>
                <a:spcPct val="112000"/>
              </a:lnSpc>
            </a:pPr>
            <a:r>
              <a:rPr sz="1400" b="0" i="0">
                <a:solidFill>
                  <a:srgbClr val="22252A"/>
                </a:solidFill>
                <a:latin typeface="Calibri"/>
              </a:rPr>
              <a:t>Go to the default standing pose first, then start 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Tennis to dance, direct switch</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One of the 20 runs, cut at the end of tennis</a:t>
            </a:r>
          </a:p>
        </p:txBody>
      </p:sp>
      <p:pic>
        <p:nvPicPr>
          <p:cNvPr id="4" name="tennis_to_dance_direct.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3264408" y="1463040"/>
            <a:ext cx="5669280" cy="4251960"/>
          </a:xfrm>
          <a:prstGeom prst="rect">
            <a:avLst/>
          </a:prstGeom>
        </p:spPr>
      </p:pic>
      <p:sp>
        <p:nvSpPr>
          <p:cNvPr id="5" name="TextBox 4"/>
          <p:cNvSpPr txBox="1"/>
          <p:nvPr/>
        </p:nvSpPr>
        <p:spPr>
          <a:xfrm>
            <a:off x="2990088" y="5769864"/>
            <a:ext cx="6217920" cy="310896"/>
          </a:xfrm>
          <a:prstGeom prst="rect">
            <a:avLst/>
          </a:prstGeom>
          <a:noFill/>
        </p:spPr>
        <p:txBody>
          <a:bodyPr wrap="square">
            <a:spAutoFit/>
          </a:bodyPr>
          <a:lstStyle/>
          <a:p>
            <a:pPr algn="ctr">
              <a:lnSpc>
                <a:spcPct val="100000"/>
              </a:lnSpc>
            </a:pPr>
            <a:r>
              <a:rPr sz="1200" b="0" i="1">
                <a:solidFill>
                  <a:srgbClr val="5A6068"/>
                </a:solidFill>
                <a:latin typeface="Calibri"/>
              </a:rPr>
              <a:t>The label in the corner shows which policy is in charge. 32 s, plain MuJoCo.</a:t>
            </a:r>
          </a:p>
        </p:txBody>
      </p:sp>
      <p:sp>
        <p:nvSpPr>
          <p:cNvPr id="6" name="Rounded Rectangle 5"/>
          <p:cNvSpPr/>
          <p:nvPr/>
        </p:nvSpPr>
        <p:spPr>
          <a:xfrm>
            <a:off x="548640" y="6053328"/>
            <a:ext cx="11091672" cy="512064"/>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053328"/>
            <a:ext cx="82296" cy="512064"/>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117336"/>
            <a:ext cx="10744200" cy="402336"/>
          </a:xfrm>
          <a:prstGeom prst="rect">
            <a:avLst/>
          </a:prstGeom>
          <a:noFill/>
        </p:spPr>
        <p:txBody>
          <a:bodyPr wrap="square" anchor="ctr">
            <a:spAutoFit/>
          </a:bodyPr>
          <a:lstStyle/>
          <a:p>
            <a:r>
              <a:rPr sz="1600" b="1">
                <a:solidFill>
                  <a:srgbClr val="B8862E"/>
                </a:solidFill>
                <a:latin typeface="Calibri"/>
              </a:rPr>
              <a:t>Why it matters:  </a:t>
            </a:r>
            <a:r>
              <a:rPr sz="1600">
                <a:solidFill>
                  <a:srgbClr val="22252A"/>
                </a:solidFill>
                <a:latin typeface="Calibri"/>
              </a:rPr>
              <a:t>a switch can work with no extra training: the robot starts far from dance's first pose and still recovers.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Did the switch survive?</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Runs out of 20. Each policy alone survives 20 of 20.</a:t>
            </a:r>
          </a:p>
        </p:txBody>
      </p:sp>
      <p:graphicFrame>
        <p:nvGraphicFramePr>
          <p:cNvPr id="4" name="Table 3"/>
          <p:cNvGraphicFramePr>
            <a:graphicFrameLocks noGrp="1"/>
          </p:cNvGraphicFramePr>
          <p:nvPr/>
        </p:nvGraphicFramePr>
        <p:xfrm>
          <a:off x="548640" y="1554480"/>
          <a:ext cx="8092439" cy="3968496"/>
        </p:xfrm>
        <a:graphic>
          <a:graphicData uri="http://schemas.openxmlformats.org/drawingml/2006/table">
            <a:tbl>
              <a:tblPr firstRow="1" bandRow="1">
                <a:tableStyleId>{5C22544A-7EE6-4342-B048-85BDC9FD1C3A}</a:tableStyleId>
              </a:tblPr>
              <a:tblGrid>
                <a:gridCol w="1828800"/>
                <a:gridCol w="1874519"/>
                <a:gridCol w="1097280"/>
                <a:gridCol w="1097280"/>
                <a:gridCol w="1097280"/>
                <a:gridCol w="1097280"/>
              </a:tblGrid>
              <a:tr h="566928">
                <a:tc>
                  <a:txBody>
                    <a:bodyPr wrap="square"/>
                    <a:lstStyle/>
                    <a:p>
                      <a:pPr algn="l"/>
                      <a:r>
                        <a:rPr sz="1500" b="1">
                          <a:solidFill>
                            <a:srgbClr val="FFFFFF"/>
                          </a:solidFill>
                          <a:latin typeface="Calibri"/>
                        </a:rPr>
                        <a:t>from -&gt; to</a:t>
                      </a:r>
                    </a:p>
                  </a:txBody>
                  <a:tcPr marL="73152" marR="73152" marT="27432" marB="27432" anchor="ctr">
                    <a:solidFill>
                      <a:srgbClr val="1B2A3A"/>
                    </a:solidFill>
                  </a:tcPr>
                </a:tc>
                <a:tc>
                  <a:txBody>
                    <a:bodyPr wrap="square"/>
                    <a:lstStyle/>
                    <a:p>
                      <a:pPr algn="l"/>
                      <a:r>
                        <a:rPr sz="1500" b="1">
                          <a:solidFill>
                            <a:srgbClr val="FFFFFF"/>
                          </a:solidFill>
                          <a:latin typeface="Calibri"/>
                        </a:rPr>
                        <a:t>how I handed over</a:t>
                      </a:r>
                    </a:p>
                  </a:txBody>
                  <a:tcPr marL="73152" marR="73152" marT="27432" marB="27432" anchor="ctr">
                    <a:solidFill>
                      <a:srgbClr val="1B2A3A"/>
                    </a:solidFill>
                  </a:tcPr>
                </a:tc>
                <a:tc>
                  <a:txBody>
                    <a:bodyPr wrap="square"/>
                    <a:lstStyle/>
                    <a:p>
                      <a:pPr algn="ctr"/>
                      <a:r>
                        <a:rPr sz="1500" b="1">
                          <a:solidFill>
                            <a:srgbClr val="FFFFFF"/>
                          </a:solidFill>
                          <a:latin typeface="Calibri"/>
                        </a:rPr>
                        <a:t>at A's end</a:t>
                      </a:r>
                    </a:p>
                  </a:txBody>
                  <a:tcPr marL="73152" marR="73152" marT="27432" marB="27432" anchor="ctr">
                    <a:solidFill>
                      <a:srgbClr val="1B2A3A"/>
                    </a:solidFill>
                  </a:tcPr>
                </a:tc>
                <a:tc>
                  <a:txBody>
                    <a:bodyPr wrap="square"/>
                    <a:lstStyle/>
                    <a:p>
                      <a:pPr algn="ctr"/>
                      <a:r>
                        <a:rPr sz="1500" b="1">
                          <a:solidFill>
                            <a:srgbClr val="FFFFFF"/>
                          </a:solidFill>
                          <a:latin typeface="Calibri"/>
                        </a:rPr>
                        <a:t>cut 30 %</a:t>
                      </a:r>
                    </a:p>
                  </a:txBody>
                  <a:tcPr marL="73152" marR="73152" marT="27432" marB="27432" anchor="ctr">
                    <a:solidFill>
                      <a:srgbClr val="1B2A3A"/>
                    </a:solidFill>
                  </a:tcPr>
                </a:tc>
                <a:tc>
                  <a:txBody>
                    <a:bodyPr wrap="square"/>
                    <a:lstStyle/>
                    <a:p>
                      <a:pPr algn="ctr"/>
                      <a:r>
                        <a:rPr sz="1500" b="1">
                          <a:solidFill>
                            <a:srgbClr val="FFFFFF"/>
                          </a:solidFill>
                          <a:latin typeface="Calibri"/>
                        </a:rPr>
                        <a:t>cut 50 %</a:t>
                      </a:r>
                    </a:p>
                  </a:txBody>
                  <a:tcPr marL="73152" marR="73152" marT="27432" marB="27432" anchor="ctr">
                    <a:solidFill>
                      <a:srgbClr val="1B2A3A"/>
                    </a:solidFill>
                  </a:tcPr>
                </a:tc>
                <a:tc>
                  <a:txBody>
                    <a:bodyPr wrap="square"/>
                    <a:lstStyle/>
                    <a:p>
                      <a:pPr algn="ctr"/>
                      <a:r>
                        <a:rPr sz="1500" b="1">
                          <a:solidFill>
                            <a:srgbClr val="FFFFFF"/>
                          </a:solidFill>
                          <a:latin typeface="Calibri"/>
                        </a:rPr>
                        <a:t>cut 70 %</a:t>
                      </a:r>
                    </a:p>
                  </a:txBody>
                  <a:tcPr marL="73152" marR="73152" marT="27432" marB="27432" anchor="ctr">
                    <a:solidFill>
                      <a:srgbClr val="1B2A3A"/>
                    </a:solidFill>
                  </a:tcPr>
                </a:tc>
              </a:tr>
              <a:tr h="566928">
                <a:tc>
                  <a:txBody>
                    <a:bodyPr wrap="square"/>
                    <a:lstStyle/>
                    <a:p>
                      <a:pPr algn="l"/>
                      <a:r>
                        <a:rPr sz="1500" b="0">
                          <a:solidFill>
                            <a:srgbClr val="22252A"/>
                          </a:solidFill>
                          <a:latin typeface="Calibri"/>
                        </a:rPr>
                        <a:t>tennis -&gt; dance</a:t>
                      </a:r>
                    </a:p>
                  </a:txBody>
                  <a:tcPr marL="73152" marR="73152" marT="27432" marB="27432" anchor="ctr">
                    <a:solidFill>
                      <a:srgbClr val="EEEDE9"/>
                    </a:solidFill>
                  </a:tcPr>
                </a:tc>
                <a:tc>
                  <a:txBody>
                    <a:bodyPr wrap="square"/>
                    <a:lstStyle/>
                    <a:p>
                      <a:pPr algn="l"/>
                      <a:r>
                        <a:rPr sz="1500" b="0">
                          <a:solidFill>
                            <a:srgbClr val="22252A"/>
                          </a:solidFill>
                          <a:latin typeface="Calibri"/>
                        </a:rPr>
                        <a:t>direct</a:t>
                      </a:r>
                    </a:p>
                  </a:txBody>
                  <a:tcPr marL="73152" marR="73152" marT="27432" marB="27432" anchor="ctr">
                    <a:solidFill>
                      <a:srgbClr val="EEEDE9"/>
                    </a:solidFill>
                  </a:tcPr>
                </a:tc>
                <a:tc>
                  <a:txBody>
                    <a:bodyPr wrap="square"/>
                    <a:lstStyle/>
                    <a:p>
                      <a:pPr algn="ctr"/>
                      <a:r>
                        <a:rPr sz="1500" b="0">
                          <a:solidFill>
                            <a:srgbClr val="22252A"/>
                          </a:solidFill>
                          <a:latin typeface="Calibri"/>
                        </a:rPr>
                        <a:t>20</a:t>
                      </a:r>
                    </a:p>
                  </a:txBody>
                  <a:tcPr marL="73152" marR="73152" marT="27432" marB="27432" anchor="ctr">
                    <a:solidFill>
                      <a:srgbClr val="EEEDE9"/>
                    </a:solidFill>
                  </a:tcPr>
                </a:tc>
                <a:tc>
                  <a:txBody>
                    <a:bodyPr wrap="square"/>
                    <a:lstStyle/>
                    <a:p>
                      <a:pPr algn="ctr"/>
                      <a:r>
                        <a:rPr sz="1500" b="0">
                          <a:solidFill>
                            <a:srgbClr val="22252A"/>
                          </a:solidFill>
                          <a:latin typeface="Calibri"/>
                        </a:rPr>
                        <a:t>18</a:t>
                      </a:r>
                    </a:p>
                  </a:txBody>
                  <a:tcPr marL="73152" marR="73152" marT="27432" marB="27432" anchor="ctr">
                    <a:solidFill>
                      <a:srgbClr val="EEEDE9"/>
                    </a:solidFill>
                  </a:tcPr>
                </a:tc>
                <a:tc>
                  <a:txBody>
                    <a:bodyPr wrap="square"/>
                    <a:lstStyle/>
                    <a:p>
                      <a:pPr algn="ctr"/>
                      <a:r>
                        <a:rPr sz="1500" b="0">
                          <a:solidFill>
                            <a:srgbClr val="22252A"/>
                          </a:solidFill>
                          <a:latin typeface="Calibri"/>
                        </a:rPr>
                        <a:t>18</a:t>
                      </a:r>
                    </a:p>
                  </a:txBody>
                  <a:tcPr marL="73152" marR="73152" marT="27432" marB="27432" anchor="ctr">
                    <a:solidFill>
                      <a:srgbClr val="EEEDE9"/>
                    </a:solidFill>
                  </a:tcPr>
                </a:tc>
                <a:tc>
                  <a:txBody>
                    <a:bodyPr wrap="square"/>
                    <a:lstStyle/>
                    <a:p>
                      <a:pPr algn="ctr"/>
                      <a:r>
                        <a:rPr sz="1500" b="1">
                          <a:solidFill>
                            <a:srgbClr val="B0473C"/>
                          </a:solidFill>
                          <a:latin typeface="Calibri"/>
                        </a:rPr>
                        <a:t>0</a:t>
                      </a:r>
                    </a:p>
                  </a:txBody>
                  <a:tcPr marL="73152" marR="73152" marT="27432" marB="27432" anchor="ctr">
                    <a:solidFill>
                      <a:srgbClr val="F6E4E1"/>
                    </a:solidFill>
                  </a:tcPr>
                </a:tc>
              </a:tr>
              <a:tr h="566928">
                <a:tc>
                  <a:txBody>
                    <a:bodyPr wrap="square"/>
                    <a:lstStyle/>
                    <a:p>
                      <a:pPr algn="l"/>
                      <a:r>
                        <a:rPr sz="1500" b="0">
                          <a:solidFill>
                            <a:srgbClr val="22252A"/>
                          </a:solidFill>
                          <a:latin typeface="Calibri"/>
                        </a:rPr>
                        <a:t>tennis -&gt; dance</a:t>
                      </a:r>
                    </a:p>
                  </a:txBody>
                  <a:tcPr marL="73152" marR="73152" marT="27432" marB="27432" anchor="ctr">
                    <a:solidFill>
                      <a:srgbClr val="FFFFFF"/>
                    </a:solidFill>
                  </a:tcPr>
                </a:tc>
                <a:tc>
                  <a:txBody>
                    <a:bodyPr wrap="square"/>
                    <a:lstStyle/>
                    <a:p>
                      <a:pPr algn="l"/>
                      <a:r>
                        <a:rPr sz="1500" b="0">
                          <a:solidFill>
                            <a:srgbClr val="22252A"/>
                          </a:solidFill>
                          <a:latin typeface="Calibri"/>
                        </a:rPr>
                        <a:t>1 s ramp</a:t>
                      </a:r>
                    </a:p>
                  </a:txBody>
                  <a:tcPr marL="73152" marR="73152" marT="27432" marB="27432" anchor="ctr">
                    <a:solidFill>
                      <a:srgbClr val="FFFFFF"/>
                    </a:solidFill>
                  </a:tcPr>
                </a:tc>
                <a:tc>
                  <a:txBody>
                    <a:bodyPr wrap="square"/>
                    <a:lstStyle/>
                    <a:p>
                      <a:pPr algn="ctr"/>
                      <a:r>
                        <a:rPr sz="1500" b="0">
                          <a:solidFill>
                            <a:srgbClr val="22252A"/>
                          </a:solidFill>
                          <a:latin typeface="Calibri"/>
                        </a:rPr>
                        <a:t>19</a:t>
                      </a:r>
                    </a:p>
                  </a:txBody>
                  <a:tcPr marL="73152" marR="73152" marT="27432" marB="27432" anchor="ctr">
                    <a:solidFill>
                      <a:srgbClr val="FFFFFF"/>
                    </a:solidFill>
                  </a:tcPr>
                </a:tc>
                <a:tc>
                  <a:txBody>
                    <a:bodyPr wrap="square"/>
                    <a:lstStyle/>
                    <a:p>
                      <a:pPr algn="ctr"/>
                      <a:r>
                        <a:rPr sz="1500" b="0">
                          <a:solidFill>
                            <a:srgbClr val="22252A"/>
                          </a:solidFill>
                          <a:latin typeface="Calibri"/>
                        </a:rPr>
                        <a:t>20</a:t>
                      </a:r>
                    </a:p>
                  </a:txBody>
                  <a:tcPr marL="73152" marR="73152" marT="27432" marB="27432" anchor="ctr">
                    <a:solidFill>
                      <a:srgbClr val="FFFFFF"/>
                    </a:solidFill>
                  </a:tcPr>
                </a:tc>
                <a:tc>
                  <a:txBody>
                    <a:bodyPr wrap="square"/>
                    <a:lstStyle/>
                    <a:p>
                      <a:pPr algn="ctr"/>
                      <a:r>
                        <a:rPr sz="1500" b="0">
                          <a:solidFill>
                            <a:srgbClr val="22252A"/>
                          </a:solidFill>
                          <a:latin typeface="Calibri"/>
                        </a:rPr>
                        <a:t>20</a:t>
                      </a:r>
                    </a:p>
                  </a:txBody>
                  <a:tcPr marL="73152" marR="73152" marT="27432" marB="27432" anchor="ctr">
                    <a:solidFill>
                      <a:srgbClr val="FFFFFF"/>
                    </a:solidFill>
                  </a:tcPr>
                </a:tc>
                <a:tc>
                  <a:txBody>
                    <a:bodyPr wrap="square"/>
                    <a:lstStyle/>
                    <a:p>
                      <a:pPr algn="ctr"/>
                      <a:r>
                        <a:rPr sz="1500" b="0">
                          <a:solidFill>
                            <a:srgbClr val="22252A"/>
                          </a:solidFill>
                          <a:latin typeface="Calibri"/>
                        </a:rPr>
                        <a:t>19</a:t>
                      </a:r>
                    </a:p>
                  </a:txBody>
                  <a:tcPr marL="73152" marR="73152" marT="27432" marB="27432" anchor="ctr">
                    <a:solidFill>
                      <a:srgbClr val="FFFFFF"/>
                    </a:solidFill>
                  </a:tcPr>
                </a:tc>
              </a:tr>
              <a:tr h="566928">
                <a:tc>
                  <a:txBody>
                    <a:bodyPr wrap="square"/>
                    <a:lstStyle/>
                    <a:p>
                      <a:pPr algn="l"/>
                      <a:r>
                        <a:rPr sz="1500" b="0">
                          <a:solidFill>
                            <a:srgbClr val="22252A"/>
                          </a:solidFill>
                          <a:latin typeface="Calibri"/>
                        </a:rPr>
                        <a:t>tennis -&gt; dance</a:t>
                      </a:r>
                    </a:p>
                  </a:txBody>
                  <a:tcPr marL="73152" marR="73152" marT="27432" marB="27432" anchor="ctr">
                    <a:solidFill>
                      <a:srgbClr val="EEEDE9"/>
                    </a:solidFill>
                  </a:tcPr>
                </a:tc>
                <a:tc>
                  <a:txBody>
                    <a:bodyPr wrap="square"/>
                    <a:lstStyle/>
                    <a:p>
                      <a:pPr algn="l"/>
                      <a:r>
                        <a:rPr sz="1500" b="0">
                          <a:solidFill>
                            <a:srgbClr val="22252A"/>
                          </a:solidFill>
                          <a:latin typeface="Calibri"/>
                        </a:rPr>
                        <a:t>via the stand</a:t>
                      </a:r>
                    </a:p>
                  </a:txBody>
                  <a:tcPr marL="73152" marR="73152" marT="27432" marB="27432" anchor="ctr">
                    <a:solidFill>
                      <a:srgbClr val="EEEDE9"/>
                    </a:solidFill>
                  </a:tcPr>
                </a:tc>
                <a:tc>
                  <a:txBody>
                    <a:bodyPr wrap="square"/>
                    <a:lstStyle/>
                    <a:p>
                      <a:pPr algn="ctr"/>
                      <a:r>
                        <a:rPr sz="1500" b="0">
                          <a:solidFill>
                            <a:srgbClr val="22252A"/>
                          </a:solidFill>
                          <a:latin typeface="Calibri"/>
                        </a:rPr>
                        <a:t>18</a:t>
                      </a:r>
                    </a:p>
                  </a:txBody>
                  <a:tcPr marL="73152" marR="73152" marT="27432" marB="27432" anchor="ctr">
                    <a:solidFill>
                      <a:srgbClr val="EEEDE9"/>
                    </a:solidFill>
                  </a:tcPr>
                </a:tc>
                <a:tc>
                  <a:txBody>
                    <a:bodyPr wrap="square"/>
                    <a:lstStyle/>
                    <a:p>
                      <a:pPr algn="ctr"/>
                      <a:r>
                        <a:rPr sz="1500" b="0">
                          <a:solidFill>
                            <a:srgbClr val="22252A"/>
                          </a:solidFill>
                          <a:latin typeface="Calibri"/>
                        </a:rPr>
                        <a:t>20</a:t>
                      </a:r>
                    </a:p>
                  </a:txBody>
                  <a:tcPr marL="73152" marR="73152" marT="27432" marB="27432" anchor="ctr">
                    <a:solidFill>
                      <a:srgbClr val="EEEDE9"/>
                    </a:solidFill>
                  </a:tcPr>
                </a:tc>
                <a:tc>
                  <a:txBody>
                    <a:bodyPr wrap="square"/>
                    <a:lstStyle/>
                    <a:p>
                      <a:pPr algn="ctr"/>
                      <a:r>
                        <a:rPr sz="1500" b="0">
                          <a:solidFill>
                            <a:srgbClr val="22252A"/>
                          </a:solidFill>
                          <a:latin typeface="Calibri"/>
                        </a:rPr>
                        <a:t>19</a:t>
                      </a:r>
                    </a:p>
                  </a:txBody>
                  <a:tcPr marL="73152" marR="73152" marT="27432" marB="27432" anchor="ctr">
                    <a:solidFill>
                      <a:srgbClr val="EEEDE9"/>
                    </a:solidFill>
                  </a:tcPr>
                </a:tc>
                <a:tc>
                  <a:txBody>
                    <a:bodyPr wrap="square"/>
                    <a:lstStyle/>
                    <a:p>
                      <a:pPr algn="ctr"/>
                      <a:r>
                        <a:rPr sz="1500" b="0">
                          <a:solidFill>
                            <a:srgbClr val="22252A"/>
                          </a:solidFill>
                          <a:latin typeface="Calibri"/>
                        </a:rPr>
                        <a:t>19</a:t>
                      </a:r>
                    </a:p>
                  </a:txBody>
                  <a:tcPr marL="73152" marR="73152" marT="27432" marB="27432" anchor="ctr">
                    <a:solidFill>
                      <a:srgbClr val="EEEDE9"/>
                    </a:solidFill>
                  </a:tcPr>
                </a:tc>
              </a:tr>
              <a:tr h="566928">
                <a:tc>
                  <a:txBody>
                    <a:bodyPr wrap="square"/>
                    <a:lstStyle/>
                    <a:p>
                      <a:pPr algn="l"/>
                      <a:r>
                        <a:rPr sz="1500" b="0">
                          <a:solidFill>
                            <a:srgbClr val="22252A"/>
                          </a:solidFill>
                          <a:latin typeface="Calibri"/>
                        </a:rPr>
                        <a:t>dance -&gt; tennis</a:t>
                      </a:r>
                    </a:p>
                  </a:txBody>
                  <a:tcPr marL="73152" marR="73152" marT="27432" marB="27432" anchor="ctr">
                    <a:solidFill>
                      <a:srgbClr val="FFFFFF"/>
                    </a:solidFill>
                  </a:tcPr>
                </a:tc>
                <a:tc>
                  <a:txBody>
                    <a:bodyPr wrap="square"/>
                    <a:lstStyle/>
                    <a:p>
                      <a:pPr algn="l"/>
                      <a:r>
                        <a:rPr sz="1500" b="0">
                          <a:solidFill>
                            <a:srgbClr val="22252A"/>
                          </a:solidFill>
                          <a:latin typeface="Calibri"/>
                        </a:rPr>
                        <a:t>direct</a:t>
                      </a:r>
                    </a:p>
                  </a:txBody>
                  <a:tcPr marL="73152" marR="73152" marT="27432" marB="27432" anchor="ctr">
                    <a:solidFill>
                      <a:srgbClr val="FFFFFF"/>
                    </a:solidFill>
                  </a:tcPr>
                </a:tc>
                <a:tc>
                  <a:txBody>
                    <a:bodyPr wrap="square"/>
                    <a:lstStyle/>
                    <a:p>
                      <a:pPr algn="ctr"/>
                      <a:r>
                        <a:rPr sz="1500" b="0">
                          <a:solidFill>
                            <a:srgbClr val="22252A"/>
                          </a:solidFill>
                          <a:latin typeface="Calibri"/>
                        </a:rPr>
                        <a:t>20</a:t>
                      </a:r>
                    </a:p>
                  </a:txBody>
                  <a:tcPr marL="73152" marR="73152" marT="27432" marB="27432" anchor="ctr">
                    <a:solidFill>
                      <a:srgbClr val="FFFFFF"/>
                    </a:solidFill>
                  </a:tcPr>
                </a:tc>
                <a:tc>
                  <a:txBody>
                    <a:bodyPr wrap="square"/>
                    <a:lstStyle/>
                    <a:p>
                      <a:pPr algn="ctr"/>
                      <a:r>
                        <a:rPr sz="1500" b="0">
                          <a:solidFill>
                            <a:srgbClr val="22252A"/>
                          </a:solidFill>
                          <a:latin typeface="Calibri"/>
                        </a:rPr>
                        <a:t>20</a:t>
                      </a:r>
                    </a:p>
                  </a:txBody>
                  <a:tcPr marL="73152" marR="73152" marT="27432" marB="27432" anchor="ctr">
                    <a:solidFill>
                      <a:srgbClr val="FFFFFF"/>
                    </a:solidFill>
                  </a:tcPr>
                </a:tc>
                <a:tc>
                  <a:txBody>
                    <a:bodyPr wrap="square"/>
                    <a:lstStyle/>
                    <a:p>
                      <a:pPr algn="ctr"/>
                      <a:r>
                        <a:rPr sz="1500" b="0">
                          <a:solidFill>
                            <a:srgbClr val="22252A"/>
                          </a:solidFill>
                          <a:latin typeface="Calibri"/>
                        </a:rPr>
                        <a:t>20</a:t>
                      </a:r>
                    </a:p>
                  </a:txBody>
                  <a:tcPr marL="73152" marR="73152" marT="27432" marB="27432" anchor="ctr">
                    <a:solidFill>
                      <a:srgbClr val="FFFFFF"/>
                    </a:solidFill>
                  </a:tcPr>
                </a:tc>
                <a:tc>
                  <a:txBody>
                    <a:bodyPr wrap="square"/>
                    <a:lstStyle/>
                    <a:p>
                      <a:pPr algn="ctr"/>
                      <a:r>
                        <a:rPr sz="1500" b="0">
                          <a:solidFill>
                            <a:srgbClr val="22252A"/>
                          </a:solidFill>
                          <a:latin typeface="Calibri"/>
                        </a:rPr>
                        <a:t>20</a:t>
                      </a:r>
                    </a:p>
                  </a:txBody>
                  <a:tcPr marL="73152" marR="73152" marT="27432" marB="27432" anchor="ctr">
                    <a:solidFill>
                      <a:srgbClr val="FFFFFF"/>
                    </a:solidFill>
                  </a:tcPr>
                </a:tc>
              </a:tr>
              <a:tr h="566928">
                <a:tc>
                  <a:txBody>
                    <a:bodyPr wrap="square"/>
                    <a:lstStyle/>
                    <a:p>
                      <a:pPr algn="l"/>
                      <a:r>
                        <a:rPr sz="1500" b="0">
                          <a:solidFill>
                            <a:srgbClr val="22252A"/>
                          </a:solidFill>
                          <a:latin typeface="Calibri"/>
                        </a:rPr>
                        <a:t>dance -&gt; tennis</a:t>
                      </a:r>
                    </a:p>
                  </a:txBody>
                  <a:tcPr marL="73152" marR="73152" marT="27432" marB="27432" anchor="ctr">
                    <a:solidFill>
                      <a:srgbClr val="EEEDE9"/>
                    </a:solidFill>
                  </a:tcPr>
                </a:tc>
                <a:tc>
                  <a:txBody>
                    <a:bodyPr wrap="square"/>
                    <a:lstStyle/>
                    <a:p>
                      <a:pPr algn="l"/>
                      <a:r>
                        <a:rPr sz="1500" b="0">
                          <a:solidFill>
                            <a:srgbClr val="22252A"/>
                          </a:solidFill>
                          <a:latin typeface="Calibri"/>
                        </a:rPr>
                        <a:t>1 s ramp</a:t>
                      </a:r>
                    </a:p>
                  </a:txBody>
                  <a:tcPr marL="73152" marR="73152" marT="27432" marB="27432" anchor="ctr">
                    <a:solidFill>
                      <a:srgbClr val="EEEDE9"/>
                    </a:solidFill>
                  </a:tcPr>
                </a:tc>
                <a:tc>
                  <a:txBody>
                    <a:bodyPr wrap="square"/>
                    <a:lstStyle/>
                    <a:p>
                      <a:pPr algn="ctr"/>
                      <a:r>
                        <a:rPr sz="1500" b="0">
                          <a:solidFill>
                            <a:srgbClr val="22252A"/>
                          </a:solidFill>
                          <a:latin typeface="Calibri"/>
                        </a:rPr>
                        <a:t>20</a:t>
                      </a:r>
                    </a:p>
                  </a:txBody>
                  <a:tcPr marL="73152" marR="73152" marT="27432" marB="27432" anchor="ctr">
                    <a:solidFill>
                      <a:srgbClr val="EEEDE9"/>
                    </a:solidFill>
                  </a:tcPr>
                </a:tc>
                <a:tc>
                  <a:txBody>
                    <a:bodyPr wrap="square"/>
                    <a:lstStyle/>
                    <a:p>
                      <a:pPr algn="ctr"/>
                      <a:r>
                        <a:rPr sz="1500" b="0">
                          <a:solidFill>
                            <a:srgbClr val="22252A"/>
                          </a:solidFill>
                          <a:latin typeface="Calibri"/>
                        </a:rPr>
                        <a:t>20</a:t>
                      </a:r>
                    </a:p>
                  </a:txBody>
                  <a:tcPr marL="73152" marR="73152" marT="27432" marB="27432" anchor="ctr">
                    <a:solidFill>
                      <a:srgbClr val="EEEDE9"/>
                    </a:solidFill>
                  </a:tcPr>
                </a:tc>
                <a:tc>
                  <a:txBody>
                    <a:bodyPr wrap="square"/>
                    <a:lstStyle/>
                    <a:p>
                      <a:pPr algn="ctr"/>
                      <a:r>
                        <a:rPr sz="1500" b="1">
                          <a:solidFill>
                            <a:srgbClr val="B0473C"/>
                          </a:solidFill>
                          <a:latin typeface="Calibri"/>
                        </a:rPr>
                        <a:t>11</a:t>
                      </a:r>
                    </a:p>
                  </a:txBody>
                  <a:tcPr marL="73152" marR="73152" marT="27432" marB="27432" anchor="ctr">
                    <a:solidFill>
                      <a:srgbClr val="F6E4E1"/>
                    </a:solidFill>
                  </a:tcPr>
                </a:tc>
                <a:tc>
                  <a:txBody>
                    <a:bodyPr wrap="square"/>
                    <a:lstStyle/>
                    <a:p>
                      <a:pPr algn="ctr"/>
                      <a:r>
                        <a:rPr sz="1500" b="0">
                          <a:solidFill>
                            <a:srgbClr val="22252A"/>
                          </a:solidFill>
                          <a:latin typeface="Calibri"/>
                        </a:rPr>
                        <a:t>18</a:t>
                      </a:r>
                    </a:p>
                  </a:txBody>
                  <a:tcPr marL="73152" marR="73152" marT="27432" marB="27432" anchor="ctr">
                    <a:solidFill>
                      <a:srgbClr val="EEEDE9"/>
                    </a:solidFill>
                  </a:tcPr>
                </a:tc>
              </a:tr>
              <a:tr h="566928">
                <a:tc>
                  <a:txBody>
                    <a:bodyPr wrap="square"/>
                    <a:lstStyle/>
                    <a:p>
                      <a:pPr algn="l"/>
                      <a:r>
                        <a:rPr sz="1500" b="0">
                          <a:solidFill>
                            <a:srgbClr val="22252A"/>
                          </a:solidFill>
                          <a:latin typeface="Calibri"/>
                        </a:rPr>
                        <a:t>dance -&gt; tennis</a:t>
                      </a:r>
                    </a:p>
                  </a:txBody>
                  <a:tcPr marL="73152" marR="73152" marT="27432" marB="27432" anchor="ctr">
                    <a:solidFill>
                      <a:srgbClr val="FFFFFF"/>
                    </a:solidFill>
                  </a:tcPr>
                </a:tc>
                <a:tc>
                  <a:txBody>
                    <a:bodyPr wrap="square"/>
                    <a:lstStyle/>
                    <a:p>
                      <a:pPr algn="l"/>
                      <a:r>
                        <a:rPr sz="1500" b="0">
                          <a:solidFill>
                            <a:srgbClr val="22252A"/>
                          </a:solidFill>
                          <a:latin typeface="Calibri"/>
                        </a:rPr>
                        <a:t>via the stand</a:t>
                      </a:r>
                    </a:p>
                  </a:txBody>
                  <a:tcPr marL="73152" marR="73152" marT="27432" marB="27432" anchor="ctr">
                    <a:solidFill>
                      <a:srgbClr val="FFFFFF"/>
                    </a:solidFill>
                  </a:tcPr>
                </a:tc>
                <a:tc>
                  <a:txBody>
                    <a:bodyPr wrap="square"/>
                    <a:lstStyle/>
                    <a:p>
                      <a:pPr algn="ctr"/>
                      <a:r>
                        <a:rPr sz="1500" b="1">
                          <a:solidFill>
                            <a:srgbClr val="B0473C"/>
                          </a:solidFill>
                          <a:latin typeface="Calibri"/>
                        </a:rPr>
                        <a:t>1</a:t>
                      </a:r>
                    </a:p>
                  </a:txBody>
                  <a:tcPr marL="73152" marR="73152" marT="27432" marB="27432" anchor="ctr">
                    <a:solidFill>
                      <a:srgbClr val="F6E4E1"/>
                    </a:solidFill>
                  </a:tcPr>
                </a:tc>
                <a:tc>
                  <a:txBody>
                    <a:bodyPr wrap="square"/>
                    <a:lstStyle/>
                    <a:p>
                      <a:pPr algn="ctr"/>
                      <a:r>
                        <a:rPr sz="1500" b="1">
                          <a:solidFill>
                            <a:srgbClr val="B0473C"/>
                          </a:solidFill>
                          <a:latin typeface="Calibri"/>
                        </a:rPr>
                        <a:t>8</a:t>
                      </a:r>
                    </a:p>
                  </a:txBody>
                  <a:tcPr marL="73152" marR="73152" marT="27432" marB="27432" anchor="ctr">
                    <a:solidFill>
                      <a:srgbClr val="F6E4E1"/>
                    </a:solidFill>
                  </a:tcPr>
                </a:tc>
                <a:tc>
                  <a:txBody>
                    <a:bodyPr wrap="square"/>
                    <a:lstStyle/>
                    <a:p>
                      <a:pPr algn="ctr"/>
                      <a:r>
                        <a:rPr sz="1500" b="1">
                          <a:solidFill>
                            <a:srgbClr val="B0473C"/>
                          </a:solidFill>
                          <a:latin typeface="Calibri"/>
                        </a:rPr>
                        <a:t>7</a:t>
                      </a:r>
                    </a:p>
                  </a:txBody>
                  <a:tcPr marL="73152" marR="73152" marT="27432" marB="27432" anchor="ctr">
                    <a:solidFill>
                      <a:srgbClr val="F6E4E1"/>
                    </a:solidFill>
                  </a:tcPr>
                </a:tc>
                <a:tc>
                  <a:txBody>
                    <a:bodyPr wrap="square"/>
                    <a:lstStyle/>
                    <a:p>
                      <a:pPr algn="ctr"/>
                      <a:r>
                        <a:rPr sz="1500" b="1">
                          <a:solidFill>
                            <a:srgbClr val="B0473C"/>
                          </a:solidFill>
                          <a:latin typeface="Calibri"/>
                        </a:rPr>
                        <a:t>2</a:t>
                      </a:r>
                    </a:p>
                  </a:txBody>
                  <a:tcPr marL="73152" marR="73152" marT="27432" marB="27432" anchor="ctr">
                    <a:solidFill>
                      <a:srgbClr val="F6E4E1"/>
                    </a:solidFill>
                  </a:tcPr>
                </a:tc>
              </a:tr>
            </a:tbl>
          </a:graphicData>
        </a:graphic>
      </p:graphicFrame>
      <p:sp>
        <p:nvSpPr>
          <p:cNvPr id="5" name="Rounded Rectangle 4"/>
          <p:cNvSpPr/>
          <p:nvPr/>
        </p:nvSpPr>
        <p:spPr>
          <a:xfrm>
            <a:off x="8869680" y="1554480"/>
            <a:ext cx="2770632" cy="3977639"/>
          </a:xfrm>
          <a:prstGeom prst="roundRect">
            <a:avLst/>
          </a:prstGeom>
          <a:solidFill>
            <a:srgbClr val="F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25711" y="1737360"/>
            <a:ext cx="2258568" cy="365760"/>
          </a:xfrm>
          <a:prstGeom prst="rect">
            <a:avLst/>
          </a:prstGeom>
          <a:noFill/>
        </p:spPr>
        <p:txBody>
          <a:bodyPr wrap="square">
            <a:spAutoFit/>
          </a:bodyPr>
          <a:lstStyle/>
          <a:p>
            <a:pPr algn="l">
              <a:lnSpc>
                <a:spcPct val="100000"/>
              </a:lnSpc>
            </a:pPr>
            <a:r>
              <a:rPr sz="1500" b="1" i="0">
                <a:solidFill>
                  <a:srgbClr val="1B2A3A"/>
                </a:solidFill>
                <a:latin typeface="Calibri"/>
              </a:rPr>
              <a:t>What failed</a:t>
            </a:r>
          </a:p>
        </p:txBody>
      </p:sp>
      <p:sp>
        <p:nvSpPr>
          <p:cNvPr id="7" name="TextBox 6"/>
          <p:cNvSpPr txBox="1"/>
          <p:nvPr/>
        </p:nvSpPr>
        <p:spPr>
          <a:xfrm>
            <a:off x="9125711" y="2176272"/>
            <a:ext cx="2258568" cy="3218688"/>
          </a:xfrm>
          <a:prstGeom prst="rect">
            <a:avLst/>
          </a:prstGeom>
          <a:noFill/>
        </p:spPr>
        <p:txBody>
          <a:bodyPr wrap="square">
            <a:spAutoFit/>
          </a:bodyPr>
          <a:lstStyle/>
          <a:p>
            <a:pPr algn="l">
              <a:lnSpc>
                <a:spcPct val="112000"/>
              </a:lnSpc>
            </a:pPr>
            <a:r>
              <a:rPr sz="1350" b="0" i="0">
                <a:solidFill>
                  <a:srgbClr val="22252A"/>
                </a:solidFill>
                <a:latin typeface="Calibri"/>
              </a:rPr>
              <a:t>Direct: only the cut with the arm up mid-serve, 0 of 20.</a:t>
            </a:r>
          </a:p>
          <a:p>
            <a:pPr algn="l">
              <a:lnSpc>
                <a:spcPct val="112000"/>
              </a:lnSpc>
            </a:pPr>
          </a:p>
          <a:p>
            <a:pPr algn="l">
              <a:lnSpc>
                <a:spcPct val="112000"/>
              </a:lnSpc>
            </a:pPr>
            <a:r>
              <a:rPr sz="1350" b="0" i="0">
                <a:solidFill>
                  <a:srgbClr val="22252A"/>
                </a:solidFill>
                <a:latin typeface="Calibri"/>
              </a:rPr>
              <a:t>The 1 s ramp raised that case to 19 of 20, but another case fell to 11 of 20.</a:t>
            </a:r>
          </a:p>
          <a:p>
            <a:pPr algn="l">
              <a:lnSpc>
                <a:spcPct val="112000"/>
              </a:lnSpc>
            </a:pPr>
          </a:p>
          <a:p>
            <a:pPr algn="l">
              <a:lnSpc>
                <a:spcPct val="112000"/>
              </a:lnSpc>
            </a:pPr>
            <a:r>
              <a:rPr sz="1350" b="0" i="0">
                <a:solidFill>
                  <a:srgbClr val="22252A"/>
                </a:solidFill>
                <a:latin typeface="Calibri"/>
              </a:rPr>
              <a:t>Through the stand was the worst: down to 1 of 20.</a:t>
            </a:r>
          </a:p>
        </p:txBody>
      </p:sp>
      <p:sp>
        <p:nvSpPr>
          <p:cNvPr id="8" name="Rounded Rectangle 7"/>
          <p:cNvSpPr/>
          <p:nvPr/>
        </p:nvSpPr>
        <p:spPr>
          <a:xfrm>
            <a:off x="548640" y="6053328"/>
            <a:ext cx="11091672" cy="512064"/>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6053328"/>
            <a:ext cx="82296" cy="512064"/>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6117336"/>
            <a:ext cx="10744200" cy="402336"/>
          </a:xfrm>
          <a:prstGeom prst="rect">
            <a:avLst/>
          </a:prstGeom>
          <a:noFill/>
        </p:spPr>
        <p:txBody>
          <a:bodyPr wrap="square" anchor="ctr">
            <a:spAutoFit/>
          </a:bodyPr>
          <a:lstStyle/>
          <a:p>
            <a:r>
              <a:rPr sz="1600" b="1">
                <a:solidFill>
                  <a:srgbClr val="B8862E"/>
                </a:solidFill>
                <a:latin typeface="Calibri"/>
              </a:rPr>
              <a:t>Why it matters:  </a:t>
            </a:r>
            <a:r>
              <a:rPr sz="1600">
                <a:solidFill>
                  <a:srgbClr val="22252A"/>
                </a:solidFill>
                <a:latin typeface="Calibri"/>
              </a:rPr>
              <a:t>in this test one cut (tennis at 70 %, arm up) failed every time: where the switch happens matters.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What the switch test told me</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Four findings that shaped the rest of the week</a:t>
            </a:r>
          </a:p>
        </p:txBody>
      </p:sp>
      <p:sp>
        <p:nvSpPr>
          <p:cNvPr id="4" name="Rounded Rectangle 3"/>
          <p:cNvSpPr/>
          <p:nvPr/>
        </p:nvSpPr>
        <p:spPr>
          <a:xfrm>
            <a:off x="548640" y="1554480"/>
            <a:ext cx="5440680" cy="201168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737360"/>
            <a:ext cx="4928616" cy="365760"/>
          </a:xfrm>
          <a:prstGeom prst="rect">
            <a:avLst/>
          </a:prstGeom>
          <a:noFill/>
        </p:spPr>
        <p:txBody>
          <a:bodyPr wrap="square">
            <a:spAutoFit/>
          </a:bodyPr>
          <a:lstStyle/>
          <a:p>
            <a:pPr algn="l">
              <a:lnSpc>
                <a:spcPct val="100000"/>
              </a:lnSpc>
            </a:pPr>
            <a:r>
              <a:rPr sz="1500" b="1" i="0">
                <a:solidFill>
                  <a:srgbClr val="1B2A3A"/>
                </a:solidFill>
                <a:latin typeface="Calibri"/>
              </a:rPr>
              <a:t>The motions do not start or end standing</a:t>
            </a:r>
          </a:p>
        </p:txBody>
      </p:sp>
      <p:sp>
        <p:nvSpPr>
          <p:cNvPr id="6" name="TextBox 5"/>
          <p:cNvSpPr txBox="1"/>
          <p:nvPr/>
        </p:nvSpPr>
        <p:spPr>
          <a:xfrm>
            <a:off x="804672" y="2176272"/>
            <a:ext cx="4928616" cy="1252728"/>
          </a:xfrm>
          <a:prstGeom prst="rect">
            <a:avLst/>
          </a:prstGeom>
          <a:noFill/>
        </p:spPr>
        <p:txBody>
          <a:bodyPr wrap="square">
            <a:spAutoFit/>
          </a:bodyPr>
          <a:lstStyle/>
          <a:p>
            <a:pPr algn="l">
              <a:lnSpc>
                <a:spcPct val="112000"/>
              </a:lnSpc>
            </a:pPr>
            <a:r>
              <a:rPr sz="1500" b="0" i="0">
                <a:solidFill>
                  <a:srgbClr val="22252A"/>
                </a:solidFill>
                <a:latin typeface="Calibri"/>
              </a:rPr>
              <a:t>At the first and last frame the joints are far from the default standing pose. So I propose clips for the skill bag that start and end standing.</a:t>
            </a:r>
          </a:p>
        </p:txBody>
      </p:sp>
      <p:sp>
        <p:nvSpPr>
          <p:cNvPr id="7" name="Rounded Rectangle 6"/>
          <p:cNvSpPr/>
          <p:nvPr/>
        </p:nvSpPr>
        <p:spPr>
          <a:xfrm>
            <a:off x="6172200" y="1554480"/>
            <a:ext cx="5440680" cy="201168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28232" y="1737360"/>
            <a:ext cx="4928616" cy="657225"/>
          </a:xfrm>
          <a:prstGeom prst="rect">
            <a:avLst/>
          </a:prstGeom>
          <a:noFill/>
        </p:spPr>
        <p:txBody>
          <a:bodyPr wrap="square">
            <a:spAutoFit/>
          </a:bodyPr>
          <a:lstStyle/>
          <a:p>
            <a:pPr algn="l">
              <a:lnSpc>
                <a:spcPct val="100000"/>
              </a:lnSpc>
            </a:pPr>
            <a:r>
              <a:rPr sz="1500" b="1" i="0">
                <a:solidFill>
                  <a:srgbClr val="1B2A3A"/>
                </a:solidFill>
                <a:latin typeface="Calibri"/>
              </a:rPr>
              <a:t>A direct switch mostly works, but not always</a:t>
            </a:r>
          </a:p>
        </p:txBody>
      </p:sp>
      <p:sp>
        <p:nvSpPr>
          <p:cNvPr id="9" name="TextBox 8"/>
          <p:cNvSpPr txBox="1"/>
          <p:nvPr/>
        </p:nvSpPr>
        <p:spPr>
          <a:xfrm>
            <a:off x="6428232" y="2467737"/>
            <a:ext cx="4928616" cy="961263"/>
          </a:xfrm>
          <a:prstGeom prst="rect">
            <a:avLst/>
          </a:prstGeom>
          <a:noFill/>
        </p:spPr>
        <p:txBody>
          <a:bodyPr wrap="square">
            <a:spAutoFit/>
          </a:bodyPr>
          <a:lstStyle/>
          <a:p>
            <a:pPr algn="l">
              <a:lnSpc>
                <a:spcPct val="112000"/>
              </a:lnSpc>
            </a:pPr>
            <a:r>
              <a:rPr sz="1500" b="0" i="0">
                <a:solidFill>
                  <a:srgbClr val="22252A"/>
                </a:solidFill>
                <a:latin typeface="Calibri"/>
              </a:rPr>
              <a:t>It failed when the arm was up mid-serve, far from the pose dance starts from.</a:t>
            </a:r>
          </a:p>
        </p:txBody>
      </p:sp>
      <p:sp>
        <p:nvSpPr>
          <p:cNvPr id="10" name="Rounded Rectangle 9"/>
          <p:cNvSpPr/>
          <p:nvPr/>
        </p:nvSpPr>
        <p:spPr>
          <a:xfrm>
            <a:off x="548640" y="3749039"/>
            <a:ext cx="5440680" cy="201168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3931920"/>
            <a:ext cx="4928616" cy="365760"/>
          </a:xfrm>
          <a:prstGeom prst="rect">
            <a:avLst/>
          </a:prstGeom>
          <a:noFill/>
        </p:spPr>
        <p:txBody>
          <a:bodyPr wrap="square">
            <a:spAutoFit/>
          </a:bodyPr>
          <a:lstStyle/>
          <a:p>
            <a:pPr algn="l">
              <a:lnSpc>
                <a:spcPct val="100000"/>
              </a:lnSpc>
            </a:pPr>
            <a:r>
              <a:rPr sz="1500" b="1" i="0">
                <a:solidFill>
                  <a:srgbClr val="1B2A3A"/>
                </a:solidFill>
                <a:latin typeface="Calibri"/>
              </a:rPr>
              <a:t>The tested ramp was inconsistent</a:t>
            </a:r>
          </a:p>
        </p:txBody>
      </p:sp>
      <p:sp>
        <p:nvSpPr>
          <p:cNvPr id="12" name="TextBox 11"/>
          <p:cNvSpPr txBox="1"/>
          <p:nvPr/>
        </p:nvSpPr>
        <p:spPr>
          <a:xfrm>
            <a:off x="804672" y="4370832"/>
            <a:ext cx="4928616" cy="1252727"/>
          </a:xfrm>
          <a:prstGeom prst="rect">
            <a:avLst/>
          </a:prstGeom>
          <a:noFill/>
        </p:spPr>
        <p:txBody>
          <a:bodyPr wrap="square">
            <a:spAutoFit/>
          </a:bodyPr>
          <a:lstStyle/>
          <a:p>
            <a:pPr algn="l">
              <a:lnSpc>
                <a:spcPct val="112000"/>
              </a:lnSpc>
            </a:pPr>
            <a:r>
              <a:rPr sz="1500" b="0" i="0">
                <a:solidFill>
                  <a:srgbClr val="22252A"/>
                </a:solidFill>
                <a:latin typeface="Calibri"/>
              </a:rPr>
              <a:t>It helped one case and hurt another. The policies never saw ramps or pauses in training, so a blended target is new to them.</a:t>
            </a:r>
          </a:p>
        </p:txBody>
      </p:sp>
      <p:sp>
        <p:nvSpPr>
          <p:cNvPr id="13" name="Rounded Rectangle 12"/>
          <p:cNvSpPr/>
          <p:nvPr/>
        </p:nvSpPr>
        <p:spPr>
          <a:xfrm>
            <a:off x="6172200" y="3749039"/>
            <a:ext cx="5440680" cy="2011680"/>
          </a:xfrm>
          <a:prstGeom prst="roundRect">
            <a:avLst/>
          </a:prstGeom>
          <a:solidFill>
            <a:srgbClr val="F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3931920"/>
            <a:ext cx="4928616" cy="365760"/>
          </a:xfrm>
          <a:prstGeom prst="rect">
            <a:avLst/>
          </a:prstGeom>
          <a:noFill/>
        </p:spPr>
        <p:txBody>
          <a:bodyPr wrap="square">
            <a:spAutoFit/>
          </a:bodyPr>
          <a:lstStyle/>
          <a:p>
            <a:pPr algn="l">
              <a:lnSpc>
                <a:spcPct val="100000"/>
              </a:lnSpc>
            </a:pPr>
            <a:r>
              <a:rPr sz="1500" b="1" i="0">
                <a:solidFill>
                  <a:srgbClr val="1B2A3A"/>
                </a:solidFill>
                <a:latin typeface="Calibri"/>
              </a:rPr>
              <a:t>Motor springs alone did not hold the stand</a:t>
            </a:r>
          </a:p>
        </p:txBody>
      </p:sp>
      <p:sp>
        <p:nvSpPr>
          <p:cNvPr id="15" name="TextBox 14"/>
          <p:cNvSpPr txBox="1"/>
          <p:nvPr/>
        </p:nvSpPr>
        <p:spPr>
          <a:xfrm>
            <a:off x="6428232" y="4370832"/>
            <a:ext cx="4928616" cy="1252727"/>
          </a:xfrm>
          <a:prstGeom prst="rect">
            <a:avLst/>
          </a:prstGeom>
          <a:noFill/>
        </p:spPr>
        <p:txBody>
          <a:bodyPr wrap="square">
            <a:spAutoFit/>
          </a:bodyPr>
          <a:lstStyle/>
          <a:p>
            <a:pPr algn="l">
              <a:lnSpc>
                <a:spcPct val="112000"/>
              </a:lnSpc>
            </a:pPr>
            <a:r>
              <a:rPr sz="1500" b="0" i="0">
                <a:solidFill>
                  <a:srgbClr val="22252A"/>
                </a:solidFill>
                <a:latin typeface="Calibri"/>
              </a:rPr>
              <a:t>In one test, holding the default pose without a policy, the robot tipped over in about 3 s. The stand between skills has to be a balancing policy. That is Part 2.</a:t>
            </a:r>
          </a:p>
        </p:txBody>
      </p:sp>
      <p:sp>
        <p:nvSpPr>
          <p:cNvPr id="16" name="Rounded Rectangle 15"/>
          <p:cNvSpPr/>
          <p:nvPr/>
        </p:nvSpPr>
        <p:spPr>
          <a:xfrm>
            <a:off x="548640" y="6053328"/>
            <a:ext cx="11091672" cy="512064"/>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6053328"/>
            <a:ext cx="82296" cy="512064"/>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6117336"/>
            <a:ext cx="10744200" cy="402336"/>
          </a:xfrm>
          <a:prstGeom prst="rect">
            <a:avLst/>
          </a:prstGeom>
          <a:noFill/>
        </p:spPr>
        <p:txBody>
          <a:bodyPr wrap="square" anchor="ctr">
            <a:spAutoFit/>
          </a:bodyPr>
          <a:lstStyle/>
          <a:p>
            <a:r>
              <a:rPr sz="1600" b="1">
                <a:solidFill>
                  <a:srgbClr val="B8862E"/>
                </a:solidFill>
                <a:latin typeface="Calibri"/>
              </a:rPr>
              <a:t>Why it matters:  </a:t>
            </a:r>
            <a:r>
              <a:rPr sz="1600">
                <a:solidFill>
                  <a:srgbClr val="22252A"/>
                </a:solidFill>
                <a:latin typeface="Calibri"/>
              </a:rPr>
              <a:t>the stand in the middle of the bag must balance by itself, so I trained one next.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1005840" y="2240280"/>
            <a:ext cx="82296" cy="1920240"/>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12848"/>
            <a:ext cx="9601200" cy="365760"/>
          </a:xfrm>
          <a:prstGeom prst="rect">
            <a:avLst/>
          </a:prstGeom>
          <a:noFill/>
        </p:spPr>
        <p:txBody>
          <a:bodyPr wrap="square">
            <a:spAutoFit/>
          </a:bodyPr>
          <a:lstStyle/>
          <a:p>
            <a:pPr algn="l">
              <a:lnSpc>
                <a:spcPct val="100000"/>
              </a:lnSpc>
            </a:pPr>
            <a:r>
              <a:rPr sz="1500" b="0" i="0">
                <a:solidFill>
                  <a:srgbClr val="B8862E"/>
                </a:solidFill>
                <a:latin typeface="Calibri"/>
              </a:rPr>
              <a:t>PART 2</a:t>
            </a:r>
          </a:p>
        </p:txBody>
      </p:sp>
      <p:sp>
        <p:nvSpPr>
          <p:cNvPr id="4" name="TextBox 3"/>
          <p:cNvSpPr txBox="1"/>
          <p:nvPr/>
        </p:nvSpPr>
        <p:spPr>
          <a:xfrm>
            <a:off x="1371600" y="2606040"/>
            <a:ext cx="9601200" cy="822960"/>
          </a:xfrm>
          <a:prstGeom prst="rect">
            <a:avLst/>
          </a:prstGeom>
          <a:noFill/>
        </p:spPr>
        <p:txBody>
          <a:bodyPr wrap="square">
            <a:spAutoFit/>
          </a:bodyPr>
          <a:lstStyle/>
          <a:p>
            <a:pPr algn="l">
              <a:lnSpc>
                <a:spcPct val="100000"/>
              </a:lnSpc>
            </a:pPr>
            <a:r>
              <a:rPr sz="4000" b="1" i="0">
                <a:solidFill>
                  <a:srgbClr val="FFFFFF"/>
                </a:solidFill>
                <a:latin typeface="Calibri"/>
              </a:rPr>
              <a:t>Walk and run on command</a:t>
            </a:r>
          </a:p>
        </p:txBody>
      </p:sp>
      <p:sp>
        <p:nvSpPr>
          <p:cNvPr id="5" name="TextBox 4"/>
          <p:cNvSpPr txBox="1"/>
          <p:nvPr/>
        </p:nvSpPr>
        <p:spPr>
          <a:xfrm>
            <a:off x="1371600" y="3520440"/>
            <a:ext cx="9601200" cy="457200"/>
          </a:xfrm>
          <a:prstGeom prst="rect">
            <a:avLst/>
          </a:prstGeom>
          <a:noFill/>
        </p:spPr>
        <p:txBody>
          <a:bodyPr wrap="square">
            <a:spAutoFit/>
          </a:bodyPr>
          <a:lstStyle/>
          <a:p>
            <a:pPr algn="l">
              <a:lnSpc>
                <a:spcPct val="100000"/>
              </a:lnSpc>
            </a:pPr>
            <a:r>
              <a:rPr sz="2000" b="0" i="0">
                <a:solidFill>
                  <a:srgbClr val="C9D2DA"/>
                </a:solidFill>
                <a:latin typeface="Calibri"/>
              </a:rPr>
              <a:t>A policy that follows a speed command, and stands at zero</a:t>
            </a:r>
          </a:p>
        </p:txBody>
      </p:sp>
      <p:sp>
        <p:nvSpPr>
          <p:cNvPr id="6" name="TextBox 5"/>
          <p:cNvSpPr txBox="1"/>
          <p:nvPr/>
        </p:nvSpPr>
        <p:spPr>
          <a:xfrm>
            <a:off x="1371600" y="4160520"/>
            <a:ext cx="9601200" cy="548640"/>
          </a:xfrm>
          <a:prstGeom prst="rect">
            <a:avLst/>
          </a:prstGeom>
          <a:noFill/>
        </p:spPr>
        <p:txBody>
          <a:bodyPr wrap="square">
            <a:spAutoFit/>
          </a:bodyPr>
          <a:lstStyle/>
          <a:p>
            <a:pPr algn="l">
              <a:lnSpc>
                <a:spcPct val="100000"/>
              </a:lnSpc>
            </a:pPr>
            <a:r>
              <a:rPr sz="1500" b="0" i="1">
                <a:solidFill>
                  <a:srgbClr val="8F9EAC"/>
                </a:solidFill>
                <a:latin typeface="Calibri"/>
              </a:rPr>
              <a:t>trained on the RTX 5080 workstation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Where the walking policy came from</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Unitree's own open-source training code, trained by me</a:t>
            </a:r>
          </a:p>
        </p:txBody>
      </p:sp>
      <p:sp>
        <p:nvSpPr>
          <p:cNvPr id="4" name="Rounded Rectangle 3"/>
          <p:cNvSpPr/>
          <p:nvPr/>
        </p:nvSpPr>
        <p:spPr>
          <a:xfrm>
            <a:off x="548640" y="1554480"/>
            <a:ext cx="5486400" cy="237744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737360"/>
            <a:ext cx="4974336" cy="365760"/>
          </a:xfrm>
          <a:prstGeom prst="rect">
            <a:avLst/>
          </a:prstGeom>
          <a:noFill/>
        </p:spPr>
        <p:txBody>
          <a:bodyPr wrap="square">
            <a:spAutoFit/>
          </a:bodyPr>
          <a:lstStyle/>
          <a:p>
            <a:pPr algn="l">
              <a:lnSpc>
                <a:spcPct val="100000"/>
              </a:lnSpc>
            </a:pPr>
            <a:r>
              <a:rPr sz="1500" b="1" i="0">
                <a:solidFill>
                  <a:srgbClr val="1B2A3A"/>
                </a:solidFill>
                <a:latin typeface="Calibri"/>
              </a:rPr>
              <a:t>Unitree's R1 task, my training run</a:t>
            </a:r>
          </a:p>
        </p:txBody>
      </p:sp>
      <p:sp>
        <p:nvSpPr>
          <p:cNvPr id="6" name="TextBox 5"/>
          <p:cNvSpPr txBox="1"/>
          <p:nvPr/>
        </p:nvSpPr>
        <p:spPr>
          <a:xfrm>
            <a:off x="804672" y="2176272"/>
            <a:ext cx="4974336" cy="1618488"/>
          </a:xfrm>
          <a:prstGeom prst="rect">
            <a:avLst/>
          </a:prstGeom>
          <a:noFill/>
        </p:spPr>
        <p:txBody>
          <a:bodyPr wrap="square">
            <a:spAutoFit/>
          </a:bodyPr>
          <a:lstStyle/>
          <a:p>
            <a:pPr algn="l">
              <a:lnSpc>
                <a:spcPct val="112000"/>
              </a:lnSpc>
            </a:pPr>
            <a:r>
              <a:rPr sz="1500" b="0" i="0">
                <a:solidFill>
                  <a:srgbClr val="22252A"/>
                </a:solidFill>
                <a:latin typeface="Calibri"/>
              </a:rPr>
              <a:t>Unitree's open-source repo unitree_rl_mjlab has an R1 task that follows a speed command. I set it up in its own environment and trained it: 4,096 simulated environments in parallel, 10,001 iterations, 4 h 50 min.</a:t>
            </a:r>
          </a:p>
        </p:txBody>
      </p:sp>
      <p:sp>
        <p:nvSpPr>
          <p:cNvPr id="7" name="Rounded Rectangle 6"/>
          <p:cNvSpPr/>
          <p:nvPr/>
        </p:nvSpPr>
        <p:spPr>
          <a:xfrm>
            <a:off x="6172200" y="1554480"/>
            <a:ext cx="5468112" cy="237744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28232" y="1737360"/>
            <a:ext cx="4956048" cy="365760"/>
          </a:xfrm>
          <a:prstGeom prst="rect">
            <a:avLst/>
          </a:prstGeom>
          <a:noFill/>
        </p:spPr>
        <p:txBody>
          <a:bodyPr wrap="square">
            <a:spAutoFit/>
          </a:bodyPr>
          <a:lstStyle/>
          <a:p>
            <a:pPr algn="l">
              <a:lnSpc>
                <a:spcPct val="100000"/>
              </a:lnSpc>
            </a:pPr>
            <a:r>
              <a:rPr sz="1500" b="1" i="0">
                <a:solidFill>
                  <a:srgbClr val="1B2A3A"/>
                </a:solidFill>
                <a:latin typeface="Calibri"/>
              </a:rPr>
              <a:t>One run, two policies</a:t>
            </a:r>
          </a:p>
        </p:txBody>
      </p:sp>
      <p:sp>
        <p:nvSpPr>
          <p:cNvPr id="9" name="TextBox 8"/>
          <p:cNvSpPr txBox="1"/>
          <p:nvPr/>
        </p:nvSpPr>
        <p:spPr>
          <a:xfrm>
            <a:off x="6428232" y="2176272"/>
            <a:ext cx="4956048" cy="1618488"/>
          </a:xfrm>
          <a:prstGeom prst="rect">
            <a:avLst/>
          </a:prstGeom>
          <a:noFill/>
        </p:spPr>
        <p:txBody>
          <a:bodyPr wrap="square">
            <a:spAutoFit/>
          </a:bodyPr>
          <a:lstStyle/>
          <a:p>
            <a:pPr algn="l">
              <a:lnSpc>
                <a:spcPct val="112000"/>
              </a:lnSpc>
            </a:pPr>
            <a:r>
              <a:rPr sz="1500" b="0" i="0">
                <a:solidFill>
                  <a:srgbClr val="22252A"/>
                </a:solidFill>
                <a:latin typeface="Calibri"/>
              </a:rPr>
              <a:t>Halfway through, the task raises the top forward speed from 1 m/s to 2 m/s. So one run gave me a walk (iteration 5,000) and a faster version (iteration 10,000).</a:t>
            </a:r>
          </a:p>
        </p:txBody>
      </p:sp>
      <p:pic>
        <p:nvPicPr>
          <p:cNvPr id="10" name="Picture 9" descr="term_walkrun_train.png"/>
          <p:cNvPicPr>
            <a:picLocks noChangeAspect="1"/>
          </p:cNvPicPr>
          <p:nvPr/>
        </p:nvPicPr>
        <p:blipFill>
          <a:blip r:embed="rId2"/>
          <a:stretch>
            <a:fillRect/>
          </a:stretch>
        </p:blipFill>
        <p:spPr>
          <a:xfrm>
            <a:off x="1892808" y="4069080"/>
            <a:ext cx="8412480" cy="1845384"/>
          </a:xfrm>
          <a:prstGeom prst="rect">
            <a:avLst/>
          </a:prstGeom>
        </p:spPr>
      </p:pic>
      <p:sp>
        <p:nvSpPr>
          <p:cNvPr id="11" name="TextBox 10"/>
          <p:cNvSpPr txBox="1"/>
          <p:nvPr/>
        </p:nvSpPr>
        <p:spPr>
          <a:xfrm>
            <a:off x="548640" y="5989320"/>
            <a:ext cx="11064240" cy="548640"/>
          </a:xfrm>
          <a:prstGeom prst="rect">
            <a:avLst/>
          </a:prstGeom>
          <a:noFill/>
        </p:spPr>
        <p:txBody>
          <a:bodyPr wrap="square">
            <a:spAutoFit/>
          </a:bodyPr>
          <a:lstStyle/>
          <a:p>
            <a:pPr algn="ctr">
              <a:lnSpc>
                <a:spcPct val="100000"/>
              </a:lnSpc>
            </a:pPr>
            <a:r>
              <a:rPr sz="1300" b="0" i="1">
                <a:solidFill>
                  <a:srgbClr val="5A6068"/>
                </a:solidFill>
                <a:latin typeface="Calibri"/>
              </a:rPr>
              <a:t>Two earlier launches failed: one stopped when I closed the session, one trained a single simulated environment. I now check the environment count in the log right after launch.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Walk and faster walk</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Rendered in the training simulator; the speed command changes every 4 s</a:t>
            </a:r>
          </a:p>
        </p:txBody>
      </p:sp>
      <p:pic>
        <p:nvPicPr>
          <p:cNvPr id="4" name="walk_model5000.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48639" y="1600200"/>
            <a:ext cx="5394960" cy="3057144"/>
          </a:xfrm>
          <a:prstGeom prst="rect">
            <a:avLst/>
          </a:prstGeom>
        </p:spPr>
      </p:pic>
      <p:sp>
        <p:nvSpPr>
          <p:cNvPr id="5" name="TextBox 4"/>
          <p:cNvSpPr txBox="1"/>
          <p:nvPr/>
        </p:nvSpPr>
        <p:spPr>
          <a:xfrm>
            <a:off x="274319" y="4712208"/>
            <a:ext cx="5943600" cy="310896"/>
          </a:xfrm>
          <a:prstGeom prst="rect">
            <a:avLst/>
          </a:prstGeom>
          <a:noFill/>
        </p:spPr>
        <p:txBody>
          <a:bodyPr wrap="square">
            <a:spAutoFit/>
          </a:bodyPr>
          <a:lstStyle/>
          <a:p>
            <a:pPr algn="ctr">
              <a:lnSpc>
                <a:spcPct val="100000"/>
              </a:lnSpc>
            </a:pPr>
            <a:r>
              <a:rPr sz="1200" b="0" i="1">
                <a:solidFill>
                  <a:srgbClr val="5A6068"/>
                </a:solidFill>
                <a:latin typeface="Calibri"/>
              </a:rPr>
              <a:t>Walk (iteration 5,000): stand -&gt; 0.5 -&gt; 1.0 m/s -&gt; stop, 16 s</a:t>
            </a:r>
          </a:p>
        </p:txBody>
      </p:sp>
      <p:pic>
        <p:nvPicPr>
          <p:cNvPr id="6" name="run_model10000.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6245351" y="1600200"/>
            <a:ext cx="5394960" cy="3057144"/>
          </a:xfrm>
          <a:prstGeom prst="rect">
            <a:avLst/>
          </a:prstGeom>
        </p:spPr>
      </p:pic>
      <p:sp>
        <p:nvSpPr>
          <p:cNvPr id="7" name="TextBox 6"/>
          <p:cNvSpPr txBox="1"/>
          <p:nvPr/>
        </p:nvSpPr>
        <p:spPr>
          <a:xfrm>
            <a:off x="5971031" y="4712208"/>
            <a:ext cx="5943600" cy="310896"/>
          </a:xfrm>
          <a:prstGeom prst="rect">
            <a:avLst/>
          </a:prstGeom>
          <a:noFill/>
        </p:spPr>
        <p:txBody>
          <a:bodyPr wrap="square">
            <a:spAutoFit/>
          </a:bodyPr>
          <a:lstStyle/>
          <a:p>
            <a:pPr algn="ctr">
              <a:lnSpc>
                <a:spcPct val="100000"/>
              </a:lnSpc>
            </a:pPr>
            <a:r>
              <a:rPr sz="1200" b="0" i="1">
                <a:solidFill>
                  <a:srgbClr val="5A6068"/>
                </a:solidFill>
                <a:latin typeface="Calibri"/>
              </a:rPr>
              <a:t>Faster (iteration 10,000): stand -&gt; 0.5 -&gt; 1.0 -&gt; 1.5 -&gt; 2.0 m/s -&gt; stop, 23 s</a:t>
            </a:r>
          </a:p>
        </p:txBody>
      </p:sp>
      <p:sp>
        <p:nvSpPr>
          <p:cNvPr id="8" name="Rounded Rectangle 7"/>
          <p:cNvSpPr/>
          <p:nvPr/>
        </p:nvSpPr>
        <p:spPr>
          <a:xfrm>
            <a:off x="548640" y="6053328"/>
            <a:ext cx="11091672" cy="512064"/>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6053328"/>
            <a:ext cx="82296" cy="512064"/>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6117336"/>
            <a:ext cx="10744200" cy="402336"/>
          </a:xfrm>
          <a:prstGeom prst="rect">
            <a:avLst/>
          </a:prstGeom>
          <a:noFill/>
        </p:spPr>
        <p:txBody>
          <a:bodyPr wrap="square" anchor="ctr">
            <a:spAutoFit/>
          </a:bodyPr>
          <a:lstStyle/>
          <a:p>
            <a:r>
              <a:rPr sz="1600" b="1">
                <a:solidFill>
                  <a:srgbClr val="B8862E"/>
                </a:solidFill>
                <a:latin typeface="Calibri"/>
              </a:rPr>
              <a:t>Why it matters:  </a:t>
            </a:r>
            <a:r>
              <a:rPr sz="1600">
                <a:solidFill>
                  <a:srgbClr val="22252A"/>
                </a:solidFill>
                <a:latin typeface="Calibri"/>
              </a:rPr>
              <a:t>one policy covers standing, walking and walking fast, steered only by the speed I give it.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video>
              <p:cMediaNode vol="80000">
                <p:cTn id="3" fill="hold" display="0">
                  <p:stCondLst>
                    <p:cond delay="indefinite"/>
                  </p:stCondLst>
                </p:cTn>
                <p:tgtEl>
                  <p:spTgt spid="6"/>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How well it follows the speed command</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Training simulator: 64 simulated runs per speed, average over the last 16 s of 20 s</a:t>
            </a:r>
          </a:p>
        </p:txBody>
      </p:sp>
      <p:graphicFrame>
        <p:nvGraphicFramePr>
          <p:cNvPr id="4" name="Table 3"/>
          <p:cNvGraphicFramePr>
            <a:graphicFrameLocks noGrp="1"/>
          </p:cNvGraphicFramePr>
          <p:nvPr/>
        </p:nvGraphicFramePr>
        <p:xfrm>
          <a:off x="548640" y="1554480"/>
          <a:ext cx="6035040" cy="3712464"/>
        </p:xfrm>
        <a:graphic>
          <a:graphicData uri="http://schemas.openxmlformats.org/drawingml/2006/table">
            <a:tbl>
              <a:tblPr firstRow="1" bandRow="1">
                <a:tableStyleId>{5C22544A-7EE6-4342-B048-85BDC9FD1C3A}</a:tableStyleId>
              </a:tblPr>
              <a:tblGrid>
                <a:gridCol w="2103120"/>
                <a:gridCol w="1965960"/>
                <a:gridCol w="1965960"/>
              </a:tblGrid>
              <a:tr h="530352">
                <a:tc>
                  <a:txBody>
                    <a:bodyPr wrap="square"/>
                    <a:lstStyle/>
                    <a:p>
                      <a:pPr algn="l"/>
                      <a:r>
                        <a:rPr sz="1600" b="1">
                          <a:solidFill>
                            <a:srgbClr val="FFFFFF"/>
                          </a:solidFill>
                          <a:latin typeface="Calibri"/>
                        </a:rPr>
                        <a:t>command (m/s)</a:t>
                      </a:r>
                    </a:p>
                  </a:txBody>
                  <a:tcPr marL="73152" marR="73152" marT="27432" marB="27432" anchor="ctr">
                    <a:solidFill>
                      <a:srgbClr val="1B2A3A"/>
                    </a:solidFill>
                  </a:tcPr>
                </a:tc>
                <a:tc>
                  <a:txBody>
                    <a:bodyPr wrap="square"/>
                    <a:lstStyle/>
                    <a:p>
                      <a:pPr algn="ctr"/>
                      <a:r>
                        <a:rPr sz="1600" b="1">
                          <a:solidFill>
                            <a:srgbClr val="FFFFFF"/>
                          </a:solidFill>
                          <a:latin typeface="Calibri"/>
                        </a:rPr>
                        <a:t>walk (it. 5,000)</a:t>
                      </a:r>
                    </a:p>
                  </a:txBody>
                  <a:tcPr marL="73152" marR="73152" marT="27432" marB="27432" anchor="ctr">
                    <a:solidFill>
                      <a:srgbClr val="1B2A3A"/>
                    </a:solidFill>
                  </a:tcPr>
                </a:tc>
                <a:tc>
                  <a:txBody>
                    <a:bodyPr wrap="square"/>
                    <a:lstStyle/>
                    <a:p>
                      <a:pPr algn="ctr"/>
                      <a:r>
                        <a:rPr sz="1600" b="1">
                          <a:solidFill>
                            <a:srgbClr val="FFFFFF"/>
                          </a:solidFill>
                          <a:latin typeface="Calibri"/>
                        </a:rPr>
                        <a:t>faster (it. 10,000)</a:t>
                      </a:r>
                    </a:p>
                  </a:txBody>
                  <a:tcPr marL="73152" marR="73152" marT="27432" marB="27432" anchor="ctr">
                    <a:solidFill>
                      <a:srgbClr val="1B2A3A"/>
                    </a:solidFill>
                  </a:tcPr>
                </a:tc>
              </a:tr>
              <a:tr h="530352">
                <a:tc>
                  <a:txBody>
                    <a:bodyPr wrap="square"/>
                    <a:lstStyle/>
                    <a:p>
                      <a:pPr algn="l"/>
                      <a:r>
                        <a:rPr sz="1600" b="0">
                          <a:solidFill>
                            <a:srgbClr val="22252A"/>
                          </a:solidFill>
                          <a:latin typeface="Calibri"/>
                        </a:rPr>
                        <a:t>-0.5 (backwards)</a:t>
                      </a:r>
                    </a:p>
                  </a:txBody>
                  <a:tcPr marL="73152" marR="73152" marT="27432" marB="27432" anchor="ctr">
                    <a:solidFill>
                      <a:srgbClr val="EEEDE9"/>
                    </a:solidFill>
                  </a:tcPr>
                </a:tc>
                <a:tc>
                  <a:txBody>
                    <a:bodyPr wrap="square"/>
                    <a:lstStyle/>
                    <a:p>
                      <a:pPr algn="ctr"/>
                      <a:r>
                        <a:rPr sz="1600" b="0">
                          <a:solidFill>
                            <a:srgbClr val="22252A"/>
                          </a:solidFill>
                          <a:latin typeface="Calibri"/>
                        </a:rPr>
                        <a:t>--</a:t>
                      </a:r>
                    </a:p>
                  </a:txBody>
                  <a:tcPr marL="73152" marR="73152" marT="27432" marB="27432" anchor="ctr">
                    <a:solidFill>
                      <a:srgbClr val="EEEDE9"/>
                    </a:solidFill>
                  </a:tcPr>
                </a:tc>
                <a:tc>
                  <a:txBody>
                    <a:bodyPr wrap="square"/>
                    <a:lstStyle/>
                    <a:p>
                      <a:pPr algn="ctr"/>
                      <a:r>
                        <a:rPr sz="1600" b="0">
                          <a:solidFill>
                            <a:srgbClr val="22252A"/>
                          </a:solidFill>
                          <a:latin typeface="Calibri"/>
                        </a:rPr>
                        <a:t>-0.43</a:t>
                      </a:r>
                    </a:p>
                  </a:txBody>
                  <a:tcPr marL="73152" marR="73152" marT="27432" marB="27432" anchor="ctr">
                    <a:solidFill>
                      <a:srgbClr val="EEEDE9"/>
                    </a:solidFill>
                  </a:tcPr>
                </a:tc>
              </a:tr>
              <a:tr h="530352">
                <a:tc>
                  <a:txBody>
                    <a:bodyPr wrap="square"/>
                    <a:lstStyle/>
                    <a:p>
                      <a:pPr algn="l"/>
                      <a:r>
                        <a:rPr sz="1600" b="0">
                          <a:solidFill>
                            <a:srgbClr val="22252A"/>
                          </a:solidFill>
                          <a:latin typeface="Calibri"/>
                        </a:rPr>
                        <a:t>0 (stand)</a:t>
                      </a:r>
                    </a:p>
                  </a:txBody>
                  <a:tcPr marL="73152" marR="73152" marT="27432" marB="27432" anchor="ctr">
                    <a:solidFill>
                      <a:srgbClr val="FFFFFF"/>
                    </a:solidFill>
                  </a:tcPr>
                </a:tc>
                <a:tc>
                  <a:txBody>
                    <a:bodyPr wrap="square"/>
                    <a:lstStyle/>
                    <a:p>
                      <a:pPr algn="ctr"/>
                      <a:r>
                        <a:rPr sz="1600" b="0">
                          <a:solidFill>
                            <a:srgbClr val="22252A"/>
                          </a:solidFill>
                          <a:latin typeface="Calibri"/>
                        </a:rPr>
                        <a:t>0.00</a:t>
                      </a:r>
                    </a:p>
                  </a:txBody>
                  <a:tcPr marL="73152" marR="73152" marT="27432" marB="27432" anchor="ctr">
                    <a:solidFill>
                      <a:srgbClr val="FFFFFF"/>
                    </a:solidFill>
                  </a:tcPr>
                </a:tc>
                <a:tc>
                  <a:txBody>
                    <a:bodyPr wrap="square"/>
                    <a:lstStyle/>
                    <a:p>
                      <a:pPr algn="ctr"/>
                      <a:r>
                        <a:rPr sz="1600" b="0">
                          <a:solidFill>
                            <a:srgbClr val="22252A"/>
                          </a:solidFill>
                          <a:latin typeface="Calibri"/>
                        </a:rPr>
                        <a:t>0.00</a:t>
                      </a:r>
                    </a:p>
                  </a:txBody>
                  <a:tcPr marL="73152" marR="73152" marT="27432" marB="27432" anchor="ctr">
                    <a:solidFill>
                      <a:srgbClr val="FFFFFF"/>
                    </a:solidFill>
                  </a:tcPr>
                </a:tc>
              </a:tr>
              <a:tr h="530352">
                <a:tc>
                  <a:txBody>
                    <a:bodyPr wrap="square"/>
                    <a:lstStyle/>
                    <a:p>
                      <a:pPr algn="l"/>
                      <a:r>
                        <a:rPr sz="1600" b="0">
                          <a:solidFill>
                            <a:srgbClr val="22252A"/>
                          </a:solidFill>
                          <a:latin typeface="Calibri"/>
                        </a:rPr>
                        <a:t>0.5</a:t>
                      </a:r>
                    </a:p>
                  </a:txBody>
                  <a:tcPr marL="73152" marR="73152" marT="27432" marB="27432" anchor="ctr">
                    <a:solidFill>
                      <a:srgbClr val="EEEDE9"/>
                    </a:solidFill>
                  </a:tcPr>
                </a:tc>
                <a:tc>
                  <a:txBody>
                    <a:bodyPr wrap="square"/>
                    <a:lstStyle/>
                    <a:p>
                      <a:pPr algn="ctr"/>
                      <a:r>
                        <a:rPr sz="1600" b="0">
                          <a:solidFill>
                            <a:srgbClr val="22252A"/>
                          </a:solidFill>
                          <a:latin typeface="Calibri"/>
                        </a:rPr>
                        <a:t>0.47</a:t>
                      </a:r>
                    </a:p>
                  </a:txBody>
                  <a:tcPr marL="73152" marR="73152" marT="27432" marB="27432" anchor="ctr">
                    <a:solidFill>
                      <a:srgbClr val="EEEDE9"/>
                    </a:solidFill>
                  </a:tcPr>
                </a:tc>
                <a:tc>
                  <a:txBody>
                    <a:bodyPr wrap="square"/>
                    <a:lstStyle/>
                    <a:p>
                      <a:pPr algn="ctr"/>
                      <a:r>
                        <a:rPr sz="1600" b="0">
                          <a:solidFill>
                            <a:srgbClr val="22252A"/>
                          </a:solidFill>
                          <a:latin typeface="Calibri"/>
                        </a:rPr>
                        <a:t>0.45</a:t>
                      </a:r>
                    </a:p>
                  </a:txBody>
                  <a:tcPr marL="73152" marR="73152" marT="27432" marB="27432" anchor="ctr">
                    <a:solidFill>
                      <a:srgbClr val="EEEDE9"/>
                    </a:solidFill>
                  </a:tcPr>
                </a:tc>
              </a:tr>
              <a:tr h="530352">
                <a:tc>
                  <a:txBody>
                    <a:bodyPr wrap="square"/>
                    <a:lstStyle/>
                    <a:p>
                      <a:pPr algn="l"/>
                      <a:r>
                        <a:rPr sz="1600" b="0">
                          <a:solidFill>
                            <a:srgbClr val="22252A"/>
                          </a:solidFill>
                          <a:latin typeface="Calibri"/>
                        </a:rPr>
                        <a:t>1.0</a:t>
                      </a:r>
                    </a:p>
                  </a:txBody>
                  <a:tcPr marL="73152" marR="73152" marT="27432" marB="27432" anchor="ctr">
                    <a:solidFill>
                      <a:srgbClr val="FFFFFF"/>
                    </a:solidFill>
                  </a:tcPr>
                </a:tc>
                <a:tc>
                  <a:txBody>
                    <a:bodyPr wrap="square"/>
                    <a:lstStyle/>
                    <a:p>
                      <a:pPr algn="ctr"/>
                      <a:r>
                        <a:rPr sz="1600" b="0">
                          <a:solidFill>
                            <a:srgbClr val="22252A"/>
                          </a:solidFill>
                          <a:latin typeface="Calibri"/>
                        </a:rPr>
                        <a:t>0.96</a:t>
                      </a:r>
                    </a:p>
                  </a:txBody>
                  <a:tcPr marL="73152" marR="73152" marT="27432" marB="27432" anchor="ctr">
                    <a:solidFill>
                      <a:srgbClr val="FFFFFF"/>
                    </a:solidFill>
                  </a:tcPr>
                </a:tc>
                <a:tc>
                  <a:txBody>
                    <a:bodyPr wrap="square"/>
                    <a:lstStyle/>
                    <a:p>
                      <a:pPr algn="ctr"/>
                      <a:r>
                        <a:rPr sz="1600" b="0">
                          <a:solidFill>
                            <a:srgbClr val="22252A"/>
                          </a:solidFill>
                          <a:latin typeface="Calibri"/>
                        </a:rPr>
                        <a:t>0.96</a:t>
                      </a:r>
                    </a:p>
                  </a:txBody>
                  <a:tcPr marL="73152" marR="73152" marT="27432" marB="27432" anchor="ctr">
                    <a:solidFill>
                      <a:srgbClr val="FFFFFF"/>
                    </a:solidFill>
                  </a:tcPr>
                </a:tc>
              </a:tr>
              <a:tr h="530352">
                <a:tc>
                  <a:txBody>
                    <a:bodyPr wrap="square"/>
                    <a:lstStyle/>
                    <a:p>
                      <a:pPr algn="l"/>
                      <a:r>
                        <a:rPr sz="1600" b="0">
                          <a:solidFill>
                            <a:srgbClr val="22252A"/>
                          </a:solidFill>
                          <a:latin typeface="Calibri"/>
                        </a:rPr>
                        <a:t>1.5</a:t>
                      </a:r>
                    </a:p>
                  </a:txBody>
                  <a:tcPr marL="73152" marR="73152" marT="27432" marB="27432" anchor="ctr">
                    <a:solidFill>
                      <a:srgbClr val="EEEDE9"/>
                    </a:solidFill>
                  </a:tcPr>
                </a:tc>
                <a:tc>
                  <a:txBody>
                    <a:bodyPr wrap="square"/>
                    <a:lstStyle/>
                    <a:p>
                      <a:pPr algn="ctr"/>
                      <a:r>
                        <a:rPr sz="1600" b="0">
                          <a:solidFill>
                            <a:srgbClr val="22252A"/>
                          </a:solidFill>
                          <a:latin typeface="Calibri"/>
                        </a:rPr>
                        <a:t>1.44</a:t>
                      </a:r>
                    </a:p>
                  </a:txBody>
                  <a:tcPr marL="73152" marR="73152" marT="27432" marB="27432" anchor="ctr">
                    <a:solidFill>
                      <a:srgbClr val="EEEDE9"/>
                    </a:solidFill>
                  </a:tcPr>
                </a:tc>
                <a:tc>
                  <a:txBody>
                    <a:bodyPr wrap="square"/>
                    <a:lstStyle/>
                    <a:p>
                      <a:pPr algn="ctr"/>
                      <a:r>
                        <a:rPr sz="1600" b="0">
                          <a:solidFill>
                            <a:srgbClr val="22252A"/>
                          </a:solidFill>
                          <a:latin typeface="Calibri"/>
                        </a:rPr>
                        <a:t>1.51</a:t>
                      </a:r>
                    </a:p>
                  </a:txBody>
                  <a:tcPr marL="73152" marR="73152" marT="27432" marB="27432" anchor="ctr">
                    <a:solidFill>
                      <a:srgbClr val="EEEDE9"/>
                    </a:solidFill>
                  </a:tcPr>
                </a:tc>
              </a:tr>
              <a:tr h="530352">
                <a:tc>
                  <a:txBody>
                    <a:bodyPr wrap="square"/>
                    <a:lstStyle/>
                    <a:p>
                      <a:pPr algn="l"/>
                      <a:r>
                        <a:rPr sz="1600" b="0">
                          <a:solidFill>
                            <a:srgbClr val="22252A"/>
                          </a:solidFill>
                          <a:latin typeface="Calibri"/>
                        </a:rPr>
                        <a:t>2.0</a:t>
                      </a:r>
                    </a:p>
                  </a:txBody>
                  <a:tcPr marL="73152" marR="73152" marT="27432" marB="27432" anchor="ctr">
                    <a:solidFill>
                      <a:srgbClr val="FFFFFF"/>
                    </a:solidFill>
                  </a:tcPr>
                </a:tc>
                <a:tc>
                  <a:txBody>
                    <a:bodyPr wrap="square"/>
                    <a:lstStyle/>
                    <a:p>
                      <a:pPr algn="ctr"/>
                      <a:r>
                        <a:rPr sz="1600" b="1">
                          <a:solidFill>
                            <a:srgbClr val="B0473C"/>
                          </a:solidFill>
                          <a:latin typeface="Calibri"/>
                        </a:rPr>
                        <a:t>37 of 64 fell</a:t>
                      </a:r>
                    </a:p>
                  </a:txBody>
                  <a:tcPr marL="73152" marR="73152" marT="27432" marB="27432" anchor="ctr">
                    <a:solidFill>
                      <a:srgbClr val="F6E4E1"/>
                    </a:solidFill>
                  </a:tcPr>
                </a:tc>
                <a:tc>
                  <a:txBody>
                    <a:bodyPr wrap="square"/>
                    <a:lstStyle/>
                    <a:p>
                      <a:pPr algn="ctr"/>
                      <a:r>
                        <a:rPr sz="1600" b="0">
                          <a:solidFill>
                            <a:srgbClr val="22252A"/>
                          </a:solidFill>
                          <a:latin typeface="Calibri"/>
                        </a:rPr>
                        <a:t>1.98</a:t>
                      </a:r>
                    </a:p>
                  </a:txBody>
                  <a:tcPr marL="73152" marR="73152" marT="27432" marB="27432" anchor="ctr">
                    <a:solidFill>
                      <a:srgbClr val="FFFFFF"/>
                    </a:solidFill>
                  </a:tcPr>
                </a:tc>
              </a:tr>
            </a:tbl>
          </a:graphicData>
        </a:graphic>
      </p:graphicFrame>
      <p:sp>
        <p:nvSpPr>
          <p:cNvPr id="5" name="Rounded Rectangle 4"/>
          <p:cNvSpPr/>
          <p:nvPr/>
        </p:nvSpPr>
        <p:spPr>
          <a:xfrm>
            <a:off x="6903720" y="1554480"/>
            <a:ext cx="4736592" cy="146304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59752" y="1737360"/>
            <a:ext cx="4224527" cy="365760"/>
          </a:xfrm>
          <a:prstGeom prst="rect">
            <a:avLst/>
          </a:prstGeom>
          <a:noFill/>
        </p:spPr>
        <p:txBody>
          <a:bodyPr wrap="square">
            <a:spAutoFit/>
          </a:bodyPr>
          <a:lstStyle/>
          <a:p>
            <a:pPr algn="l">
              <a:lnSpc>
                <a:spcPct val="100000"/>
              </a:lnSpc>
            </a:pPr>
            <a:r>
              <a:rPr sz="1500" b="1" i="0">
                <a:solidFill>
                  <a:srgbClr val="1B2A3A"/>
                </a:solidFill>
                <a:latin typeface="Calibri"/>
              </a:rPr>
              <a:t>2.0 m/s is a fast walk, not a run</a:t>
            </a:r>
          </a:p>
        </p:txBody>
      </p:sp>
      <p:sp>
        <p:nvSpPr>
          <p:cNvPr id="7" name="TextBox 6"/>
          <p:cNvSpPr txBox="1"/>
          <p:nvPr/>
        </p:nvSpPr>
        <p:spPr>
          <a:xfrm>
            <a:off x="7159752" y="2176272"/>
            <a:ext cx="4224527" cy="704087"/>
          </a:xfrm>
          <a:prstGeom prst="rect">
            <a:avLst/>
          </a:prstGeom>
          <a:noFill/>
        </p:spPr>
        <p:txBody>
          <a:bodyPr wrap="square">
            <a:spAutoFit/>
          </a:bodyPr>
          <a:lstStyle/>
          <a:p>
            <a:pPr algn="l">
              <a:lnSpc>
                <a:spcPct val="112000"/>
              </a:lnSpc>
            </a:pPr>
            <a:r>
              <a:rPr sz="1400" b="0" i="0">
                <a:solidFill>
                  <a:srgbClr val="22252A"/>
                </a:solidFill>
                <a:latin typeface="Calibri"/>
              </a:rPr>
              <a:t>Both feet are off the ground only 2.7 % of the time, so I call it a fast walk.</a:t>
            </a:r>
          </a:p>
        </p:txBody>
      </p:sp>
      <p:sp>
        <p:nvSpPr>
          <p:cNvPr id="8" name="Rounded Rectangle 7"/>
          <p:cNvSpPr/>
          <p:nvPr/>
        </p:nvSpPr>
        <p:spPr>
          <a:xfrm>
            <a:off x="6903720" y="3108960"/>
            <a:ext cx="4736592" cy="118872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59752" y="3291840"/>
            <a:ext cx="4224527" cy="365760"/>
          </a:xfrm>
          <a:prstGeom prst="rect">
            <a:avLst/>
          </a:prstGeom>
          <a:noFill/>
        </p:spPr>
        <p:txBody>
          <a:bodyPr wrap="square">
            <a:spAutoFit/>
          </a:bodyPr>
          <a:lstStyle/>
          <a:p>
            <a:pPr algn="l">
              <a:lnSpc>
                <a:spcPct val="100000"/>
              </a:lnSpc>
            </a:pPr>
            <a:r>
              <a:rPr sz="1500" b="1" i="0">
                <a:solidFill>
                  <a:srgbClr val="1B2A3A"/>
                </a:solidFill>
                <a:latin typeface="Calibri"/>
              </a:rPr>
              <a:t>It stops without falling</a:t>
            </a:r>
          </a:p>
        </p:txBody>
      </p:sp>
      <p:sp>
        <p:nvSpPr>
          <p:cNvPr id="10" name="TextBox 9"/>
          <p:cNvSpPr txBox="1"/>
          <p:nvPr/>
        </p:nvSpPr>
        <p:spPr>
          <a:xfrm>
            <a:off x="7159752" y="3730752"/>
            <a:ext cx="4224527" cy="429768"/>
          </a:xfrm>
          <a:prstGeom prst="rect">
            <a:avLst/>
          </a:prstGeom>
          <a:noFill/>
        </p:spPr>
        <p:txBody>
          <a:bodyPr wrap="square">
            <a:spAutoFit/>
          </a:bodyPr>
          <a:lstStyle/>
          <a:p>
            <a:pPr algn="l">
              <a:lnSpc>
                <a:spcPct val="112000"/>
              </a:lnSpc>
            </a:pPr>
            <a:r>
              <a:rPr sz="1250" b="0" i="0">
                <a:solidFill>
                  <a:srgbClr val="22252A"/>
                </a:solidFill>
                <a:latin typeface="Calibri"/>
              </a:rPr>
              <a:t>From 2.0 m/s it needs 0.86 m to stop; from 1.0 m/s, 0.40 m.</a:t>
            </a:r>
          </a:p>
        </p:txBody>
      </p:sp>
      <p:sp>
        <p:nvSpPr>
          <p:cNvPr id="11" name="Rounded Rectangle 10"/>
          <p:cNvSpPr/>
          <p:nvPr/>
        </p:nvSpPr>
        <p:spPr>
          <a:xfrm>
            <a:off x="6903720" y="4389120"/>
            <a:ext cx="4736592" cy="150876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59752" y="4572000"/>
            <a:ext cx="4224527" cy="365760"/>
          </a:xfrm>
          <a:prstGeom prst="rect">
            <a:avLst/>
          </a:prstGeom>
          <a:noFill/>
        </p:spPr>
        <p:txBody>
          <a:bodyPr wrap="square">
            <a:spAutoFit/>
          </a:bodyPr>
          <a:lstStyle/>
          <a:p>
            <a:pPr algn="l">
              <a:lnSpc>
                <a:spcPct val="100000"/>
              </a:lnSpc>
            </a:pPr>
            <a:r>
              <a:rPr sz="1500" b="1" i="0">
                <a:solidFill>
                  <a:srgbClr val="1B2A3A"/>
                </a:solidFill>
                <a:latin typeface="Calibri"/>
              </a:rPr>
              <a:t>At zero it stands still</a:t>
            </a:r>
          </a:p>
        </p:txBody>
      </p:sp>
      <p:sp>
        <p:nvSpPr>
          <p:cNvPr id="13" name="TextBox 12"/>
          <p:cNvSpPr txBox="1"/>
          <p:nvPr/>
        </p:nvSpPr>
        <p:spPr>
          <a:xfrm>
            <a:off x="7159752" y="5010912"/>
            <a:ext cx="4224527" cy="749807"/>
          </a:xfrm>
          <a:prstGeom prst="rect">
            <a:avLst/>
          </a:prstGeom>
          <a:noFill/>
        </p:spPr>
        <p:txBody>
          <a:bodyPr wrap="square">
            <a:spAutoFit/>
          </a:bodyPr>
          <a:lstStyle/>
          <a:p>
            <a:pPr algn="l">
              <a:lnSpc>
                <a:spcPct val="112000"/>
              </a:lnSpc>
            </a:pPr>
            <a:r>
              <a:rPr sz="1400" b="0" i="0">
                <a:solidFill>
                  <a:srgbClr val="22252A"/>
                </a:solidFill>
                <a:latin typeface="Calibri"/>
              </a:rPr>
              <a:t>192 simulated runs (64 per checkpoint), none fell, drift under 5 mm in 16 s. This is the stand the switch test asked for.</a:t>
            </a:r>
          </a:p>
        </p:txBody>
      </p:sp>
      <p:sp>
        <p:nvSpPr>
          <p:cNvPr id="14" name="Rounded Rectangle 13"/>
          <p:cNvSpPr/>
          <p:nvPr/>
        </p:nvSpPr>
        <p:spPr>
          <a:xfrm>
            <a:off x="548640" y="6053328"/>
            <a:ext cx="11091672" cy="512064"/>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6053328"/>
            <a:ext cx="82296" cy="512064"/>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6117336"/>
            <a:ext cx="10744200" cy="402336"/>
          </a:xfrm>
          <a:prstGeom prst="rect">
            <a:avLst/>
          </a:prstGeom>
          <a:noFill/>
        </p:spPr>
        <p:txBody>
          <a:bodyPr wrap="square" anchor="ctr">
            <a:spAutoFit/>
          </a:bodyPr>
          <a:lstStyle/>
          <a:p>
            <a:r>
              <a:rPr sz="1600" b="1">
                <a:solidFill>
                  <a:srgbClr val="B8862E"/>
                </a:solidFill>
                <a:latin typeface="Calibri"/>
              </a:rPr>
              <a:t>Why it matters:  </a:t>
            </a:r>
            <a:r>
              <a:rPr sz="1600">
                <a:solidFill>
                  <a:srgbClr val="22252A"/>
                </a:solidFill>
                <a:latin typeface="Calibri"/>
              </a:rPr>
              <a:t>Within trained command cells, the largest speed gap is 0.07 m/s; the walk checkpoint falls at 2.0 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A bug in Unitree's deploy file</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Found in a CPU simulation that feeds the policy the way the real robot's code does</a:t>
            </a:r>
          </a:p>
        </p:txBody>
      </p:sp>
      <p:sp>
        <p:nvSpPr>
          <p:cNvPr id="4" name="Rounded Rectangle 3"/>
          <p:cNvSpPr/>
          <p:nvPr/>
        </p:nvSpPr>
        <p:spPr>
          <a:xfrm>
            <a:off x="548640" y="1554480"/>
            <a:ext cx="5760720" cy="425196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737360"/>
            <a:ext cx="5248656" cy="365760"/>
          </a:xfrm>
          <a:prstGeom prst="rect">
            <a:avLst/>
          </a:prstGeom>
          <a:noFill/>
        </p:spPr>
        <p:txBody>
          <a:bodyPr wrap="square">
            <a:spAutoFit/>
          </a:bodyPr>
          <a:lstStyle/>
          <a:p>
            <a:pPr algn="l">
              <a:lnSpc>
                <a:spcPct val="100000"/>
              </a:lnSpc>
            </a:pPr>
            <a:r>
              <a:rPr sz="1500" b="1" i="0">
                <a:solidFill>
                  <a:srgbClr val="1B2A3A"/>
                </a:solidFill>
                <a:latin typeface="Calibri"/>
              </a:rPr>
              <a:t>What I found</a:t>
            </a:r>
          </a:p>
        </p:txBody>
      </p:sp>
      <p:sp>
        <p:nvSpPr>
          <p:cNvPr id="6" name="TextBox 5"/>
          <p:cNvSpPr txBox="1"/>
          <p:nvPr/>
        </p:nvSpPr>
        <p:spPr>
          <a:xfrm>
            <a:off x="804672" y="2176272"/>
            <a:ext cx="5248656" cy="3493008"/>
          </a:xfrm>
          <a:prstGeom prst="rect">
            <a:avLst/>
          </a:prstGeom>
          <a:noFill/>
        </p:spPr>
        <p:txBody>
          <a:bodyPr wrap="square">
            <a:spAutoFit/>
          </a:bodyPr>
          <a:lstStyle/>
          <a:p>
            <a:pPr algn="l">
              <a:lnSpc>
                <a:spcPct val="112000"/>
              </a:lnSpc>
            </a:pPr>
            <a:r>
              <a:rPr sz="1350" b="0" i="0">
                <a:solidFill>
                  <a:srgbClr val="22252A"/>
                </a:solidFill>
                <a:latin typeface="Calibri"/>
              </a:rPr>
              <a:t>I wrote a second check in plain CPU MuJoCo that builds the policy's inputs like Unitree's C++ deploy code. In the parity check, the exported ONNX actor and trained Torch actor differed by at most 0.000002 (walk_run_eval_2026-10-22/README.md, section 5). This checks actor outputs only, not full deploy-input or hardware parity.</a:t>
            </a:r>
          </a:p>
          <a:p>
            <a:pPr algn="l">
              <a:lnSpc>
                <a:spcPct val="112000"/>
              </a:lnSpc>
            </a:pPr>
          </a:p>
          <a:p>
            <a:pPr algn="l">
              <a:lnSpc>
                <a:spcPct val="112000"/>
              </a:lnSpc>
            </a:pPr>
            <a:r>
              <a:rPr sz="1350" b="0" i="0">
                <a:solidFill>
                  <a:srgbClr val="22252A"/>
                </a:solidFill>
                <a:latin typeface="Calibri"/>
              </a:rPr>
              <a:t>In this CPU simulation, with the deploy file Unitree ships, the robot fell in every walking run, usually within 2 s and always within 3 s.</a:t>
            </a:r>
          </a:p>
          <a:p>
            <a:pPr algn="l">
              <a:lnSpc>
                <a:spcPct val="112000"/>
              </a:lnSpc>
            </a:pPr>
          </a:p>
          <a:p>
            <a:pPr algn="l">
              <a:lnSpc>
                <a:spcPct val="112000"/>
              </a:lnSpc>
            </a:pPr>
            <a:r>
              <a:rPr sz="1350" b="0" i="0">
                <a:solidFill>
                  <a:srgbClr val="22252A"/>
                </a:solidFill>
                <a:latin typeface="Calibri"/>
              </a:rPr>
              <a:t>The file scales every joint command by 0.25. Training scaled each joint group differently. I made a corrected copy (v1). For a first real-robot test I would also cap the speed at 1 m/s.</a:t>
            </a:r>
          </a:p>
        </p:txBody>
      </p:sp>
      <p:graphicFrame>
        <p:nvGraphicFramePr>
          <p:cNvPr id="7" name="Table 6"/>
          <p:cNvGraphicFramePr>
            <a:graphicFrameLocks noGrp="1"/>
          </p:cNvGraphicFramePr>
          <p:nvPr/>
        </p:nvGraphicFramePr>
        <p:xfrm>
          <a:off x="6537960" y="1554480"/>
          <a:ext cx="5102352" cy="2651760"/>
        </p:xfrm>
        <a:graphic>
          <a:graphicData uri="http://schemas.openxmlformats.org/drawingml/2006/table">
            <a:tbl>
              <a:tblPr firstRow="1" bandRow="1">
                <a:tableStyleId>{5C22544A-7EE6-4342-B048-85BDC9FD1C3A}</a:tableStyleId>
              </a:tblPr>
              <a:tblGrid>
                <a:gridCol w="2651760"/>
                <a:gridCol w="1188720"/>
                <a:gridCol w="1261872"/>
              </a:tblGrid>
              <a:tr h="530352">
                <a:tc>
                  <a:txBody>
                    <a:bodyPr wrap="square"/>
                    <a:lstStyle/>
                    <a:p>
                      <a:pPr algn="l"/>
                      <a:r>
                        <a:rPr sz="1500" b="1">
                          <a:solidFill>
                            <a:srgbClr val="FFFFFF"/>
                          </a:solidFill>
                          <a:latin typeface="Calibri"/>
                        </a:rPr>
                        <a:t>joint group</a:t>
                      </a:r>
                    </a:p>
                  </a:txBody>
                  <a:tcPr marL="73152" marR="73152" marT="27432" marB="27432" anchor="ctr">
                    <a:solidFill>
                      <a:srgbClr val="1B2A3A"/>
                    </a:solidFill>
                  </a:tcPr>
                </a:tc>
                <a:tc>
                  <a:txBody>
                    <a:bodyPr wrap="square"/>
                    <a:lstStyle/>
                    <a:p>
                      <a:pPr algn="ctr"/>
                      <a:r>
                        <a:rPr sz="1500" b="1">
                          <a:solidFill>
                            <a:srgbClr val="FFFFFF"/>
                          </a:solidFill>
                          <a:latin typeface="Calibri"/>
                        </a:rPr>
                        <a:t>shipped</a:t>
                      </a:r>
                    </a:p>
                  </a:txBody>
                  <a:tcPr marL="73152" marR="73152" marT="27432" marB="27432" anchor="ctr">
                    <a:solidFill>
                      <a:srgbClr val="1B2A3A"/>
                    </a:solidFill>
                  </a:tcPr>
                </a:tc>
                <a:tc>
                  <a:txBody>
                    <a:bodyPr wrap="square"/>
                    <a:lstStyle/>
                    <a:p>
                      <a:pPr algn="ctr"/>
                      <a:r>
                        <a:rPr sz="1500" b="1">
                          <a:solidFill>
                            <a:srgbClr val="FFFFFF"/>
                          </a:solidFill>
                          <a:latin typeface="Calibri"/>
                        </a:rPr>
                        <a:t>trained</a:t>
                      </a:r>
                    </a:p>
                  </a:txBody>
                  <a:tcPr marL="73152" marR="73152" marT="27432" marB="27432" anchor="ctr">
                    <a:solidFill>
                      <a:srgbClr val="1B2A3A"/>
                    </a:solidFill>
                  </a:tcPr>
                </a:tc>
              </a:tr>
              <a:tr h="530352">
                <a:tc>
                  <a:txBody>
                    <a:bodyPr wrap="square"/>
                    <a:lstStyle/>
                    <a:p>
                      <a:pPr algn="l"/>
                      <a:r>
                        <a:rPr sz="1500" b="0">
                          <a:solidFill>
                            <a:srgbClr val="22252A"/>
                          </a:solidFill>
                          <a:latin typeface="Calibri"/>
                        </a:rPr>
                        <a:t>legs and waist</a:t>
                      </a:r>
                    </a:p>
                  </a:txBody>
                  <a:tcPr marL="73152" marR="73152" marT="27432" marB="27432" anchor="ctr">
                    <a:solidFill>
                      <a:srgbClr val="EEEDE9"/>
                    </a:solidFill>
                  </a:tcPr>
                </a:tc>
                <a:tc>
                  <a:txBody>
                    <a:bodyPr wrap="square"/>
                    <a:lstStyle/>
                    <a:p>
                      <a:pPr algn="ctr"/>
                      <a:r>
                        <a:rPr sz="1500" b="1">
                          <a:solidFill>
                            <a:srgbClr val="B0473C"/>
                          </a:solidFill>
                          <a:latin typeface="Calibri"/>
                        </a:rPr>
                        <a:t>0.25</a:t>
                      </a:r>
                    </a:p>
                  </a:txBody>
                  <a:tcPr marL="73152" marR="73152" marT="27432" marB="27432" anchor="ctr">
                    <a:solidFill>
                      <a:srgbClr val="F6E4E1"/>
                    </a:solidFill>
                  </a:tcPr>
                </a:tc>
                <a:tc>
                  <a:txBody>
                    <a:bodyPr wrap="square"/>
                    <a:lstStyle/>
                    <a:p>
                      <a:pPr algn="ctr"/>
                      <a:r>
                        <a:rPr sz="1500" b="0">
                          <a:solidFill>
                            <a:srgbClr val="22252A"/>
                          </a:solidFill>
                          <a:latin typeface="Calibri"/>
                        </a:rPr>
                        <a:t>0.15</a:t>
                      </a:r>
                    </a:p>
                  </a:txBody>
                  <a:tcPr marL="73152" marR="73152" marT="27432" marB="27432" anchor="ctr">
                    <a:solidFill>
                      <a:srgbClr val="EEEDE9"/>
                    </a:solidFill>
                  </a:tcPr>
                </a:tc>
              </a:tr>
              <a:tr h="530352">
                <a:tc>
                  <a:txBody>
                    <a:bodyPr wrap="square"/>
                    <a:lstStyle/>
                    <a:p>
                      <a:pPr algn="l"/>
                      <a:r>
                        <a:rPr sz="1500" b="0">
                          <a:solidFill>
                            <a:srgbClr val="22252A"/>
                          </a:solidFill>
                          <a:latin typeface="Calibri"/>
                        </a:rPr>
                        <a:t>ankles</a:t>
                      </a:r>
                    </a:p>
                  </a:txBody>
                  <a:tcPr marL="73152" marR="73152" marT="27432" marB="27432" anchor="ctr">
                    <a:solidFill>
                      <a:srgbClr val="FFFFFF"/>
                    </a:solidFill>
                  </a:tcPr>
                </a:tc>
                <a:tc>
                  <a:txBody>
                    <a:bodyPr wrap="square"/>
                    <a:lstStyle/>
                    <a:p>
                      <a:pPr algn="ctr"/>
                      <a:r>
                        <a:rPr sz="1500" b="1">
                          <a:solidFill>
                            <a:srgbClr val="B0473C"/>
                          </a:solidFill>
                          <a:latin typeface="Calibri"/>
                        </a:rPr>
                        <a:t>0.25</a:t>
                      </a:r>
                    </a:p>
                  </a:txBody>
                  <a:tcPr marL="73152" marR="73152" marT="27432" marB="27432" anchor="ctr">
                    <a:solidFill>
                      <a:srgbClr val="F6E4E1"/>
                    </a:solidFill>
                  </a:tcPr>
                </a:tc>
                <a:tc>
                  <a:txBody>
                    <a:bodyPr wrap="square"/>
                    <a:lstStyle/>
                    <a:p>
                      <a:pPr algn="ctr"/>
                      <a:r>
                        <a:rPr sz="1500" b="0">
                          <a:solidFill>
                            <a:srgbClr val="22252A"/>
                          </a:solidFill>
                          <a:latin typeface="Calibri"/>
                        </a:rPr>
                        <a:t>0.3125</a:t>
                      </a:r>
                    </a:p>
                  </a:txBody>
                  <a:tcPr marL="73152" marR="73152" marT="27432" marB="27432" anchor="ctr">
                    <a:solidFill>
                      <a:srgbClr val="FFFFFF"/>
                    </a:solidFill>
                  </a:tcPr>
                </a:tc>
              </a:tr>
              <a:tr h="530352">
                <a:tc>
                  <a:txBody>
                    <a:bodyPr wrap="square"/>
                    <a:lstStyle/>
                    <a:p>
                      <a:pPr algn="l"/>
                      <a:r>
                        <a:rPr sz="1500" b="0">
                          <a:solidFill>
                            <a:srgbClr val="22252A"/>
                          </a:solidFill>
                          <a:latin typeface="Calibri"/>
                        </a:rPr>
                        <a:t>shoulder pitch, roll</a:t>
                      </a:r>
                    </a:p>
                  </a:txBody>
                  <a:tcPr marL="73152" marR="73152" marT="27432" marB="27432" anchor="ctr">
                    <a:solidFill>
                      <a:srgbClr val="EEEDE9"/>
                    </a:solidFill>
                  </a:tcPr>
                </a:tc>
                <a:tc>
                  <a:txBody>
                    <a:bodyPr wrap="square"/>
                    <a:lstStyle/>
                    <a:p>
                      <a:pPr algn="ctr"/>
                      <a:r>
                        <a:rPr sz="1500" b="1">
                          <a:solidFill>
                            <a:srgbClr val="B0473C"/>
                          </a:solidFill>
                          <a:latin typeface="Calibri"/>
                        </a:rPr>
                        <a:t>0.25</a:t>
                      </a:r>
                    </a:p>
                  </a:txBody>
                  <a:tcPr marL="73152" marR="73152" marT="27432" marB="27432" anchor="ctr">
                    <a:solidFill>
                      <a:srgbClr val="F6E4E1"/>
                    </a:solidFill>
                  </a:tcPr>
                </a:tc>
                <a:tc>
                  <a:txBody>
                    <a:bodyPr wrap="square"/>
                    <a:lstStyle/>
                    <a:p>
                      <a:pPr algn="ctr"/>
                      <a:r>
                        <a:rPr sz="1500" b="0">
                          <a:solidFill>
                            <a:srgbClr val="22252A"/>
                          </a:solidFill>
                          <a:latin typeface="Calibri"/>
                        </a:rPr>
                        <a:t>0.375</a:t>
                      </a:r>
                    </a:p>
                  </a:txBody>
                  <a:tcPr marL="73152" marR="73152" marT="27432" marB="27432" anchor="ctr">
                    <a:solidFill>
                      <a:srgbClr val="EEEDE9"/>
                    </a:solidFill>
                  </a:tcPr>
                </a:tc>
              </a:tr>
              <a:tr h="530352">
                <a:tc>
                  <a:txBody>
                    <a:bodyPr wrap="square"/>
                    <a:lstStyle/>
                    <a:p>
                      <a:pPr algn="l"/>
                      <a:r>
                        <a:rPr sz="1500" b="0">
                          <a:solidFill>
                            <a:srgbClr val="22252A"/>
                          </a:solidFill>
                          <a:latin typeface="Calibri"/>
                        </a:rPr>
                        <a:t>shoulder yaw, elbow, wrist</a:t>
                      </a:r>
                    </a:p>
                  </a:txBody>
                  <a:tcPr marL="73152" marR="73152" marT="27432" marB="27432" anchor="ctr">
                    <a:solidFill>
                      <a:srgbClr val="FFFFFF"/>
                    </a:solidFill>
                  </a:tcPr>
                </a:tc>
                <a:tc>
                  <a:txBody>
                    <a:bodyPr wrap="square"/>
                    <a:lstStyle/>
                    <a:p>
                      <a:pPr algn="ctr"/>
                      <a:r>
                        <a:rPr sz="1500" b="1">
                          <a:solidFill>
                            <a:srgbClr val="B0473C"/>
                          </a:solidFill>
                          <a:latin typeface="Calibri"/>
                        </a:rPr>
                        <a:t>0.25</a:t>
                      </a:r>
                    </a:p>
                  </a:txBody>
                  <a:tcPr marL="73152" marR="73152" marT="27432" marB="27432" anchor="ctr">
                    <a:solidFill>
                      <a:srgbClr val="F6E4E1"/>
                    </a:solidFill>
                  </a:tcPr>
                </a:tc>
                <a:tc>
                  <a:txBody>
                    <a:bodyPr wrap="square"/>
                    <a:lstStyle/>
                    <a:p>
                      <a:pPr algn="ctr"/>
                      <a:r>
                        <a:rPr sz="1500" b="0">
                          <a:solidFill>
                            <a:srgbClr val="22252A"/>
                          </a:solidFill>
                          <a:latin typeface="Calibri"/>
                        </a:rPr>
                        <a:t>0.4125</a:t>
                      </a:r>
                    </a:p>
                  </a:txBody>
                  <a:tcPr marL="73152" marR="73152" marT="27432" marB="27432" anchor="ctr">
                    <a:solidFill>
                      <a:srgbClr val="FFFFFF"/>
                    </a:solidFill>
                  </a:tcPr>
                </a:tc>
              </a:tr>
            </a:tbl>
          </a:graphicData>
        </a:graphic>
      </p:graphicFrame>
      <p:sp>
        <p:nvSpPr>
          <p:cNvPr id="8" name="TextBox 7"/>
          <p:cNvSpPr txBox="1"/>
          <p:nvPr/>
        </p:nvSpPr>
        <p:spPr>
          <a:xfrm>
            <a:off x="6537960" y="4297680"/>
            <a:ext cx="5102352" cy="548640"/>
          </a:xfrm>
          <a:prstGeom prst="rect">
            <a:avLst/>
          </a:prstGeom>
          <a:noFill/>
        </p:spPr>
        <p:txBody>
          <a:bodyPr wrap="square">
            <a:spAutoFit/>
          </a:bodyPr>
          <a:lstStyle/>
          <a:p>
            <a:pPr algn="l">
              <a:lnSpc>
                <a:spcPct val="100000"/>
              </a:lnSpc>
            </a:pPr>
            <a:r>
              <a:rPr sz="1250" b="0" i="1">
                <a:solidFill>
                  <a:srgbClr val="5A6068"/>
                </a:solidFill>
                <a:latin typeface="Calibri"/>
              </a:rPr>
              <a:t>How much one unit of policy output moves the joint target, per joint group.</a:t>
            </a:r>
          </a:p>
        </p:txBody>
      </p:sp>
      <p:sp>
        <p:nvSpPr>
          <p:cNvPr id="9" name="Rounded Rectangle 8"/>
          <p:cNvSpPr/>
          <p:nvPr/>
        </p:nvSpPr>
        <p:spPr>
          <a:xfrm>
            <a:off x="548640" y="6053328"/>
            <a:ext cx="11091672" cy="512064"/>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6053328"/>
            <a:ext cx="82296" cy="512064"/>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6117336"/>
            <a:ext cx="10744200" cy="402336"/>
          </a:xfrm>
          <a:prstGeom prst="rect">
            <a:avLst/>
          </a:prstGeom>
          <a:noFill/>
        </p:spPr>
        <p:txBody>
          <a:bodyPr wrap="square" anchor="ctr">
            <a:spAutoFit/>
          </a:bodyPr>
          <a:lstStyle/>
          <a:p>
            <a:r>
              <a:rPr sz="1600" b="1">
                <a:solidFill>
                  <a:srgbClr val="B8862E"/>
                </a:solidFill>
                <a:latin typeface="Calibri"/>
              </a:rPr>
              <a:t>Why it matters:  </a:t>
            </a:r>
            <a:r>
              <a:rPr sz="1600">
                <a:solidFill>
                  <a:srgbClr val="22252A"/>
                </a:solidFill>
                <a:latin typeface="Calibri"/>
              </a:rPr>
              <a:t>the shipped settings failed in this CPU simulation; the corrected file is ready for a later real test.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Standing was the weak skill under delay</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So I applied the paper's recipe to the walking policy</a:t>
            </a:r>
          </a:p>
        </p:txBody>
      </p:sp>
      <p:pic>
        <p:nvPicPr>
          <p:cNvPr id="4" name="Picture 3" descr="term_stand_delay.png"/>
          <p:cNvPicPr>
            <a:picLocks noChangeAspect="1"/>
          </p:cNvPicPr>
          <p:nvPr/>
        </p:nvPicPr>
        <p:blipFill>
          <a:blip r:embed="rId2"/>
          <a:stretch>
            <a:fillRect/>
          </a:stretch>
        </p:blipFill>
        <p:spPr>
          <a:xfrm>
            <a:off x="548640" y="1554480"/>
            <a:ext cx="5577840" cy="2655626"/>
          </a:xfrm>
          <a:prstGeom prst="rect">
            <a:avLst/>
          </a:prstGeom>
        </p:spPr>
      </p:pic>
      <p:sp>
        <p:nvSpPr>
          <p:cNvPr id="5" name="TextBox 4"/>
          <p:cNvSpPr txBox="1"/>
          <p:nvPr/>
        </p:nvSpPr>
        <p:spPr>
          <a:xfrm>
            <a:off x="548640" y="4251960"/>
            <a:ext cx="5577840" cy="548640"/>
          </a:xfrm>
          <a:prstGeom prst="rect">
            <a:avLst/>
          </a:prstGeom>
          <a:noFill/>
        </p:spPr>
        <p:txBody>
          <a:bodyPr wrap="square">
            <a:spAutoFit/>
          </a:bodyPr>
          <a:lstStyle/>
          <a:p>
            <a:pPr algn="l">
              <a:lnSpc>
                <a:spcPct val="100000"/>
              </a:lnSpc>
            </a:pPr>
            <a:r>
              <a:rPr sz="1200" b="0" i="1">
                <a:solidFill>
                  <a:srgbClr val="5A6068"/>
                </a:solidFill>
                <a:latin typeface="Calibri"/>
              </a:rPr>
              <a:t>Standing (command 0), 10 runs per delay. Columns: delay in ms, runs survived, average speed.</a:t>
            </a:r>
          </a:p>
        </p:txBody>
      </p:sp>
      <p:sp>
        <p:nvSpPr>
          <p:cNvPr id="6" name="Rounded Rectangle 5"/>
          <p:cNvSpPr/>
          <p:nvPr/>
        </p:nvSpPr>
        <p:spPr>
          <a:xfrm>
            <a:off x="6400800" y="1554480"/>
            <a:ext cx="5239512" cy="1417320"/>
          </a:xfrm>
          <a:prstGeom prst="roundRect">
            <a:avLst/>
          </a:prstGeom>
          <a:solidFill>
            <a:srgbClr val="F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56832" y="1737360"/>
            <a:ext cx="4727448" cy="365760"/>
          </a:xfrm>
          <a:prstGeom prst="rect">
            <a:avLst/>
          </a:prstGeom>
          <a:noFill/>
        </p:spPr>
        <p:txBody>
          <a:bodyPr wrap="square">
            <a:spAutoFit/>
          </a:bodyPr>
          <a:lstStyle/>
          <a:p>
            <a:pPr algn="l">
              <a:lnSpc>
                <a:spcPct val="100000"/>
              </a:lnSpc>
            </a:pPr>
            <a:r>
              <a:rPr sz="1500" b="1" i="0">
                <a:solidFill>
                  <a:srgbClr val="1B2A3A"/>
                </a:solidFill>
                <a:latin typeface="Calibri"/>
              </a:rPr>
              <a:t>The problem</a:t>
            </a:r>
          </a:p>
        </p:txBody>
      </p:sp>
      <p:sp>
        <p:nvSpPr>
          <p:cNvPr id="8" name="TextBox 7"/>
          <p:cNvSpPr txBox="1"/>
          <p:nvPr/>
        </p:nvSpPr>
        <p:spPr>
          <a:xfrm>
            <a:off x="6656832" y="2176272"/>
            <a:ext cx="4727448" cy="658368"/>
          </a:xfrm>
          <a:prstGeom prst="rect">
            <a:avLst/>
          </a:prstGeom>
          <a:noFill/>
        </p:spPr>
        <p:txBody>
          <a:bodyPr wrap="square">
            <a:spAutoFit/>
          </a:bodyPr>
          <a:lstStyle/>
          <a:p>
            <a:pPr algn="l">
              <a:lnSpc>
                <a:spcPct val="112000"/>
              </a:lnSpc>
            </a:pPr>
            <a:r>
              <a:rPr sz="1250" b="0" i="0">
                <a:solidFill>
                  <a:srgbClr val="22252A"/>
                </a:solidFill>
                <a:latin typeface="Calibri"/>
              </a:rPr>
              <a:t>With 40 ms of command delay, the walking policy fell while standing in 4 of 10 runs: a slow wobble that grows. Walking held up better than standing.</a:t>
            </a:r>
          </a:p>
        </p:txBody>
      </p:sp>
      <p:sp>
        <p:nvSpPr>
          <p:cNvPr id="9" name="Rounded Rectangle 8"/>
          <p:cNvSpPr/>
          <p:nvPr/>
        </p:nvSpPr>
        <p:spPr>
          <a:xfrm>
            <a:off x="6400800" y="3081528"/>
            <a:ext cx="5239512" cy="132588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56832" y="3264408"/>
            <a:ext cx="4727448" cy="365760"/>
          </a:xfrm>
          <a:prstGeom prst="rect">
            <a:avLst/>
          </a:prstGeom>
          <a:noFill/>
        </p:spPr>
        <p:txBody>
          <a:bodyPr wrap="square">
            <a:spAutoFit/>
          </a:bodyPr>
          <a:lstStyle/>
          <a:p>
            <a:pPr algn="l">
              <a:lnSpc>
                <a:spcPct val="100000"/>
              </a:lnSpc>
            </a:pPr>
            <a:r>
              <a:rPr sz="1500" b="1" i="0">
                <a:solidFill>
                  <a:srgbClr val="1B2A3A"/>
                </a:solidFill>
                <a:latin typeface="Calibri"/>
              </a:rPr>
              <a:t>Delay arm</a:t>
            </a:r>
          </a:p>
        </p:txBody>
      </p:sp>
      <p:sp>
        <p:nvSpPr>
          <p:cNvPr id="11" name="TextBox 10"/>
          <p:cNvSpPr txBox="1"/>
          <p:nvPr/>
        </p:nvSpPr>
        <p:spPr>
          <a:xfrm>
            <a:off x="6656832" y="3703320"/>
            <a:ext cx="4727448" cy="566928"/>
          </a:xfrm>
          <a:prstGeom prst="rect">
            <a:avLst/>
          </a:prstGeom>
          <a:noFill/>
        </p:spPr>
        <p:txBody>
          <a:bodyPr wrap="square">
            <a:spAutoFit/>
          </a:bodyPr>
          <a:lstStyle/>
          <a:p>
            <a:pPr algn="l">
              <a:lnSpc>
                <a:spcPct val="112000"/>
              </a:lnSpc>
            </a:pPr>
            <a:r>
              <a:rPr sz="1400" b="0" i="0">
                <a:solidFill>
                  <a:srgbClr val="22252A"/>
                </a:solidFill>
                <a:latin typeface="Calibri"/>
              </a:rPr>
              <a:t>3,000 more iterations with a random 0-50 ms delay, as in the paper.</a:t>
            </a:r>
          </a:p>
        </p:txBody>
      </p:sp>
      <p:sp>
        <p:nvSpPr>
          <p:cNvPr id="12" name="Rounded Rectangle 11"/>
          <p:cNvSpPr/>
          <p:nvPr/>
        </p:nvSpPr>
        <p:spPr>
          <a:xfrm>
            <a:off x="6400800" y="4517136"/>
            <a:ext cx="5239512" cy="132588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56832" y="4700016"/>
            <a:ext cx="4727448" cy="365760"/>
          </a:xfrm>
          <a:prstGeom prst="rect">
            <a:avLst/>
          </a:prstGeom>
          <a:noFill/>
        </p:spPr>
        <p:txBody>
          <a:bodyPr wrap="square">
            <a:spAutoFit/>
          </a:bodyPr>
          <a:lstStyle/>
          <a:p>
            <a:pPr algn="l">
              <a:lnSpc>
                <a:spcPct val="100000"/>
              </a:lnSpc>
            </a:pPr>
            <a:r>
              <a:rPr sz="1500" b="1" i="0">
                <a:solidFill>
                  <a:srgbClr val="1B2A3A"/>
                </a:solidFill>
                <a:latin typeface="Calibri"/>
              </a:rPr>
              <a:t>Control arm</a:t>
            </a:r>
          </a:p>
        </p:txBody>
      </p:sp>
      <p:sp>
        <p:nvSpPr>
          <p:cNvPr id="14" name="TextBox 13"/>
          <p:cNvSpPr txBox="1"/>
          <p:nvPr/>
        </p:nvSpPr>
        <p:spPr>
          <a:xfrm>
            <a:off x="6656832" y="5138928"/>
            <a:ext cx="4727448" cy="566927"/>
          </a:xfrm>
          <a:prstGeom prst="rect">
            <a:avLst/>
          </a:prstGeom>
          <a:noFill/>
        </p:spPr>
        <p:txBody>
          <a:bodyPr wrap="square">
            <a:spAutoFit/>
          </a:bodyPr>
          <a:lstStyle/>
          <a:p>
            <a:pPr algn="l">
              <a:lnSpc>
                <a:spcPct val="112000"/>
              </a:lnSpc>
            </a:pPr>
            <a:r>
              <a:rPr sz="1400" b="0" i="0">
                <a:solidFill>
                  <a:srgbClr val="22252A"/>
                </a:solidFill>
                <a:latin typeface="Calibri"/>
              </a:rPr>
              <a:t>The same 3,000 iterations without delay: a matched comparison for the delay.</a:t>
            </a:r>
          </a:p>
        </p:txBody>
      </p:sp>
      <p:sp>
        <p:nvSpPr>
          <p:cNvPr id="15" name="TextBox 14"/>
          <p:cNvSpPr txBox="1"/>
          <p:nvPr/>
        </p:nvSpPr>
        <p:spPr>
          <a:xfrm>
            <a:off x="548640" y="4846320"/>
            <a:ext cx="5577840" cy="1005840"/>
          </a:xfrm>
          <a:prstGeom prst="rect">
            <a:avLst/>
          </a:prstGeom>
          <a:noFill/>
        </p:spPr>
        <p:txBody>
          <a:bodyPr wrap="square">
            <a:spAutoFit/>
          </a:bodyPr>
          <a:lstStyle/>
          <a:p>
            <a:pPr algn="l">
              <a:lnSpc>
                <a:spcPct val="100000"/>
              </a:lnSpc>
            </a:pPr>
            <a:r>
              <a:rPr sz="1300" b="0" i="0">
                <a:solidFill>
                  <a:srgbClr val="22252A"/>
                </a:solidFill>
                <a:latin typeface="Calibri"/>
              </a:rPr>
              <a:t>One fix on the way: the training library gave each joint group its own random delay. I set the simulation so all 24 joints share one delay, and checked it.</a:t>
            </a:r>
          </a:p>
        </p:txBody>
      </p:sp>
      <p:sp>
        <p:nvSpPr>
          <p:cNvPr id="16" name="Rounded Rectangle 15"/>
          <p:cNvSpPr/>
          <p:nvPr/>
        </p:nvSpPr>
        <p:spPr>
          <a:xfrm>
            <a:off x="548640" y="6053328"/>
            <a:ext cx="11091672" cy="512064"/>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6053328"/>
            <a:ext cx="82296" cy="512064"/>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6117336"/>
            <a:ext cx="10744200" cy="402336"/>
          </a:xfrm>
          <a:prstGeom prst="rect">
            <a:avLst/>
          </a:prstGeom>
          <a:noFill/>
        </p:spPr>
        <p:txBody>
          <a:bodyPr wrap="square" anchor="ctr">
            <a:spAutoFit/>
          </a:bodyPr>
          <a:lstStyle/>
          <a:p>
            <a:r>
              <a:rPr sz="1600" b="1">
                <a:solidFill>
                  <a:srgbClr val="B8862E"/>
                </a:solidFill>
                <a:latin typeface="Calibri"/>
              </a:rPr>
              <a:t>Why it matters:  </a:t>
            </a:r>
            <a:r>
              <a:rPr sz="1600">
                <a:solidFill>
                  <a:srgbClr val="22252A"/>
                </a:solidFill>
                <a:latin typeface="Calibri"/>
              </a:rPr>
              <a:t>In this CPU simulation, standing was sensitive to the tested command delays; real-system delay is not measured here.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Delay training moved the limit past 60 ms</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Runs that survived out of 50 (5 speeds x 10 runs), CPU check simulator</a:t>
            </a:r>
          </a:p>
        </p:txBody>
      </p:sp>
      <p:pic>
        <p:nvPicPr>
          <p:cNvPr id="4" name="Picture 3" descr="chart_walkrun_delay.png"/>
          <p:cNvPicPr>
            <a:picLocks noChangeAspect="1"/>
          </p:cNvPicPr>
          <p:nvPr/>
        </p:nvPicPr>
        <p:blipFill>
          <a:blip r:embed="rId2"/>
          <a:stretch>
            <a:fillRect/>
          </a:stretch>
        </p:blipFill>
        <p:spPr>
          <a:xfrm>
            <a:off x="502919" y="1508760"/>
            <a:ext cx="6949440" cy="3931920"/>
          </a:xfrm>
          <a:prstGeom prst="rect">
            <a:avLst/>
          </a:prstGeom>
        </p:spPr>
      </p:pic>
      <p:sp>
        <p:nvSpPr>
          <p:cNvPr id="5" name="Rounded Rectangle 4"/>
          <p:cNvSpPr/>
          <p:nvPr/>
        </p:nvSpPr>
        <p:spPr>
          <a:xfrm>
            <a:off x="7726679" y="1600200"/>
            <a:ext cx="3913632" cy="420624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2711" y="1783080"/>
            <a:ext cx="3401568" cy="365760"/>
          </a:xfrm>
          <a:prstGeom prst="rect">
            <a:avLst/>
          </a:prstGeom>
          <a:noFill/>
        </p:spPr>
        <p:txBody>
          <a:bodyPr wrap="square">
            <a:spAutoFit/>
          </a:bodyPr>
          <a:lstStyle/>
          <a:p>
            <a:pPr algn="l">
              <a:lnSpc>
                <a:spcPct val="100000"/>
              </a:lnSpc>
            </a:pPr>
            <a:r>
              <a:rPr sz="1500" b="1" i="0">
                <a:solidFill>
                  <a:srgbClr val="1B2A3A"/>
                </a:solidFill>
                <a:latin typeface="Calibri"/>
              </a:rPr>
              <a:t>What the chart shows</a:t>
            </a:r>
          </a:p>
        </p:txBody>
      </p:sp>
      <p:sp>
        <p:nvSpPr>
          <p:cNvPr id="7" name="TextBox 6"/>
          <p:cNvSpPr txBox="1"/>
          <p:nvPr/>
        </p:nvSpPr>
        <p:spPr>
          <a:xfrm>
            <a:off x="7982711" y="2221992"/>
            <a:ext cx="3401568" cy="3447287"/>
          </a:xfrm>
          <a:prstGeom prst="rect">
            <a:avLst/>
          </a:prstGeom>
          <a:noFill/>
        </p:spPr>
        <p:txBody>
          <a:bodyPr wrap="square">
            <a:spAutoFit/>
          </a:bodyPr>
          <a:lstStyle/>
          <a:p>
            <a:pPr algn="l">
              <a:lnSpc>
                <a:spcPct val="112000"/>
              </a:lnSpc>
            </a:pPr>
            <a:r>
              <a:rPr sz="1500" b="0" i="0">
                <a:solidFill>
                  <a:srgbClr val="22252A"/>
                </a:solidFill>
                <a:latin typeface="Calibri"/>
              </a:rPr>
              <a:t>Base and control fail between 40 and 60 ms.</a:t>
            </a:r>
          </a:p>
          <a:p>
            <a:pPr algn="l">
              <a:lnSpc>
                <a:spcPct val="112000"/>
              </a:lnSpc>
            </a:pPr>
          </a:p>
          <a:p>
            <a:pPr algn="l">
              <a:lnSpc>
                <a:spcPct val="112000"/>
              </a:lnSpc>
            </a:pPr>
            <a:r>
              <a:rPr sz="1500" b="0" i="0">
                <a:solidFill>
                  <a:srgbClr val="22252A"/>
                </a:solidFill>
                <a:latin typeface="Calibri"/>
              </a:rPr>
              <a:t>The 3,000 extra plain iterations did not move the limit.</a:t>
            </a:r>
          </a:p>
          <a:p>
            <a:pPr algn="l">
              <a:lnSpc>
                <a:spcPct val="112000"/>
              </a:lnSpc>
            </a:pPr>
          </a:p>
          <a:p>
            <a:pPr algn="l">
              <a:lnSpc>
                <a:spcPct val="112000"/>
              </a:lnSpc>
            </a:pPr>
            <a:r>
              <a:rPr sz="1500" b="0" i="0">
                <a:solidFill>
                  <a:srgbClr val="22252A"/>
                </a:solidFill>
                <a:latin typeface="Calibri"/>
              </a:rPr>
              <a:t>Delay-trained: 50 of 50 up to 60 ms, 46 at 80 ms. Its only failures are standing at 80 ms, 6 of 10 survived.</a:t>
            </a:r>
          </a:p>
          <a:p>
            <a:pPr algn="l">
              <a:lnSpc>
                <a:spcPct val="112000"/>
              </a:lnSpc>
            </a:pPr>
          </a:p>
          <a:p>
            <a:pPr algn="l">
              <a:lnSpc>
                <a:spcPct val="112000"/>
              </a:lnSpc>
            </a:pPr>
            <a:r>
              <a:rPr sz="1500" b="0" i="0">
                <a:solidFill>
                  <a:srgbClr val="22252A"/>
                </a:solidFill>
                <a:latin typeface="Calibri"/>
              </a:rPr>
              <a:t>One training run (seed) per arm.</a:t>
            </a:r>
          </a:p>
        </p:txBody>
      </p:sp>
      <p:sp>
        <p:nvSpPr>
          <p:cNvPr id="8" name="Rounded Rectangle 7"/>
          <p:cNvSpPr/>
          <p:nvPr/>
        </p:nvSpPr>
        <p:spPr>
          <a:xfrm>
            <a:off x="548640" y="6053328"/>
            <a:ext cx="11091672" cy="512064"/>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6053328"/>
            <a:ext cx="82296" cy="512064"/>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6117336"/>
            <a:ext cx="10744200" cy="402336"/>
          </a:xfrm>
          <a:prstGeom prst="rect">
            <a:avLst/>
          </a:prstGeom>
          <a:noFill/>
        </p:spPr>
        <p:txBody>
          <a:bodyPr wrap="square" anchor="ctr">
            <a:spAutoFit/>
          </a:bodyPr>
          <a:lstStyle/>
          <a:p>
            <a:r>
              <a:rPr sz="1600" b="1">
                <a:solidFill>
                  <a:srgbClr val="B8862E"/>
                </a:solidFill>
                <a:latin typeface="Calibri"/>
              </a:rPr>
              <a:t>Why it matters:  </a:t>
            </a:r>
            <a:r>
              <a:rPr sz="1600">
                <a:solidFill>
                  <a:srgbClr val="22252A"/>
                </a:solidFill>
                <a:latin typeface="Calibri"/>
              </a:rPr>
              <a:t>this run's matched control supports delay training as the reason; one seed, so more seeds are needed.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The delay-trained walk</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Speed command 0 -&gt; 0.5 -&gt; 1.0 -&gt; 1.5 -&gt; 2.0 -&gt; 0 m/s, 4 s each</a:t>
            </a:r>
          </a:p>
        </p:txBody>
      </p:sp>
      <p:pic>
        <p:nvPicPr>
          <p:cNvPr id="4" name="walk_run_delay_model12999.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94359" y="1554480"/>
            <a:ext cx="6766560" cy="3834384"/>
          </a:xfrm>
          <a:prstGeom prst="rect">
            <a:avLst/>
          </a:prstGeom>
        </p:spPr>
      </p:pic>
      <p:sp>
        <p:nvSpPr>
          <p:cNvPr id="5" name="TextBox 4"/>
          <p:cNvSpPr txBox="1"/>
          <p:nvPr/>
        </p:nvSpPr>
        <p:spPr>
          <a:xfrm>
            <a:off x="320039" y="5443728"/>
            <a:ext cx="7315200" cy="310896"/>
          </a:xfrm>
          <a:prstGeom prst="rect">
            <a:avLst/>
          </a:prstGeom>
          <a:noFill/>
        </p:spPr>
        <p:txBody>
          <a:bodyPr wrap="square">
            <a:spAutoFit/>
          </a:bodyPr>
          <a:lstStyle/>
          <a:p>
            <a:pPr algn="ctr">
              <a:lnSpc>
                <a:spcPct val="100000"/>
              </a:lnSpc>
            </a:pPr>
            <a:r>
              <a:rPr sz="1200" b="0" i="1">
                <a:solidFill>
                  <a:srgbClr val="5A6068"/>
                </a:solidFill>
                <a:latin typeface="Calibri"/>
              </a:rPr>
              <a:t>Delay-trained policy, training simulator, no falls</a:t>
            </a:r>
          </a:p>
        </p:txBody>
      </p:sp>
      <p:sp>
        <p:nvSpPr>
          <p:cNvPr id="6" name="Rounded Rectangle 5"/>
          <p:cNvSpPr/>
          <p:nvPr/>
        </p:nvSpPr>
        <p:spPr>
          <a:xfrm>
            <a:off x="7726679" y="1554480"/>
            <a:ext cx="3913632" cy="420624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82711" y="1737360"/>
            <a:ext cx="3401568" cy="365760"/>
          </a:xfrm>
          <a:prstGeom prst="rect">
            <a:avLst/>
          </a:prstGeom>
          <a:noFill/>
        </p:spPr>
        <p:txBody>
          <a:bodyPr wrap="square">
            <a:spAutoFit/>
          </a:bodyPr>
          <a:lstStyle/>
          <a:p>
            <a:pPr algn="l">
              <a:lnSpc>
                <a:spcPct val="100000"/>
              </a:lnSpc>
            </a:pPr>
            <a:r>
              <a:rPr sz="1500" b="1" i="0">
                <a:solidFill>
                  <a:srgbClr val="1B2A3A"/>
                </a:solidFill>
                <a:latin typeface="Calibri"/>
              </a:rPr>
              <a:t>What it costs</a:t>
            </a:r>
          </a:p>
        </p:txBody>
      </p:sp>
      <p:sp>
        <p:nvSpPr>
          <p:cNvPr id="8" name="TextBox 7"/>
          <p:cNvSpPr txBox="1"/>
          <p:nvPr/>
        </p:nvSpPr>
        <p:spPr>
          <a:xfrm>
            <a:off x="7982711" y="2176272"/>
            <a:ext cx="3401568" cy="3447288"/>
          </a:xfrm>
          <a:prstGeom prst="rect">
            <a:avLst/>
          </a:prstGeom>
          <a:noFill/>
        </p:spPr>
        <p:txBody>
          <a:bodyPr wrap="square">
            <a:spAutoFit/>
          </a:bodyPr>
          <a:lstStyle/>
          <a:p>
            <a:pPr algn="l">
              <a:lnSpc>
                <a:spcPct val="112000"/>
              </a:lnSpc>
            </a:pPr>
            <a:r>
              <a:rPr sz="1500" b="0" i="0">
                <a:solidFill>
                  <a:srgbClr val="22252A"/>
                </a:solidFill>
                <a:latin typeface="Calibri"/>
              </a:rPr>
              <a:t>At a 2.0 m/s command it reaches 1.85 m/s, about 7.5 % below.</a:t>
            </a:r>
          </a:p>
          <a:p>
            <a:pPr algn="l">
              <a:lnSpc>
                <a:spcPct val="112000"/>
              </a:lnSpc>
            </a:pPr>
          </a:p>
          <a:p>
            <a:pPr algn="l">
              <a:lnSpc>
                <a:spcPct val="112000"/>
              </a:lnSpc>
            </a:pPr>
            <a:r>
              <a:rPr sz="1500" b="0" i="0">
                <a:solidFill>
                  <a:srgbClr val="22252A"/>
                </a:solidFill>
                <a:latin typeface="Calibri"/>
              </a:rPr>
              <a:t>Backwards at -0.5 m/s it reaches -0.39, about 22 % below.</a:t>
            </a:r>
          </a:p>
          <a:p>
            <a:pPr algn="l">
              <a:lnSpc>
                <a:spcPct val="112000"/>
              </a:lnSpc>
            </a:pPr>
          </a:p>
          <a:p>
            <a:pPr algn="l">
              <a:lnSpc>
                <a:spcPct val="112000"/>
              </a:lnSpc>
            </a:pPr>
            <a:r>
              <a:rPr sz="1500" b="0" i="0">
                <a:solidFill>
                  <a:srgbClr val="22252A"/>
                </a:solidFill>
                <a:latin typeface="Calibri"/>
              </a:rPr>
              <a:t>From 0 to 1.0 m/s it matches the others.</a:t>
            </a:r>
          </a:p>
        </p:txBody>
      </p:sp>
      <p:sp>
        <p:nvSpPr>
          <p:cNvPr id="9" name="Rounded Rectangle 8"/>
          <p:cNvSpPr/>
          <p:nvPr/>
        </p:nvSpPr>
        <p:spPr>
          <a:xfrm>
            <a:off x="548640" y="6053328"/>
            <a:ext cx="11091672" cy="512064"/>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6053328"/>
            <a:ext cx="82296" cy="512064"/>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6117336"/>
            <a:ext cx="10744200" cy="402336"/>
          </a:xfrm>
          <a:prstGeom prst="rect">
            <a:avLst/>
          </a:prstGeom>
          <a:noFill/>
        </p:spPr>
        <p:txBody>
          <a:bodyPr wrap="square" anchor="ctr">
            <a:spAutoFit/>
          </a:bodyPr>
          <a:lstStyle/>
          <a:p>
            <a:r>
              <a:rPr sz="1600" b="1">
                <a:solidFill>
                  <a:srgbClr val="B8862E"/>
                </a:solidFill>
                <a:latin typeface="Calibri"/>
              </a:rPr>
              <a:t>Why it matters:  </a:t>
            </a:r>
            <a:r>
              <a:rPr sz="1600">
                <a:solidFill>
                  <a:srgbClr val="22252A"/>
                </a:solidFill>
                <a:latin typeface="Calibri"/>
              </a:rPr>
              <a:t>1.85 vs 2.0 m/s forward and -0.39 vs -0.5 backward buy a 60 ms margin: my best simulated stand candidate.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1005840" y="2240280"/>
            <a:ext cx="82296" cy="1920240"/>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12848"/>
            <a:ext cx="9601200" cy="365760"/>
          </a:xfrm>
          <a:prstGeom prst="rect">
            <a:avLst/>
          </a:prstGeom>
          <a:noFill/>
        </p:spPr>
        <p:txBody>
          <a:bodyPr wrap="square">
            <a:spAutoFit/>
          </a:bodyPr>
          <a:lstStyle/>
          <a:p>
            <a:pPr algn="l">
              <a:lnSpc>
                <a:spcPct val="100000"/>
              </a:lnSpc>
            </a:pPr>
            <a:r>
              <a:rPr sz="1500" b="0" i="0">
                <a:solidFill>
                  <a:srgbClr val="B8862E"/>
                </a:solidFill>
                <a:latin typeface="Calibri"/>
              </a:rPr>
              <a:t>PART 3</a:t>
            </a:r>
          </a:p>
        </p:txBody>
      </p:sp>
      <p:sp>
        <p:nvSpPr>
          <p:cNvPr id="4" name="TextBox 3"/>
          <p:cNvSpPr txBox="1"/>
          <p:nvPr/>
        </p:nvSpPr>
        <p:spPr>
          <a:xfrm>
            <a:off x="1371600" y="2606040"/>
            <a:ext cx="9601200" cy="822960"/>
          </a:xfrm>
          <a:prstGeom prst="rect">
            <a:avLst/>
          </a:prstGeom>
          <a:noFill/>
        </p:spPr>
        <p:txBody>
          <a:bodyPr wrap="square">
            <a:spAutoFit/>
          </a:bodyPr>
          <a:lstStyle/>
          <a:p>
            <a:pPr algn="l">
              <a:lnSpc>
                <a:spcPct val="100000"/>
              </a:lnSpc>
            </a:pPr>
            <a:r>
              <a:rPr sz="4000" b="1" i="0">
                <a:solidFill>
                  <a:srgbClr val="FFFFFF"/>
                </a:solidFill>
                <a:latin typeface="Calibri"/>
              </a:rPr>
              <a:t>A jump from a video</a:t>
            </a:r>
          </a:p>
        </p:txBody>
      </p:sp>
      <p:sp>
        <p:nvSpPr>
          <p:cNvPr id="5" name="TextBox 4"/>
          <p:cNvSpPr txBox="1"/>
          <p:nvPr/>
        </p:nvSpPr>
        <p:spPr>
          <a:xfrm>
            <a:off x="1371600" y="3520440"/>
            <a:ext cx="9601200" cy="457200"/>
          </a:xfrm>
          <a:prstGeom prst="rect">
            <a:avLst/>
          </a:prstGeom>
          <a:noFill/>
        </p:spPr>
        <p:txBody>
          <a:bodyPr wrap="square">
            <a:spAutoFit/>
          </a:bodyPr>
          <a:lstStyle/>
          <a:p>
            <a:pPr algn="l">
              <a:lnSpc>
                <a:spcPct val="100000"/>
              </a:lnSpc>
            </a:pPr>
            <a:r>
              <a:rPr sz="2000" b="0" i="0">
                <a:solidFill>
                  <a:srgbClr val="C9D2DA"/>
                </a:solidFill>
                <a:latin typeface="Calibri"/>
              </a:rPr>
              <a:t>Two stock clips through the unchanged pipeline</a:t>
            </a:r>
          </a:p>
        </p:txBody>
      </p:sp>
      <p:sp>
        <p:nvSpPr>
          <p:cNvPr id="6" name="TextBox 5"/>
          <p:cNvSpPr txBox="1"/>
          <p:nvPr/>
        </p:nvSpPr>
        <p:spPr>
          <a:xfrm>
            <a:off x="1371600" y="4160520"/>
            <a:ext cx="9601200" cy="548640"/>
          </a:xfrm>
          <a:prstGeom prst="rect">
            <a:avLst/>
          </a:prstGeom>
          <a:noFill/>
        </p:spPr>
        <p:txBody>
          <a:bodyPr wrap="square">
            <a:spAutoFit/>
          </a:bodyPr>
          <a:lstStyle/>
          <a:p>
            <a:pPr algn="l">
              <a:lnSpc>
                <a:spcPct val="100000"/>
              </a:lnSpc>
            </a:pPr>
            <a:r>
              <a:rPr sz="1500" b="0" i="1">
                <a:solidFill>
                  <a:srgbClr val="8F9EAC"/>
                </a:solidFill>
                <a:latin typeface="Calibri"/>
              </a:rPr>
              <a:t>video -&gt; GVHMR -&gt; GMR -&gt; mjlab training -&gt; plain MuJoCo check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Picking a clip</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I downloaded 11 Pexels clips and checked each one</a:t>
            </a:r>
          </a:p>
        </p:txBody>
      </p:sp>
      <p:graphicFrame>
        <p:nvGraphicFramePr>
          <p:cNvPr id="4" name="Table 3"/>
          <p:cNvGraphicFramePr>
            <a:graphicFrameLocks noGrp="1"/>
          </p:cNvGraphicFramePr>
          <p:nvPr/>
        </p:nvGraphicFramePr>
        <p:xfrm>
          <a:off x="548640" y="1554480"/>
          <a:ext cx="6766560" cy="3520440"/>
        </p:xfrm>
        <a:graphic>
          <a:graphicData uri="http://schemas.openxmlformats.org/drawingml/2006/table">
            <a:tbl>
              <a:tblPr firstRow="1" bandRow="1">
                <a:tableStyleId>{5C22544A-7EE6-4342-B048-85BDC9FD1C3A}</a:tableStyleId>
              </a:tblPr>
              <a:tblGrid>
                <a:gridCol w="2834640"/>
                <a:gridCol w="3931920"/>
              </a:tblGrid>
              <a:tr h="502920">
                <a:tc>
                  <a:txBody>
                    <a:bodyPr wrap="square"/>
                    <a:lstStyle/>
                    <a:p>
                      <a:pPr algn="l"/>
                      <a:r>
                        <a:rPr sz="1500" b="1">
                          <a:solidFill>
                            <a:srgbClr val="FFFFFF"/>
                          </a:solidFill>
                          <a:latin typeface="Calibri"/>
                        </a:rPr>
                        <a:t>rejected</a:t>
                      </a:r>
                    </a:p>
                  </a:txBody>
                  <a:tcPr marL="73152" marR="73152" marT="27432" marB="27432" anchor="ctr">
                    <a:solidFill>
                      <a:srgbClr val="1B2A3A"/>
                    </a:solidFill>
                  </a:tcPr>
                </a:tc>
                <a:tc>
                  <a:txBody>
                    <a:bodyPr wrap="square"/>
                    <a:lstStyle/>
                    <a:p>
                      <a:pPr algn="ctr"/>
                      <a:r>
                        <a:rPr sz="1500" b="1">
                          <a:solidFill>
                            <a:srgbClr val="FFFFFF"/>
                          </a:solidFill>
                          <a:latin typeface="Calibri"/>
                        </a:rPr>
                        <a:t>why</a:t>
                      </a:r>
                    </a:p>
                  </a:txBody>
                  <a:tcPr marL="73152" marR="73152" marT="27432" marB="27432" anchor="ctr">
                    <a:solidFill>
                      <a:srgbClr val="1B2A3A"/>
                    </a:solidFill>
                  </a:tcPr>
                </a:tc>
              </a:tr>
              <a:tr h="502920">
                <a:tc>
                  <a:txBody>
                    <a:bodyPr wrap="square"/>
                    <a:lstStyle/>
                    <a:p>
                      <a:pPr algn="l"/>
                      <a:r>
                        <a:rPr sz="1500" b="0">
                          <a:solidFill>
                            <a:srgbClr val="22252A"/>
                          </a:solidFill>
                          <a:latin typeface="Calibri"/>
                        </a:rPr>
                        <a:t>two "person jumping" clips</a:t>
                      </a:r>
                    </a:p>
                  </a:txBody>
                  <a:tcPr marL="73152" marR="73152" marT="27432" marB="27432" anchor="ctr">
                    <a:solidFill>
                      <a:srgbClr val="EEEDE9"/>
                    </a:solidFill>
                  </a:tcPr>
                </a:tc>
                <a:tc>
                  <a:txBody>
                    <a:bodyPr wrap="square"/>
                    <a:lstStyle/>
                    <a:p>
                      <a:pPr algn="ctr"/>
                      <a:r>
                        <a:rPr sz="1500" b="0">
                          <a:solidFill>
                            <a:srgbClr val="22252A"/>
                          </a:solidFill>
                          <a:latin typeface="Calibri"/>
                        </a:rPr>
                        <a:t>body cut off in every frame, camera moving</a:t>
                      </a:r>
                    </a:p>
                  </a:txBody>
                  <a:tcPr marL="73152" marR="73152" marT="27432" marB="27432" anchor="ctr">
                    <a:solidFill>
                      <a:srgbClr val="EEEDE9"/>
                    </a:solidFill>
                  </a:tcPr>
                </a:tc>
              </a:tr>
              <a:tr h="502920">
                <a:tc>
                  <a:txBody>
                    <a:bodyPr wrap="square"/>
                    <a:lstStyle/>
                    <a:p>
                      <a:pPr algn="l"/>
                      <a:r>
                        <a:rPr sz="1500" b="0">
                          <a:solidFill>
                            <a:srgbClr val="22252A"/>
                          </a:solidFill>
                          <a:latin typeface="Calibri"/>
                        </a:rPr>
                        <a:t>two jump-rope clips</a:t>
                      </a:r>
                    </a:p>
                  </a:txBody>
                  <a:tcPr marL="73152" marR="73152" marT="27432" marB="27432" anchor="ctr">
                    <a:solidFill>
                      <a:srgbClr val="FFFFFF"/>
                    </a:solidFill>
                  </a:tcPr>
                </a:tc>
                <a:tc>
                  <a:txBody>
                    <a:bodyPr wrap="square"/>
                    <a:lstStyle/>
                    <a:p>
                      <a:pPr algn="ctr"/>
                      <a:r>
                        <a:rPr sz="1500" b="0">
                          <a:solidFill>
                            <a:srgbClr val="22252A"/>
                          </a:solidFill>
                          <a:latin typeface="Calibri"/>
                        </a:rPr>
                        <a:t>framed from the waist up</a:t>
                      </a:r>
                    </a:p>
                  </a:txBody>
                  <a:tcPr marL="73152" marR="73152" marT="27432" marB="27432" anchor="ctr">
                    <a:solidFill>
                      <a:srgbClr val="FFFFFF"/>
                    </a:solidFill>
                  </a:tcPr>
                </a:tc>
              </a:tr>
              <a:tr h="502920">
                <a:tc>
                  <a:txBody>
                    <a:bodyPr wrap="square"/>
                    <a:lstStyle/>
                    <a:p>
                      <a:pPr algn="l"/>
                      <a:r>
                        <a:rPr sz="1500" b="0">
                          <a:solidFill>
                            <a:srgbClr val="22252A"/>
                          </a:solidFill>
                          <a:latin typeface="Calibri"/>
                        </a:rPr>
                        <a:t>gym clip</a:t>
                      </a:r>
                    </a:p>
                  </a:txBody>
                  <a:tcPr marL="73152" marR="73152" marT="27432" marB="27432" anchor="ctr">
                    <a:solidFill>
                      <a:srgbClr val="EEEDE9"/>
                    </a:solidFill>
                  </a:tcPr>
                </a:tc>
                <a:tc>
                  <a:txBody>
                    <a:bodyPr wrap="square"/>
                    <a:lstStyle/>
                    <a:p>
                      <a:pPr algn="ctr"/>
                      <a:r>
                        <a:rPr sz="1500" b="0">
                          <a:solidFill>
                            <a:srgbClr val="22252A"/>
                          </a:solidFill>
                          <a:latin typeface="Calibri"/>
                        </a:rPr>
                        <a:t>two people</a:t>
                      </a:r>
                    </a:p>
                  </a:txBody>
                  <a:tcPr marL="73152" marR="73152" marT="27432" marB="27432" anchor="ctr">
                    <a:solidFill>
                      <a:srgbClr val="EEEDE9"/>
                    </a:solidFill>
                  </a:tcPr>
                </a:tc>
              </a:tr>
              <a:tr h="502920">
                <a:tc>
                  <a:txBody>
                    <a:bodyPr wrap="square"/>
                    <a:lstStyle/>
                    <a:p>
                      <a:pPr algn="l"/>
                      <a:r>
                        <a:rPr sz="1500" b="0">
                          <a:solidFill>
                            <a:srgbClr val="22252A"/>
                          </a:solidFill>
                          <a:latin typeface="Calibri"/>
                        </a:rPr>
                        <a:t>trampoline</a:t>
                      </a:r>
                    </a:p>
                  </a:txBody>
                  <a:tcPr marL="73152" marR="73152" marT="27432" marB="27432" anchor="ctr">
                    <a:solidFill>
                      <a:srgbClr val="FFFFFF"/>
                    </a:solidFill>
                  </a:tcPr>
                </a:tc>
                <a:tc>
                  <a:txBody>
                    <a:bodyPr wrap="square"/>
                    <a:lstStyle/>
                    <a:p>
                      <a:pPr algn="ctr"/>
                      <a:r>
                        <a:rPr sz="1500" b="0">
                          <a:solidFill>
                            <a:srgbClr val="22252A"/>
                          </a:solidFill>
                          <a:latin typeface="Calibri"/>
                        </a:rPr>
                        <a:t>not flat ground</a:t>
                      </a:r>
                    </a:p>
                  </a:txBody>
                  <a:tcPr marL="73152" marR="73152" marT="27432" marB="27432" anchor="ctr">
                    <a:solidFill>
                      <a:srgbClr val="FFFFFF"/>
                    </a:solidFill>
                  </a:tcPr>
                </a:tc>
              </a:tr>
              <a:tr h="502920">
                <a:tc>
                  <a:txBody>
                    <a:bodyPr wrap="square"/>
                    <a:lstStyle/>
                    <a:p>
                      <a:pPr algn="l"/>
                      <a:r>
                        <a:rPr sz="1500" b="0">
                          <a:solidFill>
                            <a:srgbClr val="22252A"/>
                          </a:solidFill>
                          <a:latin typeface="Calibri"/>
                        </a:rPr>
                        <a:t>parkour leap</a:t>
                      </a:r>
                    </a:p>
                  </a:txBody>
                  <a:tcPr marL="73152" marR="73152" marT="27432" marB="27432" anchor="ctr">
                    <a:solidFill>
                      <a:srgbClr val="EEEDE9"/>
                    </a:solidFill>
                  </a:tcPr>
                </a:tc>
                <a:tc>
                  <a:txBody>
                    <a:bodyPr wrap="square"/>
                    <a:lstStyle/>
                    <a:p>
                      <a:pPr algn="ctr"/>
                      <a:r>
                        <a:rPr sz="1500" b="0">
                          <a:solidFill>
                            <a:srgbClr val="22252A"/>
                          </a:solidFill>
                          <a:latin typeface="Calibri"/>
                        </a:rPr>
                        <a:t>slow motion, so the timing is wrong</a:t>
                      </a:r>
                    </a:p>
                  </a:txBody>
                  <a:tcPr marL="73152" marR="73152" marT="27432" marB="27432" anchor="ctr">
                    <a:solidFill>
                      <a:srgbClr val="EEEDE9"/>
                    </a:solidFill>
                  </a:tcPr>
                </a:tc>
              </a:tr>
              <a:tr h="502920">
                <a:tc>
                  <a:txBody>
                    <a:bodyPr wrap="square"/>
                    <a:lstStyle/>
                    <a:p>
                      <a:pPr algn="l"/>
                      <a:r>
                        <a:rPr sz="1500" b="0">
                          <a:solidFill>
                            <a:srgbClr val="22252A"/>
                          </a:solidFill>
                          <a:latin typeface="Calibri"/>
                        </a:rPr>
                        <a:t>bed jumping</a:t>
                      </a:r>
                    </a:p>
                  </a:txBody>
                  <a:tcPr marL="73152" marR="73152" marT="27432" marB="27432" anchor="ctr">
                    <a:solidFill>
                      <a:srgbClr val="FFFFFF"/>
                    </a:solidFill>
                  </a:tcPr>
                </a:tc>
                <a:tc>
                  <a:txBody>
                    <a:bodyPr wrap="square"/>
                    <a:lstStyle/>
                    <a:p>
                      <a:pPr algn="ctr"/>
                      <a:r>
                        <a:rPr sz="1500" b="0">
                          <a:solidFill>
                            <a:srgbClr val="22252A"/>
                          </a:solidFill>
                          <a:latin typeface="Calibri"/>
                        </a:rPr>
                        <a:t>several people</a:t>
                      </a:r>
                    </a:p>
                  </a:txBody>
                  <a:tcPr marL="73152" marR="73152" marT="27432" marB="27432" anchor="ctr">
                    <a:solidFill>
                      <a:srgbClr val="FFFFFF"/>
                    </a:solidFill>
                  </a:tcPr>
                </a:tc>
              </a:tr>
            </a:tbl>
          </a:graphicData>
        </a:graphic>
      </p:graphicFrame>
      <p:sp>
        <p:nvSpPr>
          <p:cNvPr id="5" name="Rounded Rectangle 4"/>
          <p:cNvSpPr/>
          <p:nvPr/>
        </p:nvSpPr>
        <p:spPr>
          <a:xfrm>
            <a:off x="7589520" y="1554480"/>
            <a:ext cx="4050791" cy="420624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5552" y="1737360"/>
            <a:ext cx="3538727" cy="365760"/>
          </a:xfrm>
          <a:prstGeom prst="rect">
            <a:avLst/>
          </a:prstGeom>
          <a:noFill/>
        </p:spPr>
        <p:txBody>
          <a:bodyPr wrap="square">
            <a:spAutoFit/>
          </a:bodyPr>
          <a:lstStyle/>
          <a:p>
            <a:pPr algn="l">
              <a:lnSpc>
                <a:spcPct val="100000"/>
              </a:lnSpc>
            </a:pPr>
            <a:r>
              <a:rPr sz="1500" b="1" i="0">
                <a:solidFill>
                  <a:srgbClr val="1B2A3A"/>
                </a:solidFill>
                <a:latin typeface="Calibri"/>
              </a:rPr>
              <a:t>Chosen</a:t>
            </a:r>
          </a:p>
        </p:txBody>
      </p:sp>
      <p:sp>
        <p:nvSpPr>
          <p:cNvPr id="7" name="TextBox 6"/>
          <p:cNvSpPr txBox="1"/>
          <p:nvPr/>
        </p:nvSpPr>
        <p:spPr>
          <a:xfrm>
            <a:off x="7845552" y="2176272"/>
            <a:ext cx="3538727" cy="3447288"/>
          </a:xfrm>
          <a:prstGeom prst="rect">
            <a:avLst/>
          </a:prstGeom>
          <a:noFill/>
        </p:spPr>
        <p:txBody>
          <a:bodyPr wrap="square">
            <a:spAutoFit/>
          </a:bodyPr>
          <a:lstStyle/>
          <a:p>
            <a:pPr algn="l">
              <a:lnSpc>
                <a:spcPct val="112000"/>
              </a:lnSpc>
            </a:pPr>
            <a:r>
              <a:rPr sz="1500" b="0" i="0">
                <a:solidFill>
                  <a:srgbClr val="22252A"/>
                </a:solidFill>
                <a:latin typeface="Calibri"/>
              </a:rPr>
              <a:t>Jumping jacks: one person, whole body in frame, fixed camera, real flight, and it starts and ends standing.</a:t>
            </a:r>
          </a:p>
          <a:p>
            <a:pPr algn="l">
              <a:lnSpc>
                <a:spcPct val="112000"/>
              </a:lnSpc>
            </a:pPr>
          </a:p>
          <a:p>
            <a:pPr algn="l">
              <a:lnSpc>
                <a:spcPct val="112000"/>
              </a:lnSpc>
            </a:pPr>
            <a:r>
              <a:rPr sz="1500" b="0" i="0">
                <a:solidFill>
                  <a:srgbClr val="22252A"/>
                </a:solidFill>
                <a:latin typeface="Calibri"/>
              </a:rPr>
              <a:t>Jump rope: fixed camera, small fast hops.</a:t>
            </a:r>
          </a:p>
          <a:p>
            <a:pPr algn="l">
              <a:lnSpc>
                <a:spcPct val="112000"/>
              </a:lnSpc>
            </a:pPr>
          </a:p>
          <a:p>
            <a:pPr algn="l">
              <a:lnSpc>
                <a:spcPct val="112000"/>
              </a:lnSpc>
            </a:pPr>
            <a:r>
              <a:rPr sz="1500" b="0" i="0">
                <a:solidFill>
                  <a:srgbClr val="22252A"/>
                </a:solidFill>
                <a:latin typeface="Calibri"/>
              </a:rPr>
              <a:t>I found no clean clip of a single vertical jump.</a:t>
            </a:r>
          </a:p>
        </p:txBody>
      </p:sp>
      <p:sp>
        <p:nvSpPr>
          <p:cNvPr id="8" name="Rounded Rectangle 7"/>
          <p:cNvSpPr/>
          <p:nvPr/>
        </p:nvSpPr>
        <p:spPr>
          <a:xfrm>
            <a:off x="548640" y="6053328"/>
            <a:ext cx="11091672" cy="512064"/>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6053328"/>
            <a:ext cx="82296" cy="512064"/>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6117336"/>
            <a:ext cx="10744200" cy="402336"/>
          </a:xfrm>
          <a:prstGeom prst="rect">
            <a:avLst/>
          </a:prstGeom>
          <a:noFill/>
        </p:spPr>
        <p:txBody>
          <a:bodyPr wrap="square" anchor="ctr">
            <a:spAutoFit/>
          </a:bodyPr>
          <a:lstStyle/>
          <a:p>
            <a:r>
              <a:rPr sz="1600" b="1">
                <a:solidFill>
                  <a:srgbClr val="B8862E"/>
                </a:solidFill>
                <a:latin typeface="Calibri"/>
              </a:rPr>
              <a:t>Why it matters:  </a:t>
            </a:r>
            <a:r>
              <a:rPr sz="1600">
                <a:solidFill>
                  <a:srgbClr val="22252A"/>
                </a:solidFill>
                <a:latin typeface="Calibri"/>
              </a:rPr>
              <a:t>the pipeline is only as good as the video: choosing the clip is half the work.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Jumping jacks: video next to the R1</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10.4 s, about 10 jumping jacks (20 jumps)</a:t>
            </a:r>
          </a:p>
        </p:txBody>
      </p:sp>
      <p:pic>
        <p:nvPicPr>
          <p:cNvPr id="4" name="jumping_jacks_side_by_side.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3310128" y="1417320"/>
            <a:ext cx="5577840" cy="3952800"/>
          </a:xfrm>
          <a:prstGeom prst="rect">
            <a:avLst/>
          </a:prstGeom>
        </p:spPr>
      </p:pic>
      <p:sp>
        <p:nvSpPr>
          <p:cNvPr id="5" name="TextBox 4"/>
          <p:cNvSpPr txBox="1"/>
          <p:nvPr/>
        </p:nvSpPr>
        <p:spPr>
          <a:xfrm>
            <a:off x="3035808" y="5424984"/>
            <a:ext cx="6126479" cy="310896"/>
          </a:xfrm>
          <a:prstGeom prst="rect">
            <a:avLst/>
          </a:prstGeom>
          <a:noFill/>
        </p:spPr>
        <p:txBody>
          <a:bodyPr wrap="square">
            <a:spAutoFit/>
          </a:bodyPr>
          <a:lstStyle/>
          <a:p>
            <a:pPr algn="ctr">
              <a:lnSpc>
                <a:spcPct val="100000"/>
              </a:lnSpc>
            </a:pPr>
            <a:r>
              <a:rPr sz="1200" b="0" i="1">
                <a:solidFill>
                  <a:srgbClr val="5A6068"/>
                </a:solidFill>
                <a:latin typeface="Calibri"/>
              </a:rPr>
              <a:t>Left: original video (Kindel Media, Pexels). Right: the delay-trained R1 policy in plain MuJoCo, frame-synced.</a:t>
            </a:r>
          </a:p>
        </p:txBody>
      </p:sp>
      <p:sp>
        <p:nvSpPr>
          <p:cNvPr id="6" name="Rounded Rectangle 5"/>
          <p:cNvSpPr/>
          <p:nvPr/>
        </p:nvSpPr>
        <p:spPr>
          <a:xfrm>
            <a:off x="548640" y="6053328"/>
            <a:ext cx="11091672" cy="512064"/>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053328"/>
            <a:ext cx="82296" cy="512064"/>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117336"/>
            <a:ext cx="10744200" cy="402336"/>
          </a:xfrm>
          <a:prstGeom prst="rect">
            <a:avLst/>
          </a:prstGeom>
          <a:noFill/>
        </p:spPr>
        <p:txBody>
          <a:bodyPr wrap="square" anchor="ctr">
            <a:spAutoFit/>
          </a:bodyPr>
          <a:lstStyle/>
          <a:p>
            <a:r>
              <a:rPr sz="1600" b="1">
                <a:solidFill>
                  <a:srgbClr val="B8862E"/>
                </a:solidFill>
                <a:latin typeface="Calibri"/>
              </a:rPr>
              <a:t>Why it matters:  </a:t>
            </a:r>
            <a:r>
              <a:rPr sz="1600">
                <a:solidFill>
                  <a:srgbClr val="22252A"/>
                </a:solidFill>
                <a:latin typeface="Calibri"/>
              </a:rPr>
              <a:t>the bag has a simulated jump with a flight phase (both feet up 20 % of the time) that starts and ends standing.</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Jumping jacks under delay</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Runs that survived out of 20, CPU MuJoCo: one fixed delay per run, plus the training's random changes</a:t>
            </a:r>
          </a:p>
        </p:txBody>
      </p:sp>
      <p:pic>
        <p:nvPicPr>
          <p:cNvPr id="4" name="Picture 3" descr="chart_jj_delay.png"/>
          <p:cNvPicPr>
            <a:picLocks noChangeAspect="1"/>
          </p:cNvPicPr>
          <p:nvPr/>
        </p:nvPicPr>
        <p:blipFill>
          <a:blip r:embed="rId2"/>
          <a:stretch>
            <a:fillRect/>
          </a:stretch>
        </p:blipFill>
        <p:spPr>
          <a:xfrm>
            <a:off x="502920" y="1508760"/>
            <a:ext cx="6583680" cy="3724976"/>
          </a:xfrm>
          <a:prstGeom prst="rect">
            <a:avLst/>
          </a:prstGeom>
        </p:spPr>
      </p:pic>
      <p:sp>
        <p:nvSpPr>
          <p:cNvPr id="5" name="Rounded Rectangle 4"/>
          <p:cNvSpPr/>
          <p:nvPr/>
        </p:nvSpPr>
        <p:spPr>
          <a:xfrm>
            <a:off x="7360920" y="1508760"/>
            <a:ext cx="4279392" cy="169164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16952" y="1691639"/>
            <a:ext cx="3767327" cy="365760"/>
          </a:xfrm>
          <a:prstGeom prst="rect">
            <a:avLst/>
          </a:prstGeom>
          <a:noFill/>
        </p:spPr>
        <p:txBody>
          <a:bodyPr wrap="square">
            <a:spAutoFit/>
          </a:bodyPr>
          <a:lstStyle/>
          <a:p>
            <a:pPr algn="l">
              <a:lnSpc>
                <a:spcPct val="100000"/>
              </a:lnSpc>
            </a:pPr>
            <a:r>
              <a:rPr sz="1500" b="1" i="0">
                <a:solidFill>
                  <a:srgbClr val="1B2A3A"/>
                </a:solidFill>
                <a:latin typeface="Calibri"/>
              </a:rPr>
              <a:t>Same pattern as walking</a:t>
            </a:r>
          </a:p>
        </p:txBody>
      </p:sp>
      <p:sp>
        <p:nvSpPr>
          <p:cNvPr id="7" name="TextBox 6"/>
          <p:cNvSpPr txBox="1"/>
          <p:nvPr/>
        </p:nvSpPr>
        <p:spPr>
          <a:xfrm>
            <a:off x="7616952" y="2130552"/>
            <a:ext cx="3767327" cy="932688"/>
          </a:xfrm>
          <a:prstGeom prst="rect">
            <a:avLst/>
          </a:prstGeom>
          <a:noFill/>
        </p:spPr>
        <p:txBody>
          <a:bodyPr wrap="square">
            <a:spAutoFit/>
          </a:bodyPr>
          <a:lstStyle/>
          <a:p>
            <a:pPr algn="l">
              <a:lnSpc>
                <a:spcPct val="112000"/>
              </a:lnSpc>
            </a:pPr>
            <a:r>
              <a:rPr sz="1450" b="0" i="0">
                <a:solidFill>
                  <a:srgbClr val="22252A"/>
                </a:solidFill>
                <a:latin typeface="Calibri"/>
              </a:rPr>
              <a:t>Plain policy: 2 of 20 at 40 ms.</a:t>
            </a:r>
          </a:p>
          <a:p>
            <a:pPr algn="l">
              <a:lnSpc>
                <a:spcPct val="112000"/>
              </a:lnSpc>
            </a:pPr>
            <a:r>
              <a:rPr sz="1450" b="0" i="0">
                <a:solidFill>
                  <a:srgbClr val="22252A"/>
                </a:solidFill>
                <a:latin typeface="Calibri"/>
              </a:rPr>
              <a:t>Delay-trained: 20 of 20 up to 50 ms, 19 at 60 ms.</a:t>
            </a:r>
          </a:p>
        </p:txBody>
      </p:sp>
      <p:sp>
        <p:nvSpPr>
          <p:cNvPr id="8" name="Rounded Rectangle 7"/>
          <p:cNvSpPr/>
          <p:nvPr/>
        </p:nvSpPr>
        <p:spPr>
          <a:xfrm>
            <a:off x="7360920" y="3291840"/>
            <a:ext cx="4279392" cy="118872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16952" y="3474720"/>
            <a:ext cx="3767327" cy="365760"/>
          </a:xfrm>
          <a:prstGeom prst="rect">
            <a:avLst/>
          </a:prstGeom>
          <a:noFill/>
        </p:spPr>
        <p:txBody>
          <a:bodyPr wrap="square">
            <a:spAutoFit/>
          </a:bodyPr>
          <a:lstStyle/>
          <a:p>
            <a:pPr algn="l">
              <a:lnSpc>
                <a:spcPct val="100000"/>
              </a:lnSpc>
            </a:pPr>
            <a:r>
              <a:rPr sz="1500" b="1" i="0">
                <a:solidFill>
                  <a:srgbClr val="1B2A3A"/>
                </a:solidFill>
                <a:latin typeface="Calibri"/>
              </a:rPr>
              <a:t>Tracking</a:t>
            </a:r>
          </a:p>
        </p:txBody>
      </p:sp>
      <p:sp>
        <p:nvSpPr>
          <p:cNvPr id="10" name="TextBox 9"/>
          <p:cNvSpPr txBox="1"/>
          <p:nvPr/>
        </p:nvSpPr>
        <p:spPr>
          <a:xfrm>
            <a:off x="7616952" y="3913632"/>
            <a:ext cx="3767327" cy="429768"/>
          </a:xfrm>
          <a:prstGeom prst="rect">
            <a:avLst/>
          </a:prstGeom>
          <a:noFill/>
        </p:spPr>
        <p:txBody>
          <a:bodyPr wrap="square">
            <a:spAutoFit/>
          </a:bodyPr>
          <a:lstStyle/>
          <a:p>
            <a:pPr algn="l">
              <a:lnSpc>
                <a:spcPct val="112000"/>
              </a:lnSpc>
            </a:pPr>
            <a:r>
              <a:rPr sz="1250" b="0" i="0">
                <a:solidFill>
                  <a:srgbClr val="22252A"/>
                </a:solidFill>
                <a:latin typeface="Calibri"/>
              </a:rPr>
              <a:t>Average joint-angle error: about 34 degrees (0.59 rad) with no random changes.</a:t>
            </a:r>
          </a:p>
        </p:txBody>
      </p:sp>
      <p:sp>
        <p:nvSpPr>
          <p:cNvPr id="11" name="Rounded Rectangle 10"/>
          <p:cNvSpPr/>
          <p:nvPr/>
        </p:nvSpPr>
        <p:spPr>
          <a:xfrm>
            <a:off x="7360920" y="4572000"/>
            <a:ext cx="4279392" cy="1371600"/>
          </a:xfrm>
          <a:prstGeom prst="roundRect">
            <a:avLst/>
          </a:prstGeom>
          <a:solidFill>
            <a:srgbClr val="F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6952" y="4754880"/>
            <a:ext cx="3767327" cy="365760"/>
          </a:xfrm>
          <a:prstGeom prst="rect">
            <a:avLst/>
          </a:prstGeom>
          <a:noFill/>
        </p:spPr>
        <p:txBody>
          <a:bodyPr wrap="square">
            <a:spAutoFit/>
          </a:bodyPr>
          <a:lstStyle/>
          <a:p>
            <a:pPr algn="l">
              <a:lnSpc>
                <a:spcPct val="100000"/>
              </a:lnSpc>
            </a:pPr>
            <a:r>
              <a:rPr sz="1500" b="1" i="0">
                <a:solidFill>
                  <a:srgbClr val="1B2A3A"/>
                </a:solidFill>
                <a:latin typeface="Calibri"/>
              </a:rPr>
              <a:t>Weak point: pushes</a:t>
            </a:r>
          </a:p>
        </p:txBody>
      </p:sp>
      <p:sp>
        <p:nvSpPr>
          <p:cNvPr id="13" name="TextBox 12"/>
          <p:cNvSpPr txBox="1"/>
          <p:nvPr/>
        </p:nvSpPr>
        <p:spPr>
          <a:xfrm>
            <a:off x="7616952" y="5193792"/>
            <a:ext cx="3767327" cy="612647"/>
          </a:xfrm>
          <a:prstGeom prst="rect">
            <a:avLst/>
          </a:prstGeom>
          <a:noFill/>
        </p:spPr>
        <p:txBody>
          <a:bodyPr wrap="square">
            <a:spAutoFit/>
          </a:bodyPr>
          <a:lstStyle/>
          <a:p>
            <a:pPr algn="l">
              <a:lnSpc>
                <a:spcPct val="112000"/>
              </a:lnSpc>
            </a:pPr>
            <a:r>
              <a:rPr sz="1150" b="0" i="0">
                <a:solidFill>
                  <a:srgbClr val="22252A"/>
                </a:solidFill>
                <a:latin typeface="Calibri"/>
              </a:rPr>
              <a:t>Three times stronger pushes: 8 of 20 without delay training, 11 of 20 with it. A push in the air cannot be corrected until the robot lands.</a:t>
            </a:r>
          </a:p>
        </p:txBody>
      </p:sp>
      <p:sp>
        <p:nvSpPr>
          <p:cNvPr id="14" name="Rounded Rectangle 13"/>
          <p:cNvSpPr/>
          <p:nvPr/>
        </p:nvSpPr>
        <p:spPr>
          <a:xfrm>
            <a:off x="548640" y="6053328"/>
            <a:ext cx="11091672" cy="512064"/>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6053328"/>
            <a:ext cx="82296" cy="512064"/>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6117336"/>
            <a:ext cx="10744200" cy="402336"/>
          </a:xfrm>
          <a:prstGeom prst="rect">
            <a:avLst/>
          </a:prstGeom>
          <a:noFill/>
        </p:spPr>
        <p:txBody>
          <a:bodyPr wrap="square" anchor="ctr">
            <a:spAutoFit/>
          </a:bodyPr>
          <a:lstStyle/>
          <a:p>
            <a:r>
              <a:rPr sz="1600" b="1">
                <a:solidFill>
                  <a:srgbClr val="B8862E"/>
                </a:solidFill>
                <a:latin typeface="Calibri"/>
              </a:rPr>
              <a:t>Why it matters:  </a:t>
            </a:r>
            <a:r>
              <a:rPr sz="1600">
                <a:solidFill>
                  <a:srgbClr val="22252A"/>
                </a:solidFill>
                <a:latin typeface="Calibri"/>
              </a:rPr>
              <a:t>it improved in this run, like walking; one seed and 3,000 extra iterations, so the cause is not isolated.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Jump rope: the robot follows a wrong reference</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The problem enters before training</a:t>
            </a:r>
          </a:p>
        </p:txBody>
      </p:sp>
      <p:pic>
        <p:nvPicPr>
          <p:cNvPr id="4" name="Picture 3" descr="poster_jump_rope.png"/>
          <p:cNvPicPr>
            <a:picLocks noChangeAspect="1"/>
          </p:cNvPicPr>
          <p:nvPr/>
        </p:nvPicPr>
        <p:blipFill>
          <a:blip r:embed="rId2"/>
          <a:stretch>
            <a:fillRect/>
          </a:stretch>
        </p:blipFill>
        <p:spPr>
          <a:xfrm>
            <a:off x="548640" y="1463040"/>
            <a:ext cx="6126480" cy="2336369"/>
          </a:xfrm>
          <a:prstGeom prst="rect">
            <a:avLst/>
          </a:prstGeom>
        </p:spPr>
      </p:pic>
      <p:sp>
        <p:nvSpPr>
          <p:cNvPr id="5" name="TextBox 4"/>
          <p:cNvSpPr txBox="1"/>
          <p:nvPr/>
        </p:nvSpPr>
        <p:spPr>
          <a:xfrm>
            <a:off x="548640" y="3822191"/>
            <a:ext cx="6126480" cy="274320"/>
          </a:xfrm>
          <a:prstGeom prst="rect">
            <a:avLst/>
          </a:prstGeom>
          <a:noFill/>
        </p:spPr>
        <p:txBody>
          <a:bodyPr wrap="square">
            <a:spAutoFit/>
          </a:bodyPr>
          <a:lstStyle/>
          <a:p>
            <a:pPr algn="ctr">
              <a:lnSpc>
                <a:spcPct val="100000"/>
              </a:lnSpc>
            </a:pPr>
            <a:r>
              <a:rPr sz="1200" b="0" i="1">
                <a:solidFill>
                  <a:srgbClr val="5A6068"/>
                </a:solidFill>
                <a:latin typeface="Calibri"/>
              </a:rPr>
              <a:t>video and R1 policy, same moment</a:t>
            </a:r>
          </a:p>
        </p:txBody>
      </p:sp>
      <p:pic>
        <p:nvPicPr>
          <p:cNvPr id="6" name="Picture 5" descr="jump_rope_reference_frames_120_300_480.png"/>
          <p:cNvPicPr>
            <a:picLocks noChangeAspect="1"/>
          </p:cNvPicPr>
          <p:nvPr/>
        </p:nvPicPr>
        <p:blipFill>
          <a:blip r:embed="rId3"/>
          <a:stretch>
            <a:fillRect/>
          </a:stretch>
        </p:blipFill>
        <p:spPr>
          <a:xfrm>
            <a:off x="1811655" y="4114800"/>
            <a:ext cx="3600450" cy="1600200"/>
          </a:xfrm>
          <a:prstGeom prst="rect">
            <a:avLst/>
          </a:prstGeom>
        </p:spPr>
      </p:pic>
      <p:sp>
        <p:nvSpPr>
          <p:cNvPr id="7" name="TextBox 6"/>
          <p:cNvSpPr txBox="1"/>
          <p:nvPr/>
        </p:nvSpPr>
        <p:spPr>
          <a:xfrm>
            <a:off x="548640" y="5715000"/>
            <a:ext cx="6126480" cy="274320"/>
          </a:xfrm>
          <a:prstGeom prst="rect">
            <a:avLst/>
          </a:prstGeom>
          <a:noFill/>
        </p:spPr>
        <p:txBody>
          <a:bodyPr wrap="square">
            <a:spAutoFit/>
          </a:bodyPr>
          <a:lstStyle/>
          <a:p>
            <a:pPr algn="ctr">
              <a:lnSpc>
                <a:spcPct val="100000"/>
              </a:lnSpc>
            </a:pPr>
            <a:r>
              <a:rPr sz="1200" b="0" i="1">
                <a:solidFill>
                  <a:srgbClr val="5A6068"/>
                </a:solidFill>
                <a:latin typeface="Calibri"/>
              </a:rPr>
              <a:t>the reference motion by itself: no physics, no policy</a:t>
            </a:r>
          </a:p>
        </p:txBody>
      </p:sp>
      <p:sp>
        <p:nvSpPr>
          <p:cNvPr id="8" name="Rounded Rectangle 7"/>
          <p:cNvSpPr/>
          <p:nvPr/>
        </p:nvSpPr>
        <p:spPr>
          <a:xfrm>
            <a:off x="6903720" y="1463040"/>
            <a:ext cx="4736592" cy="4434840"/>
          </a:xfrm>
          <a:prstGeom prst="roundRect">
            <a:avLst/>
          </a:prstGeom>
          <a:solidFill>
            <a:srgbClr val="F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59752" y="1645920"/>
            <a:ext cx="4224527" cy="365760"/>
          </a:xfrm>
          <a:prstGeom prst="rect">
            <a:avLst/>
          </a:prstGeom>
          <a:noFill/>
        </p:spPr>
        <p:txBody>
          <a:bodyPr wrap="square">
            <a:spAutoFit/>
          </a:bodyPr>
          <a:lstStyle/>
          <a:p>
            <a:pPr algn="l">
              <a:lnSpc>
                <a:spcPct val="100000"/>
              </a:lnSpc>
            </a:pPr>
            <a:r>
              <a:rPr sz="1500" b="1" i="0">
                <a:solidFill>
                  <a:srgbClr val="1B2A3A"/>
                </a:solidFill>
                <a:latin typeface="Calibri"/>
              </a:rPr>
              <a:t>What went wrong</a:t>
            </a:r>
          </a:p>
        </p:txBody>
      </p:sp>
      <p:sp>
        <p:nvSpPr>
          <p:cNvPr id="10" name="TextBox 9"/>
          <p:cNvSpPr txBox="1"/>
          <p:nvPr/>
        </p:nvSpPr>
        <p:spPr>
          <a:xfrm>
            <a:off x="7159752" y="2084832"/>
            <a:ext cx="4224527" cy="3675887"/>
          </a:xfrm>
          <a:prstGeom prst="rect">
            <a:avLst/>
          </a:prstGeom>
          <a:noFill/>
        </p:spPr>
        <p:txBody>
          <a:bodyPr wrap="square">
            <a:spAutoFit/>
          </a:bodyPr>
          <a:lstStyle/>
          <a:p>
            <a:pPr algn="l">
              <a:lnSpc>
                <a:spcPct val="112000"/>
              </a:lnSpc>
            </a:pPr>
            <a:r>
              <a:rPr sz="1450" b="0" i="0">
                <a:solidFill>
                  <a:srgbClr val="22252A"/>
                </a:solidFill>
                <a:latin typeface="Calibri"/>
              </a:rPr>
              <a:t>The person hops about 26 times. The robot barely leaves the ground (0.5 % of the time), holds its arms out to the sides and leans its torso.</a:t>
            </a:r>
          </a:p>
          <a:p>
            <a:pPr algn="l">
              <a:lnSpc>
                <a:spcPct val="112000"/>
              </a:lnSpc>
            </a:pPr>
          </a:p>
          <a:p>
            <a:pPr algn="l">
              <a:lnSpc>
                <a:spcPct val="112000"/>
              </a:lnSpc>
            </a:pPr>
            <a:r>
              <a:rPr sz="1450" b="0" i="0">
                <a:solidFill>
                  <a:srgbClr val="22252A"/>
                </a:solidFill>
                <a:latin typeface="Calibri"/>
              </a:rPr>
              <a:t>I drew the reference motion by itself, with no physics and no policy. It already has the arms out. The policy is tracking a wrong target.</a:t>
            </a:r>
          </a:p>
          <a:p>
            <a:pPr algn="l">
              <a:lnSpc>
                <a:spcPct val="112000"/>
              </a:lnSpc>
            </a:pPr>
          </a:p>
          <a:p>
            <a:pPr algn="l">
              <a:lnSpc>
                <a:spcPct val="112000"/>
              </a:lnSpc>
            </a:pPr>
            <a:r>
              <a:rPr sz="1450" b="0" i="0">
                <a:solidFill>
                  <a:srgbClr val="22252A"/>
                </a:solidFill>
                <a:latin typeface="Calibri"/>
              </a:rPr>
              <a:t>So the error comes from GVHMR, from GMR, or from both. I have not yet found which one. For the skill bag I use jumping jacks.</a:t>
            </a:r>
          </a:p>
        </p:txBody>
      </p:sp>
      <p:sp>
        <p:nvSpPr>
          <p:cNvPr id="11" name="Rounded Rectangle 10"/>
          <p:cNvSpPr/>
          <p:nvPr/>
        </p:nvSpPr>
        <p:spPr>
          <a:xfrm>
            <a:off x="548640" y="6126480"/>
            <a:ext cx="11091672" cy="512064"/>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126480"/>
            <a:ext cx="82296" cy="512064"/>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6190488"/>
            <a:ext cx="10744200" cy="402336"/>
          </a:xfrm>
          <a:prstGeom prst="rect">
            <a:avLst/>
          </a:prstGeom>
          <a:noFill/>
        </p:spPr>
        <p:txBody>
          <a:bodyPr wrap="square" anchor="ctr">
            <a:spAutoFit/>
          </a:bodyPr>
          <a:lstStyle/>
          <a:p>
            <a:r>
              <a:rPr sz="1600" b="1">
                <a:solidFill>
                  <a:srgbClr val="B8862E"/>
                </a:solidFill>
                <a:latin typeface="Calibri"/>
              </a:rPr>
              <a:t>Why it matters:  </a:t>
            </a:r>
            <a:r>
              <a:rPr sz="1600">
                <a:solidFill>
                  <a:srgbClr val="22252A"/>
                </a:solidFill>
                <a:latin typeface="Calibri"/>
              </a:rPr>
              <a:t>check the copied motion first, before blaming training.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What this does not show</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The honest slide</a:t>
            </a:r>
          </a:p>
        </p:txBody>
      </p:sp>
      <p:sp>
        <p:nvSpPr>
          <p:cNvPr id="4" name="Oval 3"/>
          <p:cNvSpPr/>
          <p:nvPr/>
        </p:nvSpPr>
        <p:spPr>
          <a:xfrm>
            <a:off x="640080" y="1709928"/>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19" y="1572768"/>
            <a:ext cx="10561320" cy="475488"/>
          </a:xfrm>
          <a:prstGeom prst="rect">
            <a:avLst/>
          </a:prstGeom>
          <a:noFill/>
        </p:spPr>
        <p:txBody>
          <a:bodyPr wrap="square">
            <a:spAutoFit/>
          </a:bodyPr>
          <a:lstStyle/>
          <a:p>
            <a:pPr algn="l">
              <a:lnSpc>
                <a:spcPct val="110000"/>
              </a:lnSpc>
            </a:pPr>
            <a:r>
              <a:rPr sz="1700" b="0" i="0">
                <a:solidFill>
                  <a:srgbClr val="22252A"/>
                </a:solidFill>
                <a:latin typeface="Calibri"/>
              </a:rPr>
              <a:t>Everything is simulation. Nothing ran on a real R1.</a:t>
            </a:r>
          </a:p>
        </p:txBody>
      </p:sp>
      <p:sp>
        <p:nvSpPr>
          <p:cNvPr id="6" name="Oval 5"/>
          <p:cNvSpPr/>
          <p:nvPr/>
        </p:nvSpPr>
        <p:spPr>
          <a:xfrm>
            <a:off x="640080" y="2258568"/>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2121408"/>
            <a:ext cx="10561320" cy="475488"/>
          </a:xfrm>
          <a:prstGeom prst="rect">
            <a:avLst/>
          </a:prstGeom>
          <a:noFill/>
        </p:spPr>
        <p:txBody>
          <a:bodyPr wrap="square">
            <a:spAutoFit/>
          </a:bodyPr>
          <a:lstStyle/>
          <a:p>
            <a:pPr algn="l">
              <a:lnSpc>
                <a:spcPct val="110000"/>
              </a:lnSpc>
            </a:pPr>
            <a:r>
              <a:rPr sz="1700" b="0" i="0">
                <a:solidFill>
                  <a:srgbClr val="22252A"/>
                </a:solidFill>
                <a:latin typeface="Calibri"/>
              </a:rPr>
              <a:t>One training seed per arm for walk and run, and one per jump clip.</a:t>
            </a:r>
          </a:p>
        </p:txBody>
      </p:sp>
      <p:sp>
        <p:nvSpPr>
          <p:cNvPr id="8" name="Oval 7"/>
          <p:cNvSpPr/>
          <p:nvPr/>
        </p:nvSpPr>
        <p:spPr>
          <a:xfrm>
            <a:off x="640080" y="2807208"/>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19" y="2670048"/>
            <a:ext cx="10561320" cy="859536"/>
          </a:xfrm>
          <a:prstGeom prst="rect">
            <a:avLst/>
          </a:prstGeom>
          <a:noFill/>
        </p:spPr>
        <p:txBody>
          <a:bodyPr wrap="square">
            <a:spAutoFit/>
          </a:bodyPr>
          <a:lstStyle/>
          <a:p>
            <a:pPr algn="l">
              <a:lnSpc>
                <a:spcPct val="110000"/>
              </a:lnSpc>
            </a:pPr>
            <a:r>
              <a:rPr sz="1700" b="0" i="0">
                <a:solidFill>
                  <a:srgbClr val="22252A"/>
                </a:solidFill>
                <a:latin typeface="Calibri"/>
              </a:rPr>
              <a:t>The switch test used two motions and policies trained without delay. "Survived" uses the training rules for a fall, which allow large joint error.</a:t>
            </a:r>
          </a:p>
        </p:txBody>
      </p:sp>
      <p:sp>
        <p:nvSpPr>
          <p:cNvPr id="10" name="Oval 9"/>
          <p:cNvSpPr/>
          <p:nvPr/>
        </p:nvSpPr>
        <p:spPr>
          <a:xfrm>
            <a:off x="640080" y="3739896"/>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19" y="3602736"/>
            <a:ext cx="10561320" cy="475488"/>
          </a:xfrm>
          <a:prstGeom prst="rect">
            <a:avLst/>
          </a:prstGeom>
          <a:noFill/>
        </p:spPr>
        <p:txBody>
          <a:bodyPr wrap="square">
            <a:spAutoFit/>
          </a:bodyPr>
          <a:lstStyle/>
          <a:p>
            <a:pPr algn="l">
              <a:lnSpc>
                <a:spcPct val="110000"/>
              </a:lnSpc>
            </a:pPr>
            <a:r>
              <a:rPr sz="1700" b="0" i="0">
                <a:solidFill>
                  <a:srgbClr val="22252A"/>
                </a:solidFill>
                <a:latin typeface="Calibri"/>
              </a:rPr>
              <a:t>I have not yet tested switching from a motion policy into the walking policy's stand.</a:t>
            </a:r>
          </a:p>
        </p:txBody>
      </p:sp>
      <p:sp>
        <p:nvSpPr>
          <p:cNvPr id="12" name="Oval 11"/>
          <p:cNvSpPr/>
          <p:nvPr/>
        </p:nvSpPr>
        <p:spPr>
          <a:xfrm>
            <a:off x="640080" y="4288536"/>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19" y="4151376"/>
            <a:ext cx="10561320" cy="475488"/>
          </a:xfrm>
          <a:prstGeom prst="rect">
            <a:avLst/>
          </a:prstGeom>
          <a:noFill/>
        </p:spPr>
        <p:txBody>
          <a:bodyPr wrap="square">
            <a:spAutoFit/>
          </a:bodyPr>
          <a:lstStyle/>
          <a:p>
            <a:pPr algn="l">
              <a:lnSpc>
                <a:spcPct val="110000"/>
              </a:lnSpc>
            </a:pPr>
            <a:r>
              <a:rPr sz="1700" b="0" i="0">
                <a:solidFill>
                  <a:srgbClr val="22252A"/>
                </a:solidFill>
                <a:latin typeface="Calibri"/>
              </a:rPr>
              <a:t>The "run" is a fast walk: both feet are in the air only 2.7 % of the time.</a:t>
            </a:r>
          </a:p>
        </p:txBody>
      </p:sp>
      <p:sp>
        <p:nvSpPr>
          <p:cNvPr id="14" name="Oval 13"/>
          <p:cNvSpPr/>
          <p:nvPr/>
        </p:nvSpPr>
        <p:spPr>
          <a:xfrm>
            <a:off x="640080" y="4837176"/>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19" y="4700016"/>
            <a:ext cx="10561320" cy="859536"/>
          </a:xfrm>
          <a:prstGeom prst="rect">
            <a:avLst/>
          </a:prstGeom>
          <a:noFill/>
        </p:spPr>
        <p:txBody>
          <a:bodyPr wrap="square">
            <a:spAutoFit/>
          </a:bodyPr>
          <a:lstStyle/>
          <a:p>
            <a:pPr algn="l">
              <a:lnSpc>
                <a:spcPct val="110000"/>
              </a:lnSpc>
            </a:pPr>
            <a:r>
              <a:rPr sz="1700" b="0" i="0">
                <a:solidFill>
                  <a:srgbClr val="22252A"/>
                </a:solidFill>
                <a:latin typeface="Calibri"/>
              </a:rPr>
              <a:t>For the jump clips, the delay stage also adds 3,000 iterations. Only the walk control and the paper's seed study separate the delay from extra training.</a:t>
            </a:r>
          </a:p>
        </p:txBody>
      </p:sp>
      <p:sp>
        <p:nvSpPr>
          <p:cNvPr id="16" name="Oval 15"/>
          <p:cNvSpPr/>
          <p:nvPr/>
        </p:nvSpPr>
        <p:spPr>
          <a:xfrm>
            <a:off x="640080" y="5769864"/>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19" y="5632703"/>
            <a:ext cx="10561320" cy="475488"/>
          </a:xfrm>
          <a:prstGeom prst="rect">
            <a:avLst/>
          </a:prstGeom>
          <a:noFill/>
        </p:spPr>
        <p:txBody>
          <a:bodyPr wrap="square">
            <a:spAutoFit/>
          </a:bodyPr>
          <a:lstStyle/>
          <a:p>
            <a:pPr algn="l">
              <a:lnSpc>
                <a:spcPct val="110000"/>
              </a:lnSpc>
            </a:pPr>
            <a:r>
              <a:rPr sz="1700" b="0" i="0">
                <a:solidFill>
                  <a:srgbClr val="22252A"/>
                </a:solidFill>
                <a:latin typeface="Calibri"/>
              </a:rPr>
              <a:t>The CPU check for walking has no pushes, sensor noise or rough ground.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Next</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My plan, in order</a:t>
            </a:r>
          </a:p>
        </p:txBody>
      </p:sp>
      <p:sp>
        <p:nvSpPr>
          <p:cNvPr id="4" name="Rounded Rectangle 3"/>
          <p:cNvSpPr/>
          <p:nvPr/>
        </p:nvSpPr>
        <p:spPr>
          <a:xfrm>
            <a:off x="548640" y="1600200"/>
            <a:ext cx="3566160" cy="420624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783080"/>
            <a:ext cx="3054096" cy="365760"/>
          </a:xfrm>
          <a:prstGeom prst="rect">
            <a:avLst/>
          </a:prstGeom>
          <a:noFill/>
        </p:spPr>
        <p:txBody>
          <a:bodyPr wrap="square">
            <a:spAutoFit/>
          </a:bodyPr>
          <a:lstStyle/>
          <a:p>
            <a:pPr algn="l">
              <a:lnSpc>
                <a:spcPct val="100000"/>
              </a:lnSpc>
            </a:pPr>
            <a:r>
              <a:rPr sz="1500" b="1" i="0">
                <a:solidFill>
                  <a:srgbClr val="1B2A3A"/>
                </a:solidFill>
                <a:latin typeface="Calibri"/>
              </a:rPr>
              <a:t>1. Connect them</a:t>
            </a:r>
          </a:p>
        </p:txBody>
      </p:sp>
      <p:sp>
        <p:nvSpPr>
          <p:cNvPr id="6" name="TextBox 5"/>
          <p:cNvSpPr txBox="1"/>
          <p:nvPr/>
        </p:nvSpPr>
        <p:spPr>
          <a:xfrm>
            <a:off x="804672" y="2221992"/>
            <a:ext cx="3054096" cy="3447287"/>
          </a:xfrm>
          <a:prstGeom prst="rect">
            <a:avLst/>
          </a:prstGeom>
          <a:noFill/>
        </p:spPr>
        <p:txBody>
          <a:bodyPr wrap="square">
            <a:spAutoFit/>
          </a:bodyPr>
          <a:lstStyle/>
          <a:p>
            <a:pPr algn="l">
              <a:lnSpc>
                <a:spcPct val="112000"/>
              </a:lnSpc>
            </a:pPr>
            <a:r>
              <a:rPr sz="1500" b="0" i="0">
                <a:solidFill>
                  <a:srgbClr val="22252A"/>
                </a:solidFill>
                <a:latin typeface="Calibri"/>
              </a:rPr>
              <a:t>Switch from a motion into the delay-trained stand and back.</a:t>
            </a:r>
          </a:p>
          <a:p>
            <a:pPr algn="l">
              <a:lnSpc>
                <a:spcPct val="112000"/>
              </a:lnSpc>
            </a:pPr>
          </a:p>
          <a:p>
            <a:pPr algn="l">
              <a:lnSpc>
                <a:spcPct val="112000"/>
              </a:lnSpc>
            </a:pPr>
            <a:r>
              <a:rPr sz="1500" b="0" i="0">
                <a:solidFill>
                  <a:srgbClr val="22252A"/>
                </a:solidFill>
                <a:latin typeface="Calibri"/>
              </a:rPr>
              <a:t>Then walk -&gt; jumping jacks -&gt; walk in one MuJoCo scene: the first piece of the game.</a:t>
            </a:r>
          </a:p>
        </p:txBody>
      </p:sp>
      <p:sp>
        <p:nvSpPr>
          <p:cNvPr id="7" name="Rounded Rectangle 6"/>
          <p:cNvSpPr/>
          <p:nvPr/>
        </p:nvSpPr>
        <p:spPr>
          <a:xfrm>
            <a:off x="4315968" y="1600200"/>
            <a:ext cx="3566160" cy="420624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783080"/>
            <a:ext cx="3054096" cy="365760"/>
          </a:xfrm>
          <a:prstGeom prst="rect">
            <a:avLst/>
          </a:prstGeom>
          <a:noFill/>
        </p:spPr>
        <p:txBody>
          <a:bodyPr wrap="square">
            <a:spAutoFit/>
          </a:bodyPr>
          <a:lstStyle/>
          <a:p>
            <a:pPr algn="l">
              <a:lnSpc>
                <a:spcPct val="100000"/>
              </a:lnSpc>
            </a:pPr>
            <a:r>
              <a:rPr sz="1500" b="1" i="0">
                <a:solidFill>
                  <a:srgbClr val="1B2A3A"/>
                </a:solidFill>
                <a:latin typeface="Calibri"/>
              </a:rPr>
              <a:t>2. A better jump</a:t>
            </a:r>
          </a:p>
        </p:txBody>
      </p:sp>
      <p:sp>
        <p:nvSpPr>
          <p:cNvPr id="9" name="TextBox 8"/>
          <p:cNvSpPr txBox="1"/>
          <p:nvPr/>
        </p:nvSpPr>
        <p:spPr>
          <a:xfrm>
            <a:off x="4572000" y="2221992"/>
            <a:ext cx="3054096" cy="3447287"/>
          </a:xfrm>
          <a:prstGeom prst="rect">
            <a:avLst/>
          </a:prstGeom>
          <a:noFill/>
        </p:spPr>
        <p:txBody>
          <a:bodyPr wrap="square">
            <a:spAutoFit/>
          </a:bodyPr>
          <a:lstStyle/>
          <a:p>
            <a:pPr algn="l">
              <a:lnSpc>
                <a:spcPct val="112000"/>
              </a:lnSpc>
            </a:pPr>
            <a:r>
              <a:rPr sz="1500" b="0" i="0">
                <a:solidFill>
                  <a:srgbClr val="22252A"/>
                </a:solidFill>
                <a:latin typeface="Calibri"/>
              </a:rPr>
              <a:t>Draw GVHMR's body over the jump-rope video to find which stage goes wrong.</a:t>
            </a:r>
          </a:p>
          <a:p>
            <a:pPr algn="l">
              <a:lnSpc>
                <a:spcPct val="112000"/>
              </a:lnSpc>
            </a:pPr>
          </a:p>
          <a:p>
            <a:pPr algn="l">
              <a:lnSpc>
                <a:spcPct val="112000"/>
              </a:lnSpc>
            </a:pPr>
            <a:r>
              <a:rPr sz="1500" b="0" i="0">
                <a:solidFill>
                  <a:srgbClr val="22252A"/>
                </a:solidFill>
                <a:latin typeface="Calibri"/>
              </a:rPr>
              <a:t>Find, or record on my phone, a clean vertical jump that starts and ends standing.</a:t>
            </a:r>
          </a:p>
        </p:txBody>
      </p:sp>
      <p:sp>
        <p:nvSpPr>
          <p:cNvPr id="10" name="Rounded Rectangle 9"/>
          <p:cNvSpPr/>
          <p:nvPr/>
        </p:nvSpPr>
        <p:spPr>
          <a:xfrm>
            <a:off x="8083296" y="1600200"/>
            <a:ext cx="3566160" cy="420624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39327" y="1783080"/>
            <a:ext cx="3054096" cy="365760"/>
          </a:xfrm>
          <a:prstGeom prst="rect">
            <a:avLst/>
          </a:prstGeom>
          <a:noFill/>
        </p:spPr>
        <p:txBody>
          <a:bodyPr wrap="square">
            <a:spAutoFit/>
          </a:bodyPr>
          <a:lstStyle/>
          <a:p>
            <a:pPr algn="l">
              <a:lnSpc>
                <a:spcPct val="100000"/>
              </a:lnSpc>
            </a:pPr>
            <a:r>
              <a:rPr sz="1500" b="1" i="0">
                <a:solidFill>
                  <a:srgbClr val="B0473C"/>
                </a:solidFill>
                <a:latin typeface="Calibri"/>
              </a:rPr>
              <a:t>3. Question for Prof. Sun</a:t>
            </a:r>
          </a:p>
        </p:txBody>
      </p:sp>
      <p:sp>
        <p:nvSpPr>
          <p:cNvPr id="12" name="TextBox 11"/>
          <p:cNvSpPr txBox="1"/>
          <p:nvPr/>
        </p:nvSpPr>
        <p:spPr>
          <a:xfrm>
            <a:off x="8339327" y="2221992"/>
            <a:ext cx="3054096" cy="3447287"/>
          </a:xfrm>
          <a:prstGeom prst="rect">
            <a:avLst/>
          </a:prstGeom>
          <a:noFill/>
        </p:spPr>
        <p:txBody>
          <a:bodyPr wrap="square">
            <a:spAutoFit/>
          </a:bodyPr>
          <a:lstStyle/>
          <a:p>
            <a:pPr algn="l">
              <a:lnSpc>
                <a:spcPct val="112000"/>
              </a:lnSpc>
            </a:pPr>
            <a:r>
              <a:rPr sz="1500" b="0" i="0">
                <a:solidFill>
                  <a:srgbClr val="22252A"/>
                </a:solidFill>
                <a:latin typeface="Calibri"/>
              </a:rPr>
              <a:t>Before the gantry arrives, may I record the R1's own sensor stream (rt/lowstate) while it stays still, with no motion commands?</a:t>
            </a:r>
          </a:p>
          <a:p>
            <a:pPr algn="l">
              <a:lnSpc>
                <a:spcPct val="112000"/>
              </a:lnSpc>
            </a:pPr>
          </a:p>
          <a:p>
            <a:pPr algn="l">
              <a:lnSpc>
                <a:spcPct val="112000"/>
              </a:lnSpc>
            </a:pPr>
            <a:r>
              <a:rPr sz="1500" b="0" i="0">
                <a:solidFill>
                  <a:srgbClr val="22252A"/>
                </a:solidFill>
                <a:latin typeface="Calibri"/>
              </a:rPr>
              <a:t>The corrected deploy file is ready for later, speed capped at 1 m/s.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References</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Everything used or cited in this deck, with links</a:t>
            </a:r>
          </a:p>
        </p:txBody>
      </p:sp>
      <p:sp>
        <p:nvSpPr>
          <p:cNvPr id="4" name="Rounded Rectangle 3"/>
          <p:cNvSpPr/>
          <p:nvPr/>
        </p:nvSpPr>
        <p:spPr>
          <a:xfrm>
            <a:off x="548640" y="1463040"/>
            <a:ext cx="5394960" cy="91440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536192"/>
            <a:ext cx="5120640" cy="804672"/>
          </a:xfrm>
          <a:prstGeom prst="rect">
            <a:avLst/>
          </a:prstGeom>
          <a:noFill/>
        </p:spPr>
        <p:txBody>
          <a:bodyPr wrap="square">
            <a:spAutoFit/>
          </a:bodyPr>
          <a:lstStyle/>
          <a:p>
            <a:r>
              <a:rPr sz="1400" b="1">
                <a:solidFill>
                  <a:srgbClr val="1B2A3A"/>
                </a:solidFill>
                <a:latin typeface="Calibri"/>
              </a:rPr>
              <a:t>unitree_rl_mjlab  (R1 walk/run task and C++ deploy)</a:t>
            </a:r>
          </a:p>
          <a:p>
            <a:r>
              <a:rPr sz="1100">
                <a:solidFill>
                  <a:srgbClr val="5A6068"/>
                </a:solidFill>
                <a:latin typeface="Calibri"/>
              </a:rPr>
              <a:t>Unitree Robotics, open source.</a:t>
            </a:r>
          </a:p>
          <a:p>
            <a:r>
              <a:rPr sz="1100" b="1">
                <a:solidFill>
                  <a:srgbClr val="22252A"/>
                </a:solidFill>
                <a:latin typeface="Calibri"/>
              </a:rPr>
              <a:t>Code: </a:t>
            </a:r>
            <a:r>
              <a:rPr sz="1100" u="sng">
                <a:solidFill>
                  <a:srgbClr val="0F7A6B"/>
                </a:solidFill>
                <a:latin typeface="Calibri"/>
                <a:hlinkClick r:id="rId2"/>
              </a:rPr>
              <a:t>github.com/unitreerobotics/unitree_rl_mjlab</a:t>
            </a:r>
          </a:p>
        </p:txBody>
      </p:sp>
      <p:sp>
        <p:nvSpPr>
          <p:cNvPr id="6" name="Rounded Rectangle 5"/>
          <p:cNvSpPr/>
          <p:nvPr/>
        </p:nvSpPr>
        <p:spPr>
          <a:xfrm>
            <a:off x="548640" y="2468880"/>
            <a:ext cx="5394960" cy="91440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542032"/>
            <a:ext cx="5120640" cy="804672"/>
          </a:xfrm>
          <a:prstGeom prst="rect">
            <a:avLst/>
          </a:prstGeom>
          <a:noFill/>
        </p:spPr>
        <p:txBody>
          <a:bodyPr wrap="square">
            <a:spAutoFit/>
          </a:bodyPr>
          <a:lstStyle/>
          <a:p>
            <a:r>
              <a:rPr sz="1400" b="1">
                <a:solidFill>
                  <a:srgbClr val="1B2A3A"/>
                </a:solidFill>
                <a:latin typeface="Calibri"/>
              </a:rPr>
              <a:t>mjlab  (GPU training framework)</a:t>
            </a:r>
          </a:p>
          <a:p>
            <a:r>
              <a:rPr sz="1100">
                <a:solidFill>
                  <a:srgbClr val="5A6068"/>
                </a:solidFill>
                <a:latin typeface="Calibri"/>
              </a:rPr>
              <a:t>MuJoCo-Warp, Isaac-Lab-style API; the tracking task follows BeyondMimic.</a:t>
            </a:r>
          </a:p>
          <a:p>
            <a:r>
              <a:rPr sz="1100" b="1">
                <a:solidFill>
                  <a:srgbClr val="22252A"/>
                </a:solidFill>
                <a:latin typeface="Calibri"/>
              </a:rPr>
              <a:t>Code: </a:t>
            </a:r>
            <a:r>
              <a:rPr sz="1100" u="sng">
                <a:solidFill>
                  <a:srgbClr val="0F7A6B"/>
                </a:solidFill>
                <a:latin typeface="Calibri"/>
                <a:hlinkClick r:id="rId3"/>
              </a:rPr>
              <a:t>github.com/mujocolab/mjlab</a:t>
            </a:r>
          </a:p>
        </p:txBody>
      </p:sp>
      <p:sp>
        <p:nvSpPr>
          <p:cNvPr id="8" name="Rounded Rectangle 7"/>
          <p:cNvSpPr/>
          <p:nvPr/>
        </p:nvSpPr>
        <p:spPr>
          <a:xfrm>
            <a:off x="548640" y="3474720"/>
            <a:ext cx="5394960" cy="132588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547872"/>
            <a:ext cx="5120640" cy="1216152"/>
          </a:xfrm>
          <a:prstGeom prst="rect">
            <a:avLst/>
          </a:prstGeom>
          <a:noFill/>
        </p:spPr>
        <p:txBody>
          <a:bodyPr wrap="square">
            <a:spAutoFit/>
          </a:bodyPr>
          <a:lstStyle/>
          <a:p>
            <a:r>
              <a:rPr sz="1400" b="1">
                <a:solidFill>
                  <a:srgbClr val="1B2A3A"/>
                </a:solidFill>
                <a:latin typeface="Calibri"/>
              </a:rPr>
              <a:t>GVHMR  (video to SMPL-X human motion)</a:t>
            </a:r>
          </a:p>
          <a:p>
            <a:r>
              <a:rPr sz="1100">
                <a:solidFill>
                  <a:srgbClr val="5A6068"/>
                </a:solidFill>
                <a:latin typeface="Calibri"/>
              </a:rPr>
              <a:t>Shen et al., World-Grounded Human Motion Recovery via Gravity-View Coordinates. SIGGRAPH Asia 2024.</a:t>
            </a:r>
          </a:p>
          <a:p>
            <a:r>
              <a:rPr sz="1100" b="1">
                <a:solidFill>
                  <a:srgbClr val="22252A"/>
                </a:solidFill>
                <a:latin typeface="Calibri"/>
              </a:rPr>
              <a:t>Code: </a:t>
            </a:r>
            <a:r>
              <a:rPr sz="1100" u="sng">
                <a:solidFill>
                  <a:srgbClr val="0F7A6B"/>
                </a:solidFill>
                <a:latin typeface="Calibri"/>
                <a:hlinkClick r:id="rId4"/>
              </a:rPr>
              <a:t>github.com/zju3dv/GVHMR</a:t>
            </a:r>
          </a:p>
          <a:p>
            <a:r>
              <a:rPr sz="1100" b="1">
                <a:solidFill>
                  <a:srgbClr val="22252A"/>
                </a:solidFill>
                <a:latin typeface="Calibri"/>
              </a:rPr>
              <a:t>Paper: </a:t>
            </a:r>
            <a:r>
              <a:rPr sz="1100" u="sng">
                <a:solidFill>
                  <a:srgbClr val="0F7A6B"/>
                </a:solidFill>
                <a:latin typeface="Calibri"/>
                <a:hlinkClick r:id="rId5"/>
              </a:rPr>
              <a:t>arxiv.org/abs/2409.06662</a:t>
            </a:r>
          </a:p>
        </p:txBody>
      </p:sp>
      <p:sp>
        <p:nvSpPr>
          <p:cNvPr id="10" name="Rounded Rectangle 9"/>
          <p:cNvSpPr/>
          <p:nvPr/>
        </p:nvSpPr>
        <p:spPr>
          <a:xfrm>
            <a:off x="548640" y="4892040"/>
            <a:ext cx="5394960" cy="132588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965192"/>
            <a:ext cx="5120640" cy="1216152"/>
          </a:xfrm>
          <a:prstGeom prst="rect">
            <a:avLst/>
          </a:prstGeom>
          <a:noFill/>
        </p:spPr>
        <p:txBody>
          <a:bodyPr wrap="square">
            <a:spAutoFit/>
          </a:bodyPr>
          <a:lstStyle/>
          <a:p>
            <a:r>
              <a:rPr sz="1400" b="1">
                <a:solidFill>
                  <a:srgbClr val="1B2A3A"/>
                </a:solidFill>
                <a:latin typeface="Calibri"/>
              </a:rPr>
              <a:t>GMR  (retargeting SMPL-X to the robot)</a:t>
            </a:r>
          </a:p>
          <a:p>
            <a:r>
              <a:rPr sz="1100">
                <a:solidFill>
                  <a:srgbClr val="5A6068"/>
                </a:solidFill>
                <a:latin typeface="Calibri"/>
              </a:rPr>
              <a:t>Araujo et al., Retargeting Matters: General Motion Retargeting for Humanoid Motion Tracking.</a:t>
            </a:r>
          </a:p>
          <a:p>
            <a:r>
              <a:rPr sz="1100" b="1">
                <a:solidFill>
                  <a:srgbClr val="22252A"/>
                </a:solidFill>
                <a:latin typeface="Calibri"/>
              </a:rPr>
              <a:t>Code: </a:t>
            </a:r>
            <a:r>
              <a:rPr sz="1100" u="sng">
                <a:solidFill>
                  <a:srgbClr val="0F7A6B"/>
                </a:solidFill>
                <a:latin typeface="Calibri"/>
                <a:hlinkClick r:id="rId6"/>
              </a:rPr>
              <a:t>github.com/YanjieZe/GMR</a:t>
            </a:r>
          </a:p>
          <a:p>
            <a:r>
              <a:rPr sz="1100" b="1">
                <a:solidFill>
                  <a:srgbClr val="22252A"/>
                </a:solidFill>
                <a:latin typeface="Calibri"/>
              </a:rPr>
              <a:t>Paper: </a:t>
            </a:r>
            <a:r>
              <a:rPr sz="1100" u="sng">
                <a:solidFill>
                  <a:srgbClr val="0F7A6B"/>
                </a:solidFill>
                <a:latin typeface="Calibri"/>
                <a:hlinkClick r:id="rId7"/>
              </a:rPr>
              <a:t>arxiv.org/abs/2510.02252</a:t>
            </a:r>
          </a:p>
        </p:txBody>
      </p:sp>
      <p:sp>
        <p:nvSpPr>
          <p:cNvPr id="12" name="Rounded Rectangle 11"/>
          <p:cNvSpPr/>
          <p:nvPr/>
        </p:nvSpPr>
        <p:spPr>
          <a:xfrm>
            <a:off x="6263640" y="1463040"/>
            <a:ext cx="5394960" cy="91440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536192"/>
            <a:ext cx="5120640" cy="804672"/>
          </a:xfrm>
          <a:prstGeom prst="rect">
            <a:avLst/>
          </a:prstGeom>
          <a:noFill/>
        </p:spPr>
        <p:txBody>
          <a:bodyPr wrap="square">
            <a:spAutoFit/>
          </a:bodyPr>
          <a:lstStyle/>
          <a:p>
            <a:r>
              <a:rPr sz="1400" b="1">
                <a:solidFill>
                  <a:srgbClr val="1B2A3A"/>
                </a:solidFill>
                <a:latin typeface="Calibri"/>
              </a:rPr>
              <a:t>My paper  (L4DC 2027 submission)</a:t>
            </a:r>
          </a:p>
          <a:p>
            <a:r>
              <a:rPr sz="1100">
                <a:solidFill>
                  <a:srgbClr val="5A6068"/>
                </a:solidFill>
                <a:latin typeface="Calibri"/>
              </a:rPr>
              <a:t>Li and Sun, How Much Command Delay Can a Learned Humanoid Motion Tracker Tolerate? Delay Randomization and Sim-to-Sim Transfer. Under review.</a:t>
            </a:r>
          </a:p>
        </p:txBody>
      </p:sp>
      <p:sp>
        <p:nvSpPr>
          <p:cNvPr id="14" name="Rounded Rectangle 13"/>
          <p:cNvSpPr/>
          <p:nvPr/>
        </p:nvSpPr>
        <p:spPr>
          <a:xfrm>
            <a:off x="6263640" y="2468880"/>
            <a:ext cx="5394960" cy="100584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542032"/>
            <a:ext cx="5120640" cy="896112"/>
          </a:xfrm>
          <a:prstGeom prst="rect">
            <a:avLst/>
          </a:prstGeom>
          <a:noFill/>
        </p:spPr>
        <p:txBody>
          <a:bodyPr wrap="square">
            <a:spAutoFit/>
          </a:bodyPr>
          <a:lstStyle/>
          <a:p>
            <a:r>
              <a:rPr sz="1400" b="1">
                <a:solidFill>
                  <a:srgbClr val="1B2A3A"/>
                </a:solidFill>
                <a:latin typeface="Calibri"/>
              </a:rPr>
              <a:t>Video-to-R1 pipeline  (my code and all results in this deck)</a:t>
            </a:r>
          </a:p>
          <a:p>
            <a:r>
              <a:rPr sz="1100">
                <a:solidFill>
                  <a:srgbClr val="5A6068"/>
                </a:solidFill>
                <a:latin typeface="Calibri"/>
              </a:rPr>
              <a:t>Results folders dated 2026-10-20 to 2026-10-23.</a:t>
            </a:r>
          </a:p>
          <a:p>
            <a:r>
              <a:rPr sz="1000" b="1">
                <a:solidFill>
                  <a:srgbClr val="22252A"/>
                </a:solidFill>
                <a:latin typeface="Calibri"/>
              </a:rPr>
              <a:t>Repo: </a:t>
            </a:r>
            <a:r>
              <a:rPr sz="1000" u="sng">
                <a:solidFill>
                  <a:srgbClr val="0F7A6B"/>
                </a:solidFill>
                <a:latin typeface="Calibri"/>
                <a:hlinkClick r:id="rId8"/>
              </a:rPr>
              <a:t>github.com/SunCCNY/Embodied-AI/tree/main/Presentations/Shaoqin-Li/Video-to-R1%20Pipeline</a:t>
            </a:r>
          </a:p>
        </p:txBody>
      </p:sp>
      <p:sp>
        <p:nvSpPr>
          <p:cNvPr id="16" name="Rounded Rectangle 15"/>
          <p:cNvSpPr/>
          <p:nvPr/>
        </p:nvSpPr>
        <p:spPr>
          <a:xfrm>
            <a:off x="6263640" y="3566160"/>
            <a:ext cx="5394960" cy="173736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639312"/>
            <a:ext cx="5120640" cy="1627631"/>
          </a:xfrm>
          <a:prstGeom prst="rect">
            <a:avLst/>
          </a:prstGeom>
          <a:noFill/>
        </p:spPr>
        <p:txBody>
          <a:bodyPr wrap="square">
            <a:spAutoFit/>
          </a:bodyPr>
          <a:lstStyle/>
          <a:p>
            <a:r>
              <a:rPr sz="1400" b="1">
                <a:solidFill>
                  <a:srgbClr val="1B2A3A"/>
                </a:solidFill>
                <a:latin typeface="Calibri"/>
              </a:rPr>
              <a:t>Video clips  (Pexels, free to use, credit given)</a:t>
            </a:r>
          </a:p>
          <a:p>
            <a:r>
              <a:rPr sz="1100">
                <a:solidFill>
                  <a:srgbClr val="5A6068"/>
                </a:solidFill>
                <a:latin typeface="Calibri"/>
              </a:rPr>
              <a:t>Elderly Man Doing Jumping Jacks Outside (Kindel Media); A Man Jumping Over The Skip Rope.</a:t>
            </a:r>
          </a:p>
          <a:p>
            <a:r>
              <a:rPr sz="1000" b="1">
                <a:solidFill>
                  <a:srgbClr val="22252A"/>
                </a:solidFill>
                <a:latin typeface="Calibri"/>
              </a:rPr>
              <a:t>Jumping jacks: </a:t>
            </a:r>
            <a:r>
              <a:rPr sz="1000" u="sng">
                <a:solidFill>
                  <a:srgbClr val="0F7A6B"/>
                </a:solidFill>
                <a:latin typeface="Calibri"/>
                <a:hlinkClick r:id="rId9"/>
              </a:rPr>
              <a:t>www.pexels.com/video/elderly-man-doing-jumping-jacks-outside-7299359/</a:t>
            </a:r>
          </a:p>
          <a:p>
            <a:r>
              <a:rPr sz="1000" b="1">
                <a:solidFill>
                  <a:srgbClr val="22252A"/>
                </a:solidFill>
                <a:latin typeface="Calibri"/>
              </a:rPr>
              <a:t>Jump rope: </a:t>
            </a:r>
            <a:r>
              <a:rPr sz="1000" u="sng">
                <a:solidFill>
                  <a:srgbClr val="0F7A6B"/>
                </a:solidFill>
                <a:latin typeface="Calibri"/>
                <a:hlinkClick r:id="rId10"/>
              </a:rPr>
              <a:t>www.pexels.com/video/a-man-jumping-over-the-skip-rope-4812842/</a:t>
            </a:r>
          </a:p>
        </p:txBody>
      </p:sp>
      <p:sp>
        <p:nvSpPr>
          <p:cNvPr id="18" name="Rounded Rectangle 17"/>
          <p:cNvSpPr/>
          <p:nvPr/>
        </p:nvSpPr>
        <p:spPr>
          <a:xfrm>
            <a:off x="6263640" y="5394960"/>
            <a:ext cx="5394960" cy="82296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5468112"/>
            <a:ext cx="5120640" cy="713232"/>
          </a:xfrm>
          <a:prstGeom prst="rect">
            <a:avLst/>
          </a:prstGeom>
          <a:noFill/>
        </p:spPr>
        <p:txBody>
          <a:bodyPr wrap="square">
            <a:spAutoFit/>
          </a:bodyPr>
          <a:lstStyle/>
          <a:p>
            <a:r>
              <a:rPr sz="1400" b="1">
                <a:solidFill>
                  <a:srgbClr val="1B2A3A"/>
                </a:solidFill>
                <a:latin typeface="Calibri"/>
              </a:rPr>
              <a:t>MuJoCo  (the second simulator)</a:t>
            </a:r>
          </a:p>
          <a:p>
            <a:r>
              <a:rPr sz="1100">
                <a:solidFill>
                  <a:srgbClr val="5A6068"/>
                </a:solidFill>
                <a:latin typeface="Calibri"/>
              </a:rPr>
              <a:t>Google DeepMind physics engine.</a:t>
            </a:r>
          </a:p>
          <a:p>
            <a:r>
              <a:rPr sz="1100" b="1">
                <a:solidFill>
                  <a:srgbClr val="22252A"/>
                </a:solidFill>
                <a:latin typeface="Calibri"/>
              </a:rPr>
              <a:t>Code: </a:t>
            </a:r>
            <a:r>
              <a:rPr sz="1100" u="sng">
                <a:solidFill>
                  <a:srgbClr val="0F7A6B"/>
                </a:solidFill>
                <a:latin typeface="Calibri"/>
                <a:hlinkClick r:id="rId11"/>
              </a:rPr>
              <a:t>github.com/google-deepmind/mujoco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