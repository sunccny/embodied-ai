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EMBODIED AI · WEEK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7627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Experiment 1: Standing Without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C9D2DA"/>
                </a:solidFill>
                <a:latin typeface="Calibri"/>
              </a:rPr>
              <a:t>Every step I took, from a blank machine to the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886200"/>
            <a:ext cx="1828800" cy="4572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C9D2DA"/>
                </a:solidFill>
                <a:latin typeface="Calibri"/>
              </a:rPr>
              <a:t>I re-ran this experiment from scratch to build this talk — new Miniconda, new environment,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C9D2DA"/>
                </a:solidFill>
                <a:latin typeface="Calibri"/>
              </a:rPr>
              <a:t>new MuJoCo. Every terminal panel is the unedited output of the step it sits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F9EAC"/>
                </a:solidFill>
                <a:latin typeface="Calibri"/>
              </a:rPr>
              <a:t>Shaoqin Li  ·  Prof. Yi Sun  ·  CCNY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02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What I set out to answer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463040"/>
            <a:ext cx="11064240" cy="123444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 i="0">
                <a:solidFill>
                  <a:srgbClr val="0F7A6B"/>
                </a:solidFill>
                <a:latin typeface="Calibri"/>
              </a:rPr>
              <a:t>Can a humanoid robot stand up with no AI at all — and if so, what is it still unable to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971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Why this question is worth a whole experiment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3547872"/>
            <a:ext cx="310896" cy="310896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566160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34747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52A"/>
                </a:solidFill>
                <a:latin typeface="Calibri"/>
              </a:rPr>
              <a:t>Everyone assumes the hard part is the 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38404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Before I train anything, I want to know exactly what a controller with no learning can already do.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4480560"/>
            <a:ext cx="310896" cy="310896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498848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440740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52A"/>
                </a:solidFill>
                <a:latin typeface="Calibri"/>
              </a:rPr>
              <a:t>It gives Experiment 2 a number to beat.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477316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A learned policy is only impressive if I can say what it beat, measured the same way.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5413248"/>
            <a:ext cx="310896" cy="310896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43153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534009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52A"/>
                </a:solidFill>
                <a:latin typeface="Calibri"/>
              </a:rPr>
              <a:t>It is cheap.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570585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Six minutes of laptop CPU, no GPU. I can afford to run it many times.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The ten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Four of these are setup. Six are the experiment. Each one gets a slide, with the screen I actually saw.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45920"/>
            <a:ext cx="5349240" cy="786384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47088"/>
            <a:ext cx="384048" cy="384048"/>
          </a:xfrm>
          <a:prstGeom prst="ellipse">
            <a:avLst/>
          </a:prstGeom>
          <a:solidFill>
            <a:srgbClr val="5A6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8366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373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Install Miniconda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665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get a Python I can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578608"/>
            <a:ext cx="5349240" cy="786384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779776"/>
            <a:ext cx="384048" cy="384048"/>
          </a:xfrm>
          <a:prstGeom prst="ellipse">
            <a:avLst/>
          </a:prstGeom>
          <a:solidFill>
            <a:srgbClr val="5A6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81635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67004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Create an 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992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keep this project isolated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511296"/>
            <a:ext cx="5349240" cy="786384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3712463"/>
            <a:ext cx="384048" cy="384048"/>
          </a:xfrm>
          <a:prstGeom prst="ellipse">
            <a:avLst/>
          </a:prstGeom>
          <a:solidFill>
            <a:srgbClr val="5A6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749039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0273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Install MuJoCo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319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the physics simulator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43984"/>
            <a:ext cx="5349240" cy="786384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9808" y="4645152"/>
            <a:ext cx="384048" cy="384048"/>
          </a:xfrm>
          <a:prstGeom prst="ellipse">
            <a:avLst/>
          </a:prstGeom>
          <a:solidFill>
            <a:srgbClr val="5A6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68172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53542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Verify the install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646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prove it works before trusting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76672"/>
            <a:ext cx="5349240" cy="78638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9808" y="5577840"/>
            <a:ext cx="384048" cy="384048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61441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46811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Get the robot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79729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the R1, 26 bodies, 12 leg joints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1645920"/>
            <a:ext cx="5349240" cy="78638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19088" y="1847088"/>
            <a:ext cx="384048" cy="384048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188366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17373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Run one good setting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0665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make it stand once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2578608"/>
            <a:ext cx="5349240" cy="78638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19088" y="2779776"/>
            <a:ext cx="384048" cy="384048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281635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267004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Break it — weak spring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29992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the robot topples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36208" y="3511296"/>
            <a:ext cx="5349240" cy="78638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19088" y="3712463"/>
            <a:ext cx="384048" cy="384048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3749039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360273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Break it — heavy damping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39319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the simulator dies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36208" y="4443984"/>
            <a:ext cx="5349240" cy="78638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19088" y="4645152"/>
            <a:ext cx="384048" cy="384048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19088" y="468172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453542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Sweep all 49 settings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48646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map where standing is possible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36208" y="5376672"/>
            <a:ext cx="5349240" cy="78638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19088" y="5577840"/>
            <a:ext cx="384048" cy="384048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9088" y="561441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546811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Push it over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579729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find the limit I cannot tune away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068"/>
                </a:solidFill>
                <a:latin typeface="Calibri"/>
              </a:rPr>
              <a:t>grey = setting up the machine          teal = running the experiment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81328" cy="420624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 1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2848" y="329184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Install Miniconda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841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get a Python I can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52A"/>
                </a:solidFill>
                <a:latin typeface="Calibri"/>
              </a:rPr>
              <a:t>I installed Miniconda into my home folder. The -b flag runs it without prompts, -p says where to put it.</a:t>
            </a:r>
          </a:p>
        </p:txBody>
      </p:sp>
      <p:pic>
        <p:nvPicPr>
          <p:cNvPr id="6" name="Picture 5" descr="s02_install_co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861" y="1874519"/>
            <a:ext cx="5958373" cy="3611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8873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Takes about a minute. Nothing is added to the system Python — everything stays inside this one folder.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81328" cy="420624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 2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2848" y="329184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Create an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841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keep this project isolated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52A"/>
                </a:solidFill>
                <a:latin typeface="Calibri"/>
              </a:rPr>
              <a:t>Then I made a dedicated environment for this project, with its own Python 3.11.</a:t>
            </a:r>
          </a:p>
        </p:txBody>
      </p:sp>
      <p:pic>
        <p:nvPicPr>
          <p:cNvPr id="6" name="Picture 5" descr="s03_create_e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153" y="1874519"/>
            <a:ext cx="5421789" cy="3611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8873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If I break something later, I delete the environment and start again. Nothing else on the machine is touched.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81328" cy="420624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 3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2848" y="329184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Install MuJoCo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841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the physics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52A"/>
                </a:solidFill>
                <a:latin typeface="Calibri"/>
              </a:rPr>
              <a:t>Three packages. MuJoCo is the physics engine, NumPy does the maths, imageio saves pictures.</a:t>
            </a:r>
          </a:p>
        </p:txBody>
      </p:sp>
      <p:pic>
        <p:nvPicPr>
          <p:cNvPr id="6" name="Picture 5" descr="s04_pip_in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7" y="1874519"/>
            <a:ext cx="10424160" cy="17091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8873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About 70 MB total. Note what is NOT here: no PyTorch, no CUDA, no GPU driver.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81328" cy="420624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 4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2848" y="329184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Verify the install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841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prove it works before trusting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52A"/>
                </a:solidFill>
                <a:latin typeface="Calibri"/>
              </a:rPr>
              <a:t>Before trusting any result, I check the versions actually import.</a:t>
            </a:r>
          </a:p>
        </p:txBody>
      </p:sp>
      <p:pic>
        <p:nvPicPr>
          <p:cNvPr id="6" name="Picture 5" descr="s05_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636" y="1874519"/>
            <a:ext cx="7342822" cy="193167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8873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This is the habit that matters: prove the tool works BEFORE you use it to measure something.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81328" cy="420624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 5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2848" y="329184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Get the robot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841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the R1, 26 bodies, 12 leg joints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52A"/>
                </a:solidFill>
                <a:latin typeface="Calibri"/>
              </a:rPr>
              <a:t>Then I loaded the R1 model and printed what MuJoCo thinks it is.</a:t>
            </a:r>
          </a:p>
        </p:txBody>
      </p:sp>
      <p:pic>
        <p:nvPicPr>
          <p:cNvPr id="6" name="Picture 5" descr="s06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7" y="1874519"/>
            <a:ext cx="10424160" cy="21685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8873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26 bodies, 12 things I can drive, and a timestep of 0.002 s — the simulator moves 500 times per second.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81328" cy="420624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 6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2848" y="329184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Run one good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841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make it stand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52A"/>
                </a:solidFill>
                <a:latin typeface="Calibri"/>
              </a:rPr>
              <a:t>I picked one setting I expected to work — a stiff spring, moderate damping — and ran a single 5-second trial.</a:t>
            </a:r>
          </a:p>
        </p:txBody>
      </p:sp>
      <p:pic>
        <p:nvPicPr>
          <p:cNvPr id="6" name="Picture 5" descr="s07_first_st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828800"/>
            <a:ext cx="6400800" cy="3510116"/>
          </a:xfrm>
          <a:prstGeom prst="rect">
            <a:avLst/>
          </a:prstGeom>
        </p:spPr>
      </p:pic>
      <p:pic>
        <p:nvPicPr>
          <p:cNvPr id="7" name="standing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589519" y="2011680"/>
            <a:ext cx="3931920" cy="3019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19" y="5085696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6 s, real time — it holds the 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669280"/>
            <a:ext cx="11064240" cy="86868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79729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stood = True. But look at track_err_rad = 0.0174 — the worst joint sits 1° away from where I told it to be, permanently,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even though it is standing perfectly. That number turned out to be the key to the whole experiment.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81328" cy="420624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 7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2848" y="329184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Break it — weak spring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841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the robot topples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52A"/>
                </a:solidFill>
                <a:latin typeface="Calibri"/>
              </a:rPr>
              <a:t>Then I weakened the spring to see it fail — and watched what kind of failure it was.</a:t>
            </a:r>
          </a:p>
        </p:txBody>
      </p:sp>
      <p:pic>
        <p:nvPicPr>
          <p:cNvPr id="6" name="Picture 5" descr="s08_top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828800"/>
            <a:ext cx="6400800" cy="3561819"/>
          </a:xfrm>
          <a:prstGeom prst="rect">
            <a:avLst/>
          </a:prstGeom>
        </p:spPr>
      </p:pic>
      <p:pic>
        <p:nvPicPr>
          <p:cNvPr id="7" name="toppling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589519" y="2011680"/>
            <a:ext cx="3931920" cy="3019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19" y="5085696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4 s — it goes down at 1.14 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669280"/>
            <a:ext cx="11064240" cy="86868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79729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It fell after 1.14 s, dropped 65 cm and tilted 91°. Every number is real and diverged is False — the physics worked fine.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And peak_torque was 17.4 Nm, LOWER than the successful run. It did not fall from lack of strength.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81328" cy="420624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 8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2848" y="329184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Break it — heavy damping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841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the simulator 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52A"/>
                </a:solidFill>
                <a:latin typeface="Calibri"/>
              </a:rPr>
              <a:t>Then I turned the damping way up — and got a completely different kind of failure.</a:t>
            </a:r>
          </a:p>
        </p:txBody>
      </p:sp>
      <p:pic>
        <p:nvPicPr>
          <p:cNvPr id="6" name="Picture 5" descr="s09_div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766559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828800"/>
            <a:ext cx="3813048" cy="3840480"/>
          </a:xfrm>
          <a:prstGeom prst="roundRect">
            <a:avLst/>
          </a:prstGeom>
          <a:solidFill>
            <a:srgbClr val="F6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9933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0473C"/>
                </a:solidFill>
                <a:latin typeface="Calibri"/>
              </a:rPr>
              <a:t>THIS IS NOT THE 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414016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Every measurement is nan —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“not a number”.</a:t>
            </a:r>
          </a:p>
          <a:p>
            <a:pPr algn="l">
              <a:lnSpc>
                <a:spcPct val="128000"/>
              </a:lnSpc>
            </a:pP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Nothing physical happened.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The simulator's arithmetic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ran away to infinity in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22 steps.</a:t>
            </a:r>
          </a:p>
          <a:p>
            <a:pPr algn="l">
              <a:lnSpc>
                <a:spcPct val="128000"/>
              </a:lnSpc>
            </a:pP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A real robot cannot do this.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I am watching my TOOL fail,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not my robot.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715000"/>
            <a:ext cx="11064240" cy="77724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88873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diverged is the field that separates the two failures. Learning to tell them apart is, honestly, the most useful thing I got from this experiment.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81328" cy="420624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 9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2848" y="329184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Sweep all 49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841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map where standing is possible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52A"/>
                </a:solidFill>
                <a:latin typeface="Calibri"/>
              </a:rPr>
              <a:t>With both failure modes understood, I ran every combination — 7 spring values × 7 damping values.</a:t>
            </a:r>
          </a:p>
        </p:txBody>
      </p:sp>
      <p:pic>
        <p:nvPicPr>
          <p:cNvPr id="6" name="Picture 5" descr="s10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78" y="1783080"/>
            <a:ext cx="6242082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783080"/>
            <a:ext cx="3630168" cy="406908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9385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7A6B"/>
                </a:solidFill>
                <a:latin typeface="Calibri"/>
              </a:rPr>
              <a:t>49 trials, 6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359152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OK  =  stood 8 s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fallN.N  =  toppled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DIVERGE  =  sim blew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547872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B2A3A"/>
                </a:solidFill>
                <a:latin typeface="Calibri"/>
              </a:rPr>
              <a:t>15  stood</a:t>
            </a:r>
          </a:p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B2A3A"/>
                </a:solidFill>
                <a:latin typeface="Calibri"/>
              </a:rPr>
              <a:t>12  toppled</a:t>
            </a:r>
          </a:p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B2A3A"/>
                </a:solidFill>
                <a:latin typeface="Calibri"/>
              </a:rPr>
              <a:t>22  blew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482803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1">
                <a:solidFill>
                  <a:srgbClr val="5A6068"/>
                </a:solidFill>
                <a:latin typeface="Calibri"/>
              </a:rPr>
              <a:t>The most common outcome</a:t>
            </a:r>
          </a:p>
          <a:p>
            <a:pPr algn="l">
              <a:lnSpc>
                <a:spcPct val="128000"/>
              </a:lnSpc>
            </a:pPr>
            <a:r>
              <a:rPr sz="1250" b="0" i="1">
                <a:solidFill>
                  <a:srgbClr val="5A6068"/>
                </a:solidFill>
                <a:latin typeface="Calibri"/>
              </a:rPr>
              <a:t>was my simulator failing —</a:t>
            </a:r>
          </a:p>
          <a:p>
            <a:pPr algn="l">
              <a:lnSpc>
                <a:spcPct val="128000"/>
              </a:lnSpc>
            </a:pPr>
            <a:r>
              <a:rPr sz="1250" b="0" i="1">
                <a:solidFill>
                  <a:srgbClr val="5A6068"/>
                </a:solidFill>
                <a:latin typeface="Calibri"/>
              </a:rPr>
              <a:t>not the robot.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What the 49 trials look like as a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Same data as the previous slide, drawn on the two dials I was turning.</a:t>
            </a:r>
          </a:p>
        </p:txBody>
      </p:sp>
      <p:pic>
        <p:nvPicPr>
          <p:cNvPr id="4" name="Picture 3" descr="w22_map_rev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859" y="1481328"/>
            <a:ext cx="6886377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897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Standing is not “tune it until it works”. It is one island, with a floor below it and a ceiling above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Why the floor is there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I pulled one column out of the CSV to see what was actually changing.</a:t>
            </a:r>
          </a:p>
        </p:txBody>
      </p:sp>
      <p:pic>
        <p:nvPicPr>
          <p:cNvPr id="4" name="Picture 3" descr="s11_cs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6949439" cy="277977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08760"/>
            <a:ext cx="3767328" cy="3749039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7830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A6B"/>
                </a:solidFill>
                <a:latin typeface="Calibri"/>
              </a:rPr>
              <a:t>Double the spring,</a:t>
            </a:r>
          </a:p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A6B"/>
                </a:solidFill>
                <a:latin typeface="Calibri"/>
              </a:rPr>
              <a:t>halve the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633472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A spring only pushes when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it is stretched. To hold the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robot up, a joint MUST sit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away from its target.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Weaker spring → bigger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permanent lean → the weight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line leaves the foot → it tips.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94960"/>
            <a:ext cx="11064240" cy="118872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2297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8862E"/>
                </a:solidFill>
                <a:latin typeface="Calibri"/>
              </a:rPr>
              <a:t>And the torque column never moves: 17–23 Nm whether it stood or fell.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70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The motors were never near a limit. The robot does not fall because it is weak — it falls because it is leaning. That distinction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is the single thing I most want to get across from this experiment.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81328" cy="420624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 10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2848" y="329184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Push it 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841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find the limit I cannot tune 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52A"/>
                </a:solidFill>
                <a:latin typeface="Calibri"/>
              </a:rPr>
              <a:t>Last step: I shoved the robot sideways one second in, and raised the shove until it fell.</a:t>
            </a:r>
          </a:p>
        </p:txBody>
      </p:sp>
      <p:pic>
        <p:nvPicPr>
          <p:cNvPr id="6" name="Picture 5" descr="s12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83" y="1719072"/>
            <a:ext cx="5239912" cy="4434840"/>
          </a:xfrm>
          <a:prstGeom prst="rect">
            <a:avLst/>
          </a:prstGeom>
        </p:spPr>
      </p:pic>
      <p:pic>
        <p:nvPicPr>
          <p:cNvPr id="7" name="push_falls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766559" y="1783080"/>
            <a:ext cx="3566160" cy="27383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59" y="4576245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shoved at 0.20 m/s, one second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61320" y="2011680"/>
            <a:ext cx="1234440" cy="118872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61320" y="2176272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0AA08A"/>
                </a:solidFill>
                <a:latin typeface="Calibri"/>
              </a:rPr>
              <a:t>0.15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263347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52A"/>
                </a:solidFill>
                <a:latin typeface="Calibri"/>
              </a:rPr>
              <a:t>holds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61320" y="3346704"/>
            <a:ext cx="1234440" cy="1188720"/>
          </a:xfrm>
          <a:prstGeom prst="roundRect">
            <a:avLst/>
          </a:prstGeom>
          <a:solidFill>
            <a:srgbClr val="F6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61320" y="3511296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B0473C"/>
                </a:solidFill>
                <a:latin typeface="Calibri"/>
              </a:rPr>
              <a:t>0.20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3968496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52A"/>
                </a:solidFill>
                <a:latin typeface="Calibri"/>
              </a:rPr>
              <a:t>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42448" y="4709160"/>
            <a:ext cx="14813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1B2A3A"/>
                </a:solidFill>
                <a:latin typeface="Calibri"/>
              </a:rPr>
              <a:t>0.20 m/s is</a:t>
            </a:r>
          </a:p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1B2A3A"/>
                </a:solidFill>
                <a:latin typeface="Calibri"/>
              </a:rPr>
              <a:t>slower than</a:t>
            </a:r>
          </a:p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1B2A3A"/>
                </a:solidFill>
                <a:latin typeface="Calibri"/>
              </a:rPr>
              <a:t>walking pace.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6309360"/>
            <a:ext cx="7315200" cy="50292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9165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I ran this at kd = 5 on purpose — at kd = 30 the simulator dies before the robot falls.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Then I tried to fix it — and could not.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C9D2DA"/>
                </a:solidFill>
                <a:latin typeface="Calibri"/>
              </a:rPr>
              <a:t>I went back through the settings looking for any pair that survives 0.20 m/s. There isn't 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88920"/>
            <a:ext cx="10515600" cy="1325880"/>
          </a:xfrm>
          <a:prstGeom prst="roundRect">
            <a:avLst/>
          </a:prstGeom>
          <a:solidFill>
            <a:srgbClr val="24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999232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This controller only knows one instruction:</a:t>
            </a:r>
          </a:p>
          <a:p>
            <a:pPr algn="l">
              <a:lnSpc>
                <a:spcPct val="13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“get back to the pose I was told to hold.”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0" i="0">
                <a:solidFill>
                  <a:srgbClr val="C9D2DA"/>
                </a:solidFill>
                <a:latin typeface="Calibri"/>
              </a:rPr>
              <a:t>But recovering from a shove means choosing a DIFFERENT pose — stepping, bending, shifting weight.</a:t>
            </a:r>
          </a:p>
          <a:p>
            <a:pPr algn="l">
              <a:lnSpc>
                <a:spcPct val="135000"/>
              </a:lnSpc>
            </a:pPr>
            <a:r>
              <a:rPr sz="1650" b="0" i="0">
                <a:solidFill>
                  <a:srgbClr val="C9D2DA"/>
                </a:solidFill>
                <a:latin typeface="Calibri"/>
              </a:rPr>
              <a:t>Two numbers that scale “how hard to return to a fixed target” cannot express that decision. It is not a tuning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532120"/>
            <a:ext cx="10515600" cy="822960"/>
          </a:xfrm>
          <a:prstGeom prst="round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5705856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A"/>
                </a:solidFill>
                <a:latin typeface="Calibri"/>
              </a:rPr>
              <a:t>That is the gap Experiment 2 fills — and the number it has to beat is 0.20 m/s.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What I found</a:t>
            </a:r>
          </a:p>
        </p:txBody>
      </p:sp>
      <p:sp>
        <p:nvSpPr>
          <p:cNvPr id="3" name="Oval 2"/>
          <p:cNvSpPr/>
          <p:nvPr/>
        </p:nvSpPr>
        <p:spPr>
          <a:xfrm>
            <a:off x="566928" y="1325880"/>
            <a:ext cx="347472" cy="347472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44168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34440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A"/>
                </a:solidFill>
                <a:latin typeface="Calibri"/>
              </a:rPr>
              <a:t>The robot can stand with no AI at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1848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15 of 49 settings hold it up for 8 seconds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286000"/>
            <a:ext cx="347472" cy="347472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304288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A"/>
                </a:solidFill>
                <a:latin typeface="Calibri"/>
              </a:rPr>
              <a:t>Standing lives in a bounded island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7860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needs a stiff spring AND limited damping — a floor and a ceiling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246120"/>
            <a:ext cx="347472" cy="347472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264408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54680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A"/>
                </a:solidFill>
                <a:latin typeface="Calibri"/>
              </a:rPr>
              <a:t>Falling is a balance problem, not a strength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3872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torque never exceeded 23 Nm in any trial, standing or falling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4206240"/>
            <a:ext cx="347472" cy="347472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224528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14800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A"/>
                </a:solidFill>
                <a:latin typeface="Calibri"/>
              </a:rPr>
              <a:t>Most failures were my simulator, not my robot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4988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22 of 49 cells were numerical blow-ups</a:t>
            </a:r>
          </a:p>
        </p:txBody>
      </p:sp>
      <p:sp>
        <p:nvSpPr>
          <p:cNvPr id="19" name="Oval 18"/>
          <p:cNvSpPr/>
          <p:nvPr/>
        </p:nvSpPr>
        <p:spPr>
          <a:xfrm>
            <a:off x="566928" y="5166360"/>
            <a:ext cx="347472" cy="347472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184648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74920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A"/>
                </a:solidFill>
                <a:latin typeface="Calibri"/>
              </a:rPr>
              <a:t>It cannot survive a 0.20 m/s push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45896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and no choice of the two gains changes that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Everything above came off my own screen, in the order you just saw.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Two things I had to fix along the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Rebuilding this from a blank machine exposed problems I did not know I had.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5394960" cy="2286000"/>
          </a:xfrm>
          <a:prstGeom prst="roundRect">
            <a:avLst/>
          </a:prstGeom>
          <a:solidFill>
            <a:srgbClr val="F6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0473C"/>
                </a:solidFill>
                <a:latin typeface="Calibri"/>
              </a:rPr>
              <a:t>1 — It only ran on my laptop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76272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The script had my own home folder written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into it, pointing at a model stored in a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different project. On any other machine it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failed immediately.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Fixed: the model now travels with the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experiment, and the path is an option.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367528" cy="2286000"/>
          </a:xfrm>
          <a:prstGeom prst="roundRect">
            <a:avLst/>
          </a:prstGeom>
          <a:solidFill>
            <a:srgbClr val="F6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7556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0473C"/>
                </a:solidFill>
                <a:latin typeface="Calibri"/>
              </a:rPr>
              <a:t>2 — I was measuring the wrong 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76272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My push test used damping of 30. At that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setting the simulator dies before the robot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falls — so I was recording the tool's limit,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not the robot's.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Fixed: push tests now run at damping 5,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well inside the safe zone.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160520"/>
            <a:ext cx="11064240" cy="105156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159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F7A6B"/>
                </a:solidFill>
                <a:latin typeface="Calibri"/>
              </a:rPr>
              <a:t>Both bugs had the same shape: something worked on my machine, so I never questioned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Re-running the whole thing on a clean install is what surfaced them. I would not have found either one by re-reading my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440680"/>
            <a:ext cx="11064240" cy="91440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623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Reproducibility check: this whole experiment reran on MuJoCo 3.12 and NumPy 2.4 — four major versions newer than I developed it on —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and every physics number came out identical.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25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Where this goes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9D2DA"/>
                </a:solidFill>
                <a:latin typeface="Calibri"/>
              </a:rPr>
              <a:t>Experiment 1 gave me a baseline. Experiment 2 has to beat it, measured exactly the same way.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834640"/>
            <a:ext cx="5120640" cy="1828800"/>
          </a:xfrm>
          <a:prstGeom prst="roundRect">
            <a:avLst/>
          </a:prstGeom>
          <a:solidFill>
            <a:srgbClr val="24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0358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862E"/>
                </a:solidFill>
                <a:latin typeface="Calibri"/>
              </a:rPr>
              <a:t>EXPERIMENT 1 — no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survives 0.15 m/s</a:t>
            </a:r>
          </a:p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falls at 0.20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2834640"/>
            <a:ext cx="4800600" cy="1828800"/>
          </a:xfrm>
          <a:prstGeom prst="roundRect">
            <a:avLst/>
          </a:prstGeom>
          <a:solidFill>
            <a:srgbClr val="24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303580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862E"/>
                </a:solidFill>
                <a:latin typeface="Calibri"/>
              </a:rPr>
              <a:t>EXPERIMENT 2 — trained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34747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survives 0.30 m/s</a:t>
            </a:r>
          </a:p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falls at 0.40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9D2DA"/>
                </a:solidFill>
                <a:latin typeface="Calibri"/>
              </a:rPr>
              <a:t>Same robot, same shove, same measurement — the only thing that changed is what decides the pose.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