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 Id="rId5" Type="http://schemas.microsoft.com/office/2007/relationships/media" Target="../media/media2.mp4"/><Relationship Id="rId6" Type="http://schemas.openxmlformats.org/officeDocument/2006/relationships/video" Target="../media/media2.mp4"/><Relationship Id="rId7"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822960" y="1920240"/>
            <a:ext cx="109728" cy="23774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1828800"/>
            <a:ext cx="10058400" cy="457200"/>
          </a:xfrm>
          <a:prstGeom prst="rect">
            <a:avLst/>
          </a:prstGeom>
          <a:noFill/>
        </p:spPr>
        <p:txBody>
          <a:bodyPr wrap="square">
            <a:spAutoFit/>
          </a:bodyPr>
          <a:lstStyle/>
          <a:p>
            <a:pPr algn="l">
              <a:lnSpc>
                <a:spcPct val="100000"/>
              </a:lnSpc>
            </a:pPr>
            <a:r>
              <a:rPr sz="1800" b="0" i="0">
                <a:solidFill>
                  <a:srgbClr val="B8862E"/>
                </a:solidFill>
                <a:latin typeface="Calibri"/>
              </a:rPr>
              <a:t>Embodied AI  ·  Week 27</a:t>
            </a:r>
          </a:p>
        </p:txBody>
      </p:sp>
      <p:sp>
        <p:nvSpPr>
          <p:cNvPr id="4" name="TextBox 3"/>
          <p:cNvSpPr txBox="1"/>
          <p:nvPr/>
        </p:nvSpPr>
        <p:spPr>
          <a:xfrm>
            <a:off x="1234440" y="2240280"/>
            <a:ext cx="10058400" cy="1737360"/>
          </a:xfrm>
          <a:prstGeom prst="rect">
            <a:avLst/>
          </a:prstGeom>
          <a:noFill/>
        </p:spPr>
        <p:txBody>
          <a:bodyPr wrap="square">
            <a:spAutoFit/>
          </a:bodyPr>
          <a:lstStyle/>
          <a:p>
            <a:pPr algn="l">
              <a:lnSpc>
                <a:spcPct val="100000"/>
              </a:lnSpc>
            </a:pPr>
            <a:r>
              <a:rPr sz="4600" b="1" i="0">
                <a:solidFill>
                  <a:srgbClr val="FFFFFF"/>
                </a:solidFill>
                <a:latin typeface="Calibri"/>
              </a:rPr>
              <a:t>Video to R1:</a:t>
            </a:r>
          </a:p>
          <a:p>
            <a:pPr algn="l">
              <a:lnSpc>
                <a:spcPct val="100000"/>
              </a:lnSpc>
            </a:pPr>
            <a:r>
              <a:rPr sz="4600" b="1" i="0">
                <a:solidFill>
                  <a:srgbClr val="FFFFFF"/>
                </a:solidFill>
                <a:latin typeface="Calibri"/>
              </a:rPr>
              <a:t>the GVHMR stage</a:t>
            </a:r>
          </a:p>
        </p:txBody>
      </p:sp>
      <p:sp>
        <p:nvSpPr>
          <p:cNvPr id="5" name="TextBox 4"/>
          <p:cNvSpPr txBox="1"/>
          <p:nvPr/>
        </p:nvSpPr>
        <p:spPr>
          <a:xfrm>
            <a:off x="1234440" y="4069080"/>
            <a:ext cx="10424160" cy="457200"/>
          </a:xfrm>
          <a:prstGeom prst="rect">
            <a:avLst/>
          </a:prstGeom>
          <a:noFill/>
        </p:spPr>
        <p:txBody>
          <a:bodyPr wrap="square">
            <a:spAutoFit/>
          </a:bodyPr>
          <a:lstStyle/>
          <a:p>
            <a:pPr algn="l">
              <a:lnSpc>
                <a:spcPct val="100000"/>
              </a:lnSpc>
            </a:pPr>
            <a:r>
              <a:rPr sz="2000" b="0" i="0">
                <a:solidFill>
                  <a:srgbClr val="C9D2DA"/>
                </a:solidFill>
                <a:latin typeface="Calibri"/>
              </a:rPr>
              <a:t>video → GVHMR → human kinematics → GMR → R1 joint trajectories → imitation learning</a:t>
            </a:r>
          </a:p>
        </p:txBody>
      </p:sp>
      <p:sp>
        <p:nvSpPr>
          <p:cNvPr id="6" name="TextBox 5"/>
          <p:cNvSpPr txBox="1"/>
          <p:nvPr/>
        </p:nvSpPr>
        <p:spPr>
          <a:xfrm>
            <a:off x="1234440" y="4572000"/>
            <a:ext cx="10424160" cy="457200"/>
          </a:xfrm>
          <a:prstGeom prst="rect">
            <a:avLst/>
          </a:prstGeom>
          <a:noFill/>
        </p:spPr>
        <p:txBody>
          <a:bodyPr wrap="square">
            <a:spAutoFit/>
          </a:bodyPr>
          <a:lstStyle/>
          <a:p>
            <a:pPr algn="l">
              <a:lnSpc>
                <a:spcPct val="100000"/>
              </a:lnSpc>
            </a:pPr>
            <a:r>
              <a:rPr sz="1600" b="0" i="1">
                <a:solidFill>
                  <a:srgbClr val="8F9EAC"/>
                </a:solidFill>
                <a:latin typeface="Calibri"/>
              </a:rPr>
              <a:t>The first half of that pipeline is now closed on my laptop, and this deck is how.</a:t>
            </a:r>
          </a:p>
        </p:txBody>
      </p:sp>
      <p:sp>
        <p:nvSpPr>
          <p:cNvPr id="7" name="TextBox 6"/>
          <p:cNvSpPr txBox="1"/>
          <p:nvPr/>
        </p:nvSpPr>
        <p:spPr>
          <a:xfrm>
            <a:off x="1234440" y="5806440"/>
            <a:ext cx="10058400" cy="365760"/>
          </a:xfrm>
          <a:prstGeom prst="rect">
            <a:avLst/>
          </a:prstGeom>
          <a:noFill/>
        </p:spPr>
        <p:txBody>
          <a:bodyPr wrap="square">
            <a:spAutoFit/>
          </a:bodyPr>
          <a:lstStyle/>
          <a:p>
            <a:pPr algn="l">
              <a:lnSpc>
                <a:spcPct val="100000"/>
              </a:lnSpc>
            </a:pPr>
            <a:r>
              <a:rPr sz="1400" b="0" i="0">
                <a:solidFill>
                  <a:srgbClr val="8F9EAC"/>
                </a:solidFill>
                <a:latin typeface="Calibri"/>
              </a:rPr>
              <a:t>Shaoqin Li  ·  CCNY  ·  Prof. Yi Sun  ·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Where week 26 left it</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Retargeting was validated. The stage in front of it — getting human motion out of a video — did not exist yet.</a:t>
            </a:r>
          </a:p>
        </p:txBody>
      </p:sp>
      <p:sp>
        <p:nvSpPr>
          <p:cNvPr id="4" name="Rounded Rectangle 3"/>
          <p:cNvSpPr/>
          <p:nvPr/>
        </p:nvSpPr>
        <p:spPr>
          <a:xfrm>
            <a:off x="566928" y="1600200"/>
            <a:ext cx="3611880" cy="27432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64792"/>
            <a:ext cx="3063240" cy="411480"/>
          </a:xfrm>
          <a:prstGeom prst="rect">
            <a:avLst/>
          </a:prstGeom>
          <a:noFill/>
        </p:spPr>
        <p:txBody>
          <a:bodyPr wrap="square">
            <a:spAutoFit/>
          </a:bodyPr>
          <a:lstStyle/>
          <a:p>
            <a:pPr algn="l">
              <a:lnSpc>
                <a:spcPct val="100000"/>
              </a:lnSpc>
            </a:pPr>
            <a:r>
              <a:rPr sz="1900" b="1" i="0">
                <a:solidFill>
                  <a:srgbClr val="0F7A6B"/>
                </a:solidFill>
                <a:latin typeface="Calibri"/>
              </a:rPr>
              <a:t>What I had</a:t>
            </a:r>
          </a:p>
        </p:txBody>
      </p:sp>
      <p:sp>
        <p:nvSpPr>
          <p:cNvPr id="6" name="TextBox 5"/>
          <p:cNvSpPr txBox="1"/>
          <p:nvPr/>
        </p:nvSpPr>
        <p:spPr>
          <a:xfrm>
            <a:off x="859536" y="2258568"/>
            <a:ext cx="3026664" cy="1956816"/>
          </a:xfrm>
          <a:prstGeom prst="rect">
            <a:avLst/>
          </a:prstGeom>
          <a:noFill/>
        </p:spPr>
        <p:txBody>
          <a:bodyPr wrap="square">
            <a:spAutoFit/>
          </a:bodyPr>
          <a:lstStyle/>
          <a:p>
            <a:pPr algn="l">
              <a:lnSpc>
                <a:spcPct val="125000"/>
              </a:lnSpc>
            </a:pPr>
            <a:r>
              <a:rPr sz="1050" b="0" i="0">
                <a:solidFill>
                  <a:srgbClr val="22252A"/>
                </a:solidFill>
                <a:latin typeface="Calibri"/>
              </a:rPr>
              <a:t>GMR retargets human motion onto the R1 with an IK config for every format it supports. Three formats had actually been run end to end (Xsens BVH, LAFAN1 BVH, SMPL-X from OMOMO), each with 0 joint-limit violations and real-time IK. On three of four plausibility measures the R1 matched the G1.</a:t>
            </a:r>
          </a:p>
        </p:txBody>
      </p:sp>
      <p:sp>
        <p:nvSpPr>
          <p:cNvPr id="7" name="Rounded Rectangle 6"/>
          <p:cNvSpPr/>
          <p:nvPr/>
        </p:nvSpPr>
        <p:spPr>
          <a:xfrm>
            <a:off x="4315968" y="1600200"/>
            <a:ext cx="3611880" cy="274320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764792"/>
            <a:ext cx="3063240" cy="411480"/>
          </a:xfrm>
          <a:prstGeom prst="rect">
            <a:avLst/>
          </a:prstGeom>
          <a:noFill/>
        </p:spPr>
        <p:txBody>
          <a:bodyPr wrap="square">
            <a:spAutoFit/>
          </a:bodyPr>
          <a:lstStyle/>
          <a:p>
            <a:pPr algn="l">
              <a:lnSpc>
                <a:spcPct val="100000"/>
              </a:lnSpc>
            </a:pPr>
            <a:r>
              <a:rPr sz="1900" b="1" i="0">
                <a:solidFill>
                  <a:srgbClr val="B8862E"/>
                </a:solidFill>
                <a:latin typeface="Calibri"/>
              </a:rPr>
              <a:t>What I did not have</a:t>
            </a:r>
          </a:p>
        </p:txBody>
      </p:sp>
      <p:sp>
        <p:nvSpPr>
          <p:cNvPr id="9" name="TextBox 8"/>
          <p:cNvSpPr txBox="1"/>
          <p:nvPr/>
        </p:nvSpPr>
        <p:spPr>
          <a:xfrm>
            <a:off x="4608576" y="2258568"/>
            <a:ext cx="3026664" cy="1956816"/>
          </a:xfrm>
          <a:prstGeom prst="rect">
            <a:avLst/>
          </a:prstGeom>
          <a:noFill/>
        </p:spPr>
        <p:txBody>
          <a:bodyPr wrap="square">
            <a:spAutoFit/>
          </a:bodyPr>
          <a:lstStyle/>
          <a:p>
            <a:pPr algn="l">
              <a:lnSpc>
                <a:spcPct val="125000"/>
              </a:lnSpc>
            </a:pPr>
            <a:r>
              <a:rPr sz="1250" b="0" i="0">
                <a:solidFill>
                  <a:srgbClr val="22252A"/>
                </a:solidFill>
                <a:latin typeface="Calibri"/>
              </a:rPr>
              <a:t>A way to get SMPL-X out of a phone video. Every motion so far came from a mocap dataset. The goal is to film a person, retarget that onto the R1, and train the R1 to do it. Without a perception stage the goal has no input.</a:t>
            </a:r>
          </a:p>
        </p:txBody>
      </p:sp>
      <p:sp>
        <p:nvSpPr>
          <p:cNvPr id="10" name="Rounded Rectangle 9"/>
          <p:cNvSpPr/>
          <p:nvPr/>
        </p:nvSpPr>
        <p:spPr>
          <a:xfrm>
            <a:off x="8065008" y="1600200"/>
            <a:ext cx="3566160" cy="27432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7616" y="1764792"/>
            <a:ext cx="3017520" cy="411480"/>
          </a:xfrm>
          <a:prstGeom prst="rect">
            <a:avLst/>
          </a:prstGeom>
          <a:noFill/>
        </p:spPr>
        <p:txBody>
          <a:bodyPr wrap="square">
            <a:spAutoFit/>
          </a:bodyPr>
          <a:lstStyle/>
          <a:p>
            <a:pPr algn="l">
              <a:lnSpc>
                <a:spcPct val="100000"/>
              </a:lnSpc>
            </a:pPr>
            <a:r>
              <a:rPr sz="1900" b="1" i="0">
                <a:solidFill>
                  <a:srgbClr val="1B2A3A"/>
                </a:solidFill>
                <a:latin typeface="Calibri"/>
              </a:rPr>
              <a:t>This week</a:t>
            </a:r>
          </a:p>
        </p:txBody>
      </p:sp>
      <p:sp>
        <p:nvSpPr>
          <p:cNvPr id="12" name="TextBox 11"/>
          <p:cNvSpPr txBox="1"/>
          <p:nvPr/>
        </p:nvSpPr>
        <p:spPr>
          <a:xfrm>
            <a:off x="8357616" y="2258568"/>
            <a:ext cx="2980944" cy="1956816"/>
          </a:xfrm>
          <a:prstGeom prst="rect">
            <a:avLst/>
          </a:prstGeom>
          <a:noFill/>
        </p:spPr>
        <p:txBody>
          <a:bodyPr wrap="square">
            <a:spAutoFit/>
          </a:bodyPr>
          <a:lstStyle/>
          <a:p>
            <a:pPr algn="l">
              <a:lnSpc>
                <a:spcPct val="125000"/>
              </a:lnSpc>
            </a:pPr>
            <a:r>
              <a:rPr sz="1150" b="0" i="0">
                <a:solidFill>
                  <a:srgbClr val="22252A"/>
                </a:solidFill>
                <a:latin typeface="Calibri"/>
              </a:rPr>
              <a:t>I installed GVHMR (the video → SMPL-X model) on this laptop, ran it on a clip, joined its output to GMR, retargeted the result onto the R1, and found and fixed the one thing in the output that would have poisoned imitation learning.</a:t>
            </a:r>
          </a:p>
        </p:txBody>
      </p:sp>
      <p:sp>
        <p:nvSpPr>
          <p:cNvPr id="13" name="TextBox 12"/>
          <p:cNvSpPr txBox="1"/>
          <p:nvPr/>
        </p:nvSpPr>
        <p:spPr>
          <a:xfrm>
            <a:off x="566928" y="4663440"/>
            <a:ext cx="11064240" cy="457200"/>
          </a:xfrm>
          <a:prstGeom prst="rect">
            <a:avLst/>
          </a:prstGeom>
          <a:noFill/>
        </p:spPr>
        <p:txBody>
          <a:bodyPr wrap="square">
            <a:spAutoFit/>
          </a:bodyPr>
          <a:lstStyle/>
          <a:p>
            <a:pPr algn="l">
              <a:lnSpc>
                <a:spcPct val="100000"/>
              </a:lnSpc>
            </a:pPr>
            <a:r>
              <a:rPr sz="1500" b="0" i="1">
                <a:solidFill>
                  <a:srgbClr val="5A6068"/>
                </a:solidFill>
                <a:latin typeface="Calibri"/>
              </a:rPr>
              <a:t>Everything in this deck ran on the GTX 1650 laptop. Every terminal panel is captured stdout.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pipeline, and where each stage stands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Each arrow is a file. What one stage writes is exactly what the next one reads.</a:t>
            </a:r>
          </a:p>
        </p:txBody>
      </p:sp>
      <p:sp>
        <p:nvSpPr>
          <p:cNvPr id="4" name="Rounded Rectangle 3"/>
          <p:cNvSpPr/>
          <p:nvPr/>
        </p:nvSpPr>
        <p:spPr>
          <a:xfrm>
            <a:off x="502920" y="1874519"/>
            <a:ext cx="1417320" cy="1325880"/>
          </a:xfrm>
          <a:prstGeom prst="round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Video</a:t>
            </a:r>
          </a:p>
          <a:p>
            <a:pPr algn="ctr"/>
            <a:r>
              <a:rPr sz="1200" b="0">
                <a:solidFill>
                  <a:srgbClr val="FFFFFF"/>
                </a:solidFill>
                <a:latin typeface="Calibri"/>
              </a:rPr>
              <a:t>.mp4</a:t>
            </a:r>
          </a:p>
          <a:p>
            <a:pPr algn="ctr"/>
            <a:r>
              <a:rPr sz="1200" b="0">
                <a:solidFill>
                  <a:srgbClr val="FFFFFF"/>
                </a:solidFill>
                <a:latin typeface="Calibri"/>
              </a:rPr>
              <a:t>(a phone, 30 fps)</a:t>
            </a:r>
          </a:p>
        </p:txBody>
      </p:sp>
      <p:sp>
        <p:nvSpPr>
          <p:cNvPr id="5" name="Rounded Rectangle 4"/>
          <p:cNvSpPr/>
          <p:nvPr/>
        </p:nvSpPr>
        <p:spPr>
          <a:xfrm>
            <a:off x="502920" y="3291839"/>
            <a:ext cx="1417320" cy="310896"/>
          </a:xfrm>
          <a:prstGeom prst="roundRect">
            <a:avLst/>
          </a:prstGeom>
          <a:solidFill>
            <a:srgbClr val="0AA0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DONE</a:t>
            </a:r>
          </a:p>
        </p:txBody>
      </p:sp>
      <p:sp>
        <p:nvSpPr>
          <p:cNvPr id="6" name="Right Arrow 5"/>
          <p:cNvSpPr/>
          <p:nvPr/>
        </p:nvSpPr>
        <p:spPr>
          <a:xfrm>
            <a:off x="1938528" y="2377439"/>
            <a:ext cx="210312" cy="310896"/>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67128" y="1874519"/>
            <a:ext cx="1417320" cy="1325880"/>
          </a:xfrm>
          <a:prstGeom prst="round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GVHMR</a:t>
            </a:r>
          </a:p>
          <a:p>
            <a:pPr algn="ctr"/>
            <a:r>
              <a:rPr sz="1200" b="0">
                <a:solidFill>
                  <a:srgbClr val="FFFFFF"/>
                </a:solidFill>
                <a:latin typeface="Calibri"/>
              </a:rPr>
              <a:t>video →</a:t>
            </a:r>
          </a:p>
          <a:p>
            <a:pPr algn="ctr"/>
            <a:r>
              <a:rPr sz="1200" b="0">
                <a:solidFill>
                  <a:srgbClr val="FFFFFF"/>
                </a:solidFill>
                <a:latin typeface="Calibri"/>
              </a:rPr>
              <a:t>SMPL-X</a:t>
            </a:r>
          </a:p>
        </p:txBody>
      </p:sp>
      <p:sp>
        <p:nvSpPr>
          <p:cNvPr id="8" name="Rounded Rectangle 7"/>
          <p:cNvSpPr/>
          <p:nvPr/>
        </p:nvSpPr>
        <p:spPr>
          <a:xfrm>
            <a:off x="2167128" y="3291839"/>
            <a:ext cx="1417320" cy="310896"/>
          </a:xfrm>
          <a:prstGeom prst="roundRect">
            <a:avLst/>
          </a:prstGeom>
          <a:solidFill>
            <a:srgbClr val="0AA0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DONE · this week</a:t>
            </a:r>
          </a:p>
        </p:txBody>
      </p:sp>
      <p:sp>
        <p:nvSpPr>
          <p:cNvPr id="9" name="Right Arrow 8"/>
          <p:cNvSpPr/>
          <p:nvPr/>
        </p:nvSpPr>
        <p:spPr>
          <a:xfrm>
            <a:off x="3602736" y="2377439"/>
            <a:ext cx="210312" cy="310896"/>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831336" y="1874519"/>
            <a:ext cx="1417320" cy="1325880"/>
          </a:xfrm>
          <a:prstGeom prst="round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Human</a:t>
            </a:r>
          </a:p>
          <a:p>
            <a:pPr algn="ctr"/>
            <a:r>
              <a:rPr sz="1200" b="0">
                <a:solidFill>
                  <a:srgbClr val="FFFFFF"/>
                </a:solidFill>
                <a:latin typeface="Calibri"/>
              </a:rPr>
              <a:t>kinematics</a:t>
            </a:r>
          </a:p>
          <a:p>
            <a:pPr algn="ctr"/>
            <a:r>
              <a:rPr sz="1200" b="0">
                <a:solidFill>
                  <a:srgbClr val="FFFFFF"/>
                </a:solidFill>
                <a:latin typeface="Calibri"/>
              </a:rPr>
              <a:t>hmr4d_results.pt</a:t>
            </a:r>
          </a:p>
          <a:p>
            <a:pPr algn="ctr"/>
            <a:r>
              <a:rPr sz="1200" b="0">
                <a:solidFill>
                  <a:srgbClr val="FFFFFF"/>
                </a:solidFill>
                <a:latin typeface="Calibri"/>
              </a:rPr>
              <a:t>(SMPL-X per frame)</a:t>
            </a:r>
          </a:p>
        </p:txBody>
      </p:sp>
      <p:sp>
        <p:nvSpPr>
          <p:cNvPr id="11" name="Rounded Rectangle 10"/>
          <p:cNvSpPr/>
          <p:nvPr/>
        </p:nvSpPr>
        <p:spPr>
          <a:xfrm>
            <a:off x="3831336" y="3291839"/>
            <a:ext cx="1417320" cy="310896"/>
          </a:xfrm>
          <a:prstGeom prst="roundRect">
            <a:avLst/>
          </a:prstGeom>
          <a:solidFill>
            <a:srgbClr val="0AA0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DONE · this week</a:t>
            </a:r>
          </a:p>
        </p:txBody>
      </p:sp>
      <p:sp>
        <p:nvSpPr>
          <p:cNvPr id="12" name="Right Arrow 11"/>
          <p:cNvSpPr/>
          <p:nvPr/>
        </p:nvSpPr>
        <p:spPr>
          <a:xfrm>
            <a:off x="5266944" y="2377439"/>
            <a:ext cx="210312" cy="310896"/>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495544" y="1874519"/>
            <a:ext cx="1417320" cy="1325880"/>
          </a:xfrm>
          <a:prstGeom prst="round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GMR</a:t>
            </a:r>
          </a:p>
          <a:p>
            <a:pPr algn="ctr"/>
            <a:r>
              <a:rPr sz="1200" b="0">
                <a:solidFill>
                  <a:srgbClr val="FFFFFF"/>
                </a:solidFill>
                <a:latin typeface="Calibri"/>
              </a:rPr>
              <a:t>SMPL-X →</a:t>
            </a:r>
          </a:p>
          <a:p>
            <a:pPr algn="ctr"/>
            <a:r>
              <a:rPr sz="1200" b="0">
                <a:solidFill>
                  <a:srgbClr val="FFFFFF"/>
                </a:solidFill>
                <a:latin typeface="Calibri"/>
              </a:rPr>
              <a:t>R1 IK</a:t>
            </a:r>
          </a:p>
        </p:txBody>
      </p:sp>
      <p:sp>
        <p:nvSpPr>
          <p:cNvPr id="14" name="Rounded Rectangle 13"/>
          <p:cNvSpPr/>
          <p:nvPr/>
        </p:nvSpPr>
        <p:spPr>
          <a:xfrm>
            <a:off x="5495544" y="3291839"/>
            <a:ext cx="1417320" cy="310896"/>
          </a:xfrm>
          <a:prstGeom prst="roundRect">
            <a:avLst/>
          </a:prstGeom>
          <a:solidFill>
            <a:srgbClr val="0AA0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DONE · wk 24–26</a:t>
            </a:r>
          </a:p>
        </p:txBody>
      </p:sp>
      <p:sp>
        <p:nvSpPr>
          <p:cNvPr id="15" name="Right Arrow 14"/>
          <p:cNvSpPr/>
          <p:nvPr/>
        </p:nvSpPr>
        <p:spPr>
          <a:xfrm>
            <a:off x="6931151" y="2377439"/>
            <a:ext cx="210312" cy="310896"/>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159752" y="1874519"/>
            <a:ext cx="1417320" cy="1325880"/>
          </a:xfrm>
          <a:prstGeom prst="round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R1 joint</a:t>
            </a:r>
          </a:p>
          <a:p>
            <a:pPr algn="ctr"/>
            <a:r>
              <a:rPr sz="1200" b="0">
                <a:solidFill>
                  <a:srgbClr val="FFFFFF"/>
                </a:solidFill>
                <a:latin typeface="Calibri"/>
              </a:rPr>
              <a:t>trajectories</a:t>
            </a:r>
          </a:p>
          <a:p>
            <a:pPr algn="ctr"/>
            <a:r>
              <a:rPr sz="1200" b="0">
                <a:solidFill>
                  <a:srgbClr val="FFFFFF"/>
                </a:solidFill>
                <a:latin typeface="Calibri"/>
              </a:rPr>
              <a:t>motion .pkl</a:t>
            </a:r>
          </a:p>
          <a:p>
            <a:pPr algn="ctr"/>
            <a:r>
              <a:rPr sz="1200" b="0">
                <a:solidFill>
                  <a:srgbClr val="FFFFFF"/>
                </a:solidFill>
                <a:latin typeface="Calibri"/>
              </a:rPr>
              <a:t>(qpos @ 30 fps)</a:t>
            </a:r>
          </a:p>
        </p:txBody>
      </p:sp>
      <p:sp>
        <p:nvSpPr>
          <p:cNvPr id="17" name="Rounded Rectangle 16"/>
          <p:cNvSpPr/>
          <p:nvPr/>
        </p:nvSpPr>
        <p:spPr>
          <a:xfrm>
            <a:off x="7159752" y="3291839"/>
            <a:ext cx="1417320" cy="310896"/>
          </a:xfrm>
          <a:prstGeom prst="roundRect">
            <a:avLst/>
          </a:prstGeom>
          <a:solidFill>
            <a:srgbClr val="0AA08A"/>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DONE · this week</a:t>
            </a:r>
          </a:p>
        </p:txBody>
      </p:sp>
      <p:sp>
        <p:nvSpPr>
          <p:cNvPr id="18" name="Right Arrow 17"/>
          <p:cNvSpPr/>
          <p:nvPr/>
        </p:nvSpPr>
        <p:spPr>
          <a:xfrm>
            <a:off x="8595360" y="2377439"/>
            <a:ext cx="210312" cy="310896"/>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823960" y="1874519"/>
            <a:ext cx="1417320" cy="1325880"/>
          </a:xfrm>
          <a:prstGeom prst="roundRect">
            <a:avLst/>
          </a:prstGeom>
          <a:solidFill>
            <a:srgbClr val="B047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Imitation</a:t>
            </a:r>
          </a:p>
          <a:p>
            <a:pPr algn="ctr"/>
            <a:r>
              <a:rPr sz="1200" b="0">
                <a:solidFill>
                  <a:srgbClr val="FFFFFF"/>
                </a:solidFill>
                <a:latin typeface="Calibri"/>
              </a:rPr>
              <a:t>learning</a:t>
            </a:r>
          </a:p>
          <a:p>
            <a:pPr algn="ctr"/>
            <a:r>
              <a:rPr sz="1200" b="0">
                <a:solidFill>
                  <a:srgbClr val="FFFFFF"/>
                </a:solidFill>
                <a:latin typeface="Calibri"/>
              </a:rPr>
              <a:t>RL tracks the</a:t>
            </a:r>
          </a:p>
          <a:p>
            <a:pPr algn="ctr"/>
            <a:r>
              <a:rPr sz="1200" b="0">
                <a:solidFill>
                  <a:srgbClr val="FFFFFF"/>
                </a:solidFill>
                <a:latin typeface="Calibri"/>
              </a:rPr>
              <a:t>reference</a:t>
            </a:r>
          </a:p>
        </p:txBody>
      </p:sp>
      <p:sp>
        <p:nvSpPr>
          <p:cNvPr id="20" name="Rounded Rectangle 19"/>
          <p:cNvSpPr/>
          <p:nvPr/>
        </p:nvSpPr>
        <p:spPr>
          <a:xfrm>
            <a:off x="8823960" y="3291839"/>
            <a:ext cx="1417320" cy="310896"/>
          </a:xfrm>
          <a:prstGeom prst="roundRect">
            <a:avLst/>
          </a:prstGeom>
          <a:solidFill>
            <a:srgbClr val="B047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NOT STARTED</a:t>
            </a:r>
          </a:p>
        </p:txBody>
      </p:sp>
      <p:sp>
        <p:nvSpPr>
          <p:cNvPr id="21" name="Right Arrow 20"/>
          <p:cNvSpPr/>
          <p:nvPr/>
        </p:nvSpPr>
        <p:spPr>
          <a:xfrm>
            <a:off x="10259568" y="2377439"/>
            <a:ext cx="210312" cy="310896"/>
          </a:xfrm>
          <a:prstGeom prst="rightArrow">
            <a:avLst/>
          </a:prstGeom>
          <a:solidFill>
            <a:srgbClr val="5A60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0488168" y="1874519"/>
            <a:ext cx="1417320" cy="1325880"/>
          </a:xfrm>
          <a:prstGeom prst="roundRect">
            <a:avLst/>
          </a:prstGeom>
          <a:solidFill>
            <a:srgbClr val="B047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FFFFFF"/>
                </a:solidFill>
                <a:latin typeface="Calibri"/>
              </a:rPr>
              <a:t>R1 in the</a:t>
            </a:r>
          </a:p>
          <a:p>
            <a:pPr algn="ctr"/>
            <a:r>
              <a:rPr sz="1200" b="0">
                <a:solidFill>
                  <a:srgbClr val="FFFFFF"/>
                </a:solidFill>
                <a:latin typeface="Calibri"/>
              </a:rPr>
              <a:t>simulator</a:t>
            </a:r>
          </a:p>
          <a:p>
            <a:pPr algn="ctr"/>
            <a:r>
              <a:rPr sz="1200" b="0">
                <a:solidFill>
                  <a:srgbClr val="FFFFFF"/>
                </a:solidFill>
                <a:latin typeface="Calibri"/>
              </a:rPr>
              <a:t>the same</a:t>
            </a:r>
          </a:p>
          <a:p>
            <a:pPr algn="ctr"/>
            <a:r>
              <a:rPr sz="1200" b="0">
                <a:solidFill>
                  <a:srgbClr val="FFFFFF"/>
                </a:solidFill>
                <a:latin typeface="Calibri"/>
              </a:rPr>
              <a:t>motion</a:t>
            </a:r>
          </a:p>
        </p:txBody>
      </p:sp>
      <p:sp>
        <p:nvSpPr>
          <p:cNvPr id="23" name="Rounded Rectangle 22"/>
          <p:cNvSpPr/>
          <p:nvPr/>
        </p:nvSpPr>
        <p:spPr>
          <a:xfrm>
            <a:off x="10488168" y="3291839"/>
            <a:ext cx="1417320" cy="310896"/>
          </a:xfrm>
          <a:prstGeom prst="roundRect">
            <a:avLst/>
          </a:prstGeom>
          <a:solidFill>
            <a:srgbClr val="B0473C"/>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100" b="1">
                <a:solidFill>
                  <a:srgbClr val="FFFFFF"/>
                </a:solidFill>
                <a:latin typeface="Calibri"/>
              </a:rPr>
              <a:t>NOT STARTED</a:t>
            </a:r>
          </a:p>
        </p:txBody>
      </p:sp>
      <p:sp>
        <p:nvSpPr>
          <p:cNvPr id="24" name="TextBox 23"/>
          <p:cNvSpPr txBox="1"/>
          <p:nvPr/>
        </p:nvSpPr>
        <p:spPr>
          <a:xfrm>
            <a:off x="566928" y="3977639"/>
            <a:ext cx="10972800" cy="365760"/>
          </a:xfrm>
          <a:prstGeom prst="rect">
            <a:avLst/>
          </a:prstGeom>
          <a:noFill/>
        </p:spPr>
        <p:txBody>
          <a:bodyPr wrap="square">
            <a:spAutoFit/>
          </a:bodyPr>
          <a:lstStyle/>
          <a:p>
            <a:pPr algn="l">
              <a:lnSpc>
                <a:spcPct val="100000"/>
              </a:lnSpc>
            </a:pPr>
            <a:r>
              <a:rPr sz="1400" b="0" i="1">
                <a:solidFill>
                  <a:srgbClr val="5A6068"/>
                </a:solidFill>
                <a:latin typeface="Calibri"/>
              </a:rPr>
              <a:t>What that looks like on the one clip I have run:</a:t>
            </a:r>
          </a:p>
        </p:txBody>
      </p:sp>
      <p:pic>
        <p:nvPicPr>
          <p:cNvPr id="25" name="Picture 24" descr="poster_tennis_source.png"/>
          <p:cNvPicPr>
            <a:picLocks noChangeAspect="1"/>
          </p:cNvPicPr>
          <p:nvPr/>
        </p:nvPicPr>
        <p:blipFill>
          <a:blip r:embed="rId2"/>
          <a:stretch>
            <a:fillRect/>
          </a:stretch>
        </p:blipFill>
        <p:spPr>
          <a:xfrm>
            <a:off x="877316" y="4389120"/>
            <a:ext cx="2268728" cy="2011680"/>
          </a:xfrm>
          <a:prstGeom prst="rect">
            <a:avLst/>
          </a:prstGeom>
        </p:spPr>
      </p:pic>
      <p:sp>
        <p:nvSpPr>
          <p:cNvPr id="26" name="TextBox 25"/>
          <p:cNvSpPr txBox="1"/>
          <p:nvPr/>
        </p:nvSpPr>
        <p:spPr>
          <a:xfrm>
            <a:off x="640080" y="6355080"/>
            <a:ext cx="2743200" cy="320040"/>
          </a:xfrm>
          <a:prstGeom prst="rect">
            <a:avLst/>
          </a:prstGeom>
          <a:noFill/>
        </p:spPr>
        <p:txBody>
          <a:bodyPr wrap="square">
            <a:spAutoFit/>
          </a:bodyPr>
          <a:lstStyle/>
          <a:p>
            <a:pPr algn="ctr">
              <a:lnSpc>
                <a:spcPct val="100000"/>
              </a:lnSpc>
            </a:pPr>
            <a:r>
              <a:rPr sz="1100" b="0" i="0">
                <a:solidFill>
                  <a:srgbClr val="5A6068"/>
                </a:solidFill>
                <a:latin typeface="Calibri"/>
              </a:rPr>
              <a:t>GVHMR's demo clip, tennis.mp4 (10.4 s)</a:t>
            </a:r>
          </a:p>
        </p:txBody>
      </p:sp>
      <p:pic>
        <p:nvPicPr>
          <p:cNvPr id="27" name="Picture 26" descr="poster_gvhmr_r1_tennis_ground.png"/>
          <p:cNvPicPr>
            <a:picLocks noChangeAspect="1"/>
          </p:cNvPicPr>
          <p:nvPr/>
        </p:nvPicPr>
        <p:blipFill>
          <a:blip r:embed="rId3"/>
          <a:stretch>
            <a:fillRect/>
          </a:stretch>
        </p:blipFill>
        <p:spPr>
          <a:xfrm>
            <a:off x="4739640" y="4389120"/>
            <a:ext cx="2682240" cy="2011680"/>
          </a:xfrm>
          <a:prstGeom prst="rect">
            <a:avLst/>
          </a:prstGeom>
        </p:spPr>
      </p:pic>
      <p:sp>
        <p:nvSpPr>
          <p:cNvPr id="28" name="TextBox 27"/>
          <p:cNvSpPr txBox="1"/>
          <p:nvPr/>
        </p:nvSpPr>
        <p:spPr>
          <a:xfrm>
            <a:off x="4709160" y="6355080"/>
            <a:ext cx="2743200" cy="320040"/>
          </a:xfrm>
          <a:prstGeom prst="rect">
            <a:avLst/>
          </a:prstGeom>
          <a:noFill/>
        </p:spPr>
        <p:txBody>
          <a:bodyPr wrap="square">
            <a:spAutoFit/>
          </a:bodyPr>
          <a:lstStyle/>
          <a:p>
            <a:pPr algn="ctr">
              <a:lnSpc>
                <a:spcPct val="100000"/>
              </a:lnSpc>
            </a:pPr>
            <a:r>
              <a:rPr sz="1100" b="0" i="0">
                <a:solidFill>
                  <a:srgbClr val="5A6068"/>
                </a:solidFill>
                <a:latin typeface="Calibri"/>
              </a:rPr>
              <a:t>the R1, 312 frames later</a:t>
            </a:r>
          </a:p>
        </p:txBody>
      </p:sp>
      <p:sp>
        <p:nvSpPr>
          <p:cNvPr id="29" name="Rounded Rectangle 28"/>
          <p:cNvSpPr/>
          <p:nvPr/>
        </p:nvSpPr>
        <p:spPr>
          <a:xfrm>
            <a:off x="8732520" y="4389120"/>
            <a:ext cx="2926080" cy="19202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5400" y="4526280"/>
            <a:ext cx="2606040" cy="1737360"/>
          </a:xfrm>
          <a:prstGeom prst="rect">
            <a:avLst/>
          </a:prstGeom>
          <a:noFill/>
        </p:spPr>
        <p:txBody>
          <a:bodyPr wrap="square">
            <a:spAutoFit/>
          </a:bodyPr>
          <a:lstStyle/>
          <a:p>
            <a:pPr algn="l">
              <a:lnSpc>
                <a:spcPct val="120000"/>
              </a:lnSpc>
            </a:pPr>
            <a:r>
              <a:rPr sz="1250" b="0" i="0">
                <a:solidFill>
                  <a:srgbClr val="22252A"/>
                </a:solidFill>
                <a:latin typeface="Calibri"/>
              </a:rPr>
              <a:t>Next: an RL policy that tracks this .pkl while balancing. That is a lab-GPU job and the format is the one TWIST / BeyondMimic / ASAP consume.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1</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The paper</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GVHMR — World-Grounded Human Motion Recovery via Gravity-View Coordinates</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Shen, Pi, Xia, Cen, Peng, Hu, Bao, Hu, Zhou  ·  Zhejiang University  ·  SIGGRAPH Asia 2024  ·  arXiv 2409.06662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problem it solves: where is the person in the world?</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Camera-space pose from a single frame is a solved problem. Putting a whole clip into one gravity-aligned world is not.</a:t>
            </a:r>
          </a:p>
        </p:txBody>
      </p:sp>
      <p:pic>
        <p:nvPicPr>
          <p:cNvPr id="4" name="Picture 3" descr="teaser_v1.png"/>
          <p:cNvPicPr>
            <a:picLocks noChangeAspect="1"/>
          </p:cNvPicPr>
          <p:nvPr/>
        </p:nvPicPr>
        <p:blipFill>
          <a:blip r:embed="rId2"/>
          <a:stretch>
            <a:fillRect/>
          </a:stretch>
        </p:blipFill>
        <p:spPr>
          <a:xfrm>
            <a:off x="2690116" y="1554480"/>
            <a:ext cx="6817863" cy="2148840"/>
          </a:xfrm>
          <a:prstGeom prst="rect">
            <a:avLst/>
          </a:prstGeom>
        </p:spPr>
      </p:pic>
      <p:sp>
        <p:nvSpPr>
          <p:cNvPr id="5" name="TextBox 4"/>
          <p:cNvSpPr txBox="1"/>
          <p:nvPr/>
        </p:nvSpPr>
        <p:spPr>
          <a:xfrm>
            <a:off x="566928" y="3749039"/>
            <a:ext cx="11064240" cy="320040"/>
          </a:xfrm>
          <a:prstGeom prst="rect">
            <a:avLst/>
          </a:prstGeom>
          <a:noFill/>
        </p:spPr>
        <p:txBody>
          <a:bodyPr wrap="square">
            <a:spAutoFit/>
          </a:bodyPr>
          <a:lstStyle/>
          <a:p>
            <a:pPr algn="ctr">
              <a:lnSpc>
                <a:spcPct val="100000"/>
              </a:lnSpc>
            </a:pPr>
            <a:r>
              <a:rPr sz="1200" b="0" i="1">
                <a:solidFill>
                  <a:srgbClr val="5A6068"/>
                </a:solidFill>
                <a:latin typeface="Calibri"/>
              </a:rPr>
              <a:t>Their teaser: one monocular video in, a person moving through a world with a floor and gravity out.</a:t>
            </a:r>
          </a:p>
        </p:txBody>
      </p:sp>
      <p:sp>
        <p:nvSpPr>
          <p:cNvPr id="6" name="Rounded Rectangle 5"/>
          <p:cNvSpPr/>
          <p:nvPr/>
        </p:nvSpPr>
        <p:spPr>
          <a:xfrm>
            <a:off x="566928" y="4206240"/>
            <a:ext cx="3611880" cy="224028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370831"/>
            <a:ext cx="3063240" cy="411480"/>
          </a:xfrm>
          <a:prstGeom prst="rect">
            <a:avLst/>
          </a:prstGeom>
          <a:noFill/>
        </p:spPr>
        <p:txBody>
          <a:bodyPr wrap="square">
            <a:spAutoFit/>
          </a:bodyPr>
          <a:lstStyle/>
          <a:p>
            <a:pPr algn="l">
              <a:lnSpc>
                <a:spcPct val="100000"/>
              </a:lnSpc>
            </a:pPr>
            <a:r>
              <a:rPr sz="1900" b="1" i="0">
                <a:solidFill>
                  <a:srgbClr val="0F7A6B"/>
                </a:solidFill>
                <a:latin typeface="Calibri"/>
              </a:rPr>
              <a:t>Easy: the camera frame</a:t>
            </a:r>
          </a:p>
        </p:txBody>
      </p:sp>
      <p:sp>
        <p:nvSpPr>
          <p:cNvPr id="8" name="TextBox 7"/>
          <p:cNvSpPr txBox="1"/>
          <p:nvPr/>
        </p:nvSpPr>
        <p:spPr>
          <a:xfrm>
            <a:off x="859536" y="4864607"/>
            <a:ext cx="3026664" cy="1453896"/>
          </a:xfrm>
          <a:prstGeom prst="rect">
            <a:avLst/>
          </a:prstGeom>
          <a:noFill/>
        </p:spPr>
        <p:txBody>
          <a:bodyPr wrap="square">
            <a:spAutoFit/>
          </a:bodyPr>
          <a:lstStyle/>
          <a:p>
            <a:pPr algn="l">
              <a:lnSpc>
                <a:spcPct val="125000"/>
              </a:lnSpc>
            </a:pPr>
            <a:r>
              <a:rPr sz="1350" b="0" i="0">
                <a:solidFill>
                  <a:srgbClr val="22252A"/>
                </a:solidFill>
                <a:latin typeface="Calibri"/>
              </a:rPr>
              <a:t>Models like HMR2 already read one frame and give a body pose relative to the camera. That is what our image features come from.</a:t>
            </a:r>
          </a:p>
        </p:txBody>
      </p:sp>
      <p:sp>
        <p:nvSpPr>
          <p:cNvPr id="9" name="Rounded Rectangle 8"/>
          <p:cNvSpPr/>
          <p:nvPr/>
        </p:nvSpPr>
        <p:spPr>
          <a:xfrm>
            <a:off x="4315968" y="4206240"/>
            <a:ext cx="3611880" cy="224028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08576" y="4370831"/>
            <a:ext cx="3063240" cy="411480"/>
          </a:xfrm>
          <a:prstGeom prst="rect">
            <a:avLst/>
          </a:prstGeom>
          <a:noFill/>
        </p:spPr>
        <p:txBody>
          <a:bodyPr wrap="square">
            <a:spAutoFit/>
          </a:bodyPr>
          <a:lstStyle/>
          <a:p>
            <a:pPr algn="l">
              <a:lnSpc>
                <a:spcPct val="100000"/>
              </a:lnSpc>
            </a:pPr>
            <a:r>
              <a:rPr sz="1900" b="1" i="0">
                <a:solidFill>
                  <a:srgbClr val="B8862E"/>
                </a:solidFill>
                <a:latin typeface="Calibri"/>
              </a:rPr>
              <a:t>Hard: the world frame</a:t>
            </a:r>
          </a:p>
        </p:txBody>
      </p:sp>
      <p:sp>
        <p:nvSpPr>
          <p:cNvPr id="11" name="TextBox 10"/>
          <p:cNvSpPr txBox="1"/>
          <p:nvPr/>
        </p:nvSpPr>
        <p:spPr>
          <a:xfrm>
            <a:off x="4608576" y="4864607"/>
            <a:ext cx="3026664" cy="1453896"/>
          </a:xfrm>
          <a:prstGeom prst="rect">
            <a:avLst/>
          </a:prstGeom>
          <a:noFill/>
        </p:spPr>
        <p:txBody>
          <a:bodyPr wrap="square">
            <a:spAutoFit/>
          </a:bodyPr>
          <a:lstStyle/>
          <a:p>
            <a:pPr algn="l">
              <a:lnSpc>
                <a:spcPct val="125000"/>
              </a:lnSpc>
            </a:pPr>
            <a:r>
              <a:rPr sz="1100" b="0" i="0">
                <a:solidFill>
                  <a:srgbClr val="22252A"/>
                </a:solidFill>
                <a:latin typeface="Calibri"/>
              </a:rPr>
              <a:t>"World" is ambiguous — every clip has its own. The old answer (WHAM) predicts how the person moved since the last frame and adds it up. Small errors add up too, and the trajectory drifts.</a:t>
            </a:r>
          </a:p>
        </p:txBody>
      </p:sp>
      <p:sp>
        <p:nvSpPr>
          <p:cNvPr id="12" name="Rounded Rectangle 11"/>
          <p:cNvSpPr/>
          <p:nvPr/>
        </p:nvSpPr>
        <p:spPr>
          <a:xfrm>
            <a:off x="8065008" y="4206240"/>
            <a:ext cx="3566160" cy="22402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57616" y="4370831"/>
            <a:ext cx="3017520" cy="411480"/>
          </a:xfrm>
          <a:prstGeom prst="rect">
            <a:avLst/>
          </a:prstGeom>
          <a:noFill/>
        </p:spPr>
        <p:txBody>
          <a:bodyPr wrap="square">
            <a:spAutoFit/>
          </a:bodyPr>
          <a:lstStyle/>
          <a:p>
            <a:pPr algn="l">
              <a:lnSpc>
                <a:spcPct val="100000"/>
              </a:lnSpc>
            </a:pPr>
            <a:r>
              <a:rPr sz="1900" b="1" i="0">
                <a:solidFill>
                  <a:srgbClr val="1B2A3A"/>
                </a:solidFill>
                <a:latin typeface="Calibri"/>
              </a:rPr>
              <a:t>Their answer</a:t>
            </a:r>
          </a:p>
        </p:txBody>
      </p:sp>
      <p:sp>
        <p:nvSpPr>
          <p:cNvPr id="14" name="TextBox 13"/>
          <p:cNvSpPr txBox="1"/>
          <p:nvPr/>
        </p:nvSpPr>
        <p:spPr>
          <a:xfrm>
            <a:off x="8357616" y="4864607"/>
            <a:ext cx="2980944" cy="1453896"/>
          </a:xfrm>
          <a:prstGeom prst="rect">
            <a:avLst/>
          </a:prstGeom>
          <a:noFill/>
        </p:spPr>
        <p:txBody>
          <a:bodyPr wrap="square">
            <a:spAutoFit/>
          </a:bodyPr>
          <a:lstStyle/>
          <a:p>
            <a:pPr algn="l">
              <a:lnSpc>
                <a:spcPct val="125000"/>
              </a:lnSpc>
            </a:pPr>
            <a:r>
              <a:rPr sz="1100" b="0" i="0">
                <a:solidFill>
                  <a:srgbClr val="22252A"/>
                </a:solidFill>
                <a:latin typeface="Calibri"/>
              </a:rPr>
              <a:t>Do not predict in the world frame. Predict each frame in a frame that is defined the same way every time — by gravity and by where the camera looks — then rotate it into the world.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idea: Gravity-View coordinates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A frame that exists for every video frame and never has to be guessed.</a:t>
            </a:r>
          </a:p>
        </p:txBody>
      </p:sp>
      <p:pic>
        <p:nvPicPr>
          <p:cNvPr id="4" name="Picture 3" descr="method_gv.png"/>
          <p:cNvPicPr>
            <a:picLocks noChangeAspect="1"/>
          </p:cNvPicPr>
          <p:nvPr/>
        </p:nvPicPr>
        <p:blipFill>
          <a:blip r:embed="rId2"/>
          <a:stretch>
            <a:fillRect/>
          </a:stretch>
        </p:blipFill>
        <p:spPr>
          <a:xfrm>
            <a:off x="566928" y="1508760"/>
            <a:ext cx="11064240" cy="2394401"/>
          </a:xfrm>
          <a:prstGeom prst="rect">
            <a:avLst/>
          </a:prstGeom>
        </p:spPr>
      </p:pic>
      <p:sp>
        <p:nvSpPr>
          <p:cNvPr id="5" name="TextBox 4"/>
          <p:cNvSpPr txBox="1"/>
          <p:nvPr/>
        </p:nvSpPr>
        <p:spPr>
          <a:xfrm>
            <a:off x="566928" y="4023360"/>
            <a:ext cx="11064240" cy="320040"/>
          </a:xfrm>
          <a:prstGeom prst="rect">
            <a:avLst/>
          </a:prstGeom>
          <a:noFill/>
        </p:spPr>
        <p:txBody>
          <a:bodyPr wrap="square">
            <a:spAutoFit/>
          </a:bodyPr>
          <a:lstStyle/>
          <a:p>
            <a:pPr algn="ctr">
              <a:lnSpc>
                <a:spcPct val="100000"/>
              </a:lnSpc>
            </a:pPr>
            <a:r>
              <a:rPr sz="1200" b="0" i="1">
                <a:solidFill>
                  <a:srgbClr val="5A6068"/>
                </a:solidFill>
                <a:latin typeface="Calibri"/>
              </a:rPr>
              <a:t>Figure from the paper: gravity gives the vertical axis, the camera's view direction gives the horizontal one.</a:t>
            </a:r>
          </a:p>
        </p:txBody>
      </p:sp>
      <p:sp>
        <p:nvSpPr>
          <p:cNvPr id="6" name="Rounded Rectangle 5"/>
          <p:cNvSpPr/>
          <p:nvPr/>
        </p:nvSpPr>
        <p:spPr>
          <a:xfrm>
            <a:off x="566928" y="4480560"/>
            <a:ext cx="5486400" cy="196596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4645152"/>
            <a:ext cx="4937760" cy="411480"/>
          </a:xfrm>
          <a:prstGeom prst="rect">
            <a:avLst/>
          </a:prstGeom>
          <a:noFill/>
        </p:spPr>
        <p:txBody>
          <a:bodyPr wrap="square">
            <a:spAutoFit/>
          </a:bodyPr>
          <a:lstStyle/>
          <a:p>
            <a:pPr algn="l">
              <a:lnSpc>
                <a:spcPct val="100000"/>
              </a:lnSpc>
            </a:pPr>
            <a:r>
              <a:rPr sz="1900" b="1" i="0">
                <a:solidFill>
                  <a:srgbClr val="0F7A6B"/>
                </a:solidFill>
                <a:latin typeface="Calibri"/>
              </a:rPr>
              <a:t>How it is built, per frame</a:t>
            </a:r>
          </a:p>
        </p:txBody>
      </p:sp>
      <p:sp>
        <p:nvSpPr>
          <p:cNvPr id="8" name="TextBox 7"/>
          <p:cNvSpPr txBox="1"/>
          <p:nvPr/>
        </p:nvSpPr>
        <p:spPr>
          <a:xfrm>
            <a:off x="859536" y="5138928"/>
            <a:ext cx="4901184" cy="1179576"/>
          </a:xfrm>
          <a:prstGeom prst="rect">
            <a:avLst/>
          </a:prstGeom>
          <a:noFill/>
        </p:spPr>
        <p:txBody>
          <a:bodyPr wrap="square">
            <a:spAutoFit/>
          </a:bodyPr>
          <a:lstStyle/>
          <a:p>
            <a:pPr algn="l">
              <a:lnSpc>
                <a:spcPct val="125000"/>
              </a:lnSpc>
            </a:pPr>
            <a:r>
              <a:rPr sz="1100" b="0" i="0">
                <a:solidFill>
                  <a:srgbClr val="22252A"/>
                </a:solidFill>
                <a:latin typeface="Calibri"/>
              </a:rPr>
              <a:t>Up is gravity. Forward is the camera's viewing direction, flattened onto the ground. That is enough to fix a full coordinate frame — and it is the same recipe in every frame of every clip, so the network learns one consistent mapping from image to pose.</a:t>
            </a:r>
          </a:p>
        </p:txBody>
      </p:sp>
      <p:sp>
        <p:nvSpPr>
          <p:cNvPr id="9" name="Rounded Rectangle 8"/>
          <p:cNvSpPr/>
          <p:nvPr/>
        </p:nvSpPr>
        <p:spPr>
          <a:xfrm>
            <a:off x="6190488" y="4480560"/>
            <a:ext cx="5440680" cy="196596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83096" y="4645152"/>
            <a:ext cx="4892040" cy="411480"/>
          </a:xfrm>
          <a:prstGeom prst="rect">
            <a:avLst/>
          </a:prstGeom>
          <a:noFill/>
        </p:spPr>
        <p:txBody>
          <a:bodyPr wrap="square">
            <a:spAutoFit/>
          </a:bodyPr>
          <a:lstStyle/>
          <a:p>
            <a:pPr algn="l">
              <a:lnSpc>
                <a:spcPct val="100000"/>
              </a:lnSpc>
            </a:pPr>
            <a:r>
              <a:rPr sz="1900" b="1" i="0">
                <a:solidFill>
                  <a:srgbClr val="B8862E"/>
                </a:solidFill>
                <a:latin typeface="Calibri"/>
              </a:rPr>
              <a:t>Why that beats adding up steps</a:t>
            </a:r>
          </a:p>
        </p:txBody>
      </p:sp>
      <p:sp>
        <p:nvSpPr>
          <p:cNvPr id="11" name="TextBox 10"/>
          <p:cNvSpPr txBox="1"/>
          <p:nvPr/>
        </p:nvSpPr>
        <p:spPr>
          <a:xfrm>
            <a:off x="6483096" y="5138928"/>
            <a:ext cx="4855464" cy="1179576"/>
          </a:xfrm>
          <a:prstGeom prst="rect">
            <a:avLst/>
          </a:prstGeom>
          <a:noFill/>
        </p:spPr>
        <p:txBody>
          <a:bodyPr wrap="square">
            <a:spAutoFit/>
          </a:bodyPr>
          <a:lstStyle/>
          <a:p>
            <a:pPr algn="l">
              <a:lnSpc>
                <a:spcPct val="125000"/>
              </a:lnSpc>
            </a:pPr>
            <a:r>
              <a:rPr sz="1100" b="0" i="0">
                <a:solidFill>
                  <a:srgbClr val="22252A"/>
                </a:solidFill>
                <a:latin typeface="Calibri"/>
              </a:rPr>
              <a:t>Each frame's pose is estimated on its own and then rotated into the world using the camera's rotation. Nothing is accumulated, so nothing drifts — in orientation. Translation is still integrated from a predicted root velocity, and that is where the drift I found later lives.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architecture</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Their pipeline figure, and what actually goes in and comes out.</a:t>
            </a:r>
          </a:p>
        </p:txBody>
      </p:sp>
      <p:pic>
        <p:nvPicPr>
          <p:cNvPr id="4" name="Picture 3" descr="pipeline_v4_png.png"/>
          <p:cNvPicPr>
            <a:picLocks noChangeAspect="1"/>
          </p:cNvPicPr>
          <p:nvPr/>
        </p:nvPicPr>
        <p:blipFill>
          <a:blip r:embed="rId2"/>
          <a:stretch>
            <a:fillRect/>
          </a:stretch>
        </p:blipFill>
        <p:spPr>
          <a:xfrm>
            <a:off x="548640" y="1463040"/>
            <a:ext cx="5669280" cy="3148526"/>
          </a:xfrm>
          <a:prstGeom prst="rect">
            <a:avLst/>
          </a:prstGeom>
        </p:spPr>
      </p:pic>
      <p:sp>
        <p:nvSpPr>
          <p:cNvPr id="5" name="Rounded Rectangle 4"/>
          <p:cNvSpPr/>
          <p:nvPr/>
        </p:nvSpPr>
        <p:spPr>
          <a:xfrm>
            <a:off x="6446520" y="1463040"/>
            <a:ext cx="5166360" cy="16916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39128" y="1627632"/>
            <a:ext cx="4617720" cy="411480"/>
          </a:xfrm>
          <a:prstGeom prst="rect">
            <a:avLst/>
          </a:prstGeom>
          <a:noFill/>
        </p:spPr>
        <p:txBody>
          <a:bodyPr wrap="square">
            <a:spAutoFit/>
          </a:bodyPr>
          <a:lstStyle/>
          <a:p>
            <a:pPr algn="l">
              <a:lnSpc>
                <a:spcPct val="100000"/>
              </a:lnSpc>
            </a:pPr>
            <a:r>
              <a:rPr sz="1600" b="1" i="0">
                <a:solidFill>
                  <a:srgbClr val="0F7A6B"/>
                </a:solidFill>
                <a:latin typeface="Calibri"/>
              </a:rPr>
              <a:t>In: four things per frame</a:t>
            </a:r>
          </a:p>
        </p:txBody>
      </p:sp>
      <p:sp>
        <p:nvSpPr>
          <p:cNvPr id="7" name="TextBox 6"/>
          <p:cNvSpPr txBox="1"/>
          <p:nvPr/>
        </p:nvSpPr>
        <p:spPr>
          <a:xfrm>
            <a:off x="6739128" y="2121408"/>
            <a:ext cx="4581144" cy="905256"/>
          </a:xfrm>
          <a:prstGeom prst="rect">
            <a:avLst/>
          </a:prstGeom>
          <a:noFill/>
        </p:spPr>
        <p:txBody>
          <a:bodyPr wrap="square">
            <a:spAutoFit/>
          </a:bodyPr>
          <a:lstStyle/>
          <a:p>
            <a:pPr algn="l">
              <a:lnSpc>
                <a:spcPct val="125000"/>
              </a:lnSpc>
            </a:pPr>
            <a:r>
              <a:rPr sz="1050" b="0" i="0">
                <a:solidFill>
                  <a:srgbClr val="22252A"/>
                </a:solidFill>
                <a:latin typeface="Calibri"/>
              </a:rPr>
              <a:t>A person box from YOLOv8 · 2D keypoints from ViTPose · image features from HMR2's frozen encoder · the camera rotation, from visual odometry (DPVO) — or, with the -s flag I use, assumed static.</a:t>
            </a:r>
          </a:p>
        </p:txBody>
      </p:sp>
      <p:sp>
        <p:nvSpPr>
          <p:cNvPr id="8" name="Rounded Rectangle 7"/>
          <p:cNvSpPr/>
          <p:nvPr/>
        </p:nvSpPr>
        <p:spPr>
          <a:xfrm>
            <a:off x="6446520" y="3246120"/>
            <a:ext cx="5166360" cy="164592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39128" y="3410712"/>
            <a:ext cx="4617720" cy="411480"/>
          </a:xfrm>
          <a:prstGeom prst="rect">
            <a:avLst/>
          </a:prstGeom>
          <a:noFill/>
        </p:spPr>
        <p:txBody>
          <a:bodyPr wrap="square">
            <a:spAutoFit/>
          </a:bodyPr>
          <a:lstStyle/>
          <a:p>
            <a:pPr algn="l">
              <a:lnSpc>
                <a:spcPct val="100000"/>
              </a:lnSpc>
            </a:pPr>
            <a:r>
              <a:rPr sz="1600" b="1" i="0">
                <a:solidFill>
                  <a:srgbClr val="1B2A3A"/>
                </a:solidFill>
                <a:latin typeface="Calibri"/>
              </a:rPr>
              <a:t>The network</a:t>
            </a:r>
          </a:p>
        </p:txBody>
      </p:sp>
      <p:sp>
        <p:nvSpPr>
          <p:cNvPr id="10" name="TextBox 9"/>
          <p:cNvSpPr txBox="1"/>
          <p:nvPr/>
        </p:nvSpPr>
        <p:spPr>
          <a:xfrm>
            <a:off x="6739128" y="3904487"/>
            <a:ext cx="4581144" cy="859536"/>
          </a:xfrm>
          <a:prstGeom prst="rect">
            <a:avLst/>
          </a:prstGeom>
          <a:noFill/>
        </p:spPr>
        <p:txBody>
          <a:bodyPr wrap="square">
            <a:spAutoFit/>
          </a:bodyPr>
          <a:lstStyle/>
          <a:p>
            <a:pPr algn="l">
              <a:lnSpc>
                <a:spcPct val="125000"/>
              </a:lnSpc>
            </a:pPr>
            <a:r>
              <a:rPr sz="1000" b="0" i="0">
                <a:solidFill>
                  <a:srgbClr val="22252A"/>
                </a:solidFill>
                <a:latin typeface="Calibri"/>
              </a:rPr>
              <a:t>A 12-layer transformer encoder, 8 heads, width 512, rotary position encoding. The whole clip goes in at once, not frame by frame; at inference each frame attends ±120 neighbours.</a:t>
            </a:r>
          </a:p>
        </p:txBody>
      </p:sp>
      <p:sp>
        <p:nvSpPr>
          <p:cNvPr id="11" name="Rounded Rectangle 10"/>
          <p:cNvSpPr/>
          <p:nvPr/>
        </p:nvSpPr>
        <p:spPr>
          <a:xfrm>
            <a:off x="566928" y="4983480"/>
            <a:ext cx="11064240" cy="160020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5148072"/>
            <a:ext cx="10515600" cy="411480"/>
          </a:xfrm>
          <a:prstGeom prst="rect">
            <a:avLst/>
          </a:prstGeom>
          <a:noFill/>
        </p:spPr>
        <p:txBody>
          <a:bodyPr wrap="square">
            <a:spAutoFit/>
          </a:bodyPr>
          <a:lstStyle/>
          <a:p>
            <a:pPr algn="l">
              <a:lnSpc>
                <a:spcPct val="100000"/>
              </a:lnSpc>
            </a:pPr>
            <a:r>
              <a:rPr sz="1600" b="1" i="0">
                <a:solidFill>
                  <a:srgbClr val="B8862E"/>
                </a:solidFill>
                <a:latin typeface="Calibri"/>
              </a:rPr>
              <a:t>Out: per frame</a:t>
            </a:r>
          </a:p>
        </p:txBody>
      </p:sp>
      <p:sp>
        <p:nvSpPr>
          <p:cNvPr id="13" name="TextBox 12"/>
          <p:cNvSpPr txBox="1"/>
          <p:nvPr/>
        </p:nvSpPr>
        <p:spPr>
          <a:xfrm>
            <a:off x="859536" y="5641848"/>
            <a:ext cx="10479024" cy="813816"/>
          </a:xfrm>
          <a:prstGeom prst="rect">
            <a:avLst/>
          </a:prstGeom>
          <a:noFill/>
        </p:spPr>
        <p:txBody>
          <a:bodyPr wrap="square">
            <a:spAutoFit/>
          </a:bodyPr>
          <a:lstStyle/>
          <a:p>
            <a:pPr algn="l">
              <a:lnSpc>
                <a:spcPct val="125000"/>
              </a:lnSpc>
            </a:pPr>
            <a:r>
              <a:rPr sz="1250" b="0" i="0">
                <a:solidFill>
                  <a:srgbClr val="22252A"/>
                </a:solidFill>
                <a:latin typeface="Calibri"/>
              </a:rPr>
              <a:t>SMPL-X body pose and shape · the body's orientation in Gravity-View coordinates · a root velocity · and a "stationary" probability for hands, toes and heels. Velocity is integrated into a world trajectory; the stationary joints are then used to pull sliding feet back into place.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they measured</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World-grounded accuracy on in-the-wild benchmarks, against WHAM — the previous best.</a:t>
            </a:r>
          </a:p>
        </p:txBody>
      </p:sp>
      <p:pic>
        <p:nvPicPr>
          <p:cNvPr id="4" name="Picture 3" descr="table1.png"/>
          <p:cNvPicPr>
            <a:picLocks noChangeAspect="1"/>
          </p:cNvPicPr>
          <p:nvPr/>
        </p:nvPicPr>
        <p:blipFill>
          <a:blip r:embed="rId2"/>
          <a:stretch>
            <a:fillRect/>
          </a:stretch>
        </p:blipFill>
        <p:spPr>
          <a:xfrm>
            <a:off x="548640" y="1463040"/>
            <a:ext cx="5669280" cy="1655957"/>
          </a:xfrm>
          <a:prstGeom prst="rect">
            <a:avLst/>
          </a:prstGeom>
        </p:spPr>
      </p:pic>
      <p:sp>
        <p:nvSpPr>
          <p:cNvPr id="5" name="TextBox 4"/>
          <p:cNvSpPr txBox="1"/>
          <p:nvPr/>
        </p:nvSpPr>
        <p:spPr>
          <a:xfrm>
            <a:off x="566928" y="3200400"/>
            <a:ext cx="5669280" cy="320040"/>
          </a:xfrm>
          <a:prstGeom prst="rect">
            <a:avLst/>
          </a:prstGeom>
          <a:noFill/>
        </p:spPr>
        <p:txBody>
          <a:bodyPr wrap="square">
            <a:spAutoFit/>
          </a:bodyPr>
          <a:lstStyle/>
          <a:p>
            <a:pPr algn="ctr">
              <a:lnSpc>
                <a:spcPct val="100000"/>
              </a:lnSpc>
            </a:pPr>
            <a:r>
              <a:rPr sz="1200" b="0" i="1">
                <a:solidFill>
                  <a:srgbClr val="5A6068"/>
                </a:solidFill>
                <a:latin typeface="Calibri"/>
              </a:rPr>
              <a:t>Table 1 of the paper (EMDB and RICH, world-grounded metrics).</a:t>
            </a:r>
          </a:p>
        </p:txBody>
      </p:sp>
      <p:sp>
        <p:nvSpPr>
          <p:cNvPr id="6" name="Rounded Rectangle 5"/>
          <p:cNvSpPr/>
          <p:nvPr/>
        </p:nvSpPr>
        <p:spPr>
          <a:xfrm>
            <a:off x="6446520" y="1463040"/>
            <a:ext cx="5166360" cy="25146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39128" y="1627632"/>
            <a:ext cx="4617720" cy="411480"/>
          </a:xfrm>
          <a:prstGeom prst="rect">
            <a:avLst/>
          </a:prstGeom>
          <a:noFill/>
        </p:spPr>
        <p:txBody>
          <a:bodyPr wrap="square">
            <a:spAutoFit/>
          </a:bodyPr>
          <a:lstStyle/>
          <a:p>
            <a:pPr algn="l">
              <a:lnSpc>
                <a:spcPct val="100000"/>
              </a:lnSpc>
            </a:pPr>
            <a:r>
              <a:rPr sz="1600" b="1" i="0">
                <a:solidFill>
                  <a:srgbClr val="0F7A6B"/>
                </a:solidFill>
                <a:latin typeface="Calibri"/>
              </a:rPr>
              <a:t>The headline row (EMDB)</a:t>
            </a:r>
          </a:p>
        </p:txBody>
      </p:sp>
      <p:sp>
        <p:nvSpPr>
          <p:cNvPr id="8" name="TextBox 7"/>
          <p:cNvSpPr txBox="1"/>
          <p:nvPr/>
        </p:nvSpPr>
        <p:spPr>
          <a:xfrm>
            <a:off x="6739128" y="2121408"/>
            <a:ext cx="4581144" cy="1728216"/>
          </a:xfrm>
          <a:prstGeom prst="rect">
            <a:avLst/>
          </a:prstGeom>
          <a:noFill/>
        </p:spPr>
        <p:txBody>
          <a:bodyPr wrap="square">
            <a:spAutoFit/>
          </a:bodyPr>
          <a:lstStyle/>
          <a:p>
            <a:pPr algn="l">
              <a:lnSpc>
                <a:spcPct val="125000"/>
              </a:lnSpc>
            </a:pPr>
            <a:r>
              <a:rPr sz="1150" b="0" i="0">
                <a:solidFill>
                  <a:srgbClr val="22252A"/>
                </a:solidFill>
                <a:latin typeface="Calibri"/>
              </a:rPr>
              <a:t>Joint error over 100-frame windows: 274.9 mm vs WHAM's 335.3 mm.</a:t>
            </a:r>
          </a:p>
          <a:p>
            <a:pPr algn="l">
              <a:lnSpc>
                <a:spcPct val="125000"/>
              </a:lnSpc>
            </a:pPr>
            <a:r>
              <a:rPr sz="1150" b="0" i="0">
                <a:solidFill>
                  <a:srgbClr val="22252A"/>
                </a:solidFill>
                <a:latin typeface="Calibri"/>
              </a:rPr>
              <a:t>Trajectory error: 1.9 % vs 4.1 %.</a:t>
            </a:r>
          </a:p>
          <a:p>
            <a:pPr algn="l">
              <a:lnSpc>
                <a:spcPct val="125000"/>
              </a:lnSpc>
            </a:pPr>
            <a:r>
              <a:rPr sz="1150" b="0" i="0">
                <a:solidFill>
                  <a:srgbClr val="22252A"/>
                </a:solidFill>
                <a:latin typeface="Calibri"/>
              </a:rPr>
              <a:t>Jitter: 16.5 vs 21.0.</a:t>
            </a:r>
          </a:p>
          <a:p>
            <a:pPr algn="l">
              <a:lnSpc>
                <a:spcPct val="125000"/>
              </a:lnSpc>
            </a:pPr>
            <a:r>
              <a:rPr sz="1150" b="0" i="0">
                <a:solidFill>
                  <a:srgbClr val="22252A"/>
                </a:solidFill>
                <a:latin typeface="Calibri"/>
              </a:rPr>
              <a:t>In camera space (3DPW) the two are a wash — 36.2 vs 35.9 mm. The gain is all in the world frame, which is the frame a robot lives in.</a:t>
            </a:r>
          </a:p>
        </p:txBody>
      </p:sp>
      <p:sp>
        <p:nvSpPr>
          <p:cNvPr id="9" name="Rounded Rectangle 8"/>
          <p:cNvSpPr/>
          <p:nvPr/>
        </p:nvSpPr>
        <p:spPr>
          <a:xfrm>
            <a:off x="566928" y="4206240"/>
            <a:ext cx="5486400" cy="22402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4370831"/>
            <a:ext cx="4937760" cy="411480"/>
          </a:xfrm>
          <a:prstGeom prst="rect">
            <a:avLst/>
          </a:prstGeom>
          <a:noFill/>
        </p:spPr>
        <p:txBody>
          <a:bodyPr wrap="square">
            <a:spAutoFit/>
          </a:bodyPr>
          <a:lstStyle/>
          <a:p>
            <a:pPr algn="l">
              <a:lnSpc>
                <a:spcPct val="100000"/>
              </a:lnSpc>
            </a:pPr>
            <a:r>
              <a:rPr sz="1600" b="1" i="0">
                <a:solidFill>
                  <a:srgbClr val="1B2A3A"/>
                </a:solidFill>
                <a:latin typeface="Calibri"/>
              </a:rPr>
              <a:t>Cost</a:t>
            </a:r>
          </a:p>
        </p:txBody>
      </p:sp>
      <p:sp>
        <p:nvSpPr>
          <p:cNvPr id="11" name="TextBox 10"/>
          <p:cNvSpPr txBox="1"/>
          <p:nvPr/>
        </p:nvSpPr>
        <p:spPr>
          <a:xfrm>
            <a:off x="859536" y="4864607"/>
            <a:ext cx="4901184" cy="1453896"/>
          </a:xfrm>
          <a:prstGeom prst="rect">
            <a:avLst/>
          </a:prstGeom>
          <a:noFill/>
        </p:spPr>
        <p:txBody>
          <a:bodyPr wrap="square">
            <a:spAutoFit/>
          </a:bodyPr>
          <a:lstStyle/>
          <a:p>
            <a:pPr algn="l">
              <a:lnSpc>
                <a:spcPct val="125000"/>
              </a:lnSpc>
            </a:pPr>
            <a:r>
              <a:rPr sz="1350" b="0" i="0">
                <a:solidFill>
                  <a:srgbClr val="22252A"/>
                </a:solidFill>
                <a:latin typeface="Calibri"/>
              </a:rPr>
              <a:t>Trained on AMASS, BEDLAM, H36M and 3DPW: 420 epochs, 13 hours on two RTX 4090s. Inference: 280 ms for a 45-second clip on one 4090 — the transformer is cheap; the detectors in front of it are not.</a:t>
            </a:r>
          </a:p>
        </p:txBody>
      </p:sp>
      <p:sp>
        <p:nvSpPr>
          <p:cNvPr id="12" name="Rounded Rectangle 11"/>
          <p:cNvSpPr/>
          <p:nvPr/>
        </p:nvSpPr>
        <p:spPr>
          <a:xfrm>
            <a:off x="6190488" y="4206240"/>
            <a:ext cx="5440680" cy="224028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83096" y="4370831"/>
            <a:ext cx="4892040" cy="411480"/>
          </a:xfrm>
          <a:prstGeom prst="rect">
            <a:avLst/>
          </a:prstGeom>
          <a:noFill/>
        </p:spPr>
        <p:txBody>
          <a:bodyPr wrap="square">
            <a:spAutoFit/>
          </a:bodyPr>
          <a:lstStyle/>
          <a:p>
            <a:pPr algn="l">
              <a:lnSpc>
                <a:spcPct val="100000"/>
              </a:lnSpc>
            </a:pPr>
            <a:r>
              <a:rPr sz="1600" b="1" i="0">
                <a:solidFill>
                  <a:srgbClr val="B8862E"/>
                </a:solidFill>
                <a:latin typeface="Calibri"/>
              </a:rPr>
              <a:t>Why it is the right stage for us</a:t>
            </a:r>
          </a:p>
        </p:txBody>
      </p:sp>
      <p:sp>
        <p:nvSpPr>
          <p:cNvPr id="14" name="TextBox 13"/>
          <p:cNvSpPr txBox="1"/>
          <p:nvPr/>
        </p:nvSpPr>
        <p:spPr>
          <a:xfrm>
            <a:off x="6483096" y="4864607"/>
            <a:ext cx="4855464" cy="1453896"/>
          </a:xfrm>
          <a:prstGeom prst="rect">
            <a:avLst/>
          </a:prstGeom>
          <a:noFill/>
        </p:spPr>
        <p:txBody>
          <a:bodyPr wrap="square">
            <a:spAutoFit/>
          </a:bodyPr>
          <a:lstStyle/>
          <a:p>
            <a:pPr algn="l">
              <a:lnSpc>
                <a:spcPct val="125000"/>
              </a:lnSpc>
            </a:pPr>
            <a:r>
              <a:rPr sz="1400" b="0" i="0">
                <a:solidFill>
                  <a:srgbClr val="22252A"/>
                </a:solidFill>
                <a:latin typeface="Calibri"/>
              </a:rPr>
              <a:t>It writes SMPL-X parameters. GMR already reads SMPL-X — the same smplx_to_r1.json that ran OMOMO in week 26. So the join needs no new retargeting config, only a loader.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2</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The repo</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github.com/zju3dv/GVHMR — what is inside, and what it needs</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Cloned at commit ee960bb (2026-09-15).  Everything on the next three slides is the real tree and the real file sizes.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is in the repo</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folders that matter for running it, from the actual clone.</a:t>
            </a:r>
          </a:p>
        </p:txBody>
      </p:sp>
      <p:sp>
        <p:nvSpPr>
          <p:cNvPr id="4" name="Rounded Rectangle 3"/>
          <p:cNvSpPr/>
          <p:nvPr/>
        </p:nvSpPr>
        <p:spPr>
          <a:xfrm>
            <a:off x="566928" y="1417320"/>
            <a:ext cx="5760720" cy="521208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527048"/>
            <a:ext cx="5303520" cy="256032"/>
          </a:xfrm>
          <a:prstGeom prst="rect">
            <a:avLst/>
          </a:prstGeom>
          <a:noFill/>
        </p:spPr>
        <p:txBody>
          <a:bodyPr wrap="square">
            <a:spAutoFit/>
          </a:bodyPr>
          <a:lstStyle/>
          <a:p>
            <a:pPr algn="l">
              <a:lnSpc>
                <a:spcPct val="100000"/>
              </a:lnSpc>
            </a:pPr>
            <a:r>
              <a:rPr sz="1100" b="0" i="0">
                <a:solidFill>
                  <a:srgbClr val="7F93A6"/>
                </a:solidFill>
                <a:latin typeface="Consolas"/>
              </a:rPr>
              <a:t>~/GVHMR — the folders that matter, ls -C</a:t>
            </a:r>
          </a:p>
        </p:txBody>
      </p:sp>
      <p:sp>
        <p:nvSpPr>
          <p:cNvPr id="6" name="TextBox 5"/>
          <p:cNvSpPr txBox="1"/>
          <p:nvPr/>
        </p:nvSpPr>
        <p:spPr>
          <a:xfrm>
            <a:off x="786384" y="1819656"/>
            <a:ext cx="5303520" cy="4645152"/>
          </a:xfrm>
          <a:prstGeom prst="rect">
            <a:avLst/>
          </a:prstGeom>
          <a:noFill/>
        </p:spPr>
        <p:txBody>
          <a:bodyPr wrap="square">
            <a:spAutoFit/>
          </a:bodyPr>
          <a:lstStyle/>
          <a:p>
            <a:pPr algn="l">
              <a:lnSpc>
                <a:spcPct val="106000"/>
              </a:lnSpc>
            </a:pPr>
            <a:r>
              <a:rPr sz="900" b="0" i="0">
                <a:solidFill>
                  <a:srgbClr val="DDE4EC"/>
                </a:solidFill>
                <a:latin typeface="Consolas"/>
              </a:rPr>
              <a:t>$ cd ~/GVHMR &amp;&amp; ls -C -w 62 -I '*.egg-info'</a:t>
            </a:r>
          </a:p>
          <a:p>
            <a:pPr algn="l">
              <a:lnSpc>
                <a:spcPct val="106000"/>
              </a:lnSpc>
            </a:pPr>
            <a:r>
              <a:rPr sz="900" b="0" i="0">
                <a:solidFill>
                  <a:srgbClr val="DDE4EC"/>
                </a:solidFill>
                <a:latin typeface="Consolas"/>
              </a:rPr>
              <a:t>LICENSE    hmr4d    pyproject.toml	setup.py</a:t>
            </a:r>
          </a:p>
          <a:p>
            <a:pPr algn="l">
              <a:lnSpc>
                <a:spcPct val="106000"/>
              </a:lnSpc>
            </a:pPr>
            <a:r>
              <a:rPr sz="900" b="0" i="0">
                <a:solidFill>
                  <a:srgbClr val="DDE4EC"/>
                </a:solidFill>
                <a:latin typeface="Consolas"/>
              </a:rPr>
              <a:t>README.md  inputs   pyrightconfig.json	third-party</a:t>
            </a:r>
          </a:p>
          <a:p>
            <a:pPr algn="l">
              <a:lnSpc>
                <a:spcPct val="106000"/>
              </a:lnSpc>
            </a:pPr>
            <a:r>
              <a:rPr sz="900" b="0" i="0">
                <a:solidFill>
                  <a:srgbClr val="DDE4EC"/>
                </a:solidFill>
                <a:latin typeface="Consolas"/>
              </a:rPr>
              <a:t>docs	   outputs  requirements.txt	tools</a:t>
            </a:r>
          </a:p>
          <a:p>
            <a:pPr algn="l">
              <a:lnSpc>
                <a:spcPct val="106000"/>
              </a:lnSpc>
            </a:pPr>
          </a:p>
          <a:p>
            <a:pPr algn="l">
              <a:lnSpc>
                <a:spcPct val="106000"/>
              </a:lnSpc>
            </a:pPr>
            <a:r>
              <a:rPr sz="900" b="0" i="0">
                <a:solidFill>
                  <a:srgbClr val="DDE4EC"/>
                </a:solidFill>
                <a:latin typeface="Consolas"/>
              </a:rPr>
              <a:t>$ ls -C -w 62 -I __pycache__ hmr4d hmr4d/network hmr4d/utils/preproc</a:t>
            </a:r>
          </a:p>
          <a:p>
            <a:pPr algn="l">
              <a:lnSpc>
                <a:spcPct val="106000"/>
              </a:lnSpc>
            </a:pPr>
            <a:r>
              <a:rPr sz="900" b="0" i="0">
                <a:solidFill>
                  <a:srgbClr val="DDE4EC"/>
                </a:solidFill>
                <a:latin typeface="Consolas"/>
              </a:rPr>
              <a:t>hmr4d:</a:t>
            </a:r>
          </a:p>
          <a:p>
            <a:pPr algn="l">
              <a:lnSpc>
                <a:spcPct val="106000"/>
              </a:lnSpc>
            </a:pPr>
            <a:r>
              <a:rPr sz="900" b="0" i="0">
                <a:solidFill>
                  <a:srgbClr val="DDE4EC"/>
                </a:solidFill>
                <a:latin typeface="Consolas"/>
              </a:rPr>
              <a:t>__init__.py	configs     dataset  network</a:t>
            </a:r>
          </a:p>
          <a:p>
            <a:pPr algn="l">
              <a:lnSpc>
                <a:spcPct val="106000"/>
              </a:lnSpc>
            </a:pPr>
            <a:r>
              <a:rPr sz="900" b="0" i="0">
                <a:solidFill>
                  <a:srgbClr val="DDE4EC"/>
                </a:solidFill>
                <a:latin typeface="Consolas"/>
              </a:rPr>
              <a:t>build_gvhmr.py	datamodule  model    utils</a:t>
            </a:r>
          </a:p>
          <a:p>
            <a:pPr algn="l">
              <a:lnSpc>
                <a:spcPct val="106000"/>
              </a:lnSpc>
            </a:pPr>
          </a:p>
          <a:p>
            <a:pPr algn="l">
              <a:lnSpc>
                <a:spcPct val="106000"/>
              </a:lnSpc>
            </a:pPr>
            <a:r>
              <a:rPr sz="900" b="0" i="0">
                <a:solidFill>
                  <a:srgbClr val="DDE4EC"/>
                </a:solidFill>
                <a:latin typeface="Consolas"/>
              </a:rPr>
              <a:t>hmr4d/network:</a:t>
            </a:r>
          </a:p>
          <a:p>
            <a:pPr algn="l">
              <a:lnSpc>
                <a:spcPct val="106000"/>
              </a:lnSpc>
            </a:pPr>
            <a:r>
              <a:rPr sz="900" b="0" i="0">
                <a:solidFill>
                  <a:srgbClr val="DDE4EC"/>
                </a:solidFill>
                <a:latin typeface="Consolas"/>
              </a:rPr>
              <a:t>base_arch  gvhmr  hmr2</a:t>
            </a:r>
          </a:p>
          <a:p>
            <a:pPr algn="l">
              <a:lnSpc>
                <a:spcPct val="106000"/>
              </a:lnSpc>
            </a:pPr>
          </a:p>
          <a:p>
            <a:pPr algn="l">
              <a:lnSpc>
                <a:spcPct val="106000"/>
              </a:lnSpc>
            </a:pPr>
            <a:r>
              <a:rPr sz="900" b="0" i="0">
                <a:solidFill>
                  <a:srgbClr val="DDE4EC"/>
                </a:solidFill>
                <a:latin typeface="Consolas"/>
              </a:rPr>
              <a:t>hmr4d/utils/preproc:</a:t>
            </a:r>
          </a:p>
          <a:p>
            <a:pPr algn="l">
              <a:lnSpc>
                <a:spcPct val="106000"/>
              </a:lnSpc>
            </a:pPr>
            <a:r>
              <a:rPr sz="900" b="0" i="0">
                <a:solidFill>
                  <a:srgbClr val="DDE4EC"/>
                </a:solidFill>
                <a:latin typeface="Consolas"/>
              </a:rPr>
              <a:t>__init__.py  tracker.py		   vitpose_pytorch</a:t>
            </a:r>
          </a:p>
          <a:p>
            <a:pPr algn="l">
              <a:lnSpc>
                <a:spcPct val="106000"/>
              </a:lnSpc>
            </a:pPr>
            <a:r>
              <a:rPr sz="900" b="0" i="0">
                <a:solidFill>
                  <a:srgbClr val="DDE4EC"/>
                </a:solidFill>
                <a:latin typeface="Consolas"/>
              </a:rPr>
              <a:t>relpose      vitfeat_extractor.py</a:t>
            </a:r>
          </a:p>
          <a:p>
            <a:pPr algn="l">
              <a:lnSpc>
                <a:spcPct val="106000"/>
              </a:lnSpc>
            </a:pPr>
            <a:r>
              <a:rPr sz="900" b="0" i="0">
                <a:solidFill>
                  <a:srgbClr val="DDE4EC"/>
                </a:solidFill>
                <a:latin typeface="Consolas"/>
              </a:rPr>
              <a:t>slam.py      vitpose.py</a:t>
            </a:r>
          </a:p>
          <a:p>
            <a:pPr algn="l">
              <a:lnSpc>
                <a:spcPct val="106000"/>
              </a:lnSpc>
            </a:pPr>
          </a:p>
          <a:p>
            <a:pPr algn="l">
              <a:lnSpc>
                <a:spcPct val="106000"/>
              </a:lnSpc>
            </a:pPr>
            <a:r>
              <a:rPr sz="900" b="0" i="0">
                <a:solidFill>
                  <a:srgbClr val="DDE4EC"/>
                </a:solidFill>
                <a:latin typeface="Consolas"/>
              </a:rPr>
              <a:t>$ ls -C -w 62 tools/demo inputs/checkpoints</a:t>
            </a:r>
          </a:p>
          <a:p>
            <a:pPr algn="l">
              <a:lnSpc>
                <a:spcPct val="106000"/>
              </a:lnSpc>
            </a:pPr>
            <a:r>
              <a:rPr sz="900" b="0" i="0">
                <a:solidFill>
                  <a:srgbClr val="DDE4EC"/>
                </a:solidFill>
                <a:latin typeface="Consolas"/>
              </a:rPr>
              <a:t>inputs/checkpoints:</a:t>
            </a:r>
          </a:p>
          <a:p>
            <a:pPr algn="l">
              <a:lnSpc>
                <a:spcPct val="106000"/>
              </a:lnSpc>
            </a:pPr>
            <a:r>
              <a:rPr sz="900" b="0" i="0">
                <a:solidFill>
                  <a:srgbClr val="DDE4EC"/>
                </a:solidFill>
                <a:latin typeface="Consolas"/>
              </a:rPr>
              <a:t>body_models  dpvo   hmr2     vitpose</a:t>
            </a:r>
          </a:p>
          <a:p>
            <a:pPr algn="l">
              <a:lnSpc>
                <a:spcPct val="106000"/>
              </a:lnSpc>
            </a:pPr>
            <a:r>
              <a:rPr sz="900" b="0" i="0">
                <a:solidFill>
                  <a:srgbClr val="DDE4EC"/>
                </a:solidFill>
                <a:latin typeface="Consolas"/>
              </a:rPr>
              <a:t>checkpoints  gvhmr  ids.txt  yolo</a:t>
            </a:r>
          </a:p>
          <a:p>
            <a:pPr algn="l">
              <a:lnSpc>
                <a:spcPct val="106000"/>
              </a:lnSpc>
            </a:pPr>
          </a:p>
          <a:p>
            <a:pPr algn="l">
              <a:lnSpc>
                <a:spcPct val="106000"/>
              </a:lnSpc>
            </a:pPr>
            <a:r>
              <a:rPr sz="900" b="0" i="0">
                <a:solidFill>
                  <a:srgbClr val="DDE4EC"/>
                </a:solidFill>
                <a:latin typeface="Consolas"/>
              </a:rPr>
              <a:t>tools/demo:</a:t>
            </a:r>
          </a:p>
          <a:p>
            <a:pPr algn="l">
              <a:lnSpc>
                <a:spcPct val="106000"/>
              </a:lnSpc>
            </a:pPr>
            <a:r>
              <a:rPr sz="900" b="0" i="0">
                <a:solidFill>
                  <a:srgbClr val="DDE4EC"/>
                </a:solidFill>
                <a:latin typeface="Consolas"/>
              </a:rPr>
              <a:t>colab_demo.ipynb  demo.py  demo_folder.py</a:t>
            </a:r>
          </a:p>
        </p:txBody>
      </p:sp>
      <p:sp>
        <p:nvSpPr>
          <p:cNvPr id="7" name="Rounded Rectangle 6"/>
          <p:cNvSpPr/>
          <p:nvPr/>
        </p:nvSpPr>
        <p:spPr>
          <a:xfrm>
            <a:off x="6537960" y="1463040"/>
            <a:ext cx="5074920" cy="141732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30568" y="1627632"/>
            <a:ext cx="4526280" cy="411480"/>
          </a:xfrm>
          <a:prstGeom prst="rect">
            <a:avLst/>
          </a:prstGeom>
          <a:noFill/>
        </p:spPr>
        <p:txBody>
          <a:bodyPr wrap="square">
            <a:spAutoFit/>
          </a:bodyPr>
          <a:lstStyle/>
          <a:p>
            <a:pPr algn="l">
              <a:lnSpc>
                <a:spcPct val="100000"/>
              </a:lnSpc>
            </a:pPr>
            <a:r>
              <a:rPr sz="1600" b="1" i="0">
                <a:solidFill>
                  <a:srgbClr val="0F7A6B"/>
                </a:solidFill>
                <a:latin typeface="Calibri"/>
              </a:rPr>
              <a:t>hmr4d/</a:t>
            </a:r>
          </a:p>
        </p:txBody>
      </p:sp>
      <p:sp>
        <p:nvSpPr>
          <p:cNvPr id="9" name="TextBox 8"/>
          <p:cNvSpPr txBox="1"/>
          <p:nvPr/>
        </p:nvSpPr>
        <p:spPr>
          <a:xfrm>
            <a:off x="6830568" y="2121408"/>
            <a:ext cx="4489704" cy="630936"/>
          </a:xfrm>
          <a:prstGeom prst="rect">
            <a:avLst/>
          </a:prstGeom>
          <a:noFill/>
        </p:spPr>
        <p:txBody>
          <a:bodyPr wrap="square">
            <a:spAutoFit/>
          </a:bodyPr>
          <a:lstStyle/>
          <a:p>
            <a:pPr algn="l">
              <a:lnSpc>
                <a:spcPct val="125000"/>
              </a:lnSpc>
            </a:pPr>
            <a:r>
              <a:rPr sz="950" b="0" i="0">
                <a:solidFill>
                  <a:srgbClr val="22252A"/>
                </a:solidFill>
                <a:latin typeface="Calibri"/>
              </a:rPr>
              <a:t>The model. network/ holds the transformer and the HMR2 encoder; utils/preproc/ holds YOLO, ViTPose and the feature extractor; configs/ is Hydra.</a:t>
            </a:r>
          </a:p>
        </p:txBody>
      </p:sp>
      <p:sp>
        <p:nvSpPr>
          <p:cNvPr id="10" name="Rounded Rectangle 9"/>
          <p:cNvSpPr/>
          <p:nvPr/>
        </p:nvSpPr>
        <p:spPr>
          <a:xfrm>
            <a:off x="6537960" y="2971800"/>
            <a:ext cx="5074920" cy="10972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30568" y="3136392"/>
            <a:ext cx="4526280" cy="411480"/>
          </a:xfrm>
          <a:prstGeom prst="rect">
            <a:avLst/>
          </a:prstGeom>
          <a:noFill/>
        </p:spPr>
        <p:txBody>
          <a:bodyPr wrap="square">
            <a:spAutoFit/>
          </a:bodyPr>
          <a:lstStyle/>
          <a:p>
            <a:pPr algn="l">
              <a:lnSpc>
                <a:spcPct val="100000"/>
              </a:lnSpc>
            </a:pPr>
            <a:r>
              <a:rPr sz="1600" b="1" i="0">
                <a:solidFill>
                  <a:srgbClr val="1B2A3A"/>
                </a:solidFill>
                <a:latin typeface="Calibri"/>
              </a:rPr>
              <a:t>tools/demo/demo.py</a:t>
            </a:r>
          </a:p>
        </p:txBody>
      </p:sp>
      <p:sp>
        <p:nvSpPr>
          <p:cNvPr id="12" name="TextBox 11"/>
          <p:cNvSpPr txBox="1"/>
          <p:nvPr/>
        </p:nvSpPr>
        <p:spPr>
          <a:xfrm>
            <a:off x="6830568" y="3630168"/>
            <a:ext cx="4489704" cy="310896"/>
          </a:xfrm>
          <a:prstGeom prst="rect">
            <a:avLst/>
          </a:prstGeom>
          <a:noFill/>
        </p:spPr>
        <p:txBody>
          <a:bodyPr wrap="square">
            <a:spAutoFit/>
          </a:bodyPr>
          <a:lstStyle/>
          <a:p>
            <a:pPr algn="l">
              <a:lnSpc>
                <a:spcPct val="125000"/>
              </a:lnSpc>
            </a:pPr>
            <a:r>
              <a:rPr sz="1000" b="0" i="0">
                <a:solidFill>
                  <a:srgbClr val="22252A"/>
                </a:solidFill>
                <a:latin typeface="Calibri"/>
              </a:rPr>
              <a:t>The one entry point I use: video in, hmr4d_results.pt out.</a:t>
            </a:r>
          </a:p>
        </p:txBody>
      </p:sp>
      <p:sp>
        <p:nvSpPr>
          <p:cNvPr id="13" name="Rounded Rectangle 12"/>
          <p:cNvSpPr/>
          <p:nvPr/>
        </p:nvSpPr>
        <p:spPr>
          <a:xfrm>
            <a:off x="6537960" y="4160520"/>
            <a:ext cx="5074920" cy="109728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30568" y="4325112"/>
            <a:ext cx="4526280" cy="411480"/>
          </a:xfrm>
          <a:prstGeom prst="rect">
            <a:avLst/>
          </a:prstGeom>
          <a:noFill/>
        </p:spPr>
        <p:txBody>
          <a:bodyPr wrap="square">
            <a:spAutoFit/>
          </a:bodyPr>
          <a:lstStyle/>
          <a:p>
            <a:pPr algn="l">
              <a:lnSpc>
                <a:spcPct val="100000"/>
              </a:lnSpc>
            </a:pPr>
            <a:r>
              <a:rPr sz="1600" b="1" i="0">
                <a:solidFill>
                  <a:srgbClr val="B8862E"/>
                </a:solidFill>
                <a:latin typeface="Calibri"/>
              </a:rPr>
              <a:t>inputs/checkpoints/</a:t>
            </a:r>
          </a:p>
        </p:txBody>
      </p:sp>
      <p:sp>
        <p:nvSpPr>
          <p:cNvPr id="15" name="TextBox 14"/>
          <p:cNvSpPr txBox="1"/>
          <p:nvPr/>
        </p:nvSpPr>
        <p:spPr>
          <a:xfrm>
            <a:off x="6830568" y="4818888"/>
            <a:ext cx="4489704" cy="310896"/>
          </a:xfrm>
          <a:prstGeom prst="rect">
            <a:avLst/>
          </a:prstGeom>
          <a:noFill/>
        </p:spPr>
        <p:txBody>
          <a:bodyPr wrap="square">
            <a:spAutoFit/>
          </a:bodyPr>
          <a:lstStyle/>
          <a:p>
            <a:pPr algn="l">
              <a:lnSpc>
                <a:spcPct val="125000"/>
              </a:lnSpc>
            </a:pPr>
            <a:r>
              <a:rPr sz="850" b="0" i="0">
                <a:solidFill>
                  <a:srgbClr val="22252A"/>
                </a:solidFill>
                <a:latin typeface="Calibri"/>
              </a:rPr>
              <a:t>Empty after the clone. Five weight files and the body models go here — you fetch them.</a:t>
            </a:r>
          </a:p>
        </p:txBody>
      </p:sp>
      <p:sp>
        <p:nvSpPr>
          <p:cNvPr id="16" name="Rounded Rectangle 15"/>
          <p:cNvSpPr/>
          <p:nvPr/>
        </p:nvSpPr>
        <p:spPr>
          <a:xfrm>
            <a:off x="6537960" y="5349240"/>
            <a:ext cx="5074920" cy="10972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30568" y="5513831"/>
            <a:ext cx="4526280" cy="411480"/>
          </a:xfrm>
          <a:prstGeom prst="rect">
            <a:avLst/>
          </a:prstGeom>
          <a:noFill/>
        </p:spPr>
        <p:txBody>
          <a:bodyPr wrap="square">
            <a:spAutoFit/>
          </a:bodyPr>
          <a:lstStyle/>
          <a:p>
            <a:pPr algn="l">
              <a:lnSpc>
                <a:spcPct val="100000"/>
              </a:lnSpc>
            </a:pPr>
            <a:r>
              <a:rPr sz="1600" b="1" i="0">
                <a:solidFill>
                  <a:srgbClr val="5A6068"/>
                </a:solidFill>
                <a:latin typeface="Calibri"/>
              </a:rPr>
              <a:t>third-party/DPVO</a:t>
            </a:r>
          </a:p>
        </p:txBody>
      </p:sp>
      <p:sp>
        <p:nvSpPr>
          <p:cNvPr id="18" name="TextBox 17"/>
          <p:cNvSpPr txBox="1"/>
          <p:nvPr/>
        </p:nvSpPr>
        <p:spPr>
          <a:xfrm>
            <a:off x="6830568" y="6007607"/>
            <a:ext cx="4489704" cy="310896"/>
          </a:xfrm>
          <a:prstGeom prst="rect">
            <a:avLst/>
          </a:prstGeom>
          <a:noFill/>
        </p:spPr>
        <p:txBody>
          <a:bodyPr wrap="square">
            <a:spAutoFit/>
          </a:bodyPr>
          <a:lstStyle/>
          <a:p>
            <a:pPr algn="l">
              <a:lnSpc>
                <a:spcPct val="125000"/>
              </a:lnSpc>
            </a:pPr>
            <a:r>
              <a:rPr sz="850" b="0" i="0">
                <a:solidFill>
                  <a:srgbClr val="22252A"/>
                </a:solidFill>
                <a:latin typeface="Calibri"/>
              </a:rPr>
              <a:t>Optional camera odometry for moving cameras. Skipped — I hold the phone still and pass -s.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spec: what it needs to run</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5.5 GB of weights, a pinned environment, and a 4 GB card that turned out to be enough.</a:t>
            </a:r>
          </a:p>
        </p:txBody>
      </p:sp>
      <p:sp>
        <p:nvSpPr>
          <p:cNvPr id="4" name="Rounded Rectangle 3"/>
          <p:cNvSpPr/>
          <p:nvPr/>
        </p:nvSpPr>
        <p:spPr>
          <a:xfrm>
            <a:off x="566928" y="1463040"/>
            <a:ext cx="6309360" cy="274320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572768"/>
            <a:ext cx="5852160" cy="256032"/>
          </a:xfrm>
          <a:prstGeom prst="rect">
            <a:avLst/>
          </a:prstGeom>
          <a:noFill/>
        </p:spPr>
        <p:txBody>
          <a:bodyPr wrap="square">
            <a:spAutoFit/>
          </a:bodyPr>
          <a:lstStyle/>
          <a:p>
            <a:pPr algn="l">
              <a:lnSpc>
                <a:spcPct val="100000"/>
              </a:lnSpc>
            </a:pPr>
            <a:r>
              <a:rPr sz="1100" b="0" i="0">
                <a:solidFill>
                  <a:srgbClr val="7F93A6"/>
                </a:solidFill>
                <a:latin typeface="Consolas"/>
              </a:rPr>
              <a:t>the weights, as downloaded</a:t>
            </a:r>
          </a:p>
        </p:txBody>
      </p:sp>
      <p:sp>
        <p:nvSpPr>
          <p:cNvPr id="6" name="TextBox 5"/>
          <p:cNvSpPr txBox="1"/>
          <p:nvPr/>
        </p:nvSpPr>
        <p:spPr>
          <a:xfrm>
            <a:off x="786384" y="1865376"/>
            <a:ext cx="5852160" cy="2176272"/>
          </a:xfrm>
          <a:prstGeom prst="rect">
            <a:avLst/>
          </a:prstGeom>
          <a:noFill/>
        </p:spPr>
        <p:txBody>
          <a:bodyPr wrap="square">
            <a:spAutoFit/>
          </a:bodyPr>
          <a:lstStyle/>
          <a:p>
            <a:pPr algn="l">
              <a:lnSpc>
                <a:spcPct val="106000"/>
              </a:lnSpc>
            </a:pPr>
            <a:r>
              <a:rPr sz="900" b="0" i="0">
                <a:solidFill>
                  <a:srgbClr val="DDE4EC"/>
                </a:solidFill>
                <a:latin typeface="Consolas"/>
              </a:rPr>
              <a:t>$ find inputs/checkpoints -type f | xargs ls -lh | awk '{print $5, $9}'</a:t>
            </a:r>
          </a:p>
          <a:p>
            <a:pPr algn="l">
              <a:lnSpc>
                <a:spcPct val="106000"/>
              </a:lnSpc>
            </a:pPr>
            <a:r>
              <a:rPr sz="900" b="0" i="0">
                <a:solidFill>
                  <a:srgbClr val="DDE4EC"/>
                </a:solidFill>
                <a:latin typeface="Consolas"/>
              </a:rPr>
              <a:t>104M inputs/checkpoints/body_models/smplx/SMPLX_FEMALE.npz</a:t>
            </a:r>
          </a:p>
          <a:p>
            <a:pPr algn="l">
              <a:lnSpc>
                <a:spcPct val="106000"/>
              </a:lnSpc>
            </a:pPr>
            <a:r>
              <a:rPr sz="900" b="0" i="0">
                <a:solidFill>
                  <a:srgbClr val="DDE4EC"/>
                </a:solidFill>
                <a:latin typeface="Consolas"/>
              </a:rPr>
              <a:t>104M inputs/checkpoints/body_models/smplx/SMPLX_MALE.npz</a:t>
            </a:r>
          </a:p>
          <a:p>
            <a:pPr algn="l">
              <a:lnSpc>
                <a:spcPct val="106000"/>
              </a:lnSpc>
            </a:pPr>
            <a:r>
              <a:rPr sz="900" b="0" i="0">
                <a:solidFill>
                  <a:srgbClr val="DDE4EC"/>
                </a:solidFill>
                <a:latin typeface="Consolas"/>
              </a:rPr>
              <a:t>104M inputs/checkpoints/body_models/smplx/SMPLX_NEUTRAL.npz</a:t>
            </a:r>
          </a:p>
          <a:p>
            <a:pPr algn="l">
              <a:lnSpc>
                <a:spcPct val="106000"/>
              </a:lnSpc>
            </a:pPr>
            <a:r>
              <a:rPr sz="900" b="0" i="0">
                <a:solidFill>
                  <a:srgbClr val="DDE4EC"/>
                </a:solidFill>
                <a:latin typeface="Consolas"/>
              </a:rPr>
              <a:t>14M inputs/checkpoints/dpvo/dpvo.pth</a:t>
            </a:r>
          </a:p>
          <a:p>
            <a:pPr algn="l">
              <a:lnSpc>
                <a:spcPct val="106000"/>
              </a:lnSpc>
            </a:pPr>
            <a:r>
              <a:rPr sz="900" b="0" i="0">
                <a:solidFill>
                  <a:srgbClr val="DDE4EC"/>
                </a:solidFill>
                <a:latin typeface="Consolas"/>
              </a:rPr>
              <a:t>156M inputs/checkpoints/gvhmr/gvhmr_siga24_release.ckpt</a:t>
            </a:r>
          </a:p>
          <a:p>
            <a:pPr algn="l">
              <a:lnSpc>
                <a:spcPct val="106000"/>
              </a:lnSpc>
            </a:pPr>
            <a:r>
              <a:rPr sz="900" b="0" i="0">
                <a:solidFill>
                  <a:srgbClr val="DDE4EC"/>
                </a:solidFill>
                <a:latin typeface="Consolas"/>
              </a:rPr>
              <a:t>2.6G inputs/checkpoints/hmr2/epoch=10-step=25000.ckpt</a:t>
            </a:r>
          </a:p>
          <a:p>
            <a:pPr algn="l">
              <a:lnSpc>
                <a:spcPct val="106000"/>
              </a:lnSpc>
            </a:pPr>
            <a:r>
              <a:rPr sz="900" b="0" i="0">
                <a:solidFill>
                  <a:srgbClr val="DDE4EC"/>
                </a:solidFill>
                <a:latin typeface="Consolas"/>
              </a:rPr>
              <a:t>295 inputs/checkpoints/ids.txt</a:t>
            </a:r>
          </a:p>
          <a:p>
            <a:pPr algn="l">
              <a:lnSpc>
                <a:spcPct val="106000"/>
              </a:lnSpc>
            </a:pPr>
            <a:r>
              <a:rPr sz="900" b="0" i="0">
                <a:solidFill>
                  <a:srgbClr val="DDE4EC"/>
                </a:solidFill>
                <a:latin typeface="Consolas"/>
              </a:rPr>
              <a:t>2.4G inputs/checkpoints/vitpose/vitpose-h-multi-coco.pth</a:t>
            </a:r>
          </a:p>
          <a:p>
            <a:pPr algn="l">
              <a:lnSpc>
                <a:spcPct val="106000"/>
              </a:lnSpc>
            </a:pPr>
            <a:r>
              <a:rPr sz="900" b="0" i="0">
                <a:solidFill>
                  <a:srgbClr val="DDE4EC"/>
                </a:solidFill>
                <a:latin typeface="Consolas"/>
              </a:rPr>
              <a:t>131M inputs/checkpoints/yolo/yolov8x.pt</a:t>
            </a:r>
          </a:p>
          <a:p>
            <a:pPr algn="l">
              <a:lnSpc>
                <a:spcPct val="106000"/>
              </a:lnSpc>
            </a:pPr>
          </a:p>
          <a:p>
            <a:pPr algn="l">
              <a:lnSpc>
                <a:spcPct val="106000"/>
              </a:lnSpc>
            </a:pPr>
            <a:r>
              <a:rPr sz="900" b="0" i="0">
                <a:solidFill>
                  <a:srgbClr val="DDE4EC"/>
                </a:solidFill>
                <a:latin typeface="Consolas"/>
              </a:rPr>
              <a:t>$ du -sh inputs/checkpoints</a:t>
            </a:r>
          </a:p>
          <a:p>
            <a:pPr algn="l">
              <a:lnSpc>
                <a:spcPct val="106000"/>
              </a:lnSpc>
            </a:pPr>
            <a:r>
              <a:rPr sz="900" b="0" i="0">
                <a:solidFill>
                  <a:srgbClr val="DDE4EC"/>
                </a:solidFill>
                <a:latin typeface="Consolas"/>
              </a:rPr>
              <a:t>5.5G	inputs/checkpoints</a:t>
            </a:r>
          </a:p>
        </p:txBody>
      </p:sp>
      <p:sp>
        <p:nvSpPr>
          <p:cNvPr id="7" name="Rounded Rectangle 6"/>
          <p:cNvSpPr/>
          <p:nvPr/>
        </p:nvSpPr>
        <p:spPr>
          <a:xfrm>
            <a:off x="566928" y="4343400"/>
            <a:ext cx="6309360" cy="210312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 y="4453128"/>
            <a:ext cx="5852160" cy="256032"/>
          </a:xfrm>
          <a:prstGeom prst="rect">
            <a:avLst/>
          </a:prstGeom>
          <a:noFill/>
        </p:spPr>
        <p:txBody>
          <a:bodyPr wrap="square">
            <a:spAutoFit/>
          </a:bodyPr>
          <a:lstStyle/>
          <a:p>
            <a:pPr algn="l">
              <a:lnSpc>
                <a:spcPct val="100000"/>
              </a:lnSpc>
            </a:pPr>
            <a:r>
              <a:rPr sz="1100" b="0" i="0">
                <a:solidFill>
                  <a:srgbClr val="7F93A6"/>
                </a:solidFill>
                <a:latin typeface="Consolas"/>
              </a:rPr>
              <a:t>the environment, as it is</a:t>
            </a:r>
          </a:p>
        </p:txBody>
      </p:sp>
      <p:sp>
        <p:nvSpPr>
          <p:cNvPr id="9" name="TextBox 8"/>
          <p:cNvSpPr txBox="1"/>
          <p:nvPr/>
        </p:nvSpPr>
        <p:spPr>
          <a:xfrm>
            <a:off x="786384" y="4745736"/>
            <a:ext cx="5852160" cy="1536191"/>
          </a:xfrm>
          <a:prstGeom prst="rect">
            <a:avLst/>
          </a:prstGeom>
          <a:noFill/>
        </p:spPr>
        <p:txBody>
          <a:bodyPr wrap="square">
            <a:spAutoFit/>
          </a:bodyPr>
          <a:lstStyle/>
          <a:p>
            <a:pPr algn="l">
              <a:lnSpc>
                <a:spcPct val="106000"/>
              </a:lnSpc>
            </a:pPr>
            <a:r>
              <a:rPr sz="900" b="0" i="0">
                <a:solidFill>
                  <a:srgbClr val="DDE4EC"/>
                </a:solidFill>
                <a:latin typeface="Consolas"/>
              </a:rPr>
              <a:t>$ conda env list | grep gvhmr</a:t>
            </a:r>
          </a:p>
          <a:p>
            <a:pPr algn="l">
              <a:lnSpc>
                <a:spcPct val="106000"/>
              </a:lnSpc>
            </a:pPr>
            <a:r>
              <a:rPr sz="900" b="0" i="0">
                <a:solidFill>
                  <a:srgbClr val="DDE4EC"/>
                </a:solidFill>
                <a:latin typeface="Consolas"/>
              </a:rPr>
              <a:t>gvhmr                    /home/sql/miniconda3/envs/gvhmr</a:t>
            </a:r>
          </a:p>
          <a:p>
            <a:pPr algn="l">
              <a:lnSpc>
                <a:spcPct val="106000"/>
              </a:lnSpc>
            </a:pPr>
          </a:p>
          <a:p>
            <a:pPr algn="l">
              <a:lnSpc>
                <a:spcPct val="106000"/>
              </a:lnSpc>
            </a:pPr>
            <a:r>
              <a:rPr sz="900" b="0" i="0">
                <a:solidFill>
                  <a:srgbClr val="DDE4EC"/>
                </a:solidFill>
                <a:latin typeface="Consolas"/>
              </a:rPr>
              <a:t>$ conda activate gvhmr &amp;&amp; python -c 'import torch, pytorch3d, lightning, ultralytics, setuptools; print(torch.__version__, torch.cuda.is_available(), torch.cuda.get_device_name(0)); print("pytorch3d", pytorch3d.__version__, "lightning", lightning.__version__, "ultralytics", ultralytics.__version__, "setuptools", setuptools.__version__)'</a:t>
            </a:r>
          </a:p>
          <a:p>
            <a:pPr algn="l">
              <a:lnSpc>
                <a:spcPct val="106000"/>
              </a:lnSpc>
            </a:pPr>
            <a:r>
              <a:rPr sz="900" b="0" i="0">
                <a:solidFill>
                  <a:srgbClr val="DDE4EC"/>
                </a:solidFill>
                <a:latin typeface="Consolas"/>
              </a:rPr>
              <a:t>2.3.0+cu121 True NVIDIA GeForce GTX 1650</a:t>
            </a:r>
          </a:p>
          <a:p>
            <a:pPr algn="l">
              <a:lnSpc>
                <a:spcPct val="106000"/>
              </a:lnSpc>
            </a:pPr>
            <a:r>
              <a:rPr sz="900" b="0" i="0">
                <a:solidFill>
                  <a:srgbClr val="DDE4EC"/>
                </a:solidFill>
                <a:latin typeface="Consolas"/>
              </a:rPr>
              <a:t>pytorch3d 0.7.6 lightning 2.3.0 ultralytics 8.2.42 setuptools 69.5.1</a:t>
            </a:r>
          </a:p>
        </p:txBody>
      </p:sp>
      <p:sp>
        <p:nvSpPr>
          <p:cNvPr id="10" name="Rounded Rectangle 9"/>
          <p:cNvSpPr/>
          <p:nvPr/>
        </p:nvSpPr>
        <p:spPr>
          <a:xfrm>
            <a:off x="7086600" y="1463040"/>
            <a:ext cx="4526280" cy="237744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79208" y="1627632"/>
            <a:ext cx="3977640" cy="411480"/>
          </a:xfrm>
          <a:prstGeom prst="rect">
            <a:avLst/>
          </a:prstGeom>
          <a:noFill/>
        </p:spPr>
        <p:txBody>
          <a:bodyPr wrap="square">
            <a:spAutoFit/>
          </a:bodyPr>
          <a:lstStyle/>
          <a:p>
            <a:pPr algn="l">
              <a:lnSpc>
                <a:spcPct val="100000"/>
              </a:lnSpc>
            </a:pPr>
            <a:r>
              <a:rPr sz="1600" b="1" i="0">
                <a:solidFill>
                  <a:srgbClr val="B8862E"/>
                </a:solidFill>
                <a:latin typeface="Calibri"/>
              </a:rPr>
              <a:t>Two of the five are huge</a:t>
            </a:r>
          </a:p>
        </p:txBody>
      </p:sp>
      <p:sp>
        <p:nvSpPr>
          <p:cNvPr id="12" name="TextBox 11"/>
          <p:cNvSpPr txBox="1"/>
          <p:nvPr/>
        </p:nvSpPr>
        <p:spPr>
          <a:xfrm>
            <a:off x="7379208" y="2121408"/>
            <a:ext cx="3941064" cy="1591056"/>
          </a:xfrm>
          <a:prstGeom prst="rect">
            <a:avLst/>
          </a:prstGeom>
          <a:noFill/>
        </p:spPr>
        <p:txBody>
          <a:bodyPr wrap="square">
            <a:spAutoFit/>
          </a:bodyPr>
          <a:lstStyle/>
          <a:p>
            <a:pPr algn="l">
              <a:lnSpc>
                <a:spcPct val="125000"/>
              </a:lnSpc>
            </a:pPr>
            <a:r>
              <a:rPr sz="1400" b="0" i="0">
                <a:solidFill>
                  <a:srgbClr val="22252A"/>
                </a:solidFill>
                <a:latin typeface="Calibri"/>
              </a:rPr>
              <a:t>ViTPose-H (2.4 GB) and the HMR2 backbone (2.6 GB) are both ViT-Huge. GVHMR's own transformer is 156 MB. Those two big files are the whole story of the setup section.</a:t>
            </a:r>
          </a:p>
        </p:txBody>
      </p:sp>
      <p:sp>
        <p:nvSpPr>
          <p:cNvPr id="13" name="Rounded Rectangle 12"/>
          <p:cNvSpPr/>
          <p:nvPr/>
        </p:nvSpPr>
        <p:spPr>
          <a:xfrm>
            <a:off x="7086600" y="3977639"/>
            <a:ext cx="4526280" cy="246888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9208" y="4142231"/>
            <a:ext cx="3977640" cy="411480"/>
          </a:xfrm>
          <a:prstGeom prst="rect">
            <a:avLst/>
          </a:prstGeom>
          <a:noFill/>
        </p:spPr>
        <p:txBody>
          <a:bodyPr wrap="square">
            <a:spAutoFit/>
          </a:bodyPr>
          <a:lstStyle/>
          <a:p>
            <a:pPr algn="l">
              <a:lnSpc>
                <a:spcPct val="100000"/>
              </a:lnSpc>
            </a:pPr>
            <a:r>
              <a:rPr sz="1600" b="1" i="0">
                <a:solidFill>
                  <a:srgbClr val="0F7A6B"/>
                </a:solidFill>
                <a:latin typeface="Calibri"/>
              </a:rPr>
              <a:t>Hardware</a:t>
            </a:r>
          </a:p>
        </p:txBody>
      </p:sp>
      <p:sp>
        <p:nvSpPr>
          <p:cNvPr id="15" name="TextBox 14"/>
          <p:cNvSpPr txBox="1"/>
          <p:nvPr/>
        </p:nvSpPr>
        <p:spPr>
          <a:xfrm>
            <a:off x="7379208" y="4636007"/>
            <a:ext cx="3941064" cy="1682496"/>
          </a:xfrm>
          <a:prstGeom prst="rect">
            <a:avLst/>
          </a:prstGeom>
          <a:noFill/>
        </p:spPr>
        <p:txBody>
          <a:bodyPr wrap="square">
            <a:spAutoFit/>
          </a:bodyPr>
          <a:lstStyle/>
          <a:p>
            <a:pPr algn="l">
              <a:lnSpc>
                <a:spcPct val="125000"/>
              </a:lnSpc>
            </a:pPr>
            <a:r>
              <a:rPr sz="1400" b="0" i="0">
                <a:solidFill>
                  <a:srgbClr val="22252A"/>
                </a:solidFill>
                <a:latin typeface="Calibri"/>
              </a:rPr>
              <a:t>The paper used RTX 4090s. This laptop has a GTX 1650 with 4 GB of VRAM and a WSL RAM cap of 5.9 GB. Peak VRAM on the run was 3.9 GB — about 170 MB to spare.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one run produces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One file. This is the hand-off to GMR.</a:t>
            </a:r>
          </a:p>
        </p:txBody>
      </p:sp>
      <p:sp>
        <p:nvSpPr>
          <p:cNvPr id="4" name="Rounded Rectangle 3"/>
          <p:cNvSpPr/>
          <p:nvPr/>
        </p:nvSpPr>
        <p:spPr>
          <a:xfrm>
            <a:off x="566928" y="1463040"/>
            <a:ext cx="6675120" cy="329184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572768"/>
            <a:ext cx="6217920" cy="256032"/>
          </a:xfrm>
          <a:prstGeom prst="rect">
            <a:avLst/>
          </a:prstGeom>
          <a:noFill/>
        </p:spPr>
        <p:txBody>
          <a:bodyPr wrap="square">
            <a:spAutoFit/>
          </a:bodyPr>
          <a:lstStyle/>
          <a:p>
            <a:pPr algn="l">
              <a:lnSpc>
                <a:spcPct val="100000"/>
              </a:lnSpc>
            </a:pPr>
            <a:r>
              <a:rPr sz="1100" b="0" i="0">
                <a:solidFill>
                  <a:srgbClr val="7F93A6"/>
                </a:solidFill>
                <a:latin typeface="Consolas"/>
              </a:rPr>
              <a:t>outputs/demo/tennis/hmr4d_results.pt</a:t>
            </a:r>
          </a:p>
        </p:txBody>
      </p:sp>
      <p:sp>
        <p:nvSpPr>
          <p:cNvPr id="6" name="TextBox 5"/>
          <p:cNvSpPr txBox="1"/>
          <p:nvPr/>
        </p:nvSpPr>
        <p:spPr>
          <a:xfrm>
            <a:off x="786384" y="1865376"/>
            <a:ext cx="6217920" cy="2724912"/>
          </a:xfrm>
          <a:prstGeom prst="rect">
            <a:avLst/>
          </a:prstGeom>
          <a:noFill/>
        </p:spPr>
        <p:txBody>
          <a:bodyPr wrap="square">
            <a:spAutoFit/>
          </a:bodyPr>
          <a:lstStyle/>
          <a:p>
            <a:pPr algn="l">
              <a:lnSpc>
                <a:spcPct val="106000"/>
              </a:lnSpc>
            </a:pPr>
            <a:r>
              <a:rPr sz="800" b="0" i="0">
                <a:solidFill>
                  <a:srgbClr val="DDE4EC"/>
                </a:solidFill>
                <a:latin typeface="Consolas"/>
              </a:rPr>
              <a:t>$ python -c "import torch; d=torch.load('outputs/demo/tennis/hmr4d_results.pt'); print(list(d)); g=d['smpl_params_global']; [print(k, tuple(v.shape)) for k,v in g.items()]; print('K_fullimg', tuple(d['K_fullimg'].shape))"</a:t>
            </a:r>
          </a:p>
          <a:p>
            <a:pPr algn="l">
              <a:lnSpc>
                <a:spcPct val="106000"/>
              </a:lnSpc>
            </a:pPr>
            <a:r>
              <a:rPr sz="800" b="0" i="0">
                <a:solidFill>
                  <a:srgbClr val="DDE4EC"/>
                </a:solidFill>
                <a:latin typeface="Consolas"/>
              </a:rPr>
              <a:t>['smpl_params_global', 'smpl_params_incam', 'K_fullimg', 'net_outputs']</a:t>
            </a:r>
          </a:p>
          <a:p>
            <a:pPr algn="l">
              <a:lnSpc>
                <a:spcPct val="106000"/>
              </a:lnSpc>
            </a:pPr>
            <a:r>
              <a:rPr sz="800" b="0" i="0">
                <a:solidFill>
                  <a:srgbClr val="DDE4EC"/>
                </a:solidFill>
                <a:latin typeface="Consolas"/>
              </a:rPr>
              <a:t>body_pose (312, 63)</a:t>
            </a:r>
          </a:p>
          <a:p>
            <a:pPr algn="l">
              <a:lnSpc>
                <a:spcPct val="106000"/>
              </a:lnSpc>
            </a:pPr>
            <a:r>
              <a:rPr sz="800" b="0" i="0">
                <a:solidFill>
                  <a:srgbClr val="DDE4EC"/>
                </a:solidFill>
                <a:latin typeface="Consolas"/>
              </a:rPr>
              <a:t>betas (312, 10)</a:t>
            </a:r>
          </a:p>
          <a:p>
            <a:pPr algn="l">
              <a:lnSpc>
                <a:spcPct val="106000"/>
              </a:lnSpc>
            </a:pPr>
            <a:r>
              <a:rPr sz="800" b="0" i="0">
                <a:solidFill>
                  <a:srgbClr val="DDE4EC"/>
                </a:solidFill>
                <a:latin typeface="Consolas"/>
              </a:rPr>
              <a:t>global_orient (312, 3)</a:t>
            </a:r>
          </a:p>
          <a:p>
            <a:pPr algn="l">
              <a:lnSpc>
                <a:spcPct val="106000"/>
              </a:lnSpc>
            </a:pPr>
            <a:r>
              <a:rPr sz="800" b="0" i="0">
                <a:solidFill>
                  <a:srgbClr val="DDE4EC"/>
                </a:solidFill>
                <a:latin typeface="Consolas"/>
              </a:rPr>
              <a:t>transl (312, 3)</a:t>
            </a:r>
          </a:p>
          <a:p>
            <a:pPr algn="l">
              <a:lnSpc>
                <a:spcPct val="106000"/>
              </a:lnSpc>
            </a:pPr>
            <a:r>
              <a:rPr sz="800" b="0" i="0">
                <a:solidFill>
                  <a:srgbClr val="DDE4EC"/>
                </a:solidFill>
                <a:latin typeface="Consolas"/>
              </a:rPr>
              <a:t>K_fullimg (312, 3, 3)</a:t>
            </a:r>
          </a:p>
          <a:p>
            <a:pPr algn="l">
              <a:lnSpc>
                <a:spcPct val="106000"/>
              </a:lnSpc>
            </a:pPr>
          </a:p>
          <a:p>
            <a:pPr algn="l">
              <a:lnSpc>
                <a:spcPct val="106000"/>
              </a:lnSpc>
            </a:pPr>
          </a:p>
          <a:p>
            <a:pPr algn="l">
              <a:lnSpc>
                <a:spcPct val="106000"/>
              </a:lnSpc>
            </a:pPr>
            <a:r>
              <a:rPr sz="800" b="0" i="0">
                <a:solidFill>
                  <a:srgbClr val="DDE4EC"/>
                </a:solidFill>
                <a:latin typeface="Consolas"/>
              </a:rPr>
              <a:t>$ ls -la outputs/demo/tennis/</a:t>
            </a:r>
          </a:p>
          <a:p>
            <a:pPr algn="l">
              <a:lnSpc>
                <a:spcPct val="106000"/>
              </a:lnSpc>
            </a:pPr>
            <a:r>
              <a:rPr sz="800" b="0" i="0">
                <a:solidFill>
                  <a:srgbClr val="DDE4EC"/>
                </a:solidFill>
                <a:latin typeface="Consolas"/>
              </a:rPr>
              <a:t>total 3128</a:t>
            </a:r>
          </a:p>
          <a:p>
            <a:pPr algn="l">
              <a:lnSpc>
                <a:spcPct val="106000"/>
              </a:lnSpc>
            </a:pPr>
            <a:r>
              <a:rPr sz="800" b="0" i="0">
                <a:solidFill>
                  <a:srgbClr val="DDE4EC"/>
                </a:solidFill>
                <a:latin typeface="Consolas"/>
              </a:rPr>
              <a:t>drwxr-xr-x 3 sql sql    4096 Sep 16 17:57 .</a:t>
            </a:r>
          </a:p>
          <a:p>
            <a:pPr algn="l">
              <a:lnSpc>
                <a:spcPct val="106000"/>
              </a:lnSpc>
            </a:pPr>
            <a:r>
              <a:rPr sz="800" b="0" i="0">
                <a:solidFill>
                  <a:srgbClr val="DDE4EC"/>
                </a:solidFill>
                <a:latin typeface="Consolas"/>
              </a:rPr>
              <a:t>drwxr-xr-x 3 sql sql    4096 Sep 16 17:50 ..</a:t>
            </a:r>
          </a:p>
          <a:p>
            <a:pPr algn="l">
              <a:lnSpc>
                <a:spcPct val="106000"/>
              </a:lnSpc>
            </a:pPr>
            <a:r>
              <a:rPr sz="800" b="0" i="0">
                <a:solidFill>
                  <a:srgbClr val="DDE4EC"/>
                </a:solidFill>
                <a:latin typeface="Consolas"/>
              </a:rPr>
              <a:t>-rw-r--r-- 1 sql sql 1826234 Sep 16 17:50 0_input_video.mp4</a:t>
            </a:r>
          </a:p>
          <a:p>
            <a:pPr algn="l">
              <a:lnSpc>
                <a:spcPct val="106000"/>
              </a:lnSpc>
            </a:pPr>
            <a:r>
              <a:rPr sz="800" b="0" i="0">
                <a:solidFill>
                  <a:srgbClr val="DDE4EC"/>
                </a:solidFill>
                <a:latin typeface="Consolas"/>
              </a:rPr>
              <a:t>-rw-r--r-- 1 sql sql 1361727 Sep 16 17:57 hmr4d_results.pt</a:t>
            </a:r>
          </a:p>
          <a:p>
            <a:pPr algn="l">
              <a:lnSpc>
                <a:spcPct val="106000"/>
              </a:lnSpc>
            </a:pPr>
            <a:r>
              <a:rPr sz="800" b="0" i="0">
                <a:solidFill>
                  <a:srgbClr val="DDE4EC"/>
                </a:solidFill>
                <a:latin typeface="Consolas"/>
              </a:rPr>
              <a:t>drwxr-xr-x 2 sql sql    4096 Sep 16 17:57 preprocess</a:t>
            </a:r>
          </a:p>
        </p:txBody>
      </p:sp>
      <p:sp>
        <p:nvSpPr>
          <p:cNvPr id="7" name="Rounded Rectangle 6"/>
          <p:cNvSpPr/>
          <p:nvPr/>
        </p:nvSpPr>
        <p:spPr>
          <a:xfrm>
            <a:off x="7452360" y="1463040"/>
            <a:ext cx="4160520" cy="32918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4968" y="1627632"/>
            <a:ext cx="3611879" cy="411480"/>
          </a:xfrm>
          <a:prstGeom prst="rect">
            <a:avLst/>
          </a:prstGeom>
          <a:noFill/>
        </p:spPr>
        <p:txBody>
          <a:bodyPr wrap="square">
            <a:spAutoFit/>
          </a:bodyPr>
          <a:lstStyle/>
          <a:p>
            <a:pPr algn="l">
              <a:lnSpc>
                <a:spcPct val="100000"/>
              </a:lnSpc>
            </a:pPr>
            <a:r>
              <a:rPr sz="1600" b="1" i="0">
                <a:solidFill>
                  <a:srgbClr val="0F7A6B"/>
                </a:solidFill>
                <a:latin typeface="Calibri"/>
              </a:rPr>
              <a:t>Reading it</a:t>
            </a:r>
          </a:p>
        </p:txBody>
      </p:sp>
      <p:sp>
        <p:nvSpPr>
          <p:cNvPr id="9" name="TextBox 8"/>
          <p:cNvSpPr txBox="1"/>
          <p:nvPr/>
        </p:nvSpPr>
        <p:spPr>
          <a:xfrm>
            <a:off x="7744968" y="2121408"/>
            <a:ext cx="3575303" cy="2505456"/>
          </a:xfrm>
          <a:prstGeom prst="rect">
            <a:avLst/>
          </a:prstGeom>
          <a:noFill/>
        </p:spPr>
        <p:txBody>
          <a:bodyPr wrap="square">
            <a:spAutoFit/>
          </a:bodyPr>
          <a:lstStyle/>
          <a:p>
            <a:pPr algn="l">
              <a:lnSpc>
                <a:spcPct val="125000"/>
              </a:lnSpc>
            </a:pPr>
            <a:r>
              <a:rPr sz="1150" b="0" i="0">
                <a:solidFill>
                  <a:srgbClr val="22252A"/>
                </a:solidFill>
                <a:latin typeface="Calibri"/>
              </a:rPr>
              <a:t>312 frames — the clip, re-encoded to 30 fps.</a:t>
            </a:r>
          </a:p>
          <a:p>
            <a:pPr algn="l">
              <a:lnSpc>
                <a:spcPct val="125000"/>
              </a:lnSpc>
            </a:pPr>
            <a:r>
              <a:rPr sz="1150" b="0" i="0">
                <a:solidFill>
                  <a:srgbClr val="22252A"/>
                </a:solidFill>
                <a:latin typeface="Calibri"/>
              </a:rPr>
              <a:t>body_pose 63 = 21 joints × 3 rotation numbers.</a:t>
            </a:r>
          </a:p>
          <a:p>
            <a:pPr algn="l">
              <a:lnSpc>
                <a:spcPct val="125000"/>
              </a:lnSpc>
            </a:pPr>
            <a:r>
              <a:rPr sz="1150" b="0" i="0">
                <a:solidFill>
                  <a:srgbClr val="22252A"/>
                </a:solidFill>
                <a:latin typeface="Calibri"/>
              </a:rPr>
              <a:t>betas 10 = body shape.</a:t>
            </a:r>
          </a:p>
          <a:p>
            <a:pPr algn="l">
              <a:lnSpc>
                <a:spcPct val="125000"/>
              </a:lnSpc>
            </a:pPr>
            <a:r>
              <a:rPr sz="1150" b="0" i="0">
                <a:solidFill>
                  <a:srgbClr val="22252A"/>
                </a:solidFill>
                <a:latin typeface="Calibri"/>
              </a:rPr>
              <a:t>global_orient + transl = where the pelvis is and faces, in the world (_global) or relative to the camera (_incam).</a:t>
            </a:r>
          </a:p>
          <a:p>
            <a:pPr algn="l">
              <a:lnSpc>
                <a:spcPct val="125000"/>
              </a:lnSpc>
            </a:pPr>
            <a:r>
              <a:rPr sz="1150" b="0" i="0">
                <a:solidFill>
                  <a:srgbClr val="22252A"/>
                </a:solidFill>
                <a:latin typeface="Calibri"/>
              </a:rPr>
              <a:t>K_fullimg = the camera intrinsics it assumed.</a:t>
            </a:r>
          </a:p>
        </p:txBody>
      </p:sp>
      <p:sp>
        <p:nvSpPr>
          <p:cNvPr id="10" name="Rounded Rectangle 9"/>
          <p:cNvSpPr/>
          <p:nvPr/>
        </p:nvSpPr>
        <p:spPr>
          <a:xfrm>
            <a:off x="566928" y="4937760"/>
            <a:ext cx="11064240" cy="150876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5102352"/>
            <a:ext cx="10515600" cy="411480"/>
          </a:xfrm>
          <a:prstGeom prst="rect">
            <a:avLst/>
          </a:prstGeom>
          <a:noFill/>
        </p:spPr>
        <p:txBody>
          <a:bodyPr wrap="square">
            <a:spAutoFit/>
          </a:bodyPr>
          <a:lstStyle/>
          <a:p>
            <a:pPr algn="l">
              <a:lnSpc>
                <a:spcPct val="100000"/>
              </a:lnSpc>
            </a:pPr>
            <a:r>
              <a:rPr sz="1600" b="1" i="0">
                <a:solidFill>
                  <a:srgbClr val="B8862E"/>
                </a:solidFill>
                <a:latin typeface="Calibri"/>
              </a:rPr>
              <a:t>The one convention to know</a:t>
            </a:r>
          </a:p>
        </p:txBody>
      </p:sp>
      <p:sp>
        <p:nvSpPr>
          <p:cNvPr id="12" name="TextBox 11"/>
          <p:cNvSpPr txBox="1"/>
          <p:nvPr/>
        </p:nvSpPr>
        <p:spPr>
          <a:xfrm>
            <a:off x="859536" y="5596128"/>
            <a:ext cx="10479024" cy="722375"/>
          </a:xfrm>
          <a:prstGeom prst="rect">
            <a:avLst/>
          </a:prstGeom>
          <a:noFill/>
        </p:spPr>
        <p:txBody>
          <a:bodyPr wrap="square">
            <a:spAutoFit/>
          </a:bodyPr>
          <a:lstStyle/>
          <a:p>
            <a:pPr algn="l">
              <a:lnSpc>
                <a:spcPct val="125000"/>
              </a:lnSpc>
            </a:pPr>
            <a:r>
              <a:rPr sz="1300" b="0" i="0">
                <a:solidFill>
                  <a:srgbClr val="22252A"/>
                </a:solidFill>
                <a:latin typeface="Calibri"/>
              </a:rPr>
              <a:t>GVHMR's world is y-up. GMR's is z-up. GMR's own loader for this file already applies the rotation, so nothing had to be written for it — I checked by reading pelvis (≈1.0 m) and head (≈1.6 m) heights after loading.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3</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Setting it up — honestly</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Five steps, three of which did not go the way the README says</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Clone and env  ·  weights  ·  first run and the wall  ·  the change  ·  the run that worked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Step 1 — clone and build the environment</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README is three lines. Three packages needed a pin it does not mention.</a:t>
            </a:r>
          </a:p>
        </p:txBody>
      </p:sp>
      <p:sp>
        <p:nvSpPr>
          <p:cNvPr id="4" name="Rounded Rectangle 3"/>
          <p:cNvSpPr/>
          <p:nvPr/>
        </p:nvSpPr>
        <p:spPr>
          <a:xfrm>
            <a:off x="566928" y="1463040"/>
            <a:ext cx="6675120" cy="356616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572768"/>
            <a:ext cx="6217920" cy="256032"/>
          </a:xfrm>
          <a:prstGeom prst="rect">
            <a:avLst/>
          </a:prstGeom>
          <a:noFill/>
        </p:spPr>
        <p:txBody>
          <a:bodyPr wrap="square">
            <a:spAutoFit/>
          </a:bodyPr>
          <a:lstStyle/>
          <a:p>
            <a:pPr algn="l">
              <a:lnSpc>
                <a:spcPct val="100000"/>
              </a:lnSpc>
            </a:pPr>
            <a:r>
              <a:rPr sz="1100" b="0" i="0">
                <a:solidFill>
                  <a:srgbClr val="7F93A6"/>
                </a:solidFill>
                <a:latin typeface="Consolas"/>
              </a:rPr>
              <a:t>the README's three lines, then the check</a:t>
            </a:r>
          </a:p>
        </p:txBody>
      </p:sp>
      <p:sp>
        <p:nvSpPr>
          <p:cNvPr id="6" name="TextBox 5"/>
          <p:cNvSpPr txBox="1"/>
          <p:nvPr/>
        </p:nvSpPr>
        <p:spPr>
          <a:xfrm>
            <a:off x="786384" y="1865376"/>
            <a:ext cx="6217920" cy="2999232"/>
          </a:xfrm>
          <a:prstGeom prst="rect">
            <a:avLst/>
          </a:prstGeom>
          <a:noFill/>
        </p:spPr>
        <p:txBody>
          <a:bodyPr wrap="square">
            <a:spAutoFit/>
          </a:bodyPr>
          <a:lstStyle/>
          <a:p>
            <a:pPr algn="l">
              <a:lnSpc>
                <a:spcPct val="106000"/>
              </a:lnSpc>
            </a:pPr>
            <a:r>
              <a:rPr sz="1000" b="0" i="0">
                <a:solidFill>
                  <a:srgbClr val="DDE4EC"/>
                </a:solidFill>
                <a:latin typeface="Consolas"/>
              </a:rPr>
              <a:t>$ git clone https://github.com/zju3dv/GVHMR &amp;&amp; cd GVHMR</a:t>
            </a:r>
          </a:p>
          <a:p>
            <a:pPr algn="l">
              <a:lnSpc>
                <a:spcPct val="106000"/>
              </a:lnSpc>
            </a:pPr>
            <a:r>
              <a:rPr sz="1000" b="0" i="0">
                <a:solidFill>
                  <a:srgbClr val="DDE4EC"/>
                </a:solidFill>
                <a:latin typeface="Consolas"/>
              </a:rPr>
              <a:t>$ conda create -y -n gvhmr python=3.10 &amp;&amp; conda activate gvhmr</a:t>
            </a:r>
          </a:p>
          <a:p>
            <a:pPr algn="l">
              <a:lnSpc>
                <a:spcPct val="106000"/>
              </a:lnSpc>
            </a:pPr>
            <a:r>
              <a:rPr sz="1000" b="0" i="0">
                <a:solidFill>
                  <a:srgbClr val="DDE4EC"/>
                </a:solidFill>
                <a:latin typeface="Consolas"/>
              </a:rPr>
              <a:t>$ pip install -r requirements.txt &amp;&amp; pip install -e .</a:t>
            </a:r>
          </a:p>
          <a:p>
            <a:pPr algn="l">
              <a:lnSpc>
                <a:spcPct val="106000"/>
              </a:lnSpc>
            </a:pPr>
          </a:p>
          <a:p>
            <a:pPr algn="l">
              <a:lnSpc>
                <a:spcPct val="106000"/>
              </a:lnSpc>
            </a:pPr>
            <a:r>
              <a:rPr sz="1000" b="0" i="0">
                <a:solidFill>
                  <a:srgbClr val="DDE4EC"/>
                </a:solidFill>
                <a:latin typeface="Consolas"/>
              </a:rPr>
              <a:t># what it left me with:</a:t>
            </a:r>
          </a:p>
          <a:p>
            <a:pPr algn="l">
              <a:lnSpc>
                <a:spcPct val="106000"/>
              </a:lnSpc>
            </a:pPr>
            <a:r>
              <a:rPr sz="1000" b="0" i="0">
                <a:solidFill>
                  <a:srgbClr val="DDE4EC"/>
                </a:solidFill>
                <a:latin typeface="Consolas"/>
              </a:rPr>
              <a:t>$ conda env list | grep gvhmr</a:t>
            </a:r>
          </a:p>
          <a:p>
            <a:pPr algn="l">
              <a:lnSpc>
                <a:spcPct val="106000"/>
              </a:lnSpc>
            </a:pPr>
            <a:r>
              <a:rPr sz="1000" b="0" i="0">
                <a:solidFill>
                  <a:srgbClr val="DDE4EC"/>
                </a:solidFill>
                <a:latin typeface="Consolas"/>
              </a:rPr>
              <a:t>gvhmr                    /home/sql/miniconda3/envs/gvhmr</a:t>
            </a:r>
          </a:p>
          <a:p>
            <a:pPr algn="l">
              <a:lnSpc>
                <a:spcPct val="106000"/>
              </a:lnSpc>
            </a:pPr>
          </a:p>
          <a:p>
            <a:pPr algn="l">
              <a:lnSpc>
                <a:spcPct val="106000"/>
              </a:lnSpc>
            </a:pPr>
            <a:r>
              <a:rPr sz="1000" b="0" i="0">
                <a:solidFill>
                  <a:srgbClr val="DDE4EC"/>
                </a:solidFill>
                <a:latin typeface="Consolas"/>
              </a:rPr>
              <a:t>$ conda activate gvhmr &amp;&amp; python -c 'import torch, pytorch3d, lightning, ultralytics, setuptools; print(torch.__version__, torch.cuda.is_available(), torch.cuda.get_device_name(0)); print("pytorch3d", pytorch3d.__version__, "lightning", lightning.__version__, "ultralytics", ultralytics.__version__, "setuptools", setuptools.__version__)'</a:t>
            </a:r>
          </a:p>
          <a:p>
            <a:pPr algn="l">
              <a:lnSpc>
                <a:spcPct val="106000"/>
              </a:lnSpc>
            </a:pPr>
            <a:r>
              <a:rPr sz="1000" b="0" i="0">
                <a:solidFill>
                  <a:srgbClr val="DDE4EC"/>
                </a:solidFill>
                <a:latin typeface="Consolas"/>
              </a:rPr>
              <a:t>2.3.0+cu121 True NVIDIA GeForce GTX 1650</a:t>
            </a:r>
          </a:p>
          <a:p>
            <a:pPr algn="l">
              <a:lnSpc>
                <a:spcPct val="106000"/>
              </a:lnSpc>
            </a:pPr>
            <a:r>
              <a:rPr sz="1000" b="0" i="0">
                <a:solidFill>
                  <a:srgbClr val="DDE4EC"/>
                </a:solidFill>
                <a:latin typeface="Consolas"/>
              </a:rPr>
              <a:t>pytorch3d 0.7.6 lightning 2.3.0 ultralytics 8.2.42 setuptools 69.5.1</a:t>
            </a:r>
          </a:p>
        </p:txBody>
      </p:sp>
      <p:sp>
        <p:nvSpPr>
          <p:cNvPr id="7" name="Rounded Rectangle 6"/>
          <p:cNvSpPr/>
          <p:nvPr/>
        </p:nvSpPr>
        <p:spPr>
          <a:xfrm>
            <a:off x="7452360" y="1463040"/>
            <a:ext cx="4160520" cy="356616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44968" y="1627632"/>
            <a:ext cx="3611879" cy="411480"/>
          </a:xfrm>
          <a:prstGeom prst="rect">
            <a:avLst/>
          </a:prstGeom>
          <a:noFill/>
        </p:spPr>
        <p:txBody>
          <a:bodyPr wrap="square">
            <a:spAutoFit/>
          </a:bodyPr>
          <a:lstStyle/>
          <a:p>
            <a:pPr algn="l">
              <a:lnSpc>
                <a:spcPct val="100000"/>
              </a:lnSpc>
            </a:pPr>
            <a:r>
              <a:rPr sz="1600" b="1" i="0">
                <a:solidFill>
                  <a:srgbClr val="B8862E"/>
                </a:solidFill>
                <a:latin typeface="Calibri"/>
              </a:rPr>
              <a:t>What bit</a:t>
            </a:r>
          </a:p>
        </p:txBody>
      </p:sp>
      <p:sp>
        <p:nvSpPr>
          <p:cNvPr id="9" name="TextBox 8"/>
          <p:cNvSpPr txBox="1"/>
          <p:nvPr/>
        </p:nvSpPr>
        <p:spPr>
          <a:xfrm>
            <a:off x="7744968" y="2121408"/>
            <a:ext cx="3575303" cy="2779776"/>
          </a:xfrm>
          <a:prstGeom prst="rect">
            <a:avLst/>
          </a:prstGeom>
          <a:noFill/>
        </p:spPr>
        <p:txBody>
          <a:bodyPr wrap="square">
            <a:spAutoFit/>
          </a:bodyPr>
          <a:lstStyle/>
          <a:p>
            <a:pPr algn="l">
              <a:lnSpc>
                <a:spcPct val="125000"/>
              </a:lnSpc>
            </a:pPr>
            <a:r>
              <a:rPr sz="1400" b="0" i="0">
                <a:solidFill>
                  <a:srgbClr val="22252A"/>
                </a:solidFill>
                <a:latin typeface="Calibri"/>
              </a:rPr>
              <a:t>setuptools had to be pinned below 70 — lightning still imports pkg_resources.</a:t>
            </a:r>
          </a:p>
          <a:p>
            <a:pPr algn="l">
              <a:lnSpc>
                <a:spcPct val="125000"/>
              </a:lnSpc>
            </a:pPr>
            <a:r>
              <a:rPr sz="1400" b="0" i="0">
                <a:solidFill>
                  <a:srgbClr val="22252A"/>
                </a:solidFill>
                <a:latin typeface="Calibri"/>
              </a:rPr>
              <a:t>chumpy only builds with --no-build-isolation.</a:t>
            </a:r>
          </a:p>
          <a:p>
            <a:pPr algn="l">
              <a:lnSpc>
                <a:spcPct val="125000"/>
              </a:lnSpc>
            </a:pPr>
            <a:r>
              <a:rPr sz="1400" b="0" i="0">
                <a:solidFill>
                  <a:srgbClr val="22252A"/>
                </a:solidFill>
                <a:latin typeface="Calibri"/>
              </a:rPr>
              <a:t>pytorch3d 0.7.6 came from a prebuilt wheel, not source.</a:t>
            </a:r>
          </a:p>
          <a:p>
            <a:pPr algn="l">
              <a:lnSpc>
                <a:spcPct val="125000"/>
              </a:lnSpc>
            </a:pPr>
            <a:r>
              <a:rPr sz="1400" b="0" i="0">
                <a:solidFill>
                  <a:srgbClr val="22252A"/>
                </a:solidFill>
                <a:latin typeface="Calibri"/>
              </a:rPr>
              <a:t>jupyter, ipdb and black I skipped; they are dev tools.</a:t>
            </a:r>
          </a:p>
        </p:txBody>
      </p:sp>
      <p:sp>
        <p:nvSpPr>
          <p:cNvPr id="10" name="TextBox 9"/>
          <p:cNvSpPr txBox="1"/>
          <p:nvPr/>
        </p:nvSpPr>
        <p:spPr>
          <a:xfrm>
            <a:off x="566928" y="5212080"/>
            <a:ext cx="11064240" cy="457200"/>
          </a:xfrm>
          <a:prstGeom prst="rect">
            <a:avLst/>
          </a:prstGeom>
          <a:noFill/>
        </p:spPr>
        <p:txBody>
          <a:bodyPr wrap="square">
            <a:spAutoFit/>
          </a:bodyPr>
          <a:lstStyle/>
          <a:p>
            <a:pPr algn="l">
              <a:lnSpc>
                <a:spcPct val="100000"/>
              </a:lnSpc>
            </a:pPr>
            <a:r>
              <a:rPr sz="1400" b="0" i="1">
                <a:solidFill>
                  <a:srgbClr val="5A6068"/>
                </a:solidFill>
                <a:latin typeface="Calibri"/>
              </a:rPr>
              <a:t>Stack that ended up working: torch 2.3.0+cu121 · pytorch3d 0.7.6 · lightning 2.3.0 · ultralytics 8.2.42 · setuptools 69.5.1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Step 2 — the weights</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README points at Google Drive. Google Drive would not give me the two big files.</a:t>
            </a:r>
          </a:p>
        </p:txBody>
      </p:sp>
      <p:sp>
        <p:nvSpPr>
          <p:cNvPr id="4" name="Rounded Rectangle 3"/>
          <p:cNvSpPr/>
          <p:nvPr/>
        </p:nvSpPr>
        <p:spPr>
          <a:xfrm>
            <a:off x="566928" y="1463040"/>
            <a:ext cx="6309360" cy="301752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572768"/>
            <a:ext cx="5852160" cy="256032"/>
          </a:xfrm>
          <a:prstGeom prst="rect">
            <a:avLst/>
          </a:prstGeom>
          <a:noFill/>
        </p:spPr>
        <p:txBody>
          <a:bodyPr wrap="square">
            <a:spAutoFit/>
          </a:bodyPr>
          <a:lstStyle/>
          <a:p>
            <a:pPr algn="l">
              <a:lnSpc>
                <a:spcPct val="100000"/>
              </a:lnSpc>
            </a:pPr>
            <a:r>
              <a:rPr sz="1100" b="0" i="0">
                <a:solidFill>
                  <a:srgbClr val="7F93A6"/>
                </a:solidFill>
                <a:latin typeface="Consolas"/>
              </a:rPr>
              <a:t>after the downloads</a:t>
            </a:r>
          </a:p>
        </p:txBody>
      </p:sp>
      <p:sp>
        <p:nvSpPr>
          <p:cNvPr id="6" name="TextBox 5"/>
          <p:cNvSpPr txBox="1"/>
          <p:nvPr/>
        </p:nvSpPr>
        <p:spPr>
          <a:xfrm>
            <a:off x="786384" y="1865376"/>
            <a:ext cx="5852160" cy="2450591"/>
          </a:xfrm>
          <a:prstGeom prst="rect">
            <a:avLst/>
          </a:prstGeom>
          <a:noFill/>
        </p:spPr>
        <p:txBody>
          <a:bodyPr wrap="square">
            <a:spAutoFit/>
          </a:bodyPr>
          <a:lstStyle/>
          <a:p>
            <a:pPr algn="l">
              <a:lnSpc>
                <a:spcPct val="106000"/>
              </a:lnSpc>
            </a:pPr>
            <a:r>
              <a:rPr sz="1000" b="0" i="0">
                <a:solidFill>
                  <a:srgbClr val="DDE4EC"/>
                </a:solidFill>
                <a:latin typeface="Consolas"/>
              </a:rPr>
              <a:t>$ find inputs/checkpoints -type f | xargs ls -lh | awk '{print $5, $9}'</a:t>
            </a:r>
          </a:p>
          <a:p>
            <a:pPr algn="l">
              <a:lnSpc>
                <a:spcPct val="106000"/>
              </a:lnSpc>
            </a:pPr>
            <a:r>
              <a:rPr sz="1000" b="0" i="0">
                <a:solidFill>
                  <a:srgbClr val="DDE4EC"/>
                </a:solidFill>
                <a:latin typeface="Consolas"/>
              </a:rPr>
              <a:t>104M inputs/checkpoints/body_models/smplx/SMPLX_FEMALE.npz</a:t>
            </a:r>
          </a:p>
          <a:p>
            <a:pPr algn="l">
              <a:lnSpc>
                <a:spcPct val="106000"/>
              </a:lnSpc>
            </a:pPr>
            <a:r>
              <a:rPr sz="1000" b="0" i="0">
                <a:solidFill>
                  <a:srgbClr val="DDE4EC"/>
                </a:solidFill>
                <a:latin typeface="Consolas"/>
              </a:rPr>
              <a:t>104M inputs/checkpoints/body_models/smplx/SMPLX_MALE.npz</a:t>
            </a:r>
          </a:p>
          <a:p>
            <a:pPr algn="l">
              <a:lnSpc>
                <a:spcPct val="106000"/>
              </a:lnSpc>
            </a:pPr>
            <a:r>
              <a:rPr sz="1000" b="0" i="0">
                <a:solidFill>
                  <a:srgbClr val="DDE4EC"/>
                </a:solidFill>
                <a:latin typeface="Consolas"/>
              </a:rPr>
              <a:t>104M inputs/checkpoints/body_models/smplx/SMPLX_NEUTRAL.npz</a:t>
            </a:r>
          </a:p>
          <a:p>
            <a:pPr algn="l">
              <a:lnSpc>
                <a:spcPct val="106000"/>
              </a:lnSpc>
            </a:pPr>
            <a:r>
              <a:rPr sz="1000" b="0" i="0">
                <a:solidFill>
                  <a:srgbClr val="DDE4EC"/>
                </a:solidFill>
                <a:latin typeface="Consolas"/>
              </a:rPr>
              <a:t>14M inputs/checkpoints/dpvo/dpvo.pth</a:t>
            </a:r>
          </a:p>
          <a:p>
            <a:pPr algn="l">
              <a:lnSpc>
                <a:spcPct val="106000"/>
              </a:lnSpc>
            </a:pPr>
            <a:r>
              <a:rPr sz="1000" b="0" i="0">
                <a:solidFill>
                  <a:srgbClr val="DDE4EC"/>
                </a:solidFill>
                <a:latin typeface="Consolas"/>
              </a:rPr>
              <a:t>156M inputs/checkpoints/gvhmr/gvhmr_siga24_release.ckpt</a:t>
            </a:r>
          </a:p>
          <a:p>
            <a:pPr algn="l">
              <a:lnSpc>
                <a:spcPct val="106000"/>
              </a:lnSpc>
            </a:pPr>
            <a:r>
              <a:rPr sz="1000" b="0" i="0">
                <a:solidFill>
                  <a:srgbClr val="DDE4EC"/>
                </a:solidFill>
                <a:latin typeface="Consolas"/>
              </a:rPr>
              <a:t>2.6G inputs/checkpoints/hmr2/epoch=10-step=25000.ckpt</a:t>
            </a:r>
          </a:p>
          <a:p>
            <a:pPr algn="l">
              <a:lnSpc>
                <a:spcPct val="106000"/>
              </a:lnSpc>
            </a:pPr>
            <a:r>
              <a:rPr sz="1000" b="0" i="0">
                <a:solidFill>
                  <a:srgbClr val="DDE4EC"/>
                </a:solidFill>
                <a:latin typeface="Consolas"/>
              </a:rPr>
              <a:t>295 inputs/checkpoints/ids.txt</a:t>
            </a:r>
          </a:p>
          <a:p>
            <a:pPr algn="l">
              <a:lnSpc>
                <a:spcPct val="106000"/>
              </a:lnSpc>
            </a:pPr>
            <a:r>
              <a:rPr sz="1000" b="0" i="0">
                <a:solidFill>
                  <a:srgbClr val="DDE4EC"/>
                </a:solidFill>
                <a:latin typeface="Consolas"/>
              </a:rPr>
              <a:t>2.4G inputs/checkpoints/vitpose/vitpose-h-multi-coco.pth</a:t>
            </a:r>
          </a:p>
          <a:p>
            <a:pPr algn="l">
              <a:lnSpc>
                <a:spcPct val="106000"/>
              </a:lnSpc>
            </a:pPr>
            <a:r>
              <a:rPr sz="1000" b="0" i="0">
                <a:solidFill>
                  <a:srgbClr val="DDE4EC"/>
                </a:solidFill>
                <a:latin typeface="Consolas"/>
              </a:rPr>
              <a:t>131M inputs/checkpoints/yolo/yolov8x.pt</a:t>
            </a:r>
          </a:p>
          <a:p>
            <a:pPr algn="l">
              <a:lnSpc>
                <a:spcPct val="106000"/>
              </a:lnSpc>
            </a:pPr>
          </a:p>
          <a:p>
            <a:pPr algn="l">
              <a:lnSpc>
                <a:spcPct val="106000"/>
              </a:lnSpc>
            </a:pPr>
            <a:r>
              <a:rPr sz="1000" b="0" i="0">
                <a:solidFill>
                  <a:srgbClr val="DDE4EC"/>
                </a:solidFill>
                <a:latin typeface="Consolas"/>
              </a:rPr>
              <a:t>$ du -sh inputs/checkpoints</a:t>
            </a:r>
          </a:p>
          <a:p>
            <a:pPr algn="l">
              <a:lnSpc>
                <a:spcPct val="106000"/>
              </a:lnSpc>
            </a:pPr>
            <a:r>
              <a:rPr sz="1000" b="0" i="0">
                <a:solidFill>
                  <a:srgbClr val="DDE4EC"/>
                </a:solidFill>
                <a:latin typeface="Consolas"/>
              </a:rPr>
              <a:t>5.5G	inputs/checkpoints</a:t>
            </a:r>
          </a:p>
        </p:txBody>
      </p:sp>
      <p:sp>
        <p:nvSpPr>
          <p:cNvPr id="7" name="Rounded Rectangle 6"/>
          <p:cNvSpPr/>
          <p:nvPr/>
        </p:nvSpPr>
        <p:spPr>
          <a:xfrm>
            <a:off x="7086600" y="1463040"/>
            <a:ext cx="4526280" cy="301752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79208" y="1627632"/>
            <a:ext cx="3977640" cy="411480"/>
          </a:xfrm>
          <a:prstGeom prst="rect">
            <a:avLst/>
          </a:prstGeom>
          <a:noFill/>
        </p:spPr>
        <p:txBody>
          <a:bodyPr wrap="square">
            <a:spAutoFit/>
          </a:bodyPr>
          <a:lstStyle/>
          <a:p>
            <a:pPr algn="l">
              <a:lnSpc>
                <a:spcPct val="100000"/>
              </a:lnSpc>
            </a:pPr>
            <a:r>
              <a:rPr sz="1600" b="1" i="0">
                <a:solidFill>
                  <a:srgbClr val="B8862E"/>
                </a:solidFill>
                <a:latin typeface="Calibri"/>
              </a:rPr>
              <a:t>What happened</a:t>
            </a:r>
          </a:p>
        </p:txBody>
      </p:sp>
      <p:sp>
        <p:nvSpPr>
          <p:cNvPr id="9" name="TextBox 8"/>
          <p:cNvSpPr txBox="1"/>
          <p:nvPr/>
        </p:nvSpPr>
        <p:spPr>
          <a:xfrm>
            <a:off x="7379208" y="2121408"/>
            <a:ext cx="3941064" cy="2231136"/>
          </a:xfrm>
          <a:prstGeom prst="rect">
            <a:avLst/>
          </a:prstGeom>
          <a:noFill/>
        </p:spPr>
        <p:txBody>
          <a:bodyPr wrap="square">
            <a:spAutoFit/>
          </a:bodyPr>
          <a:lstStyle/>
          <a:p>
            <a:pPr algn="l">
              <a:lnSpc>
                <a:spcPct val="125000"/>
              </a:lnSpc>
            </a:pPr>
            <a:r>
              <a:rPr sz="1300" b="0" i="0">
                <a:solidFill>
                  <a:srgbClr val="22252A"/>
                </a:solidFill>
                <a:latin typeface="Calibri"/>
              </a:rPr>
              <a:t>Drive returned "quota exceeded" on the 2.4 GB and 2.6 GB files. A HuggingFace mirror (camenduru/GVHMR) has the identical files under the same paths, so I pulled from there and checked each size against the server's own header. curl over HTTP/2 truncated twice; --http1.1 with resume did not.</a:t>
            </a:r>
          </a:p>
        </p:txBody>
      </p:sp>
      <p:sp>
        <p:nvSpPr>
          <p:cNvPr id="10" name="Rounded Rectangle 9"/>
          <p:cNvSpPr/>
          <p:nvPr/>
        </p:nvSpPr>
        <p:spPr>
          <a:xfrm>
            <a:off x="566928" y="4617720"/>
            <a:ext cx="5486400" cy="18288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782312"/>
            <a:ext cx="4937760" cy="411480"/>
          </a:xfrm>
          <a:prstGeom prst="rect">
            <a:avLst/>
          </a:prstGeom>
          <a:noFill/>
        </p:spPr>
        <p:txBody>
          <a:bodyPr wrap="square">
            <a:spAutoFit/>
          </a:bodyPr>
          <a:lstStyle/>
          <a:p>
            <a:pPr algn="l">
              <a:lnSpc>
                <a:spcPct val="100000"/>
              </a:lnSpc>
            </a:pPr>
            <a:r>
              <a:rPr sz="1600" b="1" i="0">
                <a:solidFill>
                  <a:srgbClr val="0F7A6B"/>
                </a:solidFill>
                <a:latin typeface="Calibri"/>
              </a:rPr>
              <a:t>Body models</a:t>
            </a:r>
          </a:p>
        </p:txBody>
      </p:sp>
      <p:sp>
        <p:nvSpPr>
          <p:cNvPr id="12" name="TextBox 11"/>
          <p:cNvSpPr txBox="1"/>
          <p:nvPr/>
        </p:nvSpPr>
        <p:spPr>
          <a:xfrm>
            <a:off x="859536" y="5276088"/>
            <a:ext cx="4901184" cy="1042416"/>
          </a:xfrm>
          <a:prstGeom prst="rect">
            <a:avLst/>
          </a:prstGeom>
          <a:noFill/>
        </p:spPr>
        <p:txBody>
          <a:bodyPr wrap="square">
            <a:spAutoFit/>
          </a:bodyPr>
          <a:lstStyle/>
          <a:p>
            <a:pPr algn="l">
              <a:lnSpc>
                <a:spcPct val="125000"/>
              </a:lnSpc>
            </a:pPr>
            <a:r>
              <a:rPr sz="1200" b="0" i="0">
                <a:solidFill>
                  <a:srgbClr val="22252A"/>
                </a:solidFill>
                <a:latin typeface="Calibri"/>
              </a:rPr>
              <a:t>SMPL-X is registration-gated. I already had the .npz trio from the GMR work, so I copied them in. The SMPL .pkl the README also asks for I never got — see step 5 for what that costs.</a:t>
            </a:r>
          </a:p>
        </p:txBody>
      </p:sp>
      <p:sp>
        <p:nvSpPr>
          <p:cNvPr id="13" name="Rounded Rectangle 12"/>
          <p:cNvSpPr/>
          <p:nvPr/>
        </p:nvSpPr>
        <p:spPr>
          <a:xfrm>
            <a:off x="6190488" y="4617720"/>
            <a:ext cx="5440680" cy="18288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3096" y="4782312"/>
            <a:ext cx="4892040" cy="411480"/>
          </a:xfrm>
          <a:prstGeom prst="rect">
            <a:avLst/>
          </a:prstGeom>
          <a:noFill/>
        </p:spPr>
        <p:txBody>
          <a:bodyPr wrap="square">
            <a:spAutoFit/>
          </a:bodyPr>
          <a:lstStyle/>
          <a:p>
            <a:pPr algn="l">
              <a:lnSpc>
                <a:spcPct val="100000"/>
              </a:lnSpc>
            </a:pPr>
            <a:r>
              <a:rPr sz="1600" b="1" i="0">
                <a:solidFill>
                  <a:srgbClr val="1B2A3A"/>
                </a:solidFill>
                <a:latin typeface="Calibri"/>
              </a:rPr>
              <a:t>DPVO</a:t>
            </a:r>
          </a:p>
        </p:txBody>
      </p:sp>
      <p:sp>
        <p:nvSpPr>
          <p:cNvPr id="15" name="TextBox 14"/>
          <p:cNvSpPr txBox="1"/>
          <p:nvPr/>
        </p:nvSpPr>
        <p:spPr>
          <a:xfrm>
            <a:off x="6483096" y="5276088"/>
            <a:ext cx="4855464" cy="1042416"/>
          </a:xfrm>
          <a:prstGeom prst="rect">
            <a:avLst/>
          </a:prstGeom>
          <a:noFill/>
        </p:spPr>
        <p:txBody>
          <a:bodyPr wrap="square">
            <a:spAutoFit/>
          </a:bodyPr>
          <a:lstStyle/>
          <a:p>
            <a:pPr algn="l">
              <a:lnSpc>
                <a:spcPct val="125000"/>
              </a:lnSpc>
            </a:pPr>
            <a:r>
              <a:rPr sz="1250" b="0" i="0">
                <a:solidFill>
                  <a:srgbClr val="22252A"/>
                </a:solidFill>
                <a:latin typeface="Calibri"/>
              </a:rPr>
              <a:t>14 MB, downloaded for completeness, never loaded: -s skips it. If the phone moves during a clip this becomes required and needs its own compiled install.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Step 3 — the first run hit a wall, and it was not the GPU</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Stock code, tennis.mp4: five and a half minutes to load one model, GPU idle the whole time.</a:t>
            </a:r>
          </a:p>
        </p:txBody>
      </p:sp>
      <p:sp>
        <p:nvSpPr>
          <p:cNvPr id="4" name="Rounded Rectangle 3"/>
          <p:cNvSpPr/>
          <p:nvPr/>
        </p:nvSpPr>
        <p:spPr>
          <a:xfrm>
            <a:off x="566928" y="1508760"/>
            <a:ext cx="5486400" cy="237744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73351"/>
            <a:ext cx="4937760" cy="411480"/>
          </a:xfrm>
          <a:prstGeom prst="rect">
            <a:avLst/>
          </a:prstGeom>
          <a:noFill/>
        </p:spPr>
        <p:txBody>
          <a:bodyPr wrap="square">
            <a:spAutoFit/>
          </a:bodyPr>
          <a:lstStyle/>
          <a:p>
            <a:pPr algn="l">
              <a:lnSpc>
                <a:spcPct val="100000"/>
              </a:lnSpc>
            </a:pPr>
            <a:r>
              <a:rPr sz="1900" b="1" i="0">
                <a:solidFill>
                  <a:srgbClr val="B0473C"/>
                </a:solidFill>
                <a:latin typeface="Calibri"/>
              </a:rPr>
              <a:t>What I saw</a:t>
            </a:r>
          </a:p>
        </p:txBody>
      </p:sp>
      <p:sp>
        <p:nvSpPr>
          <p:cNvPr id="6" name="TextBox 5"/>
          <p:cNvSpPr txBox="1"/>
          <p:nvPr/>
        </p:nvSpPr>
        <p:spPr>
          <a:xfrm>
            <a:off x="859536" y="2167128"/>
            <a:ext cx="4901184" cy="1591056"/>
          </a:xfrm>
          <a:prstGeom prst="rect">
            <a:avLst/>
          </a:prstGeom>
          <a:noFill/>
        </p:spPr>
        <p:txBody>
          <a:bodyPr wrap="square">
            <a:spAutoFit/>
          </a:bodyPr>
          <a:lstStyle/>
          <a:p>
            <a:pPr algn="l">
              <a:lnSpc>
                <a:spcPct val="125000"/>
              </a:lnSpc>
            </a:pPr>
            <a:r>
              <a:rPr sz="1400" b="0" i="0">
                <a:solidFill>
                  <a:srgbClr val="22252A"/>
                </a:solidFill>
                <a:latin typeface="Calibri"/>
              </a:rPr>
              <a:t>ViTPose took 343 s to load before it processed a single frame. nvidia-smi showed the card empty. The laptop was swapping. My first guess — 4 GB of VRAM is too small — was wrong: peak VRAM was 3.9 GB and the run never ran out.</a:t>
            </a:r>
          </a:p>
        </p:txBody>
      </p:sp>
      <p:sp>
        <p:nvSpPr>
          <p:cNvPr id="7" name="Rounded Rectangle 6"/>
          <p:cNvSpPr/>
          <p:nvPr/>
        </p:nvSpPr>
        <p:spPr>
          <a:xfrm>
            <a:off x="6190488" y="1508760"/>
            <a:ext cx="5440680" cy="237744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3096" y="1673351"/>
            <a:ext cx="4892040" cy="411480"/>
          </a:xfrm>
          <a:prstGeom prst="rect">
            <a:avLst/>
          </a:prstGeom>
          <a:noFill/>
        </p:spPr>
        <p:txBody>
          <a:bodyPr wrap="square">
            <a:spAutoFit/>
          </a:bodyPr>
          <a:lstStyle/>
          <a:p>
            <a:pPr algn="l">
              <a:lnSpc>
                <a:spcPct val="100000"/>
              </a:lnSpc>
            </a:pPr>
            <a:r>
              <a:rPr sz="1900" b="1" i="0">
                <a:solidFill>
                  <a:srgbClr val="B8862E"/>
                </a:solidFill>
                <a:latin typeface="Calibri"/>
              </a:rPr>
              <a:t>What was actually happening</a:t>
            </a:r>
          </a:p>
        </p:txBody>
      </p:sp>
      <p:sp>
        <p:nvSpPr>
          <p:cNvPr id="9" name="TextBox 8"/>
          <p:cNvSpPr txBox="1"/>
          <p:nvPr/>
        </p:nvSpPr>
        <p:spPr>
          <a:xfrm>
            <a:off x="6483096" y="2167128"/>
            <a:ext cx="4855464" cy="1591056"/>
          </a:xfrm>
          <a:prstGeom prst="rect">
            <a:avLst/>
          </a:prstGeom>
          <a:noFill/>
        </p:spPr>
        <p:txBody>
          <a:bodyPr wrap="square">
            <a:spAutoFit/>
          </a:bodyPr>
          <a:lstStyle/>
          <a:p>
            <a:pPr algn="l">
              <a:lnSpc>
                <a:spcPct val="125000"/>
              </a:lnSpc>
            </a:pPr>
            <a:r>
              <a:rPr sz="1400" b="0" i="0">
                <a:solidFill>
                  <a:srgbClr val="22252A"/>
                </a:solidFill>
                <a:latin typeface="Calibri"/>
              </a:rPr>
              <a:t>torch.load reads the 2.4 GB checkpoint fully into RAM. Then the model is constructed on the CPU — a second 2.4 GB copy — and only then moved to the GPU. Two copies of a ViT-Huge inside a 5.9 GB RAM cap is a swap storm.</a:t>
            </a:r>
          </a:p>
        </p:txBody>
      </p:sp>
      <p:sp>
        <p:nvSpPr>
          <p:cNvPr id="10" name="Rounded Rectangle 9"/>
          <p:cNvSpPr/>
          <p:nvPr/>
        </p:nvSpPr>
        <p:spPr>
          <a:xfrm>
            <a:off x="566928" y="4023360"/>
            <a:ext cx="11064240" cy="242316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187952"/>
            <a:ext cx="10515600" cy="411480"/>
          </a:xfrm>
          <a:prstGeom prst="rect">
            <a:avLst/>
          </a:prstGeom>
          <a:noFill/>
        </p:spPr>
        <p:txBody>
          <a:bodyPr wrap="square">
            <a:spAutoFit/>
          </a:bodyPr>
          <a:lstStyle/>
          <a:p>
            <a:pPr algn="l">
              <a:lnSpc>
                <a:spcPct val="100000"/>
              </a:lnSpc>
            </a:pPr>
            <a:r>
              <a:rPr sz="1900" b="1" i="0">
                <a:solidFill>
                  <a:srgbClr val="0F7A6B"/>
                </a:solidFill>
                <a:latin typeface="Calibri"/>
              </a:rPr>
              <a:t>The lesson I took from it</a:t>
            </a:r>
          </a:p>
        </p:txBody>
      </p:sp>
      <p:sp>
        <p:nvSpPr>
          <p:cNvPr id="12" name="TextBox 11"/>
          <p:cNvSpPr txBox="1"/>
          <p:nvPr/>
        </p:nvSpPr>
        <p:spPr>
          <a:xfrm>
            <a:off x="859536" y="4681728"/>
            <a:ext cx="10479024" cy="1636776"/>
          </a:xfrm>
          <a:prstGeom prst="rect">
            <a:avLst/>
          </a:prstGeom>
          <a:noFill/>
        </p:spPr>
        <p:txBody>
          <a:bodyPr wrap="square">
            <a:spAutoFit/>
          </a:bodyPr>
          <a:lstStyle/>
          <a:p>
            <a:pPr algn="l">
              <a:lnSpc>
                <a:spcPct val="125000"/>
              </a:lnSpc>
            </a:pPr>
            <a:r>
              <a:rPr sz="1400" b="0" i="0">
                <a:solidFill>
                  <a:srgbClr val="22252A"/>
                </a:solidFill>
                <a:latin typeface="Calibri"/>
              </a:rPr>
              <a:t>On a big workstation this code path is invisible — 16 GB of RAM absorbs both copies. On a laptop it is the whole wall. So the question was never "can the 1650 run GVHMR"; it was "can I keep two copies of a huge model out of RAM". The answer is a memory-map and a device context, and nothing about the model changes.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Step 4 — the change: 3 files, 16 lines, and it is only about memory</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This is the real diff. The other two files are the same two edits.</a:t>
            </a:r>
          </a:p>
        </p:txBody>
      </p:sp>
      <p:sp>
        <p:nvSpPr>
          <p:cNvPr id="4" name="Rounded Rectangle 3"/>
          <p:cNvSpPr/>
          <p:nvPr/>
        </p:nvSpPr>
        <p:spPr>
          <a:xfrm>
            <a:off x="566928" y="1463040"/>
            <a:ext cx="6949440" cy="498348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572768"/>
            <a:ext cx="6492240" cy="256032"/>
          </a:xfrm>
          <a:prstGeom prst="rect">
            <a:avLst/>
          </a:prstGeom>
          <a:noFill/>
        </p:spPr>
        <p:txBody>
          <a:bodyPr wrap="square">
            <a:spAutoFit/>
          </a:bodyPr>
          <a:lstStyle/>
          <a:p>
            <a:pPr algn="l">
              <a:lnSpc>
                <a:spcPct val="100000"/>
              </a:lnSpc>
            </a:pPr>
            <a:r>
              <a:rPr sz="1100" b="0" i="0">
                <a:solidFill>
                  <a:srgbClr val="7F93A6"/>
                </a:solidFill>
                <a:latin typeface="Consolas"/>
              </a:rPr>
              <a:t>git diff --stat, then the hmr2 hunk</a:t>
            </a:r>
          </a:p>
        </p:txBody>
      </p:sp>
      <p:sp>
        <p:nvSpPr>
          <p:cNvPr id="6" name="TextBox 5"/>
          <p:cNvSpPr txBox="1"/>
          <p:nvPr/>
        </p:nvSpPr>
        <p:spPr>
          <a:xfrm>
            <a:off x="786384" y="1865376"/>
            <a:ext cx="6492240" cy="4416552"/>
          </a:xfrm>
          <a:prstGeom prst="rect">
            <a:avLst/>
          </a:prstGeom>
          <a:noFill/>
        </p:spPr>
        <p:txBody>
          <a:bodyPr wrap="square">
            <a:spAutoFit/>
          </a:bodyPr>
          <a:lstStyle/>
          <a:p>
            <a:pPr algn="l">
              <a:lnSpc>
                <a:spcPct val="106000"/>
              </a:lnSpc>
            </a:pPr>
            <a:r>
              <a:rPr sz="900" b="0" i="0">
                <a:solidFill>
                  <a:srgbClr val="DDE4EC"/>
                </a:solidFill>
                <a:latin typeface="Consolas"/>
              </a:rPr>
              <a:t>$ git diff --stat</a:t>
            </a:r>
          </a:p>
          <a:p>
            <a:pPr algn="l">
              <a:lnSpc>
                <a:spcPct val="106000"/>
              </a:lnSpc>
            </a:pPr>
            <a:r>
              <a:rPr sz="900" b="0" i="0">
                <a:solidFill>
                  <a:srgbClr val="DDE4EC"/>
                </a:solidFill>
                <a:latin typeface="Consolas"/>
              </a:rPr>
              <a:t> hmr4d/model/gvhmr/gvhmr_pl_demo.py                             |  2 +-</a:t>
            </a:r>
          </a:p>
          <a:p>
            <a:pPr algn="l">
              <a:lnSpc>
                <a:spcPct val="106000"/>
              </a:lnSpc>
            </a:pPr>
            <a:r>
              <a:rPr sz="900" b="0" i="0">
                <a:solidFill>
                  <a:srgbClr val="DDE4EC"/>
                </a:solidFill>
                <a:latin typeface="Consolas"/>
              </a:rPr>
              <a:t> hmr4d/network/hmr2/__init__.py                                 |  8 ++++++--</a:t>
            </a:r>
          </a:p>
          <a:p>
            <a:pPr algn="l">
              <a:lnSpc>
                <a:spcPct val="106000"/>
              </a:lnSpc>
            </a:pPr>
            <a:r>
              <a:rPr sz="900" b="0" i="0">
                <a:solidFill>
                  <a:srgbClr val="DDE4EC"/>
                </a:solidFill>
                <a:latin typeface="Consolas"/>
              </a:rPr>
              <a:t> .../preproc/vitpose_pytorch/src/vitpose_infer/model_builder.py | 10 +++++++++-</a:t>
            </a:r>
          </a:p>
          <a:p>
            <a:pPr algn="l">
              <a:lnSpc>
                <a:spcPct val="106000"/>
              </a:lnSpc>
            </a:pPr>
            <a:r>
              <a:rPr sz="900" b="0" i="0">
                <a:solidFill>
                  <a:srgbClr val="DDE4EC"/>
                </a:solidFill>
                <a:latin typeface="Consolas"/>
              </a:rPr>
              <a:t> 3 files changed, 16 insertions(+), 4 deletions(-)</a:t>
            </a:r>
          </a:p>
          <a:p>
            <a:pPr algn="l">
              <a:lnSpc>
                <a:spcPct val="106000"/>
              </a:lnSpc>
            </a:pPr>
          </a:p>
          <a:p>
            <a:pPr algn="l">
              <a:lnSpc>
                <a:spcPct val="106000"/>
              </a:lnSpc>
            </a:pPr>
            <a:r>
              <a:rPr sz="900" b="0" i="0">
                <a:solidFill>
                  <a:srgbClr val="DDE4EC"/>
                </a:solidFill>
                <a:latin typeface="Consolas"/>
              </a:rPr>
              <a:t>diff --git a/hmr4d/network/hmr2/__init__.py b/hmr4d/network/hmr2/__init__.py</a:t>
            </a:r>
          </a:p>
          <a:p>
            <a:pPr algn="l">
              <a:lnSpc>
                <a:spcPct val="106000"/>
              </a:lnSpc>
            </a:pPr>
            <a:r>
              <a:rPr sz="900" b="0" i="0">
                <a:solidFill>
                  <a:srgbClr val="DDE4EC"/>
                </a:solidFill>
                <a:latin typeface="Consolas"/>
              </a:rPr>
              <a:t>index 4be998b..34db657 100644</a:t>
            </a:r>
          </a:p>
          <a:p>
            <a:pPr algn="l">
              <a:lnSpc>
                <a:spcPct val="106000"/>
              </a:lnSpc>
            </a:pPr>
            <a:r>
              <a:rPr sz="900" b="0" i="0">
                <a:solidFill>
                  <a:srgbClr val="DDE4EC"/>
                </a:solidFill>
                <a:latin typeface="Consolas"/>
              </a:rPr>
              <a:t>--- a/hmr4d/network/hmr2/__init__.py</a:t>
            </a:r>
          </a:p>
          <a:p>
            <a:pPr algn="l">
              <a:lnSpc>
                <a:spcPct val="106000"/>
              </a:lnSpc>
            </a:pPr>
            <a:r>
              <a:rPr sz="900" b="0" i="0">
                <a:solidFill>
                  <a:srgbClr val="DDE4EC"/>
                </a:solidFill>
                <a:latin typeface="Consolas"/>
              </a:rPr>
              <a:t>+++ b/hmr4d/network/hmr2/__init__.py</a:t>
            </a:r>
          </a:p>
          <a:p>
            <a:pPr algn="l">
              <a:lnSpc>
                <a:spcPct val="106000"/>
              </a:lnSpc>
            </a:pPr>
            <a:r>
              <a:rPr sz="900" b="0" i="0">
                <a:solidFill>
                  <a:srgbClr val="DDE4EC"/>
                </a:solidFill>
                <a:latin typeface="Consolas"/>
              </a:rPr>
              <a:t>@@ -22,9 +22,13 @@ def load_hmr2(checkpoint_path=HMR2A_CKPT):</a:t>
            </a:r>
          </a:p>
          <a:p>
            <a:pPr algn="l">
              <a:lnSpc>
                <a:spcPct val="106000"/>
              </a:lnSpc>
            </a:pPr>
            <a:r>
              <a:rPr sz="900" b="0" i="0">
                <a:solidFill>
                  <a:srgbClr val="DDE4EC"/>
                </a:solidFill>
                <a:latin typeface="Consolas"/>
              </a:rPr>
              <a:t> </a:t>
            </a:r>
          </a:p>
          <a:p>
            <a:pPr algn="l">
              <a:lnSpc>
                <a:spcPct val="106000"/>
              </a:lnSpc>
            </a:pPr>
            <a:r>
              <a:rPr sz="900" b="0" i="0">
                <a:solidFill>
                  <a:srgbClr val="DDE4EC"/>
                </a:solidFill>
                <a:latin typeface="Consolas"/>
              </a:rPr>
              <a:t>     # Setup model and Load weights.</a:t>
            </a:r>
          </a:p>
          <a:p>
            <a:pPr algn="l">
              <a:lnSpc>
                <a:spcPct val="106000"/>
              </a:lnSpc>
            </a:pPr>
            <a:r>
              <a:rPr sz="900" b="0" i="0">
                <a:solidFill>
                  <a:srgbClr val="DDE4EC"/>
                </a:solidFill>
                <a:latin typeface="Consolas"/>
              </a:rPr>
              <a:t>     # model = HMR2.load_from_checkpoint(checkpoint_path, strict=False, cfg=model_cfg)</a:t>
            </a:r>
          </a:p>
          <a:p>
            <a:pPr algn="l">
              <a:lnSpc>
                <a:spcPct val="106000"/>
              </a:lnSpc>
            </a:pPr>
            <a:r>
              <a:rPr sz="900" b="0" i="0">
                <a:solidFill>
                  <a:srgbClr val="DDE4EC"/>
                </a:solidFill>
                <a:latin typeface="Consolas"/>
              </a:rPr>
              <a:t>-    model = HMR2(model_cfg)</a:t>
            </a:r>
          </a:p>
          <a:p>
            <a:pPr algn="l">
              <a:lnSpc>
                <a:spcPct val="106000"/>
              </a:lnSpc>
            </a:pPr>
            <a:r>
              <a:rPr sz="900" b="0" i="0">
                <a:solidFill>
                  <a:srgbClr val="DDE4EC"/>
                </a:solidFill>
                <a:latin typeface="Consolas"/>
              </a:rPr>
              <a:t>+    # Build directly on the GPU when available: on low-RAM hosts a CPU-side copy</a:t>
            </a:r>
          </a:p>
          <a:p>
            <a:pPr algn="l">
              <a:lnSpc>
                <a:spcPct val="106000"/>
              </a:lnSpc>
            </a:pPr>
            <a:r>
              <a:rPr sz="900" b="0" i="0">
                <a:solidFill>
                  <a:srgbClr val="DDE4EC"/>
                </a:solidFill>
                <a:latin typeface="Consolas"/>
              </a:rPr>
              <a:t>+    # of the ViT-H backbone next to the mmapped checkpoint thrashes the page cache.</a:t>
            </a:r>
          </a:p>
          <a:p>
            <a:pPr algn="l">
              <a:lnSpc>
                <a:spcPct val="106000"/>
              </a:lnSpc>
            </a:pPr>
            <a:r>
              <a:rPr sz="900" b="0" i="0">
                <a:solidFill>
                  <a:srgbClr val="DDE4EC"/>
                </a:solidFill>
                <a:latin typeface="Consolas"/>
              </a:rPr>
              <a:t>+    build_device = torch.device("cuda" if torch.cuda.is_available() else "cpu")</a:t>
            </a:r>
          </a:p>
          <a:p>
            <a:pPr algn="l">
              <a:lnSpc>
                <a:spcPct val="106000"/>
              </a:lnSpc>
            </a:pPr>
            <a:r>
              <a:rPr sz="900" b="0" i="0">
                <a:solidFill>
                  <a:srgbClr val="DDE4EC"/>
                </a:solidFill>
                <a:latin typeface="Consolas"/>
              </a:rPr>
              <a:t>+    with torch.device(build_device):</a:t>
            </a:r>
          </a:p>
          <a:p>
            <a:pPr algn="l">
              <a:lnSpc>
                <a:spcPct val="106000"/>
              </a:lnSpc>
            </a:pPr>
            <a:r>
              <a:rPr sz="900" b="0" i="0">
                <a:solidFill>
                  <a:srgbClr val="DDE4EC"/>
                </a:solidFill>
                <a:latin typeface="Consolas"/>
              </a:rPr>
              <a:t>+        model = HMR2(model_cfg)</a:t>
            </a:r>
          </a:p>
          <a:p>
            <a:pPr algn="l">
              <a:lnSpc>
                <a:spcPct val="106000"/>
              </a:lnSpc>
            </a:pPr>
            <a:r>
              <a:rPr sz="900" b="0" i="0">
                <a:solidFill>
                  <a:srgbClr val="DDE4EC"/>
                </a:solidFill>
                <a:latin typeface="Consolas"/>
              </a:rPr>
              <a:t> </a:t>
            </a:r>
          </a:p>
          <a:p>
            <a:pPr algn="l">
              <a:lnSpc>
                <a:spcPct val="106000"/>
              </a:lnSpc>
            </a:pPr>
            <a:r>
              <a:rPr sz="900" b="0" i="0">
                <a:solidFill>
                  <a:srgbClr val="DDE4EC"/>
                </a:solidFill>
                <a:latin typeface="Consolas"/>
              </a:rPr>
              <a:t>-    state_dict = torch.load(checkpoint_path, map_location="cpu")["state_dict"]</a:t>
            </a:r>
          </a:p>
          <a:p>
            <a:pPr algn="l">
              <a:lnSpc>
                <a:spcPct val="106000"/>
              </a:lnSpc>
            </a:pPr>
            <a:r>
              <a:rPr sz="900" b="0" i="0">
                <a:solidFill>
                  <a:srgbClr val="DDE4EC"/>
                </a:solidFill>
                <a:latin typeface="Consolas"/>
              </a:rPr>
              <a:t>+    state_dict = torch.load(checkpoint_path, map_location="cpu", mmap=True)["state_dict"]  # mmap: avoid a full RAM copy on low-RAM hosts</a:t>
            </a:r>
          </a:p>
          <a:p>
            <a:pPr algn="l">
              <a:lnSpc>
                <a:spcPct val="106000"/>
              </a:lnSpc>
            </a:pPr>
            <a:r>
              <a:rPr sz="900" b="0" i="0">
                <a:solidFill>
                  <a:srgbClr val="DDE4EC"/>
                </a:solidFill>
                <a:latin typeface="Consolas"/>
              </a:rPr>
              <a:t>     keys = [k for k in state_dict.keys() if k.split(".")[0] in ["backbone", "smpl_head"]]</a:t>
            </a:r>
          </a:p>
          <a:p>
            <a:pPr algn="l">
              <a:lnSpc>
                <a:spcPct val="106000"/>
              </a:lnSpc>
            </a:pPr>
            <a:r>
              <a:rPr sz="900" b="0" i="0">
                <a:solidFill>
                  <a:srgbClr val="DDE4EC"/>
                </a:solidFill>
                <a:latin typeface="Consolas"/>
              </a:rPr>
              <a:t>     state_dict = {k: v for k, v in state_dict.items() if k in keys}</a:t>
            </a:r>
          </a:p>
          <a:p>
            <a:pPr algn="l">
              <a:lnSpc>
                <a:spcPct val="106000"/>
              </a:lnSpc>
            </a:pPr>
            <a:r>
              <a:rPr sz="900" b="0" i="0">
                <a:solidFill>
                  <a:srgbClr val="DDE4EC"/>
                </a:solidFill>
                <a:latin typeface="Consolas"/>
              </a:rPr>
              <a:t>     model.load_state_dict(state_dict, strict=True)</a:t>
            </a:r>
          </a:p>
        </p:txBody>
      </p:sp>
      <p:sp>
        <p:nvSpPr>
          <p:cNvPr id="7" name="Rounded Rectangle 6"/>
          <p:cNvSpPr/>
          <p:nvPr/>
        </p:nvSpPr>
        <p:spPr>
          <a:xfrm>
            <a:off x="7726679" y="1463040"/>
            <a:ext cx="3886200" cy="23774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19288" y="1627632"/>
            <a:ext cx="3337560" cy="411480"/>
          </a:xfrm>
          <a:prstGeom prst="rect">
            <a:avLst/>
          </a:prstGeom>
          <a:noFill/>
        </p:spPr>
        <p:txBody>
          <a:bodyPr wrap="square">
            <a:spAutoFit/>
          </a:bodyPr>
          <a:lstStyle/>
          <a:p>
            <a:pPr algn="l">
              <a:lnSpc>
                <a:spcPct val="100000"/>
              </a:lnSpc>
            </a:pPr>
            <a:r>
              <a:rPr sz="1600" b="1" i="0">
                <a:solidFill>
                  <a:srgbClr val="0F7A6B"/>
                </a:solidFill>
                <a:latin typeface="Calibri"/>
              </a:rPr>
              <a:t>Edit 1: mmap=True</a:t>
            </a:r>
          </a:p>
        </p:txBody>
      </p:sp>
      <p:sp>
        <p:nvSpPr>
          <p:cNvPr id="9" name="TextBox 8"/>
          <p:cNvSpPr txBox="1"/>
          <p:nvPr/>
        </p:nvSpPr>
        <p:spPr>
          <a:xfrm>
            <a:off x="8019288" y="2121408"/>
            <a:ext cx="3300984" cy="1591056"/>
          </a:xfrm>
          <a:prstGeom prst="rect">
            <a:avLst/>
          </a:prstGeom>
          <a:noFill/>
        </p:spPr>
        <p:txBody>
          <a:bodyPr wrap="square">
            <a:spAutoFit/>
          </a:bodyPr>
          <a:lstStyle/>
          <a:p>
            <a:pPr algn="l">
              <a:lnSpc>
                <a:spcPct val="125000"/>
              </a:lnSpc>
            </a:pPr>
            <a:r>
              <a:rPr sz="1400" b="0" i="0">
                <a:solidFill>
                  <a:srgbClr val="22252A"/>
                </a:solidFill>
                <a:latin typeface="Calibri"/>
              </a:rPr>
              <a:t>The checkpoint is memory-mapped instead of read into RAM. Pages come in as the weights are copied to the GPU and go straight back out.</a:t>
            </a:r>
          </a:p>
        </p:txBody>
      </p:sp>
      <p:sp>
        <p:nvSpPr>
          <p:cNvPr id="10" name="Rounded Rectangle 9"/>
          <p:cNvSpPr/>
          <p:nvPr/>
        </p:nvSpPr>
        <p:spPr>
          <a:xfrm>
            <a:off x="7726679" y="3977639"/>
            <a:ext cx="3886200" cy="246888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19288" y="4142231"/>
            <a:ext cx="3337560" cy="411480"/>
          </a:xfrm>
          <a:prstGeom prst="rect">
            <a:avLst/>
          </a:prstGeom>
          <a:noFill/>
        </p:spPr>
        <p:txBody>
          <a:bodyPr wrap="square">
            <a:spAutoFit/>
          </a:bodyPr>
          <a:lstStyle/>
          <a:p>
            <a:pPr algn="l">
              <a:lnSpc>
                <a:spcPct val="100000"/>
              </a:lnSpc>
            </a:pPr>
            <a:r>
              <a:rPr sz="1600" b="1" i="0">
                <a:solidFill>
                  <a:srgbClr val="B8862E"/>
                </a:solidFill>
                <a:latin typeface="Calibri"/>
              </a:rPr>
              <a:t>Edit 2: build on the GPU</a:t>
            </a:r>
          </a:p>
        </p:txBody>
      </p:sp>
      <p:sp>
        <p:nvSpPr>
          <p:cNvPr id="12" name="TextBox 11"/>
          <p:cNvSpPr txBox="1"/>
          <p:nvPr/>
        </p:nvSpPr>
        <p:spPr>
          <a:xfrm>
            <a:off x="8019288" y="4636007"/>
            <a:ext cx="3300984" cy="1682496"/>
          </a:xfrm>
          <a:prstGeom prst="rect">
            <a:avLst/>
          </a:prstGeom>
          <a:noFill/>
        </p:spPr>
        <p:txBody>
          <a:bodyPr wrap="square">
            <a:spAutoFit/>
          </a:bodyPr>
          <a:lstStyle/>
          <a:p>
            <a:pPr algn="l">
              <a:lnSpc>
                <a:spcPct val="125000"/>
              </a:lnSpc>
            </a:pPr>
            <a:r>
              <a:rPr sz="1150" b="0" i="0">
                <a:solidFill>
                  <a:srgbClr val="22252A"/>
                </a:solidFill>
                <a:latin typeface="Calibri"/>
              </a:rPr>
              <a:t>with torch.device("cuda") makes the model's tensors land on the card as they are created. No CPU copy ever exists.</a:t>
            </a:r>
          </a:p>
          <a:p>
            <a:pPr algn="l">
              <a:lnSpc>
                <a:spcPct val="125000"/>
              </a:lnSpc>
            </a:pPr>
          </a:p>
          <a:p>
            <a:pPr algn="l">
              <a:lnSpc>
                <a:spcPct val="125000"/>
              </a:lnSpc>
            </a:pPr>
            <a:r>
              <a:rPr sz="1150" b="0" i="0">
                <a:solidFill>
                  <a:srgbClr val="22252A"/>
                </a:solidFill>
                <a:latin typeface="Calibri"/>
              </a:rPr>
              <a:t>ViTPose load: 343 s → 14 s warm, ~70 s cold.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After the copy: what changed, what did not</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honest answer to "did you modify GVHMR" is: not the model, not the method, not the output.</a:t>
            </a:r>
          </a:p>
        </p:txBody>
      </p:sp>
      <p:sp>
        <p:nvSpPr>
          <p:cNvPr id="4" name="Rounded Rectangle 3"/>
          <p:cNvSpPr/>
          <p:nvPr/>
        </p:nvSpPr>
        <p:spPr>
          <a:xfrm>
            <a:off x="566928" y="1508760"/>
            <a:ext cx="5486400" cy="493776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691640"/>
            <a:ext cx="4937760" cy="457200"/>
          </a:xfrm>
          <a:prstGeom prst="rect">
            <a:avLst/>
          </a:prstGeom>
          <a:noFill/>
        </p:spPr>
        <p:txBody>
          <a:bodyPr wrap="square">
            <a:spAutoFit/>
          </a:bodyPr>
          <a:lstStyle/>
          <a:p>
            <a:pPr algn="l">
              <a:lnSpc>
                <a:spcPct val="100000"/>
              </a:lnSpc>
            </a:pPr>
            <a:r>
              <a:rPr sz="2000" b="1" i="0">
                <a:solidFill>
                  <a:srgbClr val="0F7A6B"/>
                </a:solidFill>
                <a:latin typeface="Calibri"/>
              </a:rPr>
              <a:t>STAYED STOCK</a:t>
            </a:r>
          </a:p>
        </p:txBody>
      </p:sp>
      <p:sp>
        <p:nvSpPr>
          <p:cNvPr id="6" name="TextBox 5"/>
          <p:cNvSpPr txBox="1"/>
          <p:nvPr/>
        </p:nvSpPr>
        <p:spPr>
          <a:xfrm>
            <a:off x="868680" y="2240280"/>
            <a:ext cx="4937760" cy="4114800"/>
          </a:xfrm>
          <a:prstGeom prst="rect">
            <a:avLst/>
          </a:prstGeom>
          <a:noFill/>
        </p:spPr>
        <p:txBody>
          <a:bodyPr wrap="square">
            <a:spAutoFit/>
          </a:bodyPr>
          <a:lstStyle/>
          <a:p>
            <a:pPr algn="l">
              <a:lnSpc>
                <a:spcPct val="115000"/>
              </a:lnSpc>
            </a:pPr>
            <a:r>
              <a:rPr sz="1400" b="0" i="0">
                <a:solidFill>
                  <a:srgbClr val="22252A"/>
                </a:solidFill>
                <a:latin typeface="Calibri"/>
              </a:rPr>
              <a:t>The weights — every checkpoint is the authors' file, byte for byte</a:t>
            </a:r>
          </a:p>
          <a:p>
            <a:pPr algn="l">
              <a:lnSpc>
                <a:spcPct val="115000"/>
              </a:lnSpc>
            </a:pPr>
          </a:p>
          <a:p>
            <a:pPr algn="l">
              <a:lnSpc>
                <a:spcPct val="115000"/>
              </a:lnSpc>
            </a:pPr>
            <a:r>
              <a:rPr sz="1400" b="0" i="0">
                <a:solidFill>
                  <a:srgbClr val="22252A"/>
                </a:solidFill>
                <a:latin typeface="Calibri"/>
              </a:rPr>
              <a:t>The network — transformer, HMR2 encoder, ViTPose, YOLO: untouched</a:t>
            </a:r>
          </a:p>
          <a:p>
            <a:pPr algn="l">
              <a:lnSpc>
                <a:spcPct val="115000"/>
              </a:lnSpc>
            </a:pPr>
          </a:p>
          <a:p>
            <a:pPr algn="l">
              <a:lnSpc>
                <a:spcPct val="115000"/>
              </a:lnSpc>
            </a:pPr>
            <a:r>
              <a:rPr sz="1400" b="0" i="0">
                <a:solidFill>
                  <a:srgbClr val="22252A"/>
                </a:solidFill>
                <a:latin typeface="Calibri"/>
              </a:rPr>
              <a:t>The demo script and the preprocessing order</a:t>
            </a:r>
          </a:p>
          <a:p>
            <a:pPr algn="l">
              <a:lnSpc>
                <a:spcPct val="115000"/>
              </a:lnSpc>
            </a:pPr>
          </a:p>
          <a:p>
            <a:pPr algn="l">
              <a:lnSpc>
                <a:spcPct val="115000"/>
              </a:lnSpc>
            </a:pPr>
            <a:r>
              <a:rPr sz="1400" b="0" i="0">
                <a:solidFill>
                  <a:srgbClr val="22252A"/>
                </a:solidFill>
                <a:latin typeface="Calibri"/>
              </a:rPr>
              <a:t>The output — hmr4d_results.pt has the same keys and shapes</a:t>
            </a:r>
          </a:p>
          <a:p>
            <a:pPr algn="l">
              <a:lnSpc>
                <a:spcPct val="115000"/>
              </a:lnSpc>
            </a:pPr>
          </a:p>
          <a:p>
            <a:pPr algn="l">
              <a:lnSpc>
                <a:spcPct val="115000"/>
              </a:lnSpc>
            </a:pPr>
            <a:r>
              <a:rPr sz="1400" b="0" i="0">
                <a:solidFill>
                  <a:srgbClr val="22252A"/>
                </a:solidFill>
                <a:latin typeface="Calibri"/>
              </a:rPr>
              <a:t>The y-up world convention and the 30 fps re-encode</a:t>
            </a:r>
          </a:p>
          <a:p>
            <a:pPr algn="l">
              <a:lnSpc>
                <a:spcPct val="115000"/>
              </a:lnSpc>
            </a:pPr>
          </a:p>
          <a:p>
            <a:pPr algn="l">
              <a:lnSpc>
                <a:spcPct val="115000"/>
              </a:lnSpc>
            </a:pPr>
            <a:r>
              <a:rPr sz="1400" b="0" i="0">
                <a:solidFill>
                  <a:srgbClr val="22252A"/>
                </a:solidFill>
                <a:latin typeface="Calibri"/>
              </a:rPr>
              <a:t>The -s static-camera path</a:t>
            </a:r>
          </a:p>
        </p:txBody>
      </p:sp>
      <p:sp>
        <p:nvSpPr>
          <p:cNvPr id="7" name="Rounded Rectangle 6"/>
          <p:cNvSpPr/>
          <p:nvPr/>
        </p:nvSpPr>
        <p:spPr>
          <a:xfrm>
            <a:off x="6190488" y="1508760"/>
            <a:ext cx="5440680" cy="493776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691640"/>
            <a:ext cx="4937760" cy="457200"/>
          </a:xfrm>
          <a:prstGeom prst="rect">
            <a:avLst/>
          </a:prstGeom>
          <a:noFill/>
        </p:spPr>
        <p:txBody>
          <a:bodyPr wrap="square">
            <a:spAutoFit/>
          </a:bodyPr>
          <a:lstStyle/>
          <a:p>
            <a:pPr algn="l">
              <a:lnSpc>
                <a:spcPct val="100000"/>
              </a:lnSpc>
            </a:pPr>
            <a:r>
              <a:rPr sz="2000" b="1" i="0">
                <a:solidFill>
                  <a:srgbClr val="B8862E"/>
                </a:solidFill>
                <a:latin typeface="Calibri"/>
              </a:rPr>
              <a:t>CHANGED</a:t>
            </a:r>
          </a:p>
        </p:txBody>
      </p:sp>
      <p:sp>
        <p:nvSpPr>
          <p:cNvPr id="9" name="TextBox 8"/>
          <p:cNvSpPr txBox="1"/>
          <p:nvPr/>
        </p:nvSpPr>
        <p:spPr>
          <a:xfrm>
            <a:off x="6492240" y="2240280"/>
            <a:ext cx="4892040" cy="4114800"/>
          </a:xfrm>
          <a:prstGeom prst="rect">
            <a:avLst/>
          </a:prstGeom>
          <a:noFill/>
        </p:spPr>
        <p:txBody>
          <a:bodyPr wrap="square">
            <a:spAutoFit/>
          </a:bodyPr>
          <a:lstStyle/>
          <a:p>
            <a:pPr algn="l">
              <a:lnSpc>
                <a:spcPct val="115000"/>
              </a:lnSpc>
            </a:pPr>
            <a:r>
              <a:rPr sz="1400" b="0" i="0">
                <a:solidFill>
                  <a:srgbClr val="22252A"/>
                </a:solidFill>
                <a:latin typeface="Calibri"/>
              </a:rPr>
              <a:t>How three checkpoints are read into memory (mmap) and where two models are constructed (GPU, not CPU).</a:t>
            </a:r>
          </a:p>
          <a:p>
            <a:pPr algn="l">
              <a:lnSpc>
                <a:spcPct val="115000"/>
              </a:lnSpc>
            </a:pPr>
          </a:p>
          <a:p>
            <a:pPr algn="l">
              <a:lnSpc>
                <a:spcPct val="115000"/>
              </a:lnSpc>
            </a:pPr>
            <a:r>
              <a:rPr sz="1400" b="0" i="0">
                <a:solidFill>
                  <a:srgbClr val="22252A"/>
                </a:solidFill>
                <a:latin typeface="Calibri"/>
              </a:rPr>
              <a:t>That is all. 16 lines, in 3 files, all inside loaders.</a:t>
            </a:r>
          </a:p>
          <a:p>
            <a:pPr algn="l">
              <a:lnSpc>
                <a:spcPct val="115000"/>
              </a:lnSpc>
            </a:pPr>
          </a:p>
          <a:p>
            <a:pPr algn="l">
              <a:lnSpc>
                <a:spcPct val="115000"/>
              </a:lnSpc>
            </a:pPr>
            <a:r>
              <a:rPr sz="1400" b="0" i="0">
                <a:solidFill>
                  <a:srgbClr val="22252A"/>
                </a:solidFill>
                <a:latin typeface="Calibri"/>
              </a:rPr>
              <a:t>It exists because of this laptop's 5.9 GB RAM cap. On a 16 GB machine stock GVHMR runs as-is, and the patch is harmless there — mmap and a device context cost nothing.</a:t>
            </a:r>
          </a:p>
          <a:p>
            <a:pPr algn="l">
              <a:lnSpc>
                <a:spcPct val="115000"/>
              </a:lnSpc>
            </a:pPr>
          </a:p>
          <a:p>
            <a:pPr algn="l">
              <a:lnSpc>
                <a:spcPct val="115000"/>
              </a:lnSpc>
            </a:pPr>
            <a:r>
              <a:rPr sz="1400" b="0" i="0">
                <a:solidFill>
                  <a:srgbClr val="22252A"/>
                </a:solidFill>
                <a:latin typeface="Calibri"/>
              </a:rPr>
              <a:t>The patch is uncommitted in ~/GVHMR (git diff). Re-cloning loses it; I keep the diff in the package.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Step 5 — the run that worked, captured this evening</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Fresh output folder so nothing was cached. 7 minutes 0 seconds for 10.4 seconds of video.</a:t>
            </a:r>
          </a:p>
        </p:txBody>
      </p:sp>
      <p:sp>
        <p:nvSpPr>
          <p:cNvPr id="4" name="Rounded Rectangle 3"/>
          <p:cNvSpPr/>
          <p:nvPr/>
        </p:nvSpPr>
        <p:spPr>
          <a:xfrm>
            <a:off x="566928" y="1463040"/>
            <a:ext cx="7589520" cy="498348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572768"/>
            <a:ext cx="7132320" cy="256032"/>
          </a:xfrm>
          <a:prstGeom prst="rect">
            <a:avLst/>
          </a:prstGeom>
          <a:noFill/>
        </p:spPr>
        <p:txBody>
          <a:bodyPr wrap="square">
            <a:spAutoFit/>
          </a:bodyPr>
          <a:lstStyle/>
          <a:p>
            <a:pPr algn="l">
              <a:lnSpc>
                <a:spcPct val="100000"/>
              </a:lnSpc>
            </a:pPr>
            <a:r>
              <a:rPr sz="1100" b="0" i="0">
                <a:solidFill>
                  <a:srgbClr val="7F93A6"/>
                </a:solidFill>
                <a:latin typeface="Consolas"/>
              </a:rPr>
              <a:t>progress bars trimmed to their final line; nothing else edited</a:t>
            </a:r>
          </a:p>
        </p:txBody>
      </p:sp>
      <p:sp>
        <p:nvSpPr>
          <p:cNvPr id="6" name="TextBox 5"/>
          <p:cNvSpPr txBox="1"/>
          <p:nvPr/>
        </p:nvSpPr>
        <p:spPr>
          <a:xfrm>
            <a:off x="786384" y="1865376"/>
            <a:ext cx="7132320" cy="4416552"/>
          </a:xfrm>
          <a:prstGeom prst="rect">
            <a:avLst/>
          </a:prstGeom>
          <a:noFill/>
        </p:spPr>
        <p:txBody>
          <a:bodyPr wrap="square">
            <a:spAutoFit/>
          </a:bodyPr>
          <a:lstStyle/>
          <a:p>
            <a:pPr algn="l">
              <a:lnSpc>
                <a:spcPct val="106000"/>
              </a:lnSpc>
            </a:pPr>
            <a:r>
              <a:rPr sz="900" b="0" i="0">
                <a:solidFill>
                  <a:srgbClr val="DDE4EC"/>
                </a:solidFill>
                <a:latin typeface="Consolas"/>
              </a:rPr>
              <a:t>$ conda activate gvhmr</a:t>
            </a:r>
          </a:p>
          <a:p>
            <a:pPr algn="l">
              <a:lnSpc>
                <a:spcPct val="106000"/>
              </a:lnSpc>
            </a:pPr>
            <a:r>
              <a:rPr sz="900" b="0" i="0">
                <a:solidFill>
                  <a:srgbClr val="DDE4EC"/>
                </a:solidFill>
                <a:latin typeface="Consolas"/>
              </a:rPr>
              <a:t>$ cd ~/GVHMR</a:t>
            </a:r>
          </a:p>
          <a:p>
            <a:pPr algn="l">
              <a:lnSpc>
                <a:spcPct val="106000"/>
              </a:lnSpc>
            </a:pPr>
            <a:r>
              <a:rPr sz="900" b="0" i="0">
                <a:solidFill>
                  <a:srgbClr val="DDE4EC"/>
                </a:solidFill>
                <a:latin typeface="Consolas"/>
              </a:rPr>
              <a:t>$ python tools/demo/demo.py --video=docs/example_video/tennis.mp4 -s --output_root outputs/week27_capture</a:t>
            </a:r>
          </a:p>
          <a:p>
            <a:pPr algn="l">
              <a:lnSpc>
                <a:spcPct val="106000"/>
              </a:lnSpc>
            </a:pPr>
            <a:r>
              <a:rPr sz="900" b="0" i="0">
                <a:solidFill>
                  <a:srgbClr val="DDE4EC"/>
                </a:solidFill>
                <a:latin typeface="Consolas"/>
              </a:rPr>
              <a:t># started 2026-09-17 21:39:58</a:t>
            </a:r>
          </a:p>
          <a:p>
            <a:pPr algn="l">
              <a:lnSpc>
                <a:spcPct val="106000"/>
              </a:lnSpc>
            </a:pPr>
            <a:r>
              <a:rPr sz="900" b="0" i="0">
                <a:solidFill>
                  <a:srgbClr val="DDE4EC"/>
                </a:solidFill>
                <a:latin typeface="Consolas"/>
              </a:rPr>
              <a:t>[21:40:09][INFO] [Input]: docs/example_video/tennis.mp4</a:t>
            </a:r>
          </a:p>
          <a:p>
            <a:pPr algn="l">
              <a:lnSpc>
                <a:spcPct val="106000"/>
              </a:lnSpc>
            </a:pPr>
            <a:r>
              <a:rPr sz="900" b="0" i="0">
                <a:solidFill>
                  <a:srgbClr val="DDE4EC"/>
                </a:solidFill>
                <a:latin typeface="Consolas"/>
              </a:rPr>
              <a:t>[21:40:09][INFO] (L, W, H) = (312, 812, 720)</a:t>
            </a:r>
          </a:p>
          <a:p>
            <a:pPr algn="l">
              <a:lnSpc>
                <a:spcPct val="106000"/>
              </a:lnSpc>
            </a:pPr>
            <a:r>
              <a:rPr sz="900" b="0" i="0">
                <a:solidFill>
                  <a:srgbClr val="DDE4EC"/>
                </a:solidFill>
                <a:latin typeface="Consolas"/>
              </a:rPr>
              <a:t>[21:40:10][INFO] [Output Dir]: outputs/week27_capture/tennis</a:t>
            </a:r>
          </a:p>
          <a:p>
            <a:pPr algn="l">
              <a:lnSpc>
                <a:spcPct val="106000"/>
              </a:lnSpc>
            </a:pPr>
            <a:r>
              <a:rPr sz="900" b="0" i="0">
                <a:solidFill>
                  <a:srgbClr val="DDE4EC"/>
                </a:solidFill>
                <a:latin typeface="Consolas"/>
              </a:rPr>
              <a:t>[21:40:10][INFO] [Copy Video] docs/example_video/tennis.mp4 -&gt; outputs/week27_capture/tennis/0_input_video.mp4</a:t>
            </a:r>
          </a:p>
          <a:p>
            <a:pPr algn="l">
              <a:lnSpc>
                <a:spcPct val="106000"/>
              </a:lnSpc>
            </a:pPr>
            <a:r>
              <a:rPr sz="900" b="0" i="0">
                <a:solidFill>
                  <a:srgbClr val="DDE4EC"/>
                </a:solidFill>
                <a:latin typeface="Consolas"/>
              </a:rPr>
              <a:t>Copy: 100%|██████████| 312/312 [00:04&lt;00:00, 64.03it/s]</a:t>
            </a:r>
          </a:p>
          <a:p>
            <a:pPr algn="l">
              <a:lnSpc>
                <a:spcPct val="106000"/>
              </a:lnSpc>
            </a:pPr>
            <a:r>
              <a:rPr sz="900" b="0" i="0">
                <a:solidFill>
                  <a:srgbClr val="DDE4EC"/>
                </a:solidFill>
                <a:latin typeface="Consolas"/>
              </a:rPr>
              <a:t>[21:40:15][INFO] [GPU]: NVIDIA GeForce GTX 1650</a:t>
            </a:r>
          </a:p>
          <a:p>
            <a:pPr algn="l">
              <a:lnSpc>
                <a:spcPct val="106000"/>
              </a:lnSpc>
            </a:pPr>
            <a:r>
              <a:rPr sz="900" b="0" i="0">
                <a:solidFill>
                  <a:srgbClr val="DDE4EC"/>
                </a:solidFill>
                <a:latin typeface="Consolas"/>
              </a:rPr>
              <a:t>[21:40:15][INFO] [GPU]: _CudaDeviceProperties(name='NVIDIA GeForce GTX 1650', major=7, minor=5, total_memory=4095MB, multi_processor_count=16)</a:t>
            </a:r>
          </a:p>
          <a:p>
            <a:pPr algn="l">
              <a:lnSpc>
                <a:spcPct val="106000"/>
              </a:lnSpc>
            </a:pPr>
            <a:r>
              <a:rPr sz="900" b="0" i="0">
                <a:solidFill>
                  <a:srgbClr val="DDE4EC"/>
                </a:solidFill>
                <a:latin typeface="Consolas"/>
              </a:rPr>
              <a:t>[21:40:15][INFO] [Preprocess] Start!</a:t>
            </a:r>
          </a:p>
          <a:p>
            <a:pPr algn="l">
              <a:lnSpc>
                <a:spcPct val="106000"/>
              </a:lnSpc>
            </a:pPr>
            <a:r>
              <a:rPr sz="900" b="0" i="0">
                <a:solidFill>
                  <a:srgbClr val="DDE4EC"/>
                </a:solidFill>
                <a:latin typeface="Consolas"/>
              </a:rPr>
              <a:t>YoloV8 Tracking: 100%|██████████| 312/312 [00:39&lt;00:00,  7.84it/s]</a:t>
            </a:r>
          </a:p>
          <a:p>
            <a:pPr algn="l">
              <a:lnSpc>
                <a:spcPct val="106000"/>
              </a:lnSpc>
            </a:pPr>
            <a:r>
              <a:rPr sz="900" b="0" i="0">
                <a:solidFill>
                  <a:srgbClr val="DDE4EC"/>
                </a:solidFill>
                <a:latin typeface="Consolas"/>
              </a:rPr>
              <a:t>ViTPose: 100%|██████████| 20/20 [02:29&lt;00:00,  7.47s/it]</a:t>
            </a:r>
          </a:p>
          <a:p>
            <a:pPr algn="l">
              <a:lnSpc>
                <a:spcPct val="106000"/>
              </a:lnSpc>
            </a:pPr>
            <a:r>
              <a:rPr sz="900" b="0" i="0">
                <a:solidFill>
                  <a:srgbClr val="DDE4EC"/>
                </a:solidFill>
                <a:latin typeface="Consolas"/>
              </a:rPr>
              <a:t>HMR2 Feature: 100%|██████████| 20/20 [01:08&lt;00:00,  3.42s/it]</a:t>
            </a:r>
          </a:p>
          <a:p>
            <a:pPr algn="l">
              <a:lnSpc>
                <a:spcPct val="106000"/>
              </a:lnSpc>
            </a:pPr>
            <a:r>
              <a:rPr sz="900" b="0" i="0">
                <a:solidFill>
                  <a:srgbClr val="DDE4EC"/>
                </a:solidFill>
                <a:latin typeface="Consolas"/>
              </a:rPr>
              <a:t>[21:46:01][INFO] [Preprocess] End. Time elapsed: 345.41s</a:t>
            </a:r>
          </a:p>
          <a:p>
            <a:pPr algn="l">
              <a:lnSpc>
                <a:spcPct val="106000"/>
              </a:lnSpc>
            </a:pPr>
            <a:r>
              <a:rPr sz="900" b="0" i="0">
                <a:solidFill>
                  <a:srgbClr val="DDE4EC"/>
                </a:solidFill>
                <a:latin typeface="Consolas"/>
              </a:rPr>
              <a:t>[21:46:01][INFO] [HMR4D] Predicting</a:t>
            </a:r>
          </a:p>
          <a:p>
            <a:pPr algn="l">
              <a:lnSpc>
                <a:spcPct val="106000"/>
              </a:lnSpc>
            </a:pPr>
            <a:r>
              <a:rPr sz="900" b="0" i="0">
                <a:solidFill>
                  <a:srgbClr val="DDE4EC"/>
                </a:solidFill>
                <a:latin typeface="Consolas"/>
              </a:rPr>
              <a:t>[21:46:03][INFO] [EnDecoder] Use MM_V1_AMASS_LOCAL_BEDLAM_CAM for statistics!</a:t>
            </a:r>
          </a:p>
          <a:p>
            <a:pPr algn="l">
              <a:lnSpc>
                <a:spcPct val="106000"/>
              </a:lnSpc>
            </a:pPr>
            <a:r>
              <a:rPr sz="900" b="0" i="0">
                <a:solidFill>
                  <a:srgbClr val="DDE4EC"/>
                </a:solidFill>
                <a:latin typeface="Consolas"/>
              </a:rPr>
              <a:t>[21:46:09][INFO] [PL-Trainer] Loading ckpt type: inputs/checkpoints/gvhmr/gvhmr_siga24_release.ckpt</a:t>
            </a:r>
          </a:p>
          <a:p>
            <a:pPr algn="l">
              <a:lnSpc>
                <a:spcPct val="106000"/>
              </a:lnSpc>
            </a:pPr>
            <a:r>
              <a:rPr sz="900" b="0" i="0">
                <a:solidFill>
                  <a:srgbClr val="DDE4EC"/>
                </a:solidFill>
                <a:latin typeface="Consolas"/>
              </a:rPr>
              <a:t>[21:46:12][INFO] [HMR4D] Elapsed: 3.08s for data-length=10.4s</a:t>
            </a:r>
          </a:p>
          <a:p>
            <a:pPr algn="l">
              <a:lnSpc>
                <a:spcPct val="106000"/>
              </a:lnSpc>
            </a:pPr>
            <a:r>
              <a:rPr sz="900" b="0" i="0">
                <a:solidFill>
                  <a:srgbClr val="DDE4EC"/>
                </a:solidFill>
                <a:latin typeface="Consolas"/>
              </a:rPr>
              <a:t>Traceback (most recent call last):   [... 10 frames trimmed ...]</a:t>
            </a:r>
          </a:p>
          <a:p>
            <a:pPr algn="l">
              <a:lnSpc>
                <a:spcPct val="106000"/>
              </a:lnSpc>
            </a:pPr>
            <a:r>
              <a:rPr sz="900" b="0" i="0">
                <a:solidFill>
                  <a:srgbClr val="DDE4EC"/>
                </a:solidFill>
                <a:latin typeface="Consolas"/>
              </a:rPr>
              <a:t>    render_incam(cfg)</a:t>
            </a:r>
          </a:p>
          <a:p>
            <a:pPr algn="l">
              <a:lnSpc>
                <a:spcPct val="106000"/>
              </a:lnSpc>
            </a:pPr>
            <a:r>
              <a:rPr sz="900" b="0" i="0">
                <a:solidFill>
                  <a:srgbClr val="DDE4EC"/>
                </a:solidFill>
                <a:latin typeface="Consolas"/>
              </a:rPr>
              <a:t>AssertionError: Path /home/sql/GVHMR/inputs/checkpoints/body_models/smpl does not exist!</a:t>
            </a:r>
          </a:p>
          <a:p>
            <a:pPr algn="l">
              <a:lnSpc>
                <a:spcPct val="106000"/>
              </a:lnSpc>
            </a:pPr>
            <a:r>
              <a:rPr sz="900" b="0" i="0">
                <a:solidFill>
                  <a:srgbClr val="DDE4EC"/>
                </a:solidFill>
                <a:latin typeface="Consolas"/>
              </a:rPr>
              <a:t># finished 2026-09-17 21:46:58</a:t>
            </a:r>
          </a:p>
        </p:txBody>
      </p:sp>
      <p:sp>
        <p:nvSpPr>
          <p:cNvPr id="7" name="Rounded Rectangle 6"/>
          <p:cNvSpPr/>
          <p:nvPr/>
        </p:nvSpPr>
        <p:spPr>
          <a:xfrm>
            <a:off x="8366760" y="1463040"/>
            <a:ext cx="3246120" cy="228600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59368" y="1627632"/>
            <a:ext cx="2697479" cy="411480"/>
          </a:xfrm>
          <a:prstGeom prst="rect">
            <a:avLst/>
          </a:prstGeom>
          <a:noFill/>
        </p:spPr>
        <p:txBody>
          <a:bodyPr wrap="square">
            <a:spAutoFit/>
          </a:bodyPr>
          <a:lstStyle/>
          <a:p>
            <a:pPr algn="l">
              <a:lnSpc>
                <a:spcPct val="100000"/>
              </a:lnSpc>
            </a:pPr>
            <a:r>
              <a:rPr sz="1500" b="1" i="0">
                <a:solidFill>
                  <a:srgbClr val="0F7A6B"/>
                </a:solidFill>
                <a:latin typeface="Calibri"/>
              </a:rPr>
              <a:t>Where the time goes</a:t>
            </a:r>
          </a:p>
        </p:txBody>
      </p:sp>
      <p:sp>
        <p:nvSpPr>
          <p:cNvPr id="9" name="TextBox 8"/>
          <p:cNvSpPr txBox="1"/>
          <p:nvPr/>
        </p:nvSpPr>
        <p:spPr>
          <a:xfrm>
            <a:off x="8659368" y="2121408"/>
            <a:ext cx="2660903" cy="1499616"/>
          </a:xfrm>
          <a:prstGeom prst="rect">
            <a:avLst/>
          </a:prstGeom>
          <a:noFill/>
        </p:spPr>
        <p:txBody>
          <a:bodyPr wrap="square">
            <a:spAutoFit/>
          </a:bodyPr>
          <a:lstStyle/>
          <a:p>
            <a:pPr algn="l">
              <a:lnSpc>
                <a:spcPct val="125000"/>
              </a:lnSpc>
            </a:pPr>
            <a:r>
              <a:rPr sz="1150" b="0" i="0">
                <a:solidFill>
                  <a:srgbClr val="22252A"/>
                </a:solidFill>
                <a:latin typeface="Calibri"/>
              </a:rPr>
              <a:t>YOLO 39 s · ViTPose 2:29 · HMR2 1:08 · GVHMR itself 3.08 s.</a:t>
            </a:r>
          </a:p>
          <a:p>
            <a:pPr algn="l">
              <a:lnSpc>
                <a:spcPct val="125000"/>
              </a:lnSpc>
            </a:pPr>
            <a:r>
              <a:rPr sz="1150" b="0" i="0">
                <a:solidFill>
                  <a:srgbClr val="22252A"/>
                </a:solidFill>
                <a:latin typeface="Calibri"/>
              </a:rPr>
              <a:t>The two ViT-Huge detectors are 95 % of it. The paper's 280 ms is the last line only.</a:t>
            </a:r>
          </a:p>
        </p:txBody>
      </p:sp>
      <p:sp>
        <p:nvSpPr>
          <p:cNvPr id="10" name="Rounded Rectangle 9"/>
          <p:cNvSpPr/>
          <p:nvPr/>
        </p:nvSpPr>
        <p:spPr>
          <a:xfrm>
            <a:off x="8366760" y="3886200"/>
            <a:ext cx="3246120" cy="256032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59368" y="4050791"/>
            <a:ext cx="2697479" cy="411480"/>
          </a:xfrm>
          <a:prstGeom prst="rect">
            <a:avLst/>
          </a:prstGeom>
          <a:noFill/>
        </p:spPr>
        <p:txBody>
          <a:bodyPr wrap="square">
            <a:spAutoFit/>
          </a:bodyPr>
          <a:lstStyle/>
          <a:p>
            <a:pPr algn="l">
              <a:lnSpc>
                <a:spcPct val="100000"/>
              </a:lnSpc>
            </a:pPr>
            <a:r>
              <a:rPr sz="1500" b="1" i="0">
                <a:solidFill>
                  <a:srgbClr val="B8862E"/>
                </a:solidFill>
                <a:latin typeface="Calibri"/>
              </a:rPr>
              <a:t>The crash at the end is cosmetic</a:t>
            </a:r>
          </a:p>
        </p:txBody>
      </p:sp>
      <p:sp>
        <p:nvSpPr>
          <p:cNvPr id="12" name="TextBox 11"/>
          <p:cNvSpPr txBox="1"/>
          <p:nvPr/>
        </p:nvSpPr>
        <p:spPr>
          <a:xfrm>
            <a:off x="8659368" y="4544568"/>
            <a:ext cx="2660903" cy="1773936"/>
          </a:xfrm>
          <a:prstGeom prst="rect">
            <a:avLst/>
          </a:prstGeom>
          <a:noFill/>
        </p:spPr>
        <p:txBody>
          <a:bodyPr wrap="square">
            <a:spAutoFit/>
          </a:bodyPr>
          <a:lstStyle/>
          <a:p>
            <a:pPr algn="l">
              <a:lnSpc>
                <a:spcPct val="125000"/>
              </a:lnSpc>
            </a:pPr>
            <a:r>
              <a:rPr sz="1300" b="0" i="0">
                <a:solidFill>
                  <a:srgbClr val="22252A"/>
                </a:solidFill>
                <a:latin typeface="Calibri"/>
              </a:rPr>
              <a:t>hmr4d_results.pt is written at 21:46:12. The traceback is the overlay renderer asking for the SMPL .pkl I never registered for. The file I need already exists.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1005840" y="2240280"/>
            <a:ext cx="82296" cy="192024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2212848"/>
            <a:ext cx="9601200" cy="365760"/>
          </a:xfrm>
          <a:prstGeom prst="rect">
            <a:avLst/>
          </a:prstGeom>
          <a:noFill/>
        </p:spPr>
        <p:txBody>
          <a:bodyPr wrap="square">
            <a:spAutoFit/>
          </a:bodyPr>
          <a:lstStyle/>
          <a:p>
            <a:pPr algn="l">
              <a:lnSpc>
                <a:spcPct val="100000"/>
              </a:lnSpc>
            </a:pPr>
            <a:r>
              <a:rPr sz="1500" b="0" i="0">
                <a:solidFill>
                  <a:srgbClr val="B8862E"/>
                </a:solidFill>
                <a:latin typeface="Calibri"/>
              </a:rPr>
              <a:t>Part 4</a:t>
            </a:r>
          </a:p>
        </p:txBody>
      </p:sp>
      <p:sp>
        <p:nvSpPr>
          <p:cNvPr id="4" name="TextBox 3"/>
          <p:cNvSpPr txBox="1"/>
          <p:nvPr/>
        </p:nvSpPr>
        <p:spPr>
          <a:xfrm>
            <a:off x="1371600" y="2606040"/>
            <a:ext cx="9601200" cy="822960"/>
          </a:xfrm>
          <a:prstGeom prst="rect">
            <a:avLst/>
          </a:prstGeom>
          <a:noFill/>
        </p:spPr>
        <p:txBody>
          <a:bodyPr wrap="square">
            <a:spAutoFit/>
          </a:bodyPr>
          <a:lstStyle/>
          <a:p>
            <a:pPr algn="l">
              <a:lnSpc>
                <a:spcPct val="100000"/>
              </a:lnSpc>
            </a:pPr>
            <a:r>
              <a:rPr sz="4000" b="1" i="0">
                <a:solidFill>
                  <a:srgbClr val="FFFFFF"/>
                </a:solidFill>
                <a:latin typeface="Calibri"/>
              </a:rPr>
              <a:t>Using it — the join to GMR</a:t>
            </a:r>
          </a:p>
        </p:txBody>
      </p:sp>
      <p:sp>
        <p:nvSpPr>
          <p:cNvPr id="5" name="TextBox 4"/>
          <p:cNvSpPr txBox="1"/>
          <p:nvPr/>
        </p:nvSpPr>
        <p:spPr>
          <a:xfrm>
            <a:off x="1371600" y="3520440"/>
            <a:ext cx="9601200" cy="457200"/>
          </a:xfrm>
          <a:prstGeom prst="rect">
            <a:avLst/>
          </a:prstGeom>
          <a:noFill/>
        </p:spPr>
        <p:txBody>
          <a:bodyPr wrap="square">
            <a:spAutoFit/>
          </a:bodyPr>
          <a:lstStyle/>
          <a:p>
            <a:pPr algn="l">
              <a:lnSpc>
                <a:spcPct val="100000"/>
              </a:lnSpc>
            </a:pPr>
            <a:r>
              <a:rPr sz="2000" b="0" i="0">
                <a:solidFill>
                  <a:srgbClr val="C9D2DA"/>
                </a:solidFill>
                <a:latin typeface="Calibri"/>
              </a:rPr>
              <a:t>hmr4d_results.pt in, an R1 motion file out, and a drift I had to fix</a:t>
            </a:r>
          </a:p>
        </p:txBody>
      </p:sp>
      <p:sp>
        <p:nvSpPr>
          <p:cNvPr id="6" name="TextBox 5"/>
          <p:cNvSpPr txBox="1"/>
          <p:nvPr/>
        </p:nvSpPr>
        <p:spPr>
          <a:xfrm>
            <a:off x="1371600" y="4160520"/>
            <a:ext cx="9601200" cy="548640"/>
          </a:xfrm>
          <a:prstGeom prst="rect">
            <a:avLst/>
          </a:prstGeom>
          <a:noFill/>
        </p:spPr>
        <p:txBody>
          <a:bodyPr wrap="square">
            <a:spAutoFit/>
          </a:bodyPr>
          <a:lstStyle/>
          <a:p>
            <a:pPr algn="l">
              <a:lnSpc>
                <a:spcPct val="100000"/>
              </a:lnSpc>
            </a:pPr>
            <a:r>
              <a:rPr sz="1500" b="0" i="1">
                <a:solidFill>
                  <a:srgbClr val="8F9EAC"/>
                </a:solidFill>
                <a:latin typeface="Calibri"/>
              </a:rPr>
              <a:t>All numbers on the next four slides are from r1_gmr/measurements/week28_*.txt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Step 6 — the join: GVHMR's file into GMR, onto the R1</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Same retargeting config OMOMO used. The only new code is a loader and a headless renderer.</a:t>
            </a:r>
          </a:p>
        </p:txBody>
      </p:sp>
      <p:sp>
        <p:nvSpPr>
          <p:cNvPr id="4" name="Rounded Rectangle 3"/>
          <p:cNvSpPr/>
          <p:nvPr/>
        </p:nvSpPr>
        <p:spPr>
          <a:xfrm>
            <a:off x="566928" y="1463040"/>
            <a:ext cx="7589520" cy="301752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572768"/>
            <a:ext cx="7132320" cy="256032"/>
          </a:xfrm>
          <a:prstGeom prst="rect">
            <a:avLst/>
          </a:prstGeom>
          <a:noFill/>
        </p:spPr>
        <p:txBody>
          <a:bodyPr wrap="square">
            <a:spAutoFit/>
          </a:bodyPr>
          <a:lstStyle/>
          <a:p>
            <a:pPr algn="l">
              <a:lnSpc>
                <a:spcPct val="100000"/>
              </a:lnSpc>
            </a:pPr>
            <a:r>
              <a:rPr sz="1100" b="0" i="0">
                <a:solidFill>
                  <a:srgbClr val="7F93A6"/>
                </a:solidFill>
                <a:latin typeface="Consolas"/>
              </a:rPr>
              <a:t>gvhmr_to_robot_headless.py — the whole thing, listing trimmed</a:t>
            </a:r>
          </a:p>
        </p:txBody>
      </p:sp>
      <p:sp>
        <p:nvSpPr>
          <p:cNvPr id="6" name="TextBox 5"/>
          <p:cNvSpPr txBox="1"/>
          <p:nvPr/>
        </p:nvSpPr>
        <p:spPr>
          <a:xfrm>
            <a:off x="786384" y="1865376"/>
            <a:ext cx="7132320" cy="2450591"/>
          </a:xfrm>
          <a:prstGeom prst="rect">
            <a:avLst/>
          </a:prstGeom>
          <a:noFill/>
        </p:spPr>
        <p:txBody>
          <a:bodyPr wrap="square">
            <a:spAutoFit/>
          </a:bodyPr>
          <a:lstStyle/>
          <a:p>
            <a:pPr algn="l">
              <a:lnSpc>
                <a:spcPct val="106000"/>
              </a:lnSpc>
            </a:pPr>
            <a:r>
              <a:rPr sz="800" b="0" i="0">
                <a:solidFill>
                  <a:srgbClr val="DDE4EC"/>
                </a:solidFill>
                <a:latin typeface="Consolas"/>
              </a:rPr>
              <a:t>$ conda activate gmr &amp;&amp; cd ~/GMR</a:t>
            </a:r>
          </a:p>
          <a:p>
            <a:pPr algn="l">
              <a:lnSpc>
                <a:spcPct val="106000"/>
              </a:lnSpc>
            </a:pPr>
            <a:r>
              <a:rPr sz="800" b="0" i="0">
                <a:solidFill>
                  <a:srgbClr val="DDE4EC"/>
                </a:solidFill>
                <a:latin typeface="Consolas"/>
              </a:rPr>
              <a:t>$ python ~/claude_code_projects/embodied_ai_r1/r1_gmr/gvhmr_to_robot_headless.py --gvhmr_pred_file ~/GVHMR/outputs/demo/tennis/hmr4d_results.pt --robot unitree_r1 --ground linear --video_path r1_gmr/media/week28/gvhmr_r1_tennis_ground.mp4 --save_path r1_gmr/measurements/week28_gvhmr_tennis_r1_ground_linear.pkl</a:t>
            </a:r>
          </a:p>
          <a:p>
            <a:pPr algn="l">
              <a:lnSpc>
                <a:spcPct val="106000"/>
              </a:lnSpc>
            </a:pPr>
            <a:r>
              <a:rPr sz="800" b="0" i="0">
                <a:solidFill>
                  <a:srgbClr val="DDE4EC"/>
                </a:solidFill>
                <a:latin typeface="Consolas"/>
              </a:rPr>
              <a:t>[headless] tennis/hmr4d_results.pt: 312 frames total, using [0:312] = 312 @ 30 fps, human height 1.728 m (from betas[0])</a:t>
            </a:r>
          </a:p>
          <a:p>
            <a:pPr algn="l">
              <a:lnSpc>
                <a:spcPct val="106000"/>
              </a:lnSpc>
            </a:pPr>
            <a:r>
              <a:rPr sz="800" b="0" i="0">
                <a:solidFill>
                  <a:srgbClr val="DDE4EC"/>
                </a:solidFill>
                <a:latin typeface="Consolas"/>
              </a:rPr>
              <a:t>[... robot DoF and body listing, 62 lines ...]</a:t>
            </a:r>
          </a:p>
          <a:p>
            <a:pPr algn="l">
              <a:lnSpc>
                <a:spcPct val="106000"/>
              </a:lnSpc>
            </a:pPr>
            <a:r>
              <a:rPr sz="800" b="0" i="0">
                <a:solidFill>
                  <a:srgbClr val="DDE4EC"/>
                </a:solidFill>
                <a:latin typeface="Consolas"/>
              </a:rPr>
              <a:t>Use IK config:  </a:t>
            </a:r>
          </a:p>
          <a:p>
            <a:pPr algn="l">
              <a:lnSpc>
                <a:spcPct val="106000"/>
              </a:lnSpc>
            </a:pPr>
            <a:r>
              <a:rPr sz="800" b="0" i="0">
                <a:solidFill>
                  <a:srgbClr val="DDE4EC"/>
                </a:solidFill>
                <a:latin typeface="Consolas"/>
              </a:rPr>
              <a:t>/home/sql/GMR/general_motion_retargeting/ik_configs/smplx_to_r1.json</a:t>
            </a:r>
          </a:p>
          <a:p>
            <a:pPr algn="l">
              <a:lnSpc>
                <a:spcPct val="106000"/>
              </a:lnSpc>
            </a:pPr>
            <a:r>
              <a:rPr sz="800" b="0" i="0">
                <a:solidFill>
                  <a:srgbClr val="DDE4EC"/>
                </a:solidFill>
                <a:latin typeface="Consolas"/>
              </a:rPr>
              <a:t>[ground] mode=linear: linear slope +1.54 cm/s, intercept -0.012 m, envelope resid sd 1.74 cm</a:t>
            </a:r>
          </a:p>
          <a:p>
            <a:pPr algn="l">
              <a:lnSpc>
                <a:spcPct val="106000"/>
              </a:lnSpc>
            </a:pPr>
            <a:r>
              <a:rPr sz="800" b="0" i="0">
                <a:solidFill>
                  <a:srgbClr val="DDE4EC"/>
                </a:solidFill>
                <a:latin typeface="Consolas"/>
              </a:rPr>
              <a:t>[ground] lowest foot joint before 0.004..0.210 m -&gt; after 0.000..0.142 m (target 0.000)</a:t>
            </a:r>
          </a:p>
          <a:p>
            <a:pPr algn="l">
              <a:lnSpc>
                <a:spcPct val="106000"/>
              </a:lnSpc>
            </a:pPr>
            <a:r>
              <a:rPr sz="800" b="0" i="0">
                <a:solidFill>
                  <a:srgbClr val="DDE4EC"/>
                </a:solidFill>
                <a:latin typeface="Consolas"/>
              </a:rPr>
              <a:t>[headless] IK solve rate: 129.5 FPS (2.4s for 312 frames), motion is 30 fps -&gt; real-time capable</a:t>
            </a:r>
          </a:p>
          <a:p>
            <a:pPr algn="l">
              <a:lnSpc>
                <a:spcPct val="106000"/>
              </a:lnSpc>
            </a:pPr>
            <a:r>
              <a:rPr sz="800" b="0" i="0">
                <a:solidFill>
                  <a:srgbClr val="DDE4EC"/>
                </a:solidFill>
                <a:latin typeface="Consolas"/>
              </a:rPr>
              <a:t>[headless] video saved to /home/sql/claude_code_projects/embodied_ai_r1/r1_gmr/media/week28/gvhmr_r1_tennis_ground.mp4</a:t>
            </a:r>
          </a:p>
          <a:p>
            <a:pPr algn="l">
              <a:lnSpc>
                <a:spcPct val="106000"/>
              </a:lnSpc>
            </a:pPr>
            <a:r>
              <a:rPr sz="800" b="0" i="0">
                <a:solidFill>
                  <a:srgbClr val="DDE4EC"/>
                </a:solidFill>
                <a:latin typeface="Consolas"/>
              </a:rPr>
              <a:t>[headless] motion saved to /home/sql/claude_code_projects/embodied_ai_r1/r1_gmr/measurements/week28_gvhmr_tennis_r1_ground_linear.pkl</a:t>
            </a:r>
          </a:p>
        </p:txBody>
      </p:sp>
      <p:sp>
        <p:nvSpPr>
          <p:cNvPr id="7" name="Rounded Rectangle 6"/>
          <p:cNvSpPr/>
          <p:nvPr/>
        </p:nvSpPr>
        <p:spPr>
          <a:xfrm>
            <a:off x="8366760" y="1463040"/>
            <a:ext cx="3246120" cy="301752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59368" y="1627632"/>
            <a:ext cx="2697479" cy="411480"/>
          </a:xfrm>
          <a:prstGeom prst="rect">
            <a:avLst/>
          </a:prstGeom>
          <a:noFill/>
        </p:spPr>
        <p:txBody>
          <a:bodyPr wrap="square">
            <a:spAutoFit/>
          </a:bodyPr>
          <a:lstStyle/>
          <a:p>
            <a:pPr algn="l">
              <a:lnSpc>
                <a:spcPct val="100000"/>
              </a:lnSpc>
            </a:pPr>
            <a:r>
              <a:rPr sz="1500" b="1" i="0">
                <a:solidFill>
                  <a:srgbClr val="0F7A6B"/>
                </a:solidFill>
                <a:latin typeface="Calibri"/>
              </a:rPr>
              <a:t>What is new</a:t>
            </a:r>
          </a:p>
        </p:txBody>
      </p:sp>
      <p:sp>
        <p:nvSpPr>
          <p:cNvPr id="9" name="TextBox 8"/>
          <p:cNvSpPr txBox="1"/>
          <p:nvPr/>
        </p:nvSpPr>
        <p:spPr>
          <a:xfrm>
            <a:off x="8659368" y="2121408"/>
            <a:ext cx="2660903" cy="2231136"/>
          </a:xfrm>
          <a:prstGeom prst="rect">
            <a:avLst/>
          </a:prstGeom>
          <a:noFill/>
        </p:spPr>
        <p:txBody>
          <a:bodyPr wrap="square">
            <a:spAutoFit/>
          </a:bodyPr>
          <a:lstStyle/>
          <a:p>
            <a:pPr algn="l">
              <a:lnSpc>
                <a:spcPct val="125000"/>
              </a:lnSpc>
            </a:pPr>
            <a:r>
              <a:rPr sz="1350" b="0" i="0">
                <a:solidFill>
                  <a:srgbClr val="22252A"/>
                </a:solidFill>
                <a:latin typeface="Calibri"/>
              </a:rPr>
              <a:t>gvhmr_to_robot_headless.py: reads hmr4d_results.pt with GMR's own loader, runs the IK frame by frame, renders offscreen (the viewer cannot open under WSL2), writes the motion .pkl.</a:t>
            </a:r>
          </a:p>
        </p:txBody>
      </p:sp>
      <p:sp>
        <p:nvSpPr>
          <p:cNvPr id="10" name="Rounded Rectangle 9"/>
          <p:cNvSpPr/>
          <p:nvPr/>
        </p:nvSpPr>
        <p:spPr>
          <a:xfrm>
            <a:off x="566928" y="4617720"/>
            <a:ext cx="3657600" cy="18288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782312"/>
            <a:ext cx="3108960" cy="411480"/>
          </a:xfrm>
          <a:prstGeom prst="rect">
            <a:avLst/>
          </a:prstGeom>
          <a:noFill/>
        </p:spPr>
        <p:txBody>
          <a:bodyPr wrap="square">
            <a:spAutoFit/>
          </a:bodyPr>
          <a:lstStyle/>
          <a:p>
            <a:pPr algn="l">
              <a:lnSpc>
                <a:spcPct val="100000"/>
              </a:lnSpc>
            </a:pPr>
            <a:r>
              <a:rPr sz="1500" b="1" i="0">
                <a:solidFill>
                  <a:srgbClr val="1B2A3A"/>
                </a:solidFill>
                <a:latin typeface="Calibri"/>
              </a:rPr>
              <a:t>312 frames, 0 limit violations</a:t>
            </a:r>
          </a:p>
        </p:txBody>
      </p:sp>
      <p:sp>
        <p:nvSpPr>
          <p:cNvPr id="12" name="TextBox 11"/>
          <p:cNvSpPr txBox="1"/>
          <p:nvPr/>
        </p:nvSpPr>
        <p:spPr>
          <a:xfrm>
            <a:off x="859536" y="5276088"/>
            <a:ext cx="3072384" cy="1042416"/>
          </a:xfrm>
          <a:prstGeom prst="rect">
            <a:avLst/>
          </a:prstGeom>
          <a:noFill/>
        </p:spPr>
        <p:txBody>
          <a:bodyPr wrap="square">
            <a:spAutoFit/>
          </a:bodyPr>
          <a:lstStyle/>
          <a:p>
            <a:pPr algn="l">
              <a:lnSpc>
                <a:spcPct val="125000"/>
              </a:lnSpc>
            </a:pPr>
            <a:r>
              <a:rPr sz="1200" b="0" i="0">
                <a:solidFill>
                  <a:srgbClr val="22252A"/>
                </a:solidFill>
                <a:latin typeface="Calibri"/>
              </a:rPr>
              <a:t>IK at 129 fps against a 30 fps clip — real-time with room. Every joint inside its range, as on every dataset so far.</a:t>
            </a:r>
          </a:p>
        </p:txBody>
      </p:sp>
      <p:sp>
        <p:nvSpPr>
          <p:cNvPr id="13" name="Rounded Rectangle 12"/>
          <p:cNvSpPr/>
          <p:nvPr/>
        </p:nvSpPr>
        <p:spPr>
          <a:xfrm>
            <a:off x="4361688" y="4617720"/>
            <a:ext cx="3611880" cy="182880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54296" y="4782312"/>
            <a:ext cx="3063240" cy="411480"/>
          </a:xfrm>
          <a:prstGeom prst="rect">
            <a:avLst/>
          </a:prstGeom>
          <a:noFill/>
        </p:spPr>
        <p:txBody>
          <a:bodyPr wrap="square">
            <a:spAutoFit/>
          </a:bodyPr>
          <a:lstStyle/>
          <a:p>
            <a:pPr algn="l">
              <a:lnSpc>
                <a:spcPct val="100000"/>
              </a:lnSpc>
            </a:pPr>
            <a:r>
              <a:rPr sz="1500" b="1" i="0">
                <a:solidFill>
                  <a:srgbClr val="1B2A3A"/>
                </a:solidFill>
                <a:latin typeface="Calibri"/>
              </a:rPr>
              <a:t>The forehand is there</a:t>
            </a:r>
          </a:p>
        </p:txBody>
      </p:sp>
      <p:sp>
        <p:nvSpPr>
          <p:cNvPr id="15" name="TextBox 14"/>
          <p:cNvSpPr txBox="1"/>
          <p:nvPr/>
        </p:nvSpPr>
        <p:spPr>
          <a:xfrm>
            <a:off x="4654296" y="5276088"/>
            <a:ext cx="3026664" cy="1042416"/>
          </a:xfrm>
          <a:prstGeom prst="rect">
            <a:avLst/>
          </a:prstGeom>
          <a:noFill/>
        </p:spPr>
        <p:txBody>
          <a:bodyPr wrap="square">
            <a:spAutoFit/>
          </a:bodyPr>
          <a:lstStyle/>
          <a:p>
            <a:pPr algn="l">
              <a:lnSpc>
                <a:spcPct val="125000"/>
              </a:lnSpc>
            </a:pPr>
            <a:r>
              <a:rPr sz="1200" b="0" i="0">
                <a:solidFill>
                  <a:srgbClr val="22252A"/>
                </a:solidFill>
                <a:latin typeface="Calibri"/>
              </a:rPr>
              <a:t>Frame 240 of the render is the swing. Visually the retarget is right. That is where I was on Tuesday night.</a:t>
            </a:r>
          </a:p>
        </p:txBody>
      </p:sp>
      <p:sp>
        <p:nvSpPr>
          <p:cNvPr id="16" name="Rounded Rectangle 15"/>
          <p:cNvSpPr/>
          <p:nvPr/>
        </p:nvSpPr>
        <p:spPr>
          <a:xfrm>
            <a:off x="8110727" y="4617720"/>
            <a:ext cx="3520440" cy="182880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03336" y="4782312"/>
            <a:ext cx="2971800" cy="411480"/>
          </a:xfrm>
          <a:prstGeom prst="rect">
            <a:avLst/>
          </a:prstGeom>
          <a:noFill/>
        </p:spPr>
        <p:txBody>
          <a:bodyPr wrap="square">
            <a:spAutoFit/>
          </a:bodyPr>
          <a:lstStyle/>
          <a:p>
            <a:pPr algn="l">
              <a:lnSpc>
                <a:spcPct val="100000"/>
              </a:lnSpc>
            </a:pPr>
            <a:r>
              <a:rPr sz="1500" b="1" i="0">
                <a:solidFill>
                  <a:srgbClr val="B0473C"/>
                </a:solidFill>
                <a:latin typeface="Calibri"/>
              </a:rPr>
              <a:t>But</a:t>
            </a:r>
          </a:p>
        </p:txBody>
      </p:sp>
      <p:sp>
        <p:nvSpPr>
          <p:cNvPr id="18" name="TextBox 17"/>
          <p:cNvSpPr txBox="1"/>
          <p:nvPr/>
        </p:nvSpPr>
        <p:spPr>
          <a:xfrm>
            <a:off x="8403336" y="5276088"/>
            <a:ext cx="2935224" cy="1042416"/>
          </a:xfrm>
          <a:prstGeom prst="rect">
            <a:avLst/>
          </a:prstGeom>
          <a:noFill/>
        </p:spPr>
        <p:txBody>
          <a:bodyPr wrap="square">
            <a:spAutoFit/>
          </a:bodyPr>
          <a:lstStyle/>
          <a:p>
            <a:pPr algn="l">
              <a:lnSpc>
                <a:spcPct val="125000"/>
              </a:lnSpc>
            </a:pPr>
            <a:r>
              <a:rPr sz="1250" b="0" i="0">
                <a:solidFill>
                  <a:srgbClr val="22252A"/>
                </a:solidFill>
                <a:latin typeface="Calibri"/>
              </a:rPr>
              <a:t>Both robots floated +15 to +18 cm by the end of the clip. Not the retargeting — the source.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I found: GVHMR's floor climbs 1.6 cm every second</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Measured on the human, before any robot is involved.</a:t>
            </a:r>
          </a:p>
        </p:txBody>
      </p:sp>
      <p:sp>
        <p:nvSpPr>
          <p:cNvPr id="4" name="Rounded Rectangle 3"/>
          <p:cNvSpPr/>
          <p:nvPr/>
        </p:nvSpPr>
        <p:spPr>
          <a:xfrm>
            <a:off x="566928" y="1463040"/>
            <a:ext cx="6035040" cy="379476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86384" y="1572768"/>
            <a:ext cx="5577840" cy="256032"/>
          </a:xfrm>
          <a:prstGeom prst="rect">
            <a:avLst/>
          </a:prstGeom>
          <a:noFill/>
        </p:spPr>
        <p:txBody>
          <a:bodyPr wrap="square">
            <a:spAutoFit/>
          </a:bodyPr>
          <a:lstStyle/>
          <a:p>
            <a:pPr algn="l">
              <a:lnSpc>
                <a:spcPct val="100000"/>
              </a:lnSpc>
            </a:pPr>
            <a:r>
              <a:rPr sz="1100" b="0" i="0">
                <a:solidFill>
                  <a:srgbClr val="7F93A6"/>
                </a:solidFill>
                <a:latin typeface="Consolas"/>
              </a:rPr>
              <a:t>lowest foot joint per second, from hmr4d_results.pt</a:t>
            </a:r>
          </a:p>
        </p:txBody>
      </p:sp>
      <p:sp>
        <p:nvSpPr>
          <p:cNvPr id="6" name="TextBox 5"/>
          <p:cNvSpPr txBox="1"/>
          <p:nvPr/>
        </p:nvSpPr>
        <p:spPr>
          <a:xfrm>
            <a:off x="786384" y="1865376"/>
            <a:ext cx="5577840" cy="3227832"/>
          </a:xfrm>
          <a:prstGeom prst="rect">
            <a:avLst/>
          </a:prstGeom>
          <a:noFill/>
        </p:spPr>
        <p:txBody>
          <a:bodyPr wrap="square">
            <a:spAutoFit/>
          </a:bodyPr>
          <a:lstStyle/>
          <a:p>
            <a:pPr algn="l">
              <a:lnSpc>
                <a:spcPct val="106000"/>
              </a:lnSpc>
            </a:pPr>
            <a:r>
              <a:rPr sz="1000" b="0" i="0">
                <a:solidFill>
                  <a:srgbClr val="DDE4EC"/>
                </a:solidFill>
                <a:latin typeface="Consolas"/>
              </a:rPr>
              <a:t>$ python ~/claude_code_projects/embodied_ai_r1/r1_gmr/measure_gvhmr_drift.py ~/GVHMR/outputs/demo/tennis/hmr4d_results.pt</a:t>
            </a:r>
          </a:p>
          <a:p>
            <a:pPr algn="l">
              <a:lnSpc>
                <a:spcPct val="106000"/>
              </a:lnSpc>
            </a:pPr>
            <a:r>
              <a:rPr sz="1000" b="0" i="0">
                <a:solidFill>
                  <a:srgbClr val="DDE4EC"/>
                </a:solidFill>
                <a:latin typeface="Consolas"/>
              </a:rPr>
              <a:t>312 frames @ 30 fps, human height 1.728 m</a:t>
            </a:r>
          </a:p>
          <a:p>
            <a:pPr algn="l">
              <a:lnSpc>
                <a:spcPct val="106000"/>
              </a:lnSpc>
            </a:pPr>
            <a:r>
              <a:rPr sz="1000" b="0" i="0">
                <a:solidFill>
                  <a:srgbClr val="DDE4EC"/>
                </a:solidFill>
                <a:latin typeface="Consolas"/>
              </a:rPr>
              <a:t>frame  t(s)  lowest foot   pelvis    head</a:t>
            </a:r>
          </a:p>
          <a:p>
            <a:pPr algn="l">
              <a:lnSpc>
                <a:spcPct val="106000"/>
              </a:lnSpc>
            </a:pPr>
            <a:r>
              <a:rPr sz="1000" b="0" i="0">
                <a:solidFill>
                  <a:srgbClr val="DDE4EC"/>
                </a:solidFill>
                <a:latin typeface="Consolas"/>
              </a:rPr>
              <a:t>    0   0.0        0.007    0.981   1.598</a:t>
            </a:r>
          </a:p>
          <a:p>
            <a:pPr algn="l">
              <a:lnSpc>
                <a:spcPct val="106000"/>
              </a:lnSpc>
            </a:pPr>
            <a:r>
              <a:rPr sz="1000" b="0" i="0">
                <a:solidFill>
                  <a:srgbClr val="DDE4EC"/>
                </a:solidFill>
                <a:latin typeface="Consolas"/>
              </a:rPr>
              <a:t>   30   1.0        0.039    0.990   1.593</a:t>
            </a:r>
          </a:p>
          <a:p>
            <a:pPr algn="l">
              <a:lnSpc>
                <a:spcPct val="106000"/>
              </a:lnSpc>
            </a:pPr>
            <a:r>
              <a:rPr sz="1000" b="0" i="0">
                <a:solidFill>
                  <a:srgbClr val="DDE4EC"/>
                </a:solidFill>
                <a:latin typeface="Consolas"/>
              </a:rPr>
              <a:t>   60   2.0        0.027    1.004   1.604</a:t>
            </a:r>
          </a:p>
          <a:p>
            <a:pPr algn="l">
              <a:lnSpc>
                <a:spcPct val="106000"/>
              </a:lnSpc>
            </a:pPr>
            <a:r>
              <a:rPr sz="1000" b="0" i="0">
                <a:solidFill>
                  <a:srgbClr val="DDE4EC"/>
                </a:solidFill>
                <a:latin typeface="Consolas"/>
              </a:rPr>
              <a:t>   90   3.0        0.051    1.013   1.600</a:t>
            </a:r>
          </a:p>
          <a:p>
            <a:pPr algn="l">
              <a:lnSpc>
                <a:spcPct val="106000"/>
              </a:lnSpc>
            </a:pPr>
            <a:r>
              <a:rPr sz="1000" b="0" i="0">
                <a:solidFill>
                  <a:srgbClr val="DDE4EC"/>
                </a:solidFill>
                <a:latin typeface="Consolas"/>
              </a:rPr>
              <a:t>  120   4.0        0.047    0.889   1.483</a:t>
            </a:r>
          </a:p>
          <a:p>
            <a:pPr algn="l">
              <a:lnSpc>
                <a:spcPct val="106000"/>
              </a:lnSpc>
            </a:pPr>
            <a:r>
              <a:rPr sz="1000" b="0" i="0">
                <a:solidFill>
                  <a:srgbClr val="DDE4EC"/>
                </a:solidFill>
                <a:latin typeface="Consolas"/>
              </a:rPr>
              <a:t>  150   5.0        0.083    1.057   1.534</a:t>
            </a:r>
          </a:p>
          <a:p>
            <a:pPr algn="l">
              <a:lnSpc>
                <a:spcPct val="106000"/>
              </a:lnSpc>
            </a:pPr>
            <a:r>
              <a:rPr sz="1000" b="0" i="0">
                <a:solidFill>
                  <a:srgbClr val="DDE4EC"/>
                </a:solidFill>
                <a:latin typeface="Consolas"/>
              </a:rPr>
              <a:t>  180   6.0        0.105    1.047   1.656</a:t>
            </a:r>
          </a:p>
          <a:p>
            <a:pPr algn="l">
              <a:lnSpc>
                <a:spcPct val="106000"/>
              </a:lnSpc>
            </a:pPr>
            <a:r>
              <a:rPr sz="1000" b="0" i="0">
                <a:solidFill>
                  <a:srgbClr val="DDE4EC"/>
                </a:solidFill>
                <a:latin typeface="Consolas"/>
              </a:rPr>
              <a:t>  210   7.0        0.134    1.084   1.720</a:t>
            </a:r>
          </a:p>
          <a:p>
            <a:pPr algn="l">
              <a:lnSpc>
                <a:spcPct val="106000"/>
              </a:lnSpc>
            </a:pPr>
            <a:r>
              <a:rPr sz="1000" b="0" i="0">
                <a:solidFill>
                  <a:srgbClr val="DDE4EC"/>
                </a:solidFill>
                <a:latin typeface="Consolas"/>
              </a:rPr>
              <a:t>  240   8.0        0.194    1.153   1.652</a:t>
            </a:r>
          </a:p>
          <a:p>
            <a:pPr algn="l">
              <a:lnSpc>
                <a:spcPct val="106000"/>
              </a:lnSpc>
            </a:pPr>
            <a:r>
              <a:rPr sz="1000" b="0" i="0">
                <a:solidFill>
                  <a:srgbClr val="DDE4EC"/>
                </a:solidFill>
                <a:latin typeface="Consolas"/>
              </a:rPr>
              <a:t>  270   9.0        0.138    1.111   1.724</a:t>
            </a:r>
          </a:p>
          <a:p>
            <a:pPr algn="l">
              <a:lnSpc>
                <a:spcPct val="106000"/>
              </a:lnSpc>
            </a:pPr>
            <a:r>
              <a:rPr sz="1000" b="0" i="0">
                <a:solidFill>
                  <a:srgbClr val="DDE4EC"/>
                </a:solidFill>
                <a:latin typeface="Consolas"/>
              </a:rPr>
              <a:t>  300  10.0        0.152    1.114   1.728</a:t>
            </a:r>
          </a:p>
          <a:p>
            <a:pPr algn="l">
              <a:lnSpc>
                <a:spcPct val="106000"/>
              </a:lnSpc>
            </a:pPr>
            <a:r>
              <a:rPr sz="1000" b="0" i="0">
                <a:solidFill>
                  <a:srgbClr val="DDE4EC"/>
                </a:solidFill>
                <a:latin typeface="Consolas"/>
              </a:rPr>
              <a:t>lowest foot joint: 0.004 .. 0.210 m</a:t>
            </a:r>
          </a:p>
          <a:p>
            <a:pPr algn="l">
              <a:lnSpc>
                <a:spcPct val="106000"/>
              </a:lnSpc>
            </a:pPr>
            <a:r>
              <a:rPr sz="1000" b="0" i="0">
                <a:solidFill>
                  <a:srgbClr val="DDE4EC"/>
                </a:solidFill>
                <a:latin typeface="Consolas"/>
              </a:rPr>
              <a:t>straight-line fit: +1.62 cm/s, residual sd 1.69 cm</a:t>
            </a:r>
          </a:p>
        </p:txBody>
      </p:sp>
      <p:sp>
        <p:nvSpPr>
          <p:cNvPr id="7" name="Rounded Rectangle 6"/>
          <p:cNvSpPr/>
          <p:nvPr/>
        </p:nvSpPr>
        <p:spPr>
          <a:xfrm>
            <a:off x="6812280" y="1463040"/>
            <a:ext cx="4800600" cy="201168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04888" y="1627632"/>
            <a:ext cx="4251960" cy="411480"/>
          </a:xfrm>
          <a:prstGeom prst="rect">
            <a:avLst/>
          </a:prstGeom>
          <a:noFill/>
        </p:spPr>
        <p:txBody>
          <a:bodyPr wrap="square">
            <a:spAutoFit/>
          </a:bodyPr>
          <a:lstStyle/>
          <a:p>
            <a:pPr algn="l">
              <a:lnSpc>
                <a:spcPct val="100000"/>
              </a:lnSpc>
            </a:pPr>
            <a:r>
              <a:rPr sz="1600" b="1" i="0">
                <a:solidFill>
                  <a:srgbClr val="B8862E"/>
                </a:solidFill>
                <a:latin typeface="Calibri"/>
              </a:rPr>
              <a:t>The shape of it</a:t>
            </a:r>
          </a:p>
        </p:txBody>
      </p:sp>
      <p:sp>
        <p:nvSpPr>
          <p:cNvPr id="9" name="TextBox 8"/>
          <p:cNvSpPr txBox="1"/>
          <p:nvPr/>
        </p:nvSpPr>
        <p:spPr>
          <a:xfrm>
            <a:off x="7104888" y="2121408"/>
            <a:ext cx="4215384" cy="1225296"/>
          </a:xfrm>
          <a:prstGeom prst="rect">
            <a:avLst/>
          </a:prstGeom>
          <a:noFill/>
        </p:spPr>
        <p:txBody>
          <a:bodyPr wrap="square">
            <a:spAutoFit/>
          </a:bodyPr>
          <a:lstStyle/>
          <a:p>
            <a:pPr algn="l">
              <a:lnSpc>
                <a:spcPct val="125000"/>
              </a:lnSpc>
            </a:pPr>
            <a:r>
              <a:rPr sz="1150" b="0" i="0">
                <a:solidFill>
                  <a:srgbClr val="22252A"/>
                </a:solidFill>
                <a:latin typeface="Calibri"/>
              </a:rPr>
              <a:t>The player's lowest foot starts 0.7 cm off the floor and ends 15 cm off it, while he is standing on the ground at both ends. A straight line fits it with 1.7 cm of scatter: it is a ramp, not noise.</a:t>
            </a:r>
          </a:p>
        </p:txBody>
      </p:sp>
      <p:sp>
        <p:nvSpPr>
          <p:cNvPr id="10" name="Rounded Rectangle 9"/>
          <p:cNvSpPr/>
          <p:nvPr/>
        </p:nvSpPr>
        <p:spPr>
          <a:xfrm>
            <a:off x="6812280" y="3566160"/>
            <a:ext cx="4800600" cy="16916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04888" y="3730752"/>
            <a:ext cx="4251960" cy="411480"/>
          </a:xfrm>
          <a:prstGeom prst="rect">
            <a:avLst/>
          </a:prstGeom>
          <a:noFill/>
        </p:spPr>
        <p:txBody>
          <a:bodyPr wrap="square">
            <a:spAutoFit/>
          </a:bodyPr>
          <a:lstStyle/>
          <a:p>
            <a:pPr algn="l">
              <a:lnSpc>
                <a:spcPct val="100000"/>
              </a:lnSpc>
            </a:pPr>
            <a:r>
              <a:rPr sz="1600" b="1" i="0">
                <a:solidFill>
                  <a:srgbClr val="1B2A3A"/>
                </a:solidFill>
                <a:latin typeface="Calibri"/>
              </a:rPr>
              <a:t>Where it comes from</a:t>
            </a:r>
          </a:p>
        </p:txBody>
      </p:sp>
      <p:sp>
        <p:nvSpPr>
          <p:cNvPr id="12" name="TextBox 11"/>
          <p:cNvSpPr txBox="1"/>
          <p:nvPr/>
        </p:nvSpPr>
        <p:spPr>
          <a:xfrm>
            <a:off x="7104888" y="4224528"/>
            <a:ext cx="4215384" cy="905256"/>
          </a:xfrm>
          <a:prstGeom prst="rect">
            <a:avLst/>
          </a:prstGeom>
          <a:noFill/>
        </p:spPr>
        <p:txBody>
          <a:bodyPr wrap="square">
            <a:spAutoFit/>
          </a:bodyPr>
          <a:lstStyle/>
          <a:p>
            <a:pPr algn="l">
              <a:lnSpc>
                <a:spcPct val="125000"/>
              </a:lnSpc>
            </a:pPr>
            <a:r>
              <a:rPr sz="1050" b="0" i="0">
                <a:solidFill>
                  <a:srgbClr val="22252A"/>
                </a:solidFill>
                <a:latin typeface="Calibri"/>
              </a:rPr>
              <a:t>The paper predicts a root velocity and integrates it. Orientation cannot drift in Gravity-View coordinates; height can. Nothing in the model knows where the floor is.</a:t>
            </a:r>
          </a:p>
        </p:txBody>
      </p:sp>
      <p:sp>
        <p:nvSpPr>
          <p:cNvPr id="13" name="Rounded Rectangle 12"/>
          <p:cNvSpPr/>
          <p:nvPr/>
        </p:nvSpPr>
        <p:spPr>
          <a:xfrm>
            <a:off x="566928" y="5394960"/>
            <a:ext cx="11064240" cy="109728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5559552"/>
            <a:ext cx="10515600" cy="411480"/>
          </a:xfrm>
          <a:prstGeom prst="rect">
            <a:avLst/>
          </a:prstGeom>
          <a:noFill/>
        </p:spPr>
        <p:txBody>
          <a:bodyPr wrap="square">
            <a:spAutoFit/>
          </a:bodyPr>
          <a:lstStyle/>
          <a:p>
            <a:pPr algn="l">
              <a:lnSpc>
                <a:spcPct val="100000"/>
              </a:lnSpc>
            </a:pPr>
            <a:r>
              <a:rPr sz="1500" b="1" i="0">
                <a:solidFill>
                  <a:srgbClr val="B0473C"/>
                </a:solidFill>
                <a:latin typeface="Calibri"/>
              </a:rPr>
              <a:t>Why it matters</a:t>
            </a:r>
          </a:p>
        </p:txBody>
      </p:sp>
      <p:sp>
        <p:nvSpPr>
          <p:cNvPr id="15" name="TextBox 14"/>
          <p:cNvSpPr txBox="1"/>
          <p:nvPr/>
        </p:nvSpPr>
        <p:spPr>
          <a:xfrm>
            <a:off x="859536" y="6053328"/>
            <a:ext cx="10479024" cy="310896"/>
          </a:xfrm>
          <a:prstGeom prst="rect">
            <a:avLst/>
          </a:prstGeom>
          <a:noFill/>
        </p:spPr>
        <p:txBody>
          <a:bodyPr wrap="square">
            <a:spAutoFit/>
          </a:bodyPr>
          <a:lstStyle/>
          <a:p>
            <a:pPr algn="l">
              <a:lnSpc>
                <a:spcPct val="125000"/>
              </a:lnSpc>
            </a:pPr>
            <a:r>
              <a:rPr sz="1050" b="0" i="0">
                <a:solidFill>
                  <a:srgbClr val="22252A"/>
                </a:solidFill>
                <a:latin typeface="Calibri"/>
              </a:rPr>
              <a:t>A reference motion that floats teaches a policy to float. This had to be fixed before the .pkl goes anywhere near imitation learning.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The fix: fit the ramp and take it out, before the IK</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A straight-line floor per clip. GMR's built-in per-frame version was tried and rejected.</a:t>
            </a:r>
          </a:p>
        </p:txBody>
      </p:sp>
      <p:pic>
        <p:nvPicPr>
          <p:cNvPr id="4" name="Picture 3" descr="gvhmr_r1_tennis_ground_strip.png"/>
          <p:cNvPicPr>
            <a:picLocks noChangeAspect="1"/>
          </p:cNvPicPr>
          <p:nvPr/>
        </p:nvPicPr>
        <p:blipFill>
          <a:blip r:embed="rId2"/>
          <a:stretch>
            <a:fillRect/>
          </a:stretch>
        </p:blipFill>
        <p:spPr>
          <a:xfrm>
            <a:off x="594359" y="1463040"/>
            <a:ext cx="6675120" cy="2503170"/>
          </a:xfrm>
          <a:prstGeom prst="rect">
            <a:avLst/>
          </a:prstGeom>
        </p:spPr>
      </p:pic>
      <p:sp>
        <p:nvSpPr>
          <p:cNvPr id="5" name="TextBox 4"/>
          <p:cNvSpPr txBox="1"/>
          <p:nvPr/>
        </p:nvSpPr>
        <p:spPr>
          <a:xfrm>
            <a:off x="566928" y="3977639"/>
            <a:ext cx="6766560" cy="320040"/>
          </a:xfrm>
          <a:prstGeom prst="rect">
            <a:avLst/>
          </a:prstGeom>
          <a:noFill/>
        </p:spPr>
        <p:txBody>
          <a:bodyPr wrap="square">
            <a:spAutoFit/>
          </a:bodyPr>
          <a:lstStyle/>
          <a:p>
            <a:pPr algn="ctr">
              <a:lnSpc>
                <a:spcPct val="100000"/>
              </a:lnSpc>
            </a:pPr>
            <a:r>
              <a:rPr sz="1100" b="0" i="1">
                <a:solidFill>
                  <a:srgbClr val="5A6068"/>
                </a:solidFill>
                <a:latin typeface="Calibri"/>
              </a:rPr>
              <a:t>top: raw GVHMR · bottom: after the ground pass · frames 0, 120, 240, 300 — look at the feet on the right</a:t>
            </a:r>
          </a:p>
        </p:txBody>
      </p:sp>
      <p:sp>
        <p:nvSpPr>
          <p:cNvPr id="6" name="Rounded Rectangle 5"/>
          <p:cNvSpPr/>
          <p:nvPr/>
        </p:nvSpPr>
        <p:spPr>
          <a:xfrm>
            <a:off x="566928" y="4389120"/>
            <a:ext cx="6766560" cy="2057400"/>
          </a:xfrm>
          <a:prstGeom prst="roundRect">
            <a:avLst/>
          </a:prstGeom>
          <a:solidFill>
            <a:srgbClr val="141A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4498848"/>
            <a:ext cx="6309360" cy="256032"/>
          </a:xfrm>
          <a:prstGeom prst="rect">
            <a:avLst/>
          </a:prstGeom>
          <a:noFill/>
        </p:spPr>
        <p:txBody>
          <a:bodyPr wrap="square">
            <a:spAutoFit/>
          </a:bodyPr>
          <a:lstStyle/>
          <a:p>
            <a:pPr algn="l">
              <a:lnSpc>
                <a:spcPct val="100000"/>
              </a:lnSpc>
            </a:pPr>
            <a:r>
              <a:rPr sz="1100" b="0" i="0">
                <a:solidFill>
                  <a:srgbClr val="7F93A6"/>
                </a:solidFill>
                <a:latin typeface="Consolas"/>
              </a:rPr>
              <a:t>week28_ground_pass.txt — same 312 frames, same checker</a:t>
            </a:r>
          </a:p>
        </p:txBody>
      </p:sp>
      <p:sp>
        <p:nvSpPr>
          <p:cNvPr id="8" name="TextBox 7"/>
          <p:cNvSpPr txBox="1"/>
          <p:nvPr/>
        </p:nvSpPr>
        <p:spPr>
          <a:xfrm>
            <a:off x="786384" y="4791456"/>
            <a:ext cx="6309360" cy="1490472"/>
          </a:xfrm>
          <a:prstGeom prst="rect">
            <a:avLst/>
          </a:prstGeom>
          <a:noFill/>
        </p:spPr>
        <p:txBody>
          <a:bodyPr wrap="square">
            <a:spAutoFit/>
          </a:bodyPr>
          <a:lstStyle/>
          <a:p>
            <a:pPr algn="l">
              <a:lnSpc>
                <a:spcPct val="106000"/>
              </a:lnSpc>
            </a:pPr>
            <a:r>
              <a:rPr sz="950" b="0" i="0">
                <a:solidFill>
                  <a:srgbClr val="DDE4EC"/>
                </a:solidFill>
                <a:latin typeface="Consolas"/>
              </a:rPr>
              <a:t>mode        drift    1st s  last s   mean   contact  pelvis</a:t>
            </a:r>
          </a:p>
          <a:p>
            <a:pPr algn="l">
              <a:lnSpc>
                <a:spcPct val="106000"/>
              </a:lnSpc>
            </a:pPr>
            <a:r>
              <a:rPr sz="950" b="0" i="0">
                <a:solidFill>
                  <a:srgbClr val="DDE4EC"/>
                </a:solidFill>
                <a:latin typeface="Consolas"/>
              </a:rPr>
              <a:t>none       +1.28    -0.67  +11.48  +5.65   13.1 %   22.6 cm   &lt;- Tuesday</a:t>
            </a:r>
          </a:p>
          <a:p>
            <a:pPr algn="l">
              <a:lnSpc>
                <a:spcPct val="106000"/>
              </a:lnSpc>
            </a:pPr>
            <a:r>
              <a:rPr sz="950" b="0" i="0">
                <a:solidFill>
                  <a:srgbClr val="DDE4EC"/>
                </a:solidFill>
                <a:latin typeface="Consolas"/>
              </a:rPr>
              <a:t>const      +1.28    -1.01  +11.14  +5.31   12.5 %   22.6</a:t>
            </a:r>
          </a:p>
          <a:p>
            <a:pPr algn="l">
              <a:lnSpc>
                <a:spcPct val="106000"/>
              </a:lnSpc>
            </a:pPr>
            <a:r>
              <a:rPr sz="950" b="0" i="0">
                <a:solidFill>
                  <a:srgbClr val="DDE4EC"/>
                </a:solidFill>
                <a:latin typeface="Consolas"/>
              </a:rPr>
              <a:t>linear     +0.04    +3.07   +3.58  +3.58    7.4 %   18.3      &lt;- now</a:t>
            </a:r>
          </a:p>
          <a:p>
            <a:pPr algn="l">
              <a:lnSpc>
                <a:spcPct val="106000"/>
              </a:lnSpc>
            </a:pPr>
            <a:r>
              <a:rPr sz="950" b="0" i="0">
                <a:solidFill>
                  <a:srgbClr val="DDE4EC"/>
                </a:solidFill>
                <a:latin typeface="Consolas"/>
              </a:rPr>
              <a:t>perframe   -0.02    +6.55   +7.30  +6.70    0.0 %   12.7      &lt;- GMR's own</a:t>
            </a:r>
          </a:p>
          <a:p>
            <a:pPr algn="l">
              <a:lnSpc>
                <a:spcPct val="106000"/>
              </a:lnSpc>
            </a:pPr>
            <a:r>
              <a:rPr sz="950" b="0" i="0">
                <a:solidFill>
                  <a:srgbClr val="DDE4EC"/>
                </a:solidFill>
                <a:latin typeface="Consolas"/>
              </a:rPr>
              <a:t>g1/linear  -0.01    +4.76   +3.59  +4.54    0.6 %   20.9      &lt;- control</a:t>
            </a:r>
          </a:p>
          <a:p>
            <a:pPr algn="l">
              <a:lnSpc>
                <a:spcPct val="106000"/>
              </a:lnSpc>
            </a:pPr>
            <a:r>
              <a:rPr sz="950" b="0" i="0">
                <a:solidFill>
                  <a:srgbClr val="DDE4EC"/>
                </a:solidFill>
                <a:latin typeface="Consolas"/>
              </a:rPr>
              <a:t>(cm; drift in cm/s; limits 0 and peak 22.7 rad/s identical on every row)</a:t>
            </a:r>
          </a:p>
        </p:txBody>
      </p:sp>
      <p:sp>
        <p:nvSpPr>
          <p:cNvPr id="9" name="Rounded Rectangle 8"/>
          <p:cNvSpPr/>
          <p:nvPr/>
        </p:nvSpPr>
        <p:spPr>
          <a:xfrm>
            <a:off x="7543800" y="1463040"/>
            <a:ext cx="4069080" cy="2377440"/>
          </a:xfrm>
          <a:prstGeom prst="roundRect">
            <a:avLst/>
          </a:prstGeom>
          <a:solidFill>
            <a:srgbClr val="E3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36408" y="1627632"/>
            <a:ext cx="3520440" cy="411480"/>
          </a:xfrm>
          <a:prstGeom prst="rect">
            <a:avLst/>
          </a:prstGeom>
          <a:noFill/>
        </p:spPr>
        <p:txBody>
          <a:bodyPr wrap="square">
            <a:spAutoFit/>
          </a:bodyPr>
          <a:lstStyle/>
          <a:p>
            <a:pPr algn="l">
              <a:lnSpc>
                <a:spcPct val="100000"/>
              </a:lnSpc>
            </a:pPr>
            <a:r>
              <a:rPr sz="1600" b="1" i="0">
                <a:solidFill>
                  <a:srgbClr val="0F7A6B"/>
                </a:solidFill>
                <a:latin typeface="Calibri"/>
              </a:rPr>
              <a:t>What linear does</a:t>
            </a:r>
          </a:p>
        </p:txBody>
      </p:sp>
      <p:sp>
        <p:nvSpPr>
          <p:cNvPr id="11" name="TextBox 10"/>
          <p:cNvSpPr txBox="1"/>
          <p:nvPr/>
        </p:nvSpPr>
        <p:spPr>
          <a:xfrm>
            <a:off x="7836408" y="2121408"/>
            <a:ext cx="3483864" cy="1591056"/>
          </a:xfrm>
          <a:prstGeom prst="rect">
            <a:avLst/>
          </a:prstGeom>
          <a:noFill/>
        </p:spPr>
        <p:txBody>
          <a:bodyPr wrap="square">
            <a:spAutoFit/>
          </a:bodyPr>
          <a:lstStyle/>
          <a:p>
            <a:pPr algn="l">
              <a:lnSpc>
                <a:spcPct val="125000"/>
              </a:lnSpc>
            </a:pPr>
            <a:r>
              <a:rPr sz="1250" b="0" i="0">
                <a:solidFill>
                  <a:srgbClr val="22252A"/>
                </a:solidFill>
                <a:latin typeface="Calibri"/>
              </a:rPr>
              <a:t>Take the lowest foot joint per frame, its rolling minimum, fit a line, subtract it, put the clip's lowest point on the floor. Drift 1.28 → 0.04 cm/s. Limits, speed — byte-identical.</a:t>
            </a:r>
          </a:p>
        </p:txBody>
      </p:sp>
      <p:sp>
        <p:nvSpPr>
          <p:cNvPr id="12" name="Rounded Rectangle 11"/>
          <p:cNvSpPr/>
          <p:nvPr/>
        </p:nvSpPr>
        <p:spPr>
          <a:xfrm>
            <a:off x="7543800" y="3977639"/>
            <a:ext cx="4069080" cy="246888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36408" y="4142231"/>
            <a:ext cx="3520440" cy="411480"/>
          </a:xfrm>
          <a:prstGeom prst="rect">
            <a:avLst/>
          </a:prstGeom>
          <a:noFill/>
        </p:spPr>
        <p:txBody>
          <a:bodyPr wrap="square">
            <a:spAutoFit/>
          </a:bodyPr>
          <a:lstStyle/>
          <a:p>
            <a:pPr algn="l">
              <a:lnSpc>
                <a:spcPct val="100000"/>
              </a:lnSpc>
            </a:pPr>
            <a:r>
              <a:rPr sz="1600" b="1" i="0">
                <a:solidFill>
                  <a:srgbClr val="B0473C"/>
                </a:solidFill>
                <a:latin typeface="Calibri"/>
              </a:rPr>
              <a:t>Why not GMR's built-in</a:t>
            </a:r>
          </a:p>
        </p:txBody>
      </p:sp>
      <p:sp>
        <p:nvSpPr>
          <p:cNvPr id="14" name="TextBox 13"/>
          <p:cNvSpPr txBox="1"/>
          <p:nvPr/>
        </p:nvSpPr>
        <p:spPr>
          <a:xfrm>
            <a:off x="7836408" y="4636007"/>
            <a:ext cx="3483864" cy="1682496"/>
          </a:xfrm>
          <a:prstGeom prst="rect">
            <a:avLst/>
          </a:prstGeom>
          <a:noFill/>
        </p:spPr>
        <p:txBody>
          <a:bodyPr wrap="square">
            <a:spAutoFit/>
          </a:bodyPr>
          <a:lstStyle/>
          <a:p>
            <a:pPr algn="l">
              <a:lnSpc>
                <a:spcPct val="125000"/>
              </a:lnSpc>
            </a:pPr>
            <a:r>
              <a:rPr sz="1250" b="0" i="0">
                <a:solidFill>
                  <a:srgbClr val="22252A"/>
                </a:solidFill>
                <a:latin typeface="Calibri"/>
              </a:rPr>
              <a:t>offset_to_ground re-zeroes every frame: 0 % contact looks perfect, but the pelvis range drops from 22.6 to 12.7 cm — it deleted the crouch and the swing. A reference that cannot crouch is worse than one that floats.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TextBox 1"/>
          <p:cNvSpPr txBox="1"/>
          <p:nvPr/>
        </p:nvSpPr>
        <p:spPr>
          <a:xfrm>
            <a:off x="566928" y="384048"/>
            <a:ext cx="11064240" cy="548640"/>
          </a:xfrm>
          <a:prstGeom prst="rect">
            <a:avLst/>
          </a:prstGeom>
          <a:noFill/>
        </p:spPr>
        <p:txBody>
          <a:bodyPr wrap="square">
            <a:spAutoFit/>
          </a:bodyPr>
          <a:lstStyle/>
          <a:p>
            <a:pPr algn="l">
              <a:lnSpc>
                <a:spcPct val="100000"/>
              </a:lnSpc>
            </a:pPr>
            <a:r>
              <a:rPr sz="2800" b="1" i="0">
                <a:solidFill>
                  <a:srgbClr val="FFFFFF"/>
                </a:solidFill>
                <a:latin typeface="Calibri"/>
              </a:rPr>
              <a:t>The clip, and the R1 doing it</a:t>
            </a:r>
          </a:p>
        </p:txBody>
      </p:sp>
      <p:sp>
        <p:nvSpPr>
          <p:cNvPr id="3" name="TextBox 2"/>
          <p:cNvSpPr txBox="1"/>
          <p:nvPr/>
        </p:nvSpPr>
        <p:spPr>
          <a:xfrm>
            <a:off x="566928" y="914400"/>
            <a:ext cx="11064240" cy="365760"/>
          </a:xfrm>
          <a:prstGeom prst="rect">
            <a:avLst/>
          </a:prstGeom>
          <a:noFill/>
        </p:spPr>
        <p:txBody>
          <a:bodyPr wrap="square">
            <a:spAutoFit/>
          </a:bodyPr>
          <a:lstStyle/>
          <a:p>
            <a:pPr algn="l">
              <a:lnSpc>
                <a:spcPct val="100000"/>
              </a:lnSpc>
            </a:pPr>
            <a:r>
              <a:rPr sz="1400" b="0" i="0">
                <a:solidFill>
                  <a:srgbClr val="C9D2DA"/>
                </a:solidFill>
                <a:latin typeface="Calibri"/>
              </a:rPr>
              <a:t>left: GVHMR's tennis.mp4 as I fed it in  ·  right: the R1 after the ground pass, rendered from the motion .pkl</a:t>
            </a:r>
          </a:p>
        </p:txBody>
      </p:sp>
      <p:pic>
        <p:nvPicPr>
          <p:cNvPr id="4" name="tennis_source.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85800" y="1508760"/>
            <a:ext cx="5120640" cy="4540468"/>
          </a:xfrm>
          <a:prstGeom prst="rect">
            <a:avLst/>
          </a:prstGeom>
        </p:spPr>
      </p:pic>
      <p:sp>
        <p:nvSpPr>
          <p:cNvPr id="5" name="TextBox 4"/>
          <p:cNvSpPr txBox="1"/>
          <p:nvPr/>
        </p:nvSpPr>
        <p:spPr>
          <a:xfrm>
            <a:off x="685800" y="6104092"/>
            <a:ext cx="5120640" cy="310896"/>
          </a:xfrm>
          <a:prstGeom prst="rect">
            <a:avLst/>
          </a:prstGeom>
          <a:noFill/>
        </p:spPr>
        <p:txBody>
          <a:bodyPr wrap="square">
            <a:spAutoFit/>
          </a:bodyPr>
          <a:lstStyle/>
          <a:p>
            <a:pPr algn="ctr">
              <a:lnSpc>
                <a:spcPct val="100000"/>
              </a:lnSpc>
            </a:pPr>
            <a:r>
              <a:rPr sz="1200" b="0" i="1">
                <a:solidFill>
                  <a:srgbClr val="5A6068"/>
                </a:solidFill>
                <a:latin typeface="Calibri"/>
              </a:rPr>
              <a:t>input — 10.4 s, static camera</a:t>
            </a:r>
          </a:p>
        </p:txBody>
      </p:sp>
      <p:pic>
        <p:nvPicPr>
          <p:cNvPr id="6" name="gvhmr_r1_tennis_ground.mp4">
            <a:hlinkClick r:id="" action="ppaction://media"/>
          </p:cNvPr>
          <p:cNvPicPr>
            <a:picLocks noChangeAspect="1"/>
          </p:cNvPicPr>
          <p:nvPr>
            <a:videoFile r:link="rId6"/>
            <p:extLst>
              <p:ext uri="{DAA4B4D4-6D71-4841-9C94-3DE7FCFB9230}">
                <p14:media xmlns:p14="http://schemas.microsoft.com/office/powerpoint/2010/main" r:embed="rId5"/>
              </p:ext>
            </p:extLst>
          </p:nvPr>
        </p:nvPicPr>
        <p:blipFill>
          <a:blip r:embed="rId7"/>
          <a:stretch>
            <a:fillRect/>
          </a:stretch>
        </p:blipFill>
        <p:spPr>
          <a:xfrm>
            <a:off x="5943599" y="1508760"/>
            <a:ext cx="5852160" cy="4389120"/>
          </a:xfrm>
          <a:prstGeom prst="rect">
            <a:avLst/>
          </a:prstGeom>
        </p:spPr>
      </p:pic>
      <p:sp>
        <p:nvSpPr>
          <p:cNvPr id="7" name="TextBox 6"/>
          <p:cNvSpPr txBox="1"/>
          <p:nvPr/>
        </p:nvSpPr>
        <p:spPr>
          <a:xfrm>
            <a:off x="5943599" y="5952743"/>
            <a:ext cx="5852160" cy="310896"/>
          </a:xfrm>
          <a:prstGeom prst="rect">
            <a:avLst/>
          </a:prstGeom>
          <a:noFill/>
        </p:spPr>
        <p:txBody>
          <a:bodyPr wrap="square">
            <a:spAutoFit/>
          </a:bodyPr>
          <a:lstStyle/>
          <a:p>
            <a:pPr algn="ctr">
              <a:lnSpc>
                <a:spcPct val="100000"/>
              </a:lnSpc>
            </a:pPr>
            <a:r>
              <a:rPr sz="1200" b="0" i="1">
                <a:solidFill>
                  <a:srgbClr val="5A6068"/>
                </a:solidFill>
                <a:latin typeface="Calibri"/>
              </a:rPr>
              <a:t>output — 312 frames, 30 fps, the forehand at ~8 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4"/>
                </p:tgtEl>
              </p:cMediaNode>
            </p:video>
            <p:video>
              <p:cMediaNode vol="80000">
                <p:cTn id="3" fill="hold" display="0">
                  <p:stCondLst>
                    <p:cond delay="indefinite"/>
                  </p:stCondLst>
                </p:cTn>
                <p:tgtEl>
                  <p:spTgt spid="6"/>
                </p:tgtEl>
              </p:cMediaNode>
            </p:video>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this does not show</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The caveats I would want a listener to hold onto.</a:t>
            </a:r>
          </a:p>
        </p:txBody>
      </p:sp>
      <p:sp>
        <p:nvSpPr>
          <p:cNvPr id="4" name="Rounded Rectangle 3"/>
          <p:cNvSpPr/>
          <p:nvPr/>
        </p:nvSpPr>
        <p:spPr>
          <a:xfrm>
            <a:off x="566928" y="1508760"/>
            <a:ext cx="3611880" cy="233172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73351"/>
            <a:ext cx="3063240" cy="411480"/>
          </a:xfrm>
          <a:prstGeom prst="rect">
            <a:avLst/>
          </a:prstGeom>
          <a:noFill/>
        </p:spPr>
        <p:txBody>
          <a:bodyPr wrap="square">
            <a:spAutoFit/>
          </a:bodyPr>
          <a:lstStyle/>
          <a:p>
            <a:pPr algn="l">
              <a:lnSpc>
                <a:spcPct val="100000"/>
              </a:lnSpc>
            </a:pPr>
            <a:r>
              <a:rPr sz="1600" b="1" i="0">
                <a:solidFill>
                  <a:srgbClr val="B8862E"/>
                </a:solidFill>
                <a:latin typeface="Calibri"/>
              </a:rPr>
              <a:t>It is their clip, not mine</a:t>
            </a:r>
          </a:p>
        </p:txBody>
      </p:sp>
      <p:sp>
        <p:nvSpPr>
          <p:cNvPr id="6" name="TextBox 5"/>
          <p:cNvSpPr txBox="1"/>
          <p:nvPr/>
        </p:nvSpPr>
        <p:spPr>
          <a:xfrm>
            <a:off x="859536" y="2167128"/>
            <a:ext cx="3026664" cy="1545336"/>
          </a:xfrm>
          <a:prstGeom prst="rect">
            <a:avLst/>
          </a:prstGeom>
          <a:noFill/>
        </p:spPr>
        <p:txBody>
          <a:bodyPr wrap="square">
            <a:spAutoFit/>
          </a:bodyPr>
          <a:lstStyle/>
          <a:p>
            <a:pPr algn="l">
              <a:lnSpc>
                <a:spcPct val="125000"/>
              </a:lnSpc>
            </a:pPr>
            <a:r>
              <a:rPr sz="1350" b="0" i="0">
                <a:solidFill>
                  <a:srgbClr val="22252A"/>
                </a:solidFill>
                <a:latin typeface="Calibri"/>
              </a:rPr>
              <a:t>tennis.mp4 ships with GVHMR. It is a good clip: one person, still camera, good light. My own phone video is the next test and it will be worse.</a:t>
            </a:r>
          </a:p>
        </p:txBody>
      </p:sp>
      <p:sp>
        <p:nvSpPr>
          <p:cNvPr id="7" name="Rounded Rectangle 6"/>
          <p:cNvSpPr/>
          <p:nvPr/>
        </p:nvSpPr>
        <p:spPr>
          <a:xfrm>
            <a:off x="4315968" y="1508760"/>
            <a:ext cx="3611880" cy="233172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08576" y="1673351"/>
            <a:ext cx="3063240" cy="411480"/>
          </a:xfrm>
          <a:prstGeom prst="rect">
            <a:avLst/>
          </a:prstGeom>
          <a:noFill/>
        </p:spPr>
        <p:txBody>
          <a:bodyPr wrap="square">
            <a:spAutoFit/>
          </a:bodyPr>
          <a:lstStyle/>
          <a:p>
            <a:pPr algn="l">
              <a:lnSpc>
                <a:spcPct val="100000"/>
              </a:lnSpc>
            </a:pPr>
            <a:r>
              <a:rPr sz="1600" b="1" i="0">
                <a:solidFill>
                  <a:srgbClr val="B8862E"/>
                </a:solidFill>
                <a:latin typeface="Calibri"/>
              </a:rPr>
              <a:t>One clip</a:t>
            </a:r>
          </a:p>
        </p:txBody>
      </p:sp>
      <p:sp>
        <p:nvSpPr>
          <p:cNvPr id="9" name="TextBox 8"/>
          <p:cNvSpPr txBox="1"/>
          <p:nvPr/>
        </p:nvSpPr>
        <p:spPr>
          <a:xfrm>
            <a:off x="4608576" y="2167128"/>
            <a:ext cx="3026664" cy="1545336"/>
          </a:xfrm>
          <a:prstGeom prst="rect">
            <a:avLst/>
          </a:prstGeom>
          <a:noFill/>
        </p:spPr>
        <p:txBody>
          <a:bodyPr wrap="square">
            <a:spAutoFit/>
          </a:bodyPr>
          <a:lstStyle/>
          <a:p>
            <a:pPr algn="l">
              <a:lnSpc>
                <a:spcPct val="125000"/>
              </a:lnSpc>
            </a:pPr>
            <a:r>
              <a:rPr sz="1250" b="0" i="0">
                <a:solidFill>
                  <a:srgbClr val="22252A"/>
                </a:solidFill>
                <a:latin typeface="Calibri"/>
              </a:rPr>
              <a:t>Every number here is from 312 frames of one motion. The drift rate, the residual float, the 7 % contact — none of it is a property of GVHMR until it repeats.</a:t>
            </a:r>
          </a:p>
        </p:txBody>
      </p:sp>
      <p:sp>
        <p:nvSpPr>
          <p:cNvPr id="10" name="Rounded Rectangle 9"/>
          <p:cNvSpPr/>
          <p:nvPr/>
        </p:nvSpPr>
        <p:spPr>
          <a:xfrm>
            <a:off x="8065008" y="1508760"/>
            <a:ext cx="3566160" cy="2331720"/>
          </a:xfrm>
          <a:prstGeom prst="roundRect">
            <a:avLst/>
          </a:prstGeom>
          <a:solidFill>
            <a:srgbClr val="F4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57616" y="1673351"/>
            <a:ext cx="3017520" cy="411480"/>
          </a:xfrm>
          <a:prstGeom prst="rect">
            <a:avLst/>
          </a:prstGeom>
          <a:noFill/>
        </p:spPr>
        <p:txBody>
          <a:bodyPr wrap="square">
            <a:spAutoFit/>
          </a:bodyPr>
          <a:lstStyle/>
          <a:p>
            <a:pPr algn="l">
              <a:lnSpc>
                <a:spcPct val="100000"/>
              </a:lnSpc>
            </a:pPr>
            <a:r>
              <a:rPr sz="1600" b="1" i="0">
                <a:solidFill>
                  <a:srgbClr val="B8862E"/>
                </a:solidFill>
                <a:latin typeface="Calibri"/>
              </a:rPr>
              <a:t>The float is not gone</a:t>
            </a:r>
          </a:p>
        </p:txBody>
      </p:sp>
      <p:sp>
        <p:nvSpPr>
          <p:cNvPr id="12" name="TextBox 11"/>
          <p:cNvSpPr txBox="1"/>
          <p:nvPr/>
        </p:nvSpPr>
        <p:spPr>
          <a:xfrm>
            <a:off x="8357616" y="2167128"/>
            <a:ext cx="2980944" cy="1545336"/>
          </a:xfrm>
          <a:prstGeom prst="rect">
            <a:avLst/>
          </a:prstGeom>
          <a:noFill/>
        </p:spPr>
        <p:txBody>
          <a:bodyPr wrap="square">
            <a:spAutoFit/>
          </a:bodyPr>
          <a:lstStyle/>
          <a:p>
            <a:pPr algn="l">
              <a:lnSpc>
                <a:spcPct val="125000"/>
              </a:lnSpc>
            </a:pPr>
            <a:r>
              <a:rPr sz="1200" b="0" i="0">
                <a:solidFill>
                  <a:srgbClr val="22252A"/>
                </a:solidFill>
                <a:latin typeface="Calibri"/>
              </a:rPr>
              <a:t>After the pass the feet still average 3.6 cm above the floor. That is GVHMR's frame-to-frame scatter (1.7 cm) plus real lifts. A stance-aware pass would do better.</a:t>
            </a:r>
          </a:p>
        </p:txBody>
      </p:sp>
      <p:sp>
        <p:nvSpPr>
          <p:cNvPr id="13" name="Rounded Rectangle 12"/>
          <p:cNvSpPr/>
          <p:nvPr/>
        </p:nvSpPr>
        <p:spPr>
          <a:xfrm>
            <a:off x="566928" y="3977639"/>
            <a:ext cx="3611880" cy="24688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142231"/>
            <a:ext cx="3063240" cy="411480"/>
          </a:xfrm>
          <a:prstGeom prst="rect">
            <a:avLst/>
          </a:prstGeom>
          <a:noFill/>
        </p:spPr>
        <p:txBody>
          <a:bodyPr wrap="square">
            <a:spAutoFit/>
          </a:bodyPr>
          <a:lstStyle/>
          <a:p>
            <a:pPr algn="l">
              <a:lnSpc>
                <a:spcPct val="100000"/>
              </a:lnSpc>
            </a:pPr>
            <a:r>
              <a:rPr sz="1600" b="1" i="0">
                <a:solidFill>
                  <a:srgbClr val="1B2A3A"/>
                </a:solidFill>
                <a:latin typeface="Calibri"/>
              </a:rPr>
              <a:t>Tennis is fast</a:t>
            </a:r>
          </a:p>
        </p:txBody>
      </p:sp>
      <p:sp>
        <p:nvSpPr>
          <p:cNvPr id="15" name="TextBox 14"/>
          <p:cNvSpPr txBox="1"/>
          <p:nvPr/>
        </p:nvSpPr>
        <p:spPr>
          <a:xfrm>
            <a:off x="859536" y="4636007"/>
            <a:ext cx="3026664" cy="1682496"/>
          </a:xfrm>
          <a:prstGeom prst="rect">
            <a:avLst/>
          </a:prstGeom>
          <a:noFill/>
        </p:spPr>
        <p:txBody>
          <a:bodyPr wrap="square">
            <a:spAutoFit/>
          </a:bodyPr>
          <a:lstStyle/>
          <a:p>
            <a:pPr algn="l">
              <a:lnSpc>
                <a:spcPct val="125000"/>
              </a:lnSpc>
            </a:pPr>
            <a:r>
              <a:rPr sz="1400" b="0" i="0">
                <a:solidFill>
                  <a:srgbClr val="22252A"/>
                </a:solidFill>
                <a:latin typeface="Calibri"/>
              </a:rPr>
              <a:t>5 frames exceed 20 rad/s at 22.7 peak. The G1 does the same (23.9). A swing is a swing; the policy will have to slow it or fail it.</a:t>
            </a:r>
          </a:p>
        </p:txBody>
      </p:sp>
      <p:sp>
        <p:nvSpPr>
          <p:cNvPr id="16" name="Rounded Rectangle 15"/>
          <p:cNvSpPr/>
          <p:nvPr/>
        </p:nvSpPr>
        <p:spPr>
          <a:xfrm>
            <a:off x="4315968" y="3977639"/>
            <a:ext cx="3611880" cy="246888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08576" y="4142231"/>
            <a:ext cx="3063240" cy="411480"/>
          </a:xfrm>
          <a:prstGeom prst="rect">
            <a:avLst/>
          </a:prstGeom>
          <a:noFill/>
        </p:spPr>
        <p:txBody>
          <a:bodyPr wrap="square">
            <a:spAutoFit/>
          </a:bodyPr>
          <a:lstStyle/>
          <a:p>
            <a:pPr algn="l">
              <a:lnSpc>
                <a:spcPct val="100000"/>
              </a:lnSpc>
            </a:pPr>
            <a:r>
              <a:rPr sz="1600" b="1" i="0">
                <a:solidFill>
                  <a:srgbClr val="1B2A3A"/>
                </a:solidFill>
                <a:latin typeface="Calibri"/>
              </a:rPr>
              <a:t>Laptop limits</a:t>
            </a:r>
          </a:p>
        </p:txBody>
      </p:sp>
      <p:sp>
        <p:nvSpPr>
          <p:cNvPr id="18" name="TextBox 17"/>
          <p:cNvSpPr txBox="1"/>
          <p:nvPr/>
        </p:nvSpPr>
        <p:spPr>
          <a:xfrm>
            <a:off x="4608576" y="4636007"/>
            <a:ext cx="3026664" cy="1682496"/>
          </a:xfrm>
          <a:prstGeom prst="rect">
            <a:avLst/>
          </a:prstGeom>
          <a:noFill/>
        </p:spPr>
        <p:txBody>
          <a:bodyPr wrap="square">
            <a:spAutoFit/>
          </a:bodyPr>
          <a:lstStyle/>
          <a:p>
            <a:pPr algn="l">
              <a:lnSpc>
                <a:spcPct val="125000"/>
              </a:lnSpc>
            </a:pPr>
            <a:r>
              <a:rPr sz="1400" b="0" i="0">
                <a:solidFill>
                  <a:srgbClr val="22252A"/>
                </a:solidFill>
                <a:latin typeface="Calibri"/>
              </a:rPr>
              <a:t>Clips over ~30 s or at 1080p will need the ViTPose/HMR2 batch dropped from 16. The whole video is read into RAM at half size first.</a:t>
            </a:r>
          </a:p>
        </p:txBody>
      </p:sp>
      <p:sp>
        <p:nvSpPr>
          <p:cNvPr id="19" name="Rounded Rectangle 18"/>
          <p:cNvSpPr/>
          <p:nvPr/>
        </p:nvSpPr>
        <p:spPr>
          <a:xfrm>
            <a:off x="8065008" y="3977639"/>
            <a:ext cx="3566160" cy="2468880"/>
          </a:xfrm>
          <a:prstGeom prst="roundRect">
            <a:avLst/>
          </a:prstGeom>
          <a:solidFill>
            <a:srgbClr val="F6E4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7616" y="4142231"/>
            <a:ext cx="3017520" cy="411480"/>
          </a:xfrm>
          <a:prstGeom prst="rect">
            <a:avLst/>
          </a:prstGeom>
          <a:noFill/>
        </p:spPr>
        <p:txBody>
          <a:bodyPr wrap="square">
            <a:spAutoFit/>
          </a:bodyPr>
          <a:lstStyle/>
          <a:p>
            <a:pPr algn="l">
              <a:lnSpc>
                <a:spcPct val="100000"/>
              </a:lnSpc>
            </a:pPr>
            <a:r>
              <a:rPr sz="1600" b="1" i="0">
                <a:solidFill>
                  <a:srgbClr val="B0473C"/>
                </a:solidFill>
                <a:latin typeface="Calibri"/>
              </a:rPr>
              <a:t>Uncommitted, unpresented</a:t>
            </a:r>
          </a:p>
        </p:txBody>
      </p:sp>
      <p:sp>
        <p:nvSpPr>
          <p:cNvPr id="21" name="TextBox 20"/>
          <p:cNvSpPr txBox="1"/>
          <p:nvPr/>
        </p:nvSpPr>
        <p:spPr>
          <a:xfrm>
            <a:off x="8357616" y="4636007"/>
            <a:ext cx="2980944" cy="1682496"/>
          </a:xfrm>
          <a:prstGeom prst="rect">
            <a:avLst/>
          </a:prstGeom>
          <a:noFill/>
        </p:spPr>
        <p:txBody>
          <a:bodyPr wrap="square">
            <a:spAutoFit/>
          </a:bodyPr>
          <a:lstStyle/>
          <a:p>
            <a:pPr algn="l">
              <a:lnSpc>
                <a:spcPct val="125000"/>
              </a:lnSpc>
            </a:pPr>
            <a:r>
              <a:rPr sz="1400" b="0" i="0">
                <a:solidFill>
                  <a:srgbClr val="22252A"/>
                </a:solidFill>
                <a:latin typeface="Calibri"/>
              </a:rPr>
              <a:t>The 16-line patch sits as a git diff. The week-26 deck this continues has not been given yet. Imitation learning has not started.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TextBox 1"/>
          <p:cNvSpPr txBox="1"/>
          <p:nvPr/>
        </p:nvSpPr>
        <p:spPr>
          <a:xfrm>
            <a:off x="566928" y="384048"/>
            <a:ext cx="11064240" cy="640080"/>
          </a:xfrm>
          <a:prstGeom prst="rect">
            <a:avLst/>
          </a:prstGeom>
          <a:noFill/>
        </p:spPr>
        <p:txBody>
          <a:bodyPr wrap="square">
            <a:spAutoFit/>
          </a:bodyPr>
          <a:lstStyle/>
          <a:p>
            <a:pPr algn="l">
              <a:lnSpc>
                <a:spcPct val="100000"/>
              </a:lnSpc>
            </a:pPr>
            <a:r>
              <a:rPr sz="3000" b="1" i="0">
                <a:solidFill>
                  <a:srgbClr val="1B2A3A"/>
                </a:solidFill>
                <a:latin typeface="Calibri"/>
              </a:rPr>
              <a:t>What comes next</a:t>
            </a:r>
          </a:p>
        </p:txBody>
      </p:sp>
      <p:sp>
        <p:nvSpPr>
          <p:cNvPr id="3" name="TextBox 2"/>
          <p:cNvSpPr txBox="1"/>
          <p:nvPr/>
        </p:nvSpPr>
        <p:spPr>
          <a:xfrm>
            <a:off x="566928" y="987552"/>
            <a:ext cx="11064240" cy="411480"/>
          </a:xfrm>
          <a:prstGeom prst="rect">
            <a:avLst/>
          </a:prstGeom>
          <a:noFill/>
        </p:spPr>
        <p:txBody>
          <a:bodyPr wrap="square">
            <a:spAutoFit/>
          </a:bodyPr>
          <a:lstStyle/>
          <a:p>
            <a:pPr algn="l">
              <a:lnSpc>
                <a:spcPct val="100000"/>
              </a:lnSpc>
            </a:pPr>
            <a:r>
              <a:rPr sz="1500" b="0" i="0">
                <a:solidFill>
                  <a:srgbClr val="5A6068"/>
                </a:solidFill>
                <a:latin typeface="Calibri"/>
              </a:rPr>
              <a:t>In order.</a:t>
            </a:r>
          </a:p>
        </p:txBody>
      </p:sp>
      <p:sp>
        <p:nvSpPr>
          <p:cNvPr id="4" name="Rounded Rectangle 3"/>
          <p:cNvSpPr/>
          <p:nvPr/>
        </p:nvSpPr>
        <p:spPr>
          <a:xfrm>
            <a:off x="566928" y="1600200"/>
            <a:ext cx="685800" cy="1005840"/>
          </a:xfrm>
          <a:prstGeom prst="round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783080"/>
            <a:ext cx="685800" cy="640080"/>
          </a:xfrm>
          <a:prstGeom prst="rect">
            <a:avLst/>
          </a:prstGeom>
          <a:noFill/>
        </p:spPr>
        <p:txBody>
          <a:bodyPr wrap="square">
            <a:spAutoFit/>
          </a:bodyPr>
          <a:lstStyle/>
          <a:p>
            <a:pPr algn="ctr">
              <a:lnSpc>
                <a:spcPct val="100000"/>
              </a:lnSpc>
            </a:pPr>
            <a:r>
              <a:rPr sz="3000" b="1" i="0">
                <a:solidFill>
                  <a:srgbClr val="FFFFFF"/>
                </a:solidFill>
                <a:latin typeface="Calibri"/>
              </a:rPr>
              <a:t>1</a:t>
            </a:r>
          </a:p>
        </p:txBody>
      </p:sp>
      <p:sp>
        <p:nvSpPr>
          <p:cNvPr id="6" name="Rounded Rectangle 5"/>
          <p:cNvSpPr/>
          <p:nvPr/>
        </p:nvSpPr>
        <p:spPr>
          <a:xfrm>
            <a:off x="1371600" y="1600200"/>
            <a:ext cx="10241280" cy="10058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45920" y="1691640"/>
            <a:ext cx="9784080" cy="411480"/>
          </a:xfrm>
          <a:prstGeom prst="rect">
            <a:avLst/>
          </a:prstGeom>
          <a:noFill/>
        </p:spPr>
        <p:txBody>
          <a:bodyPr wrap="square">
            <a:spAutoFit/>
          </a:bodyPr>
          <a:lstStyle/>
          <a:p>
            <a:pPr algn="l">
              <a:lnSpc>
                <a:spcPct val="100000"/>
              </a:lnSpc>
            </a:pPr>
            <a:r>
              <a:rPr sz="1800" b="1" i="0">
                <a:solidFill>
                  <a:srgbClr val="1B2A3A"/>
                </a:solidFill>
                <a:latin typeface="Calibri"/>
              </a:rPr>
              <a:t>My own phone video</a:t>
            </a:r>
          </a:p>
        </p:txBody>
      </p:sp>
      <p:sp>
        <p:nvSpPr>
          <p:cNvPr id="8" name="TextBox 7"/>
          <p:cNvSpPr txBox="1"/>
          <p:nvPr/>
        </p:nvSpPr>
        <p:spPr>
          <a:xfrm>
            <a:off x="1645920" y="2075688"/>
            <a:ext cx="9784080" cy="502920"/>
          </a:xfrm>
          <a:prstGeom prst="rect">
            <a:avLst/>
          </a:prstGeom>
          <a:noFill/>
        </p:spPr>
        <p:txBody>
          <a:bodyPr wrap="square">
            <a:spAutoFit/>
          </a:bodyPr>
          <a:lstStyle/>
          <a:p>
            <a:pPr algn="l">
              <a:lnSpc>
                <a:spcPct val="100000"/>
              </a:lnSpc>
            </a:pPr>
            <a:r>
              <a:rPr sz="1400" b="0" i="0">
                <a:solidFill>
                  <a:srgbClr val="22252A"/>
                </a:solidFill>
                <a:latin typeface="Calibri"/>
              </a:rPr>
              <a:t>Film 20 s, keep the phone still, run the same five commands. This is the first real test of stage 1.</a:t>
            </a:r>
          </a:p>
        </p:txBody>
      </p:sp>
      <p:sp>
        <p:nvSpPr>
          <p:cNvPr id="9" name="Rounded Rectangle 8"/>
          <p:cNvSpPr/>
          <p:nvPr/>
        </p:nvSpPr>
        <p:spPr>
          <a:xfrm>
            <a:off x="566928" y="2788920"/>
            <a:ext cx="685800" cy="1005840"/>
          </a:xfrm>
          <a:prstGeom prst="round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2971800"/>
            <a:ext cx="685800" cy="640080"/>
          </a:xfrm>
          <a:prstGeom prst="rect">
            <a:avLst/>
          </a:prstGeom>
          <a:noFill/>
        </p:spPr>
        <p:txBody>
          <a:bodyPr wrap="square">
            <a:spAutoFit/>
          </a:bodyPr>
          <a:lstStyle/>
          <a:p>
            <a:pPr algn="ctr">
              <a:lnSpc>
                <a:spcPct val="100000"/>
              </a:lnSpc>
            </a:pPr>
            <a:r>
              <a:rPr sz="3000" b="1" i="0">
                <a:solidFill>
                  <a:srgbClr val="FFFFFF"/>
                </a:solidFill>
                <a:latin typeface="Calibri"/>
              </a:rPr>
              <a:t>2</a:t>
            </a:r>
          </a:p>
        </p:txBody>
      </p:sp>
      <p:sp>
        <p:nvSpPr>
          <p:cNvPr id="11" name="Rounded Rectangle 10"/>
          <p:cNvSpPr/>
          <p:nvPr/>
        </p:nvSpPr>
        <p:spPr>
          <a:xfrm>
            <a:off x="1371600" y="2788920"/>
            <a:ext cx="10241280" cy="10058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45920" y="2880360"/>
            <a:ext cx="9784080" cy="411480"/>
          </a:xfrm>
          <a:prstGeom prst="rect">
            <a:avLst/>
          </a:prstGeom>
          <a:noFill/>
        </p:spPr>
        <p:txBody>
          <a:bodyPr wrap="square">
            <a:spAutoFit/>
          </a:bodyPr>
          <a:lstStyle/>
          <a:p>
            <a:pPr algn="l">
              <a:lnSpc>
                <a:spcPct val="100000"/>
              </a:lnSpc>
            </a:pPr>
            <a:r>
              <a:rPr sz="1800" b="1" i="0">
                <a:solidFill>
                  <a:srgbClr val="1B2A3A"/>
                </a:solidFill>
                <a:latin typeface="Calibri"/>
              </a:rPr>
              <a:t>A stance-aware ground pass</a:t>
            </a:r>
          </a:p>
        </p:txBody>
      </p:sp>
      <p:sp>
        <p:nvSpPr>
          <p:cNvPr id="13" name="TextBox 12"/>
          <p:cNvSpPr txBox="1"/>
          <p:nvPr/>
        </p:nvSpPr>
        <p:spPr>
          <a:xfrm>
            <a:off x="1645920" y="3264408"/>
            <a:ext cx="9784080" cy="502920"/>
          </a:xfrm>
          <a:prstGeom prst="rect">
            <a:avLst/>
          </a:prstGeom>
          <a:noFill/>
        </p:spPr>
        <p:txBody>
          <a:bodyPr wrap="square">
            <a:spAutoFit/>
          </a:bodyPr>
          <a:lstStyle/>
          <a:p>
            <a:pPr algn="l">
              <a:lnSpc>
                <a:spcPct val="100000"/>
              </a:lnSpc>
            </a:pPr>
            <a:r>
              <a:rPr sz="1400" b="0" i="0">
                <a:solidFill>
                  <a:srgbClr val="22252A"/>
                </a:solidFill>
                <a:latin typeface="Calibri"/>
              </a:rPr>
              <a:t>Pin a foot only while GVHMR says it is stationary — it already predicts that — instead of one line per clip.</a:t>
            </a:r>
          </a:p>
        </p:txBody>
      </p:sp>
      <p:sp>
        <p:nvSpPr>
          <p:cNvPr id="14" name="Rounded Rectangle 13"/>
          <p:cNvSpPr/>
          <p:nvPr/>
        </p:nvSpPr>
        <p:spPr>
          <a:xfrm>
            <a:off x="566928" y="3977639"/>
            <a:ext cx="685800" cy="1005840"/>
          </a:xfrm>
          <a:prstGeom prst="round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4160520"/>
            <a:ext cx="685800" cy="640080"/>
          </a:xfrm>
          <a:prstGeom prst="rect">
            <a:avLst/>
          </a:prstGeom>
          <a:noFill/>
        </p:spPr>
        <p:txBody>
          <a:bodyPr wrap="square">
            <a:spAutoFit/>
          </a:bodyPr>
          <a:lstStyle/>
          <a:p>
            <a:pPr algn="ctr">
              <a:lnSpc>
                <a:spcPct val="100000"/>
              </a:lnSpc>
            </a:pPr>
            <a:r>
              <a:rPr sz="3000" b="1" i="0">
                <a:solidFill>
                  <a:srgbClr val="FFFFFF"/>
                </a:solidFill>
                <a:latin typeface="Calibri"/>
              </a:rPr>
              <a:t>3</a:t>
            </a:r>
          </a:p>
        </p:txBody>
      </p:sp>
      <p:sp>
        <p:nvSpPr>
          <p:cNvPr id="16" name="Rounded Rectangle 15"/>
          <p:cNvSpPr/>
          <p:nvPr/>
        </p:nvSpPr>
        <p:spPr>
          <a:xfrm>
            <a:off x="1371600" y="3977639"/>
            <a:ext cx="10241280" cy="10058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45920" y="4069079"/>
            <a:ext cx="9784080" cy="411480"/>
          </a:xfrm>
          <a:prstGeom prst="rect">
            <a:avLst/>
          </a:prstGeom>
          <a:noFill/>
        </p:spPr>
        <p:txBody>
          <a:bodyPr wrap="square">
            <a:spAutoFit/>
          </a:bodyPr>
          <a:lstStyle/>
          <a:p>
            <a:pPr algn="l">
              <a:lnSpc>
                <a:spcPct val="100000"/>
              </a:lnSpc>
            </a:pPr>
            <a:r>
              <a:rPr sz="1800" b="1" i="0">
                <a:solidFill>
                  <a:srgbClr val="1B2A3A"/>
                </a:solidFill>
                <a:latin typeface="Calibri"/>
              </a:rPr>
              <a:t>Imitation learning on the lab GPU</a:t>
            </a:r>
          </a:p>
        </p:txBody>
      </p:sp>
      <p:sp>
        <p:nvSpPr>
          <p:cNvPr id="18" name="TextBox 17"/>
          <p:cNvSpPr txBox="1"/>
          <p:nvPr/>
        </p:nvSpPr>
        <p:spPr>
          <a:xfrm>
            <a:off x="1645920" y="4453127"/>
            <a:ext cx="9784080" cy="502920"/>
          </a:xfrm>
          <a:prstGeom prst="rect">
            <a:avLst/>
          </a:prstGeom>
          <a:noFill/>
        </p:spPr>
        <p:txBody>
          <a:bodyPr wrap="square">
            <a:spAutoFit/>
          </a:bodyPr>
          <a:lstStyle/>
          <a:p>
            <a:pPr algn="l">
              <a:lnSpc>
                <a:spcPct val="100000"/>
              </a:lnSpc>
            </a:pPr>
            <a:r>
              <a:rPr sz="1400" b="0" i="0">
                <a:solidFill>
                  <a:srgbClr val="22252A"/>
                </a:solidFill>
                <a:latin typeface="Calibri"/>
              </a:rPr>
              <a:t>The .pkl is the reference format TWIST, BeyondMimic and ASAP consume. Pick one, train the R1 to track it, show it in the simulator.</a:t>
            </a:r>
          </a:p>
        </p:txBody>
      </p:sp>
      <p:sp>
        <p:nvSpPr>
          <p:cNvPr id="19" name="Rounded Rectangle 18"/>
          <p:cNvSpPr/>
          <p:nvPr/>
        </p:nvSpPr>
        <p:spPr>
          <a:xfrm>
            <a:off x="566928" y="5166360"/>
            <a:ext cx="685800" cy="1005840"/>
          </a:xfrm>
          <a:prstGeom prst="roundRect">
            <a:avLst/>
          </a:prstGeom>
          <a:solidFill>
            <a:srgbClr val="1B2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 y="5349240"/>
            <a:ext cx="685800" cy="640080"/>
          </a:xfrm>
          <a:prstGeom prst="rect">
            <a:avLst/>
          </a:prstGeom>
          <a:noFill/>
        </p:spPr>
        <p:txBody>
          <a:bodyPr wrap="square">
            <a:spAutoFit/>
          </a:bodyPr>
          <a:lstStyle/>
          <a:p>
            <a:pPr algn="ctr">
              <a:lnSpc>
                <a:spcPct val="100000"/>
              </a:lnSpc>
            </a:pPr>
            <a:r>
              <a:rPr sz="3000" b="1" i="0">
                <a:solidFill>
                  <a:srgbClr val="FFFFFF"/>
                </a:solidFill>
                <a:latin typeface="Calibri"/>
              </a:rPr>
              <a:t>4</a:t>
            </a:r>
          </a:p>
        </p:txBody>
      </p:sp>
      <p:sp>
        <p:nvSpPr>
          <p:cNvPr id="21" name="Rounded Rectangle 20"/>
          <p:cNvSpPr/>
          <p:nvPr/>
        </p:nvSpPr>
        <p:spPr>
          <a:xfrm>
            <a:off x="1371600" y="5166360"/>
            <a:ext cx="10241280" cy="1005840"/>
          </a:xfrm>
          <a:prstGeom prst="roundRect">
            <a:avLst/>
          </a:prstGeom>
          <a:solidFill>
            <a:srgbClr val="EEED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5257800"/>
            <a:ext cx="9784080" cy="411480"/>
          </a:xfrm>
          <a:prstGeom prst="rect">
            <a:avLst/>
          </a:prstGeom>
          <a:noFill/>
        </p:spPr>
        <p:txBody>
          <a:bodyPr wrap="square">
            <a:spAutoFit/>
          </a:bodyPr>
          <a:lstStyle/>
          <a:p>
            <a:pPr algn="l">
              <a:lnSpc>
                <a:spcPct val="100000"/>
              </a:lnSpc>
            </a:pPr>
            <a:r>
              <a:rPr sz="1800" b="1" i="0">
                <a:solidFill>
                  <a:srgbClr val="1B2A3A"/>
                </a:solidFill>
                <a:latin typeface="Calibri"/>
              </a:rPr>
              <a:t>Push the deck</a:t>
            </a:r>
          </a:p>
        </p:txBody>
      </p:sp>
      <p:sp>
        <p:nvSpPr>
          <p:cNvPr id="23" name="TextBox 22"/>
          <p:cNvSpPr txBox="1"/>
          <p:nvPr/>
        </p:nvSpPr>
        <p:spPr>
          <a:xfrm>
            <a:off x="1645920" y="5641848"/>
            <a:ext cx="9784080" cy="502920"/>
          </a:xfrm>
          <a:prstGeom prst="rect">
            <a:avLst/>
          </a:prstGeom>
          <a:noFill/>
        </p:spPr>
        <p:txBody>
          <a:bodyPr wrap="square">
            <a:spAutoFit/>
          </a:bodyPr>
          <a:lstStyle/>
          <a:p>
            <a:pPr algn="l">
              <a:lnSpc>
                <a:spcPct val="100000"/>
              </a:lnSpc>
            </a:pPr>
            <a:r>
              <a:rPr sz="1400" b="0" i="0">
                <a:solidFill>
                  <a:srgbClr val="22252A"/>
                </a:solidFill>
                <a:latin typeface="Calibri"/>
              </a:rPr>
              <a:t>The copy of week 26 in the course repo is stale; both decks go up together.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A3A"/>
        </a:solidFill>
        <a:effectLst/>
      </p:bgPr>
    </p:bg>
    <p:spTree>
      <p:nvGrpSpPr>
        <p:cNvPr id="1" name=""/>
        <p:cNvGrpSpPr/>
        <p:nvPr/>
      </p:nvGrpSpPr>
      <p:grpSpPr/>
      <p:sp>
        <p:nvSpPr>
          <p:cNvPr id="2" name="Rectangle 1"/>
          <p:cNvSpPr/>
          <p:nvPr/>
        </p:nvSpPr>
        <p:spPr>
          <a:xfrm>
            <a:off x="822960" y="2103120"/>
            <a:ext cx="109728" cy="2011680"/>
          </a:xfrm>
          <a:prstGeom prst="rect">
            <a:avLst/>
          </a:prstGeom>
          <a:solidFill>
            <a:srgbClr val="B886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234440" y="2057400"/>
            <a:ext cx="10058400" cy="457200"/>
          </a:xfrm>
          <a:prstGeom prst="rect">
            <a:avLst/>
          </a:prstGeom>
          <a:noFill/>
        </p:spPr>
        <p:txBody>
          <a:bodyPr wrap="square">
            <a:spAutoFit/>
          </a:bodyPr>
          <a:lstStyle/>
          <a:p>
            <a:pPr algn="l">
              <a:lnSpc>
                <a:spcPct val="100000"/>
              </a:lnSpc>
            </a:pPr>
            <a:r>
              <a:rPr sz="1800" b="0" i="0">
                <a:solidFill>
                  <a:srgbClr val="B8862E"/>
                </a:solidFill>
                <a:latin typeface="Calibri"/>
              </a:rPr>
              <a:t>In one sentence</a:t>
            </a:r>
          </a:p>
        </p:txBody>
      </p:sp>
      <p:sp>
        <p:nvSpPr>
          <p:cNvPr id="4" name="TextBox 3"/>
          <p:cNvSpPr txBox="1"/>
          <p:nvPr/>
        </p:nvSpPr>
        <p:spPr>
          <a:xfrm>
            <a:off x="1234440" y="2514600"/>
            <a:ext cx="10424160" cy="1645920"/>
          </a:xfrm>
          <a:prstGeom prst="rect">
            <a:avLst/>
          </a:prstGeom>
          <a:noFill/>
        </p:spPr>
        <p:txBody>
          <a:bodyPr wrap="square">
            <a:spAutoFit/>
          </a:bodyPr>
          <a:lstStyle/>
          <a:p>
            <a:pPr algn="l">
              <a:lnSpc>
                <a:spcPct val="100000"/>
              </a:lnSpc>
            </a:pPr>
            <a:r>
              <a:rPr sz="3000" b="1" i="0">
                <a:solidFill>
                  <a:srgbClr val="FFFFFF"/>
                </a:solidFill>
                <a:latin typeface="Calibri"/>
              </a:rPr>
              <a:t>A video went in, an R1 motion file came out, on a laptop —</a:t>
            </a:r>
          </a:p>
          <a:p>
            <a:pPr algn="l">
              <a:lnSpc>
                <a:spcPct val="100000"/>
              </a:lnSpc>
            </a:pPr>
            <a:r>
              <a:rPr sz="3000" b="1" i="0">
                <a:solidFill>
                  <a:srgbClr val="FFFFFF"/>
                </a:solidFill>
                <a:latin typeface="Calibri"/>
              </a:rPr>
              <a:t>and the one thing wrong with it was found by measuring, not by watching.</a:t>
            </a:r>
          </a:p>
        </p:txBody>
      </p:sp>
      <p:sp>
        <p:nvSpPr>
          <p:cNvPr id="5" name="TextBox 4"/>
          <p:cNvSpPr txBox="1"/>
          <p:nvPr/>
        </p:nvSpPr>
        <p:spPr>
          <a:xfrm>
            <a:off x="1234440" y="4480560"/>
            <a:ext cx="10424160" cy="457200"/>
          </a:xfrm>
          <a:prstGeom prst="rect">
            <a:avLst/>
          </a:prstGeom>
          <a:noFill/>
        </p:spPr>
        <p:txBody>
          <a:bodyPr wrap="square">
            <a:spAutoFit/>
          </a:bodyPr>
          <a:lstStyle/>
          <a:p>
            <a:pPr algn="l">
              <a:lnSpc>
                <a:spcPct val="100000"/>
              </a:lnSpc>
            </a:pPr>
            <a:r>
              <a:rPr sz="1400" b="0" i="0">
                <a:solidFill>
                  <a:srgbClr val="8F9EAC"/>
                </a:solidFill>
                <a:latin typeface="Calibri"/>
              </a:rPr>
              <a:t>Code and captures: embodied_ai_r1/r1_gmr/  ·  GVHMR patch: git diff in ~/GVHMR  ·  paper: arXiv 2409.06662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