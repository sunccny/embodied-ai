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5840" y="2240280"/>
            <a:ext cx="82296" cy="192024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1284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862E"/>
                </a:solidFill>
                <a:latin typeface="Calibri"/>
              </a:rPr>
              <a:t>WEEK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060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Imitation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20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9D2DA"/>
                </a:solidFill>
                <a:latin typeface="Calibri"/>
              </a:rPr>
              <a:t>R1 learns to mimic the retargeted tennis 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8F9EAC"/>
                </a:solidFill>
                <a:latin typeface="Calibri"/>
              </a:rPr>
              <a:t>video -&gt; GVHMR -&gt; GMR -&gt; imitation learning -- the last arrow is this week's 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Four stages. Three were done before this week.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514600" cy="210312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2011680"/>
            <a:ext cx="2002536" cy="372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3A"/>
                </a:solidFill>
                <a:latin typeface="Calibri"/>
              </a:rPr>
              <a:t>1.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457259"/>
            <a:ext cx="2002536" cy="133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a phone/demo clip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of a human moving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19" y="4069080"/>
            <a:ext cx="1874519" cy="411480"/>
          </a:xfrm>
          <a:prstGeom prst="roundRect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406908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00400" y="2697480"/>
            <a:ext cx="457200" cy="320040"/>
          </a:xfrm>
          <a:prstGeom prst="rightArrow">
            <a:avLst/>
          </a:prstGeom>
          <a:solidFill>
            <a:srgbClr val="5A6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14600" cy="210312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13632" y="2011680"/>
            <a:ext cx="2002536" cy="372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3A"/>
                </a:solidFill>
                <a:latin typeface="Calibri"/>
              </a:rPr>
              <a:t>2. GVHMR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3632" y="2457259"/>
            <a:ext cx="2002536" cy="133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video -&gt; SMPL-X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human kinematics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4069080"/>
            <a:ext cx="1874519" cy="411480"/>
          </a:xfrm>
          <a:prstGeom prst="roundRect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39" y="406908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217920" y="2697480"/>
            <a:ext cx="457200" cy="320040"/>
          </a:xfrm>
          <a:prstGeom prst="rightArrow">
            <a:avLst/>
          </a:prstGeom>
          <a:solidFill>
            <a:srgbClr val="5A6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20" y="1828800"/>
            <a:ext cx="2514600" cy="210312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31152" y="2011680"/>
            <a:ext cx="2002536" cy="372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3A"/>
                </a:solidFill>
                <a:latin typeface="Calibri"/>
              </a:rPr>
              <a:t>3. GMR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2457259"/>
            <a:ext cx="2002536" cy="133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SMPL-X -&gt; R1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joint trajectories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95159" y="4069080"/>
            <a:ext cx="1874519" cy="411480"/>
          </a:xfrm>
          <a:prstGeom prst="roundRect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59" y="406908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235440" y="2697480"/>
            <a:ext cx="457200" cy="320040"/>
          </a:xfrm>
          <a:prstGeom prst="rightArrow">
            <a:avLst/>
          </a:prstGeom>
          <a:solidFill>
            <a:srgbClr val="5A6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92640" y="1828800"/>
            <a:ext cx="2514600" cy="210312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48672" y="2011680"/>
            <a:ext cx="2002536" cy="372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3A"/>
                </a:solidFill>
                <a:latin typeface="Calibri"/>
              </a:rPr>
              <a:t>4. IL Training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2457259"/>
            <a:ext cx="2002536" cy="133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R1 motion data -&gt;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a trained policy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12680" y="4069080"/>
            <a:ext cx="1874519" cy="411480"/>
          </a:xfrm>
          <a:prstGeom prst="round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406908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THIS WEEK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4632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5A6068"/>
                </a:solidFill>
                <a:latin typeface="Calibri"/>
              </a:rPr>
              <a:t>GVHMR+GMR were ported to this workstation last week (~11x/2.6x faster than the laptop, numbers matched within noise). This week: pick a training framework, wire up R1, train, and check the result both natively and via an independent sim2sim harness.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5840" y="2240280"/>
            <a:ext cx="82296" cy="192024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1284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862E"/>
                </a:solidFill>
                <a:latin typeface="Calibri"/>
              </a:rPr>
              <a:t>THE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060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Which framework?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20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9D2DA"/>
                </a:solidFill>
                <a:latin typeface="Calibri"/>
              </a:rPr>
              <a:t>GMR's output is designed to feed straight into one of three published training codebases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8F9EAC"/>
                </a:solidFill>
                <a:latin typeface="Calibri"/>
              </a:rPr>
              <a:t>TWIST, BeyondMimic, or ASAP -- picked before writing a line of training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Three candidates, one hardware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This RTX 5080 (Blackwell) has already broken two Isaac-family stacks this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3A"/>
                </a:solidFill>
                <a:latin typeface="Calibri"/>
              </a:rPr>
              <a:t>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3A"/>
                </a:solidFill>
                <a:latin typeface="Calibri"/>
              </a:rPr>
              <a:t>Physics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1828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3A"/>
                </a:solidFill>
                <a:latin typeface="Calibri"/>
              </a:rPr>
              <a:t>Blackwell / WSL2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828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3A"/>
                </a:solidFill>
                <a:latin typeface="Calibri"/>
              </a:rPr>
              <a:t>R1 support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157984"/>
            <a:ext cx="12161519" cy="978407"/>
          </a:xfrm>
          <a:prstGeom prst="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12848"/>
            <a:ext cx="16002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TWIST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212848"/>
            <a:ext cx="178308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IsaacGym (train)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212848"/>
            <a:ext cx="4069079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Confirmed broken -- NVIDIA forum: IsaacGym Preview 4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missing SM_120 kernels on RTX 5080, deprecated, no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212848"/>
            <a:ext cx="4069079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No R1 path -- hardcoded to G1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209544"/>
            <a:ext cx="12161519" cy="978407"/>
          </a:xfrm>
          <a:prstGeom prst="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264408"/>
            <a:ext cx="16002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BeyondMimic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(original)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264408"/>
            <a:ext cx="178308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Isaac Lab / Isaac Sim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3264408"/>
            <a:ext cx="4069079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High risk -- same GPU-PhysX hang this project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already hit and worked around with device="cpu"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264408"/>
            <a:ext cx="4069079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G1-focused, modular robot dirs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261104"/>
            <a:ext cx="12161519" cy="978407"/>
          </a:xfrm>
          <a:prstGeom prst="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315968"/>
            <a:ext cx="16002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BeyondMimic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via mjlab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315968"/>
            <a:ext cx="178308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MuJoCo-Warp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(no Isaac at all)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4315968"/>
            <a:ext cx="4069079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Low risk -- pure CUDA compute, no rendering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stack; matches what already works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315968"/>
            <a:ext cx="4069079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Data-driven robot configs -- comparable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lift to the GMR R1 work already done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5312664"/>
            <a:ext cx="12161519" cy="978407"/>
          </a:xfrm>
          <a:prstGeom prst="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367527"/>
            <a:ext cx="16002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ASAP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5367527"/>
            <a:ext cx="178308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IsaacGym / IsaacSim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/ Genesis (pick one)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5367527"/>
            <a:ext cx="4069079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Medium -- every backend shares some version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of the same risk; Genesis untested here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5367527"/>
            <a:ext cx="4069079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No native R1, but a retargeting path that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overlaps with GMR work already done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Why BeyondMimic via mjlab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810512"/>
            <a:ext cx="128016" cy="128016"/>
          </a:xfrm>
          <a:prstGeom prst="ellipse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64207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Structurally avoids a failure class this project already hit twice on this exact GPU: Isaac Sim's GPU-PhysX pipeline hang, and now IsaacGym's outright SM_120 incompatibility.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706624"/>
            <a:ext cx="128016" cy="128016"/>
          </a:xfrm>
          <a:prstGeom prst="ellipse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56032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Trains headless on pure CUDA compute (MuJoCo-Warp) -- no rendering/PhysX stack at all, matching this machine's actual proven-working profile (CUDA yes, GL/Vulkan no).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602736"/>
            <a:ext cx="128016" cy="128016"/>
          </a:xfrm>
          <a:prstGeom prst="ellipse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56432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Most actively maintained of the four: 3.1k stars, 1,115 commits, active CI.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224528"/>
            <a:ext cx="128016" cy="128016"/>
          </a:xfrm>
          <a:prstGeom prst="ellipse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78224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It's a direct, source-linked reimplementation -- mjlab's own tracking_env_cfg.py header reads:</a:t>
            </a:r>
          </a:p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  "This is a re-implementation of BeyondMimic. Based on HybridRobotics/whole_body_tracking,</a:t>
            </a:r>
          </a:p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   commit f8e20c880d9c8ec7172a13d3a88a65e3a5a88448"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5632704"/>
            <a:ext cx="128016" cy="128016"/>
          </a:xfrm>
          <a:prstGeom prst="ellipse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4864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Adding R1 means writing a data-driven robot config -- comparable effort to the R1-into-GMR work already finished, not a new research problem.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5840" y="2240280"/>
            <a:ext cx="82296" cy="192024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1284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862E"/>
                </a:solidFill>
                <a:latin typeface="Calibri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060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Wiring it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20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9D2DA"/>
                </a:solidFill>
                <a:latin typeface="Calibri"/>
              </a:rPr>
              <a:t>Verify Blackwell works, add R1 to mjlab, connect WandB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8F9EAC"/>
                </a:solidFill>
                <a:latin typeface="Calibri"/>
              </a:rPr>
              <a:t>three real blockers hit along the way -- covered honestly, not glossed over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Step 1 -- verify the GPU path before building anything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mjlab needs an NVIDIA GPU for training (MuJoCo-Warp, GPU-accelerated compute). Before writing any R1-specific code, confirm this Blackwell card actually runs a real GPU tensor op through the exact torch build mjlab uses.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743200"/>
            <a:ext cx="10881360" cy="192024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2852928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F93A6"/>
                </a:solidFill>
                <a:latin typeface="Consolas"/>
              </a:rPr>
              <a:t>python -c "import torch; torch.cuda.get_device_capability(0)"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3145536"/>
            <a:ext cx="1042416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torch: 2.7.0+cu128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cuda available: True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device: NVIDIA GeForce RTX 5080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capability: (12, 0)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matmul ok, sum: -39756.55078125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20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A6068"/>
                </a:solidFill>
                <a:latin typeface="Calibri"/>
              </a:rPr>
              <a:t>capability (12, 0) = Blackwell sm_120, and a real matmul executed on-device. torch 2.7.0+cu128 is the confirmed-working build for this card (already established porting GVHMR last week).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Step 2 -- add R1 as a real robot inside mjlab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Not a config file -- mjlab's robots are code (asset_zoo/robots/&lt;name&gt;/)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212080" cy="3931920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920240"/>
            <a:ext cx="4700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Calibri"/>
              </a:rPr>
              <a:t>What had to be written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359152"/>
            <a:ext cx="4700016" cy="3172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asset_zoo/robots/unitree_r1/r1_constants.py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  - MJCF path (reused GMR's clean 24-joint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    R1 model -- no phantom joints)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  - PD gains: taken from this project's own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    r1_stand_sim2sim.py deployment values,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    NOT a G1-analogy guess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  - Effort limits: official Unitree R1_C++.xml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    ctrlrange (88/139/50/25 Nm)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  - Stand keyframe: the validated Goal-1 pose</a:t>
            </a:r>
          </a:p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tasks/tracking/config/r1/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  - env_cfgs.py, rl_cfg.py (mirrors G1's)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  - registered as Mjlab-Tracking-Flat-Unitree-R1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737360"/>
            <a:ext cx="5577840" cy="182880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08776" y="184708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F93A6"/>
                </a:solidFill>
                <a:latin typeface="Consolas"/>
              </a:rPr>
              <a:t>uv run python -c "... build Entity, Scene, Simulation ..."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8776" y="2139696"/>
            <a:ext cx="51206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DDE4EC"/>
                </a:solidFill>
                <a:latin typeface="Consolas"/>
              </a:rPr>
              <a:t>R1 tasks registered: ['Mjlab-Tracking-Flat-Unitree-R1',</a:t>
            </a:r>
          </a:p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DDE4EC"/>
                </a:solidFill>
                <a:latin typeface="Consolas"/>
              </a:rPr>
              <a:t>                       'Mjlab-Tracking-Flat-Unitree-R1-No-State-Estimation']</a:t>
            </a:r>
          </a:p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DDE4EC"/>
                </a:solidFill>
                <a:latin typeface="Consolas"/>
              </a:rPr>
              <a:t>SCENE BUILT AND INITIALIZED OK on cuda:0</a:t>
            </a:r>
          </a:p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DDE4EC"/>
                </a:solidFill>
                <a:latin typeface="Consolas"/>
              </a:rPr>
              <a:t>num joints: 24 num bodies: 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3749039"/>
            <a:ext cx="5577840" cy="192024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3931920"/>
            <a:ext cx="506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Calibri"/>
              </a:rPr>
              <a:t>Every number is sourced, not guessed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4370832"/>
            <a:ext cx="5065775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2252A"/>
                </a:solidFill>
                <a:latin typeface="Calibri"/>
              </a:rPr>
              <a:t>PD gains: real deployment values (r1_stand_sim2sim.py).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2252A"/>
                </a:solidFill>
                <a:latin typeface="Calibri"/>
              </a:rPr>
              <a:t>Effort limits: real motor specs (R1_C++.xml).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2252A"/>
                </a:solidFill>
                <a:latin typeface="Calibri"/>
              </a:rPr>
              <a:t>Stand pose: the already-validated Goal-1 pose.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2252A"/>
                </a:solidFill>
                <a:latin typeface="Calibri"/>
              </a:rPr>
              <a:t>Only the joint-limit/armature default is a MuJoCo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2252A"/>
                </a:solidFill>
                <a:latin typeface="Calibri"/>
              </a:rPr>
              <a:t>generic (0.01) -- no per-motor rotor-inertia sheet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2252A"/>
                </a:solidFill>
                <a:latin typeface="Calibri"/>
              </a:rPr>
              <a:t>exists for R1 the way it does for G1.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What is Weights &amp; Biases, and why does training need it?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37360"/>
            <a:ext cx="5212080" cy="3931920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920240"/>
            <a:ext cx="4700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Calibri"/>
              </a:rPr>
              <a:t>What it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359152"/>
            <a:ext cx="4700016" cy="3172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2252A"/>
                </a:solidFill>
                <a:latin typeface="Calibri"/>
              </a:rPr>
              <a:t>A hosted experiment-tracking service: it logs training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2252A"/>
                </a:solidFill>
                <a:latin typeface="Calibri"/>
              </a:rPr>
              <a:t>curves, hyperparameters, and files ("artifacts") to a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2252A"/>
                </a:solidFill>
                <a:latin typeface="Calibri"/>
              </a:rPr>
              <a:t>web dashboard in real time, and stores them in an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2252A"/>
                </a:solidFill>
                <a:latin typeface="Calibri"/>
              </a:rPr>
              <a:t>account-scoped "Registry" that any later run can pull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2252A"/>
                </a:solidFill>
                <a:latin typeface="Calibri"/>
              </a:rPr>
              <a:t>back by name.</a:t>
            </a:r>
          </a:p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2252A"/>
                </a:solidFill>
                <a:latin typeface="Calibri"/>
              </a:rPr>
              <a:t>BeyondMimic (and mjlab's reimplementation) uses WandB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2252A"/>
                </a:solidFill>
                <a:latin typeface="Calibri"/>
              </a:rPr>
              <a:t>not just for logging, but as the actual storage/lookup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2252A"/>
                </a:solidFill>
                <a:latin typeface="Calibri"/>
              </a:rPr>
              <a:t>mechanism for reference motions: a converted motion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2252A"/>
                </a:solidFill>
                <a:latin typeface="Calibri"/>
              </a:rPr>
              <a:t>file gets uploaded once, then any training run just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2252A"/>
                </a:solidFill>
                <a:latin typeface="Calibri"/>
              </a:rPr>
              <a:t>asks for it by name.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737360"/>
            <a:ext cx="5577840" cy="393192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45352" y="1920240"/>
            <a:ext cx="506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Calibri"/>
              </a:rPr>
              <a:t>Why this project needs it (not optional)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5352" y="2359152"/>
            <a:ext cx="5065775" cy="3172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csv_to_npz.py auto-uploads the converted GMR motion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to a WandB registry as part of the conversion step.</a:t>
            </a:r>
          </a:p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The train command then pulls the motion back by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--registry-name &lt;org&gt;/wandb-registry-motions/r1_tennis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-- there is no "just point it at a local file" path in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this framework's design.</a:t>
            </a:r>
          </a:p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Real blocker hit: WandB registries can only be created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through the web UI, never the API -- had to walk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through creating one by hand before training could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start at all.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The motion, converted and registered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5A6068"/>
                </a:solidFill>
                <a:latin typeface="Calibri"/>
              </a:rPr>
              <a:t>GMR's output pickle (root_pos, root_rot, dof_pos -- already MuJoCo qpos-shaped) is converted to the CSV mjlab expects, then run through csv_to_npz.py, which replays it through forward kinematics and pushes the result to the WandB registry.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743200"/>
            <a:ext cx="10881360" cy="310896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2852928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F93A6"/>
                </a:solidFill>
                <a:latin typeface="Consolas"/>
              </a:rPr>
              <a:t>uv run python -m mjlab.scripts.csv_to_npz --input-file tennis.csv --robot r1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3145536"/>
            <a:ext cx="1042416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Motion interpolated, input frames: 312, input fps: 30.0, output frames: 519, output fps: 50.0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Processing frames: 100%|##########| 519/519 [00:01&lt;00:00, 327.85 frame/s]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wandb: setting up run 42fiawyz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wandb: Syncing run r1_tennis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Stacking arrays and saving data...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Saving to /tmp/motion.npz...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Uploading to Weights &amp; Biases...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[INFO]: Logging motion to wandb: r1_tennis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[INFO]: Motion saved to wandb registry: motions/r1_tennis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5840" y="2240280"/>
            <a:ext cx="82296" cy="192024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1284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862E"/>
                </a:solidFill>
                <a:latin typeface="Calibri"/>
              </a:rPr>
              <a:t>THE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060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Section by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20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9D2DA"/>
                </a:solidFill>
                <a:latin typeface="Calibri"/>
              </a:rPr>
              <a:t>What each piece of the R1 tracking config actually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8F9EAC"/>
                </a:solidFill>
                <a:latin typeface="Calibri"/>
              </a:rPr>
              <a:t>r1_constants.py (the robot) + env_cfgs.py (the task)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r1_constants.py -- the robot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Every section, what it's for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11064240" cy="758952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552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3A"/>
                </a:solidFill>
                <a:latin typeface="Calibri"/>
              </a:rPr>
              <a:t>MJCF + get_spec()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221992"/>
            <a:ext cx="10552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2252A"/>
                </a:solidFill>
                <a:latin typeface="Calibri"/>
              </a:rPr>
              <a:t>Points at the GMR-clean R1 model (24 real joints, no phantom waist_pitch/wrist_pitch/wrist_yaw). get_spec() returns a fresh mujoco.MjSpec each call.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50592"/>
            <a:ext cx="11064240" cy="758952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633472"/>
            <a:ext cx="10552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3A"/>
                </a:solidFill>
                <a:latin typeface="Calibri"/>
              </a:rPr>
              <a:t>Actuator configs (7 groups)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72384"/>
            <a:ext cx="10552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2252A"/>
                </a:solidFill>
                <a:latin typeface="Calibri"/>
              </a:rPr>
              <a:t>One BuiltinPositionActuatorCfg per joint-torque class. Each sets stiffness, damping, effort_limit -- turns a kinematic joint into a controlled 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00984"/>
            <a:ext cx="11064240" cy="758952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483864"/>
            <a:ext cx="10552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3A"/>
                </a:solidFill>
                <a:latin typeface="Calibri"/>
              </a:rPr>
              <a:t>STAND_KEYFRAME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922776"/>
            <a:ext cx="10552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The robot's pose and height at episode reset -- reused verbatim from the already-validated Goal-1 standing pose, not re-derived.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51376"/>
            <a:ext cx="11064240" cy="758952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334256"/>
            <a:ext cx="10552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3A"/>
                </a:solidFill>
                <a:latin typeface="Calibri"/>
              </a:rPr>
              <a:t>FULL_COLLISION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773168"/>
            <a:ext cx="10552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2252A"/>
                </a:solidFill>
                <a:latin typeface="Calibri"/>
              </a:rPr>
              <a:t>Which geoms can touch what, and with what friction/priority -- feet get condim=3 (real contact), everything else condim=1 (self-collision only).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01768"/>
            <a:ext cx="11064240" cy="758952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184648"/>
            <a:ext cx="10552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3A"/>
                </a:solidFill>
                <a:latin typeface="Calibri"/>
              </a:rPr>
              <a:t>get_r1_robot_cfg()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623560"/>
            <a:ext cx="10552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22252A"/>
                </a:solidFill>
                <a:latin typeface="Calibri"/>
              </a:rPr>
              <a:t>Assembles all of the above into one EntityCfg. Returns a fresh instance every call -- mjlab explicitly warns against sharing one across environments.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52159"/>
            <a:ext cx="11064240" cy="758952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6035040"/>
            <a:ext cx="10552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3A"/>
                </a:solidFill>
                <a:latin typeface="Calibri"/>
              </a:rPr>
              <a:t>R1_ACTION_SCALE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6473952"/>
            <a:ext cx="10552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22252A"/>
                </a:solidFill>
                <a:latin typeface="Calibri"/>
              </a:rPr>
              <a:t>Computed, not chosen: 0.25 * effort_limit / stiffness per joint -- this is what converts the policy's raw network output into a joint position offset.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env_cfgs.py -- the tracking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unitree_r1_flat_tracking_env_cfg()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11064240" cy="758952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552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3A"/>
                </a:solidFill>
                <a:latin typeface="Calibri"/>
              </a:rPr>
              <a:t>scene.entities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221992"/>
            <a:ext cx="10552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22252A"/>
                </a:solidFill>
                <a:latin typeface="Calibri"/>
              </a:rPr>
              <a:t>{"robot": get_r1_robot_cfg()} -- plugs the R1 config from the previous slide into the shared BeyondMimic tracking environment (make_tracking_env_cfg()).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50592"/>
            <a:ext cx="11064240" cy="758952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633472"/>
            <a:ext cx="10552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3A"/>
                </a:solidFill>
                <a:latin typeface="Calibri"/>
              </a:rPr>
              <a:t>self_collision sensor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72384"/>
            <a:ext cx="10552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2252A"/>
                </a:solidFill>
                <a:latin typeface="Calibri"/>
              </a:rPr>
              <a:t>A ContactSensorCfg watching the pelvis subtree against itself -- feeds the self_collisions reward term and the training curves' collision metric.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00984"/>
            <a:ext cx="11064240" cy="758952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483864"/>
            <a:ext cx="10552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3A"/>
                </a:solidFill>
                <a:latin typeface="Calibri"/>
              </a:rPr>
              <a:t>joint_pos_action.scale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922776"/>
            <a:ext cx="10552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2252A"/>
                </a:solidFill>
                <a:latin typeface="Calibri"/>
              </a:rPr>
              <a:t>Set to R1_ACTION_SCALE -- without this the action-to-target conversion would silently use whatever the shared default is, not R1's real gains.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51376"/>
            <a:ext cx="11064240" cy="758952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334256"/>
            <a:ext cx="10552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3A"/>
                </a:solidFill>
                <a:latin typeface="Calibri"/>
              </a:rPr>
              <a:t>motion command anchor/body_names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773168"/>
            <a:ext cx="10552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22252A"/>
                </a:solidFill>
                <a:latin typeface="Calibri"/>
              </a:rPr>
              <a:t>anchor_body_name="torso_link"; 14 tracked bodies (pelvis, hips, knees, ankles, torso, shoulders, elbows, wrists). R1 has no wrist_yaw_link (phantom joint) -- wrist_roll_link stands in as the real last arm body.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01768"/>
            <a:ext cx="11064240" cy="758952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184648"/>
            <a:ext cx="10552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3A"/>
                </a:solidFill>
                <a:latin typeface="Calibri"/>
              </a:rPr>
              <a:t>foot_friction / base_com 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623560"/>
            <a:ext cx="10552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2252A"/>
                </a:solidFill>
                <a:latin typeface="Calibri"/>
              </a:rPr>
              <a:t>Domain-randomization event configs re-pointed at R1's real geom/body names (left|right)_foot[1-7]_collision and torso_link.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52159"/>
            <a:ext cx="11064240" cy="758952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6035040"/>
            <a:ext cx="10552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3A"/>
                </a:solidFill>
                <a:latin typeface="Calibri"/>
              </a:rPr>
              <a:t>ee_body_pos termination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6473952"/>
            <a:ext cx="10552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22252A"/>
                </a:solidFill>
                <a:latin typeface="Calibri"/>
              </a:rPr>
              <a:t>Ends an episode early if a tracked end-effector (ankles, wrists) drifts too far from the reference -- the actual signal behind "Episode_Termination/anchor_pos" in the training curves.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5840" y="2240280"/>
            <a:ext cx="82296" cy="192024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1284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862E"/>
                </a:solidFill>
                <a:latin typeface="Calibri"/>
              </a:rPr>
              <a:t>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060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3,000 iterations, 4,096 envs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20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9D2DA"/>
                </a:solidFill>
                <a:latin typeface="Calibri"/>
              </a:rPr>
              <a:t>~1 hour on the RTX 5080, measured, not estimated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8F9EAC"/>
                </a:solidFill>
                <a:latin typeface="Calibri"/>
              </a:rPr>
              <a:t>a 100-iteration benchmark set the estimate before committing to a real run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Training spec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What was actually run, and where each number comes from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4650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A3A"/>
                </a:solidFill>
                <a:latin typeface="Calibri"/>
              </a:rPr>
              <a:t>Episode length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40" y="174650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7A6B"/>
                </a:solidFill>
                <a:latin typeface="Calibri"/>
              </a:rPr>
              <a:t>10.0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746504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068"/>
                </a:solidFill>
                <a:latin typeface="Calibri"/>
              </a:rPr>
              <a:t>tracking_env_cfg.py default -- one full pass of a ~10s motion clip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89988"/>
            <a:ext cx="11064240" cy="457200"/>
          </a:xfrm>
          <a:prstGeom prst="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448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A3A"/>
                </a:solidFill>
                <a:latin typeface="Calibri"/>
              </a:rPr>
              <a:t>Control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24485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7A6B"/>
                </a:solidFill>
                <a:latin typeface="Calibri"/>
              </a:rPr>
              <a:t>125 Hz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24485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068"/>
                </a:solidFill>
                <a:latin typeface="Calibri"/>
              </a:rPr>
              <a:t>physics dt 0.002s x decimation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88336"/>
            <a:ext cx="11064240" cy="457200"/>
          </a:xfrm>
          <a:prstGeom prst="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A3A"/>
                </a:solidFill>
                <a:latin typeface="Calibri"/>
              </a:rPr>
              <a:t>Parallel environments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7432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7A6B"/>
                </a:solidFill>
                <a:latin typeface="Calibri"/>
              </a:rPr>
              <a:t>4,096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7432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068"/>
                </a:solidFill>
                <a:latin typeface="Calibri"/>
              </a:rPr>
              <a:t>measured via a 100-iter benchmark first: ~1.1s/iteration, 82-100k steps/sec on this GPU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86684"/>
            <a:ext cx="11064240" cy="457200"/>
          </a:xfrm>
          <a:prstGeom prst="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2415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A3A"/>
                </a:solidFill>
                <a:latin typeface="Calibri"/>
              </a:rPr>
              <a:t>Steps per env per iteration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24154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7A6B"/>
                </a:solidFill>
                <a:latin typeface="Calibri"/>
              </a:rPr>
              <a:t>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24154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068"/>
                </a:solidFill>
                <a:latin typeface="Calibri"/>
              </a:rPr>
              <a:t>rl_cfg.py num_steps_per_env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685032"/>
            <a:ext cx="11064240" cy="457200"/>
          </a:xfrm>
          <a:prstGeom prst="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73989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A3A"/>
                </a:solidFill>
                <a:latin typeface="Calibri"/>
              </a:rPr>
              <a:t>PPO epochs / mini-batches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73989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7A6B"/>
                </a:solidFill>
                <a:latin typeface="Calibri"/>
              </a:rPr>
              <a:t>5 /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3739896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068"/>
                </a:solidFill>
                <a:latin typeface="Calibri"/>
              </a:rPr>
              <a:t>rl_cfg.py -- standard PPO inner-loop settings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183380"/>
            <a:ext cx="11064240" cy="457200"/>
          </a:xfrm>
          <a:prstGeom prst="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23824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A3A"/>
                </a:solidFill>
                <a:latin typeface="Calibri"/>
              </a:rPr>
              <a:t>Learning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423824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7A6B"/>
                </a:solidFill>
                <a:latin typeface="Calibri"/>
              </a:rPr>
              <a:t>1e-3, adaptive (target KL 0.01)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4238244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068"/>
                </a:solidFill>
                <a:latin typeface="Calibri"/>
              </a:rPr>
              <a:t>rl_cfg.py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681728"/>
            <a:ext cx="11064240" cy="457200"/>
          </a:xfrm>
          <a:prstGeom prst="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7365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A3A"/>
                </a:solidFill>
                <a:latin typeface="Calibri"/>
              </a:rPr>
              <a:t>gamma / GAE lambda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473659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7A6B"/>
                </a:solidFill>
                <a:latin typeface="Calibri"/>
              </a:rPr>
              <a:t>0.99 / 0.95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473659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068"/>
                </a:solidFill>
                <a:latin typeface="Calibri"/>
              </a:rPr>
              <a:t>rl_cfg.py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180076"/>
            <a:ext cx="11064240" cy="457200"/>
          </a:xfrm>
          <a:prstGeom prst="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2349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A3A"/>
                </a:solidFill>
                <a:latin typeface="Calibri"/>
              </a:rPr>
              <a:t>Total iterations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52349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7A6B"/>
                </a:solidFill>
                <a:latin typeface="Calibri"/>
              </a:rPr>
              <a:t>3,000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52349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068"/>
                </a:solidFill>
                <a:latin typeface="Calibri"/>
              </a:rPr>
              <a:t>a deliberately conservative first real attempt, not the framework's 30,000 default (which is tuned for general G1 locomotion, not one short clip)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678424"/>
            <a:ext cx="11064240" cy="457200"/>
          </a:xfrm>
          <a:prstGeom prst="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7332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A3A"/>
                </a:solidFill>
                <a:latin typeface="Calibri"/>
              </a:rPr>
              <a:t>Wall-clock 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40" y="573328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7A6B"/>
                </a:solidFill>
                <a:latin typeface="Calibri"/>
              </a:rPr>
              <a:t>59:15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6440" y="573328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068"/>
                </a:solidFill>
                <a:latin typeface="Calibri"/>
              </a:rPr>
              <a:t>measured -- matches the ~1hr estimate from the benchmark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Reading the training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What each number represents, and what's an acceptable range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11064240" cy="868680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874520"/>
            <a:ext cx="10552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3A"/>
                </a:solidFill>
                <a:latin typeface="Calibri"/>
              </a:rPr>
              <a:t>Mean reward   (-0.95 -&gt; +27.04)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313432"/>
            <a:ext cx="10552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2252A"/>
                </a:solidFill>
                <a:latin typeface="Calibri"/>
              </a:rPr>
              <a:t>Sum of all weighted reward terms. Negative = mostly failing early; the sign flip to strongly positive is the clearest single convergence signal.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33472"/>
            <a:ext cx="11064240" cy="868680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816352"/>
            <a:ext cx="10552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3A"/>
                </a:solidFill>
                <a:latin typeface="Calibri"/>
              </a:rPr>
              <a:t>error_joint_pos   (2.56 -&gt; 1.16 rad)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255264"/>
            <a:ext cx="10552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2252A"/>
                </a:solidFill>
                <a:latin typeface="Calibri"/>
              </a:rPr>
              <a:t>L2 norm across all 24 joints vs the reference pose. Lower is better; this run's final value is still a first-pass number, not a converged floor.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75304"/>
            <a:ext cx="11064240" cy="868680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758184"/>
            <a:ext cx="10552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3A"/>
                </a:solidFill>
                <a:latin typeface="Calibri"/>
              </a:rPr>
              <a:t>error_body_pos   (0.17 -&gt; 0.068 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197096"/>
            <a:ext cx="10552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2252A"/>
                </a:solidFill>
                <a:latin typeface="Calibri"/>
              </a:rPr>
              <a:t>Mean tracked-body position error (14 bodies). Sub-10cm is a reasonable "looks right" threshold for this robot's scale.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17136"/>
            <a:ext cx="11064240" cy="868680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700016"/>
            <a:ext cx="10552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3A"/>
                </a:solidFill>
                <a:latin typeface="Calibri"/>
              </a:rPr>
              <a:t>Episode_Termination/anchor_pos   (4-17 -&gt; 0.0)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138928"/>
            <a:ext cx="10552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2252A"/>
                </a:solidFill>
                <a:latin typeface="Calibri"/>
              </a:rPr>
              <a:t>How many envs per batch fell/diverged far enough from the reference to end early. Zero means the policy stopped falling over.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458968"/>
            <a:ext cx="11064240" cy="868680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641848"/>
            <a:ext cx="10552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3A"/>
                </a:solidFill>
                <a:latin typeface="Calibri"/>
              </a:rPr>
              <a:t>Episode_Termination/time_out   (2-6 -&gt; 8.6)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6080760"/>
            <a:ext cx="10552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2252A"/>
                </a:solidFill>
                <a:latin typeface="Calibri"/>
              </a:rPr>
              <a:t>How many envs instead survive to the full 10s episode. This flipping to dominate is the real "it's tracking now" signal.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The training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real TensorBoard data from this run, not illustrative</a:t>
            </a:r>
          </a:p>
        </p:txBody>
      </p:sp>
      <p:pic>
        <p:nvPicPr>
          <p:cNvPr id="4" name="Picture 3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7" y="1691640"/>
            <a:ext cx="10972800" cy="41896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5A6068"/>
                </a:solidFill>
                <a:latin typeface="Calibri"/>
              </a:rPr>
              <a:t>Left: mean episode reward. Right: three tracking-error metrics, all trending down. 3,000 iterations was a first real attempt, not a claim of full convergence.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Start and end of the run, verbatim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91640"/>
            <a:ext cx="5440680" cy="429768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1801368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F93A6"/>
                </a:solidFill>
                <a:latin typeface="Consolas"/>
              </a:rPr>
              <a:t>iteration 1/3000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93976"/>
            <a:ext cx="498348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                           Learning iteration 1/3000</a:t>
            </a:r>
          </a:p>
          <a:p>
            <a:pPr algn="l">
              <a:lnSpc>
                <a:spcPct val="106000"/>
              </a:lnSpc>
            </a:pP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                               Run name: r1_tennis_run1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                            Total steps: 196608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                       Steps per second: 78501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                            Mean reward: -0.85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                    Mean episode length: 14.24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         Episode_Reward/motion_body_pos: 0.0235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        Metrics/motion/error_anchor_pos: 0.1872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          Metrics/motion/error_body_pos: 0.1691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         Metrics/motion/error_joint_pos: 2.5631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           Episode_Termination/time_out: 2.2500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         Episode_Termination/anchor_pos: 17.4583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91640"/>
            <a:ext cx="5440680" cy="429768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91656" y="1801368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F93A6"/>
                </a:solidFill>
                <a:latin typeface="Consolas"/>
              </a:rPr>
              <a:t>iteration 2999/3000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91656" y="2093976"/>
            <a:ext cx="498348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                          Learning iteration 2999/3000</a:t>
            </a:r>
          </a:p>
          <a:p>
            <a:pPr algn="l">
              <a:lnSpc>
                <a:spcPct val="106000"/>
              </a:lnSpc>
            </a:pP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                               Run name: r1_tennis_run1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                            Total steps: 294912000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                       Steps per second: 70226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                            Mean reward: 27.04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                    Mean episode length: 480.49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         Episode_Reward/motion_body_pos: 0.9012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        Metrics/motion/error_anchor_pos: 0.2649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          Metrics/motion/error_body_pos: 0.0679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         Metrics/motion/error_joint_pos: 1.1612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           Episode_Termination/time_out: 8.6250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         Episode_Termination/anchor_pos: 0.0000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--------------------------------------------------------------------------------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                         Iteration time: 1.40s   Time elapsed: 0:59:15   ETA: 0:00:00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Checking it natively before trusting the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mjlab's own evaluate.py -- 64 held-out episodes, real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292608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847088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F93A6"/>
                </a:solidFill>
                <a:latin typeface="Consolas"/>
              </a:rPr>
              <a:t>uv run python -m mjlab.tasks.tracking.scripts.evaluate ... --num-envs 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139696"/>
            <a:ext cx="10424160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DDE4EC"/>
                </a:solidFill>
                <a:latin typeface="Consolas"/>
              </a:rPr>
              <a:t>[INFO] Running 64 evaluation episodes...</a:t>
            </a:r>
          </a:p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DDE4EC"/>
                </a:solidFill>
                <a:latin typeface="Consolas"/>
              </a:rPr>
              <a:t>[INFO] 64/64 episodes completed (step 499, truncated=62, terminated=0)</a:t>
            </a:r>
          </a:p>
          <a:p>
            <a:pPr algn="l">
              <a:lnSpc>
                <a:spcPct val="106000"/>
              </a:lnSpc>
            </a:pPr>
          </a:p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DDE4EC"/>
                </a:solidFill>
                <a:latin typeface="Consolas"/>
              </a:rPr>
              <a:t>==================================================</a:t>
            </a:r>
          </a:p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DDE4EC"/>
                </a:solidFill>
                <a:latin typeface="Consolas"/>
              </a:rPr>
              <a:t>Evaluation Results</a:t>
            </a:r>
          </a:p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DDE4EC"/>
                </a:solidFill>
                <a:latin typeface="Consolas"/>
              </a:rPr>
              <a:t>==================================================</a:t>
            </a:r>
          </a:p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DDE4EC"/>
                </a:solidFill>
                <a:latin typeface="Consolas"/>
              </a:rPr>
              <a:t>  success_rate: 0.9688</a:t>
            </a:r>
          </a:p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DDE4EC"/>
                </a:solidFill>
                <a:latin typeface="Consolas"/>
              </a:rPr>
              <a:t>  mpkpe: 0.2991</a:t>
            </a:r>
          </a:p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DDE4EC"/>
                </a:solidFill>
                <a:latin typeface="Consolas"/>
              </a:rPr>
              <a:t>  r_mpkpe: 0.0637</a:t>
            </a:r>
          </a:p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DDE4EC"/>
                </a:solidFill>
                <a:latin typeface="Consolas"/>
              </a:rPr>
              <a:t>  joint_vel_error: 1.1492</a:t>
            </a:r>
          </a:p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DDE4EC"/>
                </a:solidFill>
                <a:latin typeface="Consolas"/>
              </a:rPr>
              <a:t>  ee_pos_error: 0.0870</a:t>
            </a:r>
          </a:p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DDE4EC"/>
                </a:solidFill>
                <a:latin typeface="Consolas"/>
              </a:rPr>
              <a:t>  ee_ori_error: 0.2632</a:t>
            </a:r>
          </a:p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DDE4EC"/>
                </a:solidFill>
                <a:latin typeface="Consolas"/>
              </a:rPr>
              <a:t>==================================================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46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5A6068"/>
                </a:solidFill>
                <a:latin typeface="Calibri"/>
              </a:rPr>
              <a:t>96.9% success rate (62/64 episodes survive to timeout). mpkpe (mean per-keypoint position error) 0.30m, end-effector position error 8.7cm -- the policy genuinely tracks the motion, not just a training-curve artifact.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The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checkpoint model_2999, played back in mjlab's own simulator</a:t>
            </a:r>
          </a:p>
        </p:txBody>
      </p:sp>
      <p:pic>
        <p:nvPicPr>
          <p:cNvPr id="4" name="r1_tennis_tracking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27248" y="1737360"/>
            <a:ext cx="5943600" cy="4457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27248" y="6249924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R1 tracking the retargeted tennis motion after 3,000 training iterations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5840" y="2240280"/>
            <a:ext cx="82296" cy="192024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1284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862E"/>
                </a:solidFill>
                <a:latin typeface="Calibri"/>
              </a:rPr>
              <a:t>SECOND 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060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Does this generalize?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20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9D2DA"/>
                </a:solidFill>
                <a:latin typeface="Calibri"/>
              </a:rPr>
              <a:t>Everything so far used one clip -- GVHMR's own tennis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8F9EAC"/>
                </a:solidFill>
                <a:latin typeface="Calibri"/>
              </a:rPr>
              <a:t>sourced a fresh video from the open web, same session, no changes to the pipeline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Finding a video -- and a lesson in not trusting descriptions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5A6068"/>
                </a:solidFill>
                <a:latin typeface="Calibri"/>
              </a:rPr>
              <a:t>Wanted something more dynamic than tennis: a dance clip, full body, plain background, static camera (matches what made the tennis demo clip work well). Searched free stock video sites -- but a page's own description of a clip is not the same as looking at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97480"/>
            <a:ext cx="10881360" cy="292608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2807208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F93A6"/>
                </a:solidFill>
                <a:latin typeface="Consolas"/>
              </a:rPr>
              <a:t>finding a usable clip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3099816"/>
            <a:ext cx="10424160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Candidate 1: "A Person Dancing" (Pexels, cyberpunk/neon)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-&gt; checked actual decoded frame: full body, but dark, cluttered background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Candidate 2: "Woman Dancing" (Pexels, studio) -- page said "full-body performer"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-&gt; checked actual decoded frame at t=0: tight crop, legs and feet only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-&gt; REJECTED -- page description was wrong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Candidate 3: "Woman Dancing" by Antoni Shkraba (Pexels, studio)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-&gt; checked poster JPG before downloading: full body, plain background,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   static camera, mid-dance-move -- confirmed good, downloaded (26.5s, 25fps)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150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068"/>
                </a:solidFill>
                <a:latin typeface="Calibri"/>
              </a:rPr>
              <a:t>Candidate 2's page said "full-body performer" -- the actual decoded frame showed a tight crop of just legs and feet. Lesson: pull the real poster image or a decoded frame before downloading, every time.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Same pipeline, new 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no code changes -- GVHMR -&gt; GMR -&gt; mjlab, first attempt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5394960" cy="283464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80136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F93A6"/>
                </a:solidFill>
                <a:latin typeface="Consolas"/>
              </a:rPr>
              <a:t>GVHMR + GMR retarget, real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093976"/>
            <a:ext cx="4937760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DDE4EC"/>
                </a:solidFill>
                <a:latin typeface="Consolas"/>
              </a:rPr>
              <a:t>[Input]: docs/example_video/dancer.mp4</a:t>
            </a:r>
          </a:p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DDE4EC"/>
                </a:solidFill>
                <a:latin typeface="Consolas"/>
              </a:rPr>
              <a:t>(L, W, H) = (662, 2160, 4096)</a:t>
            </a:r>
          </a:p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DDE4EC"/>
                </a:solidFill>
                <a:latin typeface="Consolas"/>
              </a:rPr>
              <a:t>[Preprocess] End. Time elapsed: 99.89s</a:t>
            </a:r>
          </a:p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DDE4EC"/>
                </a:solidFill>
                <a:latin typeface="Consolas"/>
              </a:rPr>
              <a:t>[HMR4D] Predicting</a:t>
            </a:r>
          </a:p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DDE4EC"/>
                </a:solidFill>
                <a:latin typeface="Consolas"/>
              </a:rPr>
              <a:t>[HMR4D] Elapsed: 1.03s for data-length=22.1s</a:t>
            </a:r>
          </a:p>
          <a:p>
            <a:pPr algn="l">
              <a:lnSpc>
                <a:spcPct val="106000"/>
              </a:lnSpc>
            </a:pPr>
          </a:p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DDE4EC"/>
                </a:solidFill>
                <a:latin typeface="Consolas"/>
              </a:rPr>
              <a:t>[headless] dancer/hmr4d_results.pt: 662 frames, human height ... (from betas[0])</a:t>
            </a:r>
          </a:p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DDE4EC"/>
                </a:solidFill>
                <a:latin typeface="Consolas"/>
              </a:rPr>
              <a:t>[ground] mode=linear: ...</a:t>
            </a:r>
          </a:p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DDE4EC"/>
                </a:solidFill>
                <a:latin typeface="Consolas"/>
              </a:rPr>
              <a:t>[headless] IK solve rate: 305.4 FPS (2.2s for 662 frames), motion is 30 fps -&gt; real-time capable</a:t>
            </a:r>
          </a:p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DDE4EC"/>
                </a:solidFill>
                <a:latin typeface="Consolas"/>
              </a:rPr>
              <a:t>[headless] motion saved to out/dancer_r1.pkl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91640"/>
            <a:ext cx="5394960" cy="283464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54496" y="180136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F93A6"/>
                </a:solidFill>
                <a:latin typeface="Consolas"/>
              </a:rPr>
              <a:t>native evaluate.py -- dance vs tennis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4496" y="2093976"/>
            <a:ext cx="4937760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 i="0">
                <a:solidFill>
                  <a:srgbClr val="DDE4EC"/>
                </a:solidFill>
                <a:latin typeface="Consolas"/>
              </a:rPr>
              <a:t>[INFO] Running 64 evaluation episodes...</a:t>
            </a:r>
          </a:p>
          <a:p>
            <a:pPr algn="l">
              <a:lnSpc>
                <a:spcPct val="106000"/>
              </a:lnSpc>
            </a:pPr>
            <a:r>
              <a:rPr sz="900" b="0" i="0">
                <a:solidFill>
                  <a:srgbClr val="DDE4EC"/>
                </a:solidFill>
                <a:latin typeface="Consolas"/>
              </a:rPr>
              <a:t>[INFO] 64/64 episodes completed (step 499, truncated=64, terminated=0)</a:t>
            </a:r>
          </a:p>
          <a:p>
            <a:pPr algn="l">
              <a:lnSpc>
                <a:spcPct val="106000"/>
              </a:lnSpc>
            </a:pPr>
          </a:p>
          <a:p>
            <a:pPr algn="l">
              <a:lnSpc>
                <a:spcPct val="106000"/>
              </a:lnSpc>
            </a:pPr>
            <a:r>
              <a:rPr sz="900" b="0" i="0">
                <a:solidFill>
                  <a:srgbClr val="DDE4EC"/>
                </a:solidFill>
                <a:latin typeface="Consolas"/>
              </a:rPr>
              <a:t>==================================================</a:t>
            </a:r>
          </a:p>
          <a:p>
            <a:pPr algn="l">
              <a:lnSpc>
                <a:spcPct val="106000"/>
              </a:lnSpc>
            </a:pPr>
            <a:r>
              <a:rPr sz="900" b="0" i="0">
                <a:solidFill>
                  <a:srgbClr val="DDE4EC"/>
                </a:solidFill>
                <a:latin typeface="Consolas"/>
              </a:rPr>
              <a:t>Evaluation Results</a:t>
            </a:r>
          </a:p>
          <a:p>
            <a:pPr algn="l">
              <a:lnSpc>
                <a:spcPct val="106000"/>
              </a:lnSpc>
            </a:pPr>
            <a:r>
              <a:rPr sz="900" b="0" i="0">
                <a:solidFill>
                  <a:srgbClr val="DDE4EC"/>
                </a:solidFill>
                <a:latin typeface="Consolas"/>
              </a:rPr>
              <a:t>==================================================</a:t>
            </a:r>
          </a:p>
          <a:p>
            <a:pPr algn="l">
              <a:lnSpc>
                <a:spcPct val="106000"/>
              </a:lnSpc>
            </a:pPr>
            <a:r>
              <a:rPr sz="900" b="0" i="0">
                <a:solidFill>
                  <a:srgbClr val="DDE4EC"/>
                </a:solidFill>
                <a:latin typeface="Consolas"/>
              </a:rPr>
              <a:t>  success_rate: 1.0000</a:t>
            </a:r>
          </a:p>
          <a:p>
            <a:pPr algn="l">
              <a:lnSpc>
                <a:spcPct val="106000"/>
              </a:lnSpc>
            </a:pPr>
            <a:r>
              <a:rPr sz="900" b="0" i="0">
                <a:solidFill>
                  <a:srgbClr val="DDE4EC"/>
                </a:solidFill>
                <a:latin typeface="Consolas"/>
              </a:rPr>
              <a:t>  mpkpe: 0.2195</a:t>
            </a:r>
          </a:p>
          <a:p>
            <a:pPr algn="l">
              <a:lnSpc>
                <a:spcPct val="106000"/>
              </a:lnSpc>
            </a:pPr>
            <a:r>
              <a:rPr sz="900" b="0" i="0">
                <a:solidFill>
                  <a:srgbClr val="DDE4EC"/>
                </a:solidFill>
                <a:latin typeface="Consolas"/>
              </a:rPr>
              <a:t>  r_mpkpe: 0.0818</a:t>
            </a:r>
          </a:p>
          <a:p>
            <a:pPr algn="l">
              <a:lnSpc>
                <a:spcPct val="106000"/>
              </a:lnSpc>
            </a:pPr>
            <a:r>
              <a:rPr sz="900" b="0" i="0">
                <a:solidFill>
                  <a:srgbClr val="DDE4EC"/>
                </a:solidFill>
                <a:latin typeface="Consolas"/>
              </a:rPr>
              <a:t>  joint_vel_error: 1.5615</a:t>
            </a:r>
          </a:p>
          <a:p>
            <a:pPr algn="l">
              <a:lnSpc>
                <a:spcPct val="106000"/>
              </a:lnSpc>
            </a:pPr>
            <a:r>
              <a:rPr sz="900" b="0" i="0">
                <a:solidFill>
                  <a:srgbClr val="DDE4EC"/>
                </a:solidFill>
                <a:latin typeface="Consolas"/>
              </a:rPr>
              <a:t>  ee_pos_error: 0.1329</a:t>
            </a:r>
          </a:p>
          <a:p>
            <a:pPr algn="l">
              <a:lnSpc>
                <a:spcPct val="106000"/>
              </a:lnSpc>
            </a:pPr>
            <a:r>
              <a:rPr sz="900" b="0" i="0">
                <a:solidFill>
                  <a:srgbClr val="DDE4EC"/>
                </a:solidFill>
                <a:latin typeface="Consolas"/>
              </a:rPr>
              <a:t>  ee_ori_error: 0.6138</a:t>
            </a:r>
          </a:p>
          <a:p>
            <a:pPr algn="l">
              <a:lnSpc>
                <a:spcPct val="106000"/>
              </a:lnSpc>
            </a:pPr>
            <a:r>
              <a:rPr sz="900" b="0" i="0">
                <a:solidFill>
                  <a:srgbClr val="DDE4EC"/>
                </a:solidFill>
                <a:latin typeface="Consolas"/>
              </a:rPr>
              <a:t>==================================================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0916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4709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3A"/>
                </a:solidFill>
                <a:latin typeface="Calibri"/>
              </a:rPr>
              <a:t>Mean reward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47091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068"/>
                </a:solidFill>
                <a:latin typeface="Calibri"/>
              </a:rPr>
              <a:t>Tennis: -0.95 -&gt; 27.04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47091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A6B"/>
                </a:solidFill>
                <a:latin typeface="Calibri"/>
              </a:rPr>
              <a:t>Dance: -0.61 -&gt; 26.81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5663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3A"/>
                </a:solidFill>
                <a:latin typeface="Calibri"/>
              </a:rPr>
              <a:t>Native success_rate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505663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068"/>
                </a:solidFill>
                <a:latin typeface="Calibri"/>
              </a:rPr>
              <a:t>Tennis: 0.9688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505663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A6B"/>
                </a:solidFill>
                <a:latin typeface="Calibri"/>
              </a:rPr>
              <a:t>Dance: 1.0000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0410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3A"/>
                </a:solidFill>
                <a:latin typeface="Calibri"/>
              </a:rPr>
              <a:t>mpkpe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540410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068"/>
                </a:solidFill>
                <a:latin typeface="Calibri"/>
              </a:rPr>
              <a:t>Tennis: 0.2991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540410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A6B"/>
                </a:solidFill>
                <a:latin typeface="Calibri"/>
              </a:rPr>
              <a:t>Dance: 0.2195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The result, again -- on a motion the pipeline had never seen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checkpoint model_2999, 3,000 iterations, first attempt</a:t>
            </a:r>
          </a:p>
        </p:txBody>
      </p:sp>
      <p:pic>
        <p:nvPicPr>
          <p:cNvPr id="4" name="r1_dancer_tracking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27248" y="1737360"/>
            <a:ext cx="5943600" cy="4457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27248" y="6249924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R1 tracking the freshly-sourced dance motion -- 100% native success rate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5840" y="2240280"/>
            <a:ext cx="82296" cy="192024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1284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862E"/>
                </a:solidFill>
                <a:latin typeface="Calibri"/>
              </a:rPr>
              <a:t>SIM2SIM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060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Does it survive a different engine?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20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9D2DA"/>
                </a:solidFill>
                <a:latin typeface="Calibri"/>
              </a:rPr>
              <a:t>Native training used MuJoCo-Warp (GPU-batched). Does the policy still work in plain MuJoCo?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8F9EAC"/>
                </a:solidFill>
                <a:latin typeface="Calibri"/>
              </a:rPr>
              <a:t>reported honestly: real bug found and fixed, one divergence still open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Sim2sim, honestly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what this actually means and what happened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5A6068"/>
                </a:solidFill>
                <a:latin typeface="Calibri"/>
              </a:rPr>
              <a:t>This project's established meaning of sim2sim: train in one simulator, deploy in a genuinely different one, and see if the policy survives. mjlab trains on MuJoCo-Warp (GPU-batched); the test here is plain single-instance MuJoCo (CPU, mj_step) driving the exported ONNX policy directly -- a real second physics engine implementation, not a device-flag change.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5349240" cy="2926080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971800"/>
            <a:ext cx="48371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Calibri"/>
              </a:rPr>
              <a:t>What made this tractable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410712"/>
            <a:ext cx="4837175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2252A"/>
                </a:solidFill>
                <a:latin typeface="Calibri"/>
              </a:rPr>
              <a:t>The exported ONNX is self-describing: joint order,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2252A"/>
                </a:solidFill>
                <a:latin typeface="Calibri"/>
              </a:rPr>
              <a:t>PD gains, effort limits, default pose, and action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2252A"/>
                </a:solidFill>
                <a:latin typeface="Calibri"/>
              </a:rPr>
              <a:t>scale are all embedded as metadata -- read directly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2252A"/>
                </a:solidFill>
                <a:latin typeface="Calibri"/>
              </a:rPr>
              <a:t>off the file, not re-derived by hand. This removed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2252A"/>
                </a:solidFill>
                <a:latin typeface="Calibri"/>
              </a:rPr>
              <a:t>most of the observation-reconstruction risk.</a:t>
            </a:r>
          </a:p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2252A"/>
                </a:solidFill>
                <a:latin typeface="Calibri"/>
              </a:rPr>
              <a:t>The official companion sim2sim tool (motion_tracking_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2252A"/>
                </a:solidFill>
                <a:latin typeface="Calibri"/>
              </a:rPr>
              <a:t>controller) needed a full ROS2 + legged_control2 C++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2252A"/>
                </a:solidFill>
                <a:latin typeface="Calibri"/>
              </a:rPr>
              <a:t>stack requiring sudo -- not available in this session,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2252A"/>
                </a:solidFill>
                <a:latin typeface="Calibri"/>
              </a:rPr>
              <a:t>so a lighter Python + onnxruntime harness was built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2252A"/>
                </a:solidFill>
                <a:latin typeface="Calibri"/>
              </a:rPr>
              <a:t>instead.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2788920"/>
            <a:ext cx="5349240" cy="292608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2971800"/>
            <a:ext cx="4837175" cy="657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Calibri"/>
              </a:rPr>
              <a:t>What was found (see next slide for the full arc)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3702177"/>
            <a:ext cx="4837175" cy="187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2252A"/>
                </a:solidFill>
                <a:latin typeface="Calibri"/>
              </a:rPr>
              <a:t>Four real bugs found and fixed: no effort limits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2252A"/>
                </a:solidFill>
                <a:latin typeface="Calibri"/>
              </a:rPr>
              <a:t>(unbounded torque), a wrong motion-interpolation model,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2252A"/>
                </a:solidFill>
                <a:latin typeface="Calibri"/>
              </a:rPr>
              <a:t>a +1 frame-index offset, and qvel left at zero instead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2252A"/>
                </a:solidFill>
                <a:latin typeface="Calibri"/>
              </a:rPr>
              <a:t>of the reference motion's own velocity at reset.</a:t>
            </a:r>
          </a:p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2252A"/>
                </a:solidFill>
                <a:latin typeface="Calibri"/>
              </a:rPr>
              <a:t>Every one of the 8 observation terms was then verified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2252A"/>
                </a:solidFill>
                <a:latin typeface="Calibri"/>
              </a:rPr>
              <a:t>against a captured native rollout to floating-point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2252A"/>
                </a:solidFill>
                <a:latin typeface="Calibri"/>
              </a:rPr>
              <a:t>precision -- the formula is provably correct. The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2252A"/>
                </a:solidFill>
                <a:latin typeface="Calibri"/>
              </a:rPr>
              <a:t>harness still diverges closed-loop; two more real tests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2252A"/>
                </a:solidFill>
                <a:latin typeface="Calibri"/>
              </a:rPr>
              <a:t>followed, on the next slide.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The divergence, captured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91640"/>
            <a:ext cx="5440680" cy="219456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1801368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F93A6"/>
                </a:solidFill>
                <a:latin typeface="Consolas"/>
              </a:rPr>
              <a:t>python sim2sim_r1_tennis.py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93976"/>
            <a:ext cx="4983480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--- t=1100 (t_sec=8.800) ---  action range: [-269.296, 262.766]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--- t=1200 (t_sec=9.600) ---  action range: [-323.632, 319.253]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[RESULT] mean joint_pos_error: 8.8769 rad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[RESULT] max joint_pos_error:  16.0417 rad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[RESULT] final joint_pos_error: 16.0417 rad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69080"/>
            <a:ext cx="5440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A6068"/>
                </a:solidFill>
                <a:latin typeface="Calibri"/>
              </a:rPr>
              <a:t>Action magnitude growing into the hundreds is itself the tell -- a well-behaved policy, even one tracking poorly, doesn't do this. This is after the effort-limit fix; two further hypotheses were tested next (see next slide).</a:t>
            </a:r>
          </a:p>
        </p:txBody>
      </p:sp>
      <p:pic>
        <p:nvPicPr>
          <p:cNvPr id="7" name="r1_tennis_sim2sim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7879" y="1691640"/>
            <a:ext cx="5760720" cy="43205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97879" y="6067043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Plain-MuJoCo replay -- diverges after the initial correct frame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Sim2sim,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two more real tests, and where this actually lands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10881360" cy="356616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801368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F93A6"/>
                </a:solidFill>
                <a:latin typeface="Consolas"/>
              </a:rPr>
              <a:t>two follow-up tests, both real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093976"/>
            <a:ext cx="10424160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DDE4EC"/>
                </a:solidFill>
                <a:latin typeface="Consolas"/>
              </a:rPr>
              <a:t>Resumed r1_tennis_run1 from model_2999.pt -&gt; trained to model_12998.pt (+10,000 iters)</a:t>
            </a:r>
          </a:p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DDE4EC"/>
                </a:solidFill>
                <a:latin typeface="Consolas"/>
              </a:rPr>
              <a:t>Wall time: 3:19:10</a:t>
            </a:r>
          </a:p>
          <a:p>
            <a:pPr algn="l">
              <a:lnSpc>
                <a:spcPct val="106000"/>
              </a:lnSpc>
            </a:pPr>
          </a:p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DDE4EC"/>
                </a:solidFill>
                <a:latin typeface="Consolas"/>
              </a:rPr>
              <a:t>Native evaluate.py, before -&gt; after extended training:</a:t>
            </a:r>
          </a:p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DDE4EC"/>
                </a:solidFill>
                <a:latin typeface="Consolas"/>
              </a:rPr>
              <a:t>  success_rate   0.9688 -&gt; 0.9844</a:t>
            </a:r>
          </a:p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DDE4EC"/>
                </a:solidFill>
                <a:latin typeface="Consolas"/>
              </a:rPr>
              <a:t>  mpkpe          0.2991 -&gt; 0.1588   (nearly halved)</a:t>
            </a:r>
          </a:p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DDE4EC"/>
                </a:solidFill>
                <a:latin typeface="Consolas"/>
              </a:rPr>
              <a:t>  ee_pos_error   0.0870 -&gt; 0.0679</a:t>
            </a:r>
          </a:p>
          <a:p>
            <a:pPr algn="l">
              <a:lnSpc>
                <a:spcPct val="106000"/>
              </a:lnSpc>
            </a:pPr>
          </a:p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DDE4EC"/>
                </a:solidFill>
                <a:latin typeface="Consolas"/>
              </a:rPr>
              <a:t>sim2sim_r1_tennis.py, same checkpoints:</a:t>
            </a:r>
          </a:p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DDE4EC"/>
                </a:solidFill>
                <a:latin typeface="Consolas"/>
              </a:rPr>
              <a:t>  mean joint_pos_error   4.79 rad -&gt; 4.59 rad   (~4% better)</a:t>
            </a:r>
          </a:p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DDE4EC"/>
                </a:solidFill>
                <a:latin typeface="Consolas"/>
              </a:rPr>
              <a:t>  max joint_pos_error    9.02 rad -&gt; 8.30 rad   (~8% better)</a:t>
            </a:r>
          </a:p>
          <a:p>
            <a:pPr algn="l">
              <a:lnSpc>
                <a:spcPct val="106000"/>
              </a:lnSpc>
            </a:pPr>
          </a:p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DDE4EC"/>
                </a:solidFill>
                <a:latin typeface="Consolas"/>
              </a:rPr>
              <a:t>Follow-up test -- swapped the harness's policy inference from</a:t>
            </a:r>
          </a:p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DDE4EC"/>
                </a:solidFill>
                <a:latin typeface="Consolas"/>
              </a:rPr>
              <a:t>onnxruntime/CPU to the raw PyTorch checkpoint on CUDA (matching what</a:t>
            </a:r>
          </a:p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DDE4EC"/>
                </a:solidFill>
                <a:latin typeface="Consolas"/>
              </a:rPr>
              <a:t>native training actually used):</a:t>
            </a:r>
          </a:p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DDE4EC"/>
                </a:solidFill>
                <a:latin typeface="Consolas"/>
              </a:rPr>
              <a:t>  mean joint_pos_error   4.70 rad   (no meaningful change)</a:t>
            </a:r>
          </a:p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DDE4EC"/>
                </a:solidFill>
                <a:latin typeface="Consolas"/>
              </a:rPr>
              <a:t>  max joint_pos_error    8.27 rad   (no meaningful change)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068"/>
                </a:solidFill>
                <a:latin typeface="Calibri"/>
              </a:rPr>
              <a:t>Neither test explains the gap. More training helps native performance a lot but barely moves sim2sim; matching the inference backend exactly (CUDA PyTorch, not CPU ONNX) makes no meaningful difference either.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Where this actually lands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11064240" cy="438912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920240"/>
            <a:ext cx="10552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Best-supported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359152"/>
            <a:ext cx="10552176" cy="3630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Confirmed, in order: (1) 4 real bugs fixed. (2) Every observation term matches native's own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ground truth to floating-point precision -- the formula is provably correct. (3) Physics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agreement in open loop is real but not perfect: 0.38 rad mean error over 660 steps when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replaying native's own exact action sequence -- small, but not zero. (4) More training helps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native performance substantially (mpkpe nearly halved) but barely moves sim2sim (~4-8%) --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ruling out pure undertraining as the explanation. (5) Matching the inference backend exactly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(CUDA PyTorch vs CPU ONNX) makes no meaningful difference -- ruling out inference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non-determinism too.</a:t>
            </a:r>
          </a:p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What's left: a genuine, small physics-solver discrepancy between MuJoCo-Warp's GPU-parallel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contact solver and native MuJoCo's CPU solver -- not a bug in this harness, and not something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further tuning is likely to eliminate. A closed-loop bipedal controller's own corrections feed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back into its future observations, so even a small, bounded per-step physics difference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compounds over hundreds of steps. This is a known category of limitation for GPU-parallel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physics engines generally, not specific to this project's setup.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862E"/>
                </a:solidFill>
                <a:latin typeface="Calibri"/>
              </a:rPr>
              <a:t>Next</a:t>
            </a:r>
          </a:p>
        </p:txBody>
      </p:sp>
      <p:sp>
        <p:nvSpPr>
          <p:cNvPr id="3" name="Oval 2"/>
          <p:cNvSpPr/>
          <p:nvPr/>
        </p:nvSpPr>
        <p:spPr>
          <a:xfrm>
            <a:off x="1005840" y="1444752"/>
            <a:ext cx="128016" cy="128016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13258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FFFFFF"/>
                </a:solidFill>
                <a:latin typeface="Calibri"/>
              </a:rPr>
              <a:t>A harsher sim2sim test would only make this gap worse, not better -- treat the current policy as not yet ready for real-hardware deployment on this evidence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2157984"/>
            <a:ext cx="128016" cy="128016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03911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FFFFFF"/>
                </a:solidFill>
                <a:latin typeface="Calibri"/>
              </a:rPr>
              <a:t>Try training an architecture/training recipe known to be more robust to physics-engine differences (e.g. explicit domain randomization over solver-sensitive parameters)</a:t>
            </a:r>
          </a:p>
        </p:txBody>
      </p:sp>
      <p:sp>
        <p:nvSpPr>
          <p:cNvPr id="7" name="Oval 6"/>
          <p:cNvSpPr/>
          <p:nvPr/>
        </p:nvSpPr>
        <p:spPr>
          <a:xfrm>
            <a:off x="1005840" y="3145536"/>
            <a:ext cx="128016" cy="128016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3026664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FFFFFF"/>
                </a:solidFill>
                <a:latin typeface="Calibri"/>
              </a:rPr>
              <a:t>Stance-aware ground pass refinement (flagged two weeks ago, still not required to train)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3858768"/>
            <a:ext cx="128016" cy="128016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739896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FFFFFF"/>
                </a:solidFill>
                <a:latin typeface="Calibri"/>
              </a:rPr>
              <a:t>A third motion, further from tennis/dance in character (e.g. a fall recovery or a two-person interaction), to keep stress-testing how general this pipeline actually 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