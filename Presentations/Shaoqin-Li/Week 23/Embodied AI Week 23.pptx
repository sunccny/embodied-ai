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8.png"/><Relationship Id="rId6" Type="http://schemas.microsoft.com/office/2007/relationships/media" Target="../media/media4.mp4"/><Relationship Id="rId7" Type="http://schemas.openxmlformats.org/officeDocument/2006/relationships/video" Target="../media/media4.mp4"/><Relationship Id="rId8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11.png"/><Relationship Id="rId5" Type="http://schemas.microsoft.com/office/2007/relationships/media" Target="../media/media6.mp4"/><Relationship Id="rId6" Type="http://schemas.openxmlformats.org/officeDocument/2006/relationships/video" Target="../media/media6.mp4"/><Relationship Id="rId7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14.png"/><Relationship Id="rId5" Type="http://schemas.microsoft.com/office/2007/relationships/media" Target="../media/media8.mp4"/><Relationship Id="rId6" Type="http://schemas.openxmlformats.org/officeDocument/2006/relationships/video" Target="../media/media8.mp4"/><Relationship Id="rId7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14.png"/><Relationship Id="rId5" Type="http://schemas.microsoft.com/office/2007/relationships/media" Target="../media/media9.mp4"/><Relationship Id="rId6" Type="http://schemas.openxmlformats.org/officeDocument/2006/relationships/video" Target="../media/media9.mp4"/><Relationship Id="rId7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9.png"/><Relationship Id="rId5" Type="http://schemas.microsoft.com/office/2007/relationships/media" Target="../media/media11.mp4"/><Relationship Id="rId6" Type="http://schemas.openxmlformats.org/officeDocument/2006/relationships/video" Target="../media/media11.mp4"/><Relationship Id="rId7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EMBODIED AI · WEEK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7627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Experiment 2: Teaching It To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C9D2DA"/>
                </a:solidFill>
                <a:latin typeface="Calibri"/>
              </a:rPr>
              <a:t>The same robot, the same test — but now something learns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886200"/>
            <a:ext cx="1828800" cy="4572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C9D2DA"/>
                </a:solidFill>
                <a:latin typeface="Calibri"/>
              </a:rPr>
              <a:t>Last week the hand-tuned controller fell over at 0.20 m/s and no setting could fix it.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C9D2DA"/>
                </a:solidFill>
                <a:latin typeface="Calibri"/>
              </a:rPr>
              <a:t>This week I train a policy and put it through the identical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F9EAC"/>
                </a:solidFill>
                <a:latin typeface="Calibri"/>
              </a:rPr>
              <a:t>Shaoqin Li  ·  Prof. Yi Sun  ·  CCNY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Where I left 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Experiment 1, in one sentence: a controller with two dials can hold the robot up, and nothing more.</a:t>
            </a:r>
          </a:p>
        </p:txBody>
      </p:sp>
      <p:pic>
        <p:nvPicPr>
          <p:cNvPr id="4" name="pd_toppling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68679" y="1600200"/>
            <a:ext cx="4754880" cy="36510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79" y="5306132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Experiment 1 — the hand-tuned controller, going 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5138928" cy="370332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84848" y="18470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862E"/>
                </a:solidFill>
                <a:latin typeface="Calibri"/>
              </a:rPr>
              <a:t>WHAT I COULD NOT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267712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22252A"/>
                </a:solidFill>
                <a:latin typeface="Calibri"/>
              </a:rPr>
              <a:t>It survived a 0.20 m/s shove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22252A"/>
                </a:solidFill>
                <a:latin typeface="Calibri"/>
              </a:rPr>
              <a:t>from nobody. Not one of the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22252A"/>
                </a:solidFill>
                <a:latin typeface="Calibri"/>
              </a:rPr>
              <a:t>49 settings.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329184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Because the controller only knows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one instruction — get back to the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pose I was told to hold.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Recovering from a shove means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choosing a DIFFERENT pose.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Stepping. Bending. Shifting weight.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Two dials cannot decide that.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577840"/>
            <a:ext cx="11064240" cy="86868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7A6B"/>
                </a:solidFill>
                <a:latin typeface="Calibri"/>
              </a:rPr>
              <a:t>So this week: can a neural network decide it? And can I prove the comparison is fair?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The ten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Three are about setting the problem up. Four are training. Three are measuring — and the measuring is where the care goes.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45920"/>
            <a:ext cx="5349240" cy="786384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47088"/>
            <a:ext cx="384048" cy="384048"/>
          </a:xfrm>
          <a:prstGeom prst="ellipse">
            <a:avLst/>
          </a:prstGeom>
          <a:solidFill>
            <a:srgbClr val="5A6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8366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373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Turn walking into 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665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reuse the environment, zero the command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578608"/>
            <a:ext cx="5349240" cy="786384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779776"/>
            <a:ext cx="384048" cy="384048"/>
          </a:xfrm>
          <a:prstGeom prst="ellipse">
            <a:avLst/>
          </a:prstGeom>
          <a:solidFill>
            <a:srgbClr val="5A6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81635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67004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Decide what it can see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992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45 numbers in, 12 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511296"/>
            <a:ext cx="5349240" cy="786384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3712463"/>
            <a:ext cx="384048" cy="384048"/>
          </a:xfrm>
          <a:prstGeom prst="ellipse">
            <a:avLst/>
          </a:prstGeom>
          <a:solidFill>
            <a:srgbClr val="5A6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749039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0273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Write the reward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319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say what good means, without saying how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43984"/>
            <a:ext cx="5349240" cy="78638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9808" y="4645152"/>
            <a:ext cx="384048" cy="384048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68172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53542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Train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646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4 environments, 3M steps, 49 minutes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76672"/>
            <a:ext cx="5349240" cy="78638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9808" y="5577840"/>
            <a:ext cx="384048" cy="384048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61441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46811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Read the curve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79729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and the one number that looks like a bug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1645920"/>
            <a:ext cx="5349240" cy="78638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19088" y="1847088"/>
            <a:ext cx="384048" cy="384048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188366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17373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Design the 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0665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copy Experiment 1's protocol exactly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2578608"/>
            <a:ext cx="5349240" cy="786384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19088" y="2779776"/>
            <a:ext cx="384048" cy="384048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281635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267004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Does it stand?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29992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20 episodes, no disturbance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36208" y="3511296"/>
            <a:ext cx="5349240" cy="786384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19088" y="3712463"/>
            <a:ext cx="384048" cy="384048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3749039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360273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What is it paid for?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39319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answer the obvious criticism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36208" y="4443984"/>
            <a:ext cx="5349240" cy="786384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19088" y="4645152"/>
            <a:ext cx="384048" cy="384048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19088" y="468172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453542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Push 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48646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the same shove that beat the PD controller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36208" y="5376672"/>
            <a:ext cx="5349240" cy="786384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19088" y="5577840"/>
            <a:ext cx="384048" cy="384048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9088" y="561441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546811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Compare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579729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against the number I had to beat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068"/>
                </a:solidFill>
                <a:latin typeface="Calibri"/>
              </a:rPr>
              <a:t>grey = set up the problem        teal = train it        sand = measure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81328" cy="420624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 1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2848" y="329184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Turn walking into 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841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reuse the environment, zero the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52A"/>
                </a:solidFill>
                <a:latin typeface="Calibri"/>
              </a:rPr>
              <a:t>I did not write a new environment. I already had a walking task — standing is that task with the command set to zero.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5394960" cy="228600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6654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A6068"/>
                </a:solidFill>
                <a:latin typeface="Calibri"/>
              </a:rPr>
              <a:t>WHAT I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A"/>
                </a:solidFill>
                <a:latin typeface="Calibri"/>
              </a:rPr>
              <a:t>one flag:   --fixed-cmd 0 0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go nowhere forward</a:t>
            </a:r>
          </a:p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go nowhere sideways</a:t>
            </a:r>
          </a:p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do not turn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367528" cy="228600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066543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A6B"/>
                </a:solidFill>
                <a:latin typeface="Calibri"/>
              </a:rPr>
              <a:t>WHY THAT IS THE RIGHT MOVE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4688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The reward, the physics and the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observations stay byte-identical to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every other experiment.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So when I compare results later,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the difference is caused by the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policy — not by me quietly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changing the setup.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34840"/>
            <a:ext cx="11064240" cy="178308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17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8862E"/>
                </a:solidFill>
                <a:latin typeface="Calibri"/>
              </a:rPr>
              <a:t>And there is a free bonus in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10912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The reward already contains a term that says “match the commanded velocity”. Set the command to zero and that term now means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“hold still on purpose”. I did not have to invent a single new reward term to turn a walking task into a standing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81328" cy="420624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 2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2848" y="329184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Decide what it can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841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45 numbers in, 12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52A"/>
                </a:solidFill>
                <a:latin typeface="Calibri"/>
              </a:rPr>
              <a:t>The policy gets 45 numbers and produces 12. That is the entire interface.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745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A6068"/>
                </a:solidFill>
                <a:latin typeface="Calibri"/>
              </a:rPr>
              <a:t>IN — 45 numbers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04288"/>
            <a:ext cx="658368" cy="42062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359152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34086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how fast the body is rotating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71216"/>
            <a:ext cx="658368" cy="42062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926080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9077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which way is down, from the robot's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38144"/>
            <a:ext cx="658368" cy="42062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493008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474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what I am asking for — all zeros today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05072"/>
            <a:ext cx="658368" cy="42062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059935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40416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where each leg joint 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572000"/>
            <a:ext cx="658368" cy="42062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626864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60857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how fast each leg joint is moving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138928"/>
            <a:ext cx="658368" cy="42062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193792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517550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what it did on the last step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874519"/>
            <a:ext cx="4956048" cy="1600200"/>
          </a:xfrm>
          <a:prstGeom prst="round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204825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862E"/>
                </a:solidFill>
                <a:latin typeface="Calibri"/>
              </a:rPr>
              <a:t>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23957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12 leg joint targets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2926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D2DA"/>
                </a:solidFill>
                <a:latin typeface="Calibri"/>
              </a:rPr>
              <a:t>a new pose, 50 times a second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3657600"/>
            <a:ext cx="4956048" cy="233172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7728" y="3840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8862E"/>
                </a:solidFill>
                <a:latin typeface="Calibri"/>
              </a:rPr>
              <a:t>THIS IS THE WHOLE DIFFERENCE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4224528"/>
            <a:ext cx="4389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The PD controller had one pose,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fixed, forever.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This one picks a new target every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20 milliseconds — so it CAN decide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to crouch, or shift its weight.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Whether it learns to is the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experiment.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81328" cy="420624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 3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2848" y="329184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Write the reward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841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say what good means, without saying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52A"/>
                </a:solidFill>
                <a:latin typeface="Calibri"/>
              </a:rPr>
              <a:t>The reward is how I say “good” without saying how. Fourteen terms — three of them do nearly all the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960120" cy="475488"/>
          </a:xfrm>
          <a:prstGeom prst="round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956815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+1.5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892807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2A3A"/>
                </a:solidFill>
                <a:latin typeface="Calibri"/>
              </a:rPr>
              <a:t>match the commanded velocity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9202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A6068"/>
                </a:solidFill>
                <a:latin typeface="Calibri"/>
              </a:rPr>
              <a:t>command is zero, so: hold still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32887"/>
            <a:ext cx="960120" cy="475488"/>
          </a:xfrm>
          <a:prstGeom prst="round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615183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+0.5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51175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2A3A"/>
                </a:solidFill>
                <a:latin typeface="Calibri"/>
              </a:rPr>
              <a:t>match the commanded turn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57860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A6068"/>
                </a:solidFill>
                <a:latin typeface="Calibri"/>
              </a:rPr>
              <a:t>do not spin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91256"/>
            <a:ext cx="960120" cy="475488"/>
          </a:xfrm>
          <a:prstGeom prst="round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273551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+0.15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20954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2A3A"/>
                </a:solidFill>
                <a:latin typeface="Calibri"/>
              </a:rPr>
              <a:t>still standing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323697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A6068"/>
                </a:solidFill>
                <a:latin typeface="Calibri"/>
              </a:rPr>
              <a:t>a small bonus each step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849624"/>
            <a:ext cx="960120" cy="475488"/>
          </a:xfrm>
          <a:prstGeom prst="roundRect">
            <a:avLst/>
          </a:prstGeom>
          <a:solidFill>
            <a:srgbClr val="B0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3192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-5.0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867911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2A3A"/>
                </a:solidFill>
                <a:latin typeface="Calibri"/>
              </a:rPr>
              <a:t>stay upright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8953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A6068"/>
                </a:solidFill>
                <a:latin typeface="Calibri"/>
              </a:rPr>
              <a:t>penalty for tilting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507992"/>
            <a:ext cx="960120" cy="475488"/>
          </a:xfrm>
          <a:prstGeom prst="roundRect">
            <a:avLst/>
          </a:prstGeom>
          <a:solidFill>
            <a:srgbClr val="B0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59028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-10.0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52627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2A3A"/>
                </a:solidFill>
                <a:latin typeface="Calibri"/>
              </a:rPr>
              <a:t>hold your hip height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5537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A6068"/>
                </a:solidFill>
                <a:latin typeface="Calibri"/>
              </a:rPr>
              <a:t>penalty for sinking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166359"/>
            <a:ext cx="960120" cy="475488"/>
          </a:xfrm>
          <a:prstGeom prst="roundRect">
            <a:avLst/>
          </a:prstGeom>
          <a:solidFill>
            <a:srgbClr val="B0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248655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small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184647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2A3A"/>
                </a:solidFill>
                <a:latin typeface="Calibri"/>
              </a:rPr>
              <a:t>do not waste effort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52120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A6068"/>
                </a:solidFill>
                <a:latin typeface="Calibri"/>
              </a:rPr>
              <a:t>penalty on torque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32520" y="1874519"/>
            <a:ext cx="2898648" cy="3977639"/>
          </a:xfrm>
          <a:prstGeom prst="roundRect">
            <a:avLst/>
          </a:prstGeom>
          <a:solidFill>
            <a:srgbClr val="F6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2084831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0473C"/>
                </a:solidFill>
                <a:latin typeface="Calibri"/>
              </a:rPr>
              <a:t>THE TRAP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4688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The moment I put a “still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standing” bonus in there,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I invited one criticism: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456432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1">
                <a:solidFill>
                  <a:srgbClr val="B0473C"/>
                </a:solidFill>
                <a:latin typeface="Calibri"/>
              </a:rPr>
              <a:t>“your robot didn't</a:t>
            </a:r>
          </a:p>
          <a:p>
            <a:pPr algn="l">
              <a:lnSpc>
                <a:spcPct val="128000"/>
              </a:lnSpc>
            </a:pPr>
            <a:r>
              <a:rPr sz="1400" b="1" i="1">
                <a:solidFill>
                  <a:srgbClr val="B0473C"/>
                </a:solidFill>
                <a:latin typeface="Calibri"/>
              </a:rPr>
              <a:t>learn to balance —</a:t>
            </a:r>
          </a:p>
          <a:p>
            <a:pPr algn="l">
              <a:lnSpc>
                <a:spcPct val="128000"/>
              </a:lnSpc>
            </a:pPr>
            <a:r>
              <a:rPr sz="1400" b="1" i="1">
                <a:solidFill>
                  <a:srgbClr val="B0473C"/>
                </a:solidFill>
                <a:latin typeface="Calibri"/>
              </a:rPr>
              <a:t>it learned to collect</a:t>
            </a:r>
          </a:p>
          <a:p>
            <a:pPr algn="l">
              <a:lnSpc>
                <a:spcPct val="128000"/>
              </a:lnSpc>
            </a:pPr>
            <a:r>
              <a:rPr sz="1400" b="1" i="1">
                <a:solidFill>
                  <a:srgbClr val="B0473C"/>
                </a:solidFill>
                <a:latin typeface="Calibri"/>
              </a:rPr>
              <a:t>the bonus.”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470916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That is a fair objection,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and no training curve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can answer it.</a:t>
            </a:r>
          </a:p>
          <a:p>
            <a:pPr algn="l">
              <a:lnSpc>
                <a:spcPct val="128000"/>
              </a:lnSpc>
            </a:pP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I answer it in Step 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81328" cy="420624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 4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2848" y="329184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Train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841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4 environments, 3M steps, 49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52A"/>
                </a:solidFill>
                <a:latin typeface="Calibri"/>
              </a:rPr>
              <a:t>Then I trained it — on the same laptop, with no GPU.</a:t>
            </a:r>
          </a:p>
        </p:txBody>
      </p:sp>
      <p:pic>
        <p:nvPicPr>
          <p:cNvPr id="6" name="Picture 5" descr="e2_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828800"/>
            <a:ext cx="6949440" cy="21717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09560" y="1847088"/>
            <a:ext cx="3721608" cy="406908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06654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A6B"/>
                </a:solidFill>
                <a:latin typeface="Calibri"/>
              </a:rPr>
              <a:t>THE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37744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PPO</a:t>
            </a:r>
          </a:p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4 environments</a:t>
            </a:r>
          </a:p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3,000,000 steps</a:t>
            </a:r>
          </a:p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49 minutes</a:t>
            </a:r>
          </a:p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0 GPUs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4315968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Randomisation is ON while</a:t>
            </a:r>
          </a:p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training — friction, mass,</a:t>
            </a:r>
          </a:p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motor gains, and a random</a:t>
            </a:r>
          </a:p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shove every few seconds.</a:t>
            </a:r>
          </a:p>
          <a:p>
            <a:pPr algn="l">
              <a:lnSpc>
                <a:spcPct val="126000"/>
              </a:lnSpc>
            </a:pPr>
          </a:p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It is being bullied on</a:t>
            </a:r>
          </a:p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purpose, so it learns</a:t>
            </a:r>
          </a:p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something robust.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81328" cy="420624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 5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2848" y="329184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Read the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841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and the one number that looks like a 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52A"/>
                </a:solidFill>
                <a:latin typeface="Calibri"/>
              </a:rPr>
              <a:t>The real training log — all 60 checkpoints, nothing smoothed.</a:t>
            </a:r>
          </a:p>
        </p:txBody>
      </p:sp>
      <p:pic>
        <p:nvPicPr>
          <p:cNvPr id="6" name="Picture 5" descr="exp2_fig1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617" y="1783080"/>
            <a:ext cx="6230860" cy="3794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5650992"/>
            <a:ext cx="11064240" cy="1115568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7790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8862E"/>
                </a:solidFill>
                <a:latin typeface="Calibri"/>
              </a:rPr>
              <a:t>The thing that looks like a bug: episode length ends at 676 against a cap of 1000.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Read literally, that says it still falls a third of the time. It does not — randomisation and random shoves are ON during training and OFF during the test.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81328" cy="420624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 6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2848" y="329184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Design the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841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copy Experiment 1's protocol exactly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52A"/>
                </a:solidFill>
                <a:latin typeface="Calibri"/>
              </a:rPr>
              <a:t>Before looking at any result, I decided how to test it — and copied Experiment 1's protocol exactly.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11064240" cy="58521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0253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Randomisation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00253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turned 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208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A6068"/>
                </a:solidFill>
                <a:latin typeface="Calibri"/>
              </a:rPr>
              <a:t>so the only disturbance is the one I inject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87752"/>
            <a:ext cx="11064240" cy="585216"/>
          </a:xfrm>
          <a:prstGeom prst="round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157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Push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7157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identical to Exp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340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A6068"/>
                </a:solidFill>
                <a:latin typeface="Calibri"/>
              </a:rPr>
              <a:t>same impulse, same moment, same magnitudes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00984"/>
            <a:ext cx="11064240" cy="58521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29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Episodes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429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20 undisturbed, 5 per push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472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A6068"/>
                </a:solidFill>
                <a:latin typeface="Calibri"/>
              </a:rPr>
              <a:t>one run proves nothing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014215"/>
            <a:ext cx="11064240" cy="585216"/>
          </a:xfrm>
          <a:prstGeom prst="round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42231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142231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best, not last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A6068"/>
                </a:solidFill>
                <a:latin typeface="Calibri"/>
              </a:rPr>
              <a:t>chosen on training reward — I say so openly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727448"/>
            <a:ext cx="11064240" cy="58521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554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85546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three, not 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873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A6068"/>
                </a:solidFill>
                <a:latin typeface="Calibri"/>
              </a:rPr>
              <a:t>survival, tilt, and the reward breakdown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577840"/>
            <a:ext cx="11064240" cy="91440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7058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7A6B"/>
                </a:solidFill>
                <a:latin typeface="Calibri"/>
              </a:rPr>
              <a:t>The second row is the one that matters.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If I had invented a nicer test for my own policy, the comparison to 0.15 m/s would be worthless. Same robot, same shove, same measurement.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81328" cy="420624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 7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2848" y="329184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Does it stand?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841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20 episodes, no disturbance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52A"/>
                </a:solidFill>
                <a:latin typeface="Calibri"/>
              </a:rPr>
              <a:t>First question: does it actually stand?</a:t>
            </a:r>
          </a:p>
        </p:txBody>
      </p:sp>
      <p:pic>
        <p:nvPicPr>
          <p:cNvPr id="6" name="Picture 5" descr="e2_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33" y="1783080"/>
            <a:ext cx="5426493" cy="3977639"/>
          </a:xfrm>
          <a:prstGeom prst="rect">
            <a:avLst/>
          </a:prstGeom>
        </p:spPr>
      </p:pic>
      <p:pic>
        <p:nvPicPr>
          <p:cNvPr id="7" name="rl_standing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223760" y="1874519"/>
            <a:ext cx="3931920" cy="3019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4948536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8 s, undisturbed — it barely moves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897880"/>
            <a:ext cx="11064240" cy="77724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6062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7A6B"/>
                </a:solidFill>
                <a:latin typeface="Calibri"/>
              </a:rPr>
              <a:t>20 of 20 episodes reached the full 20 seconds. Maximum tilt across all of them: 3.22 degrees.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81328" cy="420624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 8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2848" y="329184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What is it paid for?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841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answer the obvious criticism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52A"/>
                </a:solidFill>
                <a:latin typeface="Calibri"/>
              </a:rPr>
              <a:t>Second question — the one I set up back in Step 3. Is it just collecting the survival bonus?</a:t>
            </a:r>
          </a:p>
        </p:txBody>
      </p:sp>
      <p:pic>
        <p:nvPicPr>
          <p:cNvPr id="6" name="Picture 5" descr="exp2_fig2_reward_de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59" y="1783080"/>
            <a:ext cx="7146721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874519"/>
            <a:ext cx="3355848" cy="384048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1214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A6B"/>
                </a:solidFill>
                <a:latin typeface="Calibri"/>
              </a:rPr>
              <a:t>THE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48716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B2A3A"/>
                </a:solidFill>
                <a:latin typeface="Calibri"/>
              </a:rPr>
              <a:t>6.9%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2461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of the score comes from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the survival bonus.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950208"/>
            <a:ext cx="2834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91% comes from velocity</a:t>
            </a:r>
          </a:p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tracking — from holding</a:t>
            </a:r>
          </a:p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still ON PURPOSE, which</a:t>
            </a:r>
          </a:p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is the actual task.</a:t>
            </a:r>
          </a:p>
          <a:p>
            <a:pPr algn="l">
              <a:lnSpc>
                <a:spcPct val="126000"/>
              </a:lnSpc>
            </a:pPr>
          </a:p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If it were gaming the</a:t>
            </a:r>
          </a:p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bonus, these would be</a:t>
            </a:r>
          </a:p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the other way round.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806440"/>
            <a:ext cx="11064240" cy="77724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710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8862E"/>
                </a:solidFill>
                <a:latin typeface="Calibri"/>
              </a:rPr>
              <a:t>I raised this objection myself, before showing the result. That is the difference between a demo and an experiment.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81328" cy="420624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 9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2848" y="329184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Push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841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the same shove that beat the PD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52A"/>
                </a:solidFill>
                <a:latin typeface="Calibri"/>
              </a:rPr>
              <a:t>Third question: the same shove that beat the hand-tuned controller.</a:t>
            </a:r>
          </a:p>
        </p:txBody>
      </p:sp>
      <p:pic>
        <p:nvPicPr>
          <p:cNvPr id="6" name="Picture 5" descr="e2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83080"/>
            <a:ext cx="5577840" cy="2511874"/>
          </a:xfrm>
          <a:prstGeom prst="rect">
            <a:avLst/>
          </a:prstGeom>
        </p:spPr>
      </p:pic>
      <p:pic>
        <p:nvPicPr>
          <p:cNvPr id="7" name="rl_push_030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989320" y="1810512"/>
            <a:ext cx="3200400" cy="2457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89320" y="432282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0.30 m/s — it stays up</a:t>
            </a:r>
          </a:p>
        </p:txBody>
      </p:sp>
      <p:pic>
        <p:nvPicPr>
          <p:cNvPr id="9" name="rl_push_040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961120" y="1810512"/>
            <a:ext cx="3200400" cy="2457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61120" y="432282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0.40 m/s — down in 2.2 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989320"/>
            <a:ext cx="11064240" cy="73152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613562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7A6B"/>
                </a:solidFill>
                <a:latin typeface="Calibri"/>
              </a:rPr>
              <a:t>Survives 0.30 m/s, five times out of five. Falls at 0.40. The hand-tuned controller survived 0.15.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81328" cy="420624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 10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2848" y="329184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8412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against the number I had to beat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52A"/>
                </a:solidFill>
                <a:latin typeface="Calibri"/>
              </a:rPr>
              <a:t>Same robot. Same shove. Same measurement. The only thing that changed is what decides the pose.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5394960" cy="320040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84831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862E"/>
                </a:solidFill>
                <a:latin typeface="Calibri"/>
              </a:rPr>
              <a:t>EXPERIMENT 1 — two dials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B8862E"/>
                </a:solidFill>
                <a:latin typeface="Calibri"/>
              </a:rPr>
              <a:t>0.15 m/s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649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survives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falls at 0.20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24528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5A6068"/>
                </a:solidFill>
                <a:latin typeface="Calibri"/>
              </a:rPr>
              <a:t>and no setting of the two dials</a:t>
            </a:r>
          </a:p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5A6068"/>
                </a:solidFill>
                <a:latin typeface="Calibri"/>
              </a:rPr>
              <a:t>changes that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74519"/>
            <a:ext cx="5367528" cy="320040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084831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7A6B"/>
                </a:solidFill>
                <a:latin typeface="Calibri"/>
              </a:rPr>
              <a:t>EXPERIMENT 2 — a trained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5146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F7A6B"/>
                </a:solidFill>
                <a:latin typeface="Calibri"/>
              </a:rPr>
              <a:t>0.30 m/s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3649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survives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7490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falls at 0.40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422452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5A6068"/>
                </a:solidFill>
                <a:latin typeface="Calibri"/>
              </a:rPr>
              <a:t>twice the disturbance, on a test</a:t>
            </a:r>
          </a:p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5A6068"/>
                </a:solidFill>
                <a:latin typeface="Calibri"/>
              </a:rPr>
              <a:t>I did not get to design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349240"/>
            <a:ext cx="11064240" cy="1188720"/>
          </a:xfrm>
          <a:prstGeom prst="round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5046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Learning roughly doubled it — and the reason is structural, not incremental.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70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C9D2DA"/>
                </a:solidFill>
                <a:latin typeface="Calibri"/>
              </a:rPr>
              <a:t>The PD controller restores one fixed pose. The policy chooses a new pose fifty times a second — so it can crouch, or shift its weight,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C9D2DA"/>
                </a:solidFill>
                <a:latin typeface="Calibri"/>
              </a:rPr>
              <a:t>or do whatever the shove requires. That is a different kind of thing, not a better-tuned version of the same 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What I found</a:t>
            </a:r>
          </a:p>
        </p:txBody>
      </p:sp>
      <p:sp>
        <p:nvSpPr>
          <p:cNvPr id="3" name="Oval 2"/>
          <p:cNvSpPr/>
          <p:nvPr/>
        </p:nvSpPr>
        <p:spPr>
          <a:xfrm>
            <a:off x="566928" y="1325880"/>
            <a:ext cx="347472" cy="347472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44168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34440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A"/>
                </a:solidFill>
                <a:latin typeface="Calibri"/>
              </a:rPr>
              <a:t>Learning beats hand tuning, measurably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1848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0.30 vs 0.15 m/s on an identical test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286000"/>
            <a:ext cx="347472" cy="347472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304288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A"/>
                </a:solidFill>
                <a:latin typeface="Calibri"/>
              </a:rPr>
              <a:t>It is not gaming the reward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7860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the survival bonus is 6.9% of the score; velocity tracking is 91%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246120"/>
            <a:ext cx="347472" cy="347472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264408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54680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A"/>
                </a:solidFill>
                <a:latin typeface="Calibri"/>
              </a:rPr>
              <a:t>A training curve cannot tell you it worked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3872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reward went up — that says nothing about standing, steadiness or shoves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4206240"/>
            <a:ext cx="347472" cy="347472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224528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14800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A"/>
                </a:solidFill>
                <a:latin typeface="Calibri"/>
              </a:rPr>
              <a:t>The comparison is the hard part, not the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4988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copying Experiment 1's protocol is what makes the number mean anything</a:t>
            </a:r>
          </a:p>
        </p:txBody>
      </p:sp>
      <p:sp>
        <p:nvSpPr>
          <p:cNvPr id="19" name="Oval 18"/>
          <p:cNvSpPr/>
          <p:nvPr/>
        </p:nvSpPr>
        <p:spPr>
          <a:xfrm>
            <a:off x="566928" y="5166360"/>
            <a:ext cx="347472" cy="347472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184648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74920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A"/>
                </a:solidFill>
                <a:latin typeface="Calibri"/>
              </a:rPr>
              <a:t>Still only a simulator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45896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whether this transfers to hardware is a question I have not answered yet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Every number came off my own screen, in the order you just saw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B2A3A"/>
                </a:solidFill>
                <a:latin typeface="Calibri"/>
              </a:rPr>
              <a:t>What comes next — experiments 3 to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All four are already run — these are the real results, not a plan. I will take one per week from here.</a:t>
            </a:r>
          </a:p>
        </p:txBody>
      </p:sp>
      <p:pic>
        <p:nvPicPr>
          <p:cNvPr id="4" name="Picture 3" descr="exp_preview_3to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389888"/>
            <a:ext cx="11521440" cy="260028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4828032"/>
            <a:ext cx="2670048" cy="173736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4992624"/>
            <a:ext cx="347472" cy="347472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01091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4974336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Calibri"/>
              </a:rPr>
              <a:t>What does learning cost?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504688"/>
            <a:ext cx="234086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1200" b="0" i="0">
                <a:solidFill>
                  <a:srgbClr val="22252A"/>
                </a:solidFill>
                <a:latin typeface="Calibri"/>
              </a:rPr>
              <a:t>Starting from a policy I already have, instead of from nothing, is at least 16× cheaper.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4828032"/>
            <a:ext cx="2670048" cy="1737360"/>
          </a:xfrm>
          <a:prstGeom prst="round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02736" y="4992624"/>
            <a:ext cx="347472" cy="347472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501091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9936" y="4974336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Calibri"/>
              </a:rPr>
              <a:t>Which senses does it need?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5504688"/>
            <a:ext cx="234086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1200" b="0" i="0">
                <a:solidFill>
                  <a:srgbClr val="22252A"/>
                </a:solidFill>
                <a:latin typeface="Calibri"/>
              </a:rPr>
              <a:t>I corrupt one sensor at a time. Gravity is the only one it cannot do without.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4828032"/>
            <a:ext cx="2670048" cy="173736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4992624"/>
            <a:ext cx="347472" cy="347472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501091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2864" y="4974336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Calibri"/>
              </a:rPr>
              <a:t>Why is a real robot harder?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5504688"/>
            <a:ext cx="234086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1200" b="0" i="0">
                <a:solidFill>
                  <a:srgbClr val="22252A"/>
                </a:solidFill>
                <a:latin typeface="Calibri"/>
              </a:rPr>
              <a:t>I add control delay. Standing survives 80 ms; walking dies at 40.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25711" y="4828032"/>
            <a:ext cx="2670048" cy="1737360"/>
          </a:xfrm>
          <a:prstGeom prst="round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08591" y="4992624"/>
            <a:ext cx="347472" cy="347472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1" y="501091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1" y="4974336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Calibri"/>
              </a:rPr>
              <a:t>Does the simulator lie?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1" y="5504688"/>
            <a:ext cx="234086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1200" b="0" i="0">
                <a:solidFill>
                  <a:srgbClr val="22252A"/>
                </a:solidFill>
                <a:latin typeface="Calibri"/>
              </a:rPr>
              <a:t>Same policy, two physics models — then measure how far apart they drift.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965960" cy="420624"/>
          </a:xfrm>
          <a:prstGeom prst="round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EXPERIMENT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97480" y="310896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What does learning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I trained the same walking task twice — identical environment, reward, seeds and step budget. The only difference: one started from a policy I already had, the other from nothing.</a:t>
            </a:r>
          </a:p>
        </p:txBody>
      </p:sp>
      <p:pic>
        <p:nvPicPr>
          <p:cNvPr id="5" name="e3_scratch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86968" y="2011680"/>
            <a:ext cx="4846320" cy="37212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" y="5787825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from scratch — down in 2.1 s</a:t>
            </a:r>
          </a:p>
        </p:txBody>
      </p:sp>
      <p:pic>
        <p:nvPicPr>
          <p:cNvPr id="7" name="e3_warm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64808" y="2011680"/>
            <a:ext cx="4846320" cy="3721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64808" y="5787825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warm start — still going at 5 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989320"/>
            <a:ext cx="11064240" cy="658368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6126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7A6B"/>
                </a:solidFill>
                <a:latin typeface="Calibri"/>
              </a:rPr>
              <a:t>Same number of training steps. Same everything else.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965960" cy="420624"/>
          </a:xfrm>
          <a:prstGeom prst="round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EXPERIMENT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97480" y="310896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What the numbers say</a:t>
            </a:r>
          </a:p>
        </p:txBody>
      </p:sp>
      <p:pic>
        <p:nvPicPr>
          <p:cNvPr id="4" name="Picture 3" descr="preview_ex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234440"/>
            <a:ext cx="5852160" cy="381277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903720" y="1417320"/>
            <a:ext cx="310896" cy="310896"/>
          </a:xfrm>
          <a:prstGeom prst="ellipse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435608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88352" y="1362456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At least 16× cheaper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88352" y="1984248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the warm-started run at 50,000 steps is already past where the from-scratch run ended at 800,000</a:t>
            </a:r>
          </a:p>
        </p:txBody>
      </p:sp>
      <p:sp>
        <p:nvSpPr>
          <p:cNvPr id="9" name="Oval 8"/>
          <p:cNvSpPr/>
          <p:nvPr/>
        </p:nvSpPr>
        <p:spPr>
          <a:xfrm>
            <a:off x="6903720" y="2926080"/>
            <a:ext cx="310896" cy="310896"/>
          </a:xfrm>
          <a:prstGeom prst="ellipse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2944368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2871216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Well clear of the 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3493008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the gap is 3.6 to 11.6 pooled standard deviations, across 15 runs per side</a:t>
            </a:r>
          </a:p>
        </p:txBody>
      </p:sp>
      <p:sp>
        <p:nvSpPr>
          <p:cNvPr id="13" name="Oval 12"/>
          <p:cNvSpPr/>
          <p:nvPr/>
        </p:nvSpPr>
        <p:spPr>
          <a:xfrm>
            <a:off x="6903720" y="4434840"/>
            <a:ext cx="310896" cy="310896"/>
          </a:xfrm>
          <a:prstGeom prst="ellipse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4453127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4379976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But the advantage shrinks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5001768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4.5× ahead early, 2.3× by the end — a head start, not a higher ceiling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068"/>
                </a:solidFill>
                <a:latin typeface="Calibri"/>
              </a:rPr>
              <a:t>Full walkthrough of Experiment 3 in a coming week.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965960" cy="420624"/>
          </a:xfrm>
          <a:prstGeom prst="roundRect">
            <a:avLst/>
          </a:prstGeom>
          <a:solidFill>
            <a:srgbClr val="B0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EXPERIMENT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97480" y="310896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Which senses does it actually need?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I froze the standing policy and corrupted one sensor at a time — dosing the noise in multiples of the noise that channel already saw during training.</a:t>
            </a:r>
          </a:p>
        </p:txBody>
      </p:sp>
      <p:pic>
        <p:nvPicPr>
          <p:cNvPr id="5" name="e4_clea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86968" y="2011680"/>
            <a:ext cx="4846320" cy="37212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" y="5787825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all senses intact</a:t>
            </a:r>
          </a:p>
        </p:txBody>
      </p:sp>
      <p:pic>
        <p:nvPicPr>
          <p:cNvPr id="7" name="e4_gravity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64808" y="2011680"/>
            <a:ext cx="4846320" cy="3721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64808" y="5787825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gravity sense corrupted — down in 2.4 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989320"/>
            <a:ext cx="11064240" cy="658368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6126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7A6B"/>
                </a:solidFill>
                <a:latin typeface="Calibri"/>
              </a:rPr>
              <a:t>Same policy, same weights. Only the incoming sensor data changed.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965960" cy="420624"/>
          </a:xfrm>
          <a:prstGeom prst="roundRect">
            <a:avLst/>
          </a:prstGeom>
          <a:solidFill>
            <a:srgbClr val="B0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EXPERIMENT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97480" y="310896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What the numbers say</a:t>
            </a:r>
          </a:p>
        </p:txBody>
      </p:sp>
      <p:pic>
        <p:nvPicPr>
          <p:cNvPr id="4" name="Picture 3" descr="preview_ex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234440"/>
            <a:ext cx="5852160" cy="381277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903720" y="1417320"/>
            <a:ext cx="310896" cy="310896"/>
          </a:xfrm>
          <a:prstGeom prst="ellipse">
            <a:avLst/>
          </a:prstGeom>
          <a:solidFill>
            <a:srgbClr val="B0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435608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88352" y="1362456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Gravity is the one it cannot 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88352" y="1984248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the only channel that breaks below 20× — it is the sole absolute reference for which way is up</a:t>
            </a:r>
          </a:p>
        </p:txBody>
      </p:sp>
      <p:sp>
        <p:nvSpPr>
          <p:cNvPr id="9" name="Oval 8"/>
          <p:cNvSpPr/>
          <p:nvPr/>
        </p:nvSpPr>
        <p:spPr>
          <a:xfrm>
            <a:off x="6903720" y="2926080"/>
            <a:ext cx="310896" cy="310896"/>
          </a:xfrm>
          <a:prstGeom prst="ellipse">
            <a:avLst/>
          </a:prstGeom>
          <a:solidFill>
            <a:srgbClr val="B0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2944368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2871216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Everything else is remarkably tough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3493008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joint angles, joint speeds and rotation rate all survive 10× their training noise</a:t>
            </a:r>
          </a:p>
        </p:txBody>
      </p:sp>
      <p:sp>
        <p:nvSpPr>
          <p:cNvPr id="13" name="Oval 12"/>
          <p:cNvSpPr/>
          <p:nvPr/>
        </p:nvSpPr>
        <p:spPr>
          <a:xfrm>
            <a:off x="6903720" y="4434840"/>
            <a:ext cx="310896" cy="310896"/>
          </a:xfrm>
          <a:prstGeom prst="ellipse">
            <a:avLst/>
          </a:prstGeom>
          <a:solidFill>
            <a:srgbClr val="B0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4453127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4379976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So sensing is not the weak 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5001768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which matters, because it points the sim-to-real problem at the physics instead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068"/>
                </a:solidFill>
                <a:latin typeface="Calibri"/>
              </a:rPr>
              <a:t>Full walkthrough of Experiment 4 in a coming week.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965960" cy="420624"/>
          </a:xfrm>
          <a:prstGeom prst="round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EXPERIMENT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97480" y="310896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Why is a real robot harder than a simulator?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A real robot never acts on fresh information — there is always a delay. So I injected a fixed delay into a frozen policy and raised it until the robot fell.</a:t>
            </a:r>
          </a:p>
        </p:txBody>
      </p:sp>
      <p:pic>
        <p:nvPicPr>
          <p:cNvPr id="5" name="e5_nodelay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86968" y="2011680"/>
            <a:ext cx="4846320" cy="37212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" y="5787825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no delay — holds</a:t>
            </a:r>
          </a:p>
        </p:txBody>
      </p:sp>
      <p:pic>
        <p:nvPicPr>
          <p:cNvPr id="7" name="e5_delay160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64808" y="2011680"/>
            <a:ext cx="4846320" cy="3721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64808" y="5787825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160 ms of delay — down in 3.8 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989320"/>
            <a:ext cx="11064240" cy="658368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6126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7A6B"/>
                </a:solidFill>
                <a:latin typeface="Calibri"/>
              </a:rPr>
              <a:t>Identical policy. The only change is how stale its information 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965960" cy="420624"/>
          </a:xfrm>
          <a:prstGeom prst="round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EXPERIMENT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97480" y="310896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What the numbers say</a:t>
            </a:r>
          </a:p>
        </p:txBody>
      </p:sp>
      <p:pic>
        <p:nvPicPr>
          <p:cNvPr id="4" name="Picture 3" descr="preview_ex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234440"/>
            <a:ext cx="5852160" cy="381277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903720" y="1417320"/>
            <a:ext cx="310896" cy="310896"/>
          </a:xfrm>
          <a:prstGeom prst="ellipse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435608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88352" y="1362456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Standing tolerates 80 ms; walking dies at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88352" y="1984248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a 4× difference between two policies on the same robot</a:t>
            </a:r>
          </a:p>
        </p:txBody>
      </p:sp>
      <p:sp>
        <p:nvSpPr>
          <p:cNvPr id="9" name="Oval 8"/>
          <p:cNvSpPr/>
          <p:nvPr/>
        </p:nvSpPr>
        <p:spPr>
          <a:xfrm>
            <a:off x="6903720" y="2926080"/>
            <a:ext cx="310896" cy="310896"/>
          </a:xfrm>
          <a:prstGeom prst="ellipse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2944368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2871216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Because walking is a moving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3493008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standing holds one pose; walking has to hit the right phase, and delay shifts phase</a:t>
            </a:r>
          </a:p>
        </p:txBody>
      </p:sp>
      <p:sp>
        <p:nvSpPr>
          <p:cNvPr id="13" name="Oval 12"/>
          <p:cNvSpPr/>
          <p:nvPr/>
        </p:nvSpPr>
        <p:spPr>
          <a:xfrm>
            <a:off x="6903720" y="4434840"/>
            <a:ext cx="310896" cy="310896"/>
          </a:xfrm>
          <a:prstGeom prst="ellipse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4453127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4379976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This is my best proxy for real hardware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5001768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the network round-trip on the real robot is worth roughly 40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068"/>
                </a:solidFill>
                <a:latin typeface="Calibri"/>
              </a:rPr>
              <a:t>Full walkthrough of Experiment 5 in a coming week.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965960" cy="420624"/>
          </a:xfrm>
          <a:prstGeom prst="roundRect">
            <a:avLst/>
          </a:prstGeom>
          <a:solidFill>
            <a:srgbClr val="B0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EXPERIMENT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97480" y="310896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Does the simulator lie?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I took one frozen policy and ran it in two different physics models from an identical starting state — then measured how far apart they ended up.</a:t>
            </a:r>
          </a:p>
        </p:txBody>
      </p:sp>
      <p:pic>
        <p:nvPicPr>
          <p:cNvPr id="5" name="e6_model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86968" y="2011680"/>
            <a:ext cx="4846320" cy="37212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" y="5787825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physics model A</a:t>
            </a:r>
          </a:p>
        </p:txBody>
      </p:sp>
      <p:pic>
        <p:nvPicPr>
          <p:cNvPr id="7" name="e6_modelB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64808" y="2011680"/>
            <a:ext cx="4846320" cy="3721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64808" y="5787825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physics model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989320"/>
            <a:ext cx="11064240" cy="658368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6126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7A6B"/>
                </a:solidFill>
                <a:latin typeface="Calibri"/>
              </a:rPr>
              <a:t>Same weights, same start, same commands. Camera fixed so you can see them drift apart.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965960" cy="420624"/>
          </a:xfrm>
          <a:prstGeom prst="roundRect">
            <a:avLst/>
          </a:prstGeom>
          <a:solidFill>
            <a:srgbClr val="B0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EXPERIMENT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97480" y="310896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What the numbers say</a:t>
            </a:r>
          </a:p>
        </p:txBody>
      </p:sp>
      <p:pic>
        <p:nvPicPr>
          <p:cNvPr id="4" name="Picture 3" descr="preview_ex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234440"/>
            <a:ext cx="5852160" cy="381277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903720" y="1417320"/>
            <a:ext cx="310896" cy="310896"/>
          </a:xfrm>
          <a:prstGeom prst="ellipse">
            <a:avLst/>
          </a:prstGeom>
          <a:solidFill>
            <a:srgbClr val="B0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435608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88352" y="1362456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The models disagree by a fixed amount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88352" y="1984248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with the policy switched off, the difference doubles every 0.5–0.7 seconds</a:t>
            </a:r>
          </a:p>
        </p:txBody>
      </p:sp>
      <p:sp>
        <p:nvSpPr>
          <p:cNvPr id="9" name="Oval 8"/>
          <p:cNvSpPr/>
          <p:nvPr/>
        </p:nvSpPr>
        <p:spPr>
          <a:xfrm>
            <a:off x="6903720" y="2926080"/>
            <a:ext cx="310896" cy="310896"/>
          </a:xfrm>
          <a:prstGeom prst="ellipse">
            <a:avLst/>
          </a:prstGeom>
          <a:solidFill>
            <a:srgbClr val="B0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2944368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2871216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Feedback contains it — but not equally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3493008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standing holds the drift to 0.009 rad; walking only to 0.102 — about 10× worse</a:t>
            </a:r>
          </a:p>
        </p:txBody>
      </p:sp>
      <p:sp>
        <p:nvSpPr>
          <p:cNvPr id="13" name="Oval 12"/>
          <p:cNvSpPr/>
          <p:nvPr/>
        </p:nvSpPr>
        <p:spPr>
          <a:xfrm>
            <a:off x="6903720" y="4434840"/>
            <a:ext cx="310896" cy="310896"/>
          </a:xfrm>
          <a:prstGeom prst="ellipse">
            <a:avLst/>
          </a:prstGeom>
          <a:solidFill>
            <a:srgbClr val="B0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4453127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4379976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B2A3A"/>
                </a:solidFill>
                <a:latin typeface="Calibri"/>
              </a:rPr>
              <a:t>And walking's small error accumulates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5001768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after 20 seconds the two simulations are 2.8 metres and 58 degrees apart, with neither having fallen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068"/>
                </a:solidFill>
                <a:latin typeface="Calibri"/>
              </a:rPr>
              <a:t>Full walkthrough of Experiment 6 in a coming week.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25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Where this is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9D2DA"/>
                </a:solidFill>
                <a:latin typeface="Calibri"/>
              </a:rPr>
              <a:t>Two experiments down. Each one exists to make the next one measurable.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880360"/>
            <a:ext cx="1371600" cy="685800"/>
          </a:xfrm>
          <a:prstGeom prst="roundRect">
            <a:avLst/>
          </a:prstGeom>
          <a:solidFill>
            <a:srgbClr val="24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044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B8862E"/>
                </a:solidFill>
                <a:latin typeface="Calibri"/>
              </a:rPr>
              <a:t>Exp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2916936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gave me a number to beat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02666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0.20 m/s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31920"/>
            <a:ext cx="1371600" cy="685800"/>
          </a:xfrm>
          <a:prstGeom prst="roundRect">
            <a:avLst/>
          </a:prstGeom>
          <a:solidFill>
            <a:srgbClr val="24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9651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B8862E"/>
                </a:solidFill>
                <a:latin typeface="Calibri"/>
              </a:rPr>
              <a:t>Exp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3968496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beat it, on the same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40782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0.40 m/s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983479"/>
            <a:ext cx="1371600" cy="685800"/>
          </a:xfrm>
          <a:prstGeom prst="roundRect">
            <a:avLst/>
          </a:prstGeom>
          <a:solidFill>
            <a:srgbClr val="24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B8862E"/>
                </a:solidFill>
                <a:latin typeface="Calibri"/>
              </a:rPr>
              <a:t>Exp 3–6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5020055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ask what it costs, what it needs,</a:t>
            </a:r>
          </a:p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and where the simulation stops being 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