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Survival time (s)</c:v>
                </c:pt>
              </c:strCache>
            </c:strRef>
          </c:tx>
          <c:spPr>
            <a:solidFill>
              <a:srgbClr val="0F4C81"/>
            </a:solidFill>
          </c:spPr>
          <c:cat>
            <c:strRef>
              <c:f>Sheet1!$A$2:$A$5</c:f>
              <c:strCache>
                <c:ptCount val="4"/>
                <c:pt idx="0">
                  <c:v>0 steps
(0ms)</c:v>
                </c:pt>
                <c:pt idx="1">
                  <c:v>1 step
(20ms)</c:v>
                </c:pt>
                <c:pt idx="2">
                  <c:v>2 steps
(40ms)</c:v>
                </c:pt>
                <c:pt idx="3">
                  <c:v>8 steps
(160ms)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20.0</c:v>
                </c:pt>
                <c:pt idx="1">
                  <c:v>5.0</c:v>
                </c:pt>
                <c:pt idx="2">
                  <c:v>2.7</c:v>
                </c:pt>
                <c:pt idx="3">
                  <c:v>1.2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Seconds survived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microsoft.com/office/2007/relationships/media" Target="../media/media2.mp4"/><Relationship Id="rId6" Type="http://schemas.openxmlformats.org/officeDocument/2006/relationships/video" Target="../media/media2.mp4"/><Relationship Id="rId7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Embodied AI - Week 20</a:t>
            </a:r>
          </a:p>
          <a:p>
            <a:pPr>
              <a:spcBef>
                <a:spcPts val="1400"/>
              </a:spcBef>
            </a:pPr>
            <a:r>
              <a:rPr sz="2000">
                <a:solidFill>
                  <a:srgbClr val="AAC4E8"/>
                </a:solidFill>
              </a:rPr>
              <a:t>- Shaoqin 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1A2E"/>
                </a:solidFill>
              </a:rPr>
              <a:t>Today's Story</a:t>
            </a:r>
          </a:p>
          <a:p>
            <a:r>
              <a:rPr sz="1600">
                <a:solidFill>
                  <a:srgbClr val="555555"/>
                </a:solidFill>
              </a:rPr>
              <a:t>How we went from a training-sim success to a deployment-sim mystery, to a proven root cause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2E"/>
                </a:solidFill>
              </a:rPr>
              <a:t>• 1.  The pipeline — train once in plain MuJoCo, deploy over real DDS in unitree_mujoco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2E"/>
                </a:solidFill>
              </a:rPr>
              <a:t>• 2.  The symptom — clean walk in training, fall at ~2.8s in deployment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2E"/>
                </a:solidFill>
              </a:rPr>
              <a:t>• 3.  Theory 1: physics "reality gap" — tested with domain randomization → negative result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2E"/>
                </a:solidFill>
              </a:rPr>
              <a:t>• 4.  The isolation experiment that broke the case open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2E"/>
                </a:solidFill>
              </a:rPr>
              <a:t>• 5.  Root cause: control-latency sensitivity of a near-zero-margin gait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2E"/>
                </a:solidFill>
              </a:rPr>
              <a:t>• 6.  Fixes attempted, what worked,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Embodied AI — Week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1A2E"/>
                </a:solidFill>
              </a:rPr>
              <a:t>The Sim2Sim Pipeline</a:t>
            </a:r>
          </a:p>
          <a:p>
            <a:r>
              <a:rPr sz="1600">
                <a:solidFill>
                  <a:srgbClr val="555555"/>
                </a:solidFill>
              </a:rPr>
              <a:t>What actually transfers between the two simulators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2103120"/>
            <a:ext cx="3017520" cy="1828800"/>
          </a:xfrm>
          <a:prstGeom prst="rect">
            <a:avLst/>
          </a:prstGeom>
          <a:solidFill>
            <a:srgbClr val="2E7D3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TRAIN
plain MuJoCo
(r1_standalone.xml)</a:t>
            </a:r>
          </a:p>
        </p:txBody>
      </p:sp>
      <p:sp>
        <p:nvSpPr>
          <p:cNvPr id="4" name="Rectangle 3"/>
          <p:cNvSpPr/>
          <p:nvPr/>
        </p:nvSpPr>
        <p:spPr>
          <a:xfrm>
            <a:off x="4480560" y="2103120"/>
            <a:ext cx="3017520" cy="1828800"/>
          </a:xfrm>
          <a:prstGeom prst="rect">
            <a:avLst/>
          </a:prstGeom>
          <a:solidFill>
            <a:srgbClr val="0F4C8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THE ONLY THING
THAT TRANSFERS
obs(45) -&gt; MLP[256,256] -&gt; action(12)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0" y="2103120"/>
            <a:ext cx="3017520" cy="1828800"/>
          </a:xfrm>
          <a:prstGeom prst="rect">
            <a:avLst/>
          </a:prstGeom>
          <a:solidFill>
            <a:srgbClr val="C6282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DEPLOY
unitree_mujoco
(R1_C++.xml, real DDS)</a:t>
            </a:r>
          </a:p>
        </p:txBody>
      </p:sp>
      <p:sp>
        <p:nvSpPr>
          <p:cNvPr id="6" name="Can 5"/>
          <p:cNvSpPr/>
          <p:nvPr/>
        </p:nvSpPr>
        <p:spPr>
          <a:xfrm>
            <a:off x="3566160" y="2834640"/>
            <a:ext cx="914400" cy="365760"/>
          </a:xfrm>
          <a:prstGeom prst="can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n 6"/>
          <p:cNvSpPr/>
          <p:nvPr/>
        </p:nvSpPr>
        <p:spPr>
          <a:xfrm>
            <a:off x="7498079" y="2834640"/>
            <a:ext cx="914400" cy="365760"/>
          </a:xfrm>
          <a:prstGeom prst="can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A1A2E"/>
                </a:solidFill>
              </a:rPr>
              <a:t>• Two bridges make the SAME network meaningful in a different physics engine: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</a:rPr>
              <a:t>– Observation parity — the 45 inputs are built ONLY from quantities real DDS rt/lowstate provides (gyro, quaternion, leg q/dq) — verified byte-identical to training (diff = 0.0)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</a:rPr>
              <a:t>– Action + gain parity — outputs are joint position targets; PD gains (kp/kv) are IDENTICAL in both sims, so "move knee to X" produces the same motion in either physics engine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2E"/>
                </a:solidFill>
              </a:rPr>
              <a:t>• What does NOT transfer: the training env, reward function, domain randomization, or training physics itself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Embodied AI — Week 20  | 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2E"/>
                </a:solidFill>
              </a:rPr>
              <a:t>The Two Environments</a:t>
            </a:r>
          </a:p>
          <a:p>
            <a:r>
              <a:rPr sz="1600">
                <a:solidFill>
                  <a:srgbClr val="555555"/>
                </a:solidFill>
              </a:rPr>
              <a:t>Training vs. deployment, verified line-by-line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34440"/>
          <a:ext cx="11247120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434840"/>
                <a:gridCol w="4434840"/>
              </a:tblGrid>
              <a:tr h="37947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</a:rPr>
                        <a:t>Property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</a:rPr>
                        <a:t>Training (A)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</a:rPr>
                        <a:t>Deployment (B)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>
                          <a:solidFill>
                            <a:srgbClr val="1A1A2E"/>
                          </a:solidFill>
                        </a:rPr>
                        <a:t>Actuators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>
                          <a:solidFill>
                            <a:srgbClr val="1A1A2E"/>
                          </a:solidFill>
                        </a:rPr>
                        <a:t>24 &lt;position&gt; (PD in MuJoCo)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>
                          <a:solidFill>
                            <a:srgbClr val="1A1A2E"/>
                          </a:solidFill>
                        </a:rPr>
                        <a:t>29 &lt;motor&gt; torque (PD by controller)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>
                          <a:solidFill>
                            <a:srgbClr val="1A1A2E"/>
                          </a:solidFill>
                        </a:rPr>
                        <a:t>Joints total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>
                          <a:solidFill>
                            <a:srgbClr val="1A1A2E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>
                          <a:solidFill>
                            <a:srgbClr val="1A1A2E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>
                          <a:solidFill>
                            <a:srgbClr val="1A1A2E"/>
                          </a:solidFill>
                        </a:rPr>
                        <a:t>Foot contact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>
                          <a:solidFill>
                            <a:srgbClr val="1A1A2E"/>
                          </a:solidFill>
                        </a:rPr>
                        <a:t>7 capsules/foot, r=0.01, condim=6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>
                          <a:solidFill>
                            <a:srgbClr val="1A1A2E"/>
                          </a:solidFill>
                        </a:rPr>
                        <a:t>1 box + 4 sphere markers/foot, condim=3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>
                          <a:solidFill>
                            <a:srgbClr val="1A1A2E"/>
                          </a:solidFill>
                        </a:rPr>
                        <a:t>Collision meshes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>
                          <a:solidFill>
                            <a:srgbClr val="1A1A2E"/>
                          </a:solidFill>
                        </a:rPr>
                        <a:t>1 generic reference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>
                          <a:solidFill>
                            <a:srgbClr val="1A1A2E"/>
                          </a:solidFill>
                        </a:rPr>
                        <a:t>53 real STL (actual CAD)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>
                          <a:solidFill>
                            <a:srgbClr val="1A1A2E"/>
                          </a:solidFill>
                        </a:rPr>
                        <a:t>Joint damping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>
                          <a:solidFill>
                            <a:srgbClr val="1A1A2E"/>
                          </a:solidFill>
                        </a:rPr>
                        <a:t>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>
                          <a:solidFill>
                            <a:srgbClr val="1A1A2E"/>
                          </a:solidFill>
                        </a:rPr>
                        <a:t>0.001  (50x livelier)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>
                          <a:solidFill>
                            <a:srgbClr val="1A1A2E"/>
                          </a:solidFill>
                        </a:rPr>
                        <a:t>Joint frictionloss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>
                          <a:solidFill>
                            <a:srgbClr val="1A1A2E"/>
                          </a:solidFill>
                        </a:rPr>
                        <a:t>0.2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>
                          <a:solidFill>
                            <a:srgbClr val="1A1A2E"/>
                          </a:solidFill>
                        </a:rPr>
                        <a:t>0.1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>
                          <a:solidFill>
                            <a:srgbClr val="1A1A2E"/>
                          </a:solidFill>
                        </a:rPr>
                        <a:t>Floor friction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>
                          <a:solidFill>
                            <a:srgbClr val="1A1A2E"/>
                          </a:solidFill>
                        </a:rPr>
                        <a:t>"1 0.5 0.5"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>
                          <a:solidFill>
                            <a:srgbClr val="1A1A2E"/>
                          </a:solidFill>
                        </a:rPr>
                        <a:t>"1 1 1"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>
                          <a:solidFill>
                            <a:srgbClr val="1A1A2E"/>
                          </a:solidFill>
                        </a:rPr>
                        <a:t>Phantom channels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>
                          <a:solidFill>
                            <a:srgbClr val="1A1A2E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>
                          <a:solidFill>
                            <a:srgbClr val="1A1A2E"/>
                          </a:solidFill>
                        </a:rPr>
                        <a:t>5 (waist_pitch + 4 wrist) — force-zeroed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>
                          <a:solidFill>
                            <a:srgbClr val="1A1A2E"/>
                          </a:solidFill>
                        </a:rPr>
                        <a:t>Harness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>
                          <a:solidFill>
                            <a:srgbClr val="1A1A2E"/>
                          </a:solidFill>
                        </a:rPr>
                        <a:t>none — direct function calls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>
                          <a:solidFill>
                            <a:srgbClr val="1A1A2E"/>
                          </a:solidFill>
                        </a:rPr>
                        <a:t>real DDS, 2 async 500Hz loops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457200" y="5212080"/>
            <a:ext cx="11247120" cy="1051560"/>
          </a:xfrm>
          <a:prstGeom prst="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>
                <a:solidFill>
                  <a:srgbClr val="1B5E20"/>
                </a:solidFill>
              </a:rPr>
              <a:t>What's IDENTICAL (verified, not assumed): total mass 28.932 kg to the gram in both  ·  PD gains deliberately copied so the force laws match  ·  observation construction byte-identical (diff = 0.0)  ·  same network weights, no fine-tuning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Embodied AI — Week 20  |  The Two Environments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1A2E"/>
                </a:solidFill>
              </a:rPr>
              <a:t>The Symptom</a:t>
            </a:r>
          </a:p>
          <a:p>
            <a:r>
              <a:rPr sz="1600">
                <a:solidFill>
                  <a:srgbClr val="555555"/>
                </a:solidFill>
              </a:rPr>
              <a:t>Same policy, same weights — two very different outcomes  (click each clip to play)</a:t>
            </a:r>
          </a:p>
        </p:txBody>
      </p:sp>
      <p:pic>
        <p:nvPicPr>
          <p:cNvPr id="3" name="walk_plain_mujoco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88720" y="1417320"/>
            <a:ext cx="4114800" cy="3086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8720" y="4503420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</a:rPr>
              <a:t>Training sim (plain MuJoCo) — full 12s, straight, clean</a:t>
            </a:r>
          </a:p>
        </p:txBody>
      </p:sp>
      <p:pic>
        <p:nvPicPr>
          <p:cNvPr id="5" name="walk_unitree_mujoco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400800" y="1417320"/>
            <a:ext cx="4114800" cy="3086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4503420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</a:rPr>
              <a:t>Deployment sim (unitree_mujoco, real DDS) — walks, then falls at ~2.8s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92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</a:rPr>
              <a:t>• Same trained network. Same weights. Same target physics model. Different result.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</a:rPr>
              <a:t>• The previous slide showed real, physical differences between these two environments — contact geometry, 50x different joint damping, floor friction, a real-time DDS harness with none of the training side's single-process simplicity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</a:rPr>
              <a:t>• Any one of those looks like a plausible explanation on its own — the obvious first hypothesis: is this the classic sim-to-sim "reality gap"?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Embodied AI — Week 20  |  The Symptom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62828"/>
                </a:solidFill>
              </a:rPr>
              <a:t>THEORY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1A2E"/>
                </a:solidFill>
              </a:rPr>
              <a:t>Physics Reality Gap</a:t>
            </a:r>
          </a:p>
          <a:p>
            <a:r>
              <a:rPr sz="1600">
                <a:solidFill>
                  <a:srgbClr val="555555"/>
                </a:solidFill>
              </a:rPr>
              <a:t>The textbook hypothesis, and why it seemed obviously right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A1A2E"/>
                </a:solidFill>
              </a:rPr>
              <a:t>• The two simulators represent the R1 differently at the contact level: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</a:rPr>
              <a:t>– Training model (r1_standalone.xml): simplified CAPSULE collision shapes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</a:rPr>
              <a:t>– Deployment model (R1_C++.xml): full COLLISION MESHES + sphere-marker feet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1A2E"/>
                </a:solidFill>
              </a:rPr>
              <a:t>• Different geometry -&gt; different contact points, friction cones, penetration/restitution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1A2E"/>
                </a:solidFill>
              </a:rPr>
              <a:t>• This is the standard "sim-to-sim reality gap" — the textbook fix taught in every RL robotics course: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</a:rPr>
              <a:t>– Domain Randomization (DR): randomize physics every episode so the policy is robust to a RANGE of dynamics, hoping deployment falls inside that range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1A2E"/>
                </a:solidFill>
              </a:rPr>
              <a:t>• A well-motivated hypothesis — not a guess. Worth testing properly.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Embodied AI — Week 20  |  Theory 1: Reality Gap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62828"/>
                </a:solidFill>
              </a:rPr>
              <a:t>THEORY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2E"/>
                </a:solidFill>
              </a:rPr>
              <a:t>Domain Randomization — What We Built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73152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743200"/>
              </a:tblGrid>
              <a:tr h="4800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Randomization Range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Friction (floor + each foot)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0.5 – 1.4x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Body mass / inertia (per-body)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0.90 – 1.12x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Pelvis extra mass ("payload slop")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0.85 – 1.25x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Motor stiffness (kp)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0.85 – 1.15x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Motor damping (kv)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0.85 – 1.15x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Sensor noise (gyro/gravity/pos/vel)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std 0.05 / 0.02 / 0.01 / 0.15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Push perturbations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up to 0.3 m/s, every 2.5-4s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83879" y="1463040"/>
            <a:ext cx="3566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</a:rPr>
              <a:t>• Two training runs: walk3_dr (from scratch), walk3b (warm-started, refined)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</a:rPr>
              <a:t>• Randomized fresh from pristine copies every episode reset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Embodied AI — Week 20  |  Theory 1: DR Implementation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62828"/>
                </a:solidFill>
              </a:rPr>
              <a:t>THEORY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2E"/>
                </a:solidFill>
              </a:rPr>
              <a:t>A Hyperparameter Trap Along the 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A1A2E"/>
                </a:solidFill>
              </a:rPr>
              <a:t>• Pushes are for EXTERNAL-disturbance robustness — but nothing pushes the robot during a sim2sim transfer test. We didn't know that yet.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1A2E"/>
                </a:solidFill>
              </a:rPr>
              <a:t>• Aggressive pushes (0.5 m/s every 1-2s):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</a:rPr>
              <a:t>– capped episode length at ~240 steps (~5s)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</a:rPr>
              <a:t>– robot kept getting knocked down before experiencing enough of the DYNAMICS randomization that should matter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1A2E"/>
                </a:solidFill>
              </a:rPr>
              <a:t>• Softened to 0.3 m/s every 2.5-4s: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</a:rPr>
              <a:t>– episode length recovered to 500-650 steps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</a:rPr>
              <a:t>– but reward started THRASHING wildly: -407 to +224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</a:rPr>
              <a:t>– episode length actually DECLINED after 400k steps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1A2E"/>
                </a:solidFill>
              </a:rPr>
              <a:t>• Diagnosis: PPO instability — single environment, high-variance DR returns, no parallel envs to average the noise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Embodied AI — Week 20  |  Theory 1: Hyperparameter Trap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62828"/>
                </a:solidFill>
              </a:rPr>
              <a:t>THEORY 1 —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2E"/>
                </a:solidFill>
              </a:rPr>
              <a:t>Negative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A1A2E"/>
                </a:solidFill>
              </a:rPr>
              <a:t>• Sim2sim survival after DR: best ~3.5s, typical 1-2s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</a:rPr>
              <a:t>– NO reliable improvement over the 2.85s pre-DR baseline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1A2E"/>
                </a:solidFill>
              </a:rPr>
              <a:t>• DR did not damage the underlying gait either — same checkpoint still walked 20s / 5.75m cleanly in PLAIN MuJoCo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1A2E"/>
                </a:solidFill>
              </a:rPr>
              <a:t>• 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1A2E"/>
                </a:solidFill>
              </a:rPr>
              <a:t>• Two specific physical culprits chased inside this theory — both RULED OUT: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</a:rPr>
              <a:t>– Mass/inertia mismatch — checked body-by-body: training XML and unitree scene XML are mass-identical (28.93 kg). Not the cause.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</a:rPr>
              <a:t>– "Floppy torso" — channel 14 (waist_pitch) is force-zeroed in deployment (a phantom DDS channel), so the heavy torso hangs uncontrolled — training has no such joint. Tested a stiff hold (kp80/kd5). Did NOT help.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486400"/>
            <a:ext cx="10698480" cy="822960"/>
          </a:xfrm>
          <a:prstGeom prst="rect">
            <a:avLst/>
          </a:prstGeom>
          <a:solidFill>
            <a:srgbClr val="FFF3E0"/>
          </a:solidFill>
          <a:ln>
            <a:solidFill>
              <a:srgbClr val="E6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8A4B00"/>
                </a:solidFill>
              </a:rPr>
              <a:t>Buried discovery: the SAME checkpoint measured 3.53s, 2.59s, 1.86s under near-identical settings — the laptop's real-time DDS loop is CPU-starved. Survival numbers were noisy, not trustworthy.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Embodied AI — Week 20  |  Theory 1: Result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7D32"/>
                </a:solidFill>
              </a:rPr>
              <a:t>THE BREAKTHROUGH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2E"/>
                </a:solidFill>
              </a:rPr>
              <a:t>Troubleshooting</a:t>
            </a:r>
          </a:p>
          <a:p>
            <a:r>
              <a:rPr sz="1600">
                <a:solidFill>
                  <a:srgbClr val="555555"/>
                </a:solidFill>
              </a:rPr>
              <a:t>What Theory 1's failure taught about isolating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50">
                <a:solidFill>
                  <a:srgbClr val="1A1A2E"/>
                </a:solidFill>
              </a:rPr>
              <a:t>• Theory 1 changed MULTIPLE things at once (many physics parameters) while measuring through a harness ALREADY KNOWN to be noisy (the buried CPU-contention discovery) — so even a real improvement couldn't be told apart from measurement noise, and physics couldn't be told apart from the harness as the true cause</a:t>
            </a:r>
          </a:p>
          <a:p>
            <a:pPr>
              <a:spcAft>
                <a:spcPts val="800"/>
              </a:spcAft>
            </a:pPr>
            <a:r>
              <a:rPr sz="1450">
                <a:solidFill>
                  <a:srgbClr val="1A1A2E"/>
                </a:solidFill>
              </a:rPr>
              <a:t>• The lesson: isolate ONE variable at a time, with a measurement you can trust. Hold physics EXACTLY correct (the real deployment model) and remove the noisy real-time harness entirely — a clean batch rollout, no DDS, no async clock</a:t>
            </a:r>
          </a:p>
        </p:txBody>
      </p:sp>
      <p:pic>
        <p:nvPicPr>
          <p:cNvPr id="5" name="walk_deployment_model_20s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48640" y="2880360"/>
            <a:ext cx="2926080" cy="2194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074920"/>
            <a:ext cx="2926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</a:rPr>
              <a:t>Full 20s, exact deployment physics, batch — click to play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2880360"/>
            <a:ext cx="4023360" cy="2194560"/>
          </a:xfrm>
          <a:prstGeom prst="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20 seconds
6.3 meters
ZERO falls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>
                <a:solidFill>
                  <a:srgbClr val="1A1A2E"/>
                </a:solidFill>
              </a:rPr>
              <a:t>• Built r1_walk_deploy_env.xml DIRECTLY from R1_C++.xml (exact deployment model), ran the SAME policy in a clean batch rollout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1A1A2E"/>
                </a:solidFill>
              </a:rPr>
              <a:t>• This ONE isolated experiment eliminates physics entirely as the cause. Whatever kills the robot lives ONLY in the real-time deployment harness — the one thing this test didn't include.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Embodied AI — Week 20  |  Troubleshooting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7D32"/>
                </a:solidFill>
              </a:rPr>
              <a:t>ROOT CAUSE —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2E"/>
                </a:solidFill>
              </a:rPr>
              <a:t>Reproducing the Fall on Command</a:t>
            </a:r>
          </a:p>
          <a:p>
            <a:r>
              <a:rPr sz="1600">
                <a:solidFill>
                  <a:srgbClr val="555555"/>
                </a:solidFill>
              </a:rPr>
              <a:t>Injecting artificial control delay into the SAME clean batch rollout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645920"/>
          <a:ext cx="65836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89520" y="2103120"/>
            <a:ext cx="4206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A1A2E"/>
                </a:solidFill>
              </a:rPr>
              <a:t>• 2-step (40ms) injected delay EXACTLY matches the 2.7s fall observed in real unitree_mujoco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2E"/>
                </a:solidFill>
              </a:rPr>
              <a:t>• The DDS round-trip (lowstate -&gt; policy -&gt; lowcmd -&gt; bridge -&gt; physics, across two async 500Hz loops) IS ~1-3 steps of real latency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2E"/>
                </a:solidFill>
              </a:rPr>
              <a:t>• This is not a coincidence — it is the mechanism, reproduced synthetically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Embodied AI — Week 20  |  Root Cause: Proof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7D32"/>
                </a:solidFill>
              </a:rPr>
              <a:t>ROOT CAUSE — MEASUREMENT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2E"/>
                </a:solidFill>
              </a:rPr>
              <a:t>What's Actually Happening in the Real 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2E"/>
                </a:solidFill>
              </a:rPr>
              <a:t>• Measured DDS obs staleness directly: mean 0.7ms, max 2.8ms (&lt;1.5 physics steps) — average latency is TINY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2E"/>
                </a:solidFill>
              </a:rPr>
              <a:t>• But: the sim and controller are two FREE-RUNNING 500Hz loops sharing one laptop CPU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1A1A2E"/>
                </a:solidFill>
              </a:rPr>
              <a:t>– Sim only manages ~75% real-time (10 sim-sec takes 13.3s wall, ~67% CPU)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1A1A2E"/>
                </a:solidFill>
              </a:rPr>
              <a:t>– The two async loops DESYNC — publish-dt occasionally SPIKES to 20ms = a 10-step stall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2E"/>
                </a:solidFill>
              </a:rPr>
              <a:t>• Trajectory logs confirm: the robot walks FINE for ~0.9s, then progressively topples after a spike — chaotic divergence, not a spawn or observation bug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2E"/>
                </a:solidFill>
              </a:rPr>
              <a:t>• So the harness isn't uniformly slow — it's USUALLY fine, with occasional scheduling spikes the fragile gait can't absorb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Embodied AI — Week 20  |  Root Cause: Measurement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7FC8F8"/>
                </a:solidFill>
              </a:rPr>
              <a:t>ROOT 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The fall is TWO factors multiplied together:</a:t>
            </a:r>
          </a:p>
          <a:p>
            <a:pPr>
              <a:spcBef>
                <a:spcPts val="2000"/>
              </a:spcBef>
            </a:pPr>
            <a:r>
              <a:rPr sz="2200">
                <a:solidFill>
                  <a:srgbClr val="AAC4E8"/>
                </a:solidFill>
              </a:rPr>
              <a:t>1.  The real-time DDS harness delivers occasional 20-40ms control stalls</a:t>
            </a:r>
          </a:p>
          <a:p>
            <a:pPr>
              <a:spcBef>
                <a:spcPts val="1000"/>
              </a:spcBef>
            </a:pPr>
            <a:r>
              <a:rPr sz="2200">
                <a:solidFill>
                  <a:srgbClr val="AAC4E8"/>
                </a:solidFill>
              </a:rPr>
              <a:t>2.  The trained gait has near-zero stability margin — small, low, shuffling steps, no push recovery</a:t>
            </a:r>
          </a:p>
          <a:p>
            <a:pPr>
              <a:spcBef>
                <a:spcPts val="2000"/>
              </a:spcBef>
            </a:pPr>
            <a:r>
              <a:rPr sz="1600" i="1">
                <a:solidFill>
                  <a:srgbClr val="CCCCCC"/>
                </a:solidFill>
              </a:rPr>
              <a:t>Neither alone fails: a robust gait shrugs off the spikes; a spike-free harness lets even this fragile gait walk 20s.</a:t>
            </a:r>
          </a:p>
          <a:p>
            <a:pPr>
              <a:spcBef>
                <a:spcPts val="2400"/>
              </a:spcBef>
            </a:pPr>
            <a:r>
              <a:rPr sz="1500">
                <a:solidFill>
                  <a:srgbClr val="FFFFFF"/>
                </a:solidFill>
              </a:rPr>
              <a:t>Why the gait is fragile: reward penalizes torque, action-rate, and acceleration -&gt; PPO found the laziest gait that scores -&gt; tiny, low, shuffling steps, zero margin ("minimum leg raises" in the training video is the visual signature of the same fact that causes the crash).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Embodied AI — Week 20  |  Root Cause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2E"/>
                </a:solidFill>
              </a:rPr>
              <a:t>Fixes Attempted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572000"/>
                <a:gridCol w="4114800"/>
              </a:tblGrid>
              <a:tr h="822960"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Fix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Approach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</a:pPr>
                      <a:r>
                        <a:rPr sz="1300">
                          <a:solidFill>
                            <a:srgbClr val="1A1A2E"/>
                          </a:solidFill>
                        </a:rPr>
                        <a:t>Lockstep harness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</a:pPr>
                      <a:r>
                        <a:rPr sz="1300">
                          <a:solidFill>
                            <a:srgbClr val="1A1A2E"/>
                          </a:solidFill>
                        </a:rPr>
                        <a:t>Deterministic 1-cmd-per-step handshake, still real DDS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</a:pPr>
                      <a:r>
                        <a:rPr sz="1300">
                          <a:solidFill>
                            <a:srgbClr val="1A1A2E"/>
                          </a:solidFill>
                        </a:rPr>
                        <a:t>2-3x survival (2.4s -&gt; 5.8s). Real, partial fix.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</a:pPr>
                      <a:r>
                        <a:rPr sz="1300">
                          <a:solidFill>
                            <a:srgbClr val="1A1A2E"/>
                          </a:solidFill>
                        </a:rPr>
                        <a:t>Fixed-latency training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</a:pPr>
                      <a:r>
                        <a:rPr sz="1300">
                          <a:solidFill>
                            <a:srgbClr val="1A1A2E"/>
                          </a:solidFill>
                        </a:rPr>
                        <a:t>Retrain with 0-4 step delay randomization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</a:pPr>
                      <a:r>
                        <a:rPr sz="1300">
                          <a:solidFill>
                            <a:srgbClr val="1A1A2E"/>
                          </a:solidFill>
                        </a:rPr>
                        <a:t>Worse on real harness — real jitter isn't a fixed delay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</a:pPr>
                      <a:r>
                        <a:rPr sz="1300">
                          <a:solidFill>
                            <a:srgbClr val="1A1A2E"/>
                          </a:solidFill>
                        </a:rPr>
                        <a:t>Durable fix (planned)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</a:pPr>
                      <a:r>
                        <a:rPr sz="1300">
                          <a:solidFill>
                            <a:srgbClr val="1A1A2E"/>
                          </a:solidFill>
                        </a:rPr>
                        <a:t>Robust gait: bigger steps, stability-margin reward, VARIABLE-latency training, on lab RTX 5080 (parallel envs)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</a:pPr>
                      <a:r>
                        <a:rPr sz="1300">
                          <a:solidFill>
                            <a:srgbClr val="1A1A2E"/>
                          </a:solidFill>
                        </a:rPr>
                        <a:t>Not yet run — laptop single-env throughput is the blocker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7548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</a:rPr>
              <a:t>• Lesson from fixed-latency training: train against the ACTUAL disturbance distribution, not an idealization of it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</a:rPr>
              <a:t>• Lockstep proves the timing-spike theory is real — it just isn't the whole story (a zero-margin gait also amplifies float-level model differences no harness can hide)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Embodied AI — Week 20  |  Fixes Attempted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2E"/>
                </a:solidFill>
              </a:rPr>
              <a:t>Lessons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1A1A2E"/>
                </a:solidFill>
              </a:rPr>
              <a:t>• Always isolate model-gap vs. harness-gap with a clean batch rollout on the deployment model BEFORE blaming "the reality gap"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A1A2E"/>
                </a:solidFill>
              </a:rPr>
              <a:t>• A negative result (DR didn't work) is not wasted effort — it eliminated the wrong hypothesis and forced the right question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A1A2E"/>
                </a:solidFill>
              </a:rPr>
              <a:t>• Reward-engineered gaits optimize for the metric, not for robustness — small/low/shuffling steps score well but have zero margin for disturbance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A1A2E"/>
                </a:solidFill>
              </a:rPr>
              <a:t>• Single measurements are unreliable under CPU contention — verify survival numbers with multiple clean rollouts before trusting them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A1A2E"/>
                </a:solidFill>
              </a:rPr>
              <a:t>• This IS a sim2real-relevant finding: real robots have real control latency. A gait that can't survive 40ms in simulation would not survive hardware either.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Embodied AI — Week 20  |  Lessons Learned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2E"/>
                </a:solidFill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1A1A2E"/>
                </a:solidFill>
              </a:rPr>
              <a:t>• Move training to the lab RTX 5080 box (AAI-Lab-1) for real throughput — parallel envs (SubprocVecEnv) or GPU physics (MJX / Isaac)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A1A2E"/>
                </a:solidFill>
              </a:rPr>
              <a:t>• Train a genuinely robust gait: foot-clearance / stability-margin reward, bigger steps, VARIABLE (not fixed) latency randomization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A1A2E"/>
                </a:solidFill>
              </a:rPr>
              <a:t>• Re-verify: clean isolated batch rollout + real unitree_mujoco DDS test, multiple rollouts per checkpoint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A1A2E"/>
                </a:solidFill>
              </a:rPr>
              <a:t>• Longer-term: path toward the physical R1 (sim2real) — a latency-robust gait is a prerequisite, not a nice-to-have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Embodied AI — Week 20  |  Next Steps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AAC4E8"/>
                </a:solidFill>
              </a:rPr>
              <a:t>Demo videos + full diagnosis: ~/r1_walk/demo/  (SIM2SIM_DIAGNOSIS.md)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