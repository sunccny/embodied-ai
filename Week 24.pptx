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media/untrained_bimanual_handoff_throw.mp4" ContentType="video/mp4"/>
  <Override PartName="/ppt/media/trained_bimanual_handoff_throw.mp4" ContentType="video/mp4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aab9a7df284139" /><Relationship Type="http://schemas.openxmlformats.org/officeDocument/2006/relationships/extended-properties" Target="/docProps/app.xml" Id="R7ee5976a58534834" /><Relationship Type="http://schemas.openxmlformats.org/officeDocument/2006/relationships/officeDocument" Target="/ppt/presentation.xml" Id="R660c1dfcdbaf4d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9c022c6ffc46da"/>
  </p:sldMasterIdLst>
  <p:notesMasterIdLst>
    <p:notesMasterId xmlns:r="http://schemas.openxmlformats.org/officeDocument/2006/relationships" r:id="Rfccfc4cb8bcb4d86"/>
  </p:notesMasterIdLst>
  <p:sldIdLst>
    <p:sldId xmlns:r="http://schemas.openxmlformats.org/officeDocument/2006/relationships" id="256" r:id="R12ea75f7419947e3"/>
    <p:sldId xmlns:r="http://schemas.openxmlformats.org/officeDocument/2006/relationships" id="257" r:id="Rf5be4f2f48464134"/>
    <p:sldId xmlns:r="http://schemas.openxmlformats.org/officeDocument/2006/relationships" id="258" r:id="R52ce86d5657a4e27"/>
    <p:sldId xmlns:r="http://schemas.openxmlformats.org/officeDocument/2006/relationships" id="259" r:id="Rcb59151ee49d4af0"/>
    <p:sldId xmlns:r="http://schemas.openxmlformats.org/officeDocument/2006/relationships" id="260" r:id="Rb6e3e0a31a354e1c"/>
    <p:sldId xmlns:r="http://schemas.openxmlformats.org/officeDocument/2006/relationships" id="261" r:id="Rc996bb82a4f6436a"/>
    <p:sldId xmlns:r="http://schemas.openxmlformats.org/officeDocument/2006/relationships" id="262" r:id="Rb5e3a495914c4a9c"/>
    <p:sldId xmlns:r="http://schemas.openxmlformats.org/officeDocument/2006/relationships" id="263" r:id="R51faced8a32f47e8"/>
    <p:sldId xmlns:r="http://schemas.openxmlformats.org/officeDocument/2006/relationships" id="264" r:id="Re4c7343f993f4338"/>
    <p:sldId xmlns:r="http://schemas.openxmlformats.org/officeDocument/2006/relationships" id="265" r:id="R091df6a4f9a54b80"/>
    <p:sldId xmlns:r="http://schemas.openxmlformats.org/officeDocument/2006/relationships" id="266" r:id="Rf22986d2c76d4d60"/>
    <p:sldId xmlns:r="http://schemas.openxmlformats.org/officeDocument/2006/relationships" id="267" r:id="R7c9b8a6338e44081"/>
    <p:sldId xmlns:r="http://schemas.openxmlformats.org/officeDocument/2006/relationships" id="268" r:id="R04e7d0b97d414354"/>
    <p:sldId xmlns:r="http://schemas.openxmlformats.org/officeDocument/2006/relationships" id="269" r:id="R666cd5a956414c1a"/>
    <p:sldId xmlns:r="http://schemas.openxmlformats.org/officeDocument/2006/relationships" id="270" r:id="R26e5856f9a384f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50400ac57a45f3" /><Relationship Type="http://schemas.openxmlformats.org/officeDocument/2006/relationships/slideMaster" Target="/ppt/slideMasters/slideMaster1.xml" Id="R0a9c022c6ffc46da" /><Relationship Type="http://schemas.openxmlformats.org/officeDocument/2006/relationships/notesMaster" Target="/ppt/notesMasters/notesMaster1.xml" Id="Rfccfc4cb8bcb4d86" /><Relationship Type="http://schemas.openxmlformats.org/officeDocument/2006/relationships/presProps" Target="/ppt/presProps.xml" Id="Rfb56f8cafde944cf" /><Relationship Type="http://schemas.openxmlformats.org/officeDocument/2006/relationships/tableStyles" Target="/ppt/tableStyles.xml" Id="R4fb58d9cb79f41f1" /><Relationship Type="http://schemas.openxmlformats.org/officeDocument/2006/relationships/slide" Target="/ppt/slides/slide1.xml" Id="R12ea75f7419947e3" /><Relationship Type="http://schemas.openxmlformats.org/officeDocument/2006/relationships/slide" Target="/ppt/slides/slide2.xml" Id="Rf5be4f2f48464134" /><Relationship Type="http://schemas.openxmlformats.org/officeDocument/2006/relationships/slide" Target="/ppt/slides/slide3.xml" Id="R52ce86d5657a4e27" /><Relationship Type="http://schemas.openxmlformats.org/officeDocument/2006/relationships/slide" Target="/ppt/slides/slide4.xml" Id="Rcb59151ee49d4af0" /><Relationship Type="http://schemas.openxmlformats.org/officeDocument/2006/relationships/slide" Target="/ppt/slides/slide5.xml" Id="Rb6e3e0a31a354e1c" /><Relationship Type="http://schemas.openxmlformats.org/officeDocument/2006/relationships/slide" Target="/ppt/slides/slide6.xml" Id="Rc996bb82a4f6436a" /><Relationship Type="http://schemas.openxmlformats.org/officeDocument/2006/relationships/slide" Target="/ppt/slides/slide7.xml" Id="Rb5e3a495914c4a9c" /><Relationship Type="http://schemas.openxmlformats.org/officeDocument/2006/relationships/slide" Target="/ppt/slides/slide8.xml" Id="R51faced8a32f47e8" /><Relationship Type="http://schemas.openxmlformats.org/officeDocument/2006/relationships/slide" Target="/ppt/slides/slide9.xml" Id="Re4c7343f993f4338" /><Relationship Type="http://schemas.openxmlformats.org/officeDocument/2006/relationships/slide" Target="/ppt/slides/slide10.xml" Id="R091df6a4f9a54b80" /><Relationship Type="http://schemas.openxmlformats.org/officeDocument/2006/relationships/slide" Target="/ppt/slides/slide11.xml" Id="Rf22986d2c76d4d60" /><Relationship Type="http://schemas.openxmlformats.org/officeDocument/2006/relationships/slide" Target="/ppt/slides/slide12.xml" Id="R7c9b8a6338e44081" /><Relationship Type="http://schemas.openxmlformats.org/officeDocument/2006/relationships/slide" Target="/ppt/slides/slide13.xml" Id="R04e7d0b97d414354" /><Relationship Type="http://schemas.openxmlformats.org/officeDocument/2006/relationships/slide" Target="/ppt/slides/slide14.xml" Id="R666cd5a956414c1a" /><Relationship Type="http://schemas.openxmlformats.org/officeDocument/2006/relationships/slide" Target="/ppt/slides/slide15.xml" Id="R26e5856f9a384f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48c902b9ce4f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1f963a2da8478a" /><Relationship Type="http://schemas.openxmlformats.org/officeDocument/2006/relationships/notesMaster" Target="/ppt/notesMasters/notesMaster1.xml" Id="Rc0209b99cce949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5010bc424a41d2" /><Relationship Type="http://schemas.openxmlformats.org/officeDocument/2006/relationships/notesMaster" Target="/ppt/notesMasters/notesMaster1.xml" Id="R40e005e676da40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703e109a4f4b35" /><Relationship Type="http://schemas.openxmlformats.org/officeDocument/2006/relationships/notesMaster" Target="/ppt/notesMasters/notesMaster1.xml" Id="Rf4fdcf1d0c924c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d606408bef4b29" /><Relationship Type="http://schemas.openxmlformats.org/officeDocument/2006/relationships/notesMaster" Target="/ppt/notesMasters/notesMaster1.xml" Id="R3a69fbed066348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d35ebe22d0a4072" /><Relationship Type="http://schemas.openxmlformats.org/officeDocument/2006/relationships/notesMaster" Target="/ppt/notesMasters/notesMaster1.xml" Id="Rde58d14ed0334c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8e1707de5ed4f84" /><Relationship Type="http://schemas.openxmlformats.org/officeDocument/2006/relationships/notesMaster" Target="/ppt/notesMasters/notesMaster1.xml" Id="Re7573a1179e842c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a188431400649ed" /><Relationship Type="http://schemas.openxmlformats.org/officeDocument/2006/relationships/notesMaster" Target="/ppt/notesMasters/notesMaster1.xml" Id="Ra7fbd0192323462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dca4494970f462f" /><Relationship Type="http://schemas.openxmlformats.org/officeDocument/2006/relationships/notesMaster" Target="/ppt/notesMasters/notesMaster1.xml" Id="Rb0615417c00b41e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5c40b1a3c5d4c21" /><Relationship Type="http://schemas.openxmlformats.org/officeDocument/2006/relationships/notesMaster" Target="/ppt/notesMasters/notesMaster1.xml" Id="Rd053d271460f474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e6c24b15bcc4c7c" /><Relationship Type="http://schemas.openxmlformats.org/officeDocument/2006/relationships/notesMaster" Target="/ppt/notesMasters/notesMaster1.xml" Id="R5ce3bf5bfda6463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d7f8ed7f3bb422d" /><Relationship Type="http://schemas.openxmlformats.org/officeDocument/2006/relationships/notesMaster" Target="/ppt/notesMasters/notesMaster1.xml" Id="Rf47a0b61c7e5461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91b755d2e8e4a50" /><Relationship Type="http://schemas.openxmlformats.org/officeDocument/2006/relationships/notesMaster" Target="/ppt/notesMasters/notesMaster1.xml" Id="Rdd1ebc79e01e4d9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cdf872e90904a99" /><Relationship Type="http://schemas.openxmlformats.org/officeDocument/2006/relationships/notesMaster" Target="/ppt/notesMasters/notesMaster1.xml" Id="R3f009500cd15485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c6209dc0c48415d" /><Relationship Type="http://schemas.openxmlformats.org/officeDocument/2006/relationships/notesMaster" Target="/ppt/notesMasters/notesMaster1.xml" Id="Rae94274dfb7f4ff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e7e6811f1564f28" /><Relationship Type="http://schemas.openxmlformats.org/officeDocument/2006/relationships/notesMaster" Target="/ppt/notesMasters/notesMaster1.xml" Id="R3362bf782e8b4b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/Users/cesarpascal/Documents/Training/week 24 research/README.md</a:t>
            </a:r>
          </a:p>
          <a:p xmlns:a="http://schemas.openxmlformats.org/drawingml/2006/main">
            <a:r>
              <a:t>- /Users/cesarpascal/Documents/Training/week 24 research/results/training_summary.json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/Users/cesarpascal/Documents/Training/week 24 research/model/r1_revo2_bimanual.xml</a:t>
            </a:r>
          </a:p>
          <a:p xmlns:a="http://schemas.openxmlformats.org/drawingml/2006/main">
            <a:r>
              <a:t>- /Users/cesarpascal/Documents/Training/week 24 research/scripts/build_model.py</a:t>
            </a:r>
          </a:p>
          <a:p xmlns:a="http://schemas.openxmlformats.org/drawingml/2006/main">
            <a:r>
              <a:t>- https://www.brainco-hz.com/docs/revolimb-hand-dev/en/revo2/parameters.html</a:t>
            </a:r>
          </a:p>
          <a:p xmlns:a="http://schemas.openxmlformats.org/drawingml/2006/main">
            <a:r>
              <a:t>- https://www.unitree.com/mobile/R1/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/Users/cesarpascal/Documents/Training/week 24 research/scripts/bimanual_env.py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/Users/cesarpascal/Documents/Training/week 24 research/scripts/bimanual_env.py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/Users/cesarpascal/Documents/Training/week 24 research/scripts/bimanual_policy.py</a:t>
            </a:r>
          </a:p>
          <a:p xmlns:a="http://schemas.openxmlformats.org/drawingml/2006/main">
            <a:r>
              <a:t>- /Users/cesarpascal/Documents/Training/week 24 research/results/training_summary.json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/Users/cesarpascal/Documents/Training/week 24 research/scripts/bimanual_env.py</a:t>
            </a:r>
          </a:p>
          <a:p xmlns:a="http://schemas.openxmlformats.org/drawingml/2006/main">
            <a:r>
              <a:t>- /Users/cesarpascal/Documents/Training/week 24 research/scripts/bimanual_policy.py</a:t>
            </a:r>
          </a:p>
          <a:p xmlns:a="http://schemas.openxmlformats.org/drawingml/2006/main">
            <a:r>
              <a:t>- https://mujoco.readthedocs.io/en/stable/XMLreference.html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/Users/cesarpascal/Documents/Training/week 24 research/results/untrained_demo_metrics.json</a:t>
            </a:r>
          </a:p>
          <a:p xmlns:a="http://schemas.openxmlformats.org/drawingml/2006/main">
            <a:r>
              <a:t>- /Users/cesarpascal/Documents/Training/week 24 research/media/untrained_bimanual_handoff_throw.mp4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/Users/cesarpascal/Documents/Training/week 24 research/scripts/bimanual_env.py</a:t>
            </a:r>
          </a:p>
          <a:p xmlns:a="http://schemas.openxmlformats.org/drawingml/2006/main">
            <a:r>
              <a:t>- /Users/cesarpascal/Documents/Training/week 24 research/results/training_summary.json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/Users/cesarpascal/Documents/Training/week 24 research/scripts/train_policy.py</a:t>
            </a:r>
          </a:p>
          <a:p xmlns:a="http://schemas.openxmlformats.org/drawingml/2006/main">
            <a:r>
              <a:t>- /Users/cesarpascal/Documents/Training/week 24 research/results/training_summary.json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/Users/cesarpascal/Documents/Training/week 24 research/scripts/train_policy.py</a:t>
            </a:r>
          </a:p>
          <a:p xmlns:a="http://schemas.openxmlformats.org/drawingml/2006/main">
            <a:r>
              <a:t>- /Users/cesarpascal/Documents/Training/week 24 research/scripts/bimanual_policy.py</a:t>
            </a:r>
          </a:p>
          <a:p xmlns:a="http://schemas.openxmlformats.org/drawingml/2006/main">
            <a:r>
              <a:t>- https://arxiv.org/abs/1412.6980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/Users/cesarpascal/Documents/Training/week 24 research/scripts/train_policy.py</a:t>
            </a:r>
          </a:p>
          <a:p xmlns:a="http://schemas.openxmlformats.org/drawingml/2006/main">
            <a:r>
              <a:t>- https://proceedings.mlr.press/v15/ross11a.html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/Users/cesarpascal/Documents/Training/week 24 research/scripts/bimanual_env.py</a:t>
            </a:r>
          </a:p>
          <a:p xmlns:a="http://schemas.openxmlformats.org/drawingml/2006/main">
            <a:r>
              <a:t>- /Users/cesarpascal/Documents/Training/week 24 research/results/final_policy_evaluation.json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/Users/cesarpascal/Documents/Training/week 24 research/results/final_policy_evaluation.json</a:t>
            </a:r>
          </a:p>
          <a:p xmlns:a="http://schemas.openxmlformats.org/drawingml/2006/main">
            <a:r>
              <a:t>- /Users/cesarpascal/Documents/Training/week 24 research/results/trained_demo_metrics.json</a:t>
            </a:r>
          </a:p>
          <a:p xmlns:a="http://schemas.openxmlformats.org/drawingml/2006/main">
            <a:r>
              <a:t>- /Users/cesarpascal/Documents/Training/week 24 research/media/trained_bimanual_handoff_throw.mp4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/Users/cesarpascal/Documents/Training/week 24 research/results/final_policy_evaluation.json</a:t>
            </a:r>
          </a:p>
          <a:p xmlns:a="http://schemas.openxmlformats.org/drawingml/2006/main">
            <a:r>
              <a:t>- /Users/cesarpascal/Documents/Training/week 24 research/README.md</a:t>
            </a:r>
          </a:p>
          <a:p xmlns:a="http://schemas.openxmlformats.org/drawingml/2006/main">
            <a:r>
              <a:t>- /Users/cesarpascal/Documents/Training/week 24 research/media/trained_throw.png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https://www.brainco-hz.com/docs/revolimb-hand-dev/en/revo2/parameters.html</a:t>
            </a:r>
          </a:p>
          <a:p xmlns:a="http://schemas.openxmlformats.org/drawingml/2006/main">
            <a:r>
              <a:t>- https://www.brainco-hz.com/docs/revolimb-hand-dev/en/revo2/download.html</a:t>
            </a:r>
          </a:p>
          <a:p xmlns:a="http://schemas.openxmlformats.org/drawingml/2006/main">
            <a:r>
              <a:t>- https://mujoco.readthedocs.io/en/stable/XMLreference.html</a:t>
            </a:r>
          </a:p>
          <a:p xmlns:a="http://schemas.openxmlformats.org/drawingml/2006/main">
            <a:r>
              <a:t>- https://arxiv.org/abs/1412.6980</a:t>
            </a:r>
          </a:p>
          <a:p xmlns:a="http://schemas.openxmlformats.org/drawingml/2006/main">
            <a:r>
              <a:t>- https://proceedings.mlr.press/v15/ross11a.html</a:t>
            </a:r>
          </a:p>
          <a:p xmlns:a="http://schemas.openxmlformats.org/drawingml/2006/main">
            <a:r>
              <a:t>- https://www.unitree.com/mobile/R1/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40dcc785e64b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a184f74a7b48da" /><Relationship Type="http://schemas.openxmlformats.org/officeDocument/2006/relationships/slideLayout" Target="/ppt/slideLayouts/slideLayout1.xml" Id="R67ca8cb1199c48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ca8cb1199c48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9d8920939d4561" /><Relationship Type="http://schemas.openxmlformats.org/officeDocument/2006/relationships/notesSlide" Target="/ppt/notesSlides/notesSlide1.xml" Id="Ra55d8628128149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f5936c2a6543ef" /><Relationship Type="http://schemas.openxmlformats.org/officeDocument/2006/relationships/image" Target="/ppt/media/image.png" Id="Rae70b1e9b5724844" /><Relationship Type="http://schemas.openxmlformats.org/officeDocument/2006/relationships/notesSlide" Target="/ppt/notesSlides/notesSlide2.xml" Id="R90a857d3949c43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0bc970dcf14092" /><Relationship Type="http://schemas.openxmlformats.org/officeDocument/2006/relationships/notesSlide" Target="/ppt/notesSlides/notesSlide3.xml" Id="Red149ec45a2c47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0db2970cb24116" /><Relationship Type="http://schemas.openxmlformats.org/officeDocument/2006/relationships/notesSlide" Target="/ppt/notesSlides/notesSlide4.xml" Id="Rcbeaaa0aab564d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02927d91144079" /><Relationship Type="http://schemas.openxmlformats.org/officeDocument/2006/relationships/notesSlide" Target="/ppt/notesSlides/notesSlide5.xml" Id="Rbfc08e3596d64b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e3cf977e994c0b" /><Relationship Type="http://schemas.openxmlformats.org/officeDocument/2006/relationships/image" Target="/ppt/media/image.png" Id="R6965b2dcaf044aaa" /><Relationship Type="http://schemas.openxmlformats.org/officeDocument/2006/relationships/notesSlide" Target="/ppt/notesSlides/notesSlide6.xml" Id="Re74d94707c7e4b3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843dd13a8f42bf" /><Relationship Type="http://schemas.openxmlformats.org/officeDocument/2006/relationships/image" Target="/ppt/media/image2.png" Id="R1d6dd911673d452c" /><Relationship Type="http://schemas.openxmlformats.org/officeDocument/2006/relationships/notesSlide" Target="/ppt/notesSlides/notesSlide7.xml" Id="R3310b2aac6564841" /><Relationship Type="http://schemas.openxmlformats.org/officeDocument/2006/relationships/video" Target="/ppt/media/untrained_bimanual_handoff_throw.mp4" Id="rIdVideo7"/><Relationship Type="http://schemas.microsoft.com/office/2007/relationships/media" Target="/ppt/media/untrained_bimanual_handoff_throw.mp4" Id="rIdMedia7"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af5afce8ba46a6" /><Relationship Type="http://schemas.openxmlformats.org/officeDocument/2006/relationships/notesSlide" Target="/ppt/notesSlides/notesSlide8.xml" Id="R34534ec6bcbd46a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0f0943a9e34046" /><Relationship Type="http://schemas.openxmlformats.org/officeDocument/2006/relationships/notesSlide" Target="/ppt/notesSlides/notesSlide9.xml" Id="Ref6eb09fb334400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3e8d11fcec4e6e" /><Relationship Type="http://schemas.openxmlformats.org/officeDocument/2006/relationships/notesSlide" Target="/ppt/notesSlides/notesSlide10.xml" Id="R0f4b0a039e86411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c470443a6e4ffc" /><Relationship Type="http://schemas.openxmlformats.org/officeDocument/2006/relationships/notesSlide" Target="/ppt/notesSlides/notesSlide11.xml" Id="Red831d4dc1804e6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75807ba4fd41ed" /><Relationship Type="http://schemas.openxmlformats.org/officeDocument/2006/relationships/notesSlide" Target="/ppt/notesSlides/notesSlide12.xml" Id="R56e1c73c5a124d1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7c7a38fcbd4daa" /><Relationship Type="http://schemas.openxmlformats.org/officeDocument/2006/relationships/image" Target="/ppt/media/image3.png" Id="R6d656427bdfd4750" /><Relationship Type="http://schemas.openxmlformats.org/officeDocument/2006/relationships/notesSlide" Target="/ppt/notesSlides/notesSlide13.xml" Id="R1f6bce3913764544" /><Relationship Type="http://schemas.openxmlformats.org/officeDocument/2006/relationships/video" Target="/ppt/media/trained_bimanual_handoff_throw.mp4" Id="rIdVideo13"/><Relationship Type="http://schemas.microsoft.com/office/2007/relationships/media" Target="/ppt/media/trained_bimanual_handoff_throw.mp4" Id="rIdMedia13"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9c735dc68a4019" /><Relationship Type="http://schemas.openxmlformats.org/officeDocument/2006/relationships/image" Target="/ppt/media/image.png" Id="R36ebe2ca00e6440d" /><Relationship Type="http://schemas.openxmlformats.org/officeDocument/2006/relationships/notesSlide" Target="/ppt/notesSlides/notesSlide14.xml" Id="Rb1c835dec70044f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92d84459dc44bc" /><Relationship Type="http://schemas.openxmlformats.org/officeDocument/2006/relationships/notesSlide" Target="/ppt/notesSlides/notesSlide15.xml" Id="Rf2f6c91023b847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week-title">
            <a:extLst xmlns:a="http://schemas.openxmlformats.org/drawingml/2006/main">
              <a:ext uri="{FF2B5EF4-FFF2-40B4-BE49-F238E27FC236}">
                <a16:creationId xmlns:a16="http://schemas.microsoft.com/office/drawing/2014/main" id="{EA03E4E4-7525-42F3-A5AA-8D615ACD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381250"/>
            <a:ext cx="762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5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35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WEEK 24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21B08F8-B1DC-4635-8C31-12AD6E64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33750"/>
            <a:ext cx="800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Bimanual neural policy for grasp, handoff, and throw</a:t>
            </a:r>
          </a:p>
        </p:txBody>
      </p:sp>
      <p:sp>
        <p:nvSpPr>
          <p:cNvPr id="3" name="author">
            <a:extLst xmlns:a="http://schemas.openxmlformats.org/drawingml/2006/main">
              <a:ext uri="{FF2B5EF4-FFF2-40B4-BE49-F238E27FC236}">
                <a16:creationId xmlns:a16="http://schemas.microsoft.com/office/drawing/2014/main" id="{878C14DA-53BB-47FA-A68F-BD47B88E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957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Cesar A. Pascal Vasquez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630E2CB-9F40-4014-BE03-8C34CD17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865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Week 24 | 1</a:t>
            </a:r>
          </a:p>
        </p:txBody>
      </p:sp>
    </p:spTree>
    <p:extLst>
      <p:ext uri="{BB962C8B-B14F-4D97-AF65-F5344CB8AC3E}">
        <p14:creationId xmlns:p14="http://schemas.microsoft.com/office/powerpoint/2010/main" val="16201394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3EA7CC9-2658-411E-A996-C873C7A9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Both R1 wrists now use BrainCo Revo 2 Basic hands.</a:t>
            </a:r>
          </a:p>
        </p:txBody>
      </p:sp>
      <p:sp>
        <p:nvSpPr>
          <p:cNvPr id="2" name="outcome-body">
            <a:extLst xmlns:a="http://schemas.openxmlformats.org/drawingml/2006/main">
              <a:ext uri="{FF2B5EF4-FFF2-40B4-BE49-F238E27FC236}">
                <a16:creationId xmlns:a16="http://schemas.microsoft.com/office/drawing/2014/main" id="{816D87B6-A8AD-418A-8158-EC2A6AD7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143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The stock terminal-hand geometry was removed on both arms. Genuine left- and right-hand Revo 2 XML/STL models are mounted with approximate wrist adapters.</a:t>
            </a:r>
          </a:p>
        </p:txBody>
      </p:sp>
      <p:sp>
        <p:nvSpPr>
          <p:cNvPr id="3" name="outcome-callout">
            <a:extLst xmlns:a="http://schemas.openxmlformats.org/drawingml/2006/main">
              <a:ext uri="{FF2B5EF4-FFF2-40B4-BE49-F238E27FC236}">
                <a16:creationId xmlns:a16="http://schemas.microsoft.com/office/drawing/2014/main" id="{950CDB9B-2447-40C1-812A-ACB0F629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5143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The policy controls 22 actuators at 40 Hz: 10 arm joints and 12 hand joints.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70b1e9b5724844"/>
          <a:stretch xmlns:a="http://schemas.openxmlformats.org/drawingml/2006/main"/>
        </p:blipFill>
        <p:spPr>
          <a:xfrm xmlns:a="http://schemas.openxmlformats.org/drawingml/2006/main" flipH="0" flipV="0">
            <a:off x="6572250" y="1760637"/>
            <a:ext cx="4762500" cy="324147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6D4FB7-5E90-4941-B502-BEC1D13C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435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 i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Dual Revo 2 model in MuJoCo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6D9ADE48-D478-4D93-8A8C-965E5FE0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865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Week 24 | 2</a:t>
            </a:r>
          </a:p>
        </p:txBody>
      </p:sp>
    </p:spTree>
    <p:extLst>
      <p:ext uri="{BB962C8B-B14F-4D97-AF65-F5344CB8AC3E}">
        <p14:creationId xmlns:p14="http://schemas.microsoft.com/office/powerpoint/2010/main" val="11071515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9565148-4EF2-40B4-820D-2643A4AE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The policy coordinates four bimanual task stages.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051B74-1FDA-4046-A9BD-2211F439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28750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3" name="training-step-1">
            <a:extLst xmlns:a="http://schemas.openxmlformats.org/drawingml/2006/main">
              <a:ext uri="{FF2B5EF4-FFF2-40B4-BE49-F238E27FC236}">
                <a16:creationId xmlns:a16="http://schemas.microsoft.com/office/drawing/2014/main" id="{931ED5D0-6C8E-498A-811E-6C6C55CE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45732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Right hand reaches and grasps the ball (0.00–2.48 s).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3D9081-30A7-4527-B690-6069EF4E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5" name="training-step-2">
            <a:extLst xmlns:a="http://schemas.openxmlformats.org/drawingml/2006/main">
              <a:ext uri="{FF2B5EF4-FFF2-40B4-BE49-F238E27FC236}">
                <a16:creationId xmlns:a16="http://schemas.microsoft.com/office/drawing/2014/main" id="{883B8CFB-A20D-48D0-8756-B7B45880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0982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Right arm transports while the left hand approaches (2.48–3.82 s).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74C684-0237-48F4-BE67-1048B643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7" name="training-step-3">
            <a:extLst xmlns:a="http://schemas.openxmlformats.org/drawingml/2006/main">
              <a:ext uri="{FF2B5EF4-FFF2-40B4-BE49-F238E27FC236}">
                <a16:creationId xmlns:a16="http://schemas.microsoft.com/office/drawing/2014/main" id="{3615F39E-43A1-4D78-B1CA-B14942EC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6232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Left hand closes; the right hand releases (3.62–4.58 s).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2AC943-BB28-4F10-B649-20DE4563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9" name="training-step-4">
            <a:extLst xmlns:a="http://schemas.openxmlformats.org/drawingml/2006/main">
              <a:ext uri="{FF2B5EF4-FFF2-40B4-BE49-F238E27FC236}">
                <a16:creationId xmlns:a16="http://schemas.microsoft.com/office/drawing/2014/main" id="{4D711129-EDA4-4206-AD87-30D6A2B6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1482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Left arm lifts, winds up, and throws (4.58–6.06 s).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FEA5B4-5337-4794-83F4-EB07021C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81625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7.10-s episode | 40 Hz control | nine phase labels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03D0C70F-75E1-4FC8-9B85-23EC88BD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865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Week 24 | 3</a:t>
            </a:r>
          </a:p>
        </p:txBody>
      </p:sp>
    </p:spTree>
    <p:extLst>
      <p:ext uri="{BB962C8B-B14F-4D97-AF65-F5344CB8AC3E}">
        <p14:creationId xmlns:p14="http://schemas.microsoft.com/office/powerpoint/2010/main" val="3957028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C4BAC05-2014-4342-9B5B-8C51DCB9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Each step uses 94 normalized observations.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6FF790-4D7C-4693-9CA1-DC15D9A6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TASK (22)</a:t>
            </a:r>
          </a:p>
        </p:txBody>
      </p:sp>
      <p:sp>
        <p:nvSpPr>
          <p:cNvPr id="3" name="policy-inputs">
            <a:extLst xmlns:a="http://schemas.openxmlformats.org/drawingml/2006/main">
              <a:ext uri="{FF2B5EF4-FFF2-40B4-BE49-F238E27FC236}">
                <a16:creationId xmlns:a16="http://schemas.microsoft.com/office/drawing/2014/main" id="{0010DA2C-F188-4B0A-BB03-20F01BD9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4191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Time + phase: 10</a:t>
            </a:r>
          </a:p>
          <a:p xmlns:a="http://schemas.openxmlformats.org/drawingml/2006/main">
            <a:pPr algn="l">
              <a:buNone/>
              <a:defRPr sz="20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Ball-to-hands: 6</a:t>
            </a:r>
          </a:p>
          <a:p xmlns:a="http://schemas.openxmlformats.org/drawingml/2006/main">
            <a:pPr algn="l">
              <a:buNone/>
              <a:defRPr sz="20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Handoff + target errors: 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0F8B93-8088-4B93-95FB-A6DBB382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765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ROBOT STATE (50)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A5B058-7255-4253-9E92-A5145C42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95625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1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Palm + ball motion: 15</a:t>
            </a:r>
          </a:p>
          <a:p xmlns:a="http://schemas.openxmlformats.org/drawingml/2006/main">
            <a:pPr algn="ctr">
              <a:buNone/>
              <a:defRPr sz="1875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Arm positions + velocities: 20</a:t>
            </a:r>
          </a:p>
          <a:p xmlns:a="http://schemas.openxmlformats.org/drawingml/2006/main">
            <a:pPr algn="ctr">
              <a:buNone/>
              <a:defRPr sz="1875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Hand ratios: 12</a:t>
            </a:r>
          </a:p>
          <a:p xmlns:a="http://schemas.openxmlformats.org/drawingml/2006/main">
            <a:pPr algn="ctr">
              <a:buNone/>
              <a:defRPr sz="1875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Contacts + fixture: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A95B75-3F35-4EA0-B015-959F7FCF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240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MEMORY (22)</a:t>
            </a:r>
          </a:p>
        </p:txBody>
      </p:sp>
      <p:sp>
        <p:nvSpPr>
          <p:cNvPr id="7" name="policy-outputs">
            <a:extLst xmlns:a="http://schemas.openxmlformats.org/drawingml/2006/main">
              <a:ext uri="{FF2B5EF4-FFF2-40B4-BE49-F238E27FC236}">
                <a16:creationId xmlns:a16="http://schemas.microsoft.com/office/drawing/2014/main" id="{C0FA5EF2-ACC8-4373-824E-13262C19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47875"/>
            <a:ext cx="2857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Previous 22 commands</a:t>
            </a:r>
          </a:p>
          <a:p xmlns:a="http://schemas.openxmlformats.org/drawingml/2006/main">
            <a:pPr algn="l">
              <a:buNone/>
              <a:defRPr sz="20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reveal delay and</a:t>
            </a:r>
          </a:p>
          <a:p xmlns:a="http://schemas.openxmlformats.org/drawingml/2006/main">
            <a:pPr algn="l">
              <a:buNone/>
              <a:defRPr sz="20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action history</a:t>
            </a:r>
          </a:p>
        </p:txBody>
      </p:sp>
      <p:sp>
        <p:nvSpPr>
          <p:cNvPr id="8" name="policy-flow">
            <a:extLst xmlns:a="http://schemas.openxmlformats.org/drawingml/2006/main">
              <a:ext uri="{FF2B5EF4-FFF2-40B4-BE49-F238E27FC236}">
                <a16:creationId xmlns:a16="http://schemas.microsoft.com/office/drawing/2014/main" id="{E77996CB-2894-4F99-8B15-A3B6B2AA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00625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22 TASK   +   50 ROBOT   +   22 MEMORY   =   94 OBSERVATIONS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A9ACB5E6-3FA5-400B-A678-F07D1407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865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Week 24 | 4</a:t>
            </a:r>
          </a:p>
        </p:txBody>
      </p:sp>
    </p:spTree>
    <p:extLst>
      <p:ext uri="{BB962C8B-B14F-4D97-AF65-F5344CB8AC3E}">
        <p14:creationId xmlns:p14="http://schemas.microsoft.com/office/powerpoint/2010/main" val="12502376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C4BAC05-2014-4342-9B5B-8C51DCB9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The neural network predicts 22 residual corrections.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6FF790-4D7C-4693-9CA1-DC15D9A6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INPUT</a:t>
            </a:r>
          </a:p>
        </p:txBody>
      </p:sp>
      <p:sp>
        <p:nvSpPr>
          <p:cNvPr id="3" name="policy-inputs">
            <a:extLst xmlns:a="http://schemas.openxmlformats.org/drawingml/2006/main">
              <a:ext uri="{FF2B5EF4-FFF2-40B4-BE49-F238E27FC236}">
                <a16:creationId xmlns:a16="http://schemas.microsoft.com/office/drawing/2014/main" id="{0010DA2C-F188-4B0A-BB03-20F01BD9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4191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94 normalized observations</a:t>
            </a:r>
          </a:p>
          <a:p xmlns:a="http://schemas.openxmlformats.org/drawingml/2006/main">
            <a:pPr algn="l">
              <a:buNone/>
              <a:defRPr sz="20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Mean/std from teacher data</a:t>
            </a:r>
          </a:p>
          <a:p xmlns:a="http://schemas.openxmlformats.org/drawingml/2006/main">
            <a:pPr algn="l">
              <a:buNone/>
              <a:defRPr sz="20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Clipped noisy state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0F8B93-8088-4B93-95FB-A6DBB382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765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MLP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A5B058-7255-4253-9E92-A5145C42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95625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1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160 tanh units</a:t>
            </a:r>
          </a:p>
          <a:p xmlns:a="http://schemas.openxmlformats.org/drawingml/2006/main">
            <a:pPr algn="ctr">
              <a:buNone/>
              <a:defRPr sz="1875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160 tanh units</a:t>
            </a:r>
          </a:p>
          <a:p xmlns:a="http://schemas.openxmlformats.org/drawingml/2006/main">
            <a:pPr algn="ctr">
              <a:buNone/>
              <a:defRPr sz="1875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22 tanh outputs</a:t>
            </a:r>
          </a:p>
          <a:p xmlns:a="http://schemas.openxmlformats.org/drawingml/2006/main">
            <a:pPr algn="ctr">
              <a:buNone/>
              <a:defRPr sz="1875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44,502 parameters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A95B75-3F35-4EA0-B015-959F7FCF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240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RESIDUAL</a:t>
            </a:r>
          </a:p>
        </p:txBody>
      </p:sp>
      <p:sp>
        <p:nvSpPr>
          <p:cNvPr id="7" name="policy-outputs">
            <a:extLst xmlns:a="http://schemas.openxmlformats.org/drawingml/2006/main">
              <a:ext uri="{FF2B5EF4-FFF2-40B4-BE49-F238E27FC236}">
                <a16:creationId xmlns:a16="http://schemas.microsoft.com/office/drawing/2014/main" id="{C0FA5EF2-ACC8-4373-824E-13262C19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47875"/>
            <a:ext cx="2857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Arm correction: ±0.24</a:t>
            </a:r>
          </a:p>
          <a:p xmlns:a="http://schemas.openxmlformats.org/drawingml/2006/main">
            <a:pPr algn="l">
              <a:buNone/>
              <a:defRPr sz="20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Hand correction: ±0.10</a:t>
            </a:r>
          </a:p>
          <a:p xmlns:a="http://schemas.openxmlformats.org/drawingml/2006/main">
            <a:pPr algn="l">
              <a:buNone/>
              <a:defRPr sz="20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Final command clipped</a:t>
            </a:r>
          </a:p>
          <a:p xmlns:a="http://schemas.openxmlformats.org/drawingml/2006/main">
            <a:pPr algn="l">
              <a:buNone/>
              <a:defRPr sz="20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–1 to +1</a:t>
            </a:r>
          </a:p>
        </p:txBody>
      </p:sp>
      <p:sp>
        <p:nvSpPr>
          <p:cNvPr id="8" name="policy-flow">
            <a:extLst xmlns:a="http://schemas.openxmlformats.org/drawingml/2006/main">
              <a:ext uri="{FF2B5EF4-FFF2-40B4-BE49-F238E27FC236}">
                <a16:creationId xmlns:a16="http://schemas.microsoft.com/office/drawing/2014/main" id="{E77996CB-2894-4F99-8B15-A3B6B2AA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00625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61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SAFE REFERENCE   +   SCALED NETWORK OUTPUT   →   22 COMMANDS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A9ACB5E6-3FA5-400B-A678-F07D1407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865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Week 24 | 5</a:t>
            </a:r>
          </a:p>
        </p:txBody>
      </p:sp>
    </p:spTree>
    <p:extLst>
      <p:ext uri="{BB962C8B-B14F-4D97-AF65-F5344CB8AC3E}">
        <p14:creationId xmlns:p14="http://schemas.microsoft.com/office/powerpoint/2010/main" val="12502376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3EA7CC9-2658-411E-A996-C873C7A9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The learned controller corrects a safe bimanual reference.</a:t>
            </a:r>
          </a:p>
        </p:txBody>
      </p:sp>
      <p:sp>
        <p:nvSpPr>
          <p:cNvPr id="2" name="outcome-body">
            <a:extLst xmlns:a="http://schemas.openxmlformats.org/drawingml/2006/main">
              <a:ext uri="{FF2B5EF4-FFF2-40B4-BE49-F238E27FC236}">
                <a16:creationId xmlns:a16="http://schemas.microsoft.com/office/drawing/2014/main" id="{816D87B6-A8AD-418A-8158-EC2A6AD7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143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Scripted inverse-kinematics waypoints supply the reach, handoff, lift, windup, and throw. The MLP adjusts all four limb groups at every control step.</a:t>
            </a:r>
          </a:p>
        </p:txBody>
      </p:sp>
      <p:sp>
        <p:nvSpPr>
          <p:cNvPr id="3" name="outcome-callout">
            <a:extLst xmlns:a="http://schemas.openxmlformats.org/drawingml/2006/main">
              <a:ext uri="{FF2B5EF4-FFF2-40B4-BE49-F238E27FC236}">
                <a16:creationId xmlns:a16="http://schemas.microsoft.com/office/drawing/2014/main" id="{950CDB9B-2447-40C1-812A-ACB0F629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5143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502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A contact-gated soft carrier stabilizes the approximate grasp and handoff; it is disabled before release so the ball completes free flight.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65b2dcaf044aaa"/>
          <a:stretch xmlns:a="http://schemas.openxmlformats.org/drawingml/2006/main"/>
        </p:blipFill>
        <p:spPr>
          <a:xfrm xmlns:a="http://schemas.openxmlformats.org/drawingml/2006/main" flipH="0" flipV="0">
            <a:off x="6572250" y="1760637"/>
            <a:ext cx="4762500" cy="324147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6D4FB7-5E90-4941-B502-BEC1D13C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435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 i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The receiving hand closes before the right hand releases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6D9ADE48-D478-4D93-8A8C-965E5FE0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865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Week 24 | 6</a:t>
            </a:r>
          </a:p>
        </p:txBody>
      </p:sp>
    </p:spTree>
    <p:extLst>
      <p:ext uri="{BB962C8B-B14F-4D97-AF65-F5344CB8AC3E}">
        <p14:creationId xmlns:p14="http://schemas.microsoft.com/office/powerpoint/2010/main" val="1107151533"/>
      </p:ext>
    </p:extLst>
  </p:cSld>
</p:sld>
</file>

<file path=ppt/slides/slide7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08DBE3F-C285-4A18-AE6A-58FCB252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Before training, random residuals miss the first grasp.</a:t>
            </a:r>
          </a:p>
        </p:txBody>
      </p:sp>
      <p:pic>
        <p:nvPicPr>
          <p:cNvPr id="12" name="untrained_bimanual_handoff_throw.mp4" descr="untrained_bimanual_handoff_throw.mp4"/>
          <p:cNvPicPr>
            <a:picLocks xmlns:a="http://schemas.openxmlformats.org/drawingml/2006/main" noChangeAspect="1"/>
          </p:cNvPicPr>
          <p:nvPr>
            <a:videoFile r:link="rIdVideo7"/>
            <p:extLst>
              <p:ext uri="{DAA4B4D4-6D71-4841-9C94-3DE7FCFB9230}">
                <p14:media r:embed="rIdMedia7"/>
              </p:ext>
            </p:extLst>
          </p:nvPr>
        </p:nvPicPr>
        <p:blipFill>
          <a:blip xmlns:r="http://schemas.openxmlformats.org/officeDocument/2006/relationships" xmlns:a="http://schemas.openxmlformats.org/drawingml/2006/main" r:embed="R1d6dd911673d45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71500" y="1286875"/>
            <a:ext cx="6858000" cy="5027199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3" name="success-rate">
            <a:extLst xmlns:a="http://schemas.openxmlformats.org/drawingml/2006/main">
              <a:ext uri="{FF2B5EF4-FFF2-40B4-BE49-F238E27FC236}">
                <a16:creationId xmlns:a16="http://schemas.microsoft.com/office/drawing/2014/main" id="{4C8D3EE0-5160-4CB4-8CF6-B4FACD63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571625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6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6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0%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BA8491-3C40-43FA-90E6-D29DEB69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812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complete task success</a:t>
            </a:r>
          </a:p>
        </p:txBody>
      </p:sp>
      <p:sp>
        <p:nvSpPr>
          <p:cNvPr id="5" name="hold-error">
            <a:extLst xmlns:a="http://schemas.openxmlformats.org/drawingml/2006/main">
              <a:ext uri="{FF2B5EF4-FFF2-40B4-BE49-F238E27FC236}">
                <a16:creationId xmlns:a16="http://schemas.microsoft.com/office/drawing/2014/main" id="{E451175D-8F75-4D1C-A421-24069EB1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286125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5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59.8 mm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C6CA2B-08ED-4B9D-AEC8-09C753BD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0050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minimum reach error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4CF754-F417-4050-8EB8-18A58CAD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95875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31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no contact | no grasp | no handoff</a:t>
            </a:r>
          </a:p>
          <a:p xmlns:a="http://schemas.openxmlformats.org/drawingml/2006/main">
            <a:pPr algn="ctr">
              <a:buNone/>
              <a:defRPr sz="18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ball drops at 2.83 s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B11A8BE7-0AB7-427E-B894-00E94970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865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Week 24 | 7</a:t>
            </a:r>
          </a:p>
        </p:txBody>
      </p:sp>
    </p:spTree>
    <p:extLst>
      <p:ext uri="{BB962C8B-B14F-4D97-AF65-F5344CB8AC3E}">
        <p14:creationId xmlns:p14="http://schemas.microsoft.com/office/powerpoint/2010/main" val="1158511663"/>
      </p:ext>
    </p:extLst>
  </p:cSld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click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825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100000">
                <p:cTn id="7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prevAc="none" nextAc="seek">
              <p:cTn id="8" evtFilter="cancelBubble" nodeType="interactiveSeq" restart="whenNotActive" fill="hold">
                <p:stCondLst>
                  <p:cond delay="0" evt="onClick">
                    <p:tgtEl>
                      <p:spTgt spid="12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9565148-4EF2-40B4-820D-2643A4AE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The teacher is scripted, not learned.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051B74-1FDA-4046-A9BD-2211F439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28750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3" name="training-step-1">
            <a:extLst xmlns:a="http://schemas.openxmlformats.org/drawingml/2006/main">
              <a:ext uri="{FF2B5EF4-FFF2-40B4-BE49-F238E27FC236}">
                <a16:creationId xmlns:a16="http://schemas.microsoft.com/office/drawing/2014/main" id="{931ED5D0-6C8E-498A-811E-6C6C55CE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45732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Read the randomized ball, handoff, and target positions.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3D9081-30A7-4527-B690-6069EF4E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5" name="training-step-2">
            <a:extLst xmlns:a="http://schemas.openxmlformats.org/drawingml/2006/main">
              <a:ext uri="{FF2B5EF4-FFF2-40B4-BE49-F238E27FC236}">
                <a16:creationId xmlns:a16="http://schemas.microsoft.com/office/drawing/2014/main" id="{883B8CFB-A20D-48D0-8756-B7B45880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0982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Solve right reach/transport and left receive/throw waypoints with IK.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74C684-0237-48F4-BE67-1048B643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7" name="training-step-3">
            <a:extLst xmlns:a="http://schemas.openxmlformats.org/drawingml/2006/main">
              <a:ext uri="{FF2B5EF4-FFF2-40B4-BE49-F238E27FC236}">
                <a16:creationId xmlns:a16="http://schemas.microsoft.com/office/drawing/2014/main" id="{3615F39E-43A1-4D78-B1CA-B14942EC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6232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Interpolate the waypoints and apply timed power grasps.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2AC943-BB28-4F10-B649-20DE4563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9" name="training-step-4">
            <a:extLst xmlns:a="http://schemas.openxmlformats.org/drawingml/2006/main">
              <a:ext uri="{FF2B5EF4-FFF2-40B4-BE49-F238E27FC236}">
                <a16:creationId xmlns:a16="http://schemas.microsoft.com/office/drawing/2014/main" id="{4D711129-EDA4-4206-AD87-30D6A2B6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1482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Return the 22 ideal commands used as training labels.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FEA5B4-5337-4794-83F4-EB07021C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81625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Teacher success: 97.1% over 140 randomized demonstrations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03D0C70F-75E1-4FC8-9B85-23EC88BD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865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Week 24 | 8</a:t>
            </a:r>
          </a:p>
        </p:txBody>
      </p:sp>
    </p:spTree>
    <p:extLst>
      <p:ext uri="{BB962C8B-B14F-4D97-AF65-F5344CB8AC3E}">
        <p14:creationId xmlns:p14="http://schemas.microsoft.com/office/powerpoint/2010/main" val="3957028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9565148-4EF2-40B4-820D-2643A4AE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Training combines teacher data with two corrective rounds.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051B74-1FDA-4046-A9BD-2211F439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28750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3" name="training-step-1">
            <a:extLst xmlns:a="http://schemas.openxmlformats.org/drawingml/2006/main">
              <a:ext uri="{FF2B5EF4-FFF2-40B4-BE49-F238E27FC236}">
                <a16:creationId xmlns:a16="http://schemas.microsoft.com/office/drawing/2014/main" id="{931ED5D0-6C8E-498A-811E-6C6C55CE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45732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Collect 140 teacher episodes beginning at seed 24,000.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3D9081-30A7-4527-B690-6069EF4E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5" name="training-step-2">
            <a:extLst xmlns:a="http://schemas.openxmlformats.org/drawingml/2006/main">
              <a:ext uri="{FF2B5EF4-FFF2-40B4-BE49-F238E27FC236}">
                <a16:creationId xmlns:a16="http://schemas.microsoft.com/office/drawing/2014/main" id="{883B8CFB-A20D-48D0-8756-B7B45880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0982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Store each 94-value state with its 22-value target.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74C684-0237-48F4-BE67-1048B643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7" name="training-step-3">
            <a:extLst xmlns:a="http://schemas.openxmlformats.org/drawingml/2006/main">
              <a:ext uri="{FF2B5EF4-FFF2-40B4-BE49-F238E27FC236}">
                <a16:creationId xmlns:a16="http://schemas.microsoft.com/office/drawing/2014/main" id="{3615F39E-43A1-4D78-B1CA-B14942EC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6232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Run 3,000 Adam updates: batch 512, learning rate 1.1×10⁻³.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2AC943-BB28-4F10-B649-20DE4563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9" name="training-step-4">
            <a:extLst xmlns:a="http://schemas.openxmlformats.org/drawingml/2006/main">
              <a:ext uri="{FF2B5EF4-FFF2-40B4-BE49-F238E27FC236}">
                <a16:creationId xmlns:a16="http://schemas.microsoft.com/office/drawing/2014/main" id="{4D711129-EDA4-4206-AD87-30D6A2B6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1482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Add two DAgger rounds: 40 episodes and 1,500 updates each.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FEA5B4-5337-4794-83F4-EB07021C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81625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55,926 samples | 6,000 updates | hidden width 160 | nine-phase batches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03D0C70F-75E1-4FC8-9B85-23EC88BD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865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Week 24 | 9</a:t>
            </a:r>
          </a:p>
        </p:txBody>
      </p:sp>
    </p:spTree>
    <p:extLst>
      <p:ext uri="{BB962C8B-B14F-4D97-AF65-F5344CB8AC3E}">
        <p14:creationId xmlns:p14="http://schemas.microsoft.com/office/powerpoint/2010/main" val="3957028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C4BAC05-2014-4342-9B5B-8C51DCB9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Behavioral cloning fits the teacher’s residual targets.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6FF790-4D7C-4693-9CA1-DC15D9A6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TARGET</a:t>
            </a:r>
          </a:p>
        </p:txBody>
      </p:sp>
      <p:sp>
        <p:nvSpPr>
          <p:cNvPr id="3" name="policy-inputs">
            <a:extLst xmlns:a="http://schemas.openxmlformats.org/drawingml/2006/main">
              <a:ext uri="{FF2B5EF4-FFF2-40B4-BE49-F238E27FC236}">
                <a16:creationId xmlns:a16="http://schemas.microsoft.com/office/drawing/2014/main" id="{0010DA2C-F188-4B0A-BB03-20F01BD9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4191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Teacher action</a:t>
            </a:r>
          </a:p>
          <a:p xmlns:a="http://schemas.openxmlformats.org/drawingml/2006/main">
            <a:pPr algn="l">
              <a:buNone/>
              <a:defRPr sz="20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minus safe reference</a:t>
            </a:r>
          </a:p>
          <a:p xmlns:a="http://schemas.openxmlformats.org/drawingml/2006/main">
            <a:pPr algn="l">
              <a:buNone/>
              <a:defRPr sz="20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scaled and clipped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0F8B93-8088-4B93-95FB-A6DBB382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765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OBJECTIVE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A5B058-7255-4253-9E92-A5145C42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95625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1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Weighted mean-square error</a:t>
            </a:r>
          </a:p>
          <a:p xmlns:a="http://schemas.openxmlformats.org/drawingml/2006/main">
            <a:pPr algn="ctr">
              <a:buNone/>
              <a:defRPr sz="1875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Adam, batch 512</a:t>
            </a:r>
          </a:p>
          <a:p xmlns:a="http://schemas.openxmlformats.org/drawingml/2006/main">
            <a:pPr algn="ctr">
              <a:buNone/>
              <a:defRPr sz="1875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LR 1.1×10⁻³</a:t>
            </a:r>
          </a:p>
          <a:p xmlns:a="http://schemas.openxmlformats.org/drawingml/2006/main">
            <a:pPr algn="ctr">
              <a:buNone/>
              <a:defRPr sz="1875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weight decay 10⁻⁶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A95B75-3F35-4EA0-B015-959F7FCF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240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EMPHASIS</a:t>
            </a:r>
          </a:p>
        </p:txBody>
      </p:sp>
      <p:sp>
        <p:nvSpPr>
          <p:cNvPr id="7" name="policy-outputs">
            <a:extLst xmlns:a="http://schemas.openxmlformats.org/drawingml/2006/main">
              <a:ext uri="{FF2B5EF4-FFF2-40B4-BE49-F238E27FC236}">
                <a16:creationId xmlns:a16="http://schemas.microsoft.com/office/drawing/2014/main" id="{C0FA5EF2-ACC8-4373-824E-13262C19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47875"/>
            <a:ext cx="2857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Arm outputs: 4.0</a:t>
            </a:r>
          </a:p>
          <a:p xmlns:a="http://schemas.openxmlformats.org/drawingml/2006/main">
            <a:pPr algn="l">
              <a:buNone/>
              <a:defRPr sz="20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Hand outputs: 1.6</a:t>
            </a:r>
          </a:p>
          <a:p xmlns:a="http://schemas.openxmlformats.org/drawingml/2006/main">
            <a:pPr algn="l">
              <a:buNone/>
              <a:defRPr sz="20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Gradients clipped:</a:t>
            </a:r>
          </a:p>
          <a:p xmlns:a="http://schemas.openxmlformats.org/drawingml/2006/main">
            <a:pPr algn="l">
              <a:buNone/>
              <a:defRPr sz="20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–2 to +2</a:t>
            </a:r>
          </a:p>
        </p:txBody>
      </p:sp>
      <p:sp>
        <p:nvSpPr>
          <p:cNvPr id="8" name="policy-flow">
            <a:extLst xmlns:a="http://schemas.openxmlformats.org/drawingml/2006/main">
              <a:ext uri="{FF2B5EF4-FFF2-40B4-BE49-F238E27FC236}">
                <a16:creationId xmlns:a16="http://schemas.microsoft.com/office/drawing/2014/main" id="{E77996CB-2894-4F99-8B15-A3B6B2AA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00625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85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TEACHER TARGETS   →   WEIGHTED ERROR   →   UPDATED MLP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A9ACB5E6-3FA5-400B-A678-F07D1407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865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Week 24 | 10</a:t>
            </a:r>
          </a:p>
        </p:txBody>
      </p:sp>
    </p:spTree>
    <p:extLst>
      <p:ext uri="{BB962C8B-B14F-4D97-AF65-F5344CB8AC3E}">
        <p14:creationId xmlns:p14="http://schemas.microsoft.com/office/powerpoint/2010/main" val="12502376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9565148-4EF2-40B4-820D-2643A4AE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DAgger teaches recovery from the policy’s own states.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051B74-1FDA-4046-A9BD-2211F439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28750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3" name="training-step-1">
            <a:extLst xmlns:a="http://schemas.openxmlformats.org/drawingml/2006/main">
              <a:ext uri="{FF2B5EF4-FFF2-40B4-BE49-F238E27FC236}">
                <a16:creationId xmlns:a16="http://schemas.microsoft.com/office/drawing/2014/main" id="{931ED5D0-6C8E-498A-811E-6C6C55CE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45732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Run 40 mixed teacher/network episodes.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3D9081-30A7-4527-B690-6069EF4E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5" name="training-step-2">
            <a:extLst xmlns:a="http://schemas.openxmlformats.org/drawingml/2006/main">
              <a:ext uri="{FF2B5EF4-FFF2-40B4-BE49-F238E27FC236}">
                <a16:creationId xmlns:a16="http://schemas.microsoft.com/office/drawing/2014/main" id="{883B8CFB-A20D-48D0-8756-B7B45880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0982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Ask the teacher to label every state the mixture visits.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74C684-0237-48F4-BE67-1048B643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7" name="training-step-3">
            <a:extLst xmlns:a="http://schemas.openxmlformats.org/drawingml/2006/main">
              <a:ext uri="{FF2B5EF4-FFF2-40B4-BE49-F238E27FC236}">
                <a16:creationId xmlns:a16="http://schemas.microsoft.com/office/drawing/2014/main" id="{3615F39E-43A1-4D78-B1CA-B14942EC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6232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Append the new states and labels, keeping all earlier 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2AC943-BB28-4F10-B649-20DE4563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9" name="training-step-4">
            <a:extLst xmlns:a="http://schemas.openxmlformats.org/drawingml/2006/main">
              <a:ext uri="{FF2B5EF4-FFF2-40B4-BE49-F238E27FC236}">
                <a16:creationId xmlns:a16="http://schemas.microsoft.com/office/drawing/2014/main" id="{4D711129-EDA4-4206-AD87-30D6A2B6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1482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Retrain 1,500 updates at 8.25×10⁻⁴, then repeat.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FEA5B4-5337-4794-83F4-EB07021C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81625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Teacher execution probability falls from 45% to 18%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03D0C70F-75E1-4FC8-9B85-23EC88BD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865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Week 24 | 11</a:t>
            </a:r>
          </a:p>
        </p:txBody>
      </p:sp>
    </p:spTree>
    <p:extLst>
      <p:ext uri="{BB962C8B-B14F-4D97-AF65-F5344CB8AC3E}">
        <p14:creationId xmlns:p14="http://schemas.microsoft.com/office/powerpoint/2010/main" val="3957028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F177A31-33A1-4C13-9534-843391A4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Domain randomization makes the simulated policy more robust.</a:t>
            </a:r>
          </a:p>
        </p:txBody>
      </p:sp>
      <p:sp>
        <p:nvSpPr>
          <p:cNvPr id="2" name="next-steps">
            <a:extLst xmlns:a="http://schemas.openxmlformats.org/drawingml/2006/main">
              <a:ext uri="{FF2B5EF4-FFF2-40B4-BE49-F238E27FC236}">
                <a16:creationId xmlns:a16="http://schemas.microsoft.com/office/drawing/2014/main" id="{CA5549E8-9493-4A7C-9081-AEB971FC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19250"/>
            <a:ext cx="9715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• Geometry: randomized ball start, handoff, target, and IK seeds.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7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• Ball: radius 16.8–19.2 mm, mass 40–65 g, friction 0.85–1.35.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7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• Robot: actuator gains 84–116% and command delay of 0–2 frames.</a:t>
            </a:r>
          </a:p>
          <a:p xmlns:a="http://schemas.openxmlformats.org/drawingml/2006/main">
            <a:pPr algn="l">
              <a:buNone/>
              <a:defRPr sz="24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 algn="l">
              <a:buNone/>
              <a:defRPr sz="217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• Sensing: Gaussian observation noise, σ = 0.009.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B82CE8-AF6B-41C4-A9B2-9D2C5168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91125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Every final result comes from 100 unseen randomized evaluation episodes.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014CE0D-FDA9-40C8-B651-A77F5784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865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Week 24 | 12</a:t>
            </a:r>
          </a:p>
        </p:txBody>
      </p:sp>
    </p:spTree>
    <p:extLst>
      <p:ext uri="{BB962C8B-B14F-4D97-AF65-F5344CB8AC3E}">
        <p14:creationId xmlns:p14="http://schemas.microsoft.com/office/powerpoint/2010/main" val="476060162"/>
      </p:ext>
    </p:extLst>
  </p:cSld>
</p:sld>
</file>

<file path=ppt/slides/slide13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08DBE3F-C285-4A18-AE6A-58FCB252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After training, the policy completes the handoff and throw.</a:t>
            </a:r>
          </a:p>
        </p:txBody>
      </p:sp>
      <p:pic>
        <p:nvPicPr>
          <p:cNvPr id="12" name="trained_bimanual_handoff_throw.mp4" descr="trained_bimanual_handoff_throw.mp4"/>
          <p:cNvPicPr>
            <a:picLocks xmlns:a="http://schemas.openxmlformats.org/drawingml/2006/main" noChangeAspect="1"/>
          </p:cNvPicPr>
          <p:nvPr>
            <a:videoFile r:link="rIdVideo13"/>
            <p:extLst>
              <p:ext uri="{DAA4B4D4-6D71-4841-9C94-3DE7FCFB9230}">
                <p14:media r:embed="rIdMedia13"/>
              </p:ext>
            </p:extLst>
          </p:nvPr>
        </p:nvPicPr>
        <p:blipFill>
          <a:blip xmlns:r="http://schemas.openxmlformats.org/officeDocument/2006/relationships" xmlns:a="http://schemas.openxmlformats.org/drawingml/2006/main" r:embed="R6d656427bdfd47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71500" y="1286875"/>
            <a:ext cx="6858000" cy="5027199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3" name="success-rate">
            <a:extLst xmlns:a="http://schemas.openxmlformats.org/drawingml/2006/main">
              <a:ext uri="{FF2B5EF4-FFF2-40B4-BE49-F238E27FC236}">
                <a16:creationId xmlns:a16="http://schemas.microsoft.com/office/drawing/2014/main" id="{4C8D3EE0-5160-4CB4-8CF6-B4FACD63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571625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6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6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86%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BA8491-3C40-43FA-90E6-D29DEB69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812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complete task success</a:t>
            </a:r>
          </a:p>
        </p:txBody>
      </p:sp>
      <p:sp>
        <p:nvSpPr>
          <p:cNvPr id="5" name="hold-error">
            <a:extLst xmlns:a="http://schemas.openxmlformats.org/drawingml/2006/main">
              <a:ext uri="{FF2B5EF4-FFF2-40B4-BE49-F238E27FC236}">
                <a16:creationId xmlns:a16="http://schemas.microsoft.com/office/drawing/2014/main" id="{E451175D-8F75-4D1C-A421-24069EB1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286125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5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10.6 mm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C6CA2B-08ED-4B9D-AEC8-09C753BD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0050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mean minimum reach error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4CF754-F417-4050-8EB8-18A58CAD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95875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91% right grasp | 89% left transfer</a:t>
            </a:r>
          </a:p>
          <a:p xmlns:a="http://schemas.openxmlformats.org/drawingml/2006/main">
            <a:pPr algn="ctr">
              <a:buNone/>
              <a:defRPr sz="18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0.20 m mean throw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B11A8BE7-0AB7-427E-B894-00E94970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865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Week 24 | 13</a:t>
            </a:r>
          </a:p>
        </p:txBody>
      </p:sp>
    </p:spTree>
    <p:extLst>
      <p:ext uri="{BB962C8B-B14F-4D97-AF65-F5344CB8AC3E}">
        <p14:creationId xmlns:p14="http://schemas.microsoft.com/office/powerpoint/2010/main" val="1158511663"/>
      </p:ext>
    </p:extLst>
  </p:cSld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click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500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100000">
                <p:cTn id="7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prevAc="none" nextAc="seek">
              <p:cTn id="8" evtFilter="cancelBubble" nodeType="interactiveSeq" restart="whenNotActive" fill="hold">
                <p:stCondLst>
                  <p:cond delay="0" evt="onClick">
                    <p:tgtEl>
                      <p:spTgt spid="12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3EA7CC9-2658-411E-A996-C873C7A9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The simulation is successful, with clear next steps.</a:t>
            </a:r>
          </a:p>
        </p:txBody>
      </p:sp>
      <p:sp>
        <p:nvSpPr>
          <p:cNvPr id="2" name="outcome-body">
            <a:extLst xmlns:a="http://schemas.openxmlformats.org/drawingml/2006/main">
              <a:ext uri="{FF2B5EF4-FFF2-40B4-BE49-F238E27FC236}">
                <a16:creationId xmlns:a16="http://schemas.microsoft.com/office/drawing/2014/main" id="{816D87B6-A8AD-418A-8158-EC2A6AD7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143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Across 100 unseen episodes, the full sequence succeeds 86%; transfer and left-hand hold succeed 89%; mean peak forward speed is 1.36 m/s.</a:t>
            </a:r>
          </a:p>
        </p:txBody>
      </p:sp>
      <p:sp>
        <p:nvSpPr>
          <p:cNvPr id="3" name="outcome-callout">
            <a:extLst xmlns:a="http://schemas.openxmlformats.org/drawingml/2006/main">
              <a:ext uri="{FF2B5EF4-FFF2-40B4-BE49-F238E27FC236}">
                <a16:creationId xmlns:a16="http://schemas.microsoft.com/office/drawing/2014/main" id="{950CDB9B-2447-40C1-812A-ACB0F629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5143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545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Next: calibrate the wrist adapters and collision meshes, validate hardware limits and latency, then test reducing the grasp stabilizer.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ebe2ca00e6440d"/>
          <a:stretch xmlns:a="http://schemas.openxmlformats.org/drawingml/2006/main"/>
        </p:blipFill>
        <p:spPr>
          <a:xfrm xmlns:a="http://schemas.openxmlformats.org/drawingml/2006/main" flipH="0" flipV="0">
            <a:off x="6572250" y="1760637"/>
            <a:ext cx="4762500" cy="324147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6D4FB7-5E90-4941-B502-BEC1D13C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435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 i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Free-ball release after the left-hand windup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6D9ADE48-D478-4D93-8A8C-965E5FE0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865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Week 24 | 14</a:t>
            </a:r>
          </a:p>
        </p:txBody>
      </p:sp>
    </p:spTree>
    <p:extLst>
      <p:ext uri="{BB962C8B-B14F-4D97-AF65-F5344CB8AC3E}">
        <p14:creationId xmlns:p14="http://schemas.microsoft.com/office/powerpoint/2010/main" val="110715153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F177A31-33A1-4C13-9534-843391A4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References</a:t>
            </a:r>
          </a:p>
        </p:txBody>
      </p:sp>
      <p:sp>
        <p:nvSpPr>
          <p:cNvPr id="2" name="next-steps">
            <a:extLst xmlns:a="http://schemas.openxmlformats.org/drawingml/2006/main">
              <a:ext uri="{FF2B5EF4-FFF2-40B4-BE49-F238E27FC236}">
                <a16:creationId xmlns:a16="http://schemas.microsoft.com/office/drawing/2014/main" id="{CA5549E8-9493-4A7C-9081-AEB971FC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23950"/>
            <a:ext cx="10591800" cy="495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BrainCo Hand. (n.d.). Revo 2 product parameters. https://www.brainco-hz.com/docs/revolimb-hand-dev/en/revo2/parameters.html</a:t>
            </a:r>
          </a:p>
          <a:p xmlns:a="http://schemas.openxmlformats.org/drawingml/2006/main">
            <a:pPr algn="l">
              <a:buNone/>
              <a:defRPr sz="18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 algn="l">
              <a:buNone/>
              <a:defRPr sz="157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BrainCo Hand. (n.d.). Revo 2 download center. https://www.brainco-hz.com/docs/revolimb-hand-dev/en/revo2/download.html</a:t>
            </a:r>
          </a:p>
          <a:p xmlns:a="http://schemas.openxmlformats.org/drawingml/2006/main">
            <a:pPr algn="l">
              <a:buNone/>
              <a:defRPr sz="18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 algn="l">
              <a:buNone/>
              <a:defRPr sz="157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DeepMind. (n.d.). MuJoCo XML reference. https://mujoco.readthedocs.io/en/stable/XMLreference.html</a:t>
            </a:r>
          </a:p>
          <a:p xmlns:a="http://schemas.openxmlformats.org/drawingml/2006/main">
            <a:pPr algn="l">
              <a:buNone/>
              <a:defRPr sz="23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 algn="l">
              <a:buNone/>
              <a:defRPr sz="157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Kingma, D. P., &amp; Ba, J. (2015). Adam: A method for stochastic optimization. International Conference on Learning Representations. https://arxiv.org/abs/1412.6980</a:t>
            </a:r>
          </a:p>
          <a:p xmlns:a="http://schemas.openxmlformats.org/drawingml/2006/main">
            <a:pPr algn="l">
              <a:buNone/>
              <a:defRPr sz="18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 algn="l">
              <a:buNone/>
              <a:defRPr sz="157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Ross, S., Gordon, G. J., &amp; Bagnell, J. A. (2011). A reduction of imitation learning and structured prediction to no-regret online learning. Proceedings of AISTATS, 15, 627–635. https://proceedings.mlr.press/v15/ross11a.html</a:t>
            </a:r>
          </a:p>
          <a:p xmlns:a="http://schemas.openxmlformats.org/drawingml/2006/main">
            <a:pPr algn="l">
              <a:buNone/>
              <a:defRPr sz="18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 algn="l">
              <a:buNone/>
              <a:defRPr sz="157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Unitree Robotics. (n.d.). R1 humanoid robot. https://www.unitree.com/mobile/R1/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014CE0D-FDA9-40C8-B651-A77F5784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865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Week 24 | 15</a:t>
            </a:r>
          </a:p>
        </p:txBody>
      </p:sp>
    </p:spTree>
    <p:extLst>
      <p:ext uri="{BB962C8B-B14F-4D97-AF65-F5344CB8AC3E}">
        <p14:creationId xmlns:p14="http://schemas.microsoft.com/office/powerpoint/2010/main" val="4760601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2026-08-08T17:42:43.2710000Z</dcterms:created>
  <dcterms:modified xsi:type="dcterms:W3CDTF">2026-08-08T17:42:43.2710000Z</dcterms:modified>
</coreProperties>
</file>