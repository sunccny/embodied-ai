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media/untrained_policy_demo.mp4" ContentType="video/mp4"/>
  <Override PartName="/ppt/media/teacher_policy_demo.mp4" ContentType="video/mp4"/>
  <Override PartName="/ppt/media/neural_policy_demo.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45c5ae3c4a410c" /><Relationship Type="http://schemas.openxmlformats.org/officeDocument/2006/relationships/extended-properties" Target="/docProps/app.xml" Id="R8a8c764345544926" /><Relationship Type="http://schemas.openxmlformats.org/officeDocument/2006/relationships/officeDocument" Target="/ppt/presentation.xml" Id="Rd0c8776b1bb44a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3e64d0e14e4d70"/>
  </p:sldMasterIdLst>
  <p:notesMasterIdLst>
    <p:notesMasterId xmlns:r="http://schemas.openxmlformats.org/officeDocument/2006/relationships" r:id="R3c543db92eb34b06"/>
  </p:notesMasterIdLst>
  <p:sldIdLst>
    <p:sldId xmlns:r="http://schemas.openxmlformats.org/officeDocument/2006/relationships" id="256" r:id="R503dec05c19b45cc"/>
    <p:sldId xmlns:r="http://schemas.openxmlformats.org/officeDocument/2006/relationships" id="257" r:id="R95a4712bd65d4432"/>
    <p:sldId xmlns:r="http://schemas.openxmlformats.org/officeDocument/2006/relationships" id="258" r:id="R1ba226bca54c4da8"/>
    <p:sldId xmlns:r="http://schemas.openxmlformats.org/officeDocument/2006/relationships" id="259" r:id="R6c6f19a065634ed0"/>
    <p:sldId xmlns:r="http://schemas.openxmlformats.org/officeDocument/2006/relationships" id="260" r:id="Rea6e285835dd47b2"/>
    <p:sldId xmlns:r="http://schemas.openxmlformats.org/officeDocument/2006/relationships" id="261" r:id="R9bcd6851abb34e33"/>
    <p:sldId xmlns:r="http://schemas.openxmlformats.org/officeDocument/2006/relationships" id="262" r:id="R273b60a20ef64d11"/>
    <p:sldId xmlns:r="http://schemas.openxmlformats.org/officeDocument/2006/relationships" id="263" r:id="Rbf0e50ad1b41451b"/>
    <p:sldId xmlns:r="http://schemas.openxmlformats.org/officeDocument/2006/relationships" id="264" r:id="R7daaf0ce8bf6440e"/>
    <p:sldId xmlns:r="http://schemas.openxmlformats.org/officeDocument/2006/relationships" id="265" r:id="Ra422c4defe484112"/>
    <p:sldId xmlns:r="http://schemas.openxmlformats.org/officeDocument/2006/relationships" id="266" r:id="R5a9d8fe38bc14224"/>
    <p:sldId xmlns:r="http://schemas.openxmlformats.org/officeDocument/2006/relationships" id="267" r:id="R5981bbc72da54f85"/>
    <p:sldId xmlns:r="http://schemas.openxmlformats.org/officeDocument/2006/relationships" id="268" r:id="R77b9a4e15b4545b9"/>
    <p:sldId xmlns:r="http://schemas.openxmlformats.org/officeDocument/2006/relationships" id="269" r:id="R0f4b3e888f6b486a"/>
    <p:sldId xmlns:r="http://schemas.openxmlformats.org/officeDocument/2006/relationships" id="270" r:id="R2233b3fa2f0141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8997ddf42b49d3" /><Relationship Type="http://schemas.openxmlformats.org/officeDocument/2006/relationships/slideMaster" Target="/ppt/slideMasters/slideMaster1.xml" Id="Re03e64d0e14e4d70" /><Relationship Type="http://schemas.openxmlformats.org/officeDocument/2006/relationships/notesMaster" Target="/ppt/notesMasters/notesMaster1.xml" Id="R3c543db92eb34b06" /><Relationship Type="http://schemas.openxmlformats.org/officeDocument/2006/relationships/presProps" Target="/ppt/presProps.xml" Id="R95420207ecfa40d1" /><Relationship Type="http://schemas.openxmlformats.org/officeDocument/2006/relationships/tableStyles" Target="/ppt/tableStyles.xml" Id="R29b11d1fb6a74bb0" /><Relationship Type="http://schemas.openxmlformats.org/officeDocument/2006/relationships/slide" Target="/ppt/slides/slide1.xml" Id="R503dec05c19b45cc" /><Relationship Type="http://schemas.openxmlformats.org/officeDocument/2006/relationships/slide" Target="/ppt/slides/slide2.xml" Id="R95a4712bd65d4432" /><Relationship Type="http://schemas.openxmlformats.org/officeDocument/2006/relationships/slide" Target="/ppt/slides/slide3.xml" Id="R1ba226bca54c4da8" /><Relationship Type="http://schemas.openxmlformats.org/officeDocument/2006/relationships/slide" Target="/ppt/slides/slide4.xml" Id="R6c6f19a065634ed0" /><Relationship Type="http://schemas.openxmlformats.org/officeDocument/2006/relationships/slide" Target="/ppt/slides/slide5.xml" Id="Rea6e285835dd47b2" /><Relationship Type="http://schemas.openxmlformats.org/officeDocument/2006/relationships/slide" Target="/ppt/slides/slide6.xml" Id="R9bcd6851abb34e33" /><Relationship Type="http://schemas.openxmlformats.org/officeDocument/2006/relationships/slide" Target="/ppt/slides/slide7.xml" Id="R273b60a20ef64d11" /><Relationship Type="http://schemas.openxmlformats.org/officeDocument/2006/relationships/slide" Target="/ppt/slides/slide8.xml" Id="Rbf0e50ad1b41451b" /><Relationship Type="http://schemas.openxmlformats.org/officeDocument/2006/relationships/slide" Target="/ppt/slides/slide9.xml" Id="R7daaf0ce8bf6440e" /><Relationship Type="http://schemas.openxmlformats.org/officeDocument/2006/relationships/slide" Target="/ppt/slides/slide10.xml" Id="Ra422c4defe484112" /><Relationship Type="http://schemas.openxmlformats.org/officeDocument/2006/relationships/slide" Target="/ppt/slides/slide11.xml" Id="R5a9d8fe38bc14224" /><Relationship Type="http://schemas.openxmlformats.org/officeDocument/2006/relationships/slide" Target="/ppt/slides/slide12.xml" Id="R5981bbc72da54f85" /><Relationship Type="http://schemas.openxmlformats.org/officeDocument/2006/relationships/slide" Target="/ppt/slides/slide13.xml" Id="R77b9a4e15b4545b9" /><Relationship Type="http://schemas.openxmlformats.org/officeDocument/2006/relationships/slide" Target="/ppt/slides/slide14.xml" Id="R0f4b3e888f6b486a" /><Relationship Type="http://schemas.openxmlformats.org/officeDocument/2006/relationships/slide" Target="/ppt/slides/slide15.xml" Id="R2233b3fa2f0141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026cbfd7f343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1789880b9d4d75" /><Relationship Type="http://schemas.openxmlformats.org/officeDocument/2006/relationships/notesMaster" Target="/ppt/notesMasters/notesMaster1.xml" Id="R91c97fb0aa9a48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8ef60154214480" /><Relationship Type="http://schemas.openxmlformats.org/officeDocument/2006/relationships/notesMaster" Target="/ppt/notesMasters/notesMaster1.xml" Id="Rd2043577a07546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7862c6405f4ffd" /><Relationship Type="http://schemas.openxmlformats.org/officeDocument/2006/relationships/notesMaster" Target="/ppt/notesMasters/notesMaster1.xml" Id="Re20e1350559241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7953896e094ca0" /><Relationship Type="http://schemas.openxmlformats.org/officeDocument/2006/relationships/notesMaster" Target="/ppt/notesMasters/notesMaster1.xml" Id="R5742963625d841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eb184f288c4afc" /><Relationship Type="http://schemas.openxmlformats.org/officeDocument/2006/relationships/notesMaster" Target="/ppt/notesMasters/notesMaster1.xml" Id="R522a8295e49e45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923ef8be5644a8" /><Relationship Type="http://schemas.openxmlformats.org/officeDocument/2006/relationships/notesMaster" Target="/ppt/notesMasters/notesMaster1.xml" Id="R32518c929c7c44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e8d97a296e46b1" /><Relationship Type="http://schemas.openxmlformats.org/officeDocument/2006/relationships/notesMaster" Target="/ppt/notesMasters/notesMaster1.xml" Id="Rf5b5fe02b9ef44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f076d4c0c84159" /><Relationship Type="http://schemas.openxmlformats.org/officeDocument/2006/relationships/notesMaster" Target="/ppt/notesMasters/notesMaster1.xml" Id="Rc2cb439bd91c49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690341853f4e31" /><Relationship Type="http://schemas.openxmlformats.org/officeDocument/2006/relationships/notesMaster" Target="/ppt/notesMasters/notesMaster1.xml" Id="Rac1be1a7a1c041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8f776d11574f97" /><Relationship Type="http://schemas.openxmlformats.org/officeDocument/2006/relationships/notesMaster" Target="/ppt/notesMasters/notesMaster1.xml" Id="R94cb2050f8454e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bce4d2719b43a5" /><Relationship Type="http://schemas.openxmlformats.org/officeDocument/2006/relationships/notesMaster" Target="/ppt/notesMasters/notesMaster1.xml" Id="R7b59b787adbf45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4f233f187640b4" /><Relationship Type="http://schemas.openxmlformats.org/officeDocument/2006/relationships/notesMaster" Target="/ppt/notesMasters/notesMaster1.xml" Id="R493f36a93dd44a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1b0ddae0ae42d5" /><Relationship Type="http://schemas.openxmlformats.org/officeDocument/2006/relationships/notesMaster" Target="/ppt/notesMasters/notesMaster1.xml" Id="R3497fc099c9d40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74bc9f70274afc" /><Relationship Type="http://schemas.openxmlformats.org/officeDocument/2006/relationships/notesMaster" Target="/ppt/notesMasters/notesMaster1.xml" Id="Rf5ffe2ebb42b4e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f3b48cf4744190" /><Relationship Type="http://schemas.openxmlformats.org/officeDocument/2006/relationships/notesMaster" Target="/ppt/notesMasters/notesMaster1.xml" Id="Rf7f9ea37723048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research/README.md</a:t>
            </a:r>
          </a:p>
          <a:p xmlns:a="http://schemas.openxmlformats.org/drawingml/2006/main">
            <a:r>
              <a:t>- /Users/cesarpascal/Desktop/week 23 research/results/training_summary.json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research/model/r1_revo2_reach_throw.xml</a:t>
            </a:r>
          </a:p>
          <a:p xmlns:a="http://schemas.openxmlformats.org/drawingml/2006/main">
            <a:r>
              <a:t>- /Users/cesarpascal/Desktop/week 23 research/scripts/r1_revo2_env.py</a:t>
            </a:r>
          </a:p>
          <a:p xmlns:a="http://schemas.openxmlformats.org/drawingml/2006/main">
            <a:r>
              <a:t>- https://www.brainco-hz.com/docs/revolimb-hand/en/revo2/parameters.html</a:t>
            </a:r>
          </a:p>
          <a:p xmlns:a="http://schemas.openxmlformats.org/drawingml/2006/main">
            <a:r>
              <a:t>- https://github.com/unitreerobotics/unitree_mujoco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research/scripts/r1_revo2_env.py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research/scripts/r1_revo2_env.py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research/scripts/neural_policy.py</a:t>
            </a:r>
          </a:p>
          <a:p xmlns:a="http://schemas.openxmlformats.org/drawingml/2006/main">
            <a:r>
              <a:t>- /Users/cesarpascal/Desktop/week 23 research/results/training_summary.json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research/scripts/neural_policy.py</a:t>
            </a:r>
          </a:p>
          <a:p xmlns:a="http://schemas.openxmlformats.org/drawingml/2006/main">
            <a:r>
              <a:t>- /Users/cesarpascal/Desktop/week 23 research/media/policy_windup.png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23 research/scripts/render_policy.py</a:t>
            </a:r>
          </a:p>
          <a:p xmlns:a="http://schemas.openxmlformats.org/drawingml/2006/main">
            <a:r>
              <a:t>- /Users/cesarpascal/Documents/Training/week 23 research/scripts/neural_policy.py</a:t>
            </a:r>
          </a:p>
          <a:p xmlns:a="http://schemas.openxmlformats.org/drawingml/2006/main">
            <a:r>
              <a:t>- /Users/cesarpascal/Documents/Training/week 23 research/results/untrained_demo_metrics.json</a:t>
            </a:r>
          </a:p>
          <a:p xmlns:a="http://schemas.openxmlformats.org/drawingml/2006/main">
            <a:r>
              <a:t>- /Users/cesarpascal/Documents/Training/week 23 research/media/untrained_policy_demo.mp4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research/scripts/r1_revo2_env.py</a:t>
            </a:r>
          </a:p>
          <a:p xmlns:a="http://schemas.openxmlformats.org/drawingml/2006/main">
            <a:r>
              <a:t>- /Users/cesarpascal/Desktop/week 23 research/results/training_summary.json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23 research/scripts/render_policy.py</a:t>
            </a:r>
          </a:p>
          <a:p xmlns:a="http://schemas.openxmlformats.org/drawingml/2006/main">
            <a:r>
              <a:t>- /Users/cesarpascal/Documents/Training/week 23 research/scripts/r1_revo2_env.py</a:t>
            </a:r>
          </a:p>
          <a:p xmlns:a="http://schemas.openxmlformats.org/drawingml/2006/main">
            <a:r>
              <a:t>- /Users/cesarpascal/Documents/Training/week 23 research/results/teacher_demo_metrics.json</a:t>
            </a:r>
          </a:p>
          <a:p xmlns:a="http://schemas.openxmlformats.org/drawingml/2006/main">
            <a:r>
              <a:t>- /Users/cesarpascal/Documents/Training/week 23 research/media/teacher_policy_demo.mp4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research/scripts/train_policy.py</a:t>
            </a:r>
          </a:p>
          <a:p xmlns:a="http://schemas.openxmlformats.org/drawingml/2006/main">
            <a:r>
              <a:t>- /Users/cesarpascal/Desktop/week 23 research/results/training_summary.json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research/scripts/train_policy.py</a:t>
            </a:r>
          </a:p>
          <a:p xmlns:a="http://schemas.openxmlformats.org/drawingml/2006/main">
            <a:r>
              <a:t>- /Users/cesarpascal/Desktop/week 23 research/scripts/neural_policy.py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research/scripts/train_policy.py</a:t>
            </a:r>
          </a:p>
          <a:p xmlns:a="http://schemas.openxmlformats.org/drawingml/2006/main">
            <a:r>
              <a:t>- https://proceedings.mlr.press/v15/ross11a.html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/Users/cesarpascal/Desktop/week 23 research/scripts/r1_revo2_env.py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/Users/cesarpascal/Documents/Training/week 23 research/results/final_policy_evaluation.json</a:t>
            </a:r>
          </a:p>
          <a:p xmlns:a="http://schemas.openxmlformats.org/drawingml/2006/main">
            <a:r>
              <a:t>- /Users/cesarpascal/Documents/Training/week 23 research/media/policy_grasp.png</a:t>
            </a:r>
          </a:p>
          <a:p xmlns:a="http://schemas.openxmlformats.org/drawingml/2006/main">
            <a:r>
              <a:t>- /Users/cesarpascal/Documents/Training/week 23 research/media/neural_policy_demo.mp4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https://www.brainco-hz.com/docs/revolimb-hand/en/revo2/parameters.html</a:t>
            </a:r>
          </a:p>
          <a:p xmlns:a="http://schemas.openxmlformats.org/drawingml/2006/main">
            <a:r>
              <a:t>- https://www.brainco-hz.com/docs/revolimb-hand-dev/en/revo2/download.html</a:t>
            </a:r>
          </a:p>
          <a:p xmlns:a="http://schemas.openxmlformats.org/drawingml/2006/main">
            <a:r>
              <a:t>- https://mujoco.readthedocs.io/en/3.6.0/XMLreference.html</a:t>
            </a:r>
          </a:p>
          <a:p xmlns:a="http://schemas.openxmlformats.org/drawingml/2006/main">
            <a:r>
              <a:t>- https://github.com/unitreerobotics/unitree_mujoco</a:t>
            </a:r>
          </a:p>
          <a:p xmlns:a="http://schemas.openxmlformats.org/drawingml/2006/main">
            <a:r>
              <a:t>- https://github.com/unitreerobotics/unitree_rl_mjlab</a:t>
            </a:r>
          </a:p>
          <a:p xmlns:a="http://schemas.openxmlformats.org/drawingml/2006/main">
            <a:r>
              <a:t>- https://proceedings.mlr.press/v15/ross11a.html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120dbc4d542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899251796b4ad0" /><Relationship Type="http://schemas.openxmlformats.org/officeDocument/2006/relationships/slideLayout" Target="/ppt/slideLayouts/slideLayout1.xml" Id="Rc343335e4f5c4a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43335e4f5c4a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4d65f83d0402a" /><Relationship Type="http://schemas.openxmlformats.org/officeDocument/2006/relationships/notesSlide" Target="/ppt/notesSlides/notesSlide1.xml" Id="Rb40a45a43a3e48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d5aa3a6e54852" /><Relationship Type="http://schemas.openxmlformats.org/officeDocument/2006/relationships/image" Target="/ppt/media/image.png" Id="Rd326d7619c294944" /><Relationship Type="http://schemas.openxmlformats.org/officeDocument/2006/relationships/notesSlide" Target="/ppt/notesSlides/notesSlide2.xml" Id="Rbe785c19594d44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d0f6ec35c4a7d" /><Relationship Type="http://schemas.openxmlformats.org/officeDocument/2006/relationships/notesSlide" Target="/ppt/notesSlides/notesSlide3.xml" Id="R4891f635c11743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80eb983734dd0" /><Relationship Type="http://schemas.openxmlformats.org/officeDocument/2006/relationships/notesSlide" Target="/ppt/notesSlides/notesSlide4.xml" Id="R11ff9350e54249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893edda294197" /><Relationship Type="http://schemas.openxmlformats.org/officeDocument/2006/relationships/notesSlide" Target="/ppt/notesSlides/notesSlide5.xml" Id="R29773eee75654d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efee744254581" /><Relationship Type="http://schemas.openxmlformats.org/officeDocument/2006/relationships/image" Target="/ppt/media/image.png" Id="R7a8294c65b5c439b" /><Relationship Type="http://schemas.openxmlformats.org/officeDocument/2006/relationships/notesSlide" Target="/ppt/notesSlides/notesSlide6.xml" Id="R130941e4461648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c36954db94b39" /><Relationship Type="http://schemas.openxmlformats.org/officeDocument/2006/relationships/image" Target="/ppt/media/image2.png" Id="Reea8f50f3040423c" /><Relationship Type="http://schemas.openxmlformats.org/officeDocument/2006/relationships/notesSlide" Target="/ppt/notesSlides/notesSlide7.xml" Id="R1d576f1f15da4d63" /><Relationship Type="http://schemas.openxmlformats.org/officeDocument/2006/relationships/image" Target="/ppt/media/untrained_policy_poster.png" Id="rIdPoster7"/><Relationship Type="http://schemas.openxmlformats.org/officeDocument/2006/relationships/video" Target="/ppt/media/untrained_policy_demo.mp4" Id="rIdVideo7"/><Relationship Type="http://schemas.microsoft.com/office/2007/relationships/media" Target="/ppt/media/untrained_policy_demo.mp4" Id="rIdMedia7"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b6e9a5a444bdd" /><Relationship Type="http://schemas.openxmlformats.org/officeDocument/2006/relationships/notesSlide" Target="/ppt/notesSlides/notesSlide8.xml" Id="R39dd04cfb78c49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efcab9a964942" /><Relationship Type="http://schemas.openxmlformats.org/officeDocument/2006/relationships/image" Target="/ppt/media/image2.png" Id="R6d5a20c473be46d8" /><Relationship Type="http://schemas.openxmlformats.org/officeDocument/2006/relationships/notesSlide" Target="/ppt/notesSlides/notesSlide9.xml" Id="Rcda4767aff9d4786" /><Relationship Type="http://schemas.openxmlformats.org/officeDocument/2006/relationships/image" Target="/ppt/media/teacher_policy_poster.png" Id="rIdPoster9"/><Relationship Type="http://schemas.openxmlformats.org/officeDocument/2006/relationships/video" Target="/ppt/media/teacher_policy_demo.mp4" Id="rIdVideo9"/><Relationship Type="http://schemas.microsoft.com/office/2007/relationships/media" Target="/ppt/media/teacher_policy_demo.mp4" Id="rIdMedia9"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10fbc65054cc8" /><Relationship Type="http://schemas.openxmlformats.org/officeDocument/2006/relationships/notesSlide" Target="/ppt/notesSlides/notesSlide10.xml" Id="Rf769f8f7dbab41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d042fd01f470b" /><Relationship Type="http://schemas.openxmlformats.org/officeDocument/2006/relationships/notesSlide" Target="/ppt/notesSlides/notesSlide11.xml" Id="R2ce72f2b85044c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d3f5b51d6470d" /><Relationship Type="http://schemas.openxmlformats.org/officeDocument/2006/relationships/notesSlide" Target="/ppt/notesSlides/notesSlide12.xml" Id="Rd53be0644f1244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e8aaddf60494c" /><Relationship Type="http://schemas.openxmlformats.org/officeDocument/2006/relationships/notesSlide" Target="/ppt/notesSlides/notesSlide13.xml" Id="Rc38ce7637c5d49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a285659f74f45" /><Relationship Type="http://schemas.openxmlformats.org/officeDocument/2006/relationships/image" Target="/ppt/media/image2.png" Id="R6d3b02ba84e04506" /><Relationship Type="http://schemas.openxmlformats.org/officeDocument/2006/relationships/notesSlide" Target="/ppt/notesSlides/notesSlide14.xml" Id="R2aa49c483e7b4b46" /><Relationship Type="http://schemas.openxmlformats.org/officeDocument/2006/relationships/image" Target="/ppt/media/trained_policy_poster.png" Id="rIdPoster14"/><Relationship Type="http://schemas.openxmlformats.org/officeDocument/2006/relationships/video" Target="/ppt/media/neural_policy_demo.mp4" Id="rIdVideo14"/><Relationship Type="http://schemas.microsoft.com/office/2007/relationships/media" Target="/ppt/media/neural_policy_demo.mp4" Id="rIdMedia14"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bda9869214ebe" /><Relationship Type="http://schemas.openxmlformats.org/officeDocument/2006/relationships/notesSlide" Target="/ppt/notesSlides/notesSlide15.xml" Id="Rb5a88c3451774c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week-title">
            <a:extLst xmlns:a="http://schemas.openxmlformats.org/drawingml/2006/main">
              <a:ext uri="{FF2B5EF4-FFF2-40B4-BE49-F238E27FC236}">
                <a16:creationId xmlns:a16="http://schemas.microsoft.com/office/drawing/2014/main" id="{EA03E4E4-7525-42F3-A5AA-8D615AC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WEEK 23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1B08F8-B1DC-4635-8C31-12AD6E64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How the neural policy and its training pipeline work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878C14DA-53BB-47FA-A68F-BD47B88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Cesar A. Pascal Vasquez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30E2CB-9F40-4014-BE03-8C34CD1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1</a:t>
            </a:r>
          </a:p>
        </p:txBody>
      </p:sp>
    </p:spTree>
    <p:extLst>
      <p:ext uri="{BB962C8B-B14F-4D97-AF65-F5344CB8AC3E}">
        <p14:creationId xmlns:p14="http://schemas.microsoft.com/office/powerpoint/2010/main" val="1620139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EA7CC9-2658-411E-A996-C873C7A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controller coordinates 11 actuators on the R1.</a:t>
            </a:r>
          </a:p>
        </p:txBody>
      </p:sp>
      <p:sp>
        <p:nvSpPr>
          <p:cNvPr id="2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816D87B6-A8AD-418A-8158-EC2A6AD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Five right-arm joints position the wrist; six Revo 2 joints form the grasp. Every other robot joint stays in the standing pose.</a:t>
            </a:r>
          </a:p>
        </p:txBody>
      </p:sp>
      <p:sp>
        <p:nvSpPr>
          <p:cNvPr id="3" name="outcome-callout">
            <a:extLst xmlns:a="http://schemas.openxmlformats.org/drawingml/2006/main">
              <a:ext uri="{FF2B5EF4-FFF2-40B4-BE49-F238E27FC236}">
                <a16:creationId xmlns:a16="http://schemas.microsoft.com/office/drawing/2014/main" id="{950CDB9B-2447-40C1-812A-ACB0F62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Actions are normalized to –1…+1, then converted to joint targets inside MuJoCo at 40 Hz.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6d7619c294944"/>
          <a:stretch xmlns:a="http://schemas.openxmlformats.org/drawingml/2006/main"/>
        </p:blipFill>
        <p:spPr>
          <a:xfrm xmlns:a="http://schemas.openxmlformats.org/drawingml/2006/main" flipH="0" flipV="0">
            <a:off x="6572250" y="1760637"/>
            <a:ext cx="4762500" cy="32414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D4FB7-5E90-4941-B502-BEC1D13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R1 + Revo 2 manipulation model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D9ADE48-D478-4D93-8A8C-965E5FE0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2</a:t>
            </a:r>
          </a:p>
        </p:txBody>
      </p:sp>
    </p:spTree>
    <p:extLst>
      <p:ext uri="{BB962C8B-B14F-4D97-AF65-F5344CB8AC3E}">
        <p14:creationId xmlns:p14="http://schemas.microsoft.com/office/powerpoint/2010/main" val="1107151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task builds a stable grasp before the throw.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 xmlns:a="http://schemas.openxmlformats.org/drawingml/2006/main"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Reach with an open hand (0.00–1.45 s).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 xmlns:a="http://schemas.openxmlformats.org/drawingml/2006/main"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Enable contact, close the fingers, and secure the ball.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 xmlns:a="http://schemas.openxmlformats.org/drawingml/2006/main"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Release the fixture, then lift and wind up (2.90–3.80 s).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 xmlns:a="http://schemas.openxmlformats.org/drawingml/2006/main"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Open the hand and finish the throw (3.88–4.30 s).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A5B4-5337-4794-83F4-EB0702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5.30-s episode | 40 Hz control | six task phases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3D0C70F-75E1-4FC8-9B85-23EC88B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3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BAC05-2014-4342-9B5B-8C51DCB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Each step uses 51 normalized observations.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F790-4D7C-4693-9CA1-DC15D9A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TASK (13)</a:t>
            </a:r>
          </a:p>
        </p:txBody>
      </p:sp>
      <p:sp>
        <p:nvSpPr>
          <p:cNvPr id="3" name="policy-inputs">
            <a:extLst xmlns:a="http://schemas.openxmlformats.org/drawingml/2006/main">
              <a:ext uri="{FF2B5EF4-FFF2-40B4-BE49-F238E27FC236}">
                <a16:creationId xmlns:a16="http://schemas.microsoft.com/office/drawing/2014/main" id="{0010DA2C-F188-4B0A-BB03-20F01BD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Time + phase: 7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Ball–palm error: 3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Target–ball error: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F8B93-8088-4B93-95FB-A6DBB38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ROBOT STATE (27)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5B058-7255-4253-9E92-A5145C4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8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Palm + ball motion: 9</a:t>
            </a:r>
          </a:p>
          <a:p xmlns:a="http://schemas.openxmlformats.org/drawingml/2006/main">
            <a:pPr algn="ctr">
              <a:buNone/>
              <a:def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Arm state: 10</a:t>
            </a:r>
          </a:p>
          <a:p xmlns:a="http://schemas.openxmlformats.org/drawingml/2006/main">
            <a:pPr algn="ctr">
              <a:buNone/>
              <a:def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Hand + contacts: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5B75-3F35-4EA0-B015-959F7FC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MEMORY (11)</a:t>
            </a:r>
          </a:p>
        </p:txBody>
      </p:sp>
      <p:sp>
        <p:nvSpPr>
          <p:cNvPr id="7" name="policy-outputs">
            <a:extLst xmlns:a="http://schemas.openxmlformats.org/drawingml/2006/main">
              <a:ext uri="{FF2B5EF4-FFF2-40B4-BE49-F238E27FC236}">
                <a16:creationId xmlns:a16="http://schemas.microsoft.com/office/drawing/2014/main" id="{C0FA5EF2-ACC8-4373-824E-13262C1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Previous 11 commands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reveal delay and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action history</a:t>
            </a:r>
          </a:p>
        </p:txBody>
      </p:sp>
      <p:sp>
        <p:nvSpPr>
          <p:cNvPr id="8" name="policy-flow">
            <a:extLst xmlns:a="http://schemas.openxmlformats.org/drawingml/2006/main">
              <a:ext uri="{FF2B5EF4-FFF2-40B4-BE49-F238E27FC236}">
                <a16:creationId xmlns:a16="http://schemas.microsoft.com/office/drawing/2014/main" id="{E77996CB-2894-4F99-8B15-A3B6B2A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13 TASK   +   27 ROBOT   +   11 MEMORY   =   51 OBSERVATIONS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9ACB5E6-3FA5-400B-A678-F07D140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4</a:t>
            </a:r>
          </a:p>
        </p:txBody>
      </p:sp>
    </p:spTree>
    <p:extLst>
      <p:ext uri="{BB962C8B-B14F-4D97-AF65-F5344CB8AC3E}">
        <p14:creationId xmlns:p14="http://schemas.microsoft.com/office/powerpoint/2010/main" val="12502376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BAC05-2014-4342-9B5B-8C51DCB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network learns corrections around a safe motion.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F790-4D7C-4693-9CA1-DC15D9A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</p:txBody>
      </p:sp>
      <p:sp>
        <p:nvSpPr>
          <p:cNvPr id="3" name="policy-inputs">
            <a:extLst xmlns:a="http://schemas.openxmlformats.org/drawingml/2006/main">
              <a:ext uri="{FF2B5EF4-FFF2-40B4-BE49-F238E27FC236}">
                <a16:creationId xmlns:a16="http://schemas.microsoft.com/office/drawing/2014/main" id="{0010DA2C-F188-4B0A-BB03-20F01BD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51 normalized observations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Mean/std from teacher data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Clipped noisy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F8B93-8088-4B93-95FB-A6DBB38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TWO-LAYER MLP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5B058-7255-4253-9E92-A5145C4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128 tanh units per layer</a:t>
            </a:r>
          </a:p>
          <a:p xmlns:a="http://schemas.openxmlformats.org/drawingml/2006/main">
            <a:pPr algn="ctr">
              <a:buNone/>
              <a:def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11 tanh 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5B75-3F35-4EA0-B015-959F7FC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RESIDUAL</a:t>
            </a:r>
          </a:p>
        </p:txBody>
      </p:sp>
      <p:sp>
        <p:nvSpPr>
          <p:cNvPr id="7" name="policy-outputs">
            <a:extLst xmlns:a="http://schemas.openxmlformats.org/drawingml/2006/main">
              <a:ext uri="{FF2B5EF4-FFF2-40B4-BE49-F238E27FC236}">
                <a16:creationId xmlns:a16="http://schemas.microsoft.com/office/drawing/2014/main" id="{C0FA5EF2-ACC8-4373-824E-13262C1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Arm correction: ±0.25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Hand correction: ±0.08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Final command clipped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–1 to +1</a:t>
            </a:r>
          </a:p>
        </p:txBody>
      </p:sp>
      <p:sp>
        <p:nvSpPr>
          <p:cNvPr id="8" name="policy-flow">
            <a:extLst xmlns:a="http://schemas.openxmlformats.org/drawingml/2006/main">
              <a:ext uri="{FF2B5EF4-FFF2-40B4-BE49-F238E27FC236}">
                <a16:creationId xmlns:a16="http://schemas.microsoft.com/office/drawing/2014/main" id="{E77996CB-2894-4F99-8B15-A3B6B2A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NOMINAL ACTION   +   SCALED NETWORK OUTPUT   →   FINAL ACTION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9ACB5E6-3FA5-400B-A678-F07D140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5</a:t>
            </a:r>
          </a:p>
        </p:txBody>
      </p:sp>
    </p:spTree>
    <p:extLst>
      <p:ext uri="{BB962C8B-B14F-4D97-AF65-F5344CB8AC3E}">
        <p14:creationId xmlns:p14="http://schemas.microsoft.com/office/powerpoint/2010/main" val="1250237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EA7CC9-2658-411E-A996-C873C7A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 nominal trajectory provides the basic motion.</a:t>
            </a:r>
          </a:p>
        </p:txBody>
      </p:sp>
      <p:sp>
        <p:nvSpPr>
          <p:cNvPr id="2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816D87B6-A8AD-418A-8158-EC2A6AD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Five arm waypoints—home, reach, lift, windup, and throw—are blended with smoothstep timing.</a:t>
            </a:r>
          </a:p>
        </p:txBody>
      </p:sp>
      <p:sp>
        <p:nvSpPr>
          <p:cNvPr id="3" name="outcome-callout">
            <a:extLst xmlns:a="http://schemas.openxmlformats.org/drawingml/2006/main">
              <a:ext uri="{FF2B5EF4-FFF2-40B4-BE49-F238E27FC236}">
                <a16:creationId xmlns:a16="http://schemas.microsoft.com/office/drawing/2014/main" id="{950CDB9B-2447-40C1-812A-ACB0F62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The hand closes from 1.37 to 3.88 s, then opens over 0.10 s. The network adjusts this plan instead of replacing it.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294c65b5c439b"/>
          <a:stretch xmlns:a="http://schemas.openxmlformats.org/drawingml/2006/main"/>
        </p:blipFill>
        <p:spPr>
          <a:xfrm xmlns:a="http://schemas.openxmlformats.org/drawingml/2006/main" flipH="0" flipV="0">
            <a:off x="6572250" y="1760637"/>
            <a:ext cx="4762500" cy="32414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D4FB7-5E90-4941-B502-BEC1D13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Nominal windup before the learned correction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D9ADE48-D478-4D93-8A8C-965E5FE0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6</a:t>
            </a:r>
          </a:p>
        </p:txBody>
      </p:sp>
    </p:spTree>
    <p:extLst>
      <p:ext uri="{BB962C8B-B14F-4D97-AF65-F5344CB8AC3E}">
        <p14:creationId xmlns:p14="http://schemas.microsoft.com/office/powerpoint/2010/main" val="1107151533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DBE3F-C285-4A18-AE6A-58FCB252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Before training, the network loses the ball.</a:t>
            </a:r>
          </a:p>
        </p:txBody>
      </p:sp>
      <p:pic>
        <p:nvPicPr>
          <p:cNvPr id="12" name="untrained_policy_demo.mp4" descr="untrained_policy_demo.mp4"/>
          <p:cNvPicPr>
            <a:picLocks noChangeAspect="0"/>
          </p:cNvPicPr>
          <p:nvPr>
            <a:videoFile r:link="rIdVideo7"/>
            <p:extLst>
              <p:ext uri="{DAA4B4D4-6D71-4841-9C94-3DE7FCFB9230}">
                <p14:media r:embed="rIdMedia7"/>
              </p:ext>
            </p:extLst>
          </p:nvPr>
        </p:nvPicPr>
        <p:blipFill>
          <a:blip r:embed="rIdPoster7">
            <a:extLst/>
          </a:blip>
          <a:stretch>
            <a:fillRect/>
          </a:stretch>
        </p:blipFill>
        <p:spPr>
          <a:xfrm>
            <a:off x="571500" y="1286875"/>
            <a:ext cx="6858000" cy="502719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uccess-rate">
            <a:extLst xmlns:a="http://schemas.openxmlformats.org/drawingml/2006/main">
              <a:ext uri="{FF2B5EF4-FFF2-40B4-BE49-F238E27FC236}">
                <a16:creationId xmlns:a16="http://schemas.microsoft.com/office/drawing/2014/main" id="{4C8D3EE0-5160-4CB4-8CF6-B4FACD6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A8491-3C40-43FA-90E6-D29DEB6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success on this episode</a:t>
            </a:r>
          </a:p>
        </p:txBody>
      </p:sp>
      <p:sp>
        <p:nvSpPr>
          <p:cNvPr id="5" name="hold-error">
            <a:extLst xmlns:a="http://schemas.openxmlformats.org/drawingml/2006/main">
              <a:ext uri="{FF2B5EF4-FFF2-40B4-BE49-F238E27FC236}">
                <a16:creationId xmlns:a16="http://schemas.microsoft.com/office/drawing/2014/main" id="{E451175D-8F75-4D1C-A421-24069EB1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35.0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6CA2B-08ED-4B9D-AEC8-09C753B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 minimum reach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CF754-F417-4050-8EB8-18A58CA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reached | no grasp | no hold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ball dropped at 3.42 s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11A8BE7-0AB7-427E-B894-00E9497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7</a:t>
            </a:r>
          </a:p>
        </p:txBody>
      </p:sp>
    </p:spTree>
    <p:extLst>
      <p:ext uri="{BB962C8B-B14F-4D97-AF65-F5344CB8AC3E}">
        <p14:creationId xmlns:p14="http://schemas.microsoft.com/office/powerpoint/2010/main" val="1158511663"/>
      </p:ext>
    </p:extLst>
  </p:cSld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2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teacher is a scripted expert, not a trained network.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 xmlns:a="http://schemas.openxmlformats.org/drawingml/2006/main"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Read the exact randomized ball and target positions.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 xmlns:a="http://schemas.openxmlformats.org/drawingml/2006/main"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Use damped-least-squares IK to solve four arm waypoints.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 xmlns:a="http://schemas.openxmlformats.org/drawingml/2006/main"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Interpolate the waypoints and apply a timed power grasp.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 xmlns:a="http://schemas.openxmlformats.org/drawingml/2006/main"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Return the 11 ideal commands used as training labels.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A5B4-5337-4794-83F4-EB0702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Teacher success: 88.3% over 240 randomized demonstrations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3D0C70F-75E1-4FC8-9B85-23EC88B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8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DBE3F-C285-4A18-AE6A-58FCB252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scripted teacher completes every task phase.</a:t>
            </a:r>
          </a:p>
        </p:txBody>
      </p:sp>
      <p:pic>
        <p:nvPicPr>
          <p:cNvPr id="12" name="teacher_policy_demo.mp4" descr="teacher_policy_demo.mp4"/>
          <p:cNvPicPr>
            <a:picLocks noChangeAspect="0"/>
          </p:cNvPicPr>
          <p:nvPr>
            <a:videoFile r:link="rIdVideo9"/>
            <p:extLst>
              <p:ext uri="{DAA4B4D4-6D71-4841-9C94-3DE7FCFB9230}">
                <p14:media r:embed="rIdMedia9"/>
              </p:ext>
            </p:extLst>
          </p:nvPr>
        </p:nvPicPr>
        <p:blipFill>
          <a:blip r:embed="rIdPoster9">
            <a:extLst/>
          </a:blip>
          <a:stretch>
            <a:fillRect/>
          </a:stretch>
        </p:blipFill>
        <p:spPr>
          <a:xfrm>
            <a:off x="571500" y="1286875"/>
            <a:ext cx="6858000" cy="502719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uccess-rate">
            <a:extLst xmlns:a="http://schemas.openxmlformats.org/drawingml/2006/main">
              <a:ext uri="{FF2B5EF4-FFF2-40B4-BE49-F238E27FC236}">
                <a16:creationId xmlns:a16="http://schemas.microsoft.com/office/drawing/2014/main" id="{4C8D3EE0-5160-4CB4-8CF6-B4FACD6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A8491-3C40-43FA-90E6-D29DEB6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success on this episode</a:t>
            </a:r>
          </a:p>
        </p:txBody>
      </p:sp>
      <p:sp>
        <p:nvSpPr>
          <p:cNvPr id="5" name="hold-error">
            <a:extLst xmlns:a="http://schemas.openxmlformats.org/drawingml/2006/main">
              <a:ext uri="{FF2B5EF4-FFF2-40B4-BE49-F238E27FC236}">
                <a16:creationId xmlns:a16="http://schemas.microsoft.com/office/drawing/2014/main" id="{E451175D-8F75-4D1C-A421-24069EB1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14.9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6CA2B-08ED-4B9D-AEC8-09C753B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 minimum reach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CF754-F417-4050-8EB8-18A58CA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grasp | hold | release | throw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0.21 m forward distance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11A8BE7-0AB7-427E-B894-00E9497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9</a:t>
            </a:r>
          </a:p>
        </p:txBody>
      </p:sp>
    </p:spTree>
    <p:extLst>
      <p:ext uri="{BB962C8B-B14F-4D97-AF65-F5344CB8AC3E}">
        <p14:creationId xmlns:p14="http://schemas.microsoft.com/office/powerpoint/2010/main" val="1158511663"/>
      </p:ext>
    </p:extLst>
  </p:cSld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2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Teacher rollouts seed the imitation dataset.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 xmlns:a="http://schemas.openxmlformats.org/drawingml/2006/main"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Run 240 randomized episodes beginning at seed 23,000.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 xmlns:a="http://schemas.openxmlformats.org/drawingml/2006/main"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Store each 51-value state with its teacher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 xmlns:a="http://schemas.openxmlformats.org/drawingml/2006/main"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Balance batches equally across the six task phases.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 xmlns:a="http://schemas.openxmlformats.org/drawingml/2006/main"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Run 2,400 Adam updates before DAgger begins.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A5B4-5337-4794-83F4-EB0702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Initial data + two DAgger rounds = 63,985 labeled samples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3D0C70F-75E1-4FC8-9B85-23EC88B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10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BAC05-2014-4342-9B5B-8C51DCB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Behavioral cloning copies the teacher’s corrections.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F790-4D7C-4693-9CA1-DC15D9A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TARGET</a:t>
            </a:r>
          </a:p>
        </p:txBody>
      </p:sp>
      <p:sp>
        <p:nvSpPr>
          <p:cNvPr id="3" name="policy-inputs">
            <a:extLst xmlns:a="http://schemas.openxmlformats.org/drawingml/2006/main">
              <a:ext uri="{FF2B5EF4-FFF2-40B4-BE49-F238E27FC236}">
                <a16:creationId xmlns:a16="http://schemas.microsoft.com/office/drawing/2014/main" id="{0010DA2C-F188-4B0A-BB03-20F01BD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Teacher action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minus nominal action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scaled and clipped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F8B93-8088-4B93-95FB-A6DBB38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5B058-7255-4253-9E92-A5145C4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Weighted MSE + decay</a:t>
            </a:r>
          </a:p>
          <a:p xmlns:a="http://schemas.openxmlformats.org/drawingml/2006/main">
            <a:pPr algn="ctr">
              <a:buNone/>
              <a:def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Adam, batch size 512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5B75-3F35-4EA0-B015-959F7FC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EMPHASIS</a:t>
            </a:r>
          </a:p>
        </p:txBody>
      </p:sp>
      <p:sp>
        <p:nvSpPr>
          <p:cNvPr id="7" name="policy-outputs">
            <a:extLst xmlns:a="http://schemas.openxmlformats.org/drawingml/2006/main">
              <a:ext uri="{FF2B5EF4-FFF2-40B4-BE49-F238E27FC236}">
                <a16:creationId xmlns:a16="http://schemas.microsoft.com/office/drawing/2014/main" id="{C0FA5EF2-ACC8-4373-824E-13262C1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Arm outputs: 4.0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Hand outputs: 1.5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Gradients clipped:</a:t>
            </a:r>
          </a:p>
          <a:p xmlns:a="http://schemas.openxmlformats.org/drawingml/2006/main">
            <a:pPr algn="l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–2 to +2</a:t>
            </a:r>
          </a:p>
        </p:txBody>
      </p:sp>
      <p:sp>
        <p:nvSpPr>
          <p:cNvPr id="8" name="policy-flow">
            <a:extLst xmlns:a="http://schemas.openxmlformats.org/drawingml/2006/main">
              <a:ext uri="{FF2B5EF4-FFF2-40B4-BE49-F238E27FC236}">
                <a16:creationId xmlns:a16="http://schemas.microsoft.com/office/drawing/2014/main" id="{E77996CB-2894-4F99-8B15-A3B6B2A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TEACHER TARGETS   →   BACKPROPAGATION   →   UPDATED WEIGHTS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9ACB5E6-3FA5-400B-A678-F07D140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11</a:t>
            </a:r>
          </a:p>
        </p:txBody>
      </p:sp>
    </p:spTree>
    <p:extLst>
      <p:ext uri="{BB962C8B-B14F-4D97-AF65-F5344CB8AC3E}">
        <p14:creationId xmlns:p14="http://schemas.microsoft.com/office/powerpoint/2010/main" val="12502376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DAgger adds recovery examples from visited states.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 xmlns:a="http://schemas.openxmlformats.org/drawingml/2006/main"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Run mixed teacher/network behavior for 60 episodes.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 xmlns:a="http://schemas.openxmlformats.org/drawingml/2006/main"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Ask the teacher to label every state the mixture visits.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 xmlns:a="http://schemas.openxmlformats.org/drawingml/2006/main"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Append the new states and labels to the dataset.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 xmlns:a="http://schemas.openxmlformats.org/drawingml/2006/main"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Retrain 1,200 steps, then repeat for a second round.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A5B4-5337-4794-83F4-EB0702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Teacher execution probability falls from 45% to 15%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3D0C70F-75E1-4FC8-9B85-23EC88B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12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177A31-33A1-4C13-9534-843391A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Domain randomization reduces sensitivity to one setup.</a:t>
            </a:r>
          </a:p>
        </p:txBody>
      </p:sp>
      <p:sp>
        <p:nvSpPr>
          <p:cNvPr id="2" name="next-steps">
            <a:extLst xmlns:a="http://schemas.openxmlformats.org/drawingml/2006/main">
              <a:ext uri="{FF2B5EF4-FFF2-40B4-BE49-F238E27FC236}">
                <a16:creationId xmlns:a16="http://schemas.microsoft.com/office/drawing/2014/main" id="{CA5549E8-9493-4A7C-9081-AEB971FC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971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Object: start and target positions, radius 16.5–19.5 mm, mass 38–70 g, and friction 0.75–1.45.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Robot: actuator gains 82–118% and command delay of 0–2 frames.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Sensing: noisy observations plus varied IK seeds and waypoints.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82CE8-AF6B-41C4-A9B2-9D2C516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same randomization is active during 100 held-out evaluation episodes.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014CE0D-FDA9-40C8-B651-A77F5784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13</a:t>
            </a:r>
          </a:p>
        </p:txBody>
      </p:sp>
    </p:spTree>
    <p:extLst>
      <p:ext uri="{BB962C8B-B14F-4D97-AF65-F5344CB8AC3E}">
        <p14:creationId xmlns:p14="http://schemas.microsoft.com/office/powerpoint/2010/main" val="476060162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DBE3F-C285-4A18-AE6A-58FCB252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After training, the policy succeeds in 81% of trials.</a:t>
            </a:r>
          </a:p>
        </p:txBody>
      </p:sp>
      <p:pic>
        <p:nvPicPr>
          <p:cNvPr id="12" name="neural_policy_demo.mp4" descr="neural_policy_demo.mp4"/>
          <p:cNvPicPr>
            <a:picLocks noChangeAspect="0"/>
          </p:cNvPicPr>
          <p:nvPr>
            <a:videoFile r:link="rIdVideo14"/>
            <p:extLst>
              <p:ext uri="{DAA4B4D4-6D71-4841-9C94-3DE7FCFB9230}">
                <p14:media r:embed="rIdMedia14"/>
              </p:ext>
            </p:extLst>
          </p:nvPr>
        </p:nvPicPr>
        <p:blipFill>
          <a:blip r:embed="rIdPoster14">
            <a:extLst/>
          </a:blip>
          <a:stretch>
            <a:fillRect/>
          </a:stretch>
        </p:blipFill>
        <p:spPr>
          <a:xfrm>
            <a:off x="571500" y="1286875"/>
            <a:ext cx="6858000" cy="502719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uccess-rate">
            <a:extLst xmlns:a="http://schemas.openxmlformats.org/drawingml/2006/main">
              <a:ext uri="{FF2B5EF4-FFF2-40B4-BE49-F238E27FC236}">
                <a16:creationId xmlns:a16="http://schemas.microsoft.com/office/drawing/2014/main" id="{4C8D3EE0-5160-4CB4-8CF6-B4FACD6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81%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A8491-3C40-43FA-90E6-D29DEB6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complete task success</a:t>
            </a:r>
          </a:p>
        </p:txBody>
      </p:sp>
      <p:sp>
        <p:nvSpPr>
          <p:cNvPr id="5" name="hold-error">
            <a:extLst xmlns:a="http://schemas.openxmlformats.org/drawingml/2006/main">
              <a:ext uri="{FF2B5EF4-FFF2-40B4-BE49-F238E27FC236}">
                <a16:creationId xmlns:a16="http://schemas.microsoft.com/office/drawing/2014/main" id="{E451175D-8F75-4D1C-A421-24069EB1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13.4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6CA2B-08ED-4B9D-AEC8-09C753B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 minimum reach 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CF754-F417-4050-8EB8-18A58CA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97% grasp | 88% hold/release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0.20 m mean throw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11A8BE7-0AB7-427E-B894-00E9497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14</a:t>
            </a:r>
          </a:p>
        </p:txBody>
      </p:sp>
    </p:spTree>
    <p:extLst>
      <p:ext uri="{BB962C8B-B14F-4D97-AF65-F5344CB8AC3E}">
        <p14:creationId xmlns:p14="http://schemas.microsoft.com/office/powerpoint/2010/main" val="1158511663"/>
      </p:ext>
    </p:extLst>
  </p:cSld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2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2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177A31-33A1-4C13-9534-843391A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2" name="next-steps">
            <a:extLst xmlns:a="http://schemas.openxmlformats.org/drawingml/2006/main">
              <a:ext uri="{FF2B5EF4-FFF2-40B4-BE49-F238E27FC236}">
                <a16:creationId xmlns:a16="http://schemas.microsoft.com/office/drawing/2014/main" id="{CA5549E8-9493-4A7C-9081-AEB971FC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90625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BrainCo. (n.d.). Revo 2 parameters. https://www.brainco-hz.com/docs/revolimb-hand/en/revo2/parameters.html</a:t>
            </a:r>
          </a:p>
          <a:p xmlns:a="http://schemas.openxmlformats.org/drawingml/2006/main">
            <a:pPr algn="l"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BrainCo. (n.d.). Revo 2 download center. https://www.brainco-hz.com/docs/revolimb-hand-dev/en/revo2/download.html</a:t>
            </a:r>
          </a:p>
          <a:p xmlns:a="http://schemas.openxmlformats.org/drawingml/2006/main">
            <a:pPr algn="l">
              <a:buNone/>
              <a:def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DeepMind. (2026). MuJoCo XML reference (Version 3.6). https://mujoco.readthedocs.io/en/3.6.0/XMLreference.html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Unitree Robotics. (2026). unitree_mujoco [Computer software]. https://github.com/unitreerobotics/unitree_mujoco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Unitree Robotics. (2026). unitree_rl_mjlab [Computer software]. https://github.com/unitreerobotics/unitree_rl_mjlab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Ross, S., Gordon, G. J., &amp; Bagnell, J. A. (2011). A reduction of imitation learning and structured prediction to no-regret online learning. AISTATS, 15, 627–635. https://proceedings.mlr.press/v15/ross11a.html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014CE0D-FDA9-40C8-B651-A77F5784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23 | 15</a:t>
            </a:r>
          </a:p>
        </p:txBody>
      </p:sp>
    </p:spTree>
    <p:extLst>
      <p:ext uri="{BB962C8B-B14F-4D97-AF65-F5344CB8AC3E}">
        <p14:creationId xmlns:p14="http://schemas.microsoft.com/office/powerpoint/2010/main" val="476060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2026-08-01T23:20:42.7420000Z</dcterms:created>
  <dcterms:modified xsi:type="dcterms:W3CDTF">2026-08-01T23:20:42.7420000Z</dcterms:modified>
</coreProperties>
</file>